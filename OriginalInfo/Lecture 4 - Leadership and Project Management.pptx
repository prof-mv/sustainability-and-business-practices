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7" r:id="rId1"/>
    <p:sldMasterId id="2147483820" r:id="rId2"/>
  </p:sldMasterIdLst>
  <p:notesMasterIdLst>
    <p:notesMasterId r:id="rId39"/>
  </p:notesMasterIdLst>
  <p:sldIdLst>
    <p:sldId id="256" r:id="rId3"/>
    <p:sldId id="320" r:id="rId4"/>
    <p:sldId id="321" r:id="rId5"/>
    <p:sldId id="322" r:id="rId6"/>
    <p:sldId id="259" r:id="rId7"/>
    <p:sldId id="341" r:id="rId8"/>
    <p:sldId id="342" r:id="rId9"/>
    <p:sldId id="313" r:id="rId10"/>
    <p:sldId id="323" r:id="rId11"/>
    <p:sldId id="324" r:id="rId12"/>
    <p:sldId id="325" r:id="rId13"/>
    <p:sldId id="326" r:id="rId14"/>
    <p:sldId id="329" r:id="rId15"/>
    <p:sldId id="330" r:id="rId16"/>
    <p:sldId id="331" r:id="rId17"/>
    <p:sldId id="332" r:id="rId18"/>
    <p:sldId id="333" r:id="rId19"/>
    <p:sldId id="334" r:id="rId20"/>
    <p:sldId id="335" r:id="rId21"/>
    <p:sldId id="336" r:id="rId22"/>
    <p:sldId id="337" r:id="rId23"/>
    <p:sldId id="338" r:id="rId24"/>
    <p:sldId id="327" r:id="rId25"/>
    <p:sldId id="307" r:id="rId26"/>
    <p:sldId id="308" r:id="rId27"/>
    <p:sldId id="310" r:id="rId28"/>
    <p:sldId id="311" r:id="rId29"/>
    <p:sldId id="312" r:id="rId30"/>
    <p:sldId id="315" r:id="rId31"/>
    <p:sldId id="316" r:id="rId32"/>
    <p:sldId id="317" r:id="rId33"/>
    <p:sldId id="318" r:id="rId34"/>
    <p:sldId id="319" r:id="rId35"/>
    <p:sldId id="328" r:id="rId36"/>
    <p:sldId id="339" r:id="rId37"/>
    <p:sldId id="340" r:id="rId38"/>
  </p:sldIdLst>
  <p:sldSz cx="9144000" cy="6858000" type="screen4x3"/>
  <p:notesSz cx="7315200" cy="96012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79" d="100"/>
          <a:sy n="79" d="100"/>
        </p:scale>
        <p:origin x="1570" y="67"/>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124"/>
          </a:xfrm>
          <a:prstGeom prst="rect">
            <a:avLst/>
          </a:prstGeom>
        </p:spPr>
        <p:txBody>
          <a:bodyPr vert="horz" lIns="95638" tIns="47820" rIns="95638" bIns="47820" rtlCol="0"/>
          <a:lstStyle>
            <a:lvl1pPr algn="l">
              <a:defRPr sz="1300"/>
            </a:lvl1pPr>
          </a:lstStyle>
          <a:p>
            <a:endParaRPr lang="en-US"/>
          </a:p>
        </p:txBody>
      </p:sp>
      <p:sp>
        <p:nvSpPr>
          <p:cNvPr id="3" name="Date Placeholder 2"/>
          <p:cNvSpPr>
            <a:spLocks noGrp="1"/>
          </p:cNvSpPr>
          <p:nvPr>
            <p:ph type="dt" idx="1"/>
          </p:nvPr>
        </p:nvSpPr>
        <p:spPr>
          <a:xfrm>
            <a:off x="4143587" y="0"/>
            <a:ext cx="3169920" cy="481124"/>
          </a:xfrm>
          <a:prstGeom prst="rect">
            <a:avLst/>
          </a:prstGeom>
        </p:spPr>
        <p:txBody>
          <a:bodyPr vert="horz" lIns="95638" tIns="47820" rIns="95638" bIns="47820" rtlCol="0"/>
          <a:lstStyle>
            <a:lvl1pPr algn="r">
              <a:defRPr sz="1300"/>
            </a:lvl1pPr>
          </a:lstStyle>
          <a:p>
            <a:fld id="{DFBF0373-7C18-4048-B8A6-923A0E18F608}" type="datetimeFigureOut">
              <a:rPr lang="en-US" smtClean="0"/>
              <a:t>9/23/2025</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5638" tIns="47820" rIns="95638" bIns="47820" rtlCol="0" anchor="ctr"/>
          <a:lstStyle/>
          <a:p>
            <a:endParaRPr lang="en-US"/>
          </a:p>
        </p:txBody>
      </p:sp>
      <p:sp>
        <p:nvSpPr>
          <p:cNvPr id="5" name="Notes Placeholder 4"/>
          <p:cNvSpPr>
            <a:spLocks noGrp="1"/>
          </p:cNvSpPr>
          <p:nvPr>
            <p:ph type="body" sz="quarter" idx="3"/>
          </p:nvPr>
        </p:nvSpPr>
        <p:spPr>
          <a:xfrm>
            <a:off x="731520" y="4619770"/>
            <a:ext cx="5852160" cy="3781893"/>
          </a:xfrm>
          <a:prstGeom prst="rect">
            <a:avLst/>
          </a:prstGeom>
        </p:spPr>
        <p:txBody>
          <a:bodyPr vert="horz" lIns="95638" tIns="47820" rIns="95638" bIns="478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078"/>
            <a:ext cx="3169920" cy="481124"/>
          </a:xfrm>
          <a:prstGeom prst="rect">
            <a:avLst/>
          </a:prstGeom>
        </p:spPr>
        <p:txBody>
          <a:bodyPr vert="horz" lIns="95638" tIns="47820" rIns="95638" bIns="47820"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20078"/>
            <a:ext cx="3169920" cy="481124"/>
          </a:xfrm>
          <a:prstGeom prst="rect">
            <a:avLst/>
          </a:prstGeom>
        </p:spPr>
        <p:txBody>
          <a:bodyPr vert="horz" lIns="95638" tIns="47820" rIns="95638" bIns="47820" rtlCol="0" anchor="b"/>
          <a:lstStyle>
            <a:lvl1pPr algn="r">
              <a:defRPr sz="1300"/>
            </a:lvl1pPr>
          </a:lstStyle>
          <a:p>
            <a:fld id="{7FC1E47A-EEED-4467-91D4-3617CBF4E262}" type="slidenum">
              <a:rPr lang="en-US" smtClean="0"/>
              <a:t>‹#›</a:t>
            </a:fld>
            <a:endParaRPr lang="en-US"/>
          </a:p>
        </p:txBody>
      </p:sp>
    </p:spTree>
    <p:extLst>
      <p:ext uri="{BB962C8B-B14F-4D97-AF65-F5344CB8AC3E}">
        <p14:creationId xmlns:p14="http://schemas.microsoft.com/office/powerpoint/2010/main" val="3630291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0250" y="2057400"/>
            <a:ext cx="7681913"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5815432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420813"/>
            <a:ext cx="8032750"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730250" y="3352800"/>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5" name="Rectangle 4"/>
          <p:cNvSpPr/>
          <p:nvPr userDrawn="1"/>
        </p:nvSpPr>
        <p:spPr bwMode="auto">
          <a:xfrm>
            <a:off x="0" y="5715000"/>
            <a:ext cx="9144000" cy="1141413"/>
          </a:xfrm>
          <a:prstGeom prst="rect">
            <a:avLst/>
          </a:prstGeom>
          <a:gradFill>
            <a:gsLst>
              <a:gs pos="0">
                <a:schemeClr val="accent5">
                  <a:lumMod val="50000"/>
                  <a:alpha val="30000"/>
                </a:schemeClr>
              </a:gs>
              <a:gs pos="100000">
                <a:schemeClr val="accent5">
                  <a:lumMod val="50000"/>
                </a:schemeClr>
              </a:gs>
            </a:gsLst>
          </a:gradFill>
          <a:ln>
            <a:headEnd type="none" w="med" len="med"/>
            <a:tailEnd type="none" w="med" len="med"/>
          </a:ln>
          <a:effectLst/>
          <a:scene3d>
            <a:camera prst="orthographicFront" fov="0">
              <a:rot lat="0" lon="0" rev="0"/>
            </a:camera>
            <a:lightRig rig="glow" dir="t">
              <a:rot lat="0" lon="0" rev="6360000"/>
            </a:lightRig>
          </a:scene3d>
          <a:sp3d prstMaterial="flat">
            <a:bevelT w="0" h="0"/>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2300" b="0" dirty="0">
              <a:solidFill>
                <a:srgbClr val="FFFFFF"/>
              </a:solidFill>
              <a:effectLst>
                <a:outerShdw blurRad="38100" dist="38100" dir="2700000" algn="tl">
                  <a:srgbClr val="000000">
                    <a:alpha val="43137"/>
                  </a:srgbClr>
                </a:outerShdw>
              </a:effectLst>
              <a:latin typeface="Trebuchet MS" pitchFamily="34" charset="0"/>
            </a:endParaRPr>
          </a:p>
        </p:txBody>
      </p:sp>
      <p:sp>
        <p:nvSpPr>
          <p:cNvPr id="7" name="Text Placeholder 6"/>
          <p:cNvSpPr>
            <a:spLocks noGrp="1"/>
          </p:cNvSpPr>
          <p:nvPr>
            <p:ph type="body" sz="quarter" idx="10" hasCustomPrompt="1"/>
          </p:nvPr>
        </p:nvSpPr>
        <p:spPr>
          <a:xfrm>
            <a:off x="1072886" y="4648200"/>
            <a:ext cx="7690114" cy="1073150"/>
          </a:xfrm>
          <a:effectLst>
            <a:reflection blurRad="6350" stA="52000" endA="300" endPos="35000" dir="5400000" sy="-100000" algn="bl" rotWithShape="0"/>
          </a:effectLst>
        </p:spPr>
        <p:txBody>
          <a:bodyPr anchor="t" anchorCtr="0">
            <a:noAutofit/>
            <a:scene3d>
              <a:camera prst="orthographicFront"/>
              <a:lightRig rig="flat" dir="t"/>
            </a:scene3d>
            <a:sp3d extrusionH="88900" contourW="2540">
              <a:bevelT w="38100" h="31750"/>
              <a:contourClr>
                <a:srgbClr val="F4A234"/>
              </a:contourClr>
            </a:sp3d>
          </a:bodyPr>
          <a:lstStyle>
            <a:lvl1pPr marL="0" indent="0" algn="r">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Tree>
    <p:extLst>
      <p:ext uri="{BB962C8B-B14F-4D97-AF65-F5344CB8AC3E}">
        <p14:creationId xmlns:p14="http://schemas.microsoft.com/office/powerpoint/2010/main" val="200588734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670884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982167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802279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548351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5260819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263027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5220745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323099267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Demo, Video etc. &quot;special&quot; slide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420813"/>
            <a:ext cx="8032750"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730250" y="3352800"/>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5" name="Rectangle 4"/>
          <p:cNvSpPr/>
          <p:nvPr userDrawn="1"/>
        </p:nvSpPr>
        <p:spPr bwMode="auto">
          <a:xfrm>
            <a:off x="0" y="5715000"/>
            <a:ext cx="9144000" cy="1141413"/>
          </a:xfrm>
          <a:prstGeom prst="rect">
            <a:avLst/>
          </a:prstGeom>
          <a:gradFill>
            <a:gsLst>
              <a:gs pos="0">
                <a:schemeClr val="accent5">
                  <a:lumMod val="50000"/>
                  <a:alpha val="30000"/>
                </a:schemeClr>
              </a:gs>
              <a:gs pos="100000">
                <a:schemeClr val="accent5">
                  <a:lumMod val="50000"/>
                </a:schemeClr>
              </a:gs>
            </a:gsLst>
          </a:gradFill>
          <a:ln>
            <a:headEnd type="none" w="med" len="med"/>
            <a:tailEnd type="none" w="med" len="med"/>
          </a:ln>
          <a:effectLst/>
          <a:scene3d>
            <a:camera prst="orthographicFront" fov="0">
              <a:rot lat="0" lon="0" rev="0"/>
            </a:camera>
            <a:lightRig rig="glow" dir="t">
              <a:rot lat="0" lon="0" rev="6360000"/>
            </a:lightRig>
          </a:scene3d>
          <a:sp3d prstMaterial="flat">
            <a:bevelT w="0" h="0"/>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2300" b="0" dirty="0">
              <a:solidFill>
                <a:srgbClr val="FFFFFF"/>
              </a:solidFill>
              <a:effectLst>
                <a:outerShdw blurRad="38100" dist="38100" dir="2700000" algn="tl">
                  <a:srgbClr val="000000">
                    <a:alpha val="43137"/>
                  </a:srgbClr>
                </a:outerShdw>
              </a:effectLst>
              <a:latin typeface="Trebuchet MS" pitchFamily="34" charset="0"/>
            </a:endParaRPr>
          </a:p>
        </p:txBody>
      </p:sp>
      <p:sp>
        <p:nvSpPr>
          <p:cNvPr id="7" name="Text Placeholder 6"/>
          <p:cNvSpPr>
            <a:spLocks noGrp="1"/>
          </p:cNvSpPr>
          <p:nvPr>
            <p:ph type="body" sz="quarter" idx="10" hasCustomPrompt="1"/>
          </p:nvPr>
        </p:nvSpPr>
        <p:spPr>
          <a:xfrm>
            <a:off x="1072886" y="4648200"/>
            <a:ext cx="7690114" cy="1073150"/>
          </a:xfrm>
          <a:effectLst>
            <a:reflection blurRad="6350" stA="52000" endA="300" endPos="35000" dir="5400000" sy="-100000" algn="bl" rotWithShape="0"/>
          </a:effectLst>
        </p:spPr>
        <p:txBody>
          <a:bodyPr anchor="t" anchorCtr="0">
            <a:noAutofit/>
            <a:scene3d>
              <a:camera prst="orthographicFront"/>
              <a:lightRig rig="flat" dir="t"/>
            </a:scene3d>
            <a:sp3d extrusionH="88900" contourW="2540">
              <a:bevelT w="38100" h="31750"/>
              <a:contourClr>
                <a:srgbClr val="F4A234"/>
              </a:contourClr>
            </a:sp3d>
          </a:bodyPr>
          <a:lstStyle>
            <a:lvl1pPr marL="0" indent="0" algn="r">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Tree>
    <p:extLst>
      <p:ext uri="{BB962C8B-B14F-4D97-AF65-F5344CB8AC3E}">
        <p14:creationId xmlns:p14="http://schemas.microsoft.com/office/powerpoint/2010/main" val="183355150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Table Placeholder 2"/>
          <p:cNvSpPr>
            <a:spLocks noGrp="1"/>
          </p:cNvSpPr>
          <p:nvPr>
            <p:ph type="tbl" idx="1"/>
          </p:nvPr>
        </p:nvSpPr>
        <p:spPr>
          <a:xfrm>
            <a:off x="457200" y="1600200"/>
            <a:ext cx="8229600" cy="4525963"/>
          </a:xfrm>
        </p:spPr>
        <p:txBody>
          <a:bodyPr/>
          <a:lstStyle/>
          <a:p>
            <a:pPr lvl="0"/>
            <a:endParaRPr lang="en-CA" noProof="0"/>
          </a:p>
        </p:txBody>
      </p:sp>
      <p:sp>
        <p:nvSpPr>
          <p:cNvPr id="4" name="Rectangle 4"/>
          <p:cNvSpPr>
            <a:spLocks noGrp="1" noChangeArrowheads="1"/>
          </p:cNvSpPr>
          <p:nvPr>
            <p:ph type="dt" sz="half" idx="10"/>
          </p:nvPr>
        </p:nvSpPr>
        <p:spPr>
          <a:xfrm>
            <a:off x="6523712" y="5870576"/>
            <a:ext cx="1212173" cy="377825"/>
          </a:xfrm>
          <a:prstGeom prst="rect">
            <a:avLst/>
          </a:prstGeom>
          <a:ln/>
        </p:spPr>
        <p:txBody>
          <a:bodyPr/>
          <a:lstStyle>
            <a:lvl1pPr>
              <a:defRPr/>
            </a:lvl1pPr>
          </a:lstStyle>
          <a:p>
            <a:pPr>
              <a:defRPr/>
            </a:pPr>
            <a:fld id="{A7810928-C809-48A3-AE16-0BD82903325E}" type="datetime1">
              <a:rPr lang="en-US" smtClean="0"/>
              <a:t>9/23/2025</a:t>
            </a:fld>
            <a:endParaRPr lang="en-US"/>
          </a:p>
        </p:txBody>
      </p:sp>
      <p:sp>
        <p:nvSpPr>
          <p:cNvPr id="5" name="Rectangle 5"/>
          <p:cNvSpPr>
            <a:spLocks noGrp="1" noChangeArrowheads="1"/>
          </p:cNvSpPr>
          <p:nvPr>
            <p:ph type="ftr" sz="quarter" idx="11"/>
          </p:nvPr>
        </p:nvSpPr>
        <p:spPr>
          <a:xfrm>
            <a:off x="457200" y="5870576"/>
            <a:ext cx="5990311" cy="377825"/>
          </a:xfrm>
          <a:prstGeom prst="rect">
            <a:avLst/>
          </a:prstGeom>
          <a:ln/>
        </p:spPr>
        <p:txBody>
          <a:bodyPr/>
          <a:lstStyle>
            <a:lvl1pPr>
              <a:defRPr/>
            </a:lvl1pPr>
          </a:lstStyle>
          <a:p>
            <a:pPr>
              <a:defRPr/>
            </a:pPr>
            <a:r>
              <a:rPr lang="en-US"/>
              <a:t>G.R. Labbé &amp; R.W. Schott</a:t>
            </a:r>
          </a:p>
        </p:txBody>
      </p:sp>
      <p:sp>
        <p:nvSpPr>
          <p:cNvPr id="6" name="Rectangle 6"/>
          <p:cNvSpPr>
            <a:spLocks noGrp="1" noChangeArrowheads="1"/>
          </p:cNvSpPr>
          <p:nvPr>
            <p:ph type="sldNum" sz="quarter" idx="12"/>
          </p:nvPr>
        </p:nvSpPr>
        <p:spPr>
          <a:xfrm>
            <a:off x="7812085" y="5870576"/>
            <a:ext cx="417516" cy="377825"/>
          </a:xfrm>
          <a:prstGeom prst="rect">
            <a:avLst/>
          </a:prstGeom>
          <a:ln/>
        </p:spPr>
        <p:txBody>
          <a:bodyPr/>
          <a:lstStyle>
            <a:lvl1pPr>
              <a:defRPr/>
            </a:lvl1pPr>
          </a:lstStyle>
          <a:p>
            <a:pPr>
              <a:defRPr/>
            </a:pPr>
            <a:fld id="{6D0F932C-5349-42CC-BB16-DF636DBFE280}" type="slidenum">
              <a:rPr lang="en-US"/>
              <a:pPr>
                <a:defRPr/>
              </a:pPr>
              <a:t>‹#›</a:t>
            </a:fld>
            <a:endParaRPr lang="en-US"/>
          </a:p>
        </p:txBody>
      </p:sp>
    </p:spTree>
    <p:extLst>
      <p:ext uri="{BB962C8B-B14F-4D97-AF65-F5344CB8AC3E}">
        <p14:creationId xmlns:p14="http://schemas.microsoft.com/office/powerpoint/2010/main" val="4227407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EDAA0A08-3A34-40BE-B359-38BA74FAA85E}" type="datetime1">
              <a:rPr lang="en-US" smtClean="0"/>
              <a:t>9/23/2025</a:t>
            </a:fld>
            <a:endParaRPr lang="en-US"/>
          </a:p>
        </p:txBody>
      </p:sp>
      <p:sp>
        <p:nvSpPr>
          <p:cNvPr id="5" name="Footer Placeholder 4"/>
          <p:cNvSpPr>
            <a:spLocks noGrp="1"/>
          </p:cNvSpPr>
          <p:nvPr>
            <p:ph type="ftr" sz="quarter" idx="11"/>
          </p:nvPr>
        </p:nvSpPr>
        <p:spPr/>
        <p:txBody>
          <a:bodyPr/>
          <a:lstStyle/>
          <a:p>
            <a:r>
              <a:rPr lang="en-US"/>
              <a:t>G.R. Labbé &amp; R.W. Schott</a:t>
            </a:r>
          </a:p>
        </p:txBody>
      </p:sp>
      <p:sp>
        <p:nvSpPr>
          <p:cNvPr id="6" name="Slide Number Placeholder 5"/>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81227968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4B8649-3A27-4D02-8DA2-1FB178754B2F}" type="datetime1">
              <a:rPr lang="en-US" smtClean="0"/>
              <a:t>9/23/2025</a:t>
            </a:fld>
            <a:endParaRPr lang="en-US"/>
          </a:p>
        </p:txBody>
      </p:sp>
      <p:sp>
        <p:nvSpPr>
          <p:cNvPr id="5" name="Footer Placeholder 4"/>
          <p:cNvSpPr>
            <a:spLocks noGrp="1"/>
          </p:cNvSpPr>
          <p:nvPr>
            <p:ph type="ftr" sz="quarter" idx="11"/>
          </p:nvPr>
        </p:nvSpPr>
        <p:spPr/>
        <p:txBody>
          <a:bodyPr/>
          <a:lstStyle/>
          <a:p>
            <a:r>
              <a:rPr lang="en-US"/>
              <a:t>G.R. Labbé &amp; R.W. Schott</a:t>
            </a:r>
          </a:p>
        </p:txBody>
      </p:sp>
      <p:sp>
        <p:nvSpPr>
          <p:cNvPr id="6" name="Slide Number Placeholder 5"/>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180356936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32855A-7903-4558-8CA2-C0B7CDED46EC}" type="datetime1">
              <a:rPr lang="en-US" smtClean="0"/>
              <a:t>9/23/2025</a:t>
            </a:fld>
            <a:endParaRPr lang="en-US"/>
          </a:p>
        </p:txBody>
      </p:sp>
      <p:sp>
        <p:nvSpPr>
          <p:cNvPr id="5" name="Footer Placeholder 4"/>
          <p:cNvSpPr>
            <a:spLocks noGrp="1"/>
          </p:cNvSpPr>
          <p:nvPr>
            <p:ph type="ftr" sz="quarter" idx="11"/>
          </p:nvPr>
        </p:nvSpPr>
        <p:spPr/>
        <p:txBody>
          <a:bodyPr/>
          <a:lstStyle/>
          <a:p>
            <a:r>
              <a:rPr lang="en-US"/>
              <a:t>G.R. Labbé &amp; R.W. Schott</a:t>
            </a:r>
          </a:p>
        </p:txBody>
      </p:sp>
      <p:sp>
        <p:nvSpPr>
          <p:cNvPr id="6" name="Slide Number Placeholder 5"/>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1704893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5AF15AE-F0B7-4E0E-96F7-85AB03976D58}" type="datetime1">
              <a:rPr lang="en-US" smtClean="0"/>
              <a:t>9/23/2025</a:t>
            </a:fld>
            <a:endParaRPr lang="en-US"/>
          </a:p>
        </p:txBody>
      </p:sp>
      <p:sp>
        <p:nvSpPr>
          <p:cNvPr id="6" name="Footer Placeholder 5"/>
          <p:cNvSpPr>
            <a:spLocks noGrp="1"/>
          </p:cNvSpPr>
          <p:nvPr>
            <p:ph type="ftr" sz="quarter" idx="11"/>
          </p:nvPr>
        </p:nvSpPr>
        <p:spPr/>
        <p:txBody>
          <a:bodyPr/>
          <a:lstStyle/>
          <a:p>
            <a:r>
              <a:rPr lang="en-US"/>
              <a:t>G.R. Labbé &amp; R.W. Schott</a:t>
            </a:r>
          </a:p>
        </p:txBody>
      </p:sp>
      <p:sp>
        <p:nvSpPr>
          <p:cNvPr id="7" name="Slide Number Placeholder 6"/>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22255770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739DA4-57EB-41F1-857F-F7D8820969EA}" type="datetime1">
              <a:rPr lang="en-US" smtClean="0"/>
              <a:t>9/23/2025</a:t>
            </a:fld>
            <a:endParaRPr lang="en-US"/>
          </a:p>
        </p:txBody>
      </p:sp>
      <p:sp>
        <p:nvSpPr>
          <p:cNvPr id="8" name="Footer Placeholder 7"/>
          <p:cNvSpPr>
            <a:spLocks noGrp="1"/>
          </p:cNvSpPr>
          <p:nvPr>
            <p:ph type="ftr" sz="quarter" idx="11"/>
          </p:nvPr>
        </p:nvSpPr>
        <p:spPr/>
        <p:txBody>
          <a:bodyPr/>
          <a:lstStyle/>
          <a:p>
            <a:r>
              <a:rPr lang="en-US"/>
              <a:t>G.R. Labbé &amp; R.W. Schott</a:t>
            </a:r>
          </a:p>
        </p:txBody>
      </p:sp>
      <p:sp>
        <p:nvSpPr>
          <p:cNvPr id="9" name="Slide Number Placeholder 8"/>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4051843108"/>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1D5204D-ACC6-41BE-A624-17C4F7ABED4F}" type="datetime1">
              <a:rPr lang="en-US" smtClean="0"/>
              <a:t>9/23/2025</a:t>
            </a:fld>
            <a:endParaRPr lang="en-US"/>
          </a:p>
        </p:txBody>
      </p:sp>
      <p:sp>
        <p:nvSpPr>
          <p:cNvPr id="4" name="Footer Placeholder 3"/>
          <p:cNvSpPr>
            <a:spLocks noGrp="1"/>
          </p:cNvSpPr>
          <p:nvPr>
            <p:ph type="ftr" sz="quarter" idx="11"/>
          </p:nvPr>
        </p:nvSpPr>
        <p:spPr/>
        <p:txBody>
          <a:bodyPr/>
          <a:lstStyle/>
          <a:p>
            <a:r>
              <a:rPr lang="en-US"/>
              <a:t>G.R. Labbé &amp; R.W. Schott</a:t>
            </a:r>
          </a:p>
        </p:txBody>
      </p:sp>
      <p:sp>
        <p:nvSpPr>
          <p:cNvPr id="5" name="Slide Number Placeholder 4"/>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310485581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914523-5A50-4F32-886B-26127170A46B}" type="datetime1">
              <a:rPr lang="en-US" smtClean="0"/>
              <a:t>9/23/2025</a:t>
            </a:fld>
            <a:endParaRPr lang="en-US"/>
          </a:p>
        </p:txBody>
      </p:sp>
      <p:sp>
        <p:nvSpPr>
          <p:cNvPr id="3" name="Footer Placeholder 2"/>
          <p:cNvSpPr>
            <a:spLocks noGrp="1"/>
          </p:cNvSpPr>
          <p:nvPr>
            <p:ph type="ftr" sz="quarter" idx="11"/>
          </p:nvPr>
        </p:nvSpPr>
        <p:spPr/>
        <p:txBody>
          <a:bodyPr/>
          <a:lstStyle/>
          <a:p>
            <a:r>
              <a:rPr lang="en-US"/>
              <a:t>G.R. Labbé &amp; R.W. Schott</a:t>
            </a:r>
          </a:p>
        </p:txBody>
      </p:sp>
      <p:sp>
        <p:nvSpPr>
          <p:cNvPr id="4" name="Slide Number Placeholder 3"/>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322078879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65BAB25-588F-498E-B94D-F9279083DE9C}" type="datetime1">
              <a:rPr lang="en-US" smtClean="0"/>
              <a:t>9/23/2025</a:t>
            </a:fld>
            <a:endParaRPr lang="en-US"/>
          </a:p>
        </p:txBody>
      </p:sp>
      <p:sp>
        <p:nvSpPr>
          <p:cNvPr id="6" name="Footer Placeholder 5"/>
          <p:cNvSpPr>
            <a:spLocks noGrp="1"/>
          </p:cNvSpPr>
          <p:nvPr>
            <p:ph type="ftr" sz="quarter" idx="11"/>
          </p:nvPr>
        </p:nvSpPr>
        <p:spPr/>
        <p:txBody>
          <a:bodyPr/>
          <a:lstStyle/>
          <a:p>
            <a:r>
              <a:rPr lang="en-US"/>
              <a:t>G.R. Labbé &amp; R.W. Schott</a:t>
            </a:r>
          </a:p>
        </p:txBody>
      </p:sp>
      <p:sp>
        <p:nvSpPr>
          <p:cNvPr id="7" name="Slide Number Placeholder 6"/>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26893910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D898C6B-58FE-49E4-BC29-16BB5241A444}" type="datetime1">
              <a:rPr lang="en-US" smtClean="0"/>
              <a:t>9/23/2025</a:t>
            </a:fld>
            <a:endParaRPr lang="en-US"/>
          </a:p>
        </p:txBody>
      </p:sp>
      <p:sp>
        <p:nvSpPr>
          <p:cNvPr id="6" name="Footer Placeholder 5"/>
          <p:cNvSpPr>
            <a:spLocks noGrp="1"/>
          </p:cNvSpPr>
          <p:nvPr>
            <p:ph type="ftr" sz="quarter" idx="11"/>
          </p:nvPr>
        </p:nvSpPr>
        <p:spPr/>
        <p:txBody>
          <a:bodyPr/>
          <a:lstStyle/>
          <a:p>
            <a:r>
              <a:rPr lang="en-US"/>
              <a:t>G.R. Labbé &amp; R.W. Schott</a:t>
            </a:r>
          </a:p>
        </p:txBody>
      </p:sp>
      <p:sp>
        <p:nvSpPr>
          <p:cNvPr id="7" name="Slide Number Placeholder 6"/>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22978261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0C0924-F590-4808-BF05-98A3D10C6197}" type="datetime1">
              <a:rPr lang="en-US" smtClean="0"/>
              <a:t>9/23/2025</a:t>
            </a:fld>
            <a:endParaRPr lang="en-US"/>
          </a:p>
        </p:txBody>
      </p:sp>
      <p:sp>
        <p:nvSpPr>
          <p:cNvPr id="5" name="Footer Placeholder 4"/>
          <p:cNvSpPr>
            <a:spLocks noGrp="1"/>
          </p:cNvSpPr>
          <p:nvPr>
            <p:ph type="ftr" sz="quarter" idx="11"/>
          </p:nvPr>
        </p:nvSpPr>
        <p:spPr/>
        <p:txBody>
          <a:bodyPr/>
          <a:lstStyle/>
          <a:p>
            <a:r>
              <a:rPr lang="en-US"/>
              <a:t>G.R. Labbé &amp; R.W. Schott</a:t>
            </a:r>
          </a:p>
        </p:txBody>
      </p:sp>
      <p:sp>
        <p:nvSpPr>
          <p:cNvPr id="6" name="Slide Number Placeholder 5"/>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21648601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42F991-A815-4496-87BC-BAED38777A1E}" type="datetime1">
              <a:rPr lang="en-US" smtClean="0"/>
              <a:t>9/23/2025</a:t>
            </a:fld>
            <a:endParaRPr lang="en-US"/>
          </a:p>
        </p:txBody>
      </p:sp>
      <p:sp>
        <p:nvSpPr>
          <p:cNvPr id="5" name="Footer Placeholder 4"/>
          <p:cNvSpPr>
            <a:spLocks noGrp="1"/>
          </p:cNvSpPr>
          <p:nvPr>
            <p:ph type="ftr" sz="quarter" idx="11"/>
          </p:nvPr>
        </p:nvSpPr>
        <p:spPr/>
        <p:txBody>
          <a:bodyPr/>
          <a:lstStyle/>
          <a:p>
            <a:r>
              <a:rPr lang="en-US"/>
              <a:t>G.R. Labbé &amp; R.W. Schott</a:t>
            </a:r>
          </a:p>
        </p:txBody>
      </p:sp>
      <p:sp>
        <p:nvSpPr>
          <p:cNvPr id="6" name="Slide Number Placeholder 5"/>
          <p:cNvSpPr>
            <a:spLocks noGrp="1"/>
          </p:cNvSpPr>
          <p:nvPr>
            <p:ph type="sldNum" sz="quarter" idx="12"/>
          </p:nvPr>
        </p:nvSpPr>
        <p:spPr/>
        <p:txBody>
          <a:bodyPr/>
          <a:lstStyle/>
          <a:p>
            <a:fld id="{DC58D7EA-5236-4708-B764-7E8D1EAC2EFE}" type="slidenum">
              <a:rPr lang="en-US" smtClean="0"/>
              <a:t>‹#›</a:t>
            </a:fld>
            <a:endParaRPr lang="en-US"/>
          </a:p>
        </p:txBody>
      </p:sp>
    </p:spTree>
    <p:extLst>
      <p:ext uri="{BB962C8B-B14F-4D97-AF65-F5344CB8AC3E}">
        <p14:creationId xmlns:p14="http://schemas.microsoft.com/office/powerpoint/2010/main" val="9579268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Table Placeholder 2"/>
          <p:cNvSpPr>
            <a:spLocks noGrp="1"/>
          </p:cNvSpPr>
          <p:nvPr>
            <p:ph type="tbl" idx="1"/>
          </p:nvPr>
        </p:nvSpPr>
        <p:spPr>
          <a:xfrm>
            <a:off x="457200" y="1600200"/>
            <a:ext cx="8229600" cy="4525963"/>
          </a:xfrm>
        </p:spPr>
        <p:txBody>
          <a:bodyPr/>
          <a:lstStyle/>
          <a:p>
            <a:pPr lvl="0"/>
            <a:endParaRPr lang="en-CA" noProof="0"/>
          </a:p>
        </p:txBody>
      </p:sp>
      <p:sp>
        <p:nvSpPr>
          <p:cNvPr id="4" name="Rectangle 4"/>
          <p:cNvSpPr>
            <a:spLocks noGrp="1" noChangeArrowheads="1"/>
          </p:cNvSpPr>
          <p:nvPr>
            <p:ph type="dt" sz="half" idx="10"/>
          </p:nvPr>
        </p:nvSpPr>
        <p:spPr>
          <a:xfrm>
            <a:off x="6523712" y="5870576"/>
            <a:ext cx="1212173" cy="377825"/>
          </a:xfrm>
          <a:prstGeom prst="rect">
            <a:avLst/>
          </a:prstGeom>
          <a:ln/>
        </p:spPr>
        <p:txBody>
          <a:bodyPr/>
          <a:lstStyle>
            <a:lvl1pPr>
              <a:defRPr/>
            </a:lvl1pPr>
          </a:lstStyle>
          <a:p>
            <a:pPr>
              <a:defRPr/>
            </a:pPr>
            <a:fld id="{B9ACF246-84C7-466C-8A5A-0E7CB7739DCF}" type="datetime1">
              <a:rPr lang="en-US" smtClean="0"/>
              <a:t>9/23/2025</a:t>
            </a:fld>
            <a:endParaRPr lang="en-US"/>
          </a:p>
        </p:txBody>
      </p:sp>
      <p:sp>
        <p:nvSpPr>
          <p:cNvPr id="5" name="Rectangle 5"/>
          <p:cNvSpPr>
            <a:spLocks noGrp="1" noChangeArrowheads="1"/>
          </p:cNvSpPr>
          <p:nvPr>
            <p:ph type="ftr" sz="quarter" idx="11"/>
          </p:nvPr>
        </p:nvSpPr>
        <p:spPr>
          <a:xfrm>
            <a:off x="457200" y="5870576"/>
            <a:ext cx="5990311" cy="377825"/>
          </a:xfrm>
          <a:prstGeom prst="rect">
            <a:avLst/>
          </a:prstGeom>
          <a:ln/>
        </p:spPr>
        <p:txBody>
          <a:bodyPr/>
          <a:lstStyle>
            <a:lvl1pPr>
              <a:defRPr/>
            </a:lvl1pPr>
          </a:lstStyle>
          <a:p>
            <a:pPr>
              <a:defRPr/>
            </a:pPr>
            <a:r>
              <a:rPr lang="en-US"/>
              <a:t>G.R. Labbé &amp; R.W. Schott</a:t>
            </a:r>
          </a:p>
        </p:txBody>
      </p:sp>
      <p:sp>
        <p:nvSpPr>
          <p:cNvPr id="6" name="Rectangle 6"/>
          <p:cNvSpPr>
            <a:spLocks noGrp="1" noChangeArrowheads="1"/>
          </p:cNvSpPr>
          <p:nvPr>
            <p:ph type="sldNum" sz="quarter" idx="12"/>
          </p:nvPr>
        </p:nvSpPr>
        <p:spPr>
          <a:xfrm>
            <a:off x="7812085" y="5870576"/>
            <a:ext cx="417516" cy="377825"/>
          </a:xfrm>
          <a:prstGeom prst="rect">
            <a:avLst/>
          </a:prstGeom>
          <a:ln/>
        </p:spPr>
        <p:txBody>
          <a:bodyPr/>
          <a:lstStyle>
            <a:lvl1pPr>
              <a:defRPr/>
            </a:lvl1pPr>
          </a:lstStyle>
          <a:p>
            <a:pPr>
              <a:defRPr/>
            </a:pPr>
            <a:fld id="{6D0F932C-5349-42CC-BB16-DF636DBFE280}" type="slidenum">
              <a:rPr lang="en-US"/>
              <a:pPr>
                <a:defRPr/>
              </a:pPr>
              <a:t>‹#›</a:t>
            </a:fld>
            <a:endParaRPr lang="en-US"/>
          </a:p>
        </p:txBody>
      </p:sp>
    </p:spTree>
    <p:extLst>
      <p:ext uri="{BB962C8B-B14F-4D97-AF65-F5344CB8AC3E}">
        <p14:creationId xmlns:p14="http://schemas.microsoft.com/office/powerpoint/2010/main" val="2290608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6747799"/>
      </p:ext>
    </p:extLst>
  </p:cSld>
  <p:clrMap bg1="dk1" tx1="lt1" bg2="dk2" tx2="lt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Lst>
  <p:transition>
    <p:fade/>
  </p:transition>
  <p:hf hdr="0" dt="0"/>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457200" indent="-457200" algn="l" defTabSz="914363" rtl="0" eaLnBrk="1" latinLnBrk="0" hangingPunct="1">
        <a:lnSpc>
          <a:spcPct val="90000"/>
        </a:lnSpc>
        <a:spcBef>
          <a:spcPct val="20000"/>
        </a:spcBef>
        <a:buFontTx/>
        <a:buBlip>
          <a:blip r:embed="rId15"/>
        </a:buBlip>
        <a:defRPr sz="3200" kern="1200">
          <a:solidFill>
            <a:schemeClr val="tx1"/>
          </a:solidFill>
          <a:effectLst>
            <a:outerShdw blurRad="38100" dist="38100" dir="2700000" algn="tl">
              <a:srgbClr val="000000">
                <a:alpha val="43137"/>
              </a:srgbClr>
            </a:outerShdw>
          </a:effectLst>
          <a:latin typeface="+mn-lt"/>
          <a:ea typeface="+mn-ea"/>
          <a:cs typeface="+mn-cs"/>
        </a:defRPr>
      </a:lvl1pPr>
      <a:lvl2pPr marL="854075" indent="-396875" algn="l" defTabSz="914363" rtl="0" eaLnBrk="1" latinLnBrk="0" hangingPunct="1">
        <a:lnSpc>
          <a:spcPct val="90000"/>
        </a:lnSpc>
        <a:spcBef>
          <a:spcPct val="20000"/>
        </a:spcBef>
        <a:buFontTx/>
        <a:buBlip>
          <a:blip r:embed="rId16"/>
        </a:buBlip>
        <a:defRPr sz="2800" kern="1200">
          <a:solidFill>
            <a:schemeClr val="tx1"/>
          </a:solidFill>
          <a:effectLst>
            <a:outerShdw blurRad="38100" dist="38100" dir="2700000" algn="tl">
              <a:srgbClr val="000000">
                <a:alpha val="43137"/>
              </a:srgbClr>
            </a:outerShdw>
          </a:effectLst>
          <a:latin typeface="+mn-lt"/>
          <a:ea typeface="+mn-ea"/>
          <a:cs typeface="+mn-cs"/>
        </a:defRPr>
      </a:lvl2pPr>
      <a:lvl3pPr marL="1258888" indent="-404813" algn="l" defTabSz="914363" rtl="0" eaLnBrk="1" latinLnBrk="0" hangingPunct="1">
        <a:lnSpc>
          <a:spcPct val="90000"/>
        </a:lnSpc>
        <a:spcBef>
          <a:spcPct val="20000"/>
        </a:spcBef>
        <a:buFontTx/>
        <a:buBlip>
          <a:blip r:embed="rId16"/>
        </a:buBlip>
        <a:defRPr sz="2400" kern="1200">
          <a:solidFill>
            <a:schemeClr val="tx1"/>
          </a:solidFill>
          <a:effectLst>
            <a:outerShdw blurRad="38100" dist="38100" dir="2700000" algn="tl">
              <a:srgbClr val="000000">
                <a:alpha val="43137"/>
              </a:srgbClr>
            </a:outerShdw>
          </a:effectLst>
          <a:latin typeface="+mn-lt"/>
          <a:ea typeface="+mn-ea"/>
          <a:cs typeface="+mn-cs"/>
        </a:defRPr>
      </a:lvl3pPr>
      <a:lvl4pPr marL="1604963" indent="-346075" algn="l" defTabSz="914363" rtl="0" eaLnBrk="1" latinLnBrk="0" hangingPunct="1">
        <a:lnSpc>
          <a:spcPct val="90000"/>
        </a:lnSpc>
        <a:spcBef>
          <a:spcPct val="20000"/>
        </a:spcBef>
        <a:buFontTx/>
        <a:buBlip>
          <a:blip r:embed="rId16"/>
        </a:buBlip>
        <a:defRPr sz="2400" kern="1200">
          <a:solidFill>
            <a:schemeClr val="tx1"/>
          </a:solidFill>
          <a:effectLst>
            <a:outerShdw blurRad="38100" dist="38100" dir="2700000" algn="tl">
              <a:srgbClr val="000000">
                <a:alpha val="43137"/>
              </a:srgbClr>
            </a:outerShdw>
          </a:effectLst>
          <a:latin typeface="+mn-lt"/>
          <a:ea typeface="+mn-ea"/>
          <a:cs typeface="+mn-cs"/>
        </a:defRPr>
      </a:lvl4pPr>
      <a:lvl5pPr marL="1941513" indent="-336550" algn="l" defTabSz="914363" rtl="0" eaLnBrk="1" latinLnBrk="0" hangingPunct="1">
        <a:lnSpc>
          <a:spcPct val="90000"/>
        </a:lnSpc>
        <a:spcBef>
          <a:spcPct val="20000"/>
        </a:spcBef>
        <a:buFontTx/>
        <a:buBlip>
          <a:blip r:embed="rId16"/>
        </a:buBlip>
        <a:defRPr sz="2400" kern="1200">
          <a:solidFill>
            <a:schemeClr val="tx1"/>
          </a:solidFill>
          <a:effectLst>
            <a:outerShdw blurRad="38100" dist="38100" dir="2700000" algn="tl">
              <a:srgbClr val="000000">
                <a:alpha val="43137"/>
              </a:srgbClr>
            </a:outerShdw>
          </a:effectLst>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6CB704A-9727-4732-B865-1C09971FDE77}" type="datetime1">
              <a:rPr lang="en-US" smtClean="0"/>
              <a:t>9/23/2025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G.R. Labbé &amp; R.W. Schott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58D7EA-5236-4708-B764-7E8D1EAC2EFE}" type="slidenum">
              <a:rPr lang="en-US" smtClean="0"/>
              <a:t>‹#›</a:t>
            </a:fld>
            <a:endParaRPr lang="en-US"/>
          </a:p>
        </p:txBody>
      </p:sp>
    </p:spTree>
    <p:extLst>
      <p:ext uri="{BB962C8B-B14F-4D97-AF65-F5344CB8AC3E}">
        <p14:creationId xmlns:p14="http://schemas.microsoft.com/office/powerpoint/2010/main" val="2120044237"/>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Lst>
  <p:transition>
    <p:fade/>
  </p:transition>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lEM5nJ-AUiM" TargetMode="External"/><Relationship Id="rId2" Type="http://schemas.openxmlformats.org/officeDocument/2006/relationships/image" Target="../media/image9.jpe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oSDhhZtRwFU" TargetMode="External"/><Relationship Id="rId2" Type="http://schemas.openxmlformats.org/officeDocument/2006/relationships/hyperlink" Target="https://www.youtube.com/watch?v=RzToNo7A-94" TargetMode="Externa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www.youtube.com/watch?v=BKorP55Aqv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8.xml"/><Relationship Id="rId1" Type="http://schemas.openxmlformats.org/officeDocument/2006/relationships/video" Target="https://www.youtube.com/embed/0fpK9591u6M"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8.xml"/><Relationship Id="rId1" Type="http://schemas.openxmlformats.org/officeDocument/2006/relationships/video" Target="https://www.youtube.com/embed/w8fu-hq3S7A"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8.xml"/><Relationship Id="rId1" Type="http://schemas.openxmlformats.org/officeDocument/2006/relationships/video" Target="https://www.youtube.com/embed/76nhIfp9gr0"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8.xml"/><Relationship Id="rId1" Type="http://schemas.openxmlformats.org/officeDocument/2006/relationships/video" Target="https://www.youtube.com/embed/8YtpTK-AFoQ"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8.xml"/><Relationship Id="rId1" Type="http://schemas.openxmlformats.org/officeDocument/2006/relationships/video" Target="https://www.youtube.com/embed/Bv16yctXaF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90707" y="944623"/>
            <a:ext cx="7990657" cy="1176701"/>
          </a:xfrm>
        </p:spPr>
        <p:txBody>
          <a:bodyPr>
            <a:normAutofit fontScale="90000"/>
          </a:bodyPr>
          <a:lstStyle/>
          <a:p>
            <a:pPr algn="ctr" eaLnBrk="1" hangingPunct="1"/>
            <a:r>
              <a:rPr lang="en-US" sz="4000" b="1" dirty="0">
                <a:solidFill>
                  <a:srgbClr val="C00000"/>
                </a:solidFill>
                <a:latin typeface="+mn-lt"/>
                <a:cs typeface="Arial" panose="020B0604020202020204" pitchFamily="34" charset="0"/>
              </a:rPr>
              <a:t>Leadership</a:t>
            </a:r>
            <a:br>
              <a:rPr lang="en-US" sz="4000" b="1" dirty="0">
                <a:solidFill>
                  <a:srgbClr val="C00000"/>
                </a:solidFill>
                <a:latin typeface="+mn-lt"/>
                <a:cs typeface="Arial" panose="020B0604020202020204" pitchFamily="34" charset="0"/>
              </a:rPr>
            </a:br>
            <a:r>
              <a:rPr lang="en-US" sz="4000" b="1" dirty="0">
                <a:solidFill>
                  <a:srgbClr val="C00000"/>
                </a:solidFill>
                <a:latin typeface="+mn-lt"/>
                <a:cs typeface="Arial" panose="020B0604020202020204" pitchFamily="34" charset="0"/>
              </a:rPr>
              <a:t>and the</a:t>
            </a:r>
            <a:br>
              <a:rPr lang="en-US" sz="4000" b="1" dirty="0">
                <a:solidFill>
                  <a:srgbClr val="C00000"/>
                </a:solidFill>
                <a:latin typeface="+mn-lt"/>
                <a:cs typeface="Arial" panose="020B0604020202020204" pitchFamily="34" charset="0"/>
              </a:rPr>
            </a:br>
            <a:r>
              <a:rPr lang="en-US" sz="4000" b="1" dirty="0">
                <a:solidFill>
                  <a:srgbClr val="C00000"/>
                </a:solidFill>
                <a:latin typeface="+mn-lt"/>
                <a:cs typeface="Arial" panose="020B0604020202020204" pitchFamily="34" charset="0"/>
              </a:rPr>
              <a:t>Project Manager</a:t>
            </a:r>
          </a:p>
        </p:txBody>
      </p:sp>
      <p:sp>
        <p:nvSpPr>
          <p:cNvPr id="2051" name="Rectangle 3"/>
          <p:cNvSpPr>
            <a:spLocks noGrp="1" noChangeArrowheads="1"/>
          </p:cNvSpPr>
          <p:nvPr>
            <p:ph type="subTitle" idx="1"/>
          </p:nvPr>
        </p:nvSpPr>
        <p:spPr>
          <a:xfrm>
            <a:off x="1697702" y="5923399"/>
            <a:ext cx="5976663" cy="288032"/>
          </a:xfrm>
        </p:spPr>
        <p:txBody>
          <a:bodyPr>
            <a:noAutofit/>
          </a:bodyPr>
          <a:lstStyle/>
          <a:p>
            <a:pPr algn="ctr"/>
            <a:r>
              <a:rPr lang="en-US" sz="2000" b="1" dirty="0"/>
              <a:t>Lecture 4</a:t>
            </a:r>
          </a:p>
        </p:txBody>
      </p:sp>
      <p:pic>
        <p:nvPicPr>
          <p:cNvPr id="1026" name="Picture 2" descr="http://blog.mcafeeinstitute.com/wp-content/uploads/2015/03/leaderclipartleadershipclipartpict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702" y="2264334"/>
            <a:ext cx="5976664" cy="333138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41819" y="5595723"/>
            <a:ext cx="3888432" cy="184666"/>
          </a:xfrm>
          <a:prstGeom prst="rect">
            <a:avLst/>
          </a:prstGeom>
        </p:spPr>
        <p:txBody>
          <a:bodyPr wrap="square">
            <a:spAutoFit/>
          </a:bodyPr>
          <a:lstStyle/>
          <a:p>
            <a:r>
              <a:rPr lang="en-US" sz="600" dirty="0"/>
              <a:t>http://blog.mcafeeinstitute.com/wp-content/uploads/2015/03/leaderclipartleadershipclipartpicture.jpg</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552142" y="664200"/>
            <a:ext cx="4039716" cy="664797"/>
          </a:xfrm>
        </p:spPr>
        <p:txBody>
          <a:bodyPr>
            <a:normAutofit/>
          </a:bodyPr>
          <a:lstStyle/>
          <a:p>
            <a:pPr eaLnBrk="1" hangingPunct="1"/>
            <a:r>
              <a:rPr lang="en-US" sz="3600" b="1" dirty="0">
                <a:latin typeface="+mn-lt"/>
              </a:rPr>
              <a:t>What is Leadership?</a:t>
            </a:r>
          </a:p>
        </p:txBody>
      </p:sp>
      <p:sp>
        <p:nvSpPr>
          <p:cNvPr id="3075" name="Rectangle 3"/>
          <p:cNvSpPr>
            <a:spLocks noGrp="1" noChangeArrowheads="1"/>
          </p:cNvSpPr>
          <p:nvPr>
            <p:ph idx="1"/>
          </p:nvPr>
        </p:nvSpPr>
        <p:spPr>
          <a:xfrm>
            <a:off x="467543" y="1626659"/>
            <a:ext cx="8208912" cy="1142916"/>
          </a:xfrm>
        </p:spPr>
        <p:txBody>
          <a:bodyPr>
            <a:normAutofit/>
          </a:bodyPr>
          <a:lstStyle/>
          <a:p>
            <a:pPr marL="0" indent="0" algn="ctr" eaLnBrk="1" hangingPunct="1">
              <a:buNone/>
            </a:pPr>
            <a:r>
              <a:rPr lang="en-US" sz="2400" dirty="0"/>
              <a:t>Defined as the ability </a:t>
            </a:r>
            <a:r>
              <a:rPr lang="en-US" sz="2400" b="1" dirty="0">
                <a:solidFill>
                  <a:srgbClr val="7030A0"/>
                </a:solidFill>
              </a:rPr>
              <a:t>to inspire confidence and support</a:t>
            </a:r>
            <a:r>
              <a:rPr lang="en-US" sz="2400" dirty="0"/>
              <a:t> among the </a:t>
            </a:r>
            <a:r>
              <a:rPr lang="en-US" sz="2400" dirty="0">
                <a:solidFill>
                  <a:srgbClr val="00B050"/>
                </a:solidFill>
              </a:rPr>
              <a:t>people who are needed </a:t>
            </a:r>
            <a:r>
              <a:rPr lang="en-US" sz="2400" dirty="0"/>
              <a:t>to achieve organizational goals.</a:t>
            </a:r>
          </a:p>
        </p:txBody>
      </p:sp>
      <p:sp>
        <p:nvSpPr>
          <p:cNvPr id="410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CA" dirty="0"/>
          </a:p>
        </p:txBody>
      </p:sp>
      <p:pic>
        <p:nvPicPr>
          <p:cNvPr id="2050" name="Picture 2" descr="http://newsletterville.com/img2013/issue204_handwrit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4759" y="2564904"/>
            <a:ext cx="2544217" cy="33396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356991" y="5928521"/>
            <a:ext cx="2430016" cy="184666"/>
          </a:xfrm>
          <a:prstGeom prst="rect">
            <a:avLst/>
          </a:prstGeom>
        </p:spPr>
        <p:txBody>
          <a:bodyPr wrap="square">
            <a:spAutoFit/>
          </a:bodyPr>
          <a:lstStyle/>
          <a:p>
            <a:r>
              <a:rPr lang="en-US" sz="600" dirty="0"/>
              <a:t>http://newsletterville.com/img2013/issue204_handwriting.jpg</a:t>
            </a:r>
          </a:p>
        </p:txBody>
      </p:sp>
      <p:sp>
        <p:nvSpPr>
          <p:cNvPr id="3" name="Footer Placeholder 2"/>
          <p:cNvSpPr>
            <a:spLocks noGrp="1"/>
          </p:cNvSpPr>
          <p:nvPr>
            <p:ph type="ftr" sz="quarter" idx="11"/>
          </p:nvPr>
        </p:nvSpPr>
        <p:spPr>
          <a:xfrm>
            <a:off x="899592" y="6356679"/>
            <a:ext cx="3086100" cy="365125"/>
          </a:xfrm>
        </p:spPr>
        <p:txBody>
          <a:bodyPr/>
          <a:lstStyle/>
          <a:p>
            <a:pPr algn="l"/>
            <a:r>
              <a:rPr lang="fr-FR" dirty="0"/>
              <a:t>G.R. </a:t>
            </a:r>
            <a:r>
              <a:rPr lang="fr-FR" dirty="0" err="1"/>
              <a:t>Labbé</a:t>
            </a:r>
            <a:r>
              <a:rPr lang="fr-FR" dirty="0"/>
              <a:t> - Lecture 4</a:t>
            </a:r>
            <a:endParaRPr lang="en-US" dirty="0"/>
          </a:p>
        </p:txBody>
      </p:sp>
      <p:sp>
        <p:nvSpPr>
          <p:cNvPr id="4" name="Slide Number Placeholder 3"/>
          <p:cNvSpPr>
            <a:spLocks noGrp="1"/>
          </p:cNvSpPr>
          <p:nvPr>
            <p:ph type="sldNum" sz="quarter" idx="12"/>
          </p:nvPr>
        </p:nvSpPr>
        <p:spPr/>
        <p:txBody>
          <a:bodyPr/>
          <a:lstStyle/>
          <a:p>
            <a:fld id="{DC58D7EA-5236-4708-B764-7E8D1EAC2EFE}" type="slidenum">
              <a:rPr lang="en-US" smtClean="0"/>
              <a:t>2</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55576" y="548680"/>
            <a:ext cx="7759774" cy="638944"/>
          </a:xfrm>
        </p:spPr>
        <p:txBody>
          <a:bodyPr>
            <a:noAutofit/>
          </a:bodyPr>
          <a:lstStyle/>
          <a:p>
            <a:pPr algn="ctr" eaLnBrk="1" hangingPunct="1"/>
            <a:r>
              <a:rPr lang="en-US" sz="3600" b="1" dirty="0">
                <a:latin typeface="+mn-lt"/>
              </a:rPr>
              <a:t>Leaders versus Managers</a:t>
            </a:r>
          </a:p>
        </p:txBody>
      </p:sp>
      <p:sp>
        <p:nvSpPr>
          <p:cNvPr id="4099" name="Rectangle 3"/>
          <p:cNvSpPr>
            <a:spLocks noGrp="1" noChangeArrowheads="1"/>
          </p:cNvSpPr>
          <p:nvPr>
            <p:ph idx="1"/>
          </p:nvPr>
        </p:nvSpPr>
        <p:spPr>
          <a:xfrm>
            <a:off x="429712" y="1340768"/>
            <a:ext cx="8507288" cy="4896544"/>
          </a:xfrm>
        </p:spPr>
        <p:txBody>
          <a:bodyPr>
            <a:normAutofit/>
          </a:bodyPr>
          <a:lstStyle/>
          <a:p>
            <a:pPr>
              <a:lnSpc>
                <a:spcPct val="80000"/>
              </a:lnSpc>
            </a:pPr>
            <a:r>
              <a:rPr lang="en-US" sz="2000" b="1" dirty="0"/>
              <a:t>Leaders create a sense of </a:t>
            </a:r>
            <a:r>
              <a:rPr lang="en-US" sz="2000" b="1" dirty="0">
                <a:solidFill>
                  <a:srgbClr val="7030A0"/>
                </a:solidFill>
              </a:rPr>
              <a:t>partnership</a:t>
            </a:r>
            <a:r>
              <a:rPr lang="en-US" sz="2000" b="1" dirty="0"/>
              <a:t>.</a:t>
            </a:r>
            <a:r>
              <a:rPr lang="en-US" sz="2000" dirty="0"/>
              <a:t> The teamwork is needed in order to achieve the common goal.</a:t>
            </a:r>
          </a:p>
          <a:p>
            <a:pPr>
              <a:lnSpc>
                <a:spcPct val="80000"/>
              </a:lnSpc>
            </a:pPr>
            <a:r>
              <a:rPr lang="en-US" sz="2000" dirty="0"/>
              <a:t>Four things are necessary to promote the partnership idea between project manager and team:</a:t>
            </a:r>
          </a:p>
          <a:p>
            <a:pPr lvl="1">
              <a:lnSpc>
                <a:spcPct val="80000"/>
              </a:lnSpc>
            </a:pPr>
            <a:r>
              <a:rPr lang="en-US" sz="2000" b="1" dirty="0"/>
              <a:t>Exchange of purpose.</a:t>
            </a:r>
            <a:r>
              <a:rPr lang="en-US" sz="2000" dirty="0"/>
              <a:t> Partnerships require that every member knows the </a:t>
            </a:r>
            <a:r>
              <a:rPr lang="en-US" sz="2000" dirty="0">
                <a:solidFill>
                  <a:srgbClr val="00B050"/>
                </a:solidFill>
              </a:rPr>
              <a:t>goals</a:t>
            </a:r>
            <a:r>
              <a:rPr lang="en-US" sz="2000" dirty="0"/>
              <a:t> and </a:t>
            </a:r>
            <a:r>
              <a:rPr lang="en-US" sz="2000" dirty="0">
                <a:solidFill>
                  <a:srgbClr val="00B050"/>
                </a:solidFill>
              </a:rPr>
              <a:t>vision</a:t>
            </a:r>
            <a:r>
              <a:rPr lang="en-US" sz="2000" dirty="0"/>
              <a:t> of a project. </a:t>
            </a:r>
          </a:p>
          <a:p>
            <a:pPr lvl="1">
              <a:lnSpc>
                <a:spcPct val="80000"/>
              </a:lnSpc>
            </a:pPr>
            <a:r>
              <a:rPr lang="en-US" sz="2000" b="1" dirty="0"/>
              <a:t>A right to say "NO".</a:t>
            </a:r>
            <a:r>
              <a:rPr lang="en-US" sz="2000" dirty="0"/>
              <a:t> It is important that all members of the team can </a:t>
            </a:r>
            <a:r>
              <a:rPr lang="en-US" sz="2000" dirty="0">
                <a:solidFill>
                  <a:srgbClr val="00B050"/>
                </a:solidFill>
              </a:rPr>
              <a:t>disagree</a:t>
            </a:r>
            <a:r>
              <a:rPr lang="en-US" sz="2000" dirty="0"/>
              <a:t>. Supporting peoples right to voice their professional disagreement is a cornerstone of a partnership. Loosing arguments is acceptable, loosing the right to disagree is not.</a:t>
            </a:r>
          </a:p>
          <a:p>
            <a:pPr lvl="1">
              <a:lnSpc>
                <a:spcPct val="80000"/>
              </a:lnSpc>
            </a:pPr>
            <a:r>
              <a:rPr lang="en-US" sz="2000" b="1" dirty="0"/>
              <a:t>Joint accountability.</a:t>
            </a:r>
            <a:r>
              <a:rPr lang="en-US" sz="2000" dirty="0"/>
              <a:t> In a partnership each member of the project team is </a:t>
            </a:r>
            <a:r>
              <a:rPr lang="en-US" sz="2000" dirty="0">
                <a:solidFill>
                  <a:srgbClr val="00B050"/>
                </a:solidFill>
              </a:rPr>
              <a:t>responsible</a:t>
            </a:r>
            <a:r>
              <a:rPr lang="en-US" sz="2000" dirty="0"/>
              <a:t> for the project's outcomes and the current situation (positive or negative). </a:t>
            </a:r>
          </a:p>
          <a:p>
            <a:pPr lvl="1">
              <a:lnSpc>
                <a:spcPct val="80000"/>
              </a:lnSpc>
            </a:pPr>
            <a:r>
              <a:rPr lang="en-US" sz="2000" b="1" dirty="0"/>
              <a:t>Absolute honesty.</a:t>
            </a:r>
            <a:r>
              <a:rPr lang="en-US" sz="2000" dirty="0"/>
              <a:t> Partnerships demand </a:t>
            </a:r>
            <a:r>
              <a:rPr lang="en-US" sz="2000" dirty="0">
                <a:solidFill>
                  <a:srgbClr val="00B050"/>
                </a:solidFill>
              </a:rPr>
              <a:t>authenticity</a:t>
            </a:r>
            <a:r>
              <a:rPr lang="en-US" sz="2000" dirty="0"/>
              <a:t>. Because of the respect of each team member's role, an implicit pact that all information becomes community information is made.</a:t>
            </a:r>
          </a:p>
          <a:p>
            <a:pPr eaLnBrk="1" hangingPunct="1">
              <a:lnSpc>
                <a:spcPct val="80000"/>
              </a:lnSpc>
            </a:pPr>
            <a:endParaRPr lang="en-US" sz="2000" dirty="0"/>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2" name="Footer Placeholder 1"/>
          <p:cNvSpPr>
            <a:spLocks noGrp="1"/>
          </p:cNvSpPr>
          <p:nvPr>
            <p:ph type="ftr" sz="quarter" idx="11"/>
          </p:nvPr>
        </p:nvSpPr>
        <p:spPr>
          <a:xfrm>
            <a:off x="755576" y="6366827"/>
            <a:ext cx="3086100" cy="365125"/>
          </a:xfrm>
        </p:spPr>
        <p:txBody>
          <a:bodyPr/>
          <a:lstStyle/>
          <a:p>
            <a:pPr algn="l"/>
            <a:r>
              <a:rPr lang="fr-FR" dirty="0"/>
              <a:t>G.R. </a:t>
            </a:r>
            <a:r>
              <a:rPr lang="fr-FR" dirty="0" err="1"/>
              <a:t>Labbé</a:t>
            </a:r>
            <a:r>
              <a:rPr lang="fr-FR" dirty="0"/>
              <a:t> - Lecture 4</a:t>
            </a:r>
            <a:endParaRPr lang="en-US" dirty="0"/>
          </a:p>
        </p:txBody>
      </p:sp>
      <p:sp>
        <p:nvSpPr>
          <p:cNvPr id="3" name="Slide Number Placeholder 2"/>
          <p:cNvSpPr>
            <a:spLocks noGrp="1"/>
          </p:cNvSpPr>
          <p:nvPr>
            <p:ph type="sldNum" sz="quarter" idx="12"/>
          </p:nvPr>
        </p:nvSpPr>
        <p:spPr/>
        <p:txBody>
          <a:bodyPr/>
          <a:lstStyle/>
          <a:p>
            <a:fld id="{DC58D7EA-5236-4708-B764-7E8D1EAC2EFE}" type="slidenum">
              <a:rPr lang="en-US" smtClean="0"/>
              <a:t>3</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0" dur="500"/>
                                        <p:tgtEl>
                                          <p:spTgt spid="40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5" dur="500"/>
                                        <p:tgtEl>
                                          <p:spTgt spid="409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blinds(horizontal)">
                                      <p:cBhvr>
                                        <p:cTn id="20" dur="500"/>
                                        <p:tgtEl>
                                          <p:spTgt spid="409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Effect transition="in" filter="blinds(horizontal)">
                                      <p:cBhvr>
                                        <p:cTn id="25" dur="500"/>
                                        <p:tgtEl>
                                          <p:spTgt spid="4099">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099">
                                            <p:txEl>
                                              <p:pRg st="5" end="5"/>
                                            </p:txEl>
                                          </p:spTgt>
                                        </p:tgtEl>
                                        <p:attrNameLst>
                                          <p:attrName>style.visibility</p:attrName>
                                        </p:attrNameLst>
                                      </p:cBhvr>
                                      <p:to>
                                        <p:strVal val="visible"/>
                                      </p:to>
                                    </p:set>
                                    <p:animEffect transition="in" filter="blinds(horizontal)">
                                      <p:cBhvr>
                                        <p:cTn id="30"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850722"/>
            <a:ext cx="7759774" cy="664797"/>
          </a:xfrm>
        </p:spPr>
        <p:txBody>
          <a:bodyPr>
            <a:normAutofit/>
          </a:bodyPr>
          <a:lstStyle/>
          <a:p>
            <a:pPr algn="ctr"/>
            <a:r>
              <a:rPr lang="en-US" sz="3600" b="1" dirty="0">
                <a:latin typeface="+mn-lt"/>
              </a:rPr>
              <a:t>Leaders versus Managers </a:t>
            </a:r>
            <a:r>
              <a:rPr lang="en-US" sz="2400" i="1" dirty="0">
                <a:latin typeface="+mn-lt"/>
              </a:rPr>
              <a:t>(cont’d)</a:t>
            </a:r>
          </a:p>
        </p:txBody>
      </p:sp>
      <p:sp>
        <p:nvSpPr>
          <p:cNvPr id="3" name="Content Placeholder 2"/>
          <p:cNvSpPr>
            <a:spLocks noGrp="1"/>
          </p:cNvSpPr>
          <p:nvPr>
            <p:ph idx="1"/>
          </p:nvPr>
        </p:nvSpPr>
        <p:spPr>
          <a:xfrm>
            <a:off x="315516" y="2060848"/>
            <a:ext cx="8632612" cy="3995500"/>
          </a:xfrm>
        </p:spPr>
        <p:txBody>
          <a:bodyPr>
            <a:normAutofit/>
          </a:bodyPr>
          <a:lstStyle/>
          <a:p>
            <a:pPr marL="0" indent="0" algn="ctr">
              <a:buNone/>
            </a:pPr>
            <a:r>
              <a:rPr lang="en-US" sz="2400" dirty="0"/>
              <a:t>A </a:t>
            </a:r>
            <a:r>
              <a:rPr lang="en-US" sz="2400" b="1" dirty="0">
                <a:solidFill>
                  <a:srgbClr val="7030A0"/>
                </a:solidFill>
              </a:rPr>
              <a:t>manager</a:t>
            </a:r>
            <a:r>
              <a:rPr lang="en-US" sz="2400" b="1" dirty="0">
                <a:solidFill>
                  <a:schemeClr val="tx1">
                    <a:lumMod val="95000"/>
                    <a:lumOff val="5000"/>
                  </a:schemeClr>
                </a:solidFill>
              </a:rPr>
              <a:t> is an individual who has </a:t>
            </a:r>
            <a:r>
              <a:rPr lang="en-US" sz="2400" b="1" dirty="0">
                <a:solidFill>
                  <a:srgbClr val="7030A0"/>
                </a:solidFill>
              </a:rPr>
              <a:t>received a title</a:t>
            </a:r>
            <a:endParaRPr lang="en-US" sz="2400" dirty="0">
              <a:solidFill>
                <a:srgbClr val="7030A0"/>
              </a:solidFill>
            </a:endParaRPr>
          </a:p>
          <a:p>
            <a:pPr marL="0" indent="0" algn="ctr">
              <a:buNone/>
            </a:pPr>
            <a:r>
              <a:rPr lang="en-US" sz="2400" dirty="0">
                <a:solidFill>
                  <a:schemeClr val="tx1">
                    <a:lumMod val="95000"/>
                    <a:lumOff val="5000"/>
                  </a:schemeClr>
                </a:solidFill>
              </a:rPr>
              <a:t>within the organization </a:t>
            </a:r>
            <a:r>
              <a:rPr lang="en-US" sz="2400" b="1" dirty="0">
                <a:solidFill>
                  <a:schemeClr val="tx1">
                    <a:lumMod val="95000"/>
                    <a:lumOff val="5000"/>
                  </a:schemeClr>
                </a:solidFill>
              </a:rPr>
              <a:t>that permits him/her</a:t>
            </a:r>
            <a:endParaRPr lang="en-US" sz="2400" dirty="0">
              <a:solidFill>
                <a:schemeClr val="tx1">
                  <a:lumMod val="95000"/>
                  <a:lumOff val="5000"/>
                </a:schemeClr>
              </a:solidFill>
            </a:endParaRPr>
          </a:p>
          <a:p>
            <a:pPr marL="0" indent="0" algn="ctr">
              <a:buNone/>
            </a:pPr>
            <a:r>
              <a:rPr lang="en-US" sz="2400" dirty="0"/>
              <a:t>to </a:t>
            </a:r>
            <a:r>
              <a:rPr lang="en-US" sz="2400" dirty="0">
                <a:solidFill>
                  <a:srgbClr val="7030A0"/>
                </a:solidFill>
              </a:rPr>
              <a:t>plan</a:t>
            </a:r>
            <a:r>
              <a:rPr lang="en-US" sz="2400" dirty="0"/>
              <a:t>, </a:t>
            </a:r>
            <a:r>
              <a:rPr lang="en-US" sz="2400" dirty="0">
                <a:solidFill>
                  <a:srgbClr val="7030A0"/>
                </a:solidFill>
              </a:rPr>
              <a:t>organize</a:t>
            </a:r>
            <a:r>
              <a:rPr lang="en-US" sz="2400" dirty="0"/>
              <a:t>, </a:t>
            </a:r>
            <a:r>
              <a:rPr lang="en-US" sz="2400" dirty="0">
                <a:solidFill>
                  <a:srgbClr val="7030A0"/>
                </a:solidFill>
              </a:rPr>
              <a:t>direct</a:t>
            </a:r>
            <a:r>
              <a:rPr lang="en-US" sz="2400" dirty="0"/>
              <a:t>, and </a:t>
            </a:r>
            <a:r>
              <a:rPr lang="en-US" sz="2400" dirty="0">
                <a:solidFill>
                  <a:srgbClr val="7030A0"/>
                </a:solidFill>
              </a:rPr>
              <a:t>control the behavior</a:t>
            </a:r>
          </a:p>
          <a:p>
            <a:pPr marL="0" indent="0" algn="ctr">
              <a:buNone/>
            </a:pPr>
            <a:r>
              <a:rPr lang="en-US" sz="2400" dirty="0"/>
              <a:t>of others within the department or area of oversight.</a:t>
            </a:r>
          </a:p>
          <a:p>
            <a:pPr marL="0" indent="0" algn="ctr">
              <a:buNone/>
            </a:pPr>
            <a:r>
              <a:rPr lang="en-US" sz="2400" dirty="0">
                <a:solidFill>
                  <a:srgbClr val="00B050"/>
                </a:solidFill>
              </a:rPr>
              <a:t>Leadership</a:t>
            </a:r>
            <a:r>
              <a:rPr lang="en-US" sz="2400" dirty="0"/>
              <a:t> may be part of the manager's job,</a:t>
            </a:r>
          </a:p>
          <a:p>
            <a:pPr marL="0" indent="0" algn="ctr">
              <a:buNone/>
            </a:pPr>
            <a:r>
              <a:rPr lang="en-US" sz="2400" dirty="0"/>
              <a:t>but the other management</a:t>
            </a:r>
          </a:p>
          <a:p>
            <a:pPr marL="0" indent="0" algn="ctr">
              <a:buNone/>
            </a:pPr>
            <a:r>
              <a:rPr lang="en-US" sz="2400" dirty="0"/>
              <a:t>roles are more </a:t>
            </a:r>
            <a:r>
              <a:rPr lang="en-US" sz="2400" dirty="0">
                <a:solidFill>
                  <a:srgbClr val="7030A0"/>
                </a:solidFill>
              </a:rPr>
              <a:t>administrative</a:t>
            </a:r>
            <a:r>
              <a:rPr lang="en-US" sz="2400" dirty="0"/>
              <a:t> in nature.</a:t>
            </a:r>
          </a:p>
        </p:txBody>
      </p:sp>
      <p:sp>
        <p:nvSpPr>
          <p:cNvPr id="4"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5" name="Footer Placeholder 4"/>
          <p:cNvSpPr>
            <a:spLocks noGrp="1"/>
          </p:cNvSpPr>
          <p:nvPr>
            <p:ph type="ftr" sz="quarter" idx="11"/>
          </p:nvPr>
        </p:nvSpPr>
        <p:spPr>
          <a:xfrm>
            <a:off x="755576" y="6366827"/>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4</a:t>
            </a:fld>
            <a:endParaRPr lang="en-US"/>
          </a:p>
        </p:txBody>
      </p:sp>
    </p:spTree>
    <p:extLst>
      <p:ext uri="{BB962C8B-B14F-4D97-AF65-F5344CB8AC3E}">
        <p14:creationId xmlns:p14="http://schemas.microsoft.com/office/powerpoint/2010/main" val="74257881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39"/>
          <p:cNvSpPr>
            <a:spLocks noGrp="1" noChangeArrowheads="1"/>
          </p:cNvSpPr>
          <p:nvPr>
            <p:ph type="title"/>
          </p:nvPr>
        </p:nvSpPr>
        <p:spPr>
          <a:xfrm>
            <a:off x="469777" y="459136"/>
            <a:ext cx="8229600" cy="706090"/>
          </a:xfrm>
        </p:spPr>
        <p:txBody>
          <a:bodyPr>
            <a:normAutofit fontScale="90000"/>
          </a:bodyPr>
          <a:lstStyle/>
          <a:p>
            <a:pPr eaLnBrk="1" hangingPunct="1"/>
            <a:r>
              <a:rPr lang="en-US" sz="4000" b="1" dirty="0"/>
              <a:t>Differences Between Managers and Leaders</a:t>
            </a:r>
          </a:p>
        </p:txBody>
      </p:sp>
      <p:sp>
        <p:nvSpPr>
          <p:cNvPr id="720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3" name="Rectangle 2"/>
          <p:cNvSpPr/>
          <p:nvPr/>
        </p:nvSpPr>
        <p:spPr>
          <a:xfrm>
            <a:off x="2703576" y="6205339"/>
            <a:ext cx="3816424" cy="184666"/>
          </a:xfrm>
          <a:prstGeom prst="rect">
            <a:avLst/>
          </a:prstGeom>
        </p:spPr>
        <p:txBody>
          <a:bodyPr wrap="square">
            <a:spAutoFit/>
          </a:bodyPr>
          <a:lstStyle/>
          <a:p>
            <a:pPr algn="ctr"/>
            <a:r>
              <a:rPr lang="en-US" sz="600" dirty="0"/>
              <a:t>Nextgeneration.ie</a:t>
            </a:r>
          </a:p>
        </p:txBody>
      </p:sp>
      <p:sp>
        <p:nvSpPr>
          <p:cNvPr id="2" name="Footer Placeholder 1"/>
          <p:cNvSpPr>
            <a:spLocks noGrp="1"/>
          </p:cNvSpPr>
          <p:nvPr>
            <p:ph type="ftr" sz="quarter" idx="11"/>
          </p:nvPr>
        </p:nvSpPr>
        <p:spPr>
          <a:xfrm>
            <a:off x="706345" y="6330950"/>
            <a:ext cx="2494620" cy="377825"/>
          </a:xfrm>
        </p:spPr>
        <p:txBody>
          <a:bodyPr/>
          <a:lstStyle/>
          <a:p>
            <a:pPr algn="l"/>
            <a:r>
              <a:rPr lang="en-US" dirty="0"/>
              <a:t>G.R. Labb</a:t>
            </a:r>
            <a:r>
              <a:rPr lang="fr-CA" dirty="0"/>
              <a:t>é</a:t>
            </a:r>
            <a:endParaRPr lang="en-US" dirty="0"/>
          </a:p>
        </p:txBody>
      </p:sp>
      <p:sp>
        <p:nvSpPr>
          <p:cNvPr id="4" name="Slide Number Placeholder 3"/>
          <p:cNvSpPr>
            <a:spLocks noGrp="1"/>
          </p:cNvSpPr>
          <p:nvPr>
            <p:ph type="sldNum" sz="quarter" idx="12"/>
          </p:nvPr>
        </p:nvSpPr>
        <p:spPr>
          <a:xfrm>
            <a:off x="8382822" y="6330950"/>
            <a:ext cx="417516" cy="374815"/>
          </a:xfrm>
        </p:spPr>
        <p:txBody>
          <a:bodyPr/>
          <a:lstStyle/>
          <a:p>
            <a:pPr>
              <a:defRPr/>
            </a:pPr>
            <a:fld id="{6D0F932C-5349-42CC-BB16-DF636DBFE280}" type="slidenum">
              <a:rPr lang="en-US" smtClean="0"/>
              <a:pPr>
                <a:defRPr/>
              </a:pPr>
              <a:t>5</a:t>
            </a:fld>
            <a:endParaRPr lang="en-US" dirty="0"/>
          </a:p>
        </p:txBody>
      </p:sp>
      <p:pic>
        <p:nvPicPr>
          <p:cNvPr id="1026" name="Picture 2" descr="Differences between leadership and management">
            <a:extLst>
              <a:ext uri="{FF2B5EF4-FFF2-40B4-BE49-F238E27FC236}">
                <a16:creationId xmlns:a16="http://schemas.microsoft.com/office/drawing/2014/main" id="{2592578F-F20F-DDD3-8959-2124C6DA5C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934" y="1242717"/>
            <a:ext cx="7146426" cy="4759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39"/>
          <p:cNvSpPr>
            <a:spLocks noGrp="1" noChangeArrowheads="1"/>
          </p:cNvSpPr>
          <p:nvPr>
            <p:ph type="title"/>
          </p:nvPr>
        </p:nvSpPr>
        <p:spPr>
          <a:xfrm>
            <a:off x="469777" y="459136"/>
            <a:ext cx="8229600" cy="706090"/>
          </a:xfrm>
        </p:spPr>
        <p:txBody>
          <a:bodyPr>
            <a:normAutofit fontScale="90000"/>
          </a:bodyPr>
          <a:lstStyle/>
          <a:p>
            <a:pPr eaLnBrk="1" hangingPunct="1"/>
            <a:r>
              <a:rPr lang="en-US" sz="4000" b="1" dirty="0"/>
              <a:t>Differences Between Managers and Leaders</a:t>
            </a:r>
          </a:p>
        </p:txBody>
      </p:sp>
      <p:sp>
        <p:nvSpPr>
          <p:cNvPr id="720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3" name="Rectangle 2"/>
          <p:cNvSpPr/>
          <p:nvPr/>
        </p:nvSpPr>
        <p:spPr>
          <a:xfrm>
            <a:off x="2703576" y="6205339"/>
            <a:ext cx="3816424" cy="184666"/>
          </a:xfrm>
          <a:prstGeom prst="rect">
            <a:avLst/>
          </a:prstGeom>
        </p:spPr>
        <p:txBody>
          <a:bodyPr wrap="square">
            <a:spAutoFit/>
          </a:bodyPr>
          <a:lstStyle/>
          <a:p>
            <a:pPr algn="ctr"/>
            <a:r>
              <a:rPr lang="en-US" sz="600" dirty="0"/>
              <a:t>Nextgeneration.ie</a:t>
            </a:r>
          </a:p>
        </p:txBody>
      </p:sp>
      <p:sp>
        <p:nvSpPr>
          <p:cNvPr id="2" name="Footer Placeholder 1"/>
          <p:cNvSpPr>
            <a:spLocks noGrp="1"/>
          </p:cNvSpPr>
          <p:nvPr>
            <p:ph type="ftr" sz="quarter" idx="11"/>
          </p:nvPr>
        </p:nvSpPr>
        <p:spPr>
          <a:xfrm>
            <a:off x="706345" y="6330950"/>
            <a:ext cx="2494620" cy="377825"/>
          </a:xfrm>
        </p:spPr>
        <p:txBody>
          <a:bodyPr/>
          <a:lstStyle/>
          <a:p>
            <a:pPr algn="l"/>
            <a:r>
              <a:rPr lang="en-US" dirty="0"/>
              <a:t>G.R. Labb</a:t>
            </a:r>
            <a:r>
              <a:rPr lang="fr-CA" dirty="0"/>
              <a:t>é</a:t>
            </a:r>
            <a:endParaRPr lang="en-US" dirty="0"/>
          </a:p>
        </p:txBody>
      </p:sp>
      <p:sp>
        <p:nvSpPr>
          <p:cNvPr id="4" name="Slide Number Placeholder 3"/>
          <p:cNvSpPr>
            <a:spLocks noGrp="1"/>
          </p:cNvSpPr>
          <p:nvPr>
            <p:ph type="sldNum" sz="quarter" idx="12"/>
          </p:nvPr>
        </p:nvSpPr>
        <p:spPr>
          <a:xfrm>
            <a:off x="8382822" y="6330950"/>
            <a:ext cx="417516" cy="374815"/>
          </a:xfrm>
        </p:spPr>
        <p:txBody>
          <a:bodyPr/>
          <a:lstStyle/>
          <a:p>
            <a:pPr>
              <a:defRPr/>
            </a:pPr>
            <a:fld id="{6D0F932C-5349-42CC-BB16-DF636DBFE280}" type="slidenum">
              <a:rPr lang="en-US" smtClean="0"/>
              <a:pPr>
                <a:defRPr/>
              </a:pPr>
              <a:t>6</a:t>
            </a:fld>
            <a:endParaRPr lang="en-US" dirty="0"/>
          </a:p>
        </p:txBody>
      </p:sp>
      <p:pic>
        <p:nvPicPr>
          <p:cNvPr id="6" name="Picture 5" descr="A black and white poster with a black background&#10;&#10;Description automatically generated">
            <a:extLst>
              <a:ext uri="{FF2B5EF4-FFF2-40B4-BE49-F238E27FC236}">
                <a16:creationId xmlns:a16="http://schemas.microsoft.com/office/drawing/2014/main" id="{DB9F252F-D76F-2934-751B-D249196101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43300" y="1200290"/>
            <a:ext cx="4276700" cy="5285563"/>
          </a:xfrm>
          <a:prstGeom prst="rect">
            <a:avLst/>
          </a:prstGeom>
        </p:spPr>
      </p:pic>
    </p:spTree>
    <p:extLst>
      <p:ext uri="{BB962C8B-B14F-4D97-AF65-F5344CB8AC3E}">
        <p14:creationId xmlns:p14="http://schemas.microsoft.com/office/powerpoint/2010/main" val="2700519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39"/>
          <p:cNvSpPr>
            <a:spLocks noGrp="1" noChangeArrowheads="1"/>
          </p:cNvSpPr>
          <p:nvPr>
            <p:ph type="title"/>
          </p:nvPr>
        </p:nvSpPr>
        <p:spPr>
          <a:xfrm>
            <a:off x="469777" y="459136"/>
            <a:ext cx="8229600" cy="706090"/>
          </a:xfrm>
        </p:spPr>
        <p:txBody>
          <a:bodyPr>
            <a:normAutofit fontScale="90000"/>
          </a:bodyPr>
          <a:lstStyle/>
          <a:p>
            <a:pPr eaLnBrk="1" hangingPunct="1"/>
            <a:r>
              <a:rPr lang="en-US" sz="4000" b="1" dirty="0"/>
              <a:t>Differences Between Managers and Leaders</a:t>
            </a:r>
          </a:p>
        </p:txBody>
      </p:sp>
      <p:sp>
        <p:nvSpPr>
          <p:cNvPr id="720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2" name="Footer Placeholder 1"/>
          <p:cNvSpPr>
            <a:spLocks noGrp="1"/>
          </p:cNvSpPr>
          <p:nvPr>
            <p:ph type="ftr" sz="quarter" idx="11"/>
          </p:nvPr>
        </p:nvSpPr>
        <p:spPr>
          <a:xfrm>
            <a:off x="706345" y="6330950"/>
            <a:ext cx="2494620" cy="377825"/>
          </a:xfrm>
        </p:spPr>
        <p:txBody>
          <a:bodyPr/>
          <a:lstStyle/>
          <a:p>
            <a:pPr algn="l"/>
            <a:r>
              <a:rPr lang="en-US" dirty="0"/>
              <a:t>G.R. Labb</a:t>
            </a:r>
            <a:r>
              <a:rPr lang="fr-CA" dirty="0"/>
              <a:t>é</a:t>
            </a:r>
            <a:endParaRPr lang="en-US" dirty="0"/>
          </a:p>
        </p:txBody>
      </p:sp>
      <p:sp>
        <p:nvSpPr>
          <p:cNvPr id="4" name="Slide Number Placeholder 3"/>
          <p:cNvSpPr>
            <a:spLocks noGrp="1"/>
          </p:cNvSpPr>
          <p:nvPr>
            <p:ph type="sldNum" sz="quarter" idx="12"/>
          </p:nvPr>
        </p:nvSpPr>
        <p:spPr>
          <a:xfrm>
            <a:off x="8382822" y="6330950"/>
            <a:ext cx="417516" cy="374815"/>
          </a:xfrm>
        </p:spPr>
        <p:txBody>
          <a:bodyPr/>
          <a:lstStyle/>
          <a:p>
            <a:pPr>
              <a:defRPr/>
            </a:pPr>
            <a:fld id="{6D0F932C-5349-42CC-BB16-DF636DBFE280}" type="slidenum">
              <a:rPr lang="en-US" smtClean="0"/>
              <a:pPr>
                <a:defRPr/>
              </a:pPr>
              <a:t>7</a:t>
            </a:fld>
            <a:endParaRPr lang="en-US" dirty="0"/>
          </a:p>
        </p:txBody>
      </p:sp>
      <p:pic>
        <p:nvPicPr>
          <p:cNvPr id="2050" name="Picture 2" descr="Why Gladiator's Final Fight Is So Short (&amp; Why That's Perfect)">
            <a:extLst>
              <a:ext uri="{FF2B5EF4-FFF2-40B4-BE49-F238E27FC236}">
                <a16:creationId xmlns:a16="http://schemas.microsoft.com/office/drawing/2014/main" id="{CD5C89BA-42F8-A826-BBE1-C5EAE4FCD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832" y="1313892"/>
            <a:ext cx="8460432" cy="42302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089C872-0422-3EBC-4626-B11B332E8FCE}"/>
              </a:ext>
            </a:extLst>
          </p:cNvPr>
          <p:cNvSpPr txBox="1"/>
          <p:nvPr/>
        </p:nvSpPr>
        <p:spPr>
          <a:xfrm>
            <a:off x="1845176" y="5743674"/>
            <a:ext cx="6192688" cy="646331"/>
          </a:xfrm>
          <a:prstGeom prst="rect">
            <a:avLst/>
          </a:prstGeom>
          <a:noFill/>
        </p:spPr>
        <p:txBody>
          <a:bodyPr wrap="square">
            <a:spAutoFit/>
          </a:bodyPr>
          <a:lstStyle/>
          <a:p>
            <a:r>
              <a:rPr lang="en-CA" dirty="0">
                <a:hlinkClick r:id="rId3"/>
              </a:rPr>
              <a:t>https://www.youtube.com/watch?v=lEM5nJ-AUiM</a:t>
            </a:r>
            <a:endParaRPr lang="en-CA" dirty="0"/>
          </a:p>
          <a:p>
            <a:endParaRPr lang="en-CA" dirty="0"/>
          </a:p>
        </p:txBody>
      </p:sp>
    </p:spTree>
    <p:extLst>
      <p:ext uri="{BB962C8B-B14F-4D97-AF65-F5344CB8AC3E}">
        <p14:creationId xmlns:p14="http://schemas.microsoft.com/office/powerpoint/2010/main" val="2548585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611560" y="6356350"/>
            <a:ext cx="3271242" cy="365125"/>
          </a:xfrm>
        </p:spPr>
        <p:txBody>
          <a:bodyPr/>
          <a:lstStyle/>
          <a:p>
            <a:pPr algn="l"/>
            <a:r>
              <a:rPr lang="en-US" dirty="0"/>
              <a:t>G.R. Labbé</a:t>
            </a:r>
          </a:p>
        </p:txBody>
      </p:sp>
      <p:sp>
        <p:nvSpPr>
          <p:cNvPr id="3" name="Slide Number Placeholder 2"/>
          <p:cNvSpPr>
            <a:spLocks noGrp="1"/>
          </p:cNvSpPr>
          <p:nvPr>
            <p:ph type="sldNum" sz="quarter" idx="12"/>
          </p:nvPr>
        </p:nvSpPr>
        <p:spPr/>
        <p:txBody>
          <a:bodyPr/>
          <a:lstStyle/>
          <a:p>
            <a:fld id="{DC58D7EA-5236-4708-B764-7E8D1EAC2EFE}" type="slidenum">
              <a:rPr lang="en-US" smtClean="0"/>
              <a:t>8</a:t>
            </a:fld>
            <a:endParaRPr lang="en-US"/>
          </a:p>
        </p:txBody>
      </p:sp>
      <p:sp>
        <p:nvSpPr>
          <p:cNvPr id="4" name="object 3"/>
          <p:cNvSpPr txBox="1"/>
          <p:nvPr/>
        </p:nvSpPr>
        <p:spPr>
          <a:xfrm>
            <a:off x="611560" y="1233833"/>
            <a:ext cx="7903790" cy="861774"/>
          </a:xfrm>
          <a:prstGeom prst="rect">
            <a:avLst/>
          </a:prstGeom>
        </p:spPr>
        <p:txBody>
          <a:bodyPr vert="horz" wrap="square" lIns="0" tIns="0" rIns="0" bIns="0" rtlCol="0">
            <a:spAutoFit/>
          </a:bodyPr>
          <a:lstStyle/>
          <a:p>
            <a:pPr marL="12700" fontAlgn="auto">
              <a:spcBef>
                <a:spcPts val="0"/>
              </a:spcBef>
              <a:spcAft>
                <a:spcPts val="0"/>
              </a:spcAft>
            </a:pPr>
            <a:r>
              <a:rPr sz="2000" spc="-5" dirty="0">
                <a:solidFill>
                  <a:prstClr val="black"/>
                </a:solidFill>
                <a:latin typeface="+mn-lt"/>
                <a:cs typeface="Calibri"/>
              </a:rPr>
              <a:t>Terry Tate </a:t>
            </a:r>
            <a:r>
              <a:rPr sz="2000" dirty="0">
                <a:solidFill>
                  <a:prstClr val="black"/>
                </a:solidFill>
                <a:latin typeface="+mn-lt"/>
                <a:cs typeface="Calibri"/>
              </a:rPr>
              <a:t>the </a:t>
            </a:r>
            <a:r>
              <a:rPr sz="2000" spc="-5" dirty="0">
                <a:solidFill>
                  <a:prstClr val="black"/>
                </a:solidFill>
                <a:latin typeface="+mn-lt"/>
                <a:cs typeface="Calibri"/>
              </a:rPr>
              <a:t>Office</a:t>
            </a:r>
            <a:r>
              <a:rPr sz="2000" spc="-25" dirty="0">
                <a:solidFill>
                  <a:prstClr val="black"/>
                </a:solidFill>
                <a:latin typeface="+mn-lt"/>
                <a:cs typeface="Calibri"/>
              </a:rPr>
              <a:t> </a:t>
            </a:r>
            <a:r>
              <a:rPr sz="2000" spc="-5" dirty="0">
                <a:solidFill>
                  <a:prstClr val="black"/>
                </a:solidFill>
                <a:latin typeface="+mn-lt"/>
                <a:cs typeface="Calibri"/>
              </a:rPr>
              <a:t>Linebacker</a:t>
            </a:r>
            <a:endParaRPr sz="2000" b="0" dirty="0">
              <a:solidFill>
                <a:prstClr val="black"/>
              </a:solidFill>
              <a:latin typeface="+mn-lt"/>
              <a:cs typeface="Times New Roman"/>
            </a:endParaRPr>
          </a:p>
          <a:p>
            <a:pPr marL="12700" fontAlgn="auto">
              <a:spcBef>
                <a:spcPts val="0"/>
              </a:spcBef>
              <a:spcAft>
                <a:spcPts val="0"/>
              </a:spcAft>
            </a:pPr>
            <a:r>
              <a:rPr sz="1200" b="0" u="sng" spc="-5" dirty="0">
                <a:solidFill>
                  <a:srgbClr val="0000FF"/>
                </a:solidFill>
                <a:latin typeface="+mn-lt"/>
                <a:cs typeface="Calibri"/>
                <a:hlinkClick r:id="rId2"/>
              </a:rPr>
              <a:t>https://www.youtube.com/watch?v=RzToNo7A-94</a:t>
            </a:r>
            <a:endParaRPr sz="1200" b="0" dirty="0">
              <a:solidFill>
                <a:prstClr val="black"/>
              </a:solidFill>
              <a:latin typeface="+mn-lt"/>
              <a:cs typeface="Calibri"/>
            </a:endParaRPr>
          </a:p>
          <a:p>
            <a:pPr fontAlgn="auto">
              <a:spcBef>
                <a:spcPts val="5"/>
              </a:spcBef>
              <a:spcAft>
                <a:spcPts val="0"/>
              </a:spcAft>
            </a:pPr>
            <a:endParaRPr sz="1200" b="0" dirty="0">
              <a:solidFill>
                <a:prstClr val="black"/>
              </a:solidFill>
              <a:latin typeface="+mn-lt"/>
              <a:cs typeface="Times New Roman"/>
            </a:endParaRPr>
          </a:p>
          <a:p>
            <a:pPr marL="469265" indent="-227965" fontAlgn="auto">
              <a:spcBef>
                <a:spcPts val="0"/>
              </a:spcBef>
              <a:spcAft>
                <a:spcPts val="0"/>
              </a:spcAft>
              <a:buFont typeface="Symbol"/>
              <a:buChar char=""/>
              <a:tabLst>
                <a:tab pos="469265" algn="l"/>
                <a:tab pos="469900" algn="l"/>
              </a:tabLst>
            </a:pPr>
            <a:r>
              <a:rPr sz="1200" b="0" dirty="0">
                <a:solidFill>
                  <a:prstClr val="black"/>
                </a:solidFill>
                <a:latin typeface="+mn-lt"/>
                <a:cs typeface="Calibri"/>
              </a:rPr>
              <a:t>Is </a:t>
            </a:r>
            <a:r>
              <a:rPr sz="1200" b="0" spc="-5" dirty="0">
                <a:solidFill>
                  <a:prstClr val="black"/>
                </a:solidFill>
                <a:latin typeface="+mn-lt"/>
                <a:cs typeface="Calibri"/>
              </a:rPr>
              <a:t>Terry Tate </a:t>
            </a:r>
            <a:r>
              <a:rPr sz="1200" b="0" dirty="0">
                <a:solidFill>
                  <a:prstClr val="black"/>
                </a:solidFill>
                <a:latin typeface="+mn-lt"/>
                <a:cs typeface="Calibri"/>
              </a:rPr>
              <a:t>a leader, or a </a:t>
            </a:r>
            <a:r>
              <a:rPr sz="1200" b="0" spc="-5" dirty="0">
                <a:solidFill>
                  <a:prstClr val="black"/>
                </a:solidFill>
                <a:latin typeface="+mn-lt"/>
                <a:cs typeface="Calibri"/>
              </a:rPr>
              <a:t>manager?</a:t>
            </a:r>
            <a:r>
              <a:rPr sz="1200" b="0" spc="-45" dirty="0">
                <a:solidFill>
                  <a:prstClr val="black"/>
                </a:solidFill>
                <a:latin typeface="+mn-lt"/>
                <a:cs typeface="Calibri"/>
              </a:rPr>
              <a:t> </a:t>
            </a:r>
            <a:r>
              <a:rPr sz="1200" b="0" spc="-5" dirty="0">
                <a:solidFill>
                  <a:prstClr val="black"/>
                </a:solidFill>
                <a:latin typeface="+mn-lt"/>
                <a:cs typeface="Calibri"/>
              </a:rPr>
              <a:t>Why?</a:t>
            </a:r>
            <a:endParaRPr sz="1200" b="0" dirty="0">
              <a:solidFill>
                <a:prstClr val="black"/>
              </a:solidFill>
              <a:latin typeface="+mn-lt"/>
              <a:cs typeface="Calibri"/>
            </a:endParaRPr>
          </a:p>
        </p:txBody>
      </p:sp>
      <p:sp>
        <p:nvSpPr>
          <p:cNvPr id="5" name="object 4"/>
          <p:cNvSpPr txBox="1"/>
          <p:nvPr/>
        </p:nvSpPr>
        <p:spPr>
          <a:xfrm>
            <a:off x="606551" y="2352190"/>
            <a:ext cx="7903790" cy="861774"/>
          </a:xfrm>
          <a:prstGeom prst="rect">
            <a:avLst/>
          </a:prstGeom>
        </p:spPr>
        <p:txBody>
          <a:bodyPr vert="horz" wrap="square" lIns="0" tIns="0" rIns="0" bIns="0" rtlCol="0">
            <a:spAutoFit/>
          </a:bodyPr>
          <a:lstStyle/>
          <a:p>
            <a:pPr marL="12700" fontAlgn="auto">
              <a:spcBef>
                <a:spcPts val="0"/>
              </a:spcBef>
              <a:spcAft>
                <a:spcPts val="0"/>
              </a:spcAft>
            </a:pPr>
            <a:r>
              <a:rPr sz="2000" dirty="0">
                <a:solidFill>
                  <a:prstClr val="black"/>
                </a:solidFill>
                <a:latin typeface="+mn-lt"/>
                <a:cs typeface="Calibri"/>
              </a:rPr>
              <a:t>Al </a:t>
            </a:r>
            <a:r>
              <a:rPr sz="2000" spc="-5" dirty="0">
                <a:solidFill>
                  <a:prstClr val="black"/>
                </a:solidFill>
                <a:latin typeface="+mn-lt"/>
                <a:cs typeface="Calibri"/>
              </a:rPr>
              <a:t>Pacino’s Pre-Game Speech </a:t>
            </a:r>
            <a:r>
              <a:rPr sz="2000" dirty="0">
                <a:solidFill>
                  <a:prstClr val="black"/>
                </a:solidFill>
                <a:latin typeface="+mn-lt"/>
                <a:cs typeface="Calibri"/>
              </a:rPr>
              <a:t>in </a:t>
            </a:r>
            <a:r>
              <a:rPr sz="2000" spc="-5" dirty="0">
                <a:solidFill>
                  <a:prstClr val="black"/>
                </a:solidFill>
                <a:latin typeface="+mn-lt"/>
                <a:cs typeface="Calibri"/>
              </a:rPr>
              <a:t>“Any Given</a:t>
            </a:r>
            <a:r>
              <a:rPr sz="2000" spc="40" dirty="0">
                <a:solidFill>
                  <a:prstClr val="black"/>
                </a:solidFill>
                <a:latin typeface="+mn-lt"/>
                <a:cs typeface="Calibri"/>
              </a:rPr>
              <a:t> </a:t>
            </a:r>
            <a:r>
              <a:rPr sz="2000" spc="-5" dirty="0">
                <a:solidFill>
                  <a:prstClr val="black"/>
                </a:solidFill>
                <a:latin typeface="+mn-lt"/>
                <a:cs typeface="Calibri"/>
              </a:rPr>
              <a:t>Sunday”</a:t>
            </a:r>
            <a:endParaRPr sz="1200" b="0" dirty="0">
              <a:solidFill>
                <a:prstClr val="black"/>
              </a:solidFill>
              <a:latin typeface="+mn-lt"/>
              <a:cs typeface="Times New Roman"/>
            </a:endParaRPr>
          </a:p>
          <a:p>
            <a:pPr marL="12700" fontAlgn="auto">
              <a:spcBef>
                <a:spcPts val="5"/>
              </a:spcBef>
              <a:spcAft>
                <a:spcPts val="0"/>
              </a:spcAft>
            </a:pPr>
            <a:r>
              <a:rPr sz="1200" b="0" u="sng" spc="-5" dirty="0">
                <a:solidFill>
                  <a:srgbClr val="0000FF"/>
                </a:solidFill>
                <a:latin typeface="+mn-lt"/>
                <a:cs typeface="Calibri"/>
                <a:hlinkClick r:id="rId3"/>
              </a:rPr>
              <a:t>https://www.youtube.com/watch?v=oSDhhZtRwFU</a:t>
            </a:r>
            <a:endParaRPr sz="1200" b="0" dirty="0">
              <a:solidFill>
                <a:prstClr val="black"/>
              </a:solidFill>
              <a:latin typeface="+mn-lt"/>
              <a:cs typeface="Calibri"/>
            </a:endParaRPr>
          </a:p>
          <a:p>
            <a:pPr fontAlgn="auto">
              <a:spcBef>
                <a:spcPts val="5"/>
              </a:spcBef>
              <a:spcAft>
                <a:spcPts val="0"/>
              </a:spcAft>
            </a:pPr>
            <a:endParaRPr sz="1200" b="0" dirty="0">
              <a:solidFill>
                <a:prstClr val="black"/>
              </a:solidFill>
              <a:latin typeface="+mn-lt"/>
              <a:cs typeface="Times New Roman"/>
            </a:endParaRPr>
          </a:p>
          <a:p>
            <a:pPr marL="469265" indent="-227965" fontAlgn="auto">
              <a:spcBef>
                <a:spcPts val="0"/>
              </a:spcBef>
              <a:spcAft>
                <a:spcPts val="0"/>
              </a:spcAft>
              <a:buFont typeface="Symbol"/>
              <a:buChar char=""/>
              <a:tabLst>
                <a:tab pos="469265" algn="l"/>
                <a:tab pos="469900" algn="l"/>
              </a:tabLst>
            </a:pPr>
            <a:r>
              <a:rPr sz="1200" b="0" dirty="0">
                <a:solidFill>
                  <a:prstClr val="black"/>
                </a:solidFill>
                <a:latin typeface="+mn-lt"/>
                <a:cs typeface="Calibri"/>
              </a:rPr>
              <a:t>Is Al Pacino’s </a:t>
            </a:r>
            <a:r>
              <a:rPr sz="1200" b="0" spc="-5" dirty="0">
                <a:solidFill>
                  <a:prstClr val="black"/>
                </a:solidFill>
                <a:latin typeface="+mn-lt"/>
                <a:cs typeface="Calibri"/>
              </a:rPr>
              <a:t>character </a:t>
            </a:r>
            <a:r>
              <a:rPr sz="1200" b="0" dirty="0">
                <a:solidFill>
                  <a:prstClr val="black"/>
                </a:solidFill>
                <a:latin typeface="+mn-lt"/>
                <a:cs typeface="Calibri"/>
              </a:rPr>
              <a:t>a </a:t>
            </a:r>
            <a:r>
              <a:rPr sz="1200" b="0" spc="-5" dirty="0">
                <a:solidFill>
                  <a:prstClr val="black"/>
                </a:solidFill>
                <a:latin typeface="+mn-lt"/>
                <a:cs typeface="Calibri"/>
              </a:rPr>
              <a:t>leader, </a:t>
            </a:r>
            <a:r>
              <a:rPr sz="1200" b="0" dirty="0">
                <a:solidFill>
                  <a:prstClr val="black"/>
                </a:solidFill>
                <a:latin typeface="+mn-lt"/>
                <a:cs typeface="Calibri"/>
              </a:rPr>
              <a:t>or a </a:t>
            </a:r>
            <a:r>
              <a:rPr sz="1200" b="0" spc="-5" dirty="0">
                <a:solidFill>
                  <a:prstClr val="black"/>
                </a:solidFill>
                <a:latin typeface="+mn-lt"/>
                <a:cs typeface="Calibri"/>
              </a:rPr>
              <a:t>manager?</a:t>
            </a:r>
            <a:r>
              <a:rPr sz="1200" b="0" dirty="0">
                <a:solidFill>
                  <a:prstClr val="black"/>
                </a:solidFill>
                <a:latin typeface="+mn-lt"/>
                <a:cs typeface="Calibri"/>
              </a:rPr>
              <a:t> </a:t>
            </a:r>
            <a:r>
              <a:rPr sz="1200" b="0" spc="-5" dirty="0">
                <a:solidFill>
                  <a:prstClr val="black"/>
                </a:solidFill>
                <a:latin typeface="+mn-lt"/>
                <a:cs typeface="Calibri"/>
              </a:rPr>
              <a:t>Why?</a:t>
            </a:r>
            <a:endParaRPr sz="1200" b="0" dirty="0">
              <a:solidFill>
                <a:prstClr val="black"/>
              </a:solidFill>
              <a:latin typeface="+mn-lt"/>
              <a:cs typeface="Calibri"/>
            </a:endParaRPr>
          </a:p>
        </p:txBody>
      </p:sp>
      <p:sp>
        <p:nvSpPr>
          <p:cNvPr id="6" name="object 5"/>
          <p:cNvSpPr txBox="1"/>
          <p:nvPr/>
        </p:nvSpPr>
        <p:spPr>
          <a:xfrm>
            <a:off x="611560" y="3470547"/>
            <a:ext cx="7903790" cy="1084912"/>
          </a:xfrm>
          <a:prstGeom prst="rect">
            <a:avLst/>
          </a:prstGeom>
        </p:spPr>
        <p:txBody>
          <a:bodyPr vert="horz" wrap="square" lIns="0" tIns="0" rIns="0" bIns="0" rtlCol="0">
            <a:spAutoFit/>
          </a:bodyPr>
          <a:lstStyle/>
          <a:p>
            <a:pPr marL="12700" fontAlgn="auto">
              <a:spcBef>
                <a:spcPts val="0"/>
              </a:spcBef>
              <a:spcAft>
                <a:spcPts val="0"/>
              </a:spcAft>
            </a:pPr>
            <a:r>
              <a:rPr sz="2000" dirty="0">
                <a:solidFill>
                  <a:prstClr val="black"/>
                </a:solidFill>
                <a:latin typeface="+mn-lt"/>
                <a:cs typeface="Calibri"/>
              </a:rPr>
              <a:t>The </a:t>
            </a:r>
            <a:r>
              <a:rPr sz="2000" spc="-5" dirty="0">
                <a:solidFill>
                  <a:prstClr val="black"/>
                </a:solidFill>
                <a:latin typeface="+mn-lt"/>
                <a:cs typeface="Calibri"/>
              </a:rPr>
              <a:t>Expert (Short Comedy</a:t>
            </a:r>
            <a:r>
              <a:rPr sz="2000" spc="-35" dirty="0">
                <a:solidFill>
                  <a:prstClr val="black"/>
                </a:solidFill>
                <a:latin typeface="+mn-lt"/>
                <a:cs typeface="Calibri"/>
              </a:rPr>
              <a:t> </a:t>
            </a:r>
            <a:r>
              <a:rPr sz="2000" spc="-5" dirty="0">
                <a:solidFill>
                  <a:prstClr val="black"/>
                </a:solidFill>
                <a:latin typeface="+mn-lt"/>
                <a:cs typeface="Calibri"/>
              </a:rPr>
              <a:t>Sketch)</a:t>
            </a:r>
            <a:endParaRPr sz="2000" b="0" dirty="0">
              <a:solidFill>
                <a:prstClr val="black"/>
              </a:solidFill>
              <a:latin typeface="+mn-lt"/>
              <a:cs typeface="Times New Roman"/>
            </a:endParaRPr>
          </a:p>
          <a:p>
            <a:pPr marL="12700" fontAlgn="auto">
              <a:spcBef>
                <a:spcPts val="0"/>
              </a:spcBef>
              <a:spcAft>
                <a:spcPts val="0"/>
              </a:spcAft>
            </a:pPr>
            <a:r>
              <a:rPr sz="1200" b="0" u="sng" spc="-5" dirty="0">
                <a:solidFill>
                  <a:srgbClr val="0000FF"/>
                </a:solidFill>
                <a:latin typeface="+mn-lt"/>
                <a:cs typeface="Calibri"/>
                <a:hlinkClick r:id="rId4"/>
              </a:rPr>
              <a:t>https://www.youtube.com/watch?v=BKorP55Aqvg</a:t>
            </a:r>
            <a:endParaRPr sz="1200" b="0" dirty="0">
              <a:solidFill>
                <a:prstClr val="black"/>
              </a:solidFill>
              <a:latin typeface="+mn-lt"/>
              <a:cs typeface="Calibri"/>
            </a:endParaRPr>
          </a:p>
          <a:p>
            <a:pPr fontAlgn="auto">
              <a:spcBef>
                <a:spcPts val="5"/>
              </a:spcBef>
              <a:spcAft>
                <a:spcPts val="0"/>
              </a:spcAft>
            </a:pPr>
            <a:endParaRPr sz="1200" b="0" dirty="0">
              <a:solidFill>
                <a:prstClr val="black"/>
              </a:solidFill>
              <a:latin typeface="+mn-lt"/>
              <a:cs typeface="Times New Roman"/>
            </a:endParaRPr>
          </a:p>
          <a:p>
            <a:pPr marL="469265" indent="-227965" fontAlgn="auto">
              <a:spcBef>
                <a:spcPts val="0"/>
              </a:spcBef>
              <a:spcAft>
                <a:spcPts val="0"/>
              </a:spcAft>
              <a:buFont typeface="Symbol"/>
              <a:buChar char=""/>
              <a:tabLst>
                <a:tab pos="469265" algn="l"/>
                <a:tab pos="469900" algn="l"/>
              </a:tabLst>
            </a:pPr>
            <a:r>
              <a:rPr sz="1200" b="0" dirty="0">
                <a:solidFill>
                  <a:prstClr val="black"/>
                </a:solidFill>
                <a:latin typeface="+mn-lt"/>
                <a:cs typeface="Calibri"/>
              </a:rPr>
              <a:t>Who in the </a:t>
            </a:r>
            <a:r>
              <a:rPr sz="1200" b="0" spc="-5" dirty="0">
                <a:solidFill>
                  <a:prstClr val="black"/>
                </a:solidFill>
                <a:latin typeface="+mn-lt"/>
                <a:cs typeface="Calibri"/>
              </a:rPr>
              <a:t>video </a:t>
            </a:r>
            <a:r>
              <a:rPr sz="1200" b="0" dirty="0">
                <a:solidFill>
                  <a:prstClr val="black"/>
                </a:solidFill>
                <a:latin typeface="+mn-lt"/>
                <a:cs typeface="Calibri"/>
              </a:rPr>
              <a:t>is </a:t>
            </a:r>
            <a:r>
              <a:rPr sz="1200" b="0" spc="-5" dirty="0">
                <a:solidFill>
                  <a:prstClr val="black"/>
                </a:solidFill>
                <a:latin typeface="+mn-lt"/>
                <a:cs typeface="Calibri"/>
              </a:rPr>
              <a:t>the manager? Who </a:t>
            </a:r>
            <a:r>
              <a:rPr sz="1200" b="0" dirty="0">
                <a:solidFill>
                  <a:prstClr val="black"/>
                </a:solidFill>
                <a:latin typeface="+mn-lt"/>
                <a:cs typeface="Calibri"/>
              </a:rPr>
              <a:t>is the</a:t>
            </a:r>
            <a:r>
              <a:rPr sz="1200" b="0" spc="-30" dirty="0">
                <a:solidFill>
                  <a:prstClr val="black"/>
                </a:solidFill>
                <a:latin typeface="+mn-lt"/>
                <a:cs typeface="Calibri"/>
              </a:rPr>
              <a:t> </a:t>
            </a:r>
            <a:r>
              <a:rPr sz="1200" b="0" spc="-5" dirty="0">
                <a:solidFill>
                  <a:prstClr val="black"/>
                </a:solidFill>
                <a:latin typeface="+mn-lt"/>
                <a:cs typeface="Calibri"/>
              </a:rPr>
              <a:t>leader?</a:t>
            </a:r>
            <a:endParaRPr sz="1200" b="0" dirty="0">
              <a:solidFill>
                <a:prstClr val="black"/>
              </a:solidFill>
              <a:latin typeface="+mn-lt"/>
              <a:cs typeface="Calibri"/>
            </a:endParaRPr>
          </a:p>
          <a:p>
            <a:pPr marL="469265" indent="-227965" fontAlgn="auto">
              <a:spcBef>
                <a:spcPts val="285"/>
              </a:spcBef>
              <a:spcAft>
                <a:spcPts val="0"/>
              </a:spcAft>
              <a:buFont typeface="Symbol"/>
              <a:buChar char=""/>
              <a:tabLst>
                <a:tab pos="469265" algn="l"/>
                <a:tab pos="469900" algn="l"/>
              </a:tabLst>
            </a:pPr>
            <a:r>
              <a:rPr sz="1200" b="0" dirty="0">
                <a:solidFill>
                  <a:prstClr val="black"/>
                </a:solidFill>
                <a:latin typeface="+mn-lt"/>
                <a:cs typeface="Calibri"/>
              </a:rPr>
              <a:t>What other </a:t>
            </a:r>
            <a:r>
              <a:rPr sz="1200" b="0" spc="-5" dirty="0">
                <a:solidFill>
                  <a:prstClr val="black"/>
                </a:solidFill>
                <a:latin typeface="+mn-lt"/>
                <a:cs typeface="Calibri"/>
              </a:rPr>
              <a:t>stakeholders attended </a:t>
            </a:r>
            <a:r>
              <a:rPr sz="1200" b="0" dirty="0">
                <a:solidFill>
                  <a:prstClr val="black"/>
                </a:solidFill>
                <a:latin typeface="+mn-lt"/>
                <a:cs typeface="Calibri"/>
              </a:rPr>
              <a:t>the</a:t>
            </a:r>
            <a:r>
              <a:rPr sz="1200" b="0" spc="-10" dirty="0">
                <a:solidFill>
                  <a:prstClr val="black"/>
                </a:solidFill>
                <a:latin typeface="+mn-lt"/>
                <a:cs typeface="Calibri"/>
              </a:rPr>
              <a:t> </a:t>
            </a:r>
            <a:r>
              <a:rPr sz="1200" b="0" spc="-5" dirty="0">
                <a:solidFill>
                  <a:prstClr val="black"/>
                </a:solidFill>
                <a:latin typeface="+mn-lt"/>
                <a:cs typeface="Calibri"/>
              </a:rPr>
              <a:t>meeting?</a:t>
            </a:r>
            <a:endParaRPr sz="1200" b="0" dirty="0">
              <a:solidFill>
                <a:prstClr val="black"/>
              </a:solidFill>
              <a:latin typeface="+mn-lt"/>
              <a:cs typeface="Calibri"/>
            </a:endParaRPr>
          </a:p>
        </p:txBody>
      </p:sp>
      <p:pic>
        <p:nvPicPr>
          <p:cNvPr id="9" name="Picture 8"/>
          <p:cNvPicPr>
            <a:picLocks noChangeAspect="1"/>
          </p:cNvPicPr>
          <p:nvPr/>
        </p:nvPicPr>
        <p:blipFill>
          <a:blip r:embed="rId5"/>
          <a:stretch>
            <a:fillRect/>
          </a:stretch>
        </p:blipFill>
        <p:spPr>
          <a:xfrm>
            <a:off x="1418734" y="272486"/>
            <a:ext cx="6279424" cy="963251"/>
          </a:xfrm>
          <a:prstGeom prst="rect">
            <a:avLst/>
          </a:prstGeom>
        </p:spPr>
      </p:pic>
      <p:pic>
        <p:nvPicPr>
          <p:cNvPr id="8" name="Picture 7">
            <a:extLst>
              <a:ext uri="{FF2B5EF4-FFF2-40B4-BE49-F238E27FC236}">
                <a16:creationId xmlns:a16="http://schemas.microsoft.com/office/drawing/2014/main" id="{F74B8325-FD8C-AA60-A5EB-3E1006F12233}"/>
              </a:ext>
            </a:extLst>
          </p:cNvPr>
          <p:cNvPicPr>
            <a:picLocks noChangeAspect="1"/>
          </p:cNvPicPr>
          <p:nvPr/>
        </p:nvPicPr>
        <p:blipFill>
          <a:blip r:embed="rId6"/>
          <a:stretch>
            <a:fillRect/>
          </a:stretch>
        </p:blipFill>
        <p:spPr>
          <a:xfrm>
            <a:off x="4716016" y="3518953"/>
            <a:ext cx="4115157" cy="2137595"/>
          </a:xfrm>
          <a:prstGeom prst="rect">
            <a:avLst/>
          </a:prstGeom>
        </p:spPr>
      </p:pic>
    </p:spTree>
    <p:extLst>
      <p:ext uri="{BB962C8B-B14F-4D97-AF65-F5344CB8AC3E}">
        <p14:creationId xmlns:p14="http://schemas.microsoft.com/office/powerpoint/2010/main" val="192026510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413992" y="836712"/>
            <a:ext cx="6480720" cy="634082"/>
          </a:xfrm>
        </p:spPr>
        <p:txBody>
          <a:bodyPr>
            <a:noAutofit/>
          </a:bodyPr>
          <a:lstStyle/>
          <a:p>
            <a:pPr algn="ctr" eaLnBrk="1" hangingPunct="1"/>
            <a:r>
              <a:rPr lang="en-US" sz="3600" b="1" dirty="0">
                <a:latin typeface="+mn-lt"/>
              </a:rPr>
              <a:t>The New Project Leadership</a:t>
            </a:r>
          </a:p>
        </p:txBody>
      </p:sp>
      <p:sp>
        <p:nvSpPr>
          <p:cNvPr id="20483" name="Rectangle 3"/>
          <p:cNvSpPr>
            <a:spLocks noGrp="1" noChangeArrowheads="1"/>
          </p:cNvSpPr>
          <p:nvPr>
            <p:ph idx="1"/>
          </p:nvPr>
        </p:nvSpPr>
        <p:spPr>
          <a:xfrm>
            <a:off x="539552" y="2193723"/>
            <a:ext cx="8229600" cy="3600400"/>
          </a:xfrm>
        </p:spPr>
        <p:txBody>
          <a:bodyPr>
            <a:normAutofit/>
          </a:bodyPr>
          <a:lstStyle/>
          <a:p>
            <a:pPr marL="381000" indent="-381000" eaLnBrk="1" hangingPunct="1">
              <a:lnSpc>
                <a:spcPct val="80000"/>
              </a:lnSpc>
              <a:buFontTx/>
              <a:buNone/>
            </a:pPr>
            <a:r>
              <a:rPr lang="en-US" sz="2400" dirty="0">
                <a:solidFill>
                  <a:srgbClr val="7030A0"/>
                </a:solidFill>
              </a:rPr>
              <a:t>Project Management </a:t>
            </a:r>
            <a:r>
              <a:rPr lang="en-US" sz="2400" dirty="0"/>
              <a:t>requires each of us to harness our abilities</a:t>
            </a:r>
          </a:p>
          <a:p>
            <a:pPr marL="381000" indent="-381000" eaLnBrk="1" hangingPunct="1">
              <a:lnSpc>
                <a:spcPct val="80000"/>
              </a:lnSpc>
              <a:buFontTx/>
              <a:buNone/>
            </a:pPr>
            <a:r>
              <a:rPr lang="en-US" sz="2400" dirty="0"/>
              <a:t>to lead others. These skills may or </a:t>
            </a:r>
            <a:r>
              <a:rPr lang="en-US" sz="2400" i="1" dirty="0"/>
              <a:t>(more likely)</a:t>
            </a:r>
            <a:r>
              <a:rPr lang="en-US" sz="2400" dirty="0"/>
              <a:t> may not be</a:t>
            </a:r>
          </a:p>
          <a:p>
            <a:pPr marL="381000" indent="-381000" eaLnBrk="1" hangingPunct="1">
              <a:lnSpc>
                <a:spcPct val="80000"/>
              </a:lnSpc>
              <a:buFontTx/>
              <a:buNone/>
            </a:pPr>
            <a:r>
              <a:rPr lang="en-US" sz="2400" dirty="0"/>
              <a:t>innate. For most, leadership is not something we are born with.  </a:t>
            </a:r>
          </a:p>
          <a:p>
            <a:pPr marL="381000" indent="-381000" eaLnBrk="1" hangingPunct="1">
              <a:lnSpc>
                <a:spcPct val="80000"/>
              </a:lnSpc>
              <a:buFontTx/>
              <a:buNone/>
            </a:pPr>
            <a:r>
              <a:rPr lang="en-US" sz="2400" dirty="0"/>
              <a:t>However, we recognize that leaders are as leaders do. </a:t>
            </a:r>
          </a:p>
          <a:p>
            <a:pPr marL="381000" indent="-381000" eaLnBrk="1" hangingPunct="1">
              <a:lnSpc>
                <a:spcPct val="80000"/>
              </a:lnSpc>
              <a:buFontTx/>
              <a:buNone/>
            </a:pPr>
            <a:endParaRPr lang="en-US" sz="2400" dirty="0"/>
          </a:p>
          <a:p>
            <a:pPr marL="381000" indent="-381000" eaLnBrk="1" hangingPunct="1">
              <a:lnSpc>
                <a:spcPct val="80000"/>
              </a:lnSpc>
              <a:buFontTx/>
              <a:buNone/>
            </a:pPr>
            <a:r>
              <a:rPr lang="en-US" sz="2400" dirty="0"/>
              <a:t>Dr. Warren Bennis, one of the top writers on organizational</a:t>
            </a:r>
          </a:p>
          <a:p>
            <a:pPr marL="381000" indent="-381000" eaLnBrk="1" hangingPunct="1">
              <a:lnSpc>
                <a:spcPct val="80000"/>
              </a:lnSpc>
              <a:buFontTx/>
              <a:buNone/>
            </a:pPr>
            <a:r>
              <a:rPr lang="en-US" sz="2400" dirty="0"/>
              <a:t>Leadership summarizes </a:t>
            </a:r>
            <a:r>
              <a:rPr lang="en-US" sz="2400" dirty="0">
                <a:solidFill>
                  <a:srgbClr val="00B050"/>
                </a:solidFill>
              </a:rPr>
              <a:t>four competencies </a:t>
            </a:r>
            <a:r>
              <a:rPr lang="en-US" sz="2400" dirty="0"/>
              <a:t>that determine our</a:t>
            </a:r>
          </a:p>
          <a:p>
            <a:pPr marL="381000" indent="-381000" eaLnBrk="1" hangingPunct="1">
              <a:lnSpc>
                <a:spcPct val="80000"/>
              </a:lnSpc>
              <a:buFontTx/>
              <a:buNone/>
            </a:pPr>
            <a:r>
              <a:rPr lang="en-US" sz="2400" dirty="0"/>
              <a:t>success as </a:t>
            </a:r>
            <a:r>
              <a:rPr lang="en-US" sz="2400" b="1" dirty="0"/>
              <a:t>project leaders</a:t>
            </a:r>
            <a:r>
              <a:rPr lang="en-US" sz="2400" dirty="0"/>
              <a:t>:</a:t>
            </a:r>
          </a:p>
          <a:p>
            <a:pPr marL="381000" indent="-381000" eaLnBrk="1" hangingPunct="1">
              <a:lnSpc>
                <a:spcPct val="80000"/>
              </a:lnSpc>
              <a:buFontTx/>
              <a:buNone/>
            </a:pPr>
            <a:endParaRPr lang="en-US" sz="2000" dirty="0"/>
          </a:p>
          <a:p>
            <a:pPr marL="381000" indent="-381000" eaLnBrk="1" hangingPunct="1">
              <a:lnSpc>
                <a:spcPct val="80000"/>
              </a:lnSpc>
              <a:buNone/>
            </a:pPr>
            <a:endParaRPr lang="en-US" sz="2000" dirty="0"/>
          </a:p>
        </p:txBody>
      </p:sp>
      <p:sp>
        <p:nvSpPr>
          <p:cNvPr id="2" name="Footer Placeholder 1"/>
          <p:cNvSpPr>
            <a:spLocks noGrp="1"/>
          </p:cNvSpPr>
          <p:nvPr>
            <p:ph type="ftr" sz="quarter" idx="11"/>
          </p:nvPr>
        </p:nvSpPr>
        <p:spPr>
          <a:xfrm>
            <a:off x="539552" y="6364655"/>
            <a:ext cx="3086100" cy="365125"/>
          </a:xfrm>
        </p:spPr>
        <p:txBody>
          <a:bodyPr/>
          <a:lstStyle/>
          <a:p>
            <a:pPr algn="l"/>
            <a:r>
              <a:rPr lang="fr-FR" dirty="0"/>
              <a:t>G.R. </a:t>
            </a:r>
            <a:r>
              <a:rPr lang="fr-FR" dirty="0" err="1"/>
              <a:t>Labbé</a:t>
            </a:r>
            <a:r>
              <a:rPr lang="fr-FR" dirty="0"/>
              <a:t> - Lecture 4</a:t>
            </a:r>
            <a:endParaRPr lang="en-US" dirty="0"/>
          </a:p>
        </p:txBody>
      </p:sp>
      <p:sp>
        <p:nvSpPr>
          <p:cNvPr id="3" name="Slide Number Placeholder 2"/>
          <p:cNvSpPr>
            <a:spLocks noGrp="1"/>
          </p:cNvSpPr>
          <p:nvPr>
            <p:ph type="sldNum" sz="quarter" idx="12"/>
          </p:nvPr>
        </p:nvSpPr>
        <p:spPr/>
        <p:txBody>
          <a:bodyPr/>
          <a:lstStyle/>
          <a:p>
            <a:fld id="{DC58D7EA-5236-4708-B764-7E8D1EAC2EFE}" type="slidenum">
              <a:rPr lang="en-US" smtClean="0"/>
              <a:t>9</a:t>
            </a:fld>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26814" y="339651"/>
            <a:ext cx="8058149" cy="706090"/>
          </a:xfrm>
        </p:spPr>
        <p:txBody>
          <a:bodyPr>
            <a:noAutofit/>
          </a:bodyPr>
          <a:lstStyle/>
          <a:p>
            <a:pPr algn="ctr" eaLnBrk="1" hangingPunct="1"/>
            <a:r>
              <a:rPr lang="en-US" b="1" dirty="0">
                <a:latin typeface="+mn-lt"/>
              </a:rPr>
              <a:t>The New </a:t>
            </a:r>
            <a:r>
              <a:rPr lang="en-US" sz="3600" b="1" dirty="0">
                <a:latin typeface="+mn-lt"/>
              </a:rPr>
              <a:t>Project</a:t>
            </a:r>
            <a:r>
              <a:rPr lang="en-US" b="1" dirty="0">
                <a:latin typeface="+mn-lt"/>
              </a:rPr>
              <a:t> Leadership </a:t>
            </a:r>
            <a:r>
              <a:rPr lang="en-US" sz="2400" i="1" dirty="0">
                <a:latin typeface="+mn-lt"/>
              </a:rPr>
              <a:t>(cont’d)</a:t>
            </a:r>
          </a:p>
        </p:txBody>
      </p:sp>
      <p:sp>
        <p:nvSpPr>
          <p:cNvPr id="20483" name="Rectangle 3"/>
          <p:cNvSpPr>
            <a:spLocks noGrp="1" noChangeArrowheads="1"/>
          </p:cNvSpPr>
          <p:nvPr>
            <p:ph idx="1"/>
          </p:nvPr>
        </p:nvSpPr>
        <p:spPr>
          <a:xfrm>
            <a:off x="341089" y="1340768"/>
            <a:ext cx="8229600" cy="4824536"/>
          </a:xfrm>
        </p:spPr>
        <p:txBody>
          <a:bodyPr>
            <a:normAutofit lnSpcReduction="10000"/>
          </a:bodyPr>
          <a:lstStyle/>
          <a:p>
            <a:pPr marL="457200" indent="-457200" eaLnBrk="1" hangingPunct="1">
              <a:lnSpc>
                <a:spcPct val="80000"/>
              </a:lnSpc>
              <a:buFont typeface="+mj-lt"/>
              <a:buAutoNum type="arabicPeriod"/>
            </a:pPr>
            <a:r>
              <a:rPr lang="en-US" sz="2400" b="1" dirty="0"/>
              <a:t>The new leader understands and practices the power of </a:t>
            </a:r>
            <a:r>
              <a:rPr lang="en-US" sz="2400" b="1" dirty="0">
                <a:solidFill>
                  <a:srgbClr val="7030A0"/>
                </a:solidFill>
              </a:rPr>
              <a:t>appreciation</a:t>
            </a:r>
            <a:r>
              <a:rPr lang="en-US" sz="2400" b="1" dirty="0"/>
              <a:t>. They are connoisseurs of talent, more curators than creators.</a:t>
            </a:r>
            <a:br>
              <a:rPr lang="en-US" sz="2400" b="1" dirty="0"/>
            </a:br>
            <a:r>
              <a:rPr lang="en-US" sz="2400" dirty="0"/>
              <a:t>Appreciation derives from our ability to recognize and reward the talent of others. Leaders may not be the best, most valuable, or most intelligent member of the team. Their role is not to outshine but </a:t>
            </a:r>
            <a:r>
              <a:rPr lang="en-US" sz="2400" u="sng" dirty="0"/>
              <a:t>allow others to develop to their best potential</a:t>
            </a:r>
            <a:r>
              <a:rPr lang="en-US" sz="2400" dirty="0"/>
              <a:t>.</a:t>
            </a:r>
            <a:br>
              <a:rPr lang="en-US" sz="2400" dirty="0"/>
            </a:br>
            <a:endParaRPr lang="en-US" sz="1400" dirty="0"/>
          </a:p>
          <a:p>
            <a:pPr marL="457200" indent="-457200" eaLnBrk="1" hangingPunct="1">
              <a:lnSpc>
                <a:spcPct val="80000"/>
              </a:lnSpc>
              <a:buFont typeface="+mj-lt"/>
              <a:buAutoNum type="arabicPeriod"/>
            </a:pPr>
            <a:r>
              <a:rPr lang="en-US" sz="2400" b="1" dirty="0"/>
              <a:t>The new leader keeps </a:t>
            </a:r>
            <a:r>
              <a:rPr lang="en-US" sz="2400" b="1" dirty="0">
                <a:solidFill>
                  <a:srgbClr val="7030A0"/>
                </a:solidFill>
              </a:rPr>
              <a:t>reminding people what's important</a:t>
            </a:r>
            <a:r>
              <a:rPr lang="en-US" sz="2400" b="1" dirty="0"/>
              <a:t>.</a:t>
            </a:r>
            <a:br>
              <a:rPr lang="en-US" sz="2400" dirty="0"/>
            </a:br>
            <a:r>
              <a:rPr lang="en-US" sz="2400" dirty="0"/>
              <a:t>This simple statement carries a powerful message for project managers. We need to be aware that in pursuing a project, a host of other problems, difficulties, annoyances, and new technical and human challenges will arise. The project manager must remember that one of the most important contributions is reminding people to keep </a:t>
            </a:r>
            <a:r>
              <a:rPr lang="en-US" sz="2400" u="sng" dirty="0"/>
              <a:t>their eye fixed on the ultimate prize</a:t>
            </a:r>
            <a:r>
              <a:rPr lang="en-US" sz="2400" dirty="0"/>
              <a:t>. </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2" name="Footer Placeholder 1"/>
          <p:cNvSpPr>
            <a:spLocks noGrp="1"/>
          </p:cNvSpPr>
          <p:nvPr>
            <p:ph type="ftr" sz="quarter" idx="11"/>
          </p:nvPr>
        </p:nvSpPr>
        <p:spPr>
          <a:xfrm>
            <a:off x="683568" y="6343650"/>
            <a:ext cx="3086100" cy="365125"/>
          </a:xfrm>
        </p:spPr>
        <p:txBody>
          <a:bodyPr/>
          <a:lstStyle/>
          <a:p>
            <a:pPr algn="l"/>
            <a:r>
              <a:rPr lang="fr-FR" dirty="0"/>
              <a:t>G.R. </a:t>
            </a:r>
            <a:r>
              <a:rPr lang="fr-FR" dirty="0" err="1"/>
              <a:t>Labbé</a:t>
            </a:r>
            <a:r>
              <a:rPr lang="fr-FR" dirty="0"/>
              <a:t> - Lecture 4</a:t>
            </a:r>
            <a:endParaRPr lang="en-US" dirty="0"/>
          </a:p>
        </p:txBody>
      </p:sp>
      <p:sp>
        <p:nvSpPr>
          <p:cNvPr id="3" name="Slide Number Placeholder 2"/>
          <p:cNvSpPr>
            <a:spLocks noGrp="1"/>
          </p:cNvSpPr>
          <p:nvPr>
            <p:ph type="sldNum" sz="quarter" idx="12"/>
          </p:nvPr>
        </p:nvSpPr>
        <p:spPr/>
        <p:txBody>
          <a:bodyPr/>
          <a:lstStyle/>
          <a:p>
            <a:fld id="{DC58D7EA-5236-4708-B764-7E8D1EAC2EFE}" type="slidenum">
              <a:rPr lang="en-US" smtClean="0"/>
              <a:t>10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fade">
                                      <p:cBhvr>
                                        <p:cTn id="7" dur="20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fade">
                                      <p:cBhvr>
                                        <p:cTn id="12" dur="2000"/>
                                        <p:tgtEl>
                                          <p:spTgt spid="204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55576" y="855350"/>
            <a:ext cx="7632848" cy="553998"/>
          </a:xfrm>
        </p:spPr>
        <p:txBody>
          <a:bodyPr>
            <a:normAutofit fontScale="90000"/>
          </a:bodyPr>
          <a:lstStyle/>
          <a:p>
            <a:pPr algn="ctr" eaLnBrk="1" hangingPunct="1"/>
            <a:r>
              <a:rPr lang="en-US" sz="4000" b="1" dirty="0">
                <a:latin typeface="+mn-lt"/>
              </a:rPr>
              <a:t>The New Project Leadership</a:t>
            </a:r>
            <a:r>
              <a:rPr lang="en-US" sz="3200" b="1" dirty="0">
                <a:latin typeface="+mn-lt"/>
              </a:rPr>
              <a:t> </a:t>
            </a:r>
            <a:r>
              <a:rPr lang="en-US" sz="2400" i="1" dirty="0">
                <a:latin typeface="+mn-lt"/>
              </a:rPr>
              <a:t>(cont’d)</a:t>
            </a:r>
          </a:p>
        </p:txBody>
      </p:sp>
      <p:sp>
        <p:nvSpPr>
          <p:cNvPr id="21507" name="Rectangle 3"/>
          <p:cNvSpPr>
            <a:spLocks noGrp="1" noChangeArrowheads="1"/>
          </p:cNvSpPr>
          <p:nvPr>
            <p:ph idx="1"/>
          </p:nvPr>
        </p:nvSpPr>
        <p:spPr>
          <a:xfrm>
            <a:off x="381000" y="1772816"/>
            <a:ext cx="8382000" cy="4104456"/>
          </a:xfrm>
        </p:spPr>
        <p:txBody>
          <a:bodyPr>
            <a:noAutofit/>
          </a:bodyPr>
          <a:lstStyle/>
          <a:p>
            <a:pPr marL="609600" indent="-609600" eaLnBrk="1" hangingPunct="1">
              <a:lnSpc>
                <a:spcPct val="90000"/>
              </a:lnSpc>
              <a:buFontTx/>
              <a:buAutoNum type="arabicPeriod" startAt="3"/>
            </a:pPr>
            <a:r>
              <a:rPr lang="en-US" sz="2400" b="1" dirty="0"/>
              <a:t>The new leader generates and sustains </a:t>
            </a:r>
            <a:r>
              <a:rPr lang="en-US" sz="2400" b="1" dirty="0">
                <a:solidFill>
                  <a:srgbClr val="7030A0"/>
                </a:solidFill>
              </a:rPr>
              <a:t>trust</a:t>
            </a:r>
            <a:r>
              <a:rPr lang="en-US" sz="2400" b="1" dirty="0"/>
              <a:t>.</a:t>
            </a:r>
            <a:br>
              <a:rPr lang="en-US" sz="2400" b="1" dirty="0"/>
            </a:br>
            <a:r>
              <a:rPr lang="en-US" sz="2400" dirty="0"/>
              <a:t>The most important characteristic each of us looks for in leaders is honesty. If a leader generates trust and behaves with authenticity, fairness, honesty, and caring, he will be successful in creating an environment in which the project team strives to do their best. </a:t>
            </a:r>
          </a:p>
          <a:p>
            <a:pPr marL="609600" indent="-609600" eaLnBrk="1" hangingPunct="1">
              <a:lnSpc>
                <a:spcPct val="90000"/>
              </a:lnSpc>
              <a:buFontTx/>
              <a:buAutoNum type="arabicPeriod" startAt="3"/>
            </a:pPr>
            <a:endParaRPr lang="en-US" sz="2400" dirty="0"/>
          </a:p>
          <a:p>
            <a:pPr marL="609600" indent="-609600" eaLnBrk="1" hangingPunct="1">
              <a:lnSpc>
                <a:spcPct val="90000"/>
              </a:lnSpc>
              <a:buFontTx/>
              <a:buAutoNum type="arabicPeriod" startAt="3"/>
            </a:pPr>
            <a:r>
              <a:rPr lang="en-US" sz="2400" b="1" dirty="0"/>
              <a:t>The new leader and the led are </a:t>
            </a:r>
            <a:r>
              <a:rPr lang="en-US" sz="2400" b="1" dirty="0">
                <a:solidFill>
                  <a:srgbClr val="7030A0"/>
                </a:solidFill>
              </a:rPr>
              <a:t>intimate allies</a:t>
            </a:r>
            <a:r>
              <a:rPr lang="en-US" sz="2400" b="1" dirty="0"/>
              <a:t>.</a:t>
            </a:r>
            <a:br>
              <a:rPr lang="en-US" sz="2400" b="1" dirty="0"/>
            </a:br>
            <a:r>
              <a:rPr lang="en-US" sz="2400" dirty="0"/>
              <a:t>Project Management leadership does not arise in order to control and dominate the project team, but as a natural method for supporting the team's efforts. </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2" name="Footer Placeholder 1"/>
          <p:cNvSpPr>
            <a:spLocks noGrp="1"/>
          </p:cNvSpPr>
          <p:nvPr>
            <p:ph type="ftr" sz="quarter" idx="11"/>
          </p:nvPr>
        </p:nvSpPr>
        <p:spPr>
          <a:xfrm>
            <a:off x="785065" y="6362653"/>
            <a:ext cx="3086100" cy="365125"/>
          </a:xfrm>
        </p:spPr>
        <p:txBody>
          <a:bodyPr/>
          <a:lstStyle/>
          <a:p>
            <a:pPr algn="l"/>
            <a:r>
              <a:rPr lang="fr-FR" dirty="0"/>
              <a:t>G.R. </a:t>
            </a:r>
            <a:r>
              <a:rPr lang="fr-FR" dirty="0" err="1"/>
              <a:t>Labbé</a:t>
            </a:r>
            <a:r>
              <a:rPr lang="fr-FR" dirty="0"/>
              <a:t> - Lecture 4</a:t>
            </a:r>
            <a:endParaRPr lang="en-US" dirty="0"/>
          </a:p>
        </p:txBody>
      </p:sp>
      <p:sp>
        <p:nvSpPr>
          <p:cNvPr id="3" name="Slide Number Placeholder 2"/>
          <p:cNvSpPr>
            <a:spLocks noGrp="1"/>
          </p:cNvSpPr>
          <p:nvPr>
            <p:ph type="sldNum" sz="quarter" idx="12"/>
          </p:nvPr>
        </p:nvSpPr>
        <p:spPr/>
        <p:txBody>
          <a:bodyPr/>
          <a:lstStyle/>
          <a:p>
            <a:fld id="{DC58D7EA-5236-4708-B764-7E8D1EAC2EFE}" type="slidenum">
              <a:rPr lang="en-US" smtClean="0"/>
              <a:t>11</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20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07">
                                            <p:txEl>
                                              <p:pRg st="2" end="2"/>
                                            </p:txEl>
                                          </p:spTgt>
                                        </p:tgtEl>
                                        <p:attrNameLst>
                                          <p:attrName>style.visibility</p:attrName>
                                        </p:attrNameLst>
                                      </p:cBhvr>
                                      <p:to>
                                        <p:strVal val="visible"/>
                                      </p:to>
                                    </p:set>
                                    <p:animEffect transition="in" filter="fade">
                                      <p:cBhvr>
                                        <p:cTn id="12" dur="2000"/>
                                        <p:tgtEl>
                                          <p:spTgt spid="215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743857" y="372192"/>
            <a:ext cx="3681290" cy="664797"/>
          </a:xfrm>
        </p:spPr>
        <p:txBody>
          <a:bodyPr>
            <a:normAutofit/>
          </a:bodyPr>
          <a:lstStyle/>
          <a:p>
            <a:pPr eaLnBrk="1" hangingPunct="1"/>
            <a:r>
              <a:rPr lang="en-US" sz="3600" b="1" dirty="0">
                <a:latin typeface="+mn-lt"/>
              </a:rPr>
              <a:t>How the PM leads</a:t>
            </a:r>
          </a:p>
        </p:txBody>
      </p:sp>
      <p:sp>
        <p:nvSpPr>
          <p:cNvPr id="8195" name="Rectangle 3"/>
          <p:cNvSpPr>
            <a:spLocks noGrp="1" noChangeArrowheads="1"/>
          </p:cNvSpPr>
          <p:nvPr>
            <p:ph idx="1"/>
          </p:nvPr>
        </p:nvSpPr>
        <p:spPr>
          <a:xfrm>
            <a:off x="393502" y="1271428"/>
            <a:ext cx="8382000" cy="4752528"/>
          </a:xfrm>
        </p:spPr>
        <p:txBody>
          <a:bodyPr>
            <a:noAutofit/>
          </a:bodyPr>
          <a:lstStyle/>
          <a:p>
            <a:pPr eaLnBrk="1" hangingPunct="1">
              <a:lnSpc>
                <a:spcPct val="90000"/>
              </a:lnSpc>
              <a:buFontTx/>
              <a:buNone/>
            </a:pPr>
            <a:r>
              <a:rPr lang="en-US" sz="2200" dirty="0"/>
              <a:t>The PM's job encapsulates, in many ways, the role of a mini-CEO,</a:t>
            </a:r>
          </a:p>
          <a:p>
            <a:pPr eaLnBrk="1" hangingPunct="1">
              <a:lnSpc>
                <a:spcPct val="90000"/>
              </a:lnSpc>
              <a:buFontTx/>
              <a:buNone/>
            </a:pPr>
            <a:r>
              <a:rPr lang="en-US" sz="2200" dirty="0"/>
              <a:t>someone who is expected to </a:t>
            </a:r>
            <a:r>
              <a:rPr lang="en-US" sz="2200" dirty="0">
                <a:solidFill>
                  <a:srgbClr val="00B050"/>
                </a:solidFill>
              </a:rPr>
              <a:t>manage holistically</a:t>
            </a:r>
            <a:r>
              <a:rPr lang="en-US" sz="2200" dirty="0"/>
              <a:t>, focusing on the </a:t>
            </a:r>
          </a:p>
          <a:p>
            <a:pPr eaLnBrk="1" hangingPunct="1">
              <a:lnSpc>
                <a:spcPct val="90000"/>
              </a:lnSpc>
              <a:buFontTx/>
              <a:buNone/>
            </a:pPr>
            <a:r>
              <a:rPr lang="en-US" sz="2200" dirty="0">
                <a:solidFill>
                  <a:srgbClr val="7030A0"/>
                </a:solidFill>
              </a:rPr>
              <a:t>complete project management process </a:t>
            </a:r>
            <a:r>
              <a:rPr lang="en-US" sz="2200" dirty="0"/>
              <a:t>from start to finish.</a:t>
            </a:r>
          </a:p>
          <a:p>
            <a:pPr eaLnBrk="1" hangingPunct="1">
              <a:lnSpc>
                <a:spcPct val="90000"/>
              </a:lnSpc>
              <a:buFontTx/>
              <a:buNone/>
            </a:pPr>
            <a:endParaRPr lang="en-US" sz="2200" dirty="0"/>
          </a:p>
          <a:p>
            <a:pPr eaLnBrk="1" hangingPunct="1">
              <a:lnSpc>
                <a:spcPct val="90000"/>
              </a:lnSpc>
              <a:buFontTx/>
              <a:buNone/>
            </a:pPr>
            <a:r>
              <a:rPr lang="en-US" sz="2200" dirty="0"/>
              <a:t>The PM must take on a variety of duties and roles to successfully</a:t>
            </a:r>
          </a:p>
          <a:p>
            <a:pPr eaLnBrk="1" hangingPunct="1">
              <a:lnSpc>
                <a:spcPct val="90000"/>
              </a:lnSpc>
              <a:buFontTx/>
              <a:buNone/>
            </a:pPr>
            <a:r>
              <a:rPr lang="en-US" sz="2200" dirty="0"/>
              <a:t>manage their projects:</a:t>
            </a:r>
          </a:p>
          <a:p>
            <a:pPr lvl="1"/>
            <a:r>
              <a:rPr lang="en-US" sz="2200" dirty="0"/>
              <a:t>Acquiring </a:t>
            </a:r>
            <a:r>
              <a:rPr lang="en-US" sz="2200" b="1" dirty="0"/>
              <a:t>Project Resources</a:t>
            </a:r>
          </a:p>
          <a:p>
            <a:pPr lvl="1"/>
            <a:r>
              <a:rPr lang="en-US" sz="2200" dirty="0"/>
              <a:t>Motivating and Building </a:t>
            </a:r>
            <a:r>
              <a:rPr lang="en-US" sz="2200" b="1" dirty="0"/>
              <a:t>Teams</a:t>
            </a:r>
          </a:p>
          <a:p>
            <a:pPr lvl="1"/>
            <a:r>
              <a:rPr lang="en-US" sz="2200" dirty="0"/>
              <a:t>Having a </a:t>
            </a:r>
            <a:r>
              <a:rPr lang="en-US" sz="2200" b="1" dirty="0"/>
              <a:t>Vision</a:t>
            </a:r>
            <a:r>
              <a:rPr lang="en-US" sz="2200" dirty="0"/>
              <a:t> and Fighting Fires</a:t>
            </a:r>
          </a:p>
          <a:p>
            <a:pPr lvl="1"/>
            <a:r>
              <a:rPr lang="en-US" sz="2200" b="1" dirty="0"/>
              <a:t>Communicating</a:t>
            </a:r>
            <a:r>
              <a:rPr lang="en-US" sz="2200" dirty="0"/>
              <a:t> </a:t>
            </a:r>
            <a:r>
              <a:rPr lang="en-US" sz="2200" i="1" dirty="0"/>
              <a:t>(A PM can not get up in the morning and think “I don't want to communicate today”)</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2" name="Footer Placeholder 1"/>
          <p:cNvSpPr>
            <a:spLocks noGrp="1"/>
          </p:cNvSpPr>
          <p:nvPr>
            <p:ph type="ftr" sz="quarter" idx="11"/>
          </p:nvPr>
        </p:nvSpPr>
        <p:spPr>
          <a:xfrm>
            <a:off x="755576" y="6343650"/>
            <a:ext cx="3086100" cy="365125"/>
          </a:xfrm>
        </p:spPr>
        <p:txBody>
          <a:bodyPr/>
          <a:lstStyle/>
          <a:p>
            <a:pPr algn="l"/>
            <a:r>
              <a:rPr lang="fr-FR" dirty="0"/>
              <a:t>G.R. </a:t>
            </a:r>
            <a:r>
              <a:rPr lang="fr-FR" dirty="0" err="1"/>
              <a:t>Labbé</a:t>
            </a:r>
            <a:r>
              <a:rPr lang="fr-FR" dirty="0"/>
              <a:t> - Lecture 4</a:t>
            </a:r>
            <a:endParaRPr lang="en-US" dirty="0"/>
          </a:p>
        </p:txBody>
      </p:sp>
      <p:sp>
        <p:nvSpPr>
          <p:cNvPr id="3" name="Slide Number Placeholder 2"/>
          <p:cNvSpPr>
            <a:spLocks noGrp="1"/>
          </p:cNvSpPr>
          <p:nvPr>
            <p:ph type="sldNum" sz="quarter" idx="12"/>
          </p:nvPr>
        </p:nvSpPr>
        <p:spPr/>
        <p:txBody>
          <a:bodyPr/>
          <a:lstStyle/>
          <a:p>
            <a:fld id="{DC58D7EA-5236-4708-B764-7E8D1EAC2EFE}" type="slidenum">
              <a:rPr lang="en-US" smtClean="0"/>
              <a:t>12</a:t>
            </a:fld>
            <a:endParaRPr 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0965" y="548680"/>
            <a:ext cx="3502069" cy="664797"/>
          </a:xfrm>
        </p:spPr>
        <p:txBody>
          <a:bodyPr>
            <a:normAutofit/>
          </a:bodyPr>
          <a:lstStyle/>
          <a:p>
            <a:pPr algn="ctr"/>
            <a:r>
              <a:rPr lang="en-CA" sz="3600" b="1" dirty="0">
                <a:latin typeface="+mn-lt"/>
              </a:rPr>
              <a:t>Leadership Styles</a:t>
            </a:r>
          </a:p>
        </p:txBody>
      </p:sp>
      <p:sp>
        <p:nvSpPr>
          <p:cNvPr id="3" name="Content Placeholder 2"/>
          <p:cNvSpPr>
            <a:spLocks noGrp="1"/>
          </p:cNvSpPr>
          <p:nvPr>
            <p:ph idx="1"/>
          </p:nvPr>
        </p:nvSpPr>
        <p:spPr>
          <a:xfrm>
            <a:off x="533312" y="1700808"/>
            <a:ext cx="8077374" cy="4392488"/>
          </a:xfrm>
        </p:spPr>
        <p:txBody>
          <a:bodyPr>
            <a:normAutofit fontScale="92500" lnSpcReduction="20000"/>
          </a:bodyPr>
          <a:lstStyle/>
          <a:p>
            <a:pPr algn="ctr">
              <a:buNone/>
            </a:pPr>
            <a:r>
              <a:rPr lang="en-CA" sz="2800" dirty="0"/>
              <a:t>What do you think makes a Project Manager successful?</a:t>
            </a:r>
          </a:p>
          <a:p>
            <a:pPr algn="ctr">
              <a:buNone/>
            </a:pPr>
            <a:endParaRPr lang="en-CA" sz="2800" dirty="0"/>
          </a:p>
          <a:p>
            <a:pPr algn="ctr">
              <a:buNone/>
            </a:pPr>
            <a:r>
              <a:rPr lang="en-CA" sz="2800" dirty="0"/>
              <a:t>Project managers must understand that to successfully</a:t>
            </a:r>
          </a:p>
          <a:p>
            <a:pPr algn="ctr">
              <a:buNone/>
            </a:pPr>
            <a:r>
              <a:rPr lang="en-CA" sz="2800" dirty="0"/>
              <a:t>lead their teams they must employ </a:t>
            </a:r>
            <a:r>
              <a:rPr lang="en-CA" sz="2800" dirty="0">
                <a:solidFill>
                  <a:srgbClr val="00B050"/>
                </a:solidFill>
              </a:rPr>
              <a:t>multiple leadership</a:t>
            </a:r>
          </a:p>
          <a:p>
            <a:pPr algn="ctr">
              <a:buNone/>
            </a:pPr>
            <a:r>
              <a:rPr lang="en-CA" sz="2800" dirty="0">
                <a:solidFill>
                  <a:srgbClr val="00B050"/>
                </a:solidFill>
              </a:rPr>
              <a:t>styles</a:t>
            </a:r>
            <a:r>
              <a:rPr lang="en-CA" sz="2800" dirty="0"/>
              <a:t> to handle various team members and situations.</a:t>
            </a:r>
          </a:p>
          <a:p>
            <a:pPr algn="ctr">
              <a:buNone/>
            </a:pPr>
            <a:endParaRPr lang="en-CA" sz="2800" dirty="0"/>
          </a:p>
          <a:p>
            <a:pPr algn="ctr">
              <a:buNone/>
            </a:pPr>
            <a:r>
              <a:rPr lang="en-CA" sz="2800" b="1" dirty="0">
                <a:solidFill>
                  <a:schemeClr val="accent5"/>
                </a:solidFill>
                <a:highlight>
                  <a:srgbClr val="FFFF00"/>
                </a:highlight>
              </a:rPr>
              <a:t>THE FIVE MOST COMMON LEADERSHIP STYLES ARE:</a:t>
            </a:r>
          </a:p>
          <a:p>
            <a:pPr algn="ctr">
              <a:buNone/>
            </a:pPr>
            <a:endParaRPr lang="en-CA" sz="2800" b="1" dirty="0">
              <a:solidFill>
                <a:schemeClr val="accent5"/>
              </a:solidFill>
              <a:highlight>
                <a:srgbClr val="FFFF00"/>
              </a:highlight>
            </a:endParaRPr>
          </a:p>
          <a:p>
            <a:pPr marL="2228850" lvl="5" indent="-514350">
              <a:buAutoNum type="arabicParenR"/>
            </a:pPr>
            <a:r>
              <a:rPr lang="en-CA" sz="2200" b="1" dirty="0"/>
              <a:t>The Command and Control</a:t>
            </a:r>
          </a:p>
          <a:p>
            <a:pPr marL="2228850" lvl="5" indent="-514350">
              <a:buAutoNum type="arabicParenR"/>
            </a:pPr>
            <a:r>
              <a:rPr lang="en-CA" sz="2200" b="1" dirty="0"/>
              <a:t>Relating Management</a:t>
            </a:r>
          </a:p>
          <a:p>
            <a:pPr marL="2228850" lvl="5" indent="-514350">
              <a:buAutoNum type="arabicParenR"/>
            </a:pPr>
            <a:r>
              <a:rPr lang="en-CA" sz="2200" b="1" dirty="0"/>
              <a:t>Democratic Management</a:t>
            </a:r>
          </a:p>
          <a:p>
            <a:pPr marL="2228850" lvl="5" indent="-514350">
              <a:buAutoNum type="arabicParenR"/>
            </a:pPr>
            <a:r>
              <a:rPr lang="en-CA" sz="2200" b="1" dirty="0"/>
              <a:t>Hands-On</a:t>
            </a:r>
          </a:p>
          <a:p>
            <a:pPr marL="2228850" lvl="5" indent="-514350">
              <a:buAutoNum type="arabicParenR"/>
            </a:pPr>
            <a:r>
              <a:rPr lang="en-CA" sz="2200" b="1" dirty="0"/>
              <a:t>Coaching Management</a:t>
            </a:r>
            <a:endParaRPr lang="en-CA" sz="1900" b="1" dirty="0"/>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755576" y="6343650"/>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13</a:t>
            </a:fld>
            <a:endParaRPr lang="en-US"/>
          </a:p>
        </p:txBody>
      </p:sp>
    </p:spTree>
    <p:extLst>
      <p:ext uri="{BB962C8B-B14F-4D97-AF65-F5344CB8AC3E}">
        <p14:creationId xmlns:p14="http://schemas.microsoft.com/office/powerpoint/2010/main" val="15075630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p:cTn id="15"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p:cTn id="23"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p:cTn id="31" dur="1000" fill="hold"/>
                                        <p:tgtEl>
                                          <p:spTgt spid="3">
                                            <p:txEl>
                                              <p:pRg st="9" end="9"/>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9" end="9"/>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9" end="9"/>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p:cTn id="39" dur="10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10" end="10"/>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10" end="10"/>
                                            </p:txEl>
                                          </p:spTgt>
                                        </p:tgtEl>
                                        <p:attrNameLst>
                                          <p:attrName>style.rotation</p:attrName>
                                        </p:attrNameLst>
                                      </p:cBhvr>
                                      <p:tavLst>
                                        <p:tav tm="0">
                                          <p:val>
                                            <p:fltVal val="90"/>
                                          </p:val>
                                        </p:tav>
                                        <p:tav tm="100000">
                                          <p:val>
                                            <p:fltVal val="0"/>
                                          </p:val>
                                        </p:tav>
                                      </p:tavLst>
                                    </p:anim>
                                    <p:animEffect transition="in" filter="fade">
                                      <p:cBhvr>
                                        <p:cTn id="42" dur="10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p:cTn id="47" dur="10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11" end="11"/>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11" end="11"/>
                                            </p:txEl>
                                          </p:spTgt>
                                        </p:tgtEl>
                                        <p:attrNameLst>
                                          <p:attrName>style.rotation</p:attrName>
                                        </p:attrNameLst>
                                      </p:cBhvr>
                                      <p:tavLst>
                                        <p:tav tm="0">
                                          <p:val>
                                            <p:fltVal val="90"/>
                                          </p:val>
                                        </p:tav>
                                        <p:tav tm="100000">
                                          <p:val>
                                            <p:fltVal val="0"/>
                                          </p:val>
                                        </p:tav>
                                      </p:tavLst>
                                    </p:anim>
                                    <p:animEffect transition="in" filter="fade">
                                      <p:cBhvr>
                                        <p:cTn id="50" dur="1000"/>
                                        <p:tgtEl>
                                          <p:spTgt spid="3">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 calcmode="lin" valueType="num">
                                      <p:cBhvr>
                                        <p:cTn id="55" dur="1000" fill="hold"/>
                                        <p:tgtEl>
                                          <p:spTgt spid="3">
                                            <p:txEl>
                                              <p:pRg st="12" end="12"/>
                                            </p:txEl>
                                          </p:spTgt>
                                        </p:tgtEl>
                                        <p:attrNameLst>
                                          <p:attrName>ppt_w</p:attrName>
                                        </p:attrNameLst>
                                      </p:cBhvr>
                                      <p:tavLst>
                                        <p:tav tm="0">
                                          <p:val>
                                            <p:fltVal val="0"/>
                                          </p:val>
                                        </p:tav>
                                        <p:tav tm="100000">
                                          <p:val>
                                            <p:strVal val="#ppt_w"/>
                                          </p:val>
                                        </p:tav>
                                      </p:tavLst>
                                    </p:anim>
                                    <p:anim calcmode="lin" valueType="num">
                                      <p:cBhvr>
                                        <p:cTn id="56" dur="1000" fill="hold"/>
                                        <p:tgtEl>
                                          <p:spTgt spid="3">
                                            <p:txEl>
                                              <p:pRg st="12" end="12"/>
                                            </p:txEl>
                                          </p:spTgt>
                                        </p:tgtEl>
                                        <p:attrNameLst>
                                          <p:attrName>ppt_h</p:attrName>
                                        </p:attrNameLst>
                                      </p:cBhvr>
                                      <p:tavLst>
                                        <p:tav tm="0">
                                          <p:val>
                                            <p:fltVal val="0"/>
                                          </p:val>
                                        </p:tav>
                                        <p:tav tm="100000">
                                          <p:val>
                                            <p:strVal val="#ppt_h"/>
                                          </p:val>
                                        </p:tav>
                                      </p:tavLst>
                                    </p:anim>
                                    <p:anim calcmode="lin" valueType="num">
                                      <p:cBhvr>
                                        <p:cTn id="57" dur="1000" fill="hold"/>
                                        <p:tgtEl>
                                          <p:spTgt spid="3">
                                            <p:txEl>
                                              <p:pRg st="12" end="12"/>
                                            </p:txEl>
                                          </p:spTgt>
                                        </p:tgtEl>
                                        <p:attrNameLst>
                                          <p:attrName>style.rotation</p:attrName>
                                        </p:attrNameLst>
                                      </p:cBhvr>
                                      <p:tavLst>
                                        <p:tav tm="0">
                                          <p:val>
                                            <p:fltVal val="90"/>
                                          </p:val>
                                        </p:tav>
                                        <p:tav tm="100000">
                                          <p:val>
                                            <p:fltVal val="0"/>
                                          </p:val>
                                        </p:tav>
                                      </p:tavLst>
                                    </p:anim>
                                    <p:animEffect transition="in" filter="fade">
                                      <p:cBhvr>
                                        <p:cTn id="58" dur="1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263" y="685012"/>
            <a:ext cx="6827474" cy="562074"/>
          </a:xfrm>
        </p:spPr>
        <p:txBody>
          <a:bodyPr>
            <a:noAutofit/>
          </a:bodyPr>
          <a:lstStyle/>
          <a:p>
            <a:pPr algn="ctr"/>
            <a:r>
              <a:rPr lang="en-CA" sz="3600" b="1" dirty="0">
                <a:latin typeface="+mn-lt"/>
              </a:rPr>
              <a:t>#1. The Command &amp; Control Style</a:t>
            </a:r>
          </a:p>
        </p:txBody>
      </p:sp>
      <p:sp>
        <p:nvSpPr>
          <p:cNvPr id="3" name="Content Placeholder 2"/>
          <p:cNvSpPr>
            <a:spLocks noGrp="1"/>
          </p:cNvSpPr>
          <p:nvPr>
            <p:ph idx="1"/>
          </p:nvPr>
        </p:nvSpPr>
        <p:spPr>
          <a:xfrm>
            <a:off x="592143" y="1700808"/>
            <a:ext cx="7959714" cy="3456384"/>
          </a:xfrm>
        </p:spPr>
        <p:txBody>
          <a:bodyPr>
            <a:normAutofit/>
          </a:bodyPr>
          <a:lstStyle/>
          <a:p>
            <a:r>
              <a:rPr lang="en-CA" sz="2400" dirty="0"/>
              <a:t>This style is appropriate when you </a:t>
            </a:r>
            <a:r>
              <a:rPr lang="en-CA" sz="2400" dirty="0">
                <a:solidFill>
                  <a:srgbClr val="00B050"/>
                </a:solidFill>
              </a:rPr>
              <a:t>know the best way </a:t>
            </a:r>
            <a:r>
              <a:rPr lang="en-CA" sz="2400" dirty="0"/>
              <a:t>to do something and the person you’re working with does not. </a:t>
            </a:r>
          </a:p>
          <a:p>
            <a:r>
              <a:rPr lang="en-CA" sz="2400" dirty="0"/>
              <a:t>It’s very effective when dealing with </a:t>
            </a:r>
            <a:r>
              <a:rPr lang="en-CA" sz="2400" dirty="0">
                <a:solidFill>
                  <a:srgbClr val="7030A0"/>
                </a:solidFill>
              </a:rPr>
              <a:t>beginners</a:t>
            </a:r>
            <a:r>
              <a:rPr lang="en-CA" sz="2400" dirty="0"/>
              <a:t>. They need specific direction and you’re the best person around to get them started.</a:t>
            </a:r>
          </a:p>
          <a:p>
            <a:r>
              <a:rPr lang="en-CA" sz="2400" dirty="0"/>
              <a:t>This style also works well in a </a:t>
            </a:r>
            <a:r>
              <a:rPr lang="en-CA" sz="2400" dirty="0">
                <a:solidFill>
                  <a:srgbClr val="00B050"/>
                </a:solidFill>
              </a:rPr>
              <a:t>crisis</a:t>
            </a:r>
            <a:r>
              <a:rPr lang="en-CA" sz="2400" dirty="0"/>
              <a:t>. In this situation you need a take-charge project leader who tells people exactly what to do to fix the problem.</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755576" y="6343650"/>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14</a:t>
            </a:fld>
            <a:endParaRPr lang="en-US"/>
          </a:p>
        </p:txBody>
      </p:sp>
    </p:spTree>
    <p:extLst>
      <p:ext uri="{BB962C8B-B14F-4D97-AF65-F5344CB8AC3E}">
        <p14:creationId xmlns:p14="http://schemas.microsoft.com/office/powerpoint/2010/main" val="376979456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619006"/>
            <a:ext cx="8058149" cy="562074"/>
          </a:xfrm>
        </p:spPr>
        <p:txBody>
          <a:bodyPr>
            <a:noAutofit/>
          </a:bodyPr>
          <a:lstStyle/>
          <a:p>
            <a:pPr algn="ctr"/>
            <a:r>
              <a:rPr lang="en-CA" sz="3600" b="1" dirty="0">
                <a:latin typeface="+mn-lt"/>
              </a:rPr>
              <a:t>#1. The Command &amp; Control Style </a:t>
            </a:r>
            <a:r>
              <a:rPr lang="en-CA" sz="2400" i="1" dirty="0">
                <a:latin typeface="+mn-lt"/>
              </a:rPr>
              <a:t>(cont’d)</a:t>
            </a:r>
          </a:p>
        </p:txBody>
      </p:sp>
      <p:sp>
        <p:nvSpPr>
          <p:cNvPr id="3" name="Content Placeholder 2"/>
          <p:cNvSpPr>
            <a:spLocks noGrp="1"/>
          </p:cNvSpPr>
          <p:nvPr>
            <p:ph idx="1"/>
          </p:nvPr>
        </p:nvSpPr>
        <p:spPr>
          <a:xfrm>
            <a:off x="246186" y="1680483"/>
            <a:ext cx="8651625" cy="4176464"/>
          </a:xfrm>
        </p:spPr>
        <p:txBody>
          <a:bodyPr>
            <a:normAutofit/>
          </a:bodyPr>
          <a:lstStyle/>
          <a:p>
            <a:r>
              <a:rPr lang="en-CA" sz="2400" dirty="0"/>
              <a:t>All great managers know how to deploy this style convincingly </a:t>
            </a:r>
            <a:r>
              <a:rPr lang="en-CA" sz="2400" dirty="0">
                <a:solidFill>
                  <a:srgbClr val="00B050"/>
                </a:solidFill>
              </a:rPr>
              <a:t>when a situation calls for it</a:t>
            </a:r>
            <a:r>
              <a:rPr lang="en-CA" sz="2400" dirty="0"/>
              <a:t>.</a:t>
            </a:r>
          </a:p>
          <a:p>
            <a:r>
              <a:rPr lang="en-CA" sz="2400" dirty="0">
                <a:solidFill>
                  <a:srgbClr val="FF0000"/>
                </a:solidFill>
              </a:rPr>
              <a:t>Caution</a:t>
            </a:r>
            <a:r>
              <a:rPr lang="en-CA" sz="2400" dirty="0"/>
              <a:t> should be exercised when using this method as it does not work in all situations and can be very damaging to a team if used excessively. </a:t>
            </a:r>
          </a:p>
          <a:p>
            <a:r>
              <a:rPr lang="en-CA" sz="2400" dirty="0"/>
              <a:t>It can lead to your team feeling </a:t>
            </a:r>
            <a:r>
              <a:rPr lang="en-CA" sz="2400" dirty="0">
                <a:solidFill>
                  <a:srgbClr val="00B050"/>
                </a:solidFill>
              </a:rPr>
              <a:t>devalued</a:t>
            </a:r>
            <a:r>
              <a:rPr lang="en-CA" sz="2400" dirty="0"/>
              <a:t> and reinforces learned helplessness. </a:t>
            </a:r>
          </a:p>
          <a:p>
            <a:r>
              <a:rPr lang="en-CA" sz="2400" dirty="0"/>
              <a:t>It prevents creativity and initiative in individuals and can often drive these type of members from your team.</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683568" y="6343650"/>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15</a:t>
            </a:fld>
            <a:endParaRPr lang="en-US"/>
          </a:p>
        </p:txBody>
      </p:sp>
    </p:spTree>
    <p:extLst>
      <p:ext uri="{BB962C8B-B14F-4D97-AF65-F5344CB8AC3E}">
        <p14:creationId xmlns:p14="http://schemas.microsoft.com/office/powerpoint/2010/main" val="177097578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763" y="431259"/>
            <a:ext cx="7154474" cy="562074"/>
          </a:xfrm>
        </p:spPr>
        <p:txBody>
          <a:bodyPr>
            <a:noAutofit/>
          </a:bodyPr>
          <a:lstStyle/>
          <a:p>
            <a:pPr algn="ctr"/>
            <a:r>
              <a:rPr lang="en-CA" sz="3600" b="1" dirty="0">
                <a:latin typeface="+mn-lt"/>
              </a:rPr>
              <a:t>#2. The Relating Management Style</a:t>
            </a:r>
            <a:endParaRPr lang="en-CA" sz="3600" dirty="0">
              <a:latin typeface="+mn-lt"/>
            </a:endParaRPr>
          </a:p>
        </p:txBody>
      </p:sp>
      <p:sp>
        <p:nvSpPr>
          <p:cNvPr id="3" name="Content Placeholder 2"/>
          <p:cNvSpPr>
            <a:spLocks noGrp="1"/>
          </p:cNvSpPr>
          <p:nvPr>
            <p:ph idx="1"/>
          </p:nvPr>
        </p:nvSpPr>
        <p:spPr>
          <a:xfrm>
            <a:off x="458871" y="1658618"/>
            <a:ext cx="8304937" cy="4032448"/>
          </a:xfrm>
        </p:spPr>
        <p:txBody>
          <a:bodyPr>
            <a:normAutofit/>
          </a:bodyPr>
          <a:lstStyle/>
          <a:p>
            <a:r>
              <a:rPr lang="en-CA" sz="2400" dirty="0"/>
              <a:t>Effective Project Managers build </a:t>
            </a:r>
            <a:r>
              <a:rPr lang="en-CA" sz="2400" dirty="0">
                <a:solidFill>
                  <a:srgbClr val="00B050"/>
                </a:solidFill>
              </a:rPr>
              <a:t>rapport</a:t>
            </a:r>
            <a:r>
              <a:rPr lang="en-CA" sz="2400" dirty="0"/>
              <a:t> among people on their team. They encourage them to </a:t>
            </a:r>
            <a:r>
              <a:rPr lang="en-CA" sz="2400" dirty="0">
                <a:solidFill>
                  <a:srgbClr val="00B050"/>
                </a:solidFill>
              </a:rPr>
              <a:t>bond with each other</a:t>
            </a:r>
            <a:r>
              <a:rPr lang="en-CA" sz="2400" dirty="0"/>
              <a:t>, work as a team and by focusing people on common goals.</a:t>
            </a:r>
          </a:p>
          <a:p>
            <a:r>
              <a:rPr lang="en-CA" sz="2400" dirty="0"/>
              <a:t>They also know what it takes to build rapport </a:t>
            </a:r>
            <a:r>
              <a:rPr lang="en-CA" sz="2400" dirty="0">
                <a:solidFill>
                  <a:srgbClr val="00B050"/>
                </a:solidFill>
              </a:rPr>
              <a:t>with their people</a:t>
            </a:r>
            <a:r>
              <a:rPr lang="en-CA" sz="2400" dirty="0"/>
              <a:t>. They can relate to those they work with, they’re likable and social. </a:t>
            </a:r>
          </a:p>
          <a:p>
            <a:r>
              <a:rPr lang="en-CA" sz="2400" dirty="0"/>
              <a:t>They take a sincere interest in the lives of team members. When they ask about someone’s family or personal interests, they’re using the </a:t>
            </a:r>
            <a:r>
              <a:rPr lang="en-CA" sz="2400" b="1" dirty="0">
                <a:solidFill>
                  <a:srgbClr val="7030A0"/>
                </a:solidFill>
              </a:rPr>
              <a:t>Relating Style</a:t>
            </a:r>
            <a:r>
              <a:rPr lang="en-CA" sz="2400" dirty="0"/>
              <a:t>.</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755576" y="6343163"/>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16</a:t>
            </a:fld>
            <a:endParaRPr lang="en-US"/>
          </a:p>
        </p:txBody>
      </p:sp>
    </p:spTree>
    <p:extLst>
      <p:ext uri="{BB962C8B-B14F-4D97-AF65-F5344CB8AC3E}">
        <p14:creationId xmlns:p14="http://schemas.microsoft.com/office/powerpoint/2010/main" val="207552587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25" y="645665"/>
            <a:ext cx="8369949" cy="562074"/>
          </a:xfrm>
        </p:spPr>
        <p:txBody>
          <a:bodyPr>
            <a:noAutofit/>
          </a:bodyPr>
          <a:lstStyle/>
          <a:p>
            <a:pPr algn="ctr"/>
            <a:r>
              <a:rPr lang="en-CA" sz="3600" b="1" dirty="0">
                <a:latin typeface="+mn-lt"/>
              </a:rPr>
              <a:t>#2. The Relating Management Style </a:t>
            </a:r>
            <a:r>
              <a:rPr lang="en-CA" sz="2400" i="1" dirty="0">
                <a:latin typeface="+mn-lt"/>
              </a:rPr>
              <a:t>(cont’d)</a:t>
            </a:r>
          </a:p>
        </p:txBody>
      </p:sp>
      <p:sp>
        <p:nvSpPr>
          <p:cNvPr id="3" name="Content Placeholder 2"/>
          <p:cNvSpPr>
            <a:spLocks noGrp="1"/>
          </p:cNvSpPr>
          <p:nvPr>
            <p:ph idx="1"/>
          </p:nvPr>
        </p:nvSpPr>
        <p:spPr>
          <a:xfrm>
            <a:off x="387025" y="1909837"/>
            <a:ext cx="8369949" cy="3744416"/>
          </a:xfrm>
        </p:spPr>
        <p:txBody>
          <a:bodyPr/>
          <a:lstStyle/>
          <a:p>
            <a:r>
              <a:rPr lang="en-CA" sz="2400" dirty="0"/>
              <a:t>The </a:t>
            </a:r>
            <a:r>
              <a:rPr lang="en-CA" sz="2400" dirty="0">
                <a:solidFill>
                  <a:srgbClr val="FF0000"/>
                </a:solidFill>
              </a:rPr>
              <a:t>downside</a:t>
            </a:r>
            <a:r>
              <a:rPr lang="en-CA" sz="2400" dirty="0"/>
              <a:t> to this style is that a Project Manager  that uses this style too much can not make the </a:t>
            </a:r>
            <a:r>
              <a:rPr lang="en-CA" sz="2400" dirty="0">
                <a:solidFill>
                  <a:srgbClr val="00B050"/>
                </a:solidFill>
              </a:rPr>
              <a:t>tough decisions </a:t>
            </a:r>
            <a:r>
              <a:rPr lang="en-CA" sz="2400" dirty="0"/>
              <a:t>when required and can not “take charge” when required to if a </a:t>
            </a:r>
            <a:r>
              <a:rPr lang="en-CA" sz="2400" dirty="0">
                <a:solidFill>
                  <a:srgbClr val="7030A0"/>
                </a:solidFill>
              </a:rPr>
              <a:t>crisis</a:t>
            </a:r>
            <a:r>
              <a:rPr lang="en-CA" sz="2400" dirty="0"/>
              <a:t> develops. They are often too emotionally engaged with their team members.</a:t>
            </a:r>
          </a:p>
          <a:p>
            <a:r>
              <a:rPr lang="en-CA" sz="2400" dirty="0"/>
              <a:t>If this style is used to excess they can be viewed as “weak” and “ineffective”. Team members may </a:t>
            </a:r>
            <a:r>
              <a:rPr lang="en-CA" sz="2400" dirty="0">
                <a:solidFill>
                  <a:srgbClr val="00B050"/>
                </a:solidFill>
              </a:rPr>
              <a:t>lose respect </a:t>
            </a:r>
            <a:r>
              <a:rPr lang="en-CA" sz="2400" dirty="0"/>
              <a:t>for the Project Manager and may take matters into their own hands to get the project done</a:t>
            </a:r>
            <a:r>
              <a:rPr lang="en-CA" sz="2800" dirty="0"/>
              <a:t>.</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611560" y="6343650"/>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17</a:t>
            </a:fld>
            <a:endParaRPr lang="en-US"/>
          </a:p>
        </p:txBody>
      </p:sp>
    </p:spTree>
    <p:extLst>
      <p:ext uri="{BB962C8B-B14F-4D97-AF65-F5344CB8AC3E}">
        <p14:creationId xmlns:p14="http://schemas.microsoft.com/office/powerpoint/2010/main" val="313544956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842" y="692696"/>
            <a:ext cx="7575562" cy="562074"/>
          </a:xfrm>
        </p:spPr>
        <p:txBody>
          <a:bodyPr>
            <a:noAutofit/>
          </a:bodyPr>
          <a:lstStyle/>
          <a:p>
            <a:pPr algn="ctr"/>
            <a:r>
              <a:rPr lang="en-CA" sz="3600" b="1" dirty="0">
                <a:latin typeface="+mn-lt"/>
              </a:rPr>
              <a:t>#3. The Democratic Management Style</a:t>
            </a:r>
            <a:endParaRPr lang="en-CA" sz="3600" dirty="0">
              <a:latin typeface="+mn-lt"/>
            </a:endParaRPr>
          </a:p>
        </p:txBody>
      </p:sp>
      <p:sp>
        <p:nvSpPr>
          <p:cNvPr id="3" name="Content Placeholder 2"/>
          <p:cNvSpPr>
            <a:spLocks noGrp="1"/>
          </p:cNvSpPr>
          <p:nvPr>
            <p:ph idx="1"/>
          </p:nvPr>
        </p:nvSpPr>
        <p:spPr>
          <a:xfrm>
            <a:off x="277020" y="1737136"/>
            <a:ext cx="8393641" cy="4176464"/>
          </a:xfrm>
        </p:spPr>
        <p:txBody>
          <a:bodyPr>
            <a:normAutofit/>
          </a:bodyPr>
          <a:lstStyle/>
          <a:p>
            <a:r>
              <a:rPr lang="en-CA" sz="2400" dirty="0"/>
              <a:t>The </a:t>
            </a:r>
            <a:r>
              <a:rPr lang="en-CA" sz="2400" b="1" dirty="0">
                <a:solidFill>
                  <a:srgbClr val="7030A0"/>
                </a:solidFill>
              </a:rPr>
              <a:t>Democratic style </a:t>
            </a:r>
            <a:r>
              <a:rPr lang="en-CA" sz="2400" dirty="0"/>
              <a:t>is all about gaining buy-in and building team </a:t>
            </a:r>
            <a:r>
              <a:rPr lang="en-CA" sz="2400" dirty="0">
                <a:solidFill>
                  <a:srgbClr val="00B050"/>
                </a:solidFill>
              </a:rPr>
              <a:t>consensus</a:t>
            </a:r>
            <a:r>
              <a:rPr lang="en-CA" sz="2400" dirty="0"/>
              <a:t>. It lets team members know that you value their input and that you’re open to hearing new ideas and suggestions.</a:t>
            </a:r>
          </a:p>
          <a:p>
            <a:pPr>
              <a:buNone/>
            </a:pPr>
            <a:endParaRPr lang="en-CA" sz="2400" dirty="0"/>
          </a:p>
          <a:p>
            <a:r>
              <a:rPr lang="en-CA" sz="2400" dirty="0"/>
              <a:t>Great managers understand this. They deploy the democratic style in </a:t>
            </a:r>
            <a:r>
              <a:rPr lang="en-CA" sz="2400" dirty="0">
                <a:solidFill>
                  <a:srgbClr val="00B050"/>
                </a:solidFill>
              </a:rPr>
              <a:t>planning activities </a:t>
            </a:r>
            <a:r>
              <a:rPr lang="en-CA" sz="2400" dirty="0"/>
              <a:t>and get </a:t>
            </a:r>
            <a:r>
              <a:rPr lang="en-CA" sz="2400" dirty="0">
                <a:solidFill>
                  <a:srgbClr val="00B050"/>
                </a:solidFill>
              </a:rPr>
              <a:t>buy-in from all key stakeholders</a:t>
            </a:r>
            <a:r>
              <a:rPr lang="en-CA" sz="2400" dirty="0"/>
              <a:t>.</a:t>
            </a:r>
          </a:p>
          <a:p>
            <a:pPr>
              <a:buNone/>
            </a:pPr>
            <a:endParaRPr lang="en-CA" sz="2400" dirty="0"/>
          </a:p>
          <a:p>
            <a:pPr marL="0" indent="0">
              <a:buNone/>
            </a:pPr>
            <a:endParaRPr lang="en-CA" sz="2400" dirty="0"/>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668041" y="6343650"/>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18</a:t>
            </a:fld>
            <a:endParaRPr lang="en-US" dirty="0"/>
          </a:p>
        </p:txBody>
      </p:sp>
    </p:spTree>
    <p:extLst>
      <p:ext uri="{BB962C8B-B14F-4D97-AF65-F5344CB8AC3E}">
        <p14:creationId xmlns:p14="http://schemas.microsoft.com/office/powerpoint/2010/main" val="17291690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539155"/>
            <a:ext cx="8712968" cy="562074"/>
          </a:xfrm>
        </p:spPr>
        <p:txBody>
          <a:bodyPr>
            <a:normAutofit fontScale="90000"/>
          </a:bodyPr>
          <a:lstStyle/>
          <a:p>
            <a:pPr algn="ctr"/>
            <a:r>
              <a:rPr lang="en-CA" sz="4000" b="1" dirty="0"/>
              <a:t>#</a:t>
            </a:r>
            <a:r>
              <a:rPr lang="en-CA" sz="4000" b="1" dirty="0">
                <a:latin typeface="+mn-lt"/>
              </a:rPr>
              <a:t>3. The Democratic Management Style </a:t>
            </a:r>
            <a:r>
              <a:rPr lang="en-CA" sz="2700" i="1" dirty="0">
                <a:latin typeface="+mn-lt"/>
              </a:rPr>
              <a:t>(cont’d)</a:t>
            </a:r>
          </a:p>
        </p:txBody>
      </p:sp>
      <p:sp>
        <p:nvSpPr>
          <p:cNvPr id="3" name="Content Placeholder 2"/>
          <p:cNvSpPr>
            <a:spLocks noGrp="1"/>
          </p:cNvSpPr>
          <p:nvPr>
            <p:ph idx="1"/>
          </p:nvPr>
        </p:nvSpPr>
        <p:spPr>
          <a:xfrm>
            <a:off x="380020" y="1460538"/>
            <a:ext cx="8383959" cy="4536504"/>
          </a:xfrm>
        </p:spPr>
        <p:txBody>
          <a:bodyPr>
            <a:normAutofit lnSpcReduction="10000"/>
          </a:bodyPr>
          <a:lstStyle/>
          <a:p>
            <a:pPr marL="0" indent="0">
              <a:buNone/>
            </a:pPr>
            <a:r>
              <a:rPr lang="en-CA" sz="2400" dirty="0"/>
              <a:t>You want to plan democratically for two reasons:</a:t>
            </a:r>
          </a:p>
          <a:p>
            <a:pPr marL="457200" indent="-457200">
              <a:buFont typeface="+mj-lt"/>
              <a:buAutoNum type="arabicPeriod"/>
            </a:pPr>
            <a:r>
              <a:rPr lang="en-CA" sz="2400" dirty="0"/>
              <a:t>First, when you get input from </a:t>
            </a:r>
            <a:r>
              <a:rPr lang="en-CA" sz="2400" dirty="0">
                <a:solidFill>
                  <a:srgbClr val="00B050"/>
                </a:solidFill>
              </a:rPr>
              <a:t>lots of people</a:t>
            </a:r>
            <a:r>
              <a:rPr lang="en-CA" sz="2400" dirty="0"/>
              <a:t>, particularly those who will actually implement the plan – your plan will be </a:t>
            </a:r>
            <a:r>
              <a:rPr lang="en-CA" sz="2400" dirty="0">
                <a:solidFill>
                  <a:srgbClr val="7030A0"/>
                </a:solidFill>
              </a:rPr>
              <a:t>reality-based</a:t>
            </a:r>
            <a:r>
              <a:rPr lang="en-CA" sz="2400" dirty="0"/>
              <a:t> and you’ll be less likely to leave out something that’s mission critical.</a:t>
            </a:r>
          </a:p>
          <a:p>
            <a:pPr marL="457200" indent="-457200">
              <a:buFont typeface="+mj-lt"/>
              <a:buAutoNum type="arabicPeriod"/>
            </a:pPr>
            <a:endParaRPr lang="en-CA" sz="2400" dirty="0"/>
          </a:p>
          <a:p>
            <a:pPr marL="457200" indent="-457200">
              <a:buFont typeface="+mj-lt"/>
              <a:buAutoNum type="arabicPeriod"/>
            </a:pPr>
            <a:r>
              <a:rPr lang="en-CA" sz="2400" dirty="0"/>
              <a:t>Second, when you plan democratically, people feel their voice has been heard and they “own” </a:t>
            </a:r>
            <a:r>
              <a:rPr lang="en-CA" sz="2400" dirty="0">
                <a:solidFill>
                  <a:srgbClr val="00B050"/>
                </a:solidFill>
              </a:rPr>
              <a:t>the plan</a:t>
            </a:r>
            <a:r>
              <a:rPr lang="en-CA" sz="2400" dirty="0"/>
              <a:t>. Obviously, you need to sign off on the final draft, adding and subtracting as necessary. But by planning democratically you avoid the worst possible scenario – where detached leaders devise a plan in </a:t>
            </a:r>
            <a:r>
              <a:rPr lang="en-CA" sz="2400" dirty="0">
                <a:solidFill>
                  <a:srgbClr val="FF0000"/>
                </a:solidFill>
              </a:rPr>
              <a:t>isolation</a:t>
            </a:r>
            <a:r>
              <a:rPr lang="en-CA" sz="2400" dirty="0"/>
              <a:t> and then hand it off. The implementers will resent not being asked for their input, and they’ll fight it tooth and nail.</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783213" y="6343163"/>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19</a:t>
            </a:fld>
            <a:endParaRPr lang="en-US"/>
          </a:p>
        </p:txBody>
      </p:sp>
    </p:spTree>
    <p:extLst>
      <p:ext uri="{BB962C8B-B14F-4D97-AF65-F5344CB8AC3E}">
        <p14:creationId xmlns:p14="http://schemas.microsoft.com/office/powerpoint/2010/main" val="1786208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764704"/>
            <a:ext cx="8712968" cy="562074"/>
          </a:xfrm>
        </p:spPr>
        <p:txBody>
          <a:bodyPr>
            <a:normAutofit fontScale="90000"/>
          </a:bodyPr>
          <a:lstStyle/>
          <a:p>
            <a:pPr algn="ctr"/>
            <a:r>
              <a:rPr lang="en-CA" sz="4000" b="1" dirty="0">
                <a:latin typeface="+mn-lt"/>
              </a:rPr>
              <a:t>#3. The Democratic Management Style </a:t>
            </a:r>
            <a:r>
              <a:rPr lang="en-CA" sz="2700" i="1" dirty="0">
                <a:latin typeface="+mn-lt"/>
              </a:rPr>
              <a:t>(cont’d)</a:t>
            </a:r>
          </a:p>
        </p:txBody>
      </p:sp>
      <p:sp>
        <p:nvSpPr>
          <p:cNvPr id="3" name="Content Placeholder 2"/>
          <p:cNvSpPr>
            <a:spLocks noGrp="1"/>
          </p:cNvSpPr>
          <p:nvPr>
            <p:ph idx="1"/>
          </p:nvPr>
        </p:nvSpPr>
        <p:spPr>
          <a:xfrm>
            <a:off x="333872" y="1700808"/>
            <a:ext cx="8352928" cy="2880320"/>
          </a:xfrm>
        </p:spPr>
        <p:txBody>
          <a:bodyPr/>
          <a:lstStyle/>
          <a:p>
            <a:pPr marL="457200" indent="-457200"/>
            <a:r>
              <a:rPr lang="en-CA" sz="2400" dirty="0"/>
              <a:t>This managerial style can be </a:t>
            </a:r>
            <a:r>
              <a:rPr lang="en-CA" sz="2400" dirty="0">
                <a:solidFill>
                  <a:srgbClr val="FF0000"/>
                </a:solidFill>
              </a:rPr>
              <a:t>overused</a:t>
            </a:r>
            <a:r>
              <a:rPr lang="en-CA" sz="2400" dirty="0"/>
              <a:t>, however. We just talked about how </a:t>
            </a:r>
            <a:r>
              <a:rPr lang="en-CA" sz="2400" dirty="0">
                <a:solidFill>
                  <a:srgbClr val="00B050"/>
                </a:solidFill>
              </a:rPr>
              <a:t>planning</a:t>
            </a:r>
            <a:r>
              <a:rPr lang="en-CA" sz="2400" dirty="0"/>
              <a:t> needs to be democratic. But </a:t>
            </a:r>
            <a:r>
              <a:rPr lang="en-CA" sz="2400" dirty="0">
                <a:solidFill>
                  <a:srgbClr val="00B050"/>
                </a:solidFill>
              </a:rPr>
              <a:t>execution</a:t>
            </a:r>
            <a:r>
              <a:rPr lang="en-CA" sz="2400" dirty="0"/>
              <a:t> often requires an </a:t>
            </a:r>
            <a:r>
              <a:rPr lang="en-CA" sz="2400" u="sng" dirty="0"/>
              <a:t>autocratic</a:t>
            </a:r>
            <a:r>
              <a:rPr lang="en-CA" sz="2400" dirty="0"/>
              <a:t> style. </a:t>
            </a:r>
          </a:p>
          <a:p>
            <a:pPr marL="457200" indent="-457200"/>
            <a:r>
              <a:rPr lang="en-CA" sz="2400" dirty="0"/>
              <a:t>Imagine that an entire department gets behind on a project and could cause your company to </a:t>
            </a:r>
            <a:r>
              <a:rPr lang="en-CA" sz="2400" dirty="0">
                <a:solidFill>
                  <a:srgbClr val="FF0000"/>
                </a:solidFill>
              </a:rPr>
              <a:t>miss a mission critical deadline</a:t>
            </a:r>
            <a:r>
              <a:rPr lang="en-CA" sz="2400" dirty="0"/>
              <a:t>. That’s no time for consensus building, is it? You need a </a:t>
            </a:r>
            <a:r>
              <a:rPr lang="en-CA" sz="2400" dirty="0">
                <a:solidFill>
                  <a:srgbClr val="00B050"/>
                </a:solidFill>
              </a:rPr>
              <a:t>tough manager </a:t>
            </a:r>
            <a:r>
              <a:rPr lang="en-CA" sz="2400" dirty="0"/>
              <a:t>who can light a fire under people and hit the deadline.</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755576" y="6343650"/>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20</a:t>
            </a:fld>
            <a:endParaRPr lang="en-US"/>
          </a:p>
        </p:txBody>
      </p:sp>
    </p:spTree>
    <p:extLst>
      <p:ext uri="{BB962C8B-B14F-4D97-AF65-F5344CB8AC3E}">
        <p14:creationId xmlns:p14="http://schemas.microsoft.com/office/powerpoint/2010/main" val="57360435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2572" y="540003"/>
            <a:ext cx="4618855" cy="562074"/>
          </a:xfrm>
        </p:spPr>
        <p:txBody>
          <a:bodyPr>
            <a:normAutofit fontScale="90000"/>
          </a:bodyPr>
          <a:lstStyle/>
          <a:p>
            <a:pPr algn="ctr"/>
            <a:r>
              <a:rPr lang="en-CA" sz="4000" b="1" dirty="0">
                <a:latin typeface="+mn-lt"/>
              </a:rPr>
              <a:t>#4. The Hands-On Style </a:t>
            </a:r>
            <a:endParaRPr lang="en-CA" sz="4000" dirty="0">
              <a:latin typeface="+mn-lt"/>
            </a:endParaRPr>
          </a:p>
        </p:txBody>
      </p:sp>
      <p:sp>
        <p:nvSpPr>
          <p:cNvPr id="3" name="Content Placeholder 2"/>
          <p:cNvSpPr>
            <a:spLocks noGrp="1"/>
          </p:cNvSpPr>
          <p:nvPr>
            <p:ph idx="1"/>
          </p:nvPr>
        </p:nvSpPr>
        <p:spPr>
          <a:xfrm>
            <a:off x="353093" y="1604978"/>
            <a:ext cx="8437812" cy="4248472"/>
          </a:xfrm>
        </p:spPr>
        <p:txBody>
          <a:bodyPr>
            <a:normAutofit lnSpcReduction="10000"/>
          </a:bodyPr>
          <a:lstStyle/>
          <a:p>
            <a:pPr marL="457200" indent="-457200"/>
            <a:r>
              <a:rPr lang="en-CA" sz="2400" dirty="0"/>
              <a:t>This approach works when project managers need to </a:t>
            </a:r>
            <a:r>
              <a:rPr lang="en-CA" sz="2400" dirty="0">
                <a:solidFill>
                  <a:srgbClr val="00B050"/>
                </a:solidFill>
              </a:rPr>
              <a:t>step in </a:t>
            </a:r>
            <a:r>
              <a:rPr lang="en-CA" sz="2400" dirty="0"/>
              <a:t>and get the job done. If a team member can’t figure out how to finish the job, the leader can model the way by </a:t>
            </a:r>
            <a:r>
              <a:rPr lang="en-CA" sz="2400" dirty="0">
                <a:solidFill>
                  <a:srgbClr val="00B050"/>
                </a:solidFill>
              </a:rPr>
              <a:t>taking over the task</a:t>
            </a:r>
            <a:r>
              <a:rPr lang="en-CA" sz="2400" dirty="0"/>
              <a:t> to ensure it gets completed.</a:t>
            </a:r>
          </a:p>
          <a:p>
            <a:pPr marL="457200" indent="-457200"/>
            <a:endParaRPr lang="en-CA" sz="2400" dirty="0"/>
          </a:p>
          <a:p>
            <a:pPr marL="457200" indent="-457200"/>
            <a:r>
              <a:rPr lang="en-CA" sz="2400" b="1" dirty="0">
                <a:solidFill>
                  <a:srgbClr val="7030A0"/>
                </a:solidFill>
              </a:rPr>
              <a:t>Hands-On managers </a:t>
            </a:r>
            <a:r>
              <a:rPr lang="en-CA" sz="2400" dirty="0"/>
              <a:t>are often </a:t>
            </a:r>
            <a:r>
              <a:rPr lang="en-CA" sz="2400" dirty="0">
                <a:solidFill>
                  <a:srgbClr val="00B050"/>
                </a:solidFill>
              </a:rPr>
              <a:t>high performers </a:t>
            </a:r>
            <a:r>
              <a:rPr lang="en-CA" sz="2400" dirty="0"/>
              <a:t>who really </a:t>
            </a:r>
            <a:r>
              <a:rPr lang="en-CA" sz="2400" u="sng" dirty="0"/>
              <a:t>are</a:t>
            </a:r>
            <a:r>
              <a:rPr lang="en-CA" sz="2400" dirty="0"/>
              <a:t> more competent than others, and their natural tendency is fix problems themselves, even if people only asked for their advice.</a:t>
            </a:r>
          </a:p>
          <a:p>
            <a:pPr marL="457200" indent="-457200"/>
            <a:endParaRPr lang="en-CA" sz="2400" dirty="0"/>
          </a:p>
          <a:p>
            <a:pPr marL="457200" indent="-457200"/>
            <a:r>
              <a:rPr lang="en-CA" sz="2400" dirty="0"/>
              <a:t>Like Command &amp; Control approach, it can be </a:t>
            </a:r>
            <a:r>
              <a:rPr lang="en-CA" sz="2400" dirty="0">
                <a:solidFill>
                  <a:srgbClr val="FF0000"/>
                </a:solidFill>
              </a:rPr>
              <a:t>disempowering</a:t>
            </a:r>
            <a:r>
              <a:rPr lang="en-CA" sz="2400" dirty="0"/>
              <a:t> and lead to low morale.</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719522" y="6343650"/>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21</a:t>
            </a:fld>
            <a:endParaRPr lang="en-US"/>
          </a:p>
        </p:txBody>
      </p:sp>
    </p:spTree>
    <p:extLst>
      <p:ext uri="{BB962C8B-B14F-4D97-AF65-F5344CB8AC3E}">
        <p14:creationId xmlns:p14="http://schemas.microsoft.com/office/powerpoint/2010/main" val="404099601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9014" y="784188"/>
            <a:ext cx="7205971" cy="562074"/>
          </a:xfrm>
        </p:spPr>
        <p:txBody>
          <a:bodyPr>
            <a:normAutofit fontScale="90000"/>
          </a:bodyPr>
          <a:lstStyle/>
          <a:p>
            <a:pPr algn="ctr"/>
            <a:r>
              <a:rPr lang="en-CA" sz="4000" b="1" dirty="0">
                <a:latin typeface="+mn-lt"/>
              </a:rPr>
              <a:t>#5. The Coaching Management Style</a:t>
            </a:r>
            <a:endParaRPr lang="en-CA" sz="4000" dirty="0">
              <a:latin typeface="+mn-lt"/>
            </a:endParaRPr>
          </a:p>
        </p:txBody>
      </p:sp>
      <p:sp>
        <p:nvSpPr>
          <p:cNvPr id="3" name="Content Placeholder 2"/>
          <p:cNvSpPr>
            <a:spLocks noGrp="1"/>
          </p:cNvSpPr>
          <p:nvPr>
            <p:ph idx="1"/>
          </p:nvPr>
        </p:nvSpPr>
        <p:spPr>
          <a:xfrm>
            <a:off x="390363" y="2051106"/>
            <a:ext cx="8363271" cy="3600400"/>
          </a:xfrm>
        </p:spPr>
        <p:txBody>
          <a:bodyPr/>
          <a:lstStyle/>
          <a:p>
            <a:pPr marL="457200" indent="-457200"/>
            <a:r>
              <a:rPr lang="en-CA" sz="2400" b="1" dirty="0">
                <a:solidFill>
                  <a:srgbClr val="7030A0"/>
                </a:solidFill>
              </a:rPr>
              <a:t>Coaching</a:t>
            </a:r>
            <a:r>
              <a:rPr lang="en-CA" sz="2400" dirty="0"/>
              <a:t> is about the </a:t>
            </a:r>
            <a:r>
              <a:rPr lang="en-CA" sz="2400" u="sng" dirty="0">
                <a:highlight>
                  <a:srgbClr val="FFFF00"/>
                </a:highlight>
              </a:rPr>
              <a:t>long-term</a:t>
            </a:r>
            <a:r>
              <a:rPr lang="en-CA" sz="2400" dirty="0"/>
              <a:t> development of people. For managers who over-rely on the </a:t>
            </a:r>
            <a:r>
              <a:rPr lang="en-CA" sz="2400" dirty="0">
                <a:solidFill>
                  <a:srgbClr val="7030A0"/>
                </a:solidFill>
              </a:rPr>
              <a:t>Command and Control </a:t>
            </a:r>
            <a:r>
              <a:rPr lang="en-CA" sz="2400" dirty="0"/>
              <a:t>and </a:t>
            </a:r>
            <a:r>
              <a:rPr lang="en-CA" sz="2400" dirty="0">
                <a:solidFill>
                  <a:srgbClr val="7030A0"/>
                </a:solidFill>
              </a:rPr>
              <a:t>Hands On </a:t>
            </a:r>
            <a:r>
              <a:rPr lang="en-CA" sz="2400" dirty="0"/>
              <a:t>styles – both of which achieve </a:t>
            </a:r>
            <a:r>
              <a:rPr lang="en-CA" sz="2400" u="sng" dirty="0">
                <a:highlight>
                  <a:srgbClr val="FFFF00"/>
                </a:highlight>
              </a:rPr>
              <a:t>short-term</a:t>
            </a:r>
            <a:r>
              <a:rPr lang="en-CA" sz="2400" dirty="0"/>
              <a:t> objectives — the coaching style is the one that most needs to be developed.</a:t>
            </a:r>
          </a:p>
          <a:p>
            <a:pPr marL="457200" indent="-457200"/>
            <a:endParaRPr lang="en-CA" sz="2400" dirty="0"/>
          </a:p>
          <a:p>
            <a:pPr marL="457200" indent="-457200"/>
            <a:r>
              <a:rPr lang="en-CA" sz="2400" dirty="0"/>
              <a:t>Project Managers that utilize this method understand the value of asking questions that direct people to </a:t>
            </a:r>
            <a:r>
              <a:rPr lang="en-CA" sz="2400" dirty="0">
                <a:solidFill>
                  <a:srgbClr val="00B050"/>
                </a:solidFill>
              </a:rPr>
              <a:t>uncover their own solutions</a:t>
            </a:r>
            <a:r>
              <a:rPr lang="en-CA" sz="2400" dirty="0"/>
              <a:t>. They advise and follow up to be sure people meet their goals on time.</a:t>
            </a:r>
          </a:p>
        </p:txBody>
      </p:sp>
      <p:sp>
        <p:nvSpPr>
          <p:cNvPr id="5"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4" name="Footer Placeholder 3"/>
          <p:cNvSpPr>
            <a:spLocks noGrp="1"/>
          </p:cNvSpPr>
          <p:nvPr>
            <p:ph type="ftr" sz="quarter" idx="11"/>
          </p:nvPr>
        </p:nvSpPr>
        <p:spPr>
          <a:xfrm>
            <a:off x="827584" y="6343650"/>
            <a:ext cx="3086100" cy="365125"/>
          </a:xfrm>
        </p:spPr>
        <p:txBody>
          <a:bodyPr/>
          <a:lstStyle/>
          <a:p>
            <a:pPr algn="l"/>
            <a:r>
              <a:rPr lang="fr-FR" dirty="0"/>
              <a:t>G.R. </a:t>
            </a:r>
            <a:r>
              <a:rPr lang="fr-FR" dirty="0" err="1"/>
              <a:t>Labbé</a:t>
            </a:r>
            <a:r>
              <a:rPr lang="fr-FR" dirty="0"/>
              <a:t> - Lecture 4</a:t>
            </a:r>
            <a:endParaRPr lang="en-US" dirty="0"/>
          </a:p>
        </p:txBody>
      </p:sp>
      <p:sp>
        <p:nvSpPr>
          <p:cNvPr id="6" name="Slide Number Placeholder 5"/>
          <p:cNvSpPr>
            <a:spLocks noGrp="1"/>
          </p:cNvSpPr>
          <p:nvPr>
            <p:ph type="sldNum" sz="quarter" idx="12"/>
          </p:nvPr>
        </p:nvSpPr>
        <p:spPr/>
        <p:txBody>
          <a:bodyPr/>
          <a:lstStyle/>
          <a:p>
            <a:fld id="{DC58D7EA-5236-4708-B764-7E8D1EAC2EFE}" type="slidenum">
              <a:rPr lang="en-US" smtClean="0"/>
              <a:t>22</a:t>
            </a:fld>
            <a:endParaRPr lang="en-US"/>
          </a:p>
        </p:txBody>
      </p:sp>
    </p:spTree>
    <p:extLst>
      <p:ext uri="{BB962C8B-B14F-4D97-AF65-F5344CB8AC3E}">
        <p14:creationId xmlns:p14="http://schemas.microsoft.com/office/powerpoint/2010/main" val="187845799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6488" y="548680"/>
            <a:ext cx="6336704" cy="664797"/>
          </a:xfrm>
        </p:spPr>
        <p:txBody>
          <a:bodyPr>
            <a:normAutofit/>
          </a:bodyPr>
          <a:lstStyle/>
          <a:p>
            <a:pPr algn="ctr"/>
            <a:r>
              <a:rPr lang="en-CA" sz="3600" b="1" dirty="0">
                <a:latin typeface="+mn-lt"/>
              </a:rPr>
              <a:t>Leadership Style Examples</a:t>
            </a:r>
          </a:p>
        </p:txBody>
      </p:sp>
      <p:sp>
        <p:nvSpPr>
          <p:cNvPr id="3" name="Content Placeholder 2"/>
          <p:cNvSpPr>
            <a:spLocks noGrp="1"/>
          </p:cNvSpPr>
          <p:nvPr>
            <p:ph idx="1"/>
          </p:nvPr>
        </p:nvSpPr>
        <p:spPr>
          <a:xfrm>
            <a:off x="457200" y="1628800"/>
            <a:ext cx="8435280" cy="1368152"/>
          </a:xfrm>
        </p:spPr>
        <p:txBody>
          <a:bodyPr/>
          <a:lstStyle/>
          <a:p>
            <a:pPr>
              <a:buNone/>
            </a:pPr>
            <a:r>
              <a:rPr lang="en-CA" sz="2400" dirty="0"/>
              <a:t>The following movie clips demonstrate various </a:t>
            </a:r>
            <a:r>
              <a:rPr lang="en-CA" sz="2400" dirty="0">
                <a:solidFill>
                  <a:srgbClr val="7030A0"/>
                </a:solidFill>
              </a:rPr>
              <a:t>leadership styles </a:t>
            </a:r>
          </a:p>
          <a:p>
            <a:pPr>
              <a:buNone/>
            </a:pPr>
            <a:r>
              <a:rPr lang="en-CA" sz="2400" dirty="0"/>
              <a:t>that we will discuss in this lecture. As we go through the lecture </a:t>
            </a:r>
          </a:p>
          <a:p>
            <a:pPr>
              <a:buNone/>
            </a:pPr>
            <a:r>
              <a:rPr lang="en-CA" sz="2400" dirty="0"/>
              <a:t>try to determine which clip shows which type of leadership style.</a:t>
            </a:r>
          </a:p>
        </p:txBody>
      </p:sp>
      <p:sp>
        <p:nvSpPr>
          <p:cNvPr id="4" name="Footer Placeholder 3"/>
          <p:cNvSpPr>
            <a:spLocks noGrp="1"/>
          </p:cNvSpPr>
          <p:nvPr>
            <p:ph type="ftr" sz="quarter" idx="11"/>
          </p:nvPr>
        </p:nvSpPr>
        <p:spPr>
          <a:xfrm>
            <a:off x="683568" y="6356351"/>
            <a:ext cx="3086100" cy="365125"/>
          </a:xfrm>
        </p:spPr>
        <p:txBody>
          <a:bodyPr/>
          <a:lstStyle/>
          <a:p>
            <a:pPr algn="l"/>
            <a:r>
              <a:rPr lang="fr-FR" dirty="0"/>
              <a:t>G.R. </a:t>
            </a:r>
            <a:r>
              <a:rPr lang="fr-FR" dirty="0" err="1"/>
              <a:t>Labbé</a:t>
            </a:r>
            <a:r>
              <a:rPr lang="fr-FR" dirty="0"/>
              <a:t> - Lecture 4</a:t>
            </a:r>
            <a:endParaRPr lang="en-US" dirty="0"/>
          </a:p>
        </p:txBody>
      </p:sp>
      <p:sp>
        <p:nvSpPr>
          <p:cNvPr id="5" name="Slide Number Placeholder 4"/>
          <p:cNvSpPr>
            <a:spLocks noGrp="1"/>
          </p:cNvSpPr>
          <p:nvPr>
            <p:ph type="sldNum" sz="quarter" idx="12"/>
          </p:nvPr>
        </p:nvSpPr>
        <p:spPr/>
        <p:txBody>
          <a:bodyPr/>
          <a:lstStyle/>
          <a:p>
            <a:fld id="{DC58D7EA-5236-4708-B764-7E8D1EAC2EFE}" type="slidenum">
              <a:rPr lang="en-US" smtClean="0"/>
              <a:t>23</a:t>
            </a:fld>
            <a:endParaRPr lang="en-US"/>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15602"/>
          </a:xfrm>
        </p:spPr>
        <p:txBody>
          <a:bodyPr/>
          <a:lstStyle/>
          <a:p>
            <a:r>
              <a:rPr lang="en-US" dirty="0"/>
              <a:t>Clip # 1 – “We Were Soldiers</a:t>
            </a:r>
          </a:p>
        </p:txBody>
      </p:sp>
      <p:pic>
        <p:nvPicPr>
          <p:cNvPr id="3" name="0fpK9591u6M"/>
          <p:cNvPicPr>
            <a:picLocks noRot="1" noChangeAspect="1"/>
          </p:cNvPicPr>
          <p:nvPr>
            <a:videoFile r:link="rId1"/>
          </p:nvPr>
        </p:nvPicPr>
        <p:blipFill>
          <a:blip r:embed="rId3"/>
          <a:stretch>
            <a:fillRect/>
          </a:stretch>
        </p:blipFill>
        <p:spPr>
          <a:xfrm>
            <a:off x="395536" y="1268760"/>
            <a:ext cx="8400933" cy="4896544"/>
          </a:xfrm>
          <a:prstGeom prst="rect">
            <a:avLst/>
          </a:prstGeom>
        </p:spPr>
      </p:pic>
      <p:sp>
        <p:nvSpPr>
          <p:cNvPr id="4" name="Rectangle 3"/>
          <p:cNvSpPr/>
          <p:nvPr/>
        </p:nvSpPr>
        <p:spPr>
          <a:xfrm>
            <a:off x="3275856" y="6452738"/>
            <a:ext cx="2592288" cy="215444"/>
          </a:xfrm>
          <a:prstGeom prst="rect">
            <a:avLst/>
          </a:prstGeom>
        </p:spPr>
        <p:txBody>
          <a:bodyPr wrap="square">
            <a:spAutoFit/>
          </a:bodyPr>
          <a:lstStyle/>
          <a:p>
            <a:r>
              <a:rPr lang="en-US" sz="800" dirty="0"/>
              <a:t>https://www.youtube.com/watch?v=0fpK9591u6M</a:t>
            </a:r>
          </a:p>
        </p:txBody>
      </p:sp>
      <p:sp>
        <p:nvSpPr>
          <p:cNvPr id="5" name="Footer Placeholder 4"/>
          <p:cNvSpPr>
            <a:spLocks noGrp="1"/>
          </p:cNvSpPr>
          <p:nvPr>
            <p:ph type="ftr" sz="quarter" idx="11"/>
          </p:nvPr>
        </p:nvSpPr>
        <p:spPr>
          <a:xfrm>
            <a:off x="-1764704" y="6356351"/>
            <a:ext cx="3086100" cy="365125"/>
          </a:xfrm>
        </p:spPr>
        <p:txBody>
          <a:bodyPr/>
          <a:lstStyle/>
          <a:p>
            <a:pPr algn="l"/>
            <a:r>
              <a:rPr lang="en-US" dirty="0"/>
              <a:t>G.R. Labbé</a:t>
            </a:r>
          </a:p>
        </p:txBody>
      </p:sp>
      <p:sp>
        <p:nvSpPr>
          <p:cNvPr id="6" name="Slide Number Placeholder 5"/>
          <p:cNvSpPr>
            <a:spLocks noGrp="1"/>
          </p:cNvSpPr>
          <p:nvPr>
            <p:ph type="sldNum" sz="quarter" idx="12"/>
          </p:nvPr>
        </p:nvSpPr>
        <p:spPr>
          <a:xfrm>
            <a:off x="2411760" y="6377897"/>
            <a:ext cx="8515350" cy="365125"/>
          </a:xfrm>
        </p:spPr>
        <p:txBody>
          <a:bodyPr/>
          <a:lstStyle/>
          <a:p>
            <a:fld id="{DC58D7EA-5236-4708-B764-7E8D1EAC2EFE}" type="slidenum">
              <a:rPr lang="en-US" smtClean="0"/>
              <a:t>24</a:t>
            </a:fld>
            <a:endParaRPr lang="en-US" dirty="0"/>
          </a:p>
        </p:txBody>
      </p:sp>
    </p:spTree>
    <p:extLst>
      <p:ext uri="{BB962C8B-B14F-4D97-AF65-F5344CB8AC3E}">
        <p14:creationId xmlns:p14="http://schemas.microsoft.com/office/powerpoint/2010/main" val="30797630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059832" y="6509112"/>
            <a:ext cx="2808312" cy="215444"/>
          </a:xfrm>
          <a:prstGeom prst="rect">
            <a:avLst/>
          </a:prstGeom>
        </p:spPr>
        <p:txBody>
          <a:bodyPr wrap="square">
            <a:spAutoFit/>
          </a:bodyPr>
          <a:lstStyle/>
          <a:p>
            <a:r>
              <a:rPr lang="en-US" sz="800" dirty="0"/>
              <a:t>https://www.youtube.com/watch?v=w8fu-hq3S7A</a:t>
            </a:r>
          </a:p>
        </p:txBody>
      </p:sp>
      <p:sp>
        <p:nvSpPr>
          <p:cNvPr id="8" name="Title 1"/>
          <p:cNvSpPr txBox="1">
            <a:spLocks/>
          </p:cNvSpPr>
          <p:nvPr/>
        </p:nvSpPr>
        <p:spPr>
          <a:xfrm>
            <a:off x="788030" y="260648"/>
            <a:ext cx="7886700" cy="61560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en-US" b="0" dirty="0"/>
              <a:t>Clip # 2 – “Leadership Lessons”</a:t>
            </a:r>
          </a:p>
        </p:txBody>
      </p:sp>
      <p:pic>
        <p:nvPicPr>
          <p:cNvPr id="10" name="w8fu-hq3S7A"/>
          <p:cNvPicPr>
            <a:picLocks noRot="1" noChangeAspect="1"/>
          </p:cNvPicPr>
          <p:nvPr>
            <a:videoFile r:link="rId1"/>
          </p:nvPr>
        </p:nvPicPr>
        <p:blipFill>
          <a:blip r:embed="rId3"/>
          <a:stretch>
            <a:fillRect/>
          </a:stretch>
        </p:blipFill>
        <p:spPr>
          <a:xfrm>
            <a:off x="347531" y="1052736"/>
            <a:ext cx="8448938" cy="5112568"/>
          </a:xfrm>
          <a:prstGeom prst="rect">
            <a:avLst/>
          </a:prstGeom>
        </p:spPr>
      </p:pic>
      <p:sp>
        <p:nvSpPr>
          <p:cNvPr id="3" name="Slide Number Placeholder 2"/>
          <p:cNvSpPr>
            <a:spLocks noGrp="1"/>
          </p:cNvSpPr>
          <p:nvPr>
            <p:ph type="sldNum" sz="quarter" idx="12"/>
          </p:nvPr>
        </p:nvSpPr>
        <p:spPr>
          <a:xfrm>
            <a:off x="6084168" y="6492874"/>
            <a:ext cx="4951462" cy="365125"/>
          </a:xfrm>
        </p:spPr>
        <p:txBody>
          <a:bodyPr/>
          <a:lstStyle/>
          <a:p>
            <a:fld id="{DC58D7EA-5236-4708-B764-7E8D1EAC2EFE}" type="slidenum">
              <a:rPr lang="en-US" smtClean="0"/>
              <a:t>25</a:t>
            </a:fld>
            <a:endParaRPr lang="en-US" dirty="0"/>
          </a:p>
        </p:txBody>
      </p:sp>
    </p:spTree>
    <p:extLst>
      <p:ext uri="{BB962C8B-B14F-4D97-AF65-F5344CB8AC3E}">
        <p14:creationId xmlns:p14="http://schemas.microsoft.com/office/powerpoint/2010/main" val="345716785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8650" y="365127"/>
            <a:ext cx="7886700" cy="615602"/>
          </a:xfrm>
        </p:spPr>
        <p:txBody>
          <a:bodyPr/>
          <a:lstStyle/>
          <a:p>
            <a:r>
              <a:rPr lang="en-US" dirty="0"/>
              <a:t>Clip # 3 – “The Blind Side”</a:t>
            </a:r>
          </a:p>
        </p:txBody>
      </p:sp>
      <p:sp>
        <p:nvSpPr>
          <p:cNvPr id="4" name="Rectangle 3"/>
          <p:cNvSpPr/>
          <p:nvPr/>
        </p:nvSpPr>
        <p:spPr>
          <a:xfrm>
            <a:off x="3419872" y="6309320"/>
            <a:ext cx="2574032" cy="215444"/>
          </a:xfrm>
          <a:prstGeom prst="rect">
            <a:avLst/>
          </a:prstGeom>
        </p:spPr>
        <p:txBody>
          <a:bodyPr wrap="square">
            <a:spAutoFit/>
          </a:bodyPr>
          <a:lstStyle/>
          <a:p>
            <a:r>
              <a:rPr lang="en-US" sz="800" dirty="0"/>
              <a:t>https://www.youtube.com/watch?v=76nhIfp9gr0</a:t>
            </a:r>
          </a:p>
        </p:txBody>
      </p:sp>
      <p:pic>
        <p:nvPicPr>
          <p:cNvPr id="5" name="76nhIfp9gr0"/>
          <p:cNvPicPr>
            <a:picLocks noRot="1" noChangeAspect="1"/>
          </p:cNvPicPr>
          <p:nvPr>
            <a:videoFile r:link="rId1"/>
          </p:nvPr>
        </p:nvPicPr>
        <p:blipFill>
          <a:blip r:embed="rId3"/>
          <a:stretch>
            <a:fillRect/>
          </a:stretch>
        </p:blipFill>
        <p:spPr>
          <a:xfrm>
            <a:off x="395536" y="1079739"/>
            <a:ext cx="8272919" cy="5085565"/>
          </a:xfrm>
          <a:prstGeom prst="rect">
            <a:avLst/>
          </a:prstGeom>
        </p:spPr>
      </p:pic>
      <p:sp>
        <p:nvSpPr>
          <p:cNvPr id="2" name="Footer Placeholder 1"/>
          <p:cNvSpPr>
            <a:spLocks noGrp="1"/>
          </p:cNvSpPr>
          <p:nvPr>
            <p:ph type="ftr" sz="quarter" idx="11"/>
          </p:nvPr>
        </p:nvSpPr>
        <p:spPr>
          <a:xfrm>
            <a:off x="-1832257" y="6486217"/>
            <a:ext cx="8311802" cy="365125"/>
          </a:xfrm>
        </p:spPr>
        <p:txBody>
          <a:bodyPr/>
          <a:lstStyle/>
          <a:p>
            <a:pPr algn="l"/>
            <a:r>
              <a:rPr lang="en-US" dirty="0"/>
              <a:t>G.R. Labbé</a:t>
            </a:r>
          </a:p>
        </p:txBody>
      </p:sp>
      <p:sp>
        <p:nvSpPr>
          <p:cNvPr id="6" name="Slide Number Placeholder 5"/>
          <p:cNvSpPr>
            <a:spLocks noGrp="1"/>
          </p:cNvSpPr>
          <p:nvPr>
            <p:ph type="sldNum" sz="quarter" idx="12"/>
          </p:nvPr>
        </p:nvSpPr>
        <p:spPr>
          <a:xfrm>
            <a:off x="4067944" y="6480552"/>
            <a:ext cx="7056784" cy="365125"/>
          </a:xfrm>
        </p:spPr>
        <p:txBody>
          <a:bodyPr/>
          <a:lstStyle/>
          <a:p>
            <a:fld id="{DC58D7EA-5236-4708-B764-7E8D1EAC2EFE}" type="slidenum">
              <a:rPr lang="en-US" smtClean="0"/>
              <a:t>26</a:t>
            </a:fld>
            <a:endParaRPr lang="en-US" dirty="0"/>
          </a:p>
        </p:txBody>
      </p:sp>
    </p:spTree>
    <p:extLst>
      <p:ext uri="{BB962C8B-B14F-4D97-AF65-F5344CB8AC3E}">
        <p14:creationId xmlns:p14="http://schemas.microsoft.com/office/powerpoint/2010/main" val="254682155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8650" y="365127"/>
            <a:ext cx="7886700" cy="615602"/>
          </a:xfrm>
        </p:spPr>
        <p:txBody>
          <a:bodyPr/>
          <a:lstStyle/>
          <a:p>
            <a:r>
              <a:rPr lang="en-US" dirty="0"/>
              <a:t>Clip # 4 – “Leadership Styles”</a:t>
            </a:r>
          </a:p>
        </p:txBody>
      </p:sp>
      <p:pic>
        <p:nvPicPr>
          <p:cNvPr id="4" name="8YtpTK-AFoQ"/>
          <p:cNvPicPr>
            <a:picLocks noRot="1" noChangeAspect="1"/>
          </p:cNvPicPr>
          <p:nvPr>
            <a:videoFile r:link="rId1"/>
          </p:nvPr>
        </p:nvPicPr>
        <p:blipFill>
          <a:blip r:embed="rId3"/>
          <a:stretch>
            <a:fillRect/>
          </a:stretch>
        </p:blipFill>
        <p:spPr>
          <a:xfrm>
            <a:off x="347531" y="1052736"/>
            <a:ext cx="8448938" cy="5040560"/>
          </a:xfrm>
          <a:prstGeom prst="rect">
            <a:avLst/>
          </a:prstGeom>
        </p:spPr>
      </p:pic>
      <p:sp>
        <p:nvSpPr>
          <p:cNvPr id="5" name="Rectangle 4"/>
          <p:cNvSpPr/>
          <p:nvPr/>
        </p:nvSpPr>
        <p:spPr>
          <a:xfrm>
            <a:off x="3131840" y="6316552"/>
            <a:ext cx="2664296" cy="215444"/>
          </a:xfrm>
          <a:prstGeom prst="rect">
            <a:avLst/>
          </a:prstGeom>
        </p:spPr>
        <p:txBody>
          <a:bodyPr wrap="square">
            <a:spAutoFit/>
          </a:bodyPr>
          <a:lstStyle/>
          <a:p>
            <a:r>
              <a:rPr lang="en-US" sz="800" dirty="0"/>
              <a:t>https://www.youtube.com/watch?v=8YtpTK-AFoQ</a:t>
            </a:r>
          </a:p>
        </p:txBody>
      </p:sp>
      <p:sp>
        <p:nvSpPr>
          <p:cNvPr id="2" name="Footer Placeholder 1"/>
          <p:cNvSpPr>
            <a:spLocks noGrp="1"/>
          </p:cNvSpPr>
          <p:nvPr>
            <p:ph type="ftr" sz="quarter" idx="11"/>
          </p:nvPr>
        </p:nvSpPr>
        <p:spPr>
          <a:xfrm>
            <a:off x="-2124744" y="5433712"/>
            <a:ext cx="11737304" cy="365125"/>
          </a:xfrm>
        </p:spPr>
        <p:txBody>
          <a:bodyPr/>
          <a:lstStyle/>
          <a:p>
            <a:pPr algn="l"/>
            <a:r>
              <a:rPr lang="en-US" dirty="0"/>
              <a:t>G.R. Labbé</a:t>
            </a:r>
          </a:p>
        </p:txBody>
      </p:sp>
      <p:sp>
        <p:nvSpPr>
          <p:cNvPr id="6" name="Slide Number Placeholder 5"/>
          <p:cNvSpPr>
            <a:spLocks noGrp="1"/>
          </p:cNvSpPr>
          <p:nvPr>
            <p:ph type="sldNum" sz="quarter" idx="12"/>
          </p:nvPr>
        </p:nvSpPr>
        <p:spPr>
          <a:xfrm>
            <a:off x="9144000" y="6316552"/>
            <a:ext cx="2057400" cy="365125"/>
          </a:xfrm>
        </p:spPr>
        <p:txBody>
          <a:bodyPr/>
          <a:lstStyle/>
          <a:p>
            <a:fld id="{DC58D7EA-5236-4708-B764-7E8D1EAC2EFE}" type="slidenum">
              <a:rPr lang="en-US" smtClean="0"/>
              <a:t>27</a:t>
            </a:fld>
            <a:endParaRPr lang="en-US" dirty="0"/>
          </a:p>
        </p:txBody>
      </p:sp>
    </p:spTree>
    <p:extLst>
      <p:ext uri="{BB962C8B-B14F-4D97-AF65-F5344CB8AC3E}">
        <p14:creationId xmlns:p14="http://schemas.microsoft.com/office/powerpoint/2010/main" val="141109930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28650" y="365127"/>
            <a:ext cx="7886700" cy="615602"/>
          </a:xfrm>
        </p:spPr>
        <p:txBody>
          <a:bodyPr/>
          <a:lstStyle/>
          <a:p>
            <a:r>
              <a:rPr lang="en-US" dirty="0"/>
              <a:t>Clip # 5 – “What Leadership Style is this?”</a:t>
            </a:r>
          </a:p>
        </p:txBody>
      </p:sp>
      <p:pic>
        <p:nvPicPr>
          <p:cNvPr id="2" name="Bv16yctXaFM"/>
          <p:cNvPicPr>
            <a:picLocks noRot="1" noChangeAspect="1"/>
          </p:cNvPicPr>
          <p:nvPr>
            <a:videoFile r:link="rId1"/>
          </p:nvPr>
        </p:nvPicPr>
        <p:blipFill>
          <a:blip r:embed="rId3"/>
          <a:stretch>
            <a:fillRect/>
          </a:stretch>
        </p:blipFill>
        <p:spPr>
          <a:xfrm>
            <a:off x="467544" y="1120243"/>
            <a:ext cx="8456939" cy="5117069"/>
          </a:xfrm>
          <a:prstGeom prst="rect">
            <a:avLst/>
          </a:prstGeom>
        </p:spPr>
      </p:pic>
      <p:sp>
        <p:nvSpPr>
          <p:cNvPr id="4" name="Rectangle 3"/>
          <p:cNvSpPr/>
          <p:nvPr/>
        </p:nvSpPr>
        <p:spPr>
          <a:xfrm>
            <a:off x="3275856" y="6376826"/>
            <a:ext cx="2592288" cy="215444"/>
          </a:xfrm>
          <a:prstGeom prst="rect">
            <a:avLst/>
          </a:prstGeom>
        </p:spPr>
        <p:txBody>
          <a:bodyPr wrap="square">
            <a:spAutoFit/>
          </a:bodyPr>
          <a:lstStyle/>
          <a:p>
            <a:r>
              <a:rPr lang="en-US" sz="800" dirty="0"/>
              <a:t>https://www.youtube.com/watch?v=Bv16yctXaFM</a:t>
            </a:r>
          </a:p>
        </p:txBody>
      </p:sp>
      <p:sp>
        <p:nvSpPr>
          <p:cNvPr id="5" name="Footer Placeholder 4"/>
          <p:cNvSpPr>
            <a:spLocks noGrp="1"/>
          </p:cNvSpPr>
          <p:nvPr>
            <p:ph type="ftr" sz="quarter" idx="11"/>
          </p:nvPr>
        </p:nvSpPr>
        <p:spPr>
          <a:xfrm>
            <a:off x="-1980728" y="6512962"/>
            <a:ext cx="9721080" cy="365125"/>
          </a:xfrm>
        </p:spPr>
        <p:txBody>
          <a:bodyPr/>
          <a:lstStyle/>
          <a:p>
            <a:pPr algn="l"/>
            <a:r>
              <a:rPr lang="en-US" dirty="0"/>
              <a:t>G.R. Labbé</a:t>
            </a:r>
          </a:p>
        </p:txBody>
      </p:sp>
      <p:sp>
        <p:nvSpPr>
          <p:cNvPr id="6" name="Slide Number Placeholder 5"/>
          <p:cNvSpPr>
            <a:spLocks noGrp="1"/>
          </p:cNvSpPr>
          <p:nvPr>
            <p:ph type="sldNum" sz="quarter" idx="12"/>
          </p:nvPr>
        </p:nvSpPr>
        <p:spPr>
          <a:xfrm>
            <a:off x="5028823" y="6512962"/>
            <a:ext cx="6103590" cy="365125"/>
          </a:xfrm>
        </p:spPr>
        <p:txBody>
          <a:bodyPr/>
          <a:lstStyle/>
          <a:p>
            <a:fld id="{DC58D7EA-5236-4708-B764-7E8D1EAC2EFE}" type="slidenum">
              <a:rPr lang="en-US" smtClean="0"/>
              <a:t>28</a:t>
            </a:fld>
            <a:endParaRPr lang="en-US"/>
          </a:p>
        </p:txBody>
      </p:sp>
    </p:spTree>
    <p:extLst>
      <p:ext uri="{BB962C8B-B14F-4D97-AF65-F5344CB8AC3E}">
        <p14:creationId xmlns:p14="http://schemas.microsoft.com/office/powerpoint/2010/main" val="120699755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622970-C0A4-462E-AE1A-49CB9EC805DA}"/>
              </a:ext>
            </a:extLst>
          </p:cNvPr>
          <p:cNvSpPr>
            <a:spLocks noGrp="1"/>
          </p:cNvSpPr>
          <p:nvPr>
            <p:ph type="title"/>
          </p:nvPr>
        </p:nvSpPr>
        <p:spPr>
          <a:xfrm>
            <a:off x="5059971" y="1783959"/>
            <a:ext cx="3483937" cy="2889114"/>
          </a:xfrm>
        </p:spPr>
        <p:txBody>
          <a:bodyPr vert="horz" lIns="91440" tIns="45720" rIns="91440" bIns="45720" rtlCol="0" anchor="b">
            <a:normAutofit/>
          </a:bodyPr>
          <a:lstStyle/>
          <a:p>
            <a:pPr defTabSz="914400"/>
            <a:r>
              <a:rPr lang="en-US" sz="5600" kern="1200">
                <a:solidFill>
                  <a:schemeClr val="bg1"/>
                </a:solidFill>
                <a:latin typeface="+mj-lt"/>
                <a:ea typeface="+mj-ea"/>
                <a:cs typeface="+mj-cs"/>
              </a:rPr>
              <a:t>Your</a:t>
            </a:r>
            <a:br>
              <a:rPr lang="en-US" sz="5600" kern="1200">
                <a:solidFill>
                  <a:schemeClr val="bg1"/>
                </a:solidFill>
                <a:latin typeface="+mj-lt"/>
                <a:ea typeface="+mj-ea"/>
                <a:cs typeface="+mj-cs"/>
              </a:rPr>
            </a:br>
            <a:r>
              <a:rPr lang="en-US" sz="5600" kern="1200">
                <a:solidFill>
                  <a:schemeClr val="bg1"/>
                </a:solidFill>
                <a:latin typeface="+mj-lt"/>
                <a:ea typeface="+mj-ea"/>
                <a:cs typeface="+mj-cs"/>
              </a:rPr>
              <a:t>Leadership Style</a:t>
            </a:r>
          </a:p>
        </p:txBody>
      </p:sp>
      <p:sp>
        <p:nvSpPr>
          <p:cNvPr id="12" name="Freeform: Shape 11">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629586"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18115"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AB77CD91-04B7-47E0-B35D-F50D7C0CB247}"/>
              </a:ext>
            </a:extLst>
          </p:cNvPr>
          <p:cNvSpPr>
            <a:spLocks noGrp="1"/>
          </p:cNvSpPr>
          <p:nvPr>
            <p:ph type="ftr" sz="quarter" idx="11"/>
          </p:nvPr>
        </p:nvSpPr>
        <p:spPr>
          <a:xfrm>
            <a:off x="5059969" y="6199632"/>
            <a:ext cx="3192490" cy="314067"/>
          </a:xfrm>
        </p:spPr>
        <p:txBody>
          <a:bodyPr vert="horz" lIns="91440" tIns="45720" rIns="91440" bIns="45720" rtlCol="0" anchor="ctr">
            <a:normAutofit/>
          </a:bodyPr>
          <a:lstStyle/>
          <a:p>
            <a:pPr algn="l">
              <a:spcAft>
                <a:spcPts val="600"/>
              </a:spcAft>
            </a:pPr>
            <a:r>
              <a:rPr lang="en-US" sz="1000" kern="1200" dirty="0">
                <a:solidFill>
                  <a:schemeClr val="bg1">
                    <a:alpha val="80000"/>
                  </a:schemeClr>
                </a:solidFill>
                <a:latin typeface="+mn-lt"/>
                <a:ea typeface="+mn-ea"/>
                <a:cs typeface="+mn-cs"/>
              </a:rPr>
              <a:t>G.R. Labbé</a:t>
            </a:r>
          </a:p>
        </p:txBody>
      </p:sp>
      <p:sp>
        <p:nvSpPr>
          <p:cNvPr id="6" name="Rectangle 5">
            <a:extLst>
              <a:ext uri="{FF2B5EF4-FFF2-40B4-BE49-F238E27FC236}">
                <a16:creationId xmlns:a16="http://schemas.microsoft.com/office/drawing/2014/main" id="{066C7FAF-78E0-467D-BB05-5B7FFB05EC86}"/>
              </a:ext>
            </a:extLst>
          </p:cNvPr>
          <p:cNvSpPr/>
          <p:nvPr/>
        </p:nvSpPr>
        <p:spPr>
          <a:xfrm>
            <a:off x="28793" y="2766851"/>
            <a:ext cx="4111159" cy="923330"/>
          </a:xfrm>
          <a:prstGeom prst="rect">
            <a:avLst/>
          </a:prstGeom>
        </p:spPr>
        <p:txBody>
          <a:bodyPr wrap="square">
            <a:spAutoFit/>
          </a:bodyPr>
          <a:lstStyle/>
          <a:p>
            <a:pPr algn="ctr"/>
            <a:r>
              <a:rPr lang="en-CA" dirty="0">
                <a:solidFill>
                  <a:prstClr val="black"/>
                </a:solidFill>
              </a:rPr>
              <a:t>Complete the Leadership Quiz</a:t>
            </a:r>
          </a:p>
          <a:p>
            <a:pPr algn="ctr"/>
            <a:r>
              <a:rPr lang="en-CA" dirty="0">
                <a:solidFill>
                  <a:prstClr val="black"/>
                </a:solidFill>
              </a:rPr>
              <a:t>below and determine what your Leadership style is.</a:t>
            </a:r>
            <a:endParaRPr lang="en-CA" dirty="0"/>
          </a:p>
        </p:txBody>
      </p:sp>
      <p:sp>
        <p:nvSpPr>
          <p:cNvPr id="4" name="Slide Number Placeholder 3">
            <a:extLst>
              <a:ext uri="{FF2B5EF4-FFF2-40B4-BE49-F238E27FC236}">
                <a16:creationId xmlns:a16="http://schemas.microsoft.com/office/drawing/2014/main" id="{60CD02E4-F18F-457E-A767-DB955F65C3EB}"/>
              </a:ext>
            </a:extLst>
          </p:cNvPr>
          <p:cNvSpPr>
            <a:spLocks noGrp="1"/>
          </p:cNvSpPr>
          <p:nvPr>
            <p:ph type="sldNum" sz="quarter" idx="12"/>
          </p:nvPr>
        </p:nvSpPr>
        <p:spPr/>
        <p:txBody>
          <a:bodyPr/>
          <a:lstStyle/>
          <a:p>
            <a:fld id="{DC58D7EA-5236-4708-B764-7E8D1EAC2EFE}" type="slidenum">
              <a:rPr lang="en-US" smtClean="0"/>
              <a:t>29</a:t>
            </a:fld>
            <a:endParaRPr lang="en-US"/>
          </a:p>
        </p:txBody>
      </p:sp>
    </p:spTree>
    <p:extLst>
      <p:ext uri="{BB962C8B-B14F-4D97-AF65-F5344CB8AC3E}">
        <p14:creationId xmlns:p14="http://schemas.microsoft.com/office/powerpoint/2010/main" val="351916827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E50161F-B7B0-472D-907E-35A2B92A1795}"/>
              </a:ext>
            </a:extLst>
          </p:cNvPr>
          <p:cNvSpPr>
            <a:spLocks noGrp="1"/>
          </p:cNvSpPr>
          <p:nvPr>
            <p:ph type="ftr" sz="quarter" idx="11"/>
          </p:nvPr>
        </p:nvSpPr>
        <p:spPr/>
        <p:txBody>
          <a:bodyPr/>
          <a:lstStyle/>
          <a:p>
            <a:r>
              <a:rPr lang="en-US" dirty="0"/>
              <a:t>G.R. Labbé</a:t>
            </a:r>
          </a:p>
        </p:txBody>
      </p:sp>
      <p:sp>
        <p:nvSpPr>
          <p:cNvPr id="3" name="Slide Number Placeholder 2">
            <a:extLst>
              <a:ext uri="{FF2B5EF4-FFF2-40B4-BE49-F238E27FC236}">
                <a16:creationId xmlns:a16="http://schemas.microsoft.com/office/drawing/2014/main" id="{531B102D-5F02-4727-81DA-89B450A4D6B9}"/>
              </a:ext>
            </a:extLst>
          </p:cNvPr>
          <p:cNvSpPr>
            <a:spLocks noGrp="1"/>
          </p:cNvSpPr>
          <p:nvPr>
            <p:ph type="sldNum" sz="quarter" idx="12"/>
          </p:nvPr>
        </p:nvSpPr>
        <p:spPr/>
        <p:txBody>
          <a:bodyPr/>
          <a:lstStyle/>
          <a:p>
            <a:fld id="{DC58D7EA-5236-4708-B764-7E8D1EAC2EFE}" type="slidenum">
              <a:rPr lang="en-US" smtClean="0"/>
              <a:t>30</a:t>
            </a:fld>
            <a:endParaRPr lang="en-US"/>
          </a:p>
        </p:txBody>
      </p:sp>
      <p:graphicFrame>
        <p:nvGraphicFramePr>
          <p:cNvPr id="5" name="Table 4">
            <a:extLst>
              <a:ext uri="{FF2B5EF4-FFF2-40B4-BE49-F238E27FC236}">
                <a16:creationId xmlns:a16="http://schemas.microsoft.com/office/drawing/2014/main" id="{8212198E-EC8C-4ECA-88FE-3DABFAAB70A6}"/>
              </a:ext>
            </a:extLst>
          </p:cNvPr>
          <p:cNvGraphicFramePr>
            <a:graphicFrameLocks noGrp="1"/>
          </p:cNvGraphicFramePr>
          <p:nvPr>
            <p:extLst>
              <p:ext uri="{D42A27DB-BD31-4B8C-83A1-F6EECF244321}">
                <p14:modId xmlns:p14="http://schemas.microsoft.com/office/powerpoint/2010/main" val="3502509081"/>
              </p:ext>
            </p:extLst>
          </p:nvPr>
        </p:nvGraphicFramePr>
        <p:xfrm>
          <a:off x="498376" y="714361"/>
          <a:ext cx="8147247" cy="5429277"/>
        </p:xfrm>
        <a:graphic>
          <a:graphicData uri="http://schemas.openxmlformats.org/drawingml/2006/table">
            <a:tbl>
              <a:tblPr/>
              <a:tblGrid>
                <a:gridCol w="4580714">
                  <a:extLst>
                    <a:ext uri="{9D8B030D-6E8A-4147-A177-3AD203B41FA5}">
                      <a16:colId xmlns:a16="http://schemas.microsoft.com/office/drawing/2014/main" val="1239391277"/>
                    </a:ext>
                  </a:extLst>
                </a:gridCol>
                <a:gridCol w="760635">
                  <a:extLst>
                    <a:ext uri="{9D8B030D-6E8A-4147-A177-3AD203B41FA5}">
                      <a16:colId xmlns:a16="http://schemas.microsoft.com/office/drawing/2014/main" val="997958148"/>
                    </a:ext>
                  </a:extLst>
                </a:gridCol>
                <a:gridCol w="777538">
                  <a:extLst>
                    <a:ext uri="{9D8B030D-6E8A-4147-A177-3AD203B41FA5}">
                      <a16:colId xmlns:a16="http://schemas.microsoft.com/office/drawing/2014/main" val="2485506393"/>
                    </a:ext>
                  </a:extLst>
                </a:gridCol>
                <a:gridCol w="726829">
                  <a:extLst>
                    <a:ext uri="{9D8B030D-6E8A-4147-A177-3AD203B41FA5}">
                      <a16:colId xmlns:a16="http://schemas.microsoft.com/office/drawing/2014/main" val="74975444"/>
                    </a:ext>
                  </a:extLst>
                </a:gridCol>
                <a:gridCol w="557799">
                  <a:extLst>
                    <a:ext uri="{9D8B030D-6E8A-4147-A177-3AD203B41FA5}">
                      <a16:colId xmlns:a16="http://schemas.microsoft.com/office/drawing/2014/main" val="2470100548"/>
                    </a:ext>
                  </a:extLst>
                </a:gridCol>
                <a:gridCol w="743732">
                  <a:extLst>
                    <a:ext uri="{9D8B030D-6E8A-4147-A177-3AD203B41FA5}">
                      <a16:colId xmlns:a16="http://schemas.microsoft.com/office/drawing/2014/main" val="1235278169"/>
                    </a:ext>
                  </a:extLst>
                </a:gridCol>
              </a:tblGrid>
              <a:tr h="109728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b="1" u="none" strike="noStrike" dirty="0">
                          <a:solidFill>
                            <a:schemeClr val="accent3"/>
                          </a:solidFill>
                          <a:effectLst/>
                        </a:rPr>
                        <a:t>Statements</a:t>
                      </a:r>
                    </a:p>
                    <a:p>
                      <a:pPr algn="l" fontAlgn="b"/>
                      <a:endParaRPr lang="en-US" sz="1600" b="1" i="0" u="none" strike="noStrike" dirty="0">
                        <a:solidFill>
                          <a:schemeClr val="accent3"/>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1600" b="1" u="none" strike="noStrike" dirty="0">
                          <a:solidFill>
                            <a:schemeClr val="accent3"/>
                          </a:solidFill>
                          <a:effectLst/>
                        </a:rPr>
                        <a:t>Strongly disagree</a:t>
                      </a:r>
                      <a:endParaRPr lang="en-US" sz="1600" b="1" i="0" u="none" strike="noStrike" dirty="0">
                        <a:solidFill>
                          <a:schemeClr val="accent3"/>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1600" b="1" u="none" strike="noStrike" dirty="0">
                          <a:solidFill>
                            <a:schemeClr val="accent3"/>
                          </a:solidFill>
                          <a:effectLst/>
                        </a:rPr>
                        <a:t>Disagree</a:t>
                      </a:r>
                      <a:endParaRPr lang="en-US" sz="1600" b="1" i="0" u="none" strike="noStrike" dirty="0">
                        <a:solidFill>
                          <a:schemeClr val="accent3"/>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1600" b="1" u="none" strike="noStrike" dirty="0">
                          <a:solidFill>
                            <a:schemeClr val="accent3"/>
                          </a:solidFill>
                          <a:effectLst/>
                        </a:rPr>
                        <a:t>Neutral </a:t>
                      </a:r>
                      <a:endParaRPr lang="en-US" sz="1600" b="1" i="0" u="none" strike="noStrike" dirty="0">
                        <a:solidFill>
                          <a:schemeClr val="accent3"/>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1600" b="1" u="none" strike="noStrike">
                          <a:solidFill>
                            <a:schemeClr val="accent3"/>
                          </a:solidFill>
                          <a:effectLst/>
                        </a:rPr>
                        <a:t>Agree</a:t>
                      </a:r>
                      <a:endParaRPr lang="en-US" sz="1600" b="1" i="0" u="none" strike="noStrike">
                        <a:solidFill>
                          <a:schemeClr val="accent3"/>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1600" b="1" u="none" strike="noStrike" dirty="0">
                          <a:solidFill>
                            <a:schemeClr val="accent3"/>
                          </a:solidFill>
                          <a:effectLst/>
                        </a:rPr>
                        <a:t>Strongly agree</a:t>
                      </a:r>
                      <a:endParaRPr lang="en-US" sz="1600" b="1" i="0" u="none" strike="noStrike" dirty="0">
                        <a:solidFill>
                          <a:schemeClr val="accent3"/>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627185772"/>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1. Employees need to be supervised closely, or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915287346"/>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they are not likely to do their work.</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583242247"/>
                  </a:ext>
                </a:extLst>
              </a:tr>
              <a:tr h="23755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05693051"/>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2. Employees want to be a part of the</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266119119"/>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decision-making process.</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306998674"/>
                  </a:ext>
                </a:extLst>
              </a:tr>
              <a:tr h="23755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401744949"/>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3. In complex situations, leaders should let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29802570"/>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subordinates work problems out on their own.</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320420499"/>
                  </a:ext>
                </a:extLst>
              </a:tr>
              <a:tr h="23755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737905321"/>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4. It is fair to say that most employees in the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975061667"/>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general population are lazy.</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141462749"/>
                  </a:ext>
                </a:extLst>
              </a:tr>
              <a:tr h="23755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979007058"/>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5. Providing guidance without pressure is the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727638151"/>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key to being a good leader.</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683551724"/>
                  </a:ext>
                </a:extLst>
              </a:tr>
              <a:tr h="23755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736241029"/>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6. Leadership requires staying out of the way of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441574279"/>
                  </a:ext>
                </a:extLst>
              </a:tr>
              <a:tr h="2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subordinates as they do their work.</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788425089"/>
                  </a:ext>
                </a:extLst>
              </a:tr>
            </a:tbl>
          </a:graphicData>
        </a:graphic>
      </p:graphicFrame>
    </p:spTree>
    <p:extLst>
      <p:ext uri="{BB962C8B-B14F-4D97-AF65-F5344CB8AC3E}">
        <p14:creationId xmlns:p14="http://schemas.microsoft.com/office/powerpoint/2010/main" val="375032830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057B54-42F3-4BD5-A82D-095CD36FCB68}"/>
              </a:ext>
            </a:extLst>
          </p:cNvPr>
          <p:cNvSpPr>
            <a:spLocks noGrp="1"/>
          </p:cNvSpPr>
          <p:nvPr>
            <p:ph type="ftr" sz="quarter" idx="11"/>
          </p:nvPr>
        </p:nvSpPr>
        <p:spPr/>
        <p:txBody>
          <a:bodyPr/>
          <a:lstStyle/>
          <a:p>
            <a:r>
              <a:rPr lang="en-US" dirty="0"/>
              <a:t>G.R. Labbé</a:t>
            </a:r>
          </a:p>
        </p:txBody>
      </p:sp>
      <p:sp>
        <p:nvSpPr>
          <p:cNvPr id="3" name="Slide Number Placeholder 2">
            <a:extLst>
              <a:ext uri="{FF2B5EF4-FFF2-40B4-BE49-F238E27FC236}">
                <a16:creationId xmlns:a16="http://schemas.microsoft.com/office/drawing/2014/main" id="{53AB45A4-39EF-44AA-9C24-C15E4E061106}"/>
              </a:ext>
            </a:extLst>
          </p:cNvPr>
          <p:cNvSpPr>
            <a:spLocks noGrp="1"/>
          </p:cNvSpPr>
          <p:nvPr>
            <p:ph type="sldNum" sz="quarter" idx="12"/>
          </p:nvPr>
        </p:nvSpPr>
        <p:spPr/>
        <p:txBody>
          <a:bodyPr/>
          <a:lstStyle/>
          <a:p>
            <a:fld id="{DC58D7EA-5236-4708-B764-7E8D1EAC2EFE}" type="slidenum">
              <a:rPr lang="en-US" smtClean="0"/>
              <a:t>31</a:t>
            </a:fld>
            <a:endParaRPr lang="en-US"/>
          </a:p>
        </p:txBody>
      </p:sp>
      <p:graphicFrame>
        <p:nvGraphicFramePr>
          <p:cNvPr id="4" name="Table 3">
            <a:extLst>
              <a:ext uri="{FF2B5EF4-FFF2-40B4-BE49-F238E27FC236}">
                <a16:creationId xmlns:a16="http://schemas.microsoft.com/office/drawing/2014/main" id="{8E582511-8393-4122-BFB2-B181C38BA617}"/>
              </a:ext>
            </a:extLst>
          </p:cNvPr>
          <p:cNvGraphicFramePr>
            <a:graphicFrameLocks noGrp="1"/>
          </p:cNvGraphicFramePr>
          <p:nvPr>
            <p:extLst>
              <p:ext uri="{D42A27DB-BD31-4B8C-83A1-F6EECF244321}">
                <p14:modId xmlns:p14="http://schemas.microsoft.com/office/powerpoint/2010/main" val="3558019357"/>
              </p:ext>
            </p:extLst>
          </p:nvPr>
        </p:nvGraphicFramePr>
        <p:xfrm>
          <a:off x="575556" y="1114665"/>
          <a:ext cx="7992887" cy="4628670"/>
        </p:xfrm>
        <a:graphic>
          <a:graphicData uri="http://schemas.openxmlformats.org/drawingml/2006/table">
            <a:tbl>
              <a:tblPr/>
              <a:tblGrid>
                <a:gridCol w="4493926">
                  <a:extLst>
                    <a:ext uri="{9D8B030D-6E8A-4147-A177-3AD203B41FA5}">
                      <a16:colId xmlns:a16="http://schemas.microsoft.com/office/drawing/2014/main" val="2046109826"/>
                    </a:ext>
                  </a:extLst>
                </a:gridCol>
                <a:gridCol w="746223">
                  <a:extLst>
                    <a:ext uri="{9D8B030D-6E8A-4147-A177-3AD203B41FA5}">
                      <a16:colId xmlns:a16="http://schemas.microsoft.com/office/drawing/2014/main" val="746354491"/>
                    </a:ext>
                  </a:extLst>
                </a:gridCol>
                <a:gridCol w="762807">
                  <a:extLst>
                    <a:ext uri="{9D8B030D-6E8A-4147-A177-3AD203B41FA5}">
                      <a16:colId xmlns:a16="http://schemas.microsoft.com/office/drawing/2014/main" val="2752956657"/>
                    </a:ext>
                  </a:extLst>
                </a:gridCol>
                <a:gridCol w="713059">
                  <a:extLst>
                    <a:ext uri="{9D8B030D-6E8A-4147-A177-3AD203B41FA5}">
                      <a16:colId xmlns:a16="http://schemas.microsoft.com/office/drawing/2014/main" val="638171172"/>
                    </a:ext>
                  </a:extLst>
                </a:gridCol>
                <a:gridCol w="547231">
                  <a:extLst>
                    <a:ext uri="{9D8B030D-6E8A-4147-A177-3AD203B41FA5}">
                      <a16:colId xmlns:a16="http://schemas.microsoft.com/office/drawing/2014/main" val="3211050465"/>
                    </a:ext>
                  </a:extLst>
                </a:gridCol>
                <a:gridCol w="729641">
                  <a:extLst>
                    <a:ext uri="{9D8B030D-6E8A-4147-A177-3AD203B41FA5}">
                      <a16:colId xmlns:a16="http://schemas.microsoft.com/office/drawing/2014/main" val="1285722413"/>
                    </a:ext>
                  </a:extLst>
                </a:gridCol>
              </a:tblGrid>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7. As a rule, employees must be given rewards </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5</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650368908"/>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or punishments in order to motivate them to </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70822445"/>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achieve organizational objectives.</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895557074"/>
                  </a:ext>
                </a:extLst>
              </a:tr>
              <a:tr h="2464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622090383"/>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8. Most workers want frequent and supportive </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422960572"/>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communication from their leaders.</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85030086"/>
                  </a:ext>
                </a:extLst>
              </a:tr>
              <a:tr h="2464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289558660"/>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9. As a rule, leaders should allow subordinates </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132294715"/>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to appraise their own work.</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259677314"/>
                  </a:ext>
                </a:extLst>
              </a:tr>
              <a:tr h="2464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069032272"/>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10. Most employees feel insecure about their </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4291274074"/>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work and need direction.</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230420173"/>
                  </a:ext>
                </a:extLst>
              </a:tr>
              <a:tr h="2464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4039575686"/>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11. Leaders need to help subordinates accept </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580756228"/>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responsibility for completing their work.</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4207162028"/>
                  </a:ext>
                </a:extLst>
              </a:tr>
              <a:tr h="2464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429687931"/>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12. Leaders should give subordinates complete </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561293421"/>
                  </a:ext>
                </a:extLst>
              </a:tr>
              <a:tr h="2586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freedom to solve problems on their own.</a:t>
                      </a:r>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287" marR="9287" marT="9287"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4141894265"/>
                  </a:ext>
                </a:extLst>
              </a:tr>
            </a:tbl>
          </a:graphicData>
        </a:graphic>
      </p:graphicFrame>
    </p:spTree>
    <p:extLst>
      <p:ext uri="{BB962C8B-B14F-4D97-AF65-F5344CB8AC3E}">
        <p14:creationId xmlns:p14="http://schemas.microsoft.com/office/powerpoint/2010/main" val="157847853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BC98988-9868-42AE-89CA-7BAA4EB7C897}"/>
              </a:ext>
            </a:extLst>
          </p:cNvPr>
          <p:cNvSpPr>
            <a:spLocks noGrp="1"/>
          </p:cNvSpPr>
          <p:nvPr>
            <p:ph type="ftr" sz="quarter" idx="11"/>
          </p:nvPr>
        </p:nvSpPr>
        <p:spPr/>
        <p:txBody>
          <a:bodyPr/>
          <a:lstStyle/>
          <a:p>
            <a:r>
              <a:rPr lang="en-US" dirty="0"/>
              <a:t>G.R. Labbé</a:t>
            </a:r>
          </a:p>
        </p:txBody>
      </p:sp>
      <p:sp>
        <p:nvSpPr>
          <p:cNvPr id="3" name="Slide Number Placeholder 2">
            <a:extLst>
              <a:ext uri="{FF2B5EF4-FFF2-40B4-BE49-F238E27FC236}">
                <a16:creationId xmlns:a16="http://schemas.microsoft.com/office/drawing/2014/main" id="{9239DF20-A555-42FA-B638-AC6EDF0E4E5F}"/>
              </a:ext>
            </a:extLst>
          </p:cNvPr>
          <p:cNvSpPr>
            <a:spLocks noGrp="1"/>
          </p:cNvSpPr>
          <p:nvPr>
            <p:ph type="sldNum" sz="quarter" idx="12"/>
          </p:nvPr>
        </p:nvSpPr>
        <p:spPr/>
        <p:txBody>
          <a:bodyPr/>
          <a:lstStyle/>
          <a:p>
            <a:fld id="{DC58D7EA-5236-4708-B764-7E8D1EAC2EFE}" type="slidenum">
              <a:rPr lang="en-US" smtClean="0"/>
              <a:t>32</a:t>
            </a:fld>
            <a:endParaRPr lang="en-US"/>
          </a:p>
        </p:txBody>
      </p:sp>
      <p:graphicFrame>
        <p:nvGraphicFramePr>
          <p:cNvPr id="4" name="Table 3">
            <a:extLst>
              <a:ext uri="{FF2B5EF4-FFF2-40B4-BE49-F238E27FC236}">
                <a16:creationId xmlns:a16="http://schemas.microsoft.com/office/drawing/2014/main" id="{943F8BA9-908B-4BAC-964E-73DA17A930A8}"/>
              </a:ext>
            </a:extLst>
          </p:cNvPr>
          <p:cNvGraphicFramePr>
            <a:graphicFrameLocks noGrp="1"/>
          </p:cNvGraphicFramePr>
          <p:nvPr>
            <p:extLst>
              <p:ext uri="{D42A27DB-BD31-4B8C-83A1-F6EECF244321}">
                <p14:modId xmlns:p14="http://schemas.microsoft.com/office/powerpoint/2010/main" val="4105782485"/>
              </p:ext>
            </p:extLst>
          </p:nvPr>
        </p:nvGraphicFramePr>
        <p:xfrm>
          <a:off x="431540" y="1180021"/>
          <a:ext cx="8280919" cy="4497957"/>
        </p:xfrm>
        <a:graphic>
          <a:graphicData uri="http://schemas.openxmlformats.org/drawingml/2006/table">
            <a:tbl>
              <a:tblPr/>
              <a:tblGrid>
                <a:gridCol w="4651341">
                  <a:extLst>
                    <a:ext uri="{9D8B030D-6E8A-4147-A177-3AD203B41FA5}">
                      <a16:colId xmlns:a16="http://schemas.microsoft.com/office/drawing/2014/main" val="276161720"/>
                    </a:ext>
                  </a:extLst>
                </a:gridCol>
                <a:gridCol w="774081">
                  <a:extLst>
                    <a:ext uri="{9D8B030D-6E8A-4147-A177-3AD203B41FA5}">
                      <a16:colId xmlns:a16="http://schemas.microsoft.com/office/drawing/2014/main" val="1260280298"/>
                    </a:ext>
                  </a:extLst>
                </a:gridCol>
                <a:gridCol w="791282">
                  <a:extLst>
                    <a:ext uri="{9D8B030D-6E8A-4147-A177-3AD203B41FA5}">
                      <a16:colId xmlns:a16="http://schemas.microsoft.com/office/drawing/2014/main" val="558091119"/>
                    </a:ext>
                  </a:extLst>
                </a:gridCol>
                <a:gridCol w="739677">
                  <a:extLst>
                    <a:ext uri="{9D8B030D-6E8A-4147-A177-3AD203B41FA5}">
                      <a16:colId xmlns:a16="http://schemas.microsoft.com/office/drawing/2014/main" val="1748020489"/>
                    </a:ext>
                  </a:extLst>
                </a:gridCol>
                <a:gridCol w="567659">
                  <a:extLst>
                    <a:ext uri="{9D8B030D-6E8A-4147-A177-3AD203B41FA5}">
                      <a16:colId xmlns:a16="http://schemas.microsoft.com/office/drawing/2014/main" val="676367125"/>
                    </a:ext>
                  </a:extLst>
                </a:gridCol>
                <a:gridCol w="756879">
                  <a:extLst>
                    <a:ext uri="{9D8B030D-6E8A-4147-A177-3AD203B41FA5}">
                      <a16:colId xmlns:a16="http://schemas.microsoft.com/office/drawing/2014/main" val="1041968179"/>
                    </a:ext>
                  </a:extLst>
                </a:gridCol>
              </a:tblGrid>
              <a:tr h="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13. The leader is the chief judge of the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663000559"/>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achievements of the members of the group</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612218851"/>
                  </a:ext>
                </a:extLst>
              </a:tr>
              <a:tr h="25041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402863691"/>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14. It is the leader’s job to help subordinates find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149305408"/>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their “passion.”</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962177995"/>
                  </a:ext>
                </a:extLst>
              </a:tr>
              <a:tr h="25041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92461535"/>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15. In most situations, workers prefer little input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4198768341"/>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from the leader.</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162106750"/>
                  </a:ext>
                </a:extLst>
              </a:tr>
              <a:tr h="25041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078030775"/>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16. Effective leaders give orders and clarify </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87565505"/>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procedures.</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877996468"/>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093731171"/>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17. People are basically competent and if given a </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66107801"/>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task will do a good job.</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666557540"/>
                  </a:ext>
                </a:extLst>
              </a:tr>
              <a:tr h="25041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2612535707"/>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a:effectLst/>
                        </a:rPr>
                        <a:t>18. In general, it is best to leave subordinates </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3536936448"/>
                  </a:ext>
                </a:extLst>
              </a:tr>
              <a:tr h="26926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r>
                        <a:rPr lang="en-US" sz="1600" u="none" strike="noStrike" dirty="0">
                          <a:effectLst/>
                        </a:rPr>
                        <a:t>alone.</a:t>
                      </a:r>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extLst>
                  <a:ext uri="{0D108BD9-81ED-4DB2-BD59-A6C34878D82A}">
                    <a16:rowId xmlns:a16="http://schemas.microsoft.com/office/drawing/2014/main" val="461295486"/>
                  </a:ext>
                </a:extLst>
              </a:tr>
            </a:tbl>
          </a:graphicData>
        </a:graphic>
      </p:graphicFrame>
    </p:spTree>
    <p:extLst>
      <p:ext uri="{BB962C8B-B14F-4D97-AF65-F5344CB8AC3E}">
        <p14:creationId xmlns:p14="http://schemas.microsoft.com/office/powerpoint/2010/main" val="27660669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B86226-79E6-45C3-9E7D-1FB07D613D6F}"/>
              </a:ext>
            </a:extLst>
          </p:cNvPr>
          <p:cNvSpPr>
            <a:spLocks noGrp="1"/>
          </p:cNvSpPr>
          <p:nvPr>
            <p:ph type="ftr" sz="quarter" idx="11"/>
          </p:nvPr>
        </p:nvSpPr>
        <p:spPr/>
        <p:txBody>
          <a:bodyPr/>
          <a:lstStyle/>
          <a:p>
            <a:r>
              <a:rPr lang="en-US" dirty="0"/>
              <a:t>G.R. Labbé</a:t>
            </a:r>
          </a:p>
        </p:txBody>
      </p:sp>
      <p:sp>
        <p:nvSpPr>
          <p:cNvPr id="3" name="Slide Number Placeholder 2">
            <a:extLst>
              <a:ext uri="{FF2B5EF4-FFF2-40B4-BE49-F238E27FC236}">
                <a16:creationId xmlns:a16="http://schemas.microsoft.com/office/drawing/2014/main" id="{6D3363C9-FA62-4377-8E34-856B71869986}"/>
              </a:ext>
            </a:extLst>
          </p:cNvPr>
          <p:cNvSpPr>
            <a:spLocks noGrp="1"/>
          </p:cNvSpPr>
          <p:nvPr>
            <p:ph type="sldNum" sz="quarter" idx="12"/>
          </p:nvPr>
        </p:nvSpPr>
        <p:spPr/>
        <p:txBody>
          <a:bodyPr/>
          <a:lstStyle/>
          <a:p>
            <a:fld id="{DC58D7EA-5236-4708-B764-7E8D1EAC2EFE}" type="slidenum">
              <a:rPr lang="en-US" smtClean="0"/>
              <a:t>33</a:t>
            </a:fld>
            <a:endParaRPr lang="en-US"/>
          </a:p>
        </p:txBody>
      </p:sp>
      <p:graphicFrame>
        <p:nvGraphicFramePr>
          <p:cNvPr id="4" name="Table 3">
            <a:extLst>
              <a:ext uri="{FF2B5EF4-FFF2-40B4-BE49-F238E27FC236}">
                <a16:creationId xmlns:a16="http://schemas.microsoft.com/office/drawing/2014/main" id="{0AB97F92-E7EE-4E7F-8599-8E8F33022A4F}"/>
              </a:ext>
            </a:extLst>
          </p:cNvPr>
          <p:cNvGraphicFramePr>
            <a:graphicFrameLocks noGrp="1"/>
          </p:cNvGraphicFramePr>
          <p:nvPr>
            <p:extLst>
              <p:ext uri="{D42A27DB-BD31-4B8C-83A1-F6EECF244321}">
                <p14:modId xmlns:p14="http://schemas.microsoft.com/office/powerpoint/2010/main" val="313295779"/>
              </p:ext>
            </p:extLst>
          </p:nvPr>
        </p:nvGraphicFramePr>
        <p:xfrm>
          <a:off x="251519" y="836712"/>
          <a:ext cx="8640961" cy="4518588"/>
        </p:xfrm>
        <a:graphic>
          <a:graphicData uri="http://schemas.openxmlformats.org/drawingml/2006/table">
            <a:tbl>
              <a:tblPr/>
              <a:tblGrid>
                <a:gridCol w="8640961">
                  <a:extLst>
                    <a:ext uri="{9D8B030D-6E8A-4147-A177-3AD203B41FA5}">
                      <a16:colId xmlns:a16="http://schemas.microsoft.com/office/drawing/2014/main" val="2718778045"/>
                    </a:ext>
                  </a:extLst>
                </a:gridCol>
              </a:tblGrid>
              <a:tr h="95077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7200" u="none" strike="noStrike" dirty="0">
                          <a:solidFill>
                            <a:schemeClr val="accent2"/>
                          </a:solidFill>
                          <a:effectLst/>
                        </a:rPr>
                        <a:t>Scoring</a:t>
                      </a:r>
                    </a:p>
                    <a:p>
                      <a:pPr algn="ctr" fontAlgn="b"/>
                      <a:endParaRPr lang="en-US" sz="2400" b="1"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41343463"/>
                  </a:ext>
                </a:extLst>
              </a:tr>
              <a:tr h="101534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2400" u="none" strike="noStrike" dirty="0">
                          <a:effectLst/>
                        </a:rPr>
                        <a:t>1. Sum the responses on items 1, 4, 7, 10, 13, and 16 </a:t>
                      </a:r>
                      <a:endParaRPr lang="en-US" sz="24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169117511"/>
                  </a:ext>
                </a:extLst>
              </a:tr>
              <a:tr h="101534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2400" u="none" strike="noStrike" dirty="0">
                          <a:effectLst/>
                        </a:rPr>
                        <a:t>2. Sum the responses on items 2, 5, 8, 11, 14, and 17 </a:t>
                      </a:r>
                      <a:endParaRPr lang="en-US" sz="24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1014452334"/>
                  </a:ext>
                </a:extLst>
              </a:tr>
              <a:tr h="101534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2400" u="none" strike="noStrike" dirty="0">
                          <a:effectLst/>
                        </a:rPr>
                        <a:t>3. Sum the responses on items 3, 6, 9, 12, 15, and 18 </a:t>
                      </a:r>
                      <a:endParaRPr lang="en-US" sz="2400" b="0"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1803489503"/>
                  </a:ext>
                </a:extLst>
              </a:tr>
            </a:tbl>
          </a:graphicData>
        </a:graphic>
      </p:graphicFrame>
    </p:spTree>
    <p:extLst>
      <p:ext uri="{BB962C8B-B14F-4D97-AF65-F5344CB8AC3E}">
        <p14:creationId xmlns:p14="http://schemas.microsoft.com/office/powerpoint/2010/main" val="421858684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B86226-79E6-45C3-9E7D-1FB07D613D6F}"/>
              </a:ext>
            </a:extLst>
          </p:cNvPr>
          <p:cNvSpPr>
            <a:spLocks noGrp="1"/>
          </p:cNvSpPr>
          <p:nvPr>
            <p:ph type="ftr" sz="quarter" idx="11"/>
          </p:nvPr>
        </p:nvSpPr>
        <p:spPr/>
        <p:txBody>
          <a:bodyPr/>
          <a:lstStyle/>
          <a:p>
            <a:r>
              <a:rPr lang="fr-FR" dirty="0"/>
              <a:t>G.R. </a:t>
            </a:r>
            <a:r>
              <a:rPr lang="fr-FR" dirty="0" err="1"/>
              <a:t>Labbé</a:t>
            </a:r>
            <a:r>
              <a:rPr lang="fr-FR" dirty="0"/>
              <a:t> - Lecture 4</a:t>
            </a:r>
            <a:endParaRPr lang="en-US" dirty="0"/>
          </a:p>
        </p:txBody>
      </p:sp>
      <p:sp>
        <p:nvSpPr>
          <p:cNvPr id="3" name="Slide Number Placeholder 2">
            <a:extLst>
              <a:ext uri="{FF2B5EF4-FFF2-40B4-BE49-F238E27FC236}">
                <a16:creationId xmlns:a16="http://schemas.microsoft.com/office/drawing/2014/main" id="{6D3363C9-FA62-4377-8E34-856B71869986}"/>
              </a:ext>
            </a:extLst>
          </p:cNvPr>
          <p:cNvSpPr>
            <a:spLocks noGrp="1"/>
          </p:cNvSpPr>
          <p:nvPr>
            <p:ph type="sldNum" sz="quarter" idx="12"/>
          </p:nvPr>
        </p:nvSpPr>
        <p:spPr/>
        <p:txBody>
          <a:bodyPr/>
          <a:lstStyle/>
          <a:p>
            <a:fld id="{DC58D7EA-5236-4708-B764-7E8D1EAC2EFE}" type="slidenum">
              <a:rPr lang="en-US" smtClean="0"/>
              <a:t>34</a:t>
            </a:fld>
            <a:endParaRPr lang="en-US"/>
          </a:p>
        </p:txBody>
      </p:sp>
      <p:graphicFrame>
        <p:nvGraphicFramePr>
          <p:cNvPr id="4" name="Table 3">
            <a:extLst>
              <a:ext uri="{FF2B5EF4-FFF2-40B4-BE49-F238E27FC236}">
                <a16:creationId xmlns:a16="http://schemas.microsoft.com/office/drawing/2014/main" id="{0AB97F92-E7EE-4E7F-8599-8E8F33022A4F}"/>
              </a:ext>
            </a:extLst>
          </p:cNvPr>
          <p:cNvGraphicFramePr>
            <a:graphicFrameLocks noGrp="1"/>
          </p:cNvGraphicFramePr>
          <p:nvPr/>
        </p:nvGraphicFramePr>
        <p:xfrm>
          <a:off x="251519" y="836712"/>
          <a:ext cx="8640961" cy="4518588"/>
        </p:xfrm>
        <a:graphic>
          <a:graphicData uri="http://schemas.openxmlformats.org/drawingml/2006/table">
            <a:tbl>
              <a:tblPr/>
              <a:tblGrid>
                <a:gridCol w="8640961">
                  <a:extLst>
                    <a:ext uri="{9D8B030D-6E8A-4147-A177-3AD203B41FA5}">
                      <a16:colId xmlns:a16="http://schemas.microsoft.com/office/drawing/2014/main" val="2718778045"/>
                    </a:ext>
                  </a:extLst>
                </a:gridCol>
              </a:tblGrid>
              <a:tr h="95077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7200" u="none" strike="noStrike" dirty="0">
                          <a:solidFill>
                            <a:schemeClr val="accent2"/>
                          </a:solidFill>
                          <a:effectLst/>
                        </a:rPr>
                        <a:t>Scoring</a:t>
                      </a:r>
                    </a:p>
                    <a:p>
                      <a:pPr algn="ctr" fontAlgn="b"/>
                      <a:endParaRPr lang="en-US" sz="2400" b="1" i="0" u="none" strike="noStrike" dirty="0">
                        <a:solidFill>
                          <a:srgbClr val="00000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41343463"/>
                  </a:ext>
                </a:extLst>
              </a:tr>
              <a:tr h="101534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2400" u="none" strike="noStrike" dirty="0">
                          <a:effectLst/>
                        </a:rPr>
                        <a:t>1. Sum the responses on items 1, 4, 7, 10, 13, and 16 </a:t>
                      </a:r>
                      <a:br>
                        <a:rPr lang="en-US" sz="2400" u="none" strike="noStrike" dirty="0">
                          <a:effectLst/>
                        </a:rPr>
                      </a:br>
                      <a:r>
                        <a:rPr lang="en-US" sz="2400" u="none" strike="noStrike" dirty="0">
                          <a:solidFill>
                            <a:srgbClr val="0070C0"/>
                          </a:solidFill>
                          <a:effectLst/>
                        </a:rPr>
                        <a:t>Command and Control Style</a:t>
                      </a:r>
                      <a:endParaRPr lang="en-US" sz="2400" b="0" i="0" u="none" strike="noStrike" dirty="0">
                        <a:solidFill>
                          <a:srgbClr val="0070C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169117511"/>
                  </a:ext>
                </a:extLst>
              </a:tr>
              <a:tr h="101534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2400" u="none" strike="noStrike" dirty="0">
                          <a:effectLst/>
                        </a:rPr>
                        <a:t>2. Sum the responses on items 2, 5, 8, 11, 14, and 17 </a:t>
                      </a:r>
                      <a:br>
                        <a:rPr lang="en-US" sz="2400" u="none" strike="noStrike" dirty="0">
                          <a:effectLst/>
                        </a:rPr>
                      </a:br>
                      <a:r>
                        <a:rPr lang="en-US" sz="2400" u="none" strike="noStrike" dirty="0">
                          <a:solidFill>
                            <a:srgbClr val="0070C0"/>
                          </a:solidFill>
                          <a:effectLst/>
                        </a:rPr>
                        <a:t>Democratic Management Style</a:t>
                      </a:r>
                      <a:endParaRPr lang="en-US" sz="2400" b="0" i="0" u="none" strike="noStrike" dirty="0">
                        <a:solidFill>
                          <a:srgbClr val="0070C0"/>
                        </a:solidFill>
                        <a:effectLst/>
                        <a:latin typeface="Calibri" panose="020F0502020204030204" pitchFamily="34" charset="0"/>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1014452334"/>
                  </a:ext>
                </a:extLst>
              </a:tr>
              <a:tr h="101534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b"/>
                      <a:r>
                        <a:rPr lang="en-US" sz="2400" u="none" strike="noStrike" dirty="0">
                          <a:effectLst/>
                        </a:rPr>
                        <a:t>3. Sum the responses on items 3, 6, 9, 12, 15, and 18 </a:t>
                      </a:r>
                    </a:p>
                    <a:p>
                      <a:pPr algn="ctr" fontAlgn="b"/>
                      <a:r>
                        <a:rPr lang="en-US" sz="2400" b="0" i="0" u="none" strike="noStrike" dirty="0">
                          <a:solidFill>
                            <a:srgbClr val="0070C0"/>
                          </a:solidFill>
                          <a:effectLst/>
                          <a:latin typeface="Calibri" panose="020F0502020204030204" pitchFamily="34" charset="0"/>
                        </a:rPr>
                        <a:t>Relating Management Style</a:t>
                      </a: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1803489503"/>
                  </a:ext>
                </a:extLst>
              </a:tr>
            </a:tbl>
          </a:graphicData>
        </a:graphic>
      </p:graphicFrame>
    </p:spTree>
    <p:extLst>
      <p:ext uri="{BB962C8B-B14F-4D97-AF65-F5344CB8AC3E}">
        <p14:creationId xmlns:p14="http://schemas.microsoft.com/office/powerpoint/2010/main" val="241446665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ChangeArrowheads="1"/>
          </p:cNvSpPr>
          <p:nvPr/>
        </p:nvSpPr>
        <p:spPr bwMode="auto">
          <a:xfrm>
            <a:off x="358534" y="940727"/>
            <a:ext cx="8426932" cy="5512609"/>
          </a:xfrm>
          <a:prstGeom prst="rect">
            <a:avLst/>
          </a:prstGeom>
          <a:noFill/>
          <a:ln w="9525">
            <a:noFill/>
            <a:miter lim="800000"/>
            <a:headEnd/>
            <a:tailEnd/>
          </a:ln>
        </p:spPr>
        <p:txBody>
          <a:bodyPr/>
          <a:lstStyle/>
          <a:p>
            <a:pPr>
              <a:spcBef>
                <a:spcPct val="20000"/>
              </a:spcBef>
            </a:pPr>
            <a:r>
              <a:rPr lang="en-US" sz="2000" b="0" dirty="0">
                <a:solidFill>
                  <a:srgbClr val="00B050"/>
                </a:solidFill>
              </a:rPr>
              <a:t>Emotional intelligence </a:t>
            </a:r>
            <a:r>
              <a:rPr lang="en-US" sz="2000" b="0" dirty="0"/>
              <a:t>is defined as the ability to understand and manage your own emotions, as well as recognize and influence the emotions of those around you.</a:t>
            </a:r>
          </a:p>
          <a:p>
            <a:pPr>
              <a:spcBef>
                <a:spcPct val="20000"/>
              </a:spcBef>
            </a:pPr>
            <a:endParaRPr lang="en-US" sz="2000" b="0" dirty="0"/>
          </a:p>
          <a:p>
            <a:pPr>
              <a:spcBef>
                <a:spcPct val="20000"/>
              </a:spcBef>
            </a:pPr>
            <a:r>
              <a:rPr lang="en-US" sz="2000" b="0" dirty="0"/>
              <a:t>“The most effective leaders are all alike in one crucial way: They all have a high degree of what has come to be known as </a:t>
            </a:r>
            <a:r>
              <a:rPr lang="en-US" sz="2000" dirty="0">
                <a:solidFill>
                  <a:srgbClr val="00B050"/>
                </a:solidFill>
              </a:rPr>
              <a:t>emotional intelligence</a:t>
            </a:r>
            <a:r>
              <a:rPr lang="en-US" sz="2000" b="0" dirty="0"/>
              <a:t>. It’s not that </a:t>
            </a:r>
            <a:r>
              <a:rPr lang="en-US" sz="2000" dirty="0">
                <a:solidFill>
                  <a:srgbClr val="7030A0"/>
                </a:solidFill>
              </a:rPr>
              <a:t>IQ</a:t>
            </a:r>
            <a:r>
              <a:rPr lang="en-US" sz="2000" b="0" dirty="0"/>
              <a:t> and </a:t>
            </a:r>
            <a:r>
              <a:rPr lang="en-US" sz="2000" dirty="0">
                <a:solidFill>
                  <a:srgbClr val="7030A0"/>
                </a:solidFill>
              </a:rPr>
              <a:t>technical skills </a:t>
            </a:r>
            <a:r>
              <a:rPr lang="en-US" sz="2000" b="0" dirty="0"/>
              <a:t>are irrelevant. They do matter, but...they are the entry-level requirements for executive positions.” </a:t>
            </a:r>
            <a:r>
              <a:rPr lang="en-US" sz="2000" dirty="0"/>
              <a:t>-Daniel Goleman</a:t>
            </a:r>
          </a:p>
          <a:p>
            <a:pPr>
              <a:spcBef>
                <a:spcPct val="20000"/>
              </a:spcBef>
            </a:pPr>
            <a:r>
              <a:rPr lang="en-US" sz="2000" b="0" dirty="0"/>
              <a:t>The key components of emotional intelligence are</a:t>
            </a:r>
          </a:p>
          <a:p>
            <a:pPr>
              <a:spcBef>
                <a:spcPct val="20000"/>
              </a:spcBef>
            </a:pPr>
            <a:endParaRPr lang="en-US" sz="2000" b="0" dirty="0"/>
          </a:p>
          <a:p>
            <a:pPr marL="342900" indent="-342900">
              <a:spcBef>
                <a:spcPct val="20000"/>
              </a:spcBef>
              <a:buFontTx/>
              <a:buChar char="•"/>
            </a:pPr>
            <a:r>
              <a:rPr lang="en-US" sz="2000" b="0" dirty="0"/>
              <a:t>Self Awareness</a:t>
            </a:r>
          </a:p>
          <a:p>
            <a:pPr marL="342900" indent="-342900">
              <a:spcBef>
                <a:spcPct val="20000"/>
              </a:spcBef>
              <a:buFontTx/>
              <a:buChar char="•"/>
            </a:pPr>
            <a:r>
              <a:rPr lang="en-US" sz="2000" b="0" dirty="0"/>
              <a:t>Self Regulation</a:t>
            </a:r>
          </a:p>
          <a:p>
            <a:pPr marL="342900" indent="-342900">
              <a:spcBef>
                <a:spcPct val="20000"/>
              </a:spcBef>
              <a:buFontTx/>
              <a:buChar char="•"/>
            </a:pPr>
            <a:r>
              <a:rPr lang="en-US" sz="2000" b="0" dirty="0"/>
              <a:t>Motivation</a:t>
            </a:r>
          </a:p>
          <a:p>
            <a:pPr marL="342900" indent="-342900">
              <a:spcBef>
                <a:spcPct val="20000"/>
              </a:spcBef>
              <a:buFontTx/>
              <a:buChar char="•"/>
            </a:pPr>
            <a:r>
              <a:rPr lang="en-US" sz="2000" b="0" dirty="0"/>
              <a:t>Empathy</a:t>
            </a:r>
          </a:p>
          <a:p>
            <a:pPr marL="342900" indent="-342900">
              <a:spcBef>
                <a:spcPct val="20000"/>
              </a:spcBef>
              <a:buFontTx/>
              <a:buChar char="•"/>
            </a:pPr>
            <a:r>
              <a:rPr lang="en-US" sz="2000" b="0" dirty="0"/>
              <a:t>Social Skills</a:t>
            </a:r>
          </a:p>
        </p:txBody>
      </p:sp>
      <p:sp>
        <p:nvSpPr>
          <p:cNvPr id="5" name="Title 1"/>
          <p:cNvSpPr txBox="1">
            <a:spLocks/>
          </p:cNvSpPr>
          <p:nvPr/>
        </p:nvSpPr>
        <p:spPr>
          <a:xfrm>
            <a:off x="542925" y="204688"/>
            <a:ext cx="8058149" cy="562074"/>
          </a:xfrm>
          <a:prstGeom prst="rect">
            <a:avLst/>
          </a:prstGeom>
        </p:spPr>
        <p:txBody>
          <a:bodyPr>
            <a:no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algn="ctr" fontAlgn="auto">
              <a:spcAft>
                <a:spcPts val="0"/>
              </a:spcAft>
            </a:pPr>
            <a:r>
              <a:rPr lang="en-CA" sz="3600" b="1" dirty="0">
                <a:solidFill>
                  <a:schemeClr val="tx1"/>
                </a:solidFill>
                <a:effectLst/>
                <a:latin typeface="+mn-lt"/>
              </a:rPr>
              <a:t>Leadership and </a:t>
            </a:r>
            <a:r>
              <a:rPr lang="en-CA" sz="3600" b="1" dirty="0">
                <a:solidFill>
                  <a:srgbClr val="00B050"/>
                </a:solidFill>
                <a:effectLst/>
                <a:latin typeface="+mn-lt"/>
              </a:rPr>
              <a:t>Emotional Intelligence</a:t>
            </a:r>
          </a:p>
        </p:txBody>
      </p:sp>
      <p:sp>
        <p:nvSpPr>
          <p:cNvPr id="6"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2" name="Footer Placeholder 1"/>
          <p:cNvSpPr>
            <a:spLocks noGrp="1"/>
          </p:cNvSpPr>
          <p:nvPr>
            <p:ph type="ftr" sz="quarter" idx="11"/>
          </p:nvPr>
        </p:nvSpPr>
        <p:spPr>
          <a:xfrm>
            <a:off x="899592" y="6390005"/>
            <a:ext cx="3086100" cy="365125"/>
          </a:xfrm>
        </p:spPr>
        <p:txBody>
          <a:bodyPr/>
          <a:lstStyle/>
          <a:p>
            <a:pPr algn="l"/>
            <a:r>
              <a:rPr lang="fr-FR" dirty="0"/>
              <a:t>G.R. </a:t>
            </a:r>
            <a:r>
              <a:rPr lang="fr-FR" dirty="0" err="1"/>
              <a:t>Labbé</a:t>
            </a:r>
            <a:r>
              <a:rPr lang="fr-FR" dirty="0"/>
              <a:t> - Lecture 4</a:t>
            </a:r>
            <a:endParaRPr lang="en-US" dirty="0"/>
          </a:p>
        </p:txBody>
      </p:sp>
      <p:sp>
        <p:nvSpPr>
          <p:cNvPr id="3" name="Slide Number Placeholder 2"/>
          <p:cNvSpPr>
            <a:spLocks noGrp="1"/>
          </p:cNvSpPr>
          <p:nvPr>
            <p:ph type="sldNum" sz="quarter" idx="12"/>
          </p:nvPr>
        </p:nvSpPr>
        <p:spPr/>
        <p:txBody>
          <a:bodyPr/>
          <a:lstStyle/>
          <a:p>
            <a:fld id="{DC58D7EA-5236-4708-B764-7E8D1EAC2EFE}" type="slidenum">
              <a:rPr lang="en-US" smtClean="0"/>
              <a:t>35</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31">
                                            <p:txEl>
                                              <p:pRg st="2" end="2"/>
                                            </p:txEl>
                                          </p:spTgt>
                                        </p:tgtEl>
                                        <p:attrNameLst>
                                          <p:attrName>style.visibility</p:attrName>
                                        </p:attrNameLst>
                                      </p:cBhvr>
                                      <p:to>
                                        <p:strVal val="visible"/>
                                      </p:to>
                                    </p:set>
                                    <p:anim calcmode="lin" valueType="num">
                                      <p:cBhvr additive="base">
                                        <p:cTn id="13"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531">
                                            <p:txEl>
                                              <p:pRg st="3" end="3"/>
                                            </p:txEl>
                                          </p:spTgt>
                                        </p:tgtEl>
                                        <p:attrNameLst>
                                          <p:attrName>style.visibility</p:attrName>
                                        </p:attrNameLst>
                                      </p:cBhvr>
                                      <p:to>
                                        <p:strVal val="visible"/>
                                      </p:to>
                                    </p:set>
                                    <p:anim calcmode="lin" valueType="num">
                                      <p:cBhvr additive="base">
                                        <p:cTn id="19"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531">
                                            <p:txEl>
                                              <p:pRg st="5" end="5"/>
                                            </p:txEl>
                                          </p:spTgt>
                                        </p:tgtEl>
                                        <p:attrNameLst>
                                          <p:attrName>style.visibility</p:attrName>
                                        </p:attrNameLst>
                                      </p:cBhvr>
                                      <p:to>
                                        <p:strVal val="visible"/>
                                      </p:to>
                                    </p:set>
                                    <p:anim calcmode="lin" valueType="num">
                                      <p:cBhvr additive="base">
                                        <p:cTn id="25" dur="5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531">
                                            <p:txEl>
                                              <p:pRg st="6" end="6"/>
                                            </p:txEl>
                                          </p:spTgt>
                                        </p:tgtEl>
                                        <p:attrNameLst>
                                          <p:attrName>style.visibility</p:attrName>
                                        </p:attrNameLst>
                                      </p:cBhvr>
                                      <p:to>
                                        <p:strVal val="visible"/>
                                      </p:to>
                                    </p:set>
                                    <p:anim calcmode="lin" valueType="num">
                                      <p:cBhvr additive="base">
                                        <p:cTn id="31" dur="500" fill="hold"/>
                                        <p:tgtEl>
                                          <p:spTgt spid="2253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2531">
                                            <p:txEl>
                                              <p:pRg st="7" end="7"/>
                                            </p:txEl>
                                          </p:spTgt>
                                        </p:tgtEl>
                                        <p:attrNameLst>
                                          <p:attrName>style.visibility</p:attrName>
                                        </p:attrNameLst>
                                      </p:cBhvr>
                                      <p:to>
                                        <p:strVal val="visible"/>
                                      </p:to>
                                    </p:set>
                                    <p:anim calcmode="lin" valueType="num">
                                      <p:cBhvr additive="base">
                                        <p:cTn id="37" dur="500" fill="hold"/>
                                        <p:tgtEl>
                                          <p:spTgt spid="2253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53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2531">
                                            <p:txEl>
                                              <p:pRg st="8" end="8"/>
                                            </p:txEl>
                                          </p:spTgt>
                                        </p:tgtEl>
                                        <p:attrNameLst>
                                          <p:attrName>style.visibility</p:attrName>
                                        </p:attrNameLst>
                                      </p:cBhvr>
                                      <p:to>
                                        <p:strVal val="visible"/>
                                      </p:to>
                                    </p:set>
                                    <p:anim calcmode="lin" valueType="num">
                                      <p:cBhvr additive="base">
                                        <p:cTn id="43" dur="500" fill="hold"/>
                                        <p:tgtEl>
                                          <p:spTgt spid="22531">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253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531">
                                            <p:txEl>
                                              <p:pRg st="9" end="9"/>
                                            </p:txEl>
                                          </p:spTgt>
                                        </p:tgtEl>
                                        <p:attrNameLst>
                                          <p:attrName>style.visibility</p:attrName>
                                        </p:attrNameLst>
                                      </p:cBhvr>
                                      <p:to>
                                        <p:strVal val="visible"/>
                                      </p:to>
                                    </p:set>
                                    <p:anim calcmode="lin" valueType="num">
                                      <p:cBhvr additive="base">
                                        <p:cTn id="49" dur="500" fill="hold"/>
                                        <p:tgtEl>
                                          <p:spTgt spid="22531">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253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ChangeArrowheads="1"/>
          </p:cNvSpPr>
          <p:nvPr/>
        </p:nvSpPr>
        <p:spPr bwMode="auto">
          <a:xfrm>
            <a:off x="358534" y="940727"/>
            <a:ext cx="8426932" cy="5512609"/>
          </a:xfrm>
          <a:prstGeom prst="rect">
            <a:avLst/>
          </a:prstGeom>
          <a:noFill/>
          <a:ln w="9525">
            <a:noFill/>
            <a:miter lim="800000"/>
            <a:headEnd/>
            <a:tailEnd/>
          </a:ln>
        </p:spPr>
        <p:txBody>
          <a:bodyPr/>
          <a:lstStyle/>
          <a:p>
            <a:pPr marL="342900" indent="-342900">
              <a:spcBef>
                <a:spcPct val="20000"/>
              </a:spcBef>
              <a:buFontTx/>
              <a:buChar char="•"/>
            </a:pPr>
            <a:r>
              <a:rPr lang="en-US" dirty="0"/>
              <a:t>Self Awareness</a:t>
            </a:r>
            <a:r>
              <a:rPr lang="en-US" b="0" dirty="0"/>
              <a:t> </a:t>
            </a:r>
          </a:p>
          <a:p>
            <a:pPr marL="800100" lvl="1" indent="-342900">
              <a:spcBef>
                <a:spcPct val="20000"/>
              </a:spcBef>
              <a:buFontTx/>
              <a:buChar char="•"/>
            </a:pPr>
            <a:r>
              <a:rPr lang="en-US" b="0" dirty="0"/>
              <a:t>Implies having a deep understanding of </a:t>
            </a:r>
            <a:r>
              <a:rPr lang="en-US" b="0" dirty="0">
                <a:solidFill>
                  <a:srgbClr val="00B050"/>
                </a:solidFill>
              </a:rPr>
              <a:t>one's own strengths</a:t>
            </a:r>
            <a:r>
              <a:rPr lang="en-US" b="0" dirty="0"/>
              <a:t>, weaknesses, ego needs, drives, and motives.  Have a clear perspective of oneself.</a:t>
            </a:r>
          </a:p>
          <a:p>
            <a:pPr marL="342900" indent="-342900">
              <a:spcBef>
                <a:spcPct val="20000"/>
              </a:spcBef>
              <a:buFontTx/>
              <a:buChar char="•"/>
            </a:pPr>
            <a:r>
              <a:rPr lang="en-US" dirty="0"/>
              <a:t>Self Regulation</a:t>
            </a:r>
            <a:r>
              <a:rPr lang="en-US" b="0" dirty="0"/>
              <a:t> </a:t>
            </a:r>
          </a:p>
          <a:p>
            <a:pPr marL="800100" lvl="1" indent="-342900">
              <a:spcBef>
                <a:spcPct val="20000"/>
              </a:spcBef>
              <a:buFontTx/>
              <a:buChar char="•"/>
            </a:pPr>
            <a:r>
              <a:rPr lang="en-US" b="0" dirty="0"/>
              <a:t>A key ability in successful leaders is their ability to keep themselves </a:t>
            </a:r>
            <a:r>
              <a:rPr lang="en-US" b="0" dirty="0">
                <a:solidFill>
                  <a:srgbClr val="00B050"/>
                </a:solidFill>
              </a:rPr>
              <a:t>under control</a:t>
            </a:r>
            <a:r>
              <a:rPr lang="en-US" b="0" dirty="0"/>
              <a:t>.  Think before you act.</a:t>
            </a:r>
          </a:p>
          <a:p>
            <a:pPr marL="342900" indent="-342900">
              <a:spcBef>
                <a:spcPct val="20000"/>
              </a:spcBef>
              <a:buFontTx/>
              <a:buChar char="•"/>
            </a:pPr>
            <a:r>
              <a:rPr lang="en-US" dirty="0"/>
              <a:t>Motivation</a:t>
            </a:r>
            <a:r>
              <a:rPr lang="en-US" b="0" dirty="0"/>
              <a:t> </a:t>
            </a:r>
          </a:p>
          <a:p>
            <a:pPr marL="800100" lvl="1" indent="-342900">
              <a:spcBef>
                <a:spcPct val="20000"/>
              </a:spcBef>
              <a:buFontTx/>
              <a:buChar char="•"/>
            </a:pPr>
            <a:r>
              <a:rPr lang="en-US" b="0" dirty="0"/>
              <a:t>Effective project leaders are consistently </a:t>
            </a:r>
            <a:r>
              <a:rPr lang="en-US" b="0" dirty="0">
                <a:solidFill>
                  <a:srgbClr val="00B050"/>
                </a:solidFill>
              </a:rPr>
              <a:t>highly motivated individuals</a:t>
            </a:r>
            <a:r>
              <a:rPr lang="en-US" b="0" dirty="0"/>
              <a:t>.  They are driven to achieve their maximum potential and they recognize that in order to be successful, they must also work with members of the project team to generate the maximum performance from each of them.</a:t>
            </a:r>
          </a:p>
          <a:p>
            <a:pPr marL="342900" indent="-342900">
              <a:spcBef>
                <a:spcPct val="20000"/>
              </a:spcBef>
              <a:buFontTx/>
              <a:buChar char="•"/>
            </a:pPr>
            <a:r>
              <a:rPr lang="en-US" dirty="0"/>
              <a:t>Empathy </a:t>
            </a:r>
          </a:p>
          <a:p>
            <a:pPr marL="800100" lvl="1" indent="-342900">
              <a:spcBef>
                <a:spcPct val="20000"/>
              </a:spcBef>
              <a:buFontTx/>
              <a:buChar char="•"/>
            </a:pPr>
            <a:r>
              <a:rPr lang="en-US" b="0" dirty="0"/>
              <a:t>A strong leader must </a:t>
            </a:r>
            <a:r>
              <a:rPr lang="en-US" b="0" dirty="0">
                <a:solidFill>
                  <a:srgbClr val="00B050"/>
                </a:solidFill>
              </a:rPr>
              <a:t>show willingness to consider </a:t>
            </a:r>
            <a:r>
              <a:rPr lang="en-US" b="0" dirty="0"/>
              <a:t>other team member's feelings in the process of making an informed decision.</a:t>
            </a:r>
          </a:p>
          <a:p>
            <a:pPr marL="342900" indent="-342900">
              <a:spcBef>
                <a:spcPct val="20000"/>
              </a:spcBef>
              <a:buFontTx/>
              <a:buChar char="•"/>
            </a:pPr>
            <a:r>
              <a:rPr lang="en-US" dirty="0"/>
              <a:t>Social Skill</a:t>
            </a:r>
            <a:r>
              <a:rPr lang="en-US" b="0" dirty="0"/>
              <a:t>  </a:t>
            </a:r>
          </a:p>
          <a:p>
            <a:pPr marL="800100" lvl="1" indent="-342900">
              <a:spcBef>
                <a:spcPct val="20000"/>
              </a:spcBef>
              <a:buFontTx/>
              <a:buChar char="•"/>
            </a:pPr>
            <a:r>
              <a:rPr lang="en-US" b="0" dirty="0"/>
              <a:t>A strong leader can </a:t>
            </a:r>
            <a:r>
              <a:rPr lang="en-US" b="0" dirty="0">
                <a:solidFill>
                  <a:srgbClr val="00B050"/>
                </a:solidFill>
              </a:rPr>
              <a:t>manage relationships </a:t>
            </a:r>
            <a:r>
              <a:rPr lang="en-US" b="0" dirty="0"/>
              <a:t>with purpose.</a:t>
            </a:r>
          </a:p>
        </p:txBody>
      </p:sp>
      <p:sp>
        <p:nvSpPr>
          <p:cNvPr id="5" name="Title 1"/>
          <p:cNvSpPr txBox="1">
            <a:spLocks/>
          </p:cNvSpPr>
          <p:nvPr/>
        </p:nvSpPr>
        <p:spPr>
          <a:xfrm>
            <a:off x="542925" y="204688"/>
            <a:ext cx="8058149" cy="562074"/>
          </a:xfrm>
          <a:prstGeom prst="rect">
            <a:avLst/>
          </a:prstGeom>
        </p:spPr>
        <p:txBody>
          <a:bodyPr>
            <a:noAutofit/>
          </a:bodyPr>
          <a:lst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a:lstStyle>
          <a:p>
            <a:pPr algn="ctr" fontAlgn="auto">
              <a:spcAft>
                <a:spcPts val="0"/>
              </a:spcAft>
            </a:pPr>
            <a:r>
              <a:rPr lang="en-CA" sz="3600" b="1" dirty="0">
                <a:solidFill>
                  <a:schemeClr val="tx1"/>
                </a:solidFill>
                <a:effectLst/>
                <a:latin typeface="+mn-lt"/>
              </a:rPr>
              <a:t>Leadership and </a:t>
            </a:r>
            <a:r>
              <a:rPr lang="en-CA" sz="3600" b="1" dirty="0">
                <a:solidFill>
                  <a:srgbClr val="00B050"/>
                </a:solidFill>
                <a:effectLst/>
                <a:latin typeface="+mn-lt"/>
              </a:rPr>
              <a:t>Emotional Intelligence</a:t>
            </a:r>
          </a:p>
        </p:txBody>
      </p:sp>
      <p:sp>
        <p:nvSpPr>
          <p:cNvPr id="6" name="Oval 142"/>
          <p:cNvSpPr>
            <a:spLocks noChangeArrowheads="1"/>
          </p:cNvSpPr>
          <p:nvPr/>
        </p:nvSpPr>
        <p:spPr bwMode="auto">
          <a:xfrm>
            <a:off x="96839" y="6390005"/>
            <a:ext cx="360362" cy="318770"/>
          </a:xfrm>
          <a:prstGeom prst="ellipse">
            <a:avLst/>
          </a:prstGeom>
          <a:solidFill>
            <a:srgbClr val="FF0000"/>
          </a:solidFill>
          <a:ln w="9525">
            <a:solidFill>
              <a:schemeClr val="tx1"/>
            </a:solidFill>
            <a:round/>
            <a:headEnd/>
            <a:tailEnd/>
          </a:ln>
        </p:spPr>
        <p:txBody>
          <a:bodyPr wrap="none" anchor="ctr"/>
          <a:lstStyle/>
          <a:p>
            <a:endParaRPr lang="en-CA"/>
          </a:p>
        </p:txBody>
      </p:sp>
      <p:sp>
        <p:nvSpPr>
          <p:cNvPr id="2" name="Footer Placeholder 1"/>
          <p:cNvSpPr>
            <a:spLocks noGrp="1"/>
          </p:cNvSpPr>
          <p:nvPr>
            <p:ph type="ftr" sz="quarter" idx="11"/>
          </p:nvPr>
        </p:nvSpPr>
        <p:spPr>
          <a:xfrm>
            <a:off x="899592" y="6390005"/>
            <a:ext cx="3086100" cy="365125"/>
          </a:xfrm>
        </p:spPr>
        <p:txBody>
          <a:bodyPr/>
          <a:lstStyle/>
          <a:p>
            <a:pPr algn="l"/>
            <a:r>
              <a:rPr lang="fr-FR" dirty="0"/>
              <a:t>G.R. </a:t>
            </a:r>
            <a:r>
              <a:rPr lang="fr-FR" dirty="0" err="1"/>
              <a:t>Labbé</a:t>
            </a:r>
            <a:r>
              <a:rPr lang="fr-FR" dirty="0"/>
              <a:t> – Lecture 4</a:t>
            </a:r>
            <a:endParaRPr lang="en-US" dirty="0"/>
          </a:p>
        </p:txBody>
      </p:sp>
      <p:sp>
        <p:nvSpPr>
          <p:cNvPr id="3" name="Slide Number Placeholder 2"/>
          <p:cNvSpPr>
            <a:spLocks noGrp="1"/>
          </p:cNvSpPr>
          <p:nvPr>
            <p:ph type="sldNum" sz="quarter" idx="12"/>
          </p:nvPr>
        </p:nvSpPr>
        <p:spPr/>
        <p:txBody>
          <a:bodyPr/>
          <a:lstStyle/>
          <a:p>
            <a:fld id="{DC58D7EA-5236-4708-B764-7E8D1EAC2EFE}" type="slidenum">
              <a:rPr lang="en-US" smtClean="0"/>
              <a:t>36</a:t>
            </a:fld>
            <a:endParaRPr lang="en-US"/>
          </a:p>
        </p:txBody>
      </p:sp>
    </p:spTree>
    <p:extLst>
      <p:ext uri="{BB962C8B-B14F-4D97-AF65-F5344CB8AC3E}">
        <p14:creationId xmlns:p14="http://schemas.microsoft.com/office/powerpoint/2010/main" val="2533584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 calcmode="lin" valueType="num">
                                      <p:cBhvr additive="base">
                                        <p:cTn id="25" dur="500" fill="hold"/>
                                        <p:tgtEl>
                                          <p:spTgt spid="2253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25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531">
                                            <p:txEl>
                                              <p:pRg st="4" end="4"/>
                                            </p:txEl>
                                          </p:spTgt>
                                        </p:tgtEl>
                                        <p:attrNameLst>
                                          <p:attrName>style.visibility</p:attrName>
                                        </p:attrNameLst>
                                      </p:cBhvr>
                                      <p:to>
                                        <p:strVal val="visible"/>
                                      </p:to>
                                    </p:set>
                                    <p:anim calcmode="lin" valueType="num">
                                      <p:cBhvr additive="base">
                                        <p:cTn id="31" dur="5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22531">
                                            <p:txEl>
                                              <p:pRg st="5" end="5"/>
                                            </p:txEl>
                                          </p:spTgt>
                                        </p:tgtEl>
                                        <p:attrNameLst>
                                          <p:attrName>style.visibility</p:attrName>
                                        </p:attrNameLst>
                                      </p:cBhvr>
                                      <p:to>
                                        <p:strVal val="visible"/>
                                      </p:to>
                                    </p:set>
                                    <p:anim calcmode="lin" valueType="num">
                                      <p:cBhvr additive="base">
                                        <p:cTn id="37" dur="500" fill="hold"/>
                                        <p:tgtEl>
                                          <p:spTgt spid="2253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25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2531">
                                            <p:txEl>
                                              <p:pRg st="6" end="6"/>
                                            </p:txEl>
                                          </p:spTgt>
                                        </p:tgtEl>
                                        <p:attrNameLst>
                                          <p:attrName>style.visibility</p:attrName>
                                        </p:attrNameLst>
                                      </p:cBhvr>
                                      <p:to>
                                        <p:strVal val="visible"/>
                                      </p:to>
                                    </p:set>
                                    <p:anim calcmode="lin" valueType="num">
                                      <p:cBhvr additive="base">
                                        <p:cTn id="43" dur="500" fill="hold"/>
                                        <p:tgtEl>
                                          <p:spTgt spid="2253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253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22531">
                                            <p:txEl>
                                              <p:pRg st="7" end="7"/>
                                            </p:txEl>
                                          </p:spTgt>
                                        </p:tgtEl>
                                        <p:attrNameLst>
                                          <p:attrName>style.visibility</p:attrName>
                                        </p:attrNameLst>
                                      </p:cBhvr>
                                      <p:to>
                                        <p:strVal val="visible"/>
                                      </p:to>
                                    </p:set>
                                    <p:anim calcmode="lin" valueType="num">
                                      <p:cBhvr additive="base">
                                        <p:cTn id="49" dur="500" fill="hold"/>
                                        <p:tgtEl>
                                          <p:spTgt spid="22531">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2253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2531">
                                            <p:txEl>
                                              <p:pRg st="8" end="8"/>
                                            </p:txEl>
                                          </p:spTgt>
                                        </p:tgtEl>
                                        <p:attrNameLst>
                                          <p:attrName>style.visibility</p:attrName>
                                        </p:attrNameLst>
                                      </p:cBhvr>
                                      <p:to>
                                        <p:strVal val="visible"/>
                                      </p:to>
                                    </p:set>
                                    <p:anim calcmode="lin" valueType="num">
                                      <p:cBhvr additive="base">
                                        <p:cTn id="55" dur="500" fill="hold"/>
                                        <p:tgtEl>
                                          <p:spTgt spid="22531">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253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22531">
                                            <p:txEl>
                                              <p:pRg st="9" end="9"/>
                                            </p:txEl>
                                          </p:spTgt>
                                        </p:tgtEl>
                                        <p:attrNameLst>
                                          <p:attrName>style.visibility</p:attrName>
                                        </p:attrNameLst>
                                      </p:cBhvr>
                                      <p:to>
                                        <p:strVal val="visible"/>
                                      </p:to>
                                    </p:set>
                                    <p:anim calcmode="lin" valueType="num">
                                      <p:cBhvr additive="base">
                                        <p:cTn id="61" dur="500" fill="hold"/>
                                        <p:tgtEl>
                                          <p:spTgt spid="22531">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22531">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5-00353_Cumbre Ejecutiva OEM Latinoamérica">
  <a:themeElements>
    <a:clrScheme name="5-00535_Cumbre Ejecutiva OEM Latinoamérica">
      <a:dk1>
        <a:sysClr val="windowText" lastClr="000000"/>
      </a:dk1>
      <a:lt1>
        <a:sysClr val="window" lastClr="FFFFFF"/>
      </a:lt1>
      <a:dk2>
        <a:srgbClr val="424456"/>
      </a:dk2>
      <a:lt2>
        <a:srgbClr val="DEDEDE"/>
      </a:lt2>
      <a:accent1>
        <a:srgbClr val="16B3D5"/>
      </a:accent1>
      <a:accent2>
        <a:srgbClr val="C4652D"/>
      </a:accent2>
      <a:accent3>
        <a:srgbClr val="13D989"/>
      </a:accent3>
      <a:accent4>
        <a:srgbClr val="FFCC00"/>
      </a:accent4>
      <a:accent5>
        <a:srgbClr val="2868F8"/>
      </a:accent5>
      <a:accent6>
        <a:srgbClr val="A04DA3"/>
      </a:accent6>
      <a:hlink>
        <a:srgbClr val="FFFF00"/>
      </a:hlink>
      <a:folHlink>
        <a:srgbClr val="C2A87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400" dirty="0" smtClean="0">
            <a:solidFill>
              <a:srgbClr val="FFFFFF"/>
            </a:solidFill>
            <a:effectLst>
              <a:outerShdw blurRad="38100" dist="38100" dir="2700000" algn="tl">
                <a:srgbClr val="000000">
                  <a:alpha val="43137"/>
                </a:srgbClr>
              </a:outerShdw>
            </a:effectLst>
            <a:latin typeface="Trebuchet MS" pitchFamily="34" charset="0"/>
          </a:defRPr>
        </a:defPPr>
      </a:lstStyle>
      <a:style>
        <a:lnRef idx="0">
          <a:schemeClr val="accent2"/>
        </a:lnRef>
        <a:fillRef idx="3">
          <a:schemeClr val="accent2"/>
        </a:fillRef>
        <a:effectRef idx="3">
          <a:schemeClr val="accent2"/>
        </a:effectRef>
        <a:fontRef idx="minor">
          <a:schemeClr val="lt1"/>
        </a:fontRef>
      </a:style>
    </a:spDef>
    <a:txDef>
      <a:spPr>
        <a:noFill/>
      </a:spPr>
      <a:bodyPr wrap="none" rtlCol="0">
        <a:spAutoFit/>
      </a:bodyPr>
      <a:lstStyle>
        <a:defPPr>
          <a:defRPr dirty="0" err="1" smtClean="0">
            <a:effectLst>
              <a:outerShdw blurRad="38100" dist="38100" dir="2700000" algn="tl">
                <a:srgbClr val="000000">
                  <a:alpha val="43137"/>
                </a:srgbClr>
              </a:outerShdw>
            </a:effectLs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7755</TotalTime>
  <Words>2930</Words>
  <Application>Microsoft Office PowerPoint</Application>
  <PresentationFormat>On-screen Show (4:3)</PresentationFormat>
  <Paragraphs>369</Paragraphs>
  <Slides>36</Slides>
  <Notes>0</Notes>
  <HiddenSlides>0</HiddenSlides>
  <MMClips>5</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Calibri Light</vt:lpstr>
      <vt:lpstr>Symbol</vt:lpstr>
      <vt:lpstr>Trebuchet MS</vt:lpstr>
      <vt:lpstr>Wingdings</vt:lpstr>
      <vt:lpstr>5-00353_Cumbre Ejecutiva OEM Latinoamérica</vt:lpstr>
      <vt:lpstr>Office Theme</vt:lpstr>
      <vt:lpstr>Leadership and the Project Manager</vt:lpstr>
      <vt:lpstr>What is Leadership?</vt:lpstr>
      <vt:lpstr>Leaders versus Managers</vt:lpstr>
      <vt:lpstr>Leaders versus Managers (cont’d)</vt:lpstr>
      <vt:lpstr>Differences Between Managers and Leaders</vt:lpstr>
      <vt:lpstr>Differences Between Managers and Leaders</vt:lpstr>
      <vt:lpstr>Differences Between Managers and Leaders</vt:lpstr>
      <vt:lpstr>PowerPoint Presentation</vt:lpstr>
      <vt:lpstr>The New Project Leadership</vt:lpstr>
      <vt:lpstr>The New Project Leadership (cont’d)</vt:lpstr>
      <vt:lpstr>The New Project Leadership (cont’d)</vt:lpstr>
      <vt:lpstr>How the PM leads</vt:lpstr>
      <vt:lpstr>Leadership Styles</vt:lpstr>
      <vt:lpstr>#1. The Command &amp; Control Style</vt:lpstr>
      <vt:lpstr>#1. The Command &amp; Control Style (cont’d)</vt:lpstr>
      <vt:lpstr>#2. The Relating Management Style</vt:lpstr>
      <vt:lpstr>#2. The Relating Management Style (cont’d)</vt:lpstr>
      <vt:lpstr>#3. The Democratic Management Style</vt:lpstr>
      <vt:lpstr>#3. The Democratic Management Style (cont’d)</vt:lpstr>
      <vt:lpstr>#3. The Democratic Management Style (cont’d)</vt:lpstr>
      <vt:lpstr>#4. The Hands-On Style </vt:lpstr>
      <vt:lpstr>#5. The Coaching Management Style</vt:lpstr>
      <vt:lpstr>Leadership Style Examples</vt:lpstr>
      <vt:lpstr>Clip # 1 – “We Were Soldiers</vt:lpstr>
      <vt:lpstr>PowerPoint Presentation</vt:lpstr>
      <vt:lpstr>Clip # 3 – “The Blind Side”</vt:lpstr>
      <vt:lpstr>Clip # 4 – “Leadership Styles”</vt:lpstr>
      <vt:lpstr>Clip # 5 – “What Leadership Style is this?”</vt:lpstr>
      <vt:lpstr>Your Leadership Style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Leadership and the Project Manager</dc:title>
  <dc:creator>Gaetan Labbe</dc:creator>
  <cp:lastModifiedBy>Ozlu, Sinan</cp:lastModifiedBy>
  <cp:revision>22</cp:revision>
  <cp:lastPrinted>2024-09-29T04:30:33Z</cp:lastPrinted>
  <dcterms:created xsi:type="dcterms:W3CDTF">2019-09-14T10:50:28Z</dcterms:created>
  <dcterms:modified xsi:type="dcterms:W3CDTF">2025-09-24T04:39:05Z</dcterms:modified>
</cp:coreProperties>
</file>