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6" r:id="rId1"/>
  </p:sldMasterIdLst>
  <p:notesMasterIdLst>
    <p:notesMasterId r:id="rId39"/>
  </p:notesMasterIdLst>
  <p:sldIdLst>
    <p:sldId id="256" r:id="rId2"/>
    <p:sldId id="315" r:id="rId3"/>
    <p:sldId id="257" r:id="rId4"/>
    <p:sldId id="273" r:id="rId5"/>
    <p:sldId id="259" r:id="rId6"/>
    <p:sldId id="258" r:id="rId7"/>
    <p:sldId id="311" r:id="rId8"/>
    <p:sldId id="260" r:id="rId9"/>
    <p:sldId id="261" r:id="rId10"/>
    <p:sldId id="337" r:id="rId11"/>
    <p:sldId id="263" r:id="rId12"/>
    <p:sldId id="265" r:id="rId13"/>
    <p:sldId id="266" r:id="rId14"/>
    <p:sldId id="338" r:id="rId15"/>
    <p:sldId id="264" r:id="rId16"/>
    <p:sldId id="267" r:id="rId17"/>
    <p:sldId id="331" r:id="rId18"/>
    <p:sldId id="339" r:id="rId19"/>
    <p:sldId id="268" r:id="rId20"/>
    <p:sldId id="269" r:id="rId21"/>
    <p:sldId id="324" r:id="rId22"/>
    <p:sldId id="327" r:id="rId23"/>
    <p:sldId id="321" r:id="rId24"/>
    <p:sldId id="320" r:id="rId25"/>
    <p:sldId id="325" r:id="rId26"/>
    <p:sldId id="270" r:id="rId27"/>
    <p:sldId id="282" r:id="rId28"/>
    <p:sldId id="271" r:id="rId29"/>
    <p:sldId id="272" r:id="rId30"/>
    <p:sldId id="274" r:id="rId31"/>
    <p:sldId id="275" r:id="rId32"/>
    <p:sldId id="276" r:id="rId33"/>
    <p:sldId id="283" r:id="rId34"/>
    <p:sldId id="277" r:id="rId35"/>
    <p:sldId id="278" r:id="rId36"/>
    <p:sldId id="328" r:id="rId37"/>
    <p:sldId id="329" r:id="rId38"/>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26" autoAdjust="0"/>
  </p:normalViewPr>
  <p:slideViewPr>
    <p:cSldViewPr snapToObjects="1">
      <p:cViewPr varScale="1">
        <p:scale>
          <a:sx n="75" d="100"/>
          <a:sy n="75" d="100"/>
        </p:scale>
        <p:origin x="1666"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6F146F09-456B-47B3-9D94-7134C9D2930D}" type="datetimeFigureOut">
              <a:rPr lang="en-US" smtClean="0"/>
              <a:pPr/>
              <a:t>12/3/2025</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B6BFC1F-131C-4BF7-B533-BE15DC2FEC73}" type="slidenum">
              <a:rPr lang="en-US" smtClean="0"/>
              <a:pPr/>
              <a:t>‹#›</a:t>
            </a:fld>
            <a:endParaRPr lang="en-US"/>
          </a:p>
        </p:txBody>
      </p:sp>
    </p:spTree>
    <p:extLst>
      <p:ext uri="{BB962C8B-B14F-4D97-AF65-F5344CB8AC3E}">
        <p14:creationId xmlns:p14="http://schemas.microsoft.com/office/powerpoint/2010/main" val="794078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r>
              <a:rPr lang="en-US"/>
              <a:t>Lecture 10</a:t>
            </a:r>
          </a:p>
        </p:txBody>
      </p:sp>
      <p:sp>
        <p:nvSpPr>
          <p:cNvPr id="5" name="Footer Placeholder 4"/>
          <p:cNvSpPr>
            <a:spLocks noGrp="1"/>
          </p:cNvSpPr>
          <p:nvPr>
            <p:ph type="ftr" sz="quarter" idx="11"/>
          </p:nvPr>
        </p:nvSpPr>
        <p:spPr/>
        <p:txBody>
          <a:bodyPr/>
          <a:lstStyle/>
          <a:p>
            <a:pPr>
              <a:defRPr/>
            </a:pPr>
            <a:r>
              <a:rPr lang="en-US"/>
              <a:t>G.R. Labbé</a:t>
            </a:r>
          </a:p>
        </p:txBody>
      </p:sp>
      <p:sp>
        <p:nvSpPr>
          <p:cNvPr id="6" name="Slide Number Placeholder 5"/>
          <p:cNvSpPr>
            <a:spLocks noGrp="1"/>
          </p:cNvSpPr>
          <p:nvPr>
            <p:ph type="sldNum" sz="quarter" idx="12"/>
          </p:nvPr>
        </p:nvSpPr>
        <p:spPr/>
        <p:txBody>
          <a:bodyPr/>
          <a:lstStyle/>
          <a:p>
            <a:pPr>
              <a:defRPr/>
            </a:pPr>
            <a:fld id="{01BBDCCD-7E5D-4391-8D8F-4EA4DD799DD2}" type="slidenum">
              <a:rPr lang="en-US" smtClean="0"/>
              <a:pPr>
                <a:defRPr/>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6334315"/>
            <a:ext cx="9144001" cy="659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2278817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Lecture 10</a:t>
            </a:r>
          </a:p>
        </p:txBody>
      </p:sp>
      <p:sp>
        <p:nvSpPr>
          <p:cNvPr id="5" name="Footer Placeholder 4"/>
          <p:cNvSpPr>
            <a:spLocks noGrp="1"/>
          </p:cNvSpPr>
          <p:nvPr>
            <p:ph type="ftr" sz="quarter" idx="11"/>
          </p:nvPr>
        </p:nvSpPr>
        <p:spPr/>
        <p:txBody>
          <a:bodyPr/>
          <a:lstStyle/>
          <a:p>
            <a:pPr>
              <a:defRPr/>
            </a:pPr>
            <a:r>
              <a:rPr lang="en-US"/>
              <a:t>G.R. Labbé</a:t>
            </a:r>
          </a:p>
        </p:txBody>
      </p:sp>
      <p:sp>
        <p:nvSpPr>
          <p:cNvPr id="6" name="Slide Number Placeholder 5"/>
          <p:cNvSpPr>
            <a:spLocks noGrp="1"/>
          </p:cNvSpPr>
          <p:nvPr>
            <p:ph type="sldNum" sz="quarter" idx="12"/>
          </p:nvPr>
        </p:nvSpPr>
        <p:spPr/>
        <p:txBody>
          <a:bodyPr/>
          <a:lstStyle/>
          <a:p>
            <a:pPr>
              <a:defRPr/>
            </a:pPr>
            <a:fld id="{1152812F-33DB-44F2-8D7A-55F34972C181}" type="slidenum">
              <a:rPr lang="en-US" smtClean="0"/>
              <a:pPr>
                <a:defRPr/>
              </a:pPr>
              <a:t>‹#›</a:t>
            </a:fld>
            <a:endParaRPr lang="en-US"/>
          </a:p>
        </p:txBody>
      </p:sp>
    </p:spTree>
    <p:extLst>
      <p:ext uri="{BB962C8B-B14F-4D97-AF65-F5344CB8AC3E}">
        <p14:creationId xmlns:p14="http://schemas.microsoft.com/office/powerpoint/2010/main" val="661062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Lecture 10</a:t>
            </a:r>
          </a:p>
        </p:txBody>
      </p:sp>
      <p:sp>
        <p:nvSpPr>
          <p:cNvPr id="5" name="Footer Placeholder 4"/>
          <p:cNvSpPr>
            <a:spLocks noGrp="1"/>
          </p:cNvSpPr>
          <p:nvPr>
            <p:ph type="ftr" sz="quarter" idx="11"/>
          </p:nvPr>
        </p:nvSpPr>
        <p:spPr/>
        <p:txBody>
          <a:bodyPr/>
          <a:lstStyle/>
          <a:p>
            <a:pPr>
              <a:defRPr/>
            </a:pPr>
            <a:r>
              <a:rPr lang="en-US"/>
              <a:t>G.R. Labbé</a:t>
            </a:r>
          </a:p>
        </p:txBody>
      </p:sp>
      <p:sp>
        <p:nvSpPr>
          <p:cNvPr id="6" name="Slide Number Placeholder 5"/>
          <p:cNvSpPr>
            <a:spLocks noGrp="1"/>
          </p:cNvSpPr>
          <p:nvPr>
            <p:ph type="sldNum" sz="quarter" idx="12"/>
          </p:nvPr>
        </p:nvSpPr>
        <p:spPr/>
        <p:txBody>
          <a:bodyPr/>
          <a:lstStyle/>
          <a:p>
            <a:pPr>
              <a:defRPr/>
            </a:pPr>
            <a:fld id="{61B86B58-BF04-463A-8C70-73C47ABD29CF}" type="slidenum">
              <a:rPr lang="en-US" smtClean="0"/>
              <a:pPr>
                <a:defRPr/>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6334315"/>
            <a:ext cx="9144001" cy="659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36716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r>
              <a:rPr lang="en-US"/>
              <a:t>Lecture 10</a:t>
            </a:r>
          </a:p>
        </p:txBody>
      </p:sp>
      <p:sp>
        <p:nvSpPr>
          <p:cNvPr id="6" name="Footer Placeholder 5"/>
          <p:cNvSpPr>
            <a:spLocks noGrp="1"/>
          </p:cNvSpPr>
          <p:nvPr>
            <p:ph type="ftr" sz="quarter" idx="11"/>
          </p:nvPr>
        </p:nvSpPr>
        <p:spPr/>
        <p:txBody>
          <a:bodyPr/>
          <a:lstStyle/>
          <a:p>
            <a:pPr>
              <a:defRPr/>
            </a:pPr>
            <a:r>
              <a:rPr lang="en-US"/>
              <a:t>G.R. Labbé</a:t>
            </a:r>
          </a:p>
        </p:txBody>
      </p:sp>
      <p:sp>
        <p:nvSpPr>
          <p:cNvPr id="7" name="Slide Number Placeholder 6"/>
          <p:cNvSpPr>
            <a:spLocks noGrp="1"/>
          </p:cNvSpPr>
          <p:nvPr>
            <p:ph type="sldNum" sz="quarter" idx="12"/>
          </p:nvPr>
        </p:nvSpPr>
        <p:spPr/>
        <p:txBody>
          <a:bodyPr/>
          <a:lstStyle/>
          <a:p>
            <a:pPr>
              <a:defRPr/>
            </a:pPr>
            <a:fld id="{1D8FA7F5-AFCA-428B-BB43-FC05C7535DB1}" type="slidenum">
              <a:rPr lang="en-US" smtClean="0"/>
              <a:pPr>
                <a:defRPr/>
              </a:pPr>
              <a:t>‹#›</a:t>
            </a:fld>
            <a:endParaRPr lang="en-US"/>
          </a:p>
        </p:txBody>
      </p:sp>
    </p:spTree>
    <p:extLst>
      <p:ext uri="{BB962C8B-B14F-4D97-AF65-F5344CB8AC3E}">
        <p14:creationId xmlns:p14="http://schemas.microsoft.com/office/powerpoint/2010/main" val="835736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r>
              <a:rPr lang="en-US"/>
              <a:t>Lecture 10</a:t>
            </a:r>
          </a:p>
        </p:txBody>
      </p:sp>
      <p:sp>
        <p:nvSpPr>
          <p:cNvPr id="8" name="Footer Placeholder 7"/>
          <p:cNvSpPr>
            <a:spLocks noGrp="1"/>
          </p:cNvSpPr>
          <p:nvPr>
            <p:ph type="ftr" sz="quarter" idx="11"/>
          </p:nvPr>
        </p:nvSpPr>
        <p:spPr/>
        <p:txBody>
          <a:bodyPr/>
          <a:lstStyle/>
          <a:p>
            <a:pPr>
              <a:defRPr/>
            </a:pPr>
            <a:r>
              <a:rPr lang="en-US"/>
              <a:t>G.R. Labbé</a:t>
            </a:r>
          </a:p>
        </p:txBody>
      </p:sp>
      <p:sp>
        <p:nvSpPr>
          <p:cNvPr id="9" name="Slide Number Placeholder 8"/>
          <p:cNvSpPr>
            <a:spLocks noGrp="1"/>
          </p:cNvSpPr>
          <p:nvPr>
            <p:ph type="sldNum" sz="quarter" idx="12"/>
          </p:nvPr>
        </p:nvSpPr>
        <p:spPr/>
        <p:txBody>
          <a:bodyPr/>
          <a:lstStyle/>
          <a:p>
            <a:pPr>
              <a:defRPr/>
            </a:pPr>
            <a:fld id="{C16663F1-E905-4BD0-A144-CD5DCCA1C8D0}" type="slidenum">
              <a:rPr lang="en-US" smtClean="0"/>
              <a:pPr>
                <a:defRPr/>
              </a:pPr>
              <a:t>‹#›</a:t>
            </a:fld>
            <a:endParaRPr lang="en-US"/>
          </a:p>
        </p:txBody>
      </p:sp>
    </p:spTree>
    <p:extLst>
      <p:ext uri="{BB962C8B-B14F-4D97-AF65-F5344CB8AC3E}">
        <p14:creationId xmlns:p14="http://schemas.microsoft.com/office/powerpoint/2010/main" val="3874212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r>
              <a:rPr lang="en-US"/>
              <a:t>Lecture 10</a:t>
            </a:r>
          </a:p>
        </p:txBody>
      </p:sp>
      <p:sp>
        <p:nvSpPr>
          <p:cNvPr id="4" name="Footer Placeholder 3"/>
          <p:cNvSpPr>
            <a:spLocks noGrp="1"/>
          </p:cNvSpPr>
          <p:nvPr>
            <p:ph type="ftr" sz="quarter" idx="11"/>
          </p:nvPr>
        </p:nvSpPr>
        <p:spPr/>
        <p:txBody>
          <a:bodyPr/>
          <a:lstStyle/>
          <a:p>
            <a:pPr>
              <a:defRPr/>
            </a:pPr>
            <a:r>
              <a:rPr lang="en-US"/>
              <a:t>G.R. Labbé</a:t>
            </a:r>
          </a:p>
        </p:txBody>
      </p:sp>
      <p:sp>
        <p:nvSpPr>
          <p:cNvPr id="5" name="Slide Number Placeholder 4"/>
          <p:cNvSpPr>
            <a:spLocks noGrp="1"/>
          </p:cNvSpPr>
          <p:nvPr>
            <p:ph type="sldNum" sz="quarter" idx="12"/>
          </p:nvPr>
        </p:nvSpPr>
        <p:spPr/>
        <p:txBody>
          <a:bodyPr/>
          <a:lstStyle/>
          <a:p>
            <a:pPr>
              <a:defRPr/>
            </a:pPr>
            <a:fld id="{23339CA3-6AE0-4AA2-94FA-FA06C20CC27B}" type="slidenum">
              <a:rPr lang="en-US" smtClean="0"/>
              <a:pPr>
                <a:defRPr/>
              </a:pPr>
              <a:t>‹#›</a:t>
            </a:fld>
            <a:endParaRPr lang="en-US"/>
          </a:p>
        </p:txBody>
      </p:sp>
    </p:spTree>
    <p:extLst>
      <p:ext uri="{BB962C8B-B14F-4D97-AF65-F5344CB8AC3E}">
        <p14:creationId xmlns:p14="http://schemas.microsoft.com/office/powerpoint/2010/main" val="3219408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6" name="Rectangle 5"/>
          <p:cNvSpPr/>
          <p:nvPr/>
        </p:nvSpPr>
        <p:spPr>
          <a:xfrm>
            <a:off x="12" y="6334316"/>
            <a:ext cx="9141619"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7" name="Date Placeholder 6"/>
          <p:cNvSpPr>
            <a:spLocks noGrp="1"/>
          </p:cNvSpPr>
          <p:nvPr>
            <p:ph type="dt" sz="half" idx="10"/>
          </p:nvPr>
        </p:nvSpPr>
        <p:spPr/>
        <p:txBody>
          <a:bodyPr/>
          <a:lstStyle/>
          <a:p>
            <a:pPr>
              <a:defRPr/>
            </a:pPr>
            <a:r>
              <a:rPr lang="en-US"/>
              <a:t>Lecture 10</a:t>
            </a:r>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r>
              <a:rPr lang="en-US"/>
              <a:t>G.R. Labbé</a:t>
            </a:r>
          </a:p>
        </p:txBody>
      </p:sp>
      <p:sp>
        <p:nvSpPr>
          <p:cNvPr id="9" name="Slide Number Placeholder 8"/>
          <p:cNvSpPr>
            <a:spLocks noGrp="1"/>
          </p:cNvSpPr>
          <p:nvPr>
            <p:ph type="sldNum" sz="quarter" idx="12"/>
          </p:nvPr>
        </p:nvSpPr>
        <p:spPr/>
        <p:txBody>
          <a:bodyPr/>
          <a:lstStyle/>
          <a:p>
            <a:pPr>
              <a:defRPr/>
            </a:pPr>
            <a:fld id="{FDCEC6CF-0B4D-4D8E-ADB5-E44057DFB048}" type="slidenum">
              <a:rPr lang="en-US" smtClean="0"/>
              <a:pPr>
                <a:defRPr/>
              </a:pPr>
              <a:t>‹#›</a:t>
            </a:fld>
            <a:endParaRPr lang="en-US"/>
          </a:p>
        </p:txBody>
      </p:sp>
    </p:spTree>
    <p:extLst>
      <p:ext uri="{BB962C8B-B14F-4D97-AF65-F5344CB8AC3E}">
        <p14:creationId xmlns:p14="http://schemas.microsoft.com/office/powerpoint/2010/main" val="1556444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pPr>
              <a:defRPr/>
            </a:pPr>
            <a:r>
              <a:rPr lang="en-US"/>
              <a:t>Lecture 10</a:t>
            </a:r>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pPr>
              <a:defRPr/>
            </a:pPr>
            <a:r>
              <a:rPr lang="en-US"/>
              <a:t>G.R. Labbé</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985B10D3-8A80-440E-87DD-CB30B98716AD}" type="slidenum">
              <a:rPr lang="en-US" smtClean="0"/>
              <a:pPr>
                <a:defRPr/>
              </a:pPr>
              <a:t>‹#›</a:t>
            </a:fld>
            <a:endParaRPr lang="en-US"/>
          </a:p>
        </p:txBody>
      </p:sp>
    </p:spTree>
    <p:extLst>
      <p:ext uri="{BB962C8B-B14F-4D97-AF65-F5344CB8AC3E}">
        <p14:creationId xmlns:p14="http://schemas.microsoft.com/office/powerpoint/2010/main" val="852718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Lecture 10</a:t>
            </a:r>
          </a:p>
        </p:txBody>
      </p:sp>
      <p:sp>
        <p:nvSpPr>
          <p:cNvPr id="6" name="Footer Placeholder 5"/>
          <p:cNvSpPr>
            <a:spLocks noGrp="1"/>
          </p:cNvSpPr>
          <p:nvPr>
            <p:ph type="ftr" sz="quarter" idx="11"/>
          </p:nvPr>
        </p:nvSpPr>
        <p:spPr/>
        <p:txBody>
          <a:bodyPr/>
          <a:lstStyle/>
          <a:p>
            <a:pPr>
              <a:defRPr/>
            </a:pPr>
            <a:r>
              <a:rPr lang="en-US"/>
              <a:t>G.R. Labbé</a:t>
            </a:r>
          </a:p>
        </p:txBody>
      </p:sp>
      <p:sp>
        <p:nvSpPr>
          <p:cNvPr id="7" name="Slide Number Placeholder 6"/>
          <p:cNvSpPr>
            <a:spLocks noGrp="1"/>
          </p:cNvSpPr>
          <p:nvPr>
            <p:ph type="sldNum" sz="quarter" idx="12"/>
          </p:nvPr>
        </p:nvSpPr>
        <p:spPr/>
        <p:txBody>
          <a:bodyPr/>
          <a:lstStyle/>
          <a:p>
            <a:pPr>
              <a:defRPr/>
            </a:pPr>
            <a:fld id="{54472F70-3947-4AA7-B57E-EE9F994D2EE1}" type="slidenum">
              <a:rPr lang="en-US" smtClean="0"/>
              <a:pPr>
                <a:defRPr/>
              </a:pPr>
              <a:t>‹#›</a:t>
            </a:fld>
            <a:endParaRPr lang="en-US"/>
          </a:p>
        </p:txBody>
      </p:sp>
    </p:spTree>
    <p:extLst>
      <p:ext uri="{BB962C8B-B14F-4D97-AF65-F5344CB8AC3E}">
        <p14:creationId xmlns:p14="http://schemas.microsoft.com/office/powerpoint/2010/main" val="530194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Lecture 10</a:t>
            </a:r>
          </a:p>
        </p:txBody>
      </p:sp>
      <p:sp>
        <p:nvSpPr>
          <p:cNvPr id="5" name="Footer Placeholder 4"/>
          <p:cNvSpPr>
            <a:spLocks noGrp="1"/>
          </p:cNvSpPr>
          <p:nvPr>
            <p:ph type="ftr" sz="quarter" idx="11"/>
          </p:nvPr>
        </p:nvSpPr>
        <p:spPr/>
        <p:txBody>
          <a:bodyPr/>
          <a:lstStyle/>
          <a:p>
            <a:pPr>
              <a:defRPr/>
            </a:pPr>
            <a:r>
              <a:rPr lang="en-US"/>
              <a:t>G.R. Labbé</a:t>
            </a:r>
          </a:p>
        </p:txBody>
      </p:sp>
      <p:sp>
        <p:nvSpPr>
          <p:cNvPr id="6" name="Slide Number Placeholder 5"/>
          <p:cNvSpPr>
            <a:spLocks noGrp="1"/>
          </p:cNvSpPr>
          <p:nvPr>
            <p:ph type="sldNum" sz="quarter" idx="12"/>
          </p:nvPr>
        </p:nvSpPr>
        <p:spPr/>
        <p:txBody>
          <a:bodyPr/>
          <a:lstStyle/>
          <a:p>
            <a:pPr>
              <a:defRPr/>
            </a:pPr>
            <a:fld id="{E9804D81-9ABF-4E57-9A16-D2F1290F4A0B}" type="slidenum">
              <a:rPr lang="en-US" smtClean="0"/>
              <a:pPr>
                <a:defRPr/>
              </a:pPr>
              <a:t>‹#›</a:t>
            </a:fld>
            <a:endParaRPr lang="en-US"/>
          </a:p>
        </p:txBody>
      </p:sp>
    </p:spTree>
    <p:extLst>
      <p:ext uri="{BB962C8B-B14F-4D97-AF65-F5344CB8AC3E}">
        <p14:creationId xmlns:p14="http://schemas.microsoft.com/office/powerpoint/2010/main" val="719311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3989"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Lecture 10</a:t>
            </a:r>
          </a:p>
        </p:txBody>
      </p:sp>
      <p:sp>
        <p:nvSpPr>
          <p:cNvPr id="5" name="Footer Placeholder 4"/>
          <p:cNvSpPr>
            <a:spLocks noGrp="1"/>
          </p:cNvSpPr>
          <p:nvPr>
            <p:ph type="ftr" sz="quarter" idx="11"/>
          </p:nvPr>
        </p:nvSpPr>
        <p:spPr/>
        <p:txBody>
          <a:bodyPr/>
          <a:lstStyle/>
          <a:p>
            <a:pPr>
              <a:defRPr/>
            </a:pPr>
            <a:r>
              <a:rPr lang="en-US"/>
              <a:t>G.R. Labbé</a:t>
            </a:r>
          </a:p>
        </p:txBody>
      </p:sp>
      <p:sp>
        <p:nvSpPr>
          <p:cNvPr id="6" name="Slide Number Placeholder 5"/>
          <p:cNvSpPr>
            <a:spLocks noGrp="1"/>
          </p:cNvSpPr>
          <p:nvPr>
            <p:ph type="sldNum" sz="quarter" idx="12"/>
          </p:nvPr>
        </p:nvSpPr>
        <p:spPr/>
        <p:txBody>
          <a:bodyPr/>
          <a:lstStyle/>
          <a:p>
            <a:pPr>
              <a:defRPr/>
            </a:pPr>
            <a:fld id="{D3C54894-FF34-4971-9C9A-3B58CB351FB9}" type="slidenum">
              <a:rPr lang="en-US" smtClean="0"/>
              <a:pPr>
                <a:defRPr/>
              </a:pPr>
              <a:t>‹#›</a:t>
            </a:fld>
            <a:endParaRPr lang="en-US"/>
          </a:p>
        </p:txBody>
      </p:sp>
    </p:spTree>
    <p:extLst>
      <p:ext uri="{BB962C8B-B14F-4D97-AF65-F5344CB8AC3E}">
        <p14:creationId xmlns:p14="http://schemas.microsoft.com/office/powerpoint/2010/main" val="35892935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r>
              <a:rPr lang="en-US"/>
              <a:t>Lecture 10</a:t>
            </a:r>
          </a:p>
        </p:txBody>
      </p:sp>
      <p:sp>
        <p:nvSpPr>
          <p:cNvPr id="7" name="Rectangle 5"/>
          <p:cNvSpPr>
            <a:spLocks noGrp="1" noChangeArrowheads="1"/>
          </p:cNvSpPr>
          <p:nvPr>
            <p:ph type="ftr" sz="quarter" idx="11"/>
          </p:nvPr>
        </p:nvSpPr>
        <p:spPr>
          <a:ln/>
        </p:spPr>
        <p:txBody>
          <a:bodyPr/>
          <a:lstStyle>
            <a:lvl1pPr>
              <a:defRPr/>
            </a:lvl1pPr>
          </a:lstStyle>
          <a:p>
            <a:pPr>
              <a:defRPr/>
            </a:pPr>
            <a:r>
              <a:rPr lang="en-US"/>
              <a:t>G.R. Labbé</a:t>
            </a:r>
          </a:p>
        </p:txBody>
      </p:sp>
      <p:sp>
        <p:nvSpPr>
          <p:cNvPr id="8" name="Rectangle 6"/>
          <p:cNvSpPr>
            <a:spLocks noGrp="1" noChangeArrowheads="1"/>
          </p:cNvSpPr>
          <p:nvPr>
            <p:ph type="sldNum" sz="quarter" idx="12"/>
          </p:nvPr>
        </p:nvSpPr>
        <p:spPr>
          <a:ln/>
        </p:spPr>
        <p:txBody>
          <a:bodyPr/>
          <a:lstStyle>
            <a:lvl1pPr>
              <a:defRPr/>
            </a:lvl1pPr>
          </a:lstStyle>
          <a:p>
            <a:pPr>
              <a:defRPr/>
            </a:pPr>
            <a:fld id="{61D213BF-E712-44A2-B033-B2EDDBF693C5}" type="slidenum">
              <a:rPr lang="en-US"/>
              <a:pPr>
                <a:defRPr/>
              </a:pPr>
              <a:t>‹#›</a:t>
            </a:fld>
            <a:endParaRPr lang="en-US"/>
          </a:p>
        </p:txBody>
      </p:sp>
    </p:spTree>
    <p:extLst>
      <p:ext uri="{BB962C8B-B14F-4D97-AF65-F5344CB8AC3E}">
        <p14:creationId xmlns:p14="http://schemas.microsoft.com/office/powerpoint/2010/main" val="2588172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9" name="Rectangle 8"/>
          <p:cNvSpPr/>
          <p:nvPr/>
        </p:nvSpPr>
        <p:spPr>
          <a:xfrm>
            <a:off x="0" y="6334315"/>
            <a:ext cx="9144001" cy="659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a:defRPr/>
            </a:pPr>
            <a:r>
              <a:rPr lang="en-US"/>
              <a:t>Lecture 10</a:t>
            </a:r>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a:t>G.R. Labbé</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a:defRPr/>
            </a:pPr>
            <a:fld id="{DD9D2BC3-EF31-4AA4-B81E-F161FFE703A2}" type="slidenum">
              <a:rPr lang="en-US" smtClean="0"/>
              <a:pPr>
                <a:defRPr/>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0773363"/>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wmf"/><Relationship Id="rId7" Type="http://schemas.openxmlformats.org/officeDocument/2006/relationships/image" Target="../media/image9.png"/><Relationship Id="rId2" Type="http://schemas.openxmlformats.org/officeDocument/2006/relationships/oleObject" Target="../embeddings/oleObject2.bin"/><Relationship Id="rId1" Type="http://schemas.openxmlformats.org/officeDocument/2006/relationships/slideLayout" Target="../slideLayouts/slideLayout12.xml"/><Relationship Id="rId6" Type="http://schemas.openxmlformats.org/officeDocument/2006/relationships/image" Target="../media/image8.emf"/><Relationship Id="rId11" Type="http://schemas.openxmlformats.org/officeDocument/2006/relationships/image" Target="../media/image13.png"/><Relationship Id="rId5" Type="http://schemas.openxmlformats.org/officeDocument/2006/relationships/image" Target="../media/image7.emf"/><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3.bin"/><Relationship Id="rId1" Type="http://schemas.openxmlformats.org/officeDocument/2006/relationships/slideLayout" Target="../slideLayouts/slideLayout4.xml"/><Relationship Id="rId4" Type="http://schemas.openxmlformats.org/officeDocument/2006/relationships/image" Target="../media/image15.wmf"/></Relationships>
</file>

<file path=ppt/slides/_rels/slide10.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subTitle" idx="1"/>
          </p:nvPr>
        </p:nvSpPr>
        <p:spPr>
          <a:xfrm>
            <a:off x="911560" y="326907"/>
            <a:ext cx="7416824" cy="622920"/>
          </a:xfrm>
        </p:spPr>
        <p:txBody>
          <a:bodyPr>
            <a:noAutofit/>
          </a:bodyPr>
          <a:lstStyle/>
          <a:p>
            <a:pPr algn="ctr" eaLnBrk="1" hangingPunct="1"/>
            <a:r>
              <a:rPr lang="en-US" sz="3600" b="1" dirty="0">
                <a:latin typeface="+mn-lt"/>
                <a:cs typeface="Arial" panose="020B0604020202020204" pitchFamily="34" charset="0"/>
              </a:rPr>
              <a:t>Resource Management</a:t>
            </a:r>
          </a:p>
        </p:txBody>
      </p:sp>
      <p:pic>
        <p:nvPicPr>
          <p:cNvPr id="7170" name="Picture 2" descr="http://www.in.all.biz/img/in/service_catalog/22027.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761062"/>
            <a:ext cx="6432648" cy="482448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251820" y="5585548"/>
            <a:ext cx="2736304" cy="215444"/>
          </a:xfrm>
          <a:prstGeom prst="rect">
            <a:avLst/>
          </a:prstGeom>
          <a:noFill/>
        </p:spPr>
        <p:txBody>
          <a:bodyPr wrap="square" rtlCol="0">
            <a:spAutoFit/>
          </a:bodyPr>
          <a:lstStyle/>
          <a:p>
            <a:r>
              <a:rPr lang="en-US" sz="800" dirty="0"/>
              <a:t>http://</a:t>
            </a:r>
            <a:r>
              <a:rPr lang="en-US" sz="800" dirty="0">
                <a:latin typeface="+mn-lt"/>
              </a:rPr>
              <a:t>www.in.all.biz/img/in/service_catalog/22027.png</a:t>
            </a:r>
          </a:p>
        </p:txBody>
      </p:sp>
      <p:sp>
        <p:nvSpPr>
          <p:cNvPr id="3" name="Rectangle 2"/>
          <p:cNvSpPr/>
          <p:nvPr/>
        </p:nvSpPr>
        <p:spPr>
          <a:xfrm>
            <a:off x="323528" y="6503848"/>
            <a:ext cx="3240360" cy="276999"/>
          </a:xfrm>
          <a:prstGeom prst="rect">
            <a:avLst/>
          </a:prstGeom>
        </p:spPr>
        <p:txBody>
          <a:bodyPr wrap="square">
            <a:spAutoFit/>
          </a:bodyPr>
          <a:lstStyle/>
          <a:p>
            <a:r>
              <a:rPr lang="en-US" sz="1200" dirty="0">
                <a:latin typeface="+mn-lt"/>
                <a:cs typeface="Arial" panose="020B0604020202020204" pitchFamily="34" charset="0"/>
              </a:rPr>
              <a:t>G.R. Labb</a:t>
            </a:r>
            <a:r>
              <a:rPr lang="en-CA" sz="1200" dirty="0">
                <a:latin typeface="+mn-lt"/>
                <a:cs typeface="Arial" panose="020B0604020202020204" pitchFamily="34" charset="0"/>
              </a:rPr>
              <a:t>é </a:t>
            </a:r>
            <a:endParaRPr lang="en-US" sz="12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FDCEC6CF-0B4D-4D8E-ADB5-E44057DFB048}" type="slidenum">
              <a:rPr lang="en-US" smtClean="0"/>
              <a:pPr>
                <a:defRPr/>
              </a:pPr>
              <a:t>2</a:t>
            </a:fld>
            <a:endParaRPr lang="en-US"/>
          </a:p>
        </p:txBody>
      </p:sp>
      <p:pic>
        <p:nvPicPr>
          <p:cNvPr id="4" name="Picture 3"/>
          <p:cNvPicPr>
            <a:picLocks noChangeAspect="1"/>
          </p:cNvPicPr>
          <p:nvPr/>
        </p:nvPicPr>
        <p:blipFill>
          <a:blip r:embed="rId2"/>
          <a:stretch>
            <a:fillRect/>
          </a:stretch>
        </p:blipFill>
        <p:spPr>
          <a:xfrm>
            <a:off x="2215691" y="-171400"/>
            <a:ext cx="4712616" cy="1484784"/>
          </a:xfrm>
          <a:prstGeom prst="rect">
            <a:avLst/>
          </a:prstGeom>
        </p:spPr>
      </p:pic>
      <p:sp>
        <p:nvSpPr>
          <p:cNvPr id="5" name="Rectangle 4"/>
          <p:cNvSpPr/>
          <p:nvPr/>
        </p:nvSpPr>
        <p:spPr>
          <a:xfrm>
            <a:off x="395535" y="1232979"/>
            <a:ext cx="8352929" cy="830997"/>
          </a:xfrm>
          <a:prstGeom prst="rect">
            <a:avLst/>
          </a:prstGeom>
          <a:solidFill>
            <a:srgbClr val="FFC000"/>
          </a:solidFill>
        </p:spPr>
        <p:txBody>
          <a:bodyPr wrap="square">
            <a:spAutoFit/>
          </a:bodyPr>
          <a:lstStyle/>
          <a:p>
            <a:pPr lvl="0" algn="ctr" defTabSz="457200" fontAlgn="auto">
              <a:spcBef>
                <a:spcPts val="0"/>
              </a:spcBef>
              <a:spcAft>
                <a:spcPts val="0"/>
              </a:spcAft>
            </a:pPr>
            <a:r>
              <a:rPr lang="en-CA" sz="2000" b="1" strike="sngStrike" dirty="0">
                <a:solidFill>
                  <a:prstClr val="black"/>
                </a:solidFill>
                <a:latin typeface="Calibri" panose="020F0502020204030204" pitchFamily="34" charset="0"/>
              </a:rPr>
              <a:t>Lecture 1</a:t>
            </a:r>
          </a:p>
          <a:p>
            <a:pPr lvl="0" algn="ctr" defTabSz="457200" fontAlgn="auto">
              <a:spcBef>
                <a:spcPts val="0"/>
              </a:spcBef>
              <a:spcAft>
                <a:spcPts val="0"/>
              </a:spcAft>
            </a:pPr>
            <a:r>
              <a:rPr lang="en-CA" sz="1400" strike="sngStrike" dirty="0">
                <a:solidFill>
                  <a:prstClr val="black"/>
                </a:solidFill>
                <a:latin typeface="Calibri" panose="020F0502020204030204" pitchFamily="34" charset="0"/>
              </a:rPr>
              <a:t>Introduction to Project Management and Communication</a:t>
            </a:r>
          </a:p>
          <a:p>
            <a:pPr lvl="0" algn="ctr" defTabSz="457200" fontAlgn="auto">
              <a:spcBef>
                <a:spcPts val="0"/>
              </a:spcBef>
              <a:spcAft>
                <a:spcPts val="0"/>
              </a:spcAft>
            </a:pPr>
            <a:endParaRPr lang="en-CA" sz="1400" strike="sngStrike" dirty="0">
              <a:solidFill>
                <a:prstClr val="black"/>
              </a:solidFill>
              <a:latin typeface="Calibri" panose="020F0502020204030204" pitchFamily="34" charset="0"/>
            </a:endParaRPr>
          </a:p>
        </p:txBody>
      </p:sp>
      <p:sp>
        <p:nvSpPr>
          <p:cNvPr id="6" name="Rectangle 5"/>
          <p:cNvSpPr/>
          <p:nvPr/>
        </p:nvSpPr>
        <p:spPr>
          <a:xfrm>
            <a:off x="395534" y="2202684"/>
            <a:ext cx="1959168" cy="830997"/>
          </a:xfrm>
          <a:prstGeom prst="rect">
            <a:avLst/>
          </a:prstGeom>
          <a:solidFill>
            <a:srgbClr val="FFC000"/>
          </a:solidFill>
        </p:spPr>
        <p:txBody>
          <a:bodyPr wrap="square">
            <a:spAutoFit/>
          </a:bodyPr>
          <a:lstStyle/>
          <a:p>
            <a:pPr lvl="0" algn="ctr">
              <a:defRPr/>
            </a:pPr>
            <a:r>
              <a:rPr lang="en-CA" sz="2000" b="1" strike="sngStrike" kern="0" dirty="0">
                <a:solidFill>
                  <a:prstClr val="black"/>
                </a:solidFill>
                <a:latin typeface="Calibri" panose="020F0502020204030204" pitchFamily="34" charset="0"/>
              </a:rPr>
              <a:t>Lecture 2</a:t>
            </a:r>
          </a:p>
          <a:p>
            <a:pPr lvl="0" algn="ctr">
              <a:defRPr/>
            </a:pPr>
            <a:r>
              <a:rPr lang="en-CA" sz="1400" strike="sngStrike" kern="0" dirty="0">
                <a:solidFill>
                  <a:prstClr val="black"/>
                </a:solidFill>
                <a:latin typeface="Calibri" panose="020F0502020204030204" pitchFamily="34" charset="0"/>
              </a:rPr>
              <a:t>Project Scope, Charter, Organizational Structure</a:t>
            </a:r>
          </a:p>
        </p:txBody>
      </p:sp>
      <p:sp>
        <p:nvSpPr>
          <p:cNvPr id="7" name="Rectangle 6"/>
          <p:cNvSpPr/>
          <p:nvPr/>
        </p:nvSpPr>
        <p:spPr>
          <a:xfrm>
            <a:off x="2529198" y="2203632"/>
            <a:ext cx="1943390" cy="830997"/>
          </a:xfrm>
          <a:prstGeom prst="rect">
            <a:avLst/>
          </a:prstGeom>
          <a:solidFill>
            <a:srgbClr val="FFC000"/>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2000" b="1" i="0" u="none" strike="sngStrike" kern="0" cap="none" spc="0" normalizeH="0" baseline="0" noProof="0" dirty="0">
                <a:ln>
                  <a:noFill/>
                </a:ln>
                <a:solidFill>
                  <a:prstClr val="black"/>
                </a:solidFill>
                <a:effectLst/>
                <a:uLnTx/>
                <a:uFillTx/>
                <a:latin typeface="Calibri" panose="020F0502020204030204" pitchFamily="34" charset="0"/>
              </a:rPr>
              <a:t>Lecture 3</a:t>
            </a:r>
            <a:endParaRPr kumimoji="0" lang="en-CA" sz="1400" b="1" i="0" u="none" strike="sngStrike" kern="0" cap="none" spc="0" normalizeH="0" baseline="0" noProof="0" dirty="0">
              <a:ln>
                <a:noFill/>
              </a:ln>
              <a:solidFill>
                <a:prstClr val="black"/>
              </a:solidFill>
              <a:effectLst/>
              <a:uLnTx/>
              <a:uFillTx/>
              <a:latin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1400" b="0" i="0" u="none" strike="sngStrike" kern="0" cap="none" spc="0" normalizeH="0" baseline="0" noProof="0" dirty="0">
                <a:ln>
                  <a:noFill/>
                </a:ln>
                <a:solidFill>
                  <a:prstClr val="black"/>
                </a:solidFill>
                <a:effectLst/>
                <a:uLnTx/>
                <a:uFillTx/>
                <a:latin typeface="Calibri" panose="020F0502020204030204" pitchFamily="34" charset="0"/>
              </a:rPr>
              <a:t>Leadership and the Project Manager</a:t>
            </a:r>
            <a:endParaRPr kumimoji="0" lang="en-US" sz="1400" b="0" i="0" u="none" strike="noStrike" kern="0" cap="none" spc="0" normalizeH="0" baseline="0" noProof="0" dirty="0">
              <a:ln>
                <a:noFill/>
              </a:ln>
              <a:solidFill>
                <a:prstClr val="black"/>
              </a:solidFill>
              <a:effectLst/>
              <a:uLnTx/>
              <a:uFillTx/>
            </a:endParaRPr>
          </a:p>
        </p:txBody>
      </p:sp>
      <p:sp>
        <p:nvSpPr>
          <p:cNvPr id="8" name="Rectangle 7"/>
          <p:cNvSpPr/>
          <p:nvPr/>
        </p:nvSpPr>
        <p:spPr>
          <a:xfrm>
            <a:off x="4667136" y="2203632"/>
            <a:ext cx="1943390" cy="830997"/>
          </a:xfrm>
          <a:prstGeom prst="rect">
            <a:avLst/>
          </a:prstGeom>
          <a:solidFill>
            <a:srgbClr val="FFC000"/>
          </a:solidFill>
        </p:spPr>
        <p:txBody>
          <a:bodyPr wrap="square">
            <a:spAutoFit/>
          </a:bodyPr>
          <a:lstStyle/>
          <a:p>
            <a:pPr lvl="0" algn="ctr" fontAlgn="auto">
              <a:spcBef>
                <a:spcPts val="0"/>
              </a:spcBef>
              <a:spcAft>
                <a:spcPts val="0"/>
              </a:spcAft>
              <a:defRPr/>
            </a:pPr>
            <a:r>
              <a:rPr lang="en-CA" sz="2000" b="1" strike="sngStrike" kern="0" dirty="0">
                <a:solidFill>
                  <a:prstClr val="black"/>
                </a:solidFill>
                <a:latin typeface="Calibri" panose="020F0502020204030204" pitchFamily="34" charset="0"/>
              </a:rPr>
              <a:t>Lecture 4</a:t>
            </a:r>
          </a:p>
          <a:p>
            <a:pPr lvl="0" algn="ctr" fontAlgn="auto">
              <a:spcBef>
                <a:spcPts val="0"/>
              </a:spcBef>
              <a:spcAft>
                <a:spcPts val="0"/>
              </a:spcAft>
              <a:defRPr/>
            </a:pPr>
            <a:r>
              <a:rPr lang="en-CA" sz="1400" strike="sngStrike" kern="0" dirty="0">
                <a:solidFill>
                  <a:prstClr val="black"/>
                </a:solidFill>
                <a:latin typeface="Calibri" panose="020F0502020204030204" pitchFamily="34" charset="0"/>
              </a:rPr>
              <a:t>Work Breakdown Structures (WBS)</a:t>
            </a:r>
          </a:p>
        </p:txBody>
      </p:sp>
      <p:sp>
        <p:nvSpPr>
          <p:cNvPr id="9" name="Rectangle 8"/>
          <p:cNvSpPr/>
          <p:nvPr/>
        </p:nvSpPr>
        <p:spPr>
          <a:xfrm>
            <a:off x="6805074" y="2203632"/>
            <a:ext cx="1943390" cy="830997"/>
          </a:xfrm>
          <a:prstGeom prst="rect">
            <a:avLst/>
          </a:prstGeom>
          <a:solidFill>
            <a:srgbClr val="FFC000"/>
          </a:solidFill>
        </p:spPr>
        <p:txBody>
          <a:bodyPr wrap="square">
            <a:spAutoFit/>
          </a:bodyPr>
          <a:lstStyle/>
          <a:p>
            <a:pPr lvl="0" algn="ctr" fontAlgn="auto">
              <a:spcBef>
                <a:spcPts val="0"/>
              </a:spcBef>
              <a:spcAft>
                <a:spcPts val="0"/>
              </a:spcAft>
              <a:defRPr/>
            </a:pPr>
            <a:r>
              <a:rPr lang="en-CA" sz="2000" b="1" strike="sngStrike" kern="0" dirty="0">
                <a:solidFill>
                  <a:prstClr val="black"/>
                </a:solidFill>
                <a:latin typeface="Calibri" panose="020F0502020204030204" pitchFamily="34" charset="0"/>
              </a:rPr>
              <a:t>Lecture 5</a:t>
            </a:r>
          </a:p>
          <a:p>
            <a:pPr lvl="0" algn="ctr" fontAlgn="auto">
              <a:spcBef>
                <a:spcPts val="0"/>
              </a:spcBef>
              <a:spcAft>
                <a:spcPts val="0"/>
              </a:spcAft>
              <a:defRPr/>
            </a:pPr>
            <a:r>
              <a:rPr lang="en-CA" sz="1400" strike="sngStrike" kern="0" dirty="0">
                <a:solidFill>
                  <a:prstClr val="black"/>
                </a:solidFill>
                <a:latin typeface="Calibri" panose="020F0502020204030204" pitchFamily="34" charset="0"/>
              </a:rPr>
              <a:t>Network Diagrams and Activity on Node (AON)</a:t>
            </a:r>
          </a:p>
        </p:txBody>
      </p:sp>
      <p:sp>
        <p:nvSpPr>
          <p:cNvPr id="10" name="Rectangle 9"/>
          <p:cNvSpPr/>
          <p:nvPr/>
        </p:nvSpPr>
        <p:spPr>
          <a:xfrm>
            <a:off x="395535" y="3168413"/>
            <a:ext cx="1959168" cy="830997"/>
          </a:xfrm>
          <a:prstGeom prst="rect">
            <a:avLst/>
          </a:prstGeom>
          <a:solidFill>
            <a:srgbClr val="FFC000"/>
          </a:solidFill>
        </p:spPr>
        <p:txBody>
          <a:bodyPr wrap="square">
            <a:spAutoFit/>
          </a:bodyPr>
          <a:lstStyle/>
          <a:p>
            <a:pPr lvl="0" algn="ctr">
              <a:defRPr/>
            </a:pPr>
            <a:r>
              <a:rPr lang="en-CA" sz="2000" b="1" strike="sngStrike" kern="0" dirty="0">
                <a:solidFill>
                  <a:prstClr val="black"/>
                </a:solidFill>
                <a:latin typeface="Calibri" panose="020F0502020204030204" pitchFamily="34" charset="0"/>
              </a:rPr>
              <a:t>Lecture 6</a:t>
            </a:r>
          </a:p>
          <a:p>
            <a:pPr lvl="0" algn="ctr">
              <a:defRPr/>
            </a:pPr>
            <a:r>
              <a:rPr lang="en-CA" sz="1400" strike="sngStrike" kern="0" dirty="0">
                <a:solidFill>
                  <a:prstClr val="black"/>
                </a:solidFill>
                <a:latin typeface="Calibri" panose="020F0502020204030204" pitchFamily="34" charset="0"/>
              </a:rPr>
              <a:t>Risk Management</a:t>
            </a:r>
          </a:p>
          <a:p>
            <a:pPr lvl="0" algn="ctr">
              <a:defRPr/>
            </a:pPr>
            <a:endParaRPr lang="en-CA" sz="1400" strike="sngStrike" kern="0" dirty="0">
              <a:solidFill>
                <a:prstClr val="black"/>
              </a:solidFill>
              <a:latin typeface="Calibri" panose="020F0502020204030204" pitchFamily="34" charset="0"/>
            </a:endParaRPr>
          </a:p>
        </p:txBody>
      </p:sp>
      <p:sp>
        <p:nvSpPr>
          <p:cNvPr id="11" name="Rectangle 10"/>
          <p:cNvSpPr/>
          <p:nvPr/>
        </p:nvSpPr>
        <p:spPr>
          <a:xfrm>
            <a:off x="2529198" y="3168413"/>
            <a:ext cx="1943390" cy="830997"/>
          </a:xfrm>
          <a:prstGeom prst="rect">
            <a:avLst/>
          </a:prstGeom>
          <a:solidFill>
            <a:srgbClr val="FFC000"/>
          </a:solidFill>
        </p:spPr>
        <p:txBody>
          <a:bodyPr wrap="square">
            <a:spAutoFit/>
          </a:bodyPr>
          <a:lstStyle/>
          <a:p>
            <a:pPr lvl="0" algn="ctr" fontAlgn="auto">
              <a:spcBef>
                <a:spcPts val="0"/>
              </a:spcBef>
              <a:spcAft>
                <a:spcPts val="0"/>
              </a:spcAft>
              <a:defRPr/>
            </a:pPr>
            <a:r>
              <a:rPr lang="en-CA" sz="2000" b="1" strike="sngStrike" kern="0" dirty="0">
                <a:solidFill>
                  <a:prstClr val="black"/>
                </a:solidFill>
                <a:latin typeface="Calibri" panose="020F0502020204030204" pitchFamily="34" charset="0"/>
              </a:rPr>
              <a:t>Lecture 7</a:t>
            </a:r>
            <a:endParaRPr lang="en-CA" sz="2000" strike="sngStrike" kern="0" dirty="0">
              <a:solidFill>
                <a:prstClr val="black"/>
              </a:solidFill>
              <a:latin typeface="Calibri" panose="020F0502020204030204" pitchFamily="34" charset="0"/>
            </a:endParaRPr>
          </a:p>
          <a:p>
            <a:pPr lvl="0" algn="ctr" fontAlgn="auto">
              <a:spcBef>
                <a:spcPts val="0"/>
              </a:spcBef>
              <a:spcAft>
                <a:spcPts val="0"/>
              </a:spcAft>
              <a:defRPr/>
            </a:pPr>
            <a:r>
              <a:rPr lang="en-CA" sz="1400" strike="sngStrike" kern="0" dirty="0">
                <a:solidFill>
                  <a:prstClr val="black"/>
                </a:solidFill>
                <a:latin typeface="Calibri" panose="020F0502020204030204" pitchFamily="34" charset="0"/>
              </a:rPr>
              <a:t>Project Scheduling</a:t>
            </a:r>
          </a:p>
          <a:p>
            <a:pPr lvl="0" algn="ctr" fontAlgn="auto">
              <a:spcBef>
                <a:spcPts val="0"/>
              </a:spcBef>
              <a:spcAft>
                <a:spcPts val="0"/>
              </a:spcAft>
              <a:defRPr/>
            </a:pPr>
            <a:endParaRPr lang="en-CA" sz="1400" strike="sngStrike" kern="0" dirty="0">
              <a:solidFill>
                <a:prstClr val="black"/>
              </a:solidFill>
              <a:latin typeface="Calibri" panose="020F0502020204030204" pitchFamily="34" charset="0"/>
            </a:endParaRPr>
          </a:p>
        </p:txBody>
      </p:sp>
      <p:sp>
        <p:nvSpPr>
          <p:cNvPr id="12" name="Rectangle 11"/>
          <p:cNvSpPr/>
          <p:nvPr/>
        </p:nvSpPr>
        <p:spPr>
          <a:xfrm>
            <a:off x="4667135" y="3165386"/>
            <a:ext cx="1943390" cy="830997"/>
          </a:xfrm>
          <a:prstGeom prst="rect">
            <a:avLst/>
          </a:prstGeom>
          <a:solidFill>
            <a:srgbClr val="FFC000"/>
          </a:solidFill>
        </p:spPr>
        <p:txBody>
          <a:bodyPr wrap="square">
            <a:spAutoFit/>
          </a:bodyPr>
          <a:lstStyle/>
          <a:p>
            <a:pPr lvl="0" algn="ctr" fontAlgn="auto">
              <a:spcBef>
                <a:spcPts val="0"/>
              </a:spcBef>
              <a:spcAft>
                <a:spcPts val="0"/>
              </a:spcAft>
              <a:defRPr/>
            </a:pPr>
            <a:r>
              <a:rPr lang="en-CA" sz="2000" b="1" strike="sngStrike" kern="0" dirty="0">
                <a:solidFill>
                  <a:prstClr val="black"/>
                </a:solidFill>
                <a:latin typeface="Calibri" panose="020F0502020204030204" pitchFamily="34" charset="0"/>
              </a:rPr>
              <a:t>Lecture 8 </a:t>
            </a:r>
          </a:p>
          <a:p>
            <a:pPr lvl="0" algn="ctr" fontAlgn="auto">
              <a:spcBef>
                <a:spcPts val="0"/>
              </a:spcBef>
              <a:spcAft>
                <a:spcPts val="0"/>
              </a:spcAft>
              <a:defRPr/>
            </a:pPr>
            <a:r>
              <a:rPr lang="en-CA" sz="1400" strike="sngStrike" kern="0" dirty="0">
                <a:solidFill>
                  <a:prstClr val="black"/>
                </a:solidFill>
                <a:latin typeface="Calibri" panose="020F0502020204030204" pitchFamily="34" charset="0"/>
              </a:rPr>
              <a:t>Costs Estimation</a:t>
            </a:r>
          </a:p>
          <a:p>
            <a:pPr lvl="0" algn="ctr" fontAlgn="auto">
              <a:spcBef>
                <a:spcPts val="0"/>
              </a:spcBef>
              <a:spcAft>
                <a:spcPts val="0"/>
              </a:spcAft>
              <a:defRPr/>
            </a:pPr>
            <a:r>
              <a:rPr lang="en-CA" sz="1400" strike="sngStrike" kern="0" dirty="0">
                <a:solidFill>
                  <a:prstClr val="black"/>
                </a:solidFill>
                <a:latin typeface="Calibri" panose="020F0502020204030204" pitchFamily="34" charset="0"/>
              </a:rPr>
              <a:t>and Budgeting</a:t>
            </a:r>
          </a:p>
        </p:txBody>
      </p:sp>
      <p:sp>
        <p:nvSpPr>
          <p:cNvPr id="13" name="Rectangle 12"/>
          <p:cNvSpPr/>
          <p:nvPr/>
        </p:nvSpPr>
        <p:spPr>
          <a:xfrm>
            <a:off x="6805074" y="3165386"/>
            <a:ext cx="1943390" cy="830997"/>
          </a:xfrm>
          <a:prstGeom prst="rect">
            <a:avLst/>
          </a:prstGeom>
          <a:solidFill>
            <a:srgbClr val="FFC000"/>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2000" b="1" i="0" u="none" strike="sngStrike" kern="0" cap="none" spc="0" normalizeH="0" noProof="0" dirty="0">
                <a:ln>
                  <a:noFill/>
                </a:ln>
                <a:effectLst/>
                <a:uLnTx/>
                <a:uFillTx/>
                <a:latin typeface="Calibri" panose="020F0502020204030204" pitchFamily="34" charset="0"/>
              </a:rPr>
              <a:t>Lecture 9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1400" b="0" i="0" u="none" strike="sngStrike" kern="0" cap="none" spc="0" normalizeH="0" noProof="0" dirty="0">
                <a:ln>
                  <a:noFill/>
                </a:ln>
                <a:effectLst/>
                <a:uLnTx/>
                <a:uFillTx/>
                <a:latin typeface="Calibri" panose="020F0502020204030204" pitchFamily="34" charset="0"/>
              </a:rPr>
              <a:t>Negotiation and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1400" b="0" i="0" u="none" strike="sngStrike" kern="0" cap="none" spc="0" normalizeH="0" noProof="0" dirty="0">
                <a:ln>
                  <a:noFill/>
                </a:ln>
                <a:effectLst/>
                <a:uLnTx/>
                <a:uFillTx/>
                <a:latin typeface="Calibri" panose="020F0502020204030204" pitchFamily="34" charset="0"/>
              </a:rPr>
              <a:t>Conflict Management</a:t>
            </a:r>
            <a:endParaRPr kumimoji="0" lang="en-CA" sz="1800" b="0" i="0" u="none" strike="sngStrike" kern="0" cap="none" spc="0" normalizeH="0" noProof="0" dirty="0">
              <a:ln>
                <a:noFill/>
              </a:ln>
              <a:effectLst/>
              <a:uLnTx/>
              <a:uFillTx/>
            </a:endParaRPr>
          </a:p>
        </p:txBody>
      </p:sp>
      <p:sp>
        <p:nvSpPr>
          <p:cNvPr id="14" name="Rectangle 13"/>
          <p:cNvSpPr/>
          <p:nvPr/>
        </p:nvSpPr>
        <p:spPr>
          <a:xfrm>
            <a:off x="395535" y="4135091"/>
            <a:ext cx="4077053" cy="892552"/>
          </a:xfrm>
          <a:prstGeom prst="rect">
            <a:avLst/>
          </a:prstGeom>
          <a:solidFill>
            <a:srgbClr val="FF0000"/>
          </a:solidFill>
        </p:spPr>
        <p:txBody>
          <a:bodyPr wrap="square">
            <a:spAutoFit/>
          </a:bodyPr>
          <a:lstStyle/>
          <a:p>
            <a:pPr algn="ctr" fontAlgn="auto">
              <a:spcBef>
                <a:spcPts val="0"/>
              </a:spcBef>
              <a:spcAft>
                <a:spcPts val="0"/>
              </a:spcAft>
              <a:defRPr/>
            </a:pPr>
            <a:r>
              <a:rPr lang="en-CA" sz="2000" b="1" kern="0" dirty="0">
                <a:solidFill>
                  <a:schemeClr val="bg1"/>
                </a:solidFill>
                <a:latin typeface="Calibri" panose="020F0502020204030204" pitchFamily="34" charset="0"/>
              </a:rPr>
              <a:t>Lecture 10</a:t>
            </a:r>
          </a:p>
          <a:p>
            <a:pPr algn="ctr" fontAlgn="auto">
              <a:spcBef>
                <a:spcPts val="0"/>
              </a:spcBef>
              <a:spcAft>
                <a:spcPts val="0"/>
              </a:spcAft>
              <a:defRPr/>
            </a:pPr>
            <a:endParaRPr lang="en-CA" kern="0" dirty="0">
              <a:solidFill>
                <a:schemeClr val="bg1"/>
              </a:solidFill>
              <a:latin typeface="Calibri" panose="020F0502020204030204" pitchFamily="34" charset="0"/>
            </a:endParaRPr>
          </a:p>
          <a:p>
            <a:pPr algn="ctr" fontAlgn="auto">
              <a:spcBef>
                <a:spcPts val="0"/>
              </a:spcBef>
              <a:spcAft>
                <a:spcPts val="0"/>
              </a:spcAft>
              <a:defRPr/>
            </a:pPr>
            <a:r>
              <a:rPr lang="en-CA" sz="1400" kern="0" dirty="0">
                <a:solidFill>
                  <a:schemeClr val="bg1"/>
                </a:solidFill>
                <a:latin typeface="Calibri" panose="020F0502020204030204" pitchFamily="34" charset="0"/>
              </a:rPr>
              <a:t>Resource Management</a:t>
            </a:r>
          </a:p>
        </p:txBody>
      </p:sp>
      <p:sp>
        <p:nvSpPr>
          <p:cNvPr id="15" name="Rectangle 14"/>
          <p:cNvSpPr/>
          <p:nvPr/>
        </p:nvSpPr>
        <p:spPr>
          <a:xfrm>
            <a:off x="4667135" y="4135091"/>
            <a:ext cx="4081329" cy="892552"/>
          </a:xfrm>
          <a:prstGeom prst="rect">
            <a:avLst/>
          </a:prstGeom>
          <a:solidFill>
            <a:srgbClr val="FFC000"/>
          </a:solidFill>
        </p:spPr>
        <p:txBody>
          <a:bodyPr wrap="square">
            <a:spAutoFit/>
          </a:bodyPr>
          <a:lstStyle/>
          <a:p>
            <a:pPr lvl="0" algn="ctr" fontAlgn="auto">
              <a:spcBef>
                <a:spcPts val="0"/>
              </a:spcBef>
              <a:spcAft>
                <a:spcPts val="0"/>
              </a:spcAft>
              <a:defRPr/>
            </a:pPr>
            <a:r>
              <a:rPr lang="en-CA" sz="2000" b="1" kern="0" dirty="0">
                <a:solidFill>
                  <a:prstClr val="black"/>
                </a:solidFill>
                <a:latin typeface="Calibri" panose="020F0502020204030204" pitchFamily="34" charset="0"/>
              </a:rPr>
              <a:t>Lecture 11</a:t>
            </a:r>
          </a:p>
          <a:p>
            <a:pPr lvl="0" algn="ctr" fontAlgn="auto">
              <a:spcBef>
                <a:spcPts val="0"/>
              </a:spcBef>
              <a:spcAft>
                <a:spcPts val="0"/>
              </a:spcAft>
              <a:defRPr/>
            </a:pPr>
            <a:endParaRPr lang="en-CA" kern="0" dirty="0">
              <a:solidFill>
                <a:prstClr val="black"/>
              </a:solidFill>
              <a:latin typeface="Calibri" panose="020F0502020204030204" pitchFamily="34" charset="0"/>
            </a:endParaRPr>
          </a:p>
          <a:p>
            <a:pPr lvl="0" algn="ctr" fontAlgn="auto">
              <a:spcBef>
                <a:spcPts val="0"/>
              </a:spcBef>
              <a:spcAft>
                <a:spcPts val="0"/>
              </a:spcAft>
              <a:defRPr/>
            </a:pPr>
            <a:r>
              <a:rPr lang="en-CA" sz="1400" kern="0" dirty="0">
                <a:solidFill>
                  <a:prstClr val="black"/>
                </a:solidFill>
                <a:latin typeface="Calibri" panose="020F0502020204030204" pitchFamily="34" charset="0"/>
              </a:rPr>
              <a:t>Control Systems</a:t>
            </a:r>
          </a:p>
        </p:txBody>
      </p:sp>
      <p:sp>
        <p:nvSpPr>
          <p:cNvPr id="16" name="Rectangle 15"/>
          <p:cNvSpPr/>
          <p:nvPr/>
        </p:nvSpPr>
        <p:spPr>
          <a:xfrm>
            <a:off x="395534" y="5159388"/>
            <a:ext cx="8352929" cy="892552"/>
          </a:xfrm>
          <a:prstGeom prst="rect">
            <a:avLst/>
          </a:prstGeom>
          <a:solidFill>
            <a:srgbClr val="FFC000"/>
          </a:solidFill>
        </p:spPr>
        <p:txBody>
          <a:bodyPr wrap="square">
            <a:spAutoFit/>
          </a:bodyPr>
          <a:lstStyle/>
          <a:p>
            <a:pPr lvl="0" algn="ctr" fontAlgn="auto">
              <a:spcBef>
                <a:spcPts val="0"/>
              </a:spcBef>
              <a:spcAft>
                <a:spcPts val="0"/>
              </a:spcAft>
              <a:defRPr/>
            </a:pPr>
            <a:r>
              <a:rPr lang="en-CA" sz="2000" b="1" kern="0" dirty="0">
                <a:solidFill>
                  <a:prstClr val="black"/>
                </a:solidFill>
                <a:latin typeface="Calibri" panose="020F0502020204030204" pitchFamily="34" charset="0"/>
              </a:rPr>
              <a:t>Lecture 12</a:t>
            </a:r>
          </a:p>
          <a:p>
            <a:pPr lvl="0" algn="ctr" fontAlgn="auto">
              <a:spcBef>
                <a:spcPts val="0"/>
              </a:spcBef>
              <a:spcAft>
                <a:spcPts val="0"/>
              </a:spcAft>
              <a:defRPr/>
            </a:pPr>
            <a:endParaRPr lang="en-CA" kern="0" dirty="0">
              <a:solidFill>
                <a:prstClr val="black"/>
              </a:solidFill>
              <a:latin typeface="Calibri" panose="020F0502020204030204" pitchFamily="34" charset="0"/>
            </a:endParaRPr>
          </a:p>
          <a:p>
            <a:pPr lvl="0" algn="ctr" fontAlgn="auto">
              <a:spcBef>
                <a:spcPts val="0"/>
              </a:spcBef>
              <a:spcAft>
                <a:spcPts val="0"/>
              </a:spcAft>
              <a:defRPr/>
            </a:pPr>
            <a:r>
              <a:rPr lang="en-CA" sz="1400" kern="0" dirty="0">
                <a:solidFill>
                  <a:prstClr val="black"/>
                </a:solidFill>
                <a:latin typeface="Calibri" panose="020F0502020204030204" pitchFamily="34" charset="0"/>
              </a:rPr>
              <a:t>Project Closeout and Termination</a:t>
            </a:r>
          </a:p>
        </p:txBody>
      </p:sp>
      <p:sp>
        <p:nvSpPr>
          <p:cNvPr id="17" name="Date Placeholder 16">
            <a:extLst>
              <a:ext uri="{FF2B5EF4-FFF2-40B4-BE49-F238E27FC236}">
                <a16:creationId xmlns:a16="http://schemas.microsoft.com/office/drawing/2014/main" id="{8D9CB2E8-A054-4124-9B8C-3F3B4A75F032}"/>
              </a:ext>
            </a:extLst>
          </p:cNvPr>
          <p:cNvSpPr>
            <a:spLocks noGrp="1"/>
          </p:cNvSpPr>
          <p:nvPr>
            <p:ph type="dt" sz="half" idx="10"/>
          </p:nvPr>
        </p:nvSpPr>
        <p:spPr/>
        <p:txBody>
          <a:bodyPr/>
          <a:lstStyle/>
          <a:p>
            <a:pPr>
              <a:defRPr/>
            </a:pPr>
            <a:r>
              <a:rPr lang="en-US"/>
              <a:t>Lecture 10</a:t>
            </a:r>
            <a:endParaRPr lang="en-US" dirty="0"/>
          </a:p>
        </p:txBody>
      </p:sp>
      <p:sp>
        <p:nvSpPr>
          <p:cNvPr id="18" name="Footer Placeholder 17">
            <a:extLst>
              <a:ext uri="{FF2B5EF4-FFF2-40B4-BE49-F238E27FC236}">
                <a16:creationId xmlns:a16="http://schemas.microsoft.com/office/drawing/2014/main" id="{187DB0F4-0052-4754-BCFD-94E386B44212}"/>
              </a:ext>
            </a:extLst>
          </p:cNvPr>
          <p:cNvSpPr>
            <a:spLocks noGrp="1"/>
          </p:cNvSpPr>
          <p:nvPr>
            <p:ph type="ftr" sz="quarter" idx="11"/>
          </p:nvPr>
        </p:nvSpPr>
        <p:spPr/>
        <p:txBody>
          <a:bodyPr/>
          <a:lstStyle/>
          <a:p>
            <a:pPr>
              <a:defRPr/>
            </a:pPr>
            <a:r>
              <a:rPr lang="en-US"/>
              <a:t>G.R. Labbé</a:t>
            </a:r>
          </a:p>
        </p:txBody>
      </p:sp>
    </p:spTree>
    <p:extLst>
      <p:ext uri="{BB962C8B-B14F-4D97-AF65-F5344CB8AC3E}">
        <p14:creationId xmlns:p14="http://schemas.microsoft.com/office/powerpoint/2010/main" val="768711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82613" y="390532"/>
            <a:ext cx="8229600" cy="534364"/>
          </a:xfrm>
        </p:spPr>
        <p:txBody>
          <a:bodyPr>
            <a:noAutofit/>
          </a:bodyPr>
          <a:lstStyle/>
          <a:p>
            <a:pPr eaLnBrk="1" hangingPunct="1"/>
            <a:r>
              <a:rPr lang="en-US" sz="3600" b="1" dirty="0">
                <a:latin typeface="+mn-lt"/>
                <a:cs typeface="Arial" panose="020B0604020202020204" pitchFamily="34" charset="0"/>
              </a:rPr>
              <a:t>Constraints on Projects</a:t>
            </a:r>
          </a:p>
        </p:txBody>
      </p:sp>
      <p:sp>
        <p:nvSpPr>
          <p:cNvPr id="7171" name="Rectangle 3"/>
          <p:cNvSpPr>
            <a:spLocks noGrp="1" noChangeArrowheads="1"/>
          </p:cNvSpPr>
          <p:nvPr>
            <p:ph idx="1"/>
          </p:nvPr>
        </p:nvSpPr>
        <p:spPr>
          <a:xfrm>
            <a:off x="465834" y="1412776"/>
            <a:ext cx="8229600" cy="4788958"/>
          </a:xfrm>
        </p:spPr>
        <p:txBody>
          <a:bodyPr>
            <a:normAutofit/>
          </a:bodyPr>
          <a:lstStyle/>
          <a:p>
            <a:pPr marL="539750" indent="-539750" eaLnBrk="1" hangingPunct="1">
              <a:lnSpc>
                <a:spcPct val="80000"/>
              </a:lnSpc>
              <a:buFontTx/>
              <a:buNone/>
            </a:pPr>
            <a:endParaRPr lang="en-US" sz="2400" dirty="0">
              <a:latin typeface="Arial" panose="020B0604020202020204" pitchFamily="34" charset="0"/>
              <a:cs typeface="Arial" panose="020B0604020202020204" pitchFamily="34" charset="0"/>
            </a:endParaRPr>
          </a:p>
          <a:p>
            <a:pPr marL="539750" indent="-539750" eaLnBrk="1" hangingPunct="1">
              <a:lnSpc>
                <a:spcPct val="80000"/>
              </a:lnSpc>
              <a:buFontTx/>
              <a:buNone/>
            </a:pPr>
            <a:r>
              <a:rPr lang="en-US" sz="2400" dirty="0">
                <a:latin typeface="Arial" panose="020B0604020202020204" pitchFamily="34" charset="0"/>
                <a:cs typeface="Arial" panose="020B0604020202020204" pitchFamily="34" charset="0"/>
              </a:rPr>
              <a:t>      </a:t>
            </a:r>
            <a:r>
              <a:rPr lang="en-US" sz="1900" dirty="0">
                <a:cs typeface="Arial" panose="020B0604020202020204" pitchFamily="34" charset="0"/>
              </a:rPr>
              <a:t>As described in the very beginning, all projects run in an environment of </a:t>
            </a:r>
            <a:r>
              <a:rPr lang="en-US" sz="1900" dirty="0">
                <a:solidFill>
                  <a:srgbClr val="00B050"/>
                </a:solidFill>
                <a:cs typeface="Arial" panose="020B0604020202020204" pitchFamily="34" charset="0"/>
              </a:rPr>
              <a:t>constraints</a:t>
            </a:r>
            <a:r>
              <a:rPr lang="en-US" sz="1900" dirty="0">
                <a:cs typeface="Arial" panose="020B0604020202020204" pitchFamily="34" charset="0"/>
              </a:rPr>
              <a:t>. </a:t>
            </a:r>
          </a:p>
          <a:p>
            <a:pPr marL="514350" indent="-514350" eaLnBrk="1" hangingPunct="1">
              <a:lnSpc>
                <a:spcPct val="80000"/>
              </a:lnSpc>
              <a:buClrTx/>
              <a:buFont typeface="+mj-lt"/>
              <a:buAutoNum type="arabicParenR"/>
            </a:pPr>
            <a:r>
              <a:rPr lang="en-US" sz="1900" b="1" dirty="0">
                <a:solidFill>
                  <a:srgbClr val="C00000"/>
                </a:solidFill>
                <a:cs typeface="Arial" panose="020B0604020202020204" pitchFamily="34" charset="0"/>
              </a:rPr>
              <a:t>TECHNICAL CONSTRAINTS</a:t>
            </a:r>
          </a:p>
          <a:p>
            <a:pPr marL="514350" indent="-514350" eaLnBrk="1" hangingPunct="1">
              <a:lnSpc>
                <a:spcPct val="80000"/>
              </a:lnSpc>
              <a:buClrTx/>
              <a:buFont typeface="+mj-lt"/>
              <a:buAutoNum type="arabicParenR"/>
            </a:pPr>
            <a:r>
              <a:rPr lang="en-US" sz="1900" b="1" dirty="0">
                <a:solidFill>
                  <a:srgbClr val="C00000"/>
                </a:solidFill>
                <a:cs typeface="Arial" panose="020B0604020202020204" pitchFamily="34" charset="0"/>
              </a:rPr>
              <a:t>PHYSICAL CONSTRAINTS</a:t>
            </a:r>
          </a:p>
          <a:p>
            <a:pPr marL="514350" indent="-514350">
              <a:lnSpc>
                <a:spcPct val="80000"/>
              </a:lnSpc>
              <a:buClrTx/>
              <a:buFont typeface="+mj-lt"/>
              <a:buAutoNum type="arabicParenR"/>
            </a:pPr>
            <a:r>
              <a:rPr lang="en-US" sz="1900" b="1" dirty="0">
                <a:solidFill>
                  <a:srgbClr val="C00000"/>
                </a:solidFill>
                <a:cs typeface="Arial" panose="020B0604020202020204" pitchFamily="34" charset="0"/>
              </a:rPr>
              <a:t>RESOURCE CONSTRAINTS</a:t>
            </a:r>
          </a:p>
          <a:p>
            <a:pPr lvl="5">
              <a:lnSpc>
                <a:spcPct val="80000"/>
              </a:lnSpc>
              <a:buClrTx/>
            </a:pPr>
            <a:r>
              <a:rPr lang="en-US" sz="1900" dirty="0">
                <a:cs typeface="Arial" panose="020B0604020202020204" pitchFamily="34" charset="0"/>
              </a:rPr>
              <a:t>People</a:t>
            </a:r>
          </a:p>
          <a:p>
            <a:pPr lvl="5">
              <a:lnSpc>
                <a:spcPct val="80000"/>
              </a:lnSpc>
              <a:buClrTx/>
            </a:pPr>
            <a:r>
              <a:rPr lang="en-US" sz="1900" dirty="0">
                <a:cs typeface="Arial" panose="020B0604020202020204" pitchFamily="34" charset="0"/>
              </a:rPr>
              <a:t>Materials</a:t>
            </a:r>
          </a:p>
          <a:p>
            <a:pPr lvl="5">
              <a:lnSpc>
                <a:spcPct val="80000"/>
              </a:lnSpc>
              <a:buClrTx/>
            </a:pPr>
            <a:r>
              <a:rPr lang="en-US" sz="1900" dirty="0">
                <a:cs typeface="Arial" panose="020B0604020202020204" pitchFamily="34" charset="0"/>
              </a:rPr>
              <a:t>Space</a:t>
            </a:r>
          </a:p>
          <a:p>
            <a:pPr lvl="5">
              <a:lnSpc>
                <a:spcPct val="80000"/>
              </a:lnSpc>
              <a:buClrTx/>
            </a:pPr>
            <a:r>
              <a:rPr lang="en-US" sz="1900" dirty="0">
                <a:cs typeface="Arial" panose="020B0604020202020204" pitchFamily="34" charset="0"/>
              </a:rPr>
              <a:t>Money</a:t>
            </a:r>
          </a:p>
          <a:p>
            <a:pPr lvl="5">
              <a:lnSpc>
                <a:spcPct val="80000"/>
              </a:lnSpc>
              <a:buClrTx/>
            </a:pPr>
            <a:r>
              <a:rPr lang="en-US" sz="1900" dirty="0">
                <a:cs typeface="Arial" panose="020B0604020202020204" pitchFamily="34" charset="0"/>
              </a:rPr>
              <a:t>Equipment</a:t>
            </a:r>
          </a:p>
          <a:p>
            <a:pPr marL="539750" indent="-539750" eaLnBrk="1" hangingPunct="1">
              <a:lnSpc>
                <a:spcPct val="80000"/>
              </a:lnSpc>
              <a:buFontTx/>
              <a:buNone/>
            </a:pPr>
            <a:r>
              <a:rPr lang="en-US" sz="1400" dirty="0">
                <a:cs typeface="Arial" panose="020B0604020202020204" pitchFamily="34" charset="0"/>
              </a:rPr>
              <a:t>	</a:t>
            </a:r>
            <a:r>
              <a:rPr lang="en-US" sz="1800" dirty="0">
                <a:cs typeface="Arial" panose="020B0604020202020204" pitchFamily="34" charset="0"/>
              </a:rPr>
              <a:t>In this lecture we look in detail at the </a:t>
            </a:r>
            <a:r>
              <a:rPr lang="en-US" sz="1800" dirty="0">
                <a:solidFill>
                  <a:srgbClr val="00B050"/>
                </a:solidFill>
                <a:cs typeface="Arial" panose="020B0604020202020204" pitchFamily="34" charset="0"/>
              </a:rPr>
              <a:t>resource constraints </a:t>
            </a:r>
            <a:r>
              <a:rPr lang="en-US" sz="1800" dirty="0">
                <a:cs typeface="Arial" panose="020B0604020202020204" pitchFamily="34" charset="0"/>
              </a:rPr>
              <a:t>and techniques to improve their utilization through </a:t>
            </a:r>
            <a:r>
              <a:rPr lang="en-US" sz="1800" b="1" dirty="0">
                <a:solidFill>
                  <a:srgbClr val="7030A0"/>
                </a:solidFill>
                <a:cs typeface="Arial" panose="020B0604020202020204" pitchFamily="34" charset="0"/>
              </a:rPr>
              <a:t>Resource Leveling </a:t>
            </a:r>
            <a:r>
              <a:rPr lang="en-US" sz="1800" dirty="0">
                <a:cs typeface="Arial" panose="020B0604020202020204" pitchFamily="34" charset="0"/>
              </a:rPr>
              <a:t>and </a:t>
            </a:r>
            <a:r>
              <a:rPr lang="en-US" sz="1800" b="1" dirty="0">
                <a:solidFill>
                  <a:srgbClr val="7030A0"/>
                </a:solidFill>
                <a:cs typeface="Arial" panose="020B0604020202020204" pitchFamily="34" charset="0"/>
              </a:rPr>
              <a:t>Resource Smoothing</a:t>
            </a:r>
            <a:r>
              <a:rPr lang="en-US" sz="1800" dirty="0">
                <a:cs typeface="Arial" panose="020B0604020202020204" pitchFamily="34" charset="0"/>
              </a:rPr>
              <a:t>.</a:t>
            </a:r>
            <a:r>
              <a:rPr lang="en-US" sz="1800" dirty="0"/>
              <a:t> </a:t>
            </a:r>
          </a:p>
        </p:txBody>
      </p:sp>
      <p:pic>
        <p:nvPicPr>
          <p:cNvPr id="8194" name="Picture 2" descr="http://www.absecmy.com/project-theme/images/template/icons/resourc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19873" y="2483616"/>
            <a:ext cx="2305471" cy="219331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4863280" y="4713784"/>
            <a:ext cx="2818656" cy="184666"/>
          </a:xfrm>
          <a:prstGeom prst="rect">
            <a:avLst/>
          </a:prstGeom>
          <a:noFill/>
        </p:spPr>
        <p:txBody>
          <a:bodyPr wrap="square" rtlCol="0">
            <a:spAutoFit/>
          </a:bodyPr>
          <a:lstStyle/>
          <a:p>
            <a:r>
              <a:rPr lang="en-US" sz="600" dirty="0"/>
              <a:t>http://www.absecmy.com/project-theme/images/template/icons/resources.jpg</a:t>
            </a:r>
          </a:p>
        </p:txBody>
      </p:sp>
      <p:sp>
        <p:nvSpPr>
          <p:cNvPr id="6"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3" name="Slide Number Placeholder 2"/>
          <p:cNvSpPr>
            <a:spLocks noGrp="1"/>
          </p:cNvSpPr>
          <p:nvPr>
            <p:ph type="sldNum" sz="quarter" idx="12"/>
          </p:nvPr>
        </p:nvSpPr>
        <p:spPr/>
        <p:txBody>
          <a:bodyPr/>
          <a:lstStyle/>
          <a:p>
            <a:pPr>
              <a:defRPr/>
            </a:pPr>
            <a:fld id="{1152812F-33DB-44F2-8D7A-55F34972C181}" type="slidenum">
              <a:rPr lang="en-US" smtClean="0"/>
              <a:pPr>
                <a:defRPr/>
              </a:pPr>
              <a:t>3</a:t>
            </a:fld>
            <a:endParaRPr lang="en-US"/>
          </a:p>
        </p:txBody>
      </p:sp>
      <p:sp>
        <p:nvSpPr>
          <p:cNvPr id="5" name="Date Placeholder 4">
            <a:extLst>
              <a:ext uri="{FF2B5EF4-FFF2-40B4-BE49-F238E27FC236}">
                <a16:creationId xmlns:a16="http://schemas.microsoft.com/office/drawing/2014/main" id="{4AF99E16-7EBB-4710-AB7F-7F844A12BCC3}"/>
              </a:ext>
            </a:extLst>
          </p:cNvPr>
          <p:cNvSpPr>
            <a:spLocks noGrp="1"/>
          </p:cNvSpPr>
          <p:nvPr>
            <p:ph type="dt" sz="half" idx="10"/>
          </p:nvPr>
        </p:nvSpPr>
        <p:spPr/>
        <p:txBody>
          <a:bodyPr/>
          <a:lstStyle/>
          <a:p>
            <a:pPr>
              <a:defRPr/>
            </a:pPr>
            <a:r>
              <a:rPr lang="en-US"/>
              <a:t>Lecture 10</a:t>
            </a:r>
          </a:p>
        </p:txBody>
      </p:sp>
      <p:sp>
        <p:nvSpPr>
          <p:cNvPr id="7" name="Footer Placeholder 6">
            <a:extLst>
              <a:ext uri="{FF2B5EF4-FFF2-40B4-BE49-F238E27FC236}">
                <a16:creationId xmlns:a16="http://schemas.microsoft.com/office/drawing/2014/main" id="{1D1F36E5-F654-4184-AC53-00BAB30AD036}"/>
              </a:ext>
            </a:extLst>
          </p:cNvPr>
          <p:cNvSpPr>
            <a:spLocks noGrp="1"/>
          </p:cNvSpPr>
          <p:nvPr>
            <p:ph type="ftr" sz="quarter" idx="11"/>
          </p:nvPr>
        </p:nvSpPr>
        <p:spPr/>
        <p:txBody>
          <a:bodyPr/>
          <a:lstStyle/>
          <a:p>
            <a:pPr>
              <a:defRPr/>
            </a:pPr>
            <a:r>
              <a:rPr lang="en-US"/>
              <a:t>G.R. Labbé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1">
                                            <p:txEl>
                                              <p:pRg st="2" end="2"/>
                                            </p:txEl>
                                          </p:spTgt>
                                        </p:tgtEl>
                                        <p:attrNameLst>
                                          <p:attrName>style.visibility</p:attrName>
                                        </p:attrNameLst>
                                      </p:cBhvr>
                                      <p:to>
                                        <p:strVal val="visible"/>
                                      </p:to>
                                    </p:set>
                                    <p:anim calcmode="lin" valueType="num">
                                      <p:cBhvr additive="base">
                                        <p:cTn id="7" dur="500" fill="hold"/>
                                        <p:tgtEl>
                                          <p:spTgt spid="717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anim calcmode="lin" valueType="num">
                                      <p:cBhvr additive="base">
                                        <p:cTn id="13" dur="500" fill="hold"/>
                                        <p:tgtEl>
                                          <p:spTgt spid="717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1">
                                            <p:txEl>
                                              <p:pRg st="4" end="4"/>
                                            </p:txEl>
                                          </p:spTgt>
                                        </p:tgtEl>
                                        <p:attrNameLst>
                                          <p:attrName>style.visibility</p:attrName>
                                        </p:attrNameLst>
                                      </p:cBhvr>
                                      <p:to>
                                        <p:strVal val="visible"/>
                                      </p:to>
                                    </p:set>
                                    <p:anim calcmode="lin" valueType="num">
                                      <p:cBhvr additive="base">
                                        <p:cTn id="19" dur="500" fill="hold"/>
                                        <p:tgtEl>
                                          <p:spTgt spid="717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457200" y="404664"/>
            <a:ext cx="8229600" cy="420656"/>
          </a:xfrm>
        </p:spPr>
        <p:txBody>
          <a:bodyPr>
            <a:noAutofit/>
          </a:bodyPr>
          <a:lstStyle/>
          <a:p>
            <a:pPr eaLnBrk="1" hangingPunct="1"/>
            <a:r>
              <a:rPr lang="en-US" sz="3600" b="1" dirty="0">
                <a:latin typeface="+mn-lt"/>
                <a:cs typeface="Arial" panose="020B0604020202020204" pitchFamily="34" charset="0"/>
              </a:rPr>
              <a:t>Resource Leveling</a:t>
            </a:r>
          </a:p>
        </p:txBody>
      </p:sp>
      <p:sp>
        <p:nvSpPr>
          <p:cNvPr id="2" name="Rectangle 1"/>
          <p:cNvSpPr/>
          <p:nvPr/>
        </p:nvSpPr>
        <p:spPr>
          <a:xfrm>
            <a:off x="863588" y="1772816"/>
            <a:ext cx="7416824" cy="3908762"/>
          </a:xfrm>
          <a:prstGeom prst="rect">
            <a:avLst/>
          </a:prstGeom>
        </p:spPr>
        <p:txBody>
          <a:bodyPr wrap="square">
            <a:spAutoFit/>
          </a:bodyPr>
          <a:lstStyle/>
          <a:p>
            <a:r>
              <a:rPr lang="en-US" sz="3200" dirty="0">
                <a:latin typeface="+mn-lt"/>
              </a:rPr>
              <a:t>Defined by PMBOK as:</a:t>
            </a:r>
          </a:p>
          <a:p>
            <a:r>
              <a:rPr lang="en-US" sz="3200" dirty="0">
                <a:latin typeface="+mn-lt"/>
              </a:rPr>
              <a:t> </a:t>
            </a:r>
          </a:p>
          <a:p>
            <a:r>
              <a:rPr lang="en-US" sz="3200" b="1" dirty="0">
                <a:solidFill>
                  <a:srgbClr val="C00000"/>
                </a:solidFill>
                <a:latin typeface="+mn-lt"/>
              </a:rPr>
              <a:t>“A technique in which </a:t>
            </a:r>
            <a:r>
              <a:rPr lang="en-US" sz="3200" b="1" dirty="0">
                <a:solidFill>
                  <a:srgbClr val="7030A0"/>
                </a:solidFill>
                <a:latin typeface="+mn-lt"/>
              </a:rPr>
              <a:t>start and finish dates</a:t>
            </a:r>
            <a:r>
              <a:rPr lang="en-US" sz="3200" b="1" dirty="0">
                <a:solidFill>
                  <a:srgbClr val="C00000"/>
                </a:solidFill>
                <a:latin typeface="+mn-lt"/>
              </a:rPr>
              <a:t> are adjusted based on </a:t>
            </a:r>
            <a:r>
              <a:rPr lang="en-US" sz="3200" b="1" dirty="0">
                <a:solidFill>
                  <a:srgbClr val="7030A0"/>
                </a:solidFill>
                <a:latin typeface="+mn-lt"/>
              </a:rPr>
              <a:t>resource constraints </a:t>
            </a:r>
            <a:r>
              <a:rPr lang="en-US" sz="3200" b="1" dirty="0">
                <a:solidFill>
                  <a:srgbClr val="C00000"/>
                </a:solidFill>
                <a:latin typeface="+mn-lt"/>
              </a:rPr>
              <a:t>with the goal of balancing demand for resources with the available supply.”</a:t>
            </a:r>
          </a:p>
          <a:p>
            <a:r>
              <a:rPr lang="en-US" sz="2400" dirty="0">
                <a:latin typeface="Arial" panose="020B0604020202020204" pitchFamily="34" charset="0"/>
              </a:rPr>
              <a:t> </a:t>
            </a:r>
            <a:endParaRPr lang="en-US" sz="2400" dirty="0">
              <a:effectLst/>
              <a:latin typeface="Arial" panose="020B0604020202020204" pitchFamily="34" charset="0"/>
            </a:endParaRPr>
          </a:p>
        </p:txBody>
      </p:sp>
      <p:sp>
        <p:nvSpPr>
          <p:cNvPr id="4" name="Slide Number Placeholder 3"/>
          <p:cNvSpPr>
            <a:spLocks noGrp="1"/>
          </p:cNvSpPr>
          <p:nvPr>
            <p:ph type="sldNum" sz="quarter" idx="12"/>
          </p:nvPr>
        </p:nvSpPr>
        <p:spPr/>
        <p:txBody>
          <a:bodyPr/>
          <a:lstStyle/>
          <a:p>
            <a:pPr>
              <a:defRPr/>
            </a:pPr>
            <a:fld id="{1152812F-33DB-44F2-8D7A-55F34972C181}" type="slidenum">
              <a:rPr lang="en-US" smtClean="0"/>
              <a:pPr>
                <a:defRPr/>
              </a:pPr>
              <a:t>4</a:t>
            </a:fld>
            <a:endParaRPr lang="en-US"/>
          </a:p>
        </p:txBody>
      </p:sp>
      <p:sp>
        <p:nvSpPr>
          <p:cNvPr id="5" name="Date Placeholder 4">
            <a:extLst>
              <a:ext uri="{FF2B5EF4-FFF2-40B4-BE49-F238E27FC236}">
                <a16:creationId xmlns:a16="http://schemas.microsoft.com/office/drawing/2014/main" id="{903776FC-542A-4C16-8C96-9B7C43278182}"/>
              </a:ext>
            </a:extLst>
          </p:cNvPr>
          <p:cNvSpPr>
            <a:spLocks noGrp="1"/>
          </p:cNvSpPr>
          <p:nvPr>
            <p:ph type="dt" sz="half" idx="10"/>
          </p:nvPr>
        </p:nvSpPr>
        <p:spPr/>
        <p:txBody>
          <a:bodyPr/>
          <a:lstStyle/>
          <a:p>
            <a:pPr>
              <a:defRPr/>
            </a:pPr>
            <a:r>
              <a:rPr lang="en-US"/>
              <a:t>Lecture 10</a:t>
            </a:r>
          </a:p>
        </p:txBody>
      </p:sp>
      <p:sp>
        <p:nvSpPr>
          <p:cNvPr id="6" name="Footer Placeholder 5">
            <a:extLst>
              <a:ext uri="{FF2B5EF4-FFF2-40B4-BE49-F238E27FC236}">
                <a16:creationId xmlns:a16="http://schemas.microsoft.com/office/drawing/2014/main" id="{5472BFBE-E249-4740-9344-18F518494BAB}"/>
              </a:ext>
            </a:extLst>
          </p:cNvPr>
          <p:cNvSpPr>
            <a:spLocks noGrp="1"/>
          </p:cNvSpPr>
          <p:nvPr>
            <p:ph type="ftr" sz="quarter" idx="11"/>
          </p:nvPr>
        </p:nvSpPr>
        <p:spPr/>
        <p:txBody>
          <a:bodyPr/>
          <a:lstStyle/>
          <a:p>
            <a:pPr>
              <a:defRPr/>
            </a:pPr>
            <a:r>
              <a:rPr lang="en-US"/>
              <a:t>G.R. Labbé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p:cTn id="7"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6213" y="404664"/>
            <a:ext cx="8229600" cy="420656"/>
          </a:xfrm>
        </p:spPr>
        <p:txBody>
          <a:bodyPr>
            <a:noAutofit/>
          </a:bodyPr>
          <a:lstStyle/>
          <a:p>
            <a:pPr eaLnBrk="1" hangingPunct="1"/>
            <a:r>
              <a:rPr lang="en-US" sz="3600" b="1" dirty="0">
                <a:latin typeface="+mn-lt"/>
                <a:cs typeface="Arial" panose="020B0604020202020204" pitchFamily="34" charset="0"/>
              </a:rPr>
              <a:t>Resource Leveling</a:t>
            </a:r>
          </a:p>
        </p:txBody>
      </p:sp>
      <p:sp>
        <p:nvSpPr>
          <p:cNvPr id="9219" name="Rectangle 3"/>
          <p:cNvSpPr>
            <a:spLocks noGrp="1" noChangeArrowheads="1"/>
          </p:cNvSpPr>
          <p:nvPr>
            <p:ph idx="1"/>
          </p:nvPr>
        </p:nvSpPr>
        <p:spPr>
          <a:xfrm>
            <a:off x="582613" y="1845734"/>
            <a:ext cx="7784147" cy="3441750"/>
          </a:xfrm>
        </p:spPr>
        <p:txBody>
          <a:bodyPr>
            <a:normAutofit/>
          </a:bodyPr>
          <a:lstStyle/>
          <a:p>
            <a:pPr eaLnBrk="1" hangingPunct="1">
              <a:lnSpc>
                <a:spcPct val="90000"/>
              </a:lnSpc>
            </a:pPr>
            <a:r>
              <a:rPr lang="en-US" sz="2400" b="1" dirty="0">
                <a:solidFill>
                  <a:srgbClr val="C00000"/>
                </a:solidFill>
              </a:rPr>
              <a:t>Assumption is that you are working in a "Project Organization", meaning everyone of the team is working 100% on your project.</a:t>
            </a:r>
          </a:p>
          <a:p>
            <a:pPr eaLnBrk="1" hangingPunct="1">
              <a:lnSpc>
                <a:spcPct val="90000"/>
              </a:lnSpc>
            </a:pPr>
            <a:endParaRPr lang="en-US" sz="1800" b="1" dirty="0"/>
          </a:p>
          <a:p>
            <a:pPr eaLnBrk="1" hangingPunct="1">
              <a:lnSpc>
                <a:spcPct val="90000"/>
              </a:lnSpc>
              <a:buFontTx/>
              <a:buNone/>
            </a:pPr>
            <a:r>
              <a:rPr lang="en-US" dirty="0"/>
              <a:t>Resource Leveling has two objectives:</a:t>
            </a:r>
          </a:p>
          <a:p>
            <a:pPr marL="457200" indent="-457200" eaLnBrk="1" hangingPunct="1">
              <a:lnSpc>
                <a:spcPct val="90000"/>
              </a:lnSpc>
              <a:buClrTx/>
              <a:buFont typeface="+mj-lt"/>
              <a:buAutoNum type="arabicPeriod"/>
            </a:pPr>
            <a:r>
              <a:rPr lang="en-US" dirty="0">
                <a:solidFill>
                  <a:schemeClr val="bg2">
                    <a:lumMod val="25000"/>
                  </a:schemeClr>
                </a:solidFill>
              </a:rPr>
              <a:t>To determine the </a:t>
            </a:r>
            <a:r>
              <a:rPr lang="en-US" dirty="0">
                <a:solidFill>
                  <a:srgbClr val="00B050"/>
                </a:solidFill>
              </a:rPr>
              <a:t>resource</a:t>
            </a:r>
            <a:r>
              <a:rPr lang="en-US" dirty="0">
                <a:solidFill>
                  <a:schemeClr val="bg2">
                    <a:lumMod val="25000"/>
                  </a:schemeClr>
                </a:solidFill>
              </a:rPr>
              <a:t> </a:t>
            </a:r>
            <a:r>
              <a:rPr lang="en-US" dirty="0">
                <a:solidFill>
                  <a:srgbClr val="00B050"/>
                </a:solidFill>
              </a:rPr>
              <a:t>requirements</a:t>
            </a:r>
            <a:r>
              <a:rPr lang="en-US" dirty="0">
                <a:solidFill>
                  <a:schemeClr val="bg2">
                    <a:lumMod val="25000"/>
                  </a:schemeClr>
                </a:solidFill>
              </a:rPr>
              <a:t> so that they will be available at the right time.</a:t>
            </a:r>
          </a:p>
          <a:p>
            <a:pPr marL="457200" indent="-457200" eaLnBrk="1" hangingPunct="1">
              <a:lnSpc>
                <a:spcPct val="90000"/>
              </a:lnSpc>
              <a:buClrTx/>
              <a:buFont typeface="+mj-lt"/>
              <a:buAutoNum type="arabicPeriod"/>
            </a:pPr>
            <a:r>
              <a:rPr lang="en-US" dirty="0"/>
              <a:t>To allow each </a:t>
            </a:r>
            <a:r>
              <a:rPr lang="en-US" dirty="0">
                <a:solidFill>
                  <a:srgbClr val="00B050"/>
                </a:solidFill>
              </a:rPr>
              <a:t>activity</a:t>
            </a:r>
            <a:r>
              <a:rPr lang="en-US" dirty="0"/>
              <a:t> to be scheduled with the smoothest possible transition across resource usage levels.</a:t>
            </a:r>
          </a:p>
        </p:txBody>
      </p:sp>
      <p:sp>
        <p:nvSpPr>
          <p:cNvPr id="9220"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5</a:t>
            </a:fld>
            <a:endParaRPr lang="en-US"/>
          </a:p>
        </p:txBody>
      </p:sp>
      <p:sp>
        <p:nvSpPr>
          <p:cNvPr id="3" name="Date Placeholder 2">
            <a:extLst>
              <a:ext uri="{FF2B5EF4-FFF2-40B4-BE49-F238E27FC236}">
                <a16:creationId xmlns:a16="http://schemas.microsoft.com/office/drawing/2014/main" id="{756B8F4A-EB2F-4AB5-A3B7-4E96DD441FBC}"/>
              </a:ext>
            </a:extLst>
          </p:cNvPr>
          <p:cNvSpPr>
            <a:spLocks noGrp="1"/>
          </p:cNvSpPr>
          <p:nvPr>
            <p:ph type="dt" sz="half" idx="10"/>
          </p:nvPr>
        </p:nvSpPr>
        <p:spPr/>
        <p:txBody>
          <a:bodyPr/>
          <a:lstStyle/>
          <a:p>
            <a:pPr>
              <a:defRPr/>
            </a:pPr>
            <a:r>
              <a:rPr lang="en-US"/>
              <a:t>Lecture 10</a:t>
            </a:r>
            <a:endParaRPr lang="en-US" dirty="0"/>
          </a:p>
        </p:txBody>
      </p:sp>
      <p:sp>
        <p:nvSpPr>
          <p:cNvPr id="5" name="Footer Placeholder 4">
            <a:extLst>
              <a:ext uri="{FF2B5EF4-FFF2-40B4-BE49-F238E27FC236}">
                <a16:creationId xmlns:a16="http://schemas.microsoft.com/office/drawing/2014/main" id="{ECC7C47C-CCE0-4BD4-ACD0-448BAC121447}"/>
              </a:ext>
            </a:extLst>
          </p:cNvPr>
          <p:cNvSpPr>
            <a:spLocks noGrp="1"/>
          </p:cNvSpPr>
          <p:nvPr>
            <p:ph type="ftr" sz="quarter" idx="11"/>
          </p:nvPr>
        </p:nvSpPr>
        <p:spPr/>
        <p:txBody>
          <a:bodyPr/>
          <a:lstStyle/>
          <a:p>
            <a:pPr>
              <a:defRPr/>
            </a:pPr>
            <a:r>
              <a:rPr lang="en-US"/>
              <a:t>G.R. Labbé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8"/>
          <p:cNvSpPr>
            <a:spLocks noGrp="1" noChangeArrowheads="1"/>
          </p:cNvSpPr>
          <p:nvPr>
            <p:ph type="title"/>
          </p:nvPr>
        </p:nvSpPr>
        <p:spPr>
          <a:xfrm>
            <a:off x="575556" y="375755"/>
            <a:ext cx="7419183" cy="1035795"/>
          </a:xfrm>
        </p:spPr>
        <p:txBody>
          <a:bodyPr>
            <a:noAutofit/>
          </a:bodyPr>
          <a:lstStyle/>
          <a:p>
            <a:pPr eaLnBrk="1" hangingPunct="1"/>
            <a:r>
              <a:rPr lang="en-US" sz="3600" b="1" dirty="0">
                <a:latin typeface="+mn-lt"/>
                <a:cs typeface="Arial" panose="020B0604020202020204" pitchFamily="34" charset="0"/>
              </a:rPr>
              <a:t>Resource Loading Chart</a:t>
            </a:r>
            <a:br>
              <a:rPr lang="en-US" sz="3600" b="1" dirty="0">
                <a:latin typeface="+mn-lt"/>
                <a:cs typeface="Arial" panose="020B0604020202020204" pitchFamily="34" charset="0"/>
              </a:rPr>
            </a:br>
            <a:r>
              <a:rPr lang="en-US" sz="3600" b="1" dirty="0">
                <a:latin typeface="+mn-lt"/>
                <a:cs typeface="Arial" panose="020B0604020202020204" pitchFamily="34" charset="0"/>
              </a:rPr>
              <a:t>demonstrating Over-Allocation</a:t>
            </a:r>
          </a:p>
        </p:txBody>
      </p:sp>
      <p:graphicFrame>
        <p:nvGraphicFramePr>
          <p:cNvPr id="4106" name="Object 10"/>
          <p:cNvGraphicFramePr>
            <a:graphicFrameLocks noGrp="1" noChangeAspect="1"/>
          </p:cNvGraphicFramePr>
          <p:nvPr>
            <p:ph sz="half" idx="1"/>
            <p:extLst>
              <p:ext uri="{D42A27DB-BD31-4B8C-83A1-F6EECF244321}">
                <p14:modId xmlns:p14="http://schemas.microsoft.com/office/powerpoint/2010/main" val="4097568808"/>
              </p:ext>
            </p:extLst>
          </p:nvPr>
        </p:nvGraphicFramePr>
        <p:xfrm>
          <a:off x="575556" y="1645860"/>
          <a:ext cx="8136904" cy="1620838"/>
        </p:xfrm>
        <a:graphic>
          <a:graphicData uri="http://schemas.openxmlformats.org/presentationml/2006/ole">
            <mc:AlternateContent xmlns:mc="http://schemas.openxmlformats.org/markup-compatibility/2006">
              <mc:Choice xmlns:v="urn:schemas-microsoft-com:vml" Requires="v">
                <p:oleObj name="Project" r:id="rId2" imgW="9620250" imgH="1704975" progId="">
                  <p:embed/>
                </p:oleObj>
              </mc:Choice>
              <mc:Fallback>
                <p:oleObj name="Project" r:id="rId2" imgW="9620250" imgH="1704975" progId="">
                  <p:embed/>
                  <p:pic>
                    <p:nvPicPr>
                      <p:cNvPr id="0" name="Picture 3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556" y="1645860"/>
                        <a:ext cx="8136904" cy="1620838"/>
                      </a:xfrm>
                      <a:prstGeom prst="rect">
                        <a:avLst/>
                      </a:prstGeom>
                      <a:noFill/>
                    </p:spPr>
                  </p:pic>
                </p:oleObj>
              </mc:Fallback>
            </mc:AlternateContent>
          </a:graphicData>
        </a:graphic>
      </p:graphicFrame>
      <p:sp>
        <p:nvSpPr>
          <p:cNvPr id="4110" name="Oval 14"/>
          <p:cNvSpPr>
            <a:spLocks noChangeArrowheads="1"/>
          </p:cNvSpPr>
          <p:nvPr/>
        </p:nvSpPr>
        <p:spPr bwMode="auto">
          <a:xfrm>
            <a:off x="7219675" y="2242047"/>
            <a:ext cx="936625" cy="431800"/>
          </a:xfrm>
          <a:prstGeom prst="ellipse">
            <a:avLst/>
          </a:prstGeom>
          <a:noFill/>
          <a:ln w="38100">
            <a:solidFill>
              <a:srgbClr val="FF0000"/>
            </a:solidFill>
            <a:round/>
            <a:headEnd/>
            <a:tailEnd/>
          </a:ln>
        </p:spPr>
        <p:txBody>
          <a:bodyPr wrap="none" anchor="ctr"/>
          <a:lstStyle/>
          <a:p>
            <a:endParaRPr lang="en-US"/>
          </a:p>
        </p:txBody>
      </p:sp>
      <p:sp>
        <p:nvSpPr>
          <p:cNvPr id="4111" name="Oval 15"/>
          <p:cNvSpPr>
            <a:spLocks noChangeArrowheads="1"/>
          </p:cNvSpPr>
          <p:nvPr/>
        </p:nvSpPr>
        <p:spPr bwMode="auto">
          <a:xfrm>
            <a:off x="6227763" y="2824814"/>
            <a:ext cx="936625" cy="431800"/>
          </a:xfrm>
          <a:prstGeom prst="ellipse">
            <a:avLst/>
          </a:prstGeom>
          <a:noFill/>
          <a:ln w="38100">
            <a:solidFill>
              <a:srgbClr val="FF0000"/>
            </a:solidFill>
            <a:round/>
            <a:headEnd/>
            <a:tailEnd/>
          </a:ln>
        </p:spPr>
        <p:txBody>
          <a:bodyPr wrap="none" anchor="ctr"/>
          <a:lstStyle/>
          <a:p>
            <a:endParaRPr lang="en-US"/>
          </a:p>
        </p:txBody>
      </p:sp>
      <p:sp>
        <p:nvSpPr>
          <p:cNvPr id="4112" name="Line 16"/>
          <p:cNvSpPr>
            <a:spLocks noChangeShapeType="1"/>
          </p:cNvSpPr>
          <p:nvPr/>
        </p:nvSpPr>
        <p:spPr bwMode="auto">
          <a:xfrm flipV="1">
            <a:off x="3459301" y="2528105"/>
            <a:ext cx="1085850" cy="166688"/>
          </a:xfrm>
          <a:prstGeom prst="line">
            <a:avLst/>
          </a:prstGeom>
          <a:noFill/>
          <a:ln w="76200">
            <a:solidFill>
              <a:srgbClr val="FF0000"/>
            </a:solidFill>
            <a:round/>
            <a:headEnd/>
            <a:tailEnd type="triangle" w="sm" len="lg"/>
          </a:ln>
        </p:spPr>
        <p:txBody>
          <a:bodyPr/>
          <a:lstStyle/>
          <a:p>
            <a:endParaRPr lang="en-CA"/>
          </a:p>
        </p:txBody>
      </p:sp>
      <p:sp>
        <p:nvSpPr>
          <p:cNvPr id="4113" name="Line 17"/>
          <p:cNvSpPr>
            <a:spLocks noChangeShapeType="1"/>
          </p:cNvSpPr>
          <p:nvPr/>
        </p:nvSpPr>
        <p:spPr bwMode="auto">
          <a:xfrm>
            <a:off x="3459301" y="2824814"/>
            <a:ext cx="1085850" cy="230187"/>
          </a:xfrm>
          <a:prstGeom prst="line">
            <a:avLst/>
          </a:prstGeom>
          <a:noFill/>
          <a:ln w="76200">
            <a:solidFill>
              <a:srgbClr val="FF0000"/>
            </a:solidFill>
            <a:round/>
            <a:headEnd/>
            <a:tailEnd type="triangle" w="sm" len="lg"/>
          </a:ln>
        </p:spPr>
        <p:txBody>
          <a:bodyPr/>
          <a:lstStyle/>
          <a:p>
            <a:endParaRPr lang="en-CA"/>
          </a:p>
        </p:txBody>
      </p:sp>
      <p:sp>
        <p:nvSpPr>
          <p:cNvPr id="2" name="Content Placeholder 1"/>
          <p:cNvSpPr>
            <a:spLocks noGrp="1"/>
          </p:cNvSpPr>
          <p:nvPr>
            <p:ph sz="quarter" idx="2"/>
          </p:nvPr>
        </p:nvSpPr>
        <p:spPr>
          <a:xfrm>
            <a:off x="323528" y="3501008"/>
            <a:ext cx="8640960" cy="1800200"/>
          </a:xfrm>
        </p:spPr>
        <p:txBody>
          <a:bodyPr>
            <a:normAutofit/>
          </a:bodyPr>
          <a:lstStyle/>
          <a:p>
            <a:r>
              <a:rPr lang="en-US" sz="1800" dirty="0"/>
              <a:t>With a </a:t>
            </a:r>
            <a:r>
              <a:rPr lang="en-US" sz="1800" dirty="0">
                <a:solidFill>
                  <a:srgbClr val="00B050"/>
                </a:solidFill>
              </a:rPr>
              <a:t>Gantt chart </a:t>
            </a:r>
            <a:r>
              <a:rPr lang="en-US" sz="1800" dirty="0"/>
              <a:t>like this it is easy to see that </a:t>
            </a:r>
            <a:r>
              <a:rPr lang="en-US" sz="1800" dirty="0">
                <a:solidFill>
                  <a:srgbClr val="7030A0"/>
                </a:solidFill>
              </a:rPr>
              <a:t>John is over-allocated</a:t>
            </a:r>
            <a:r>
              <a:rPr lang="en-US" sz="1800" dirty="0"/>
              <a:t>. This assumes that he is utilized 100 % of the time every day. What if this was not the case.</a:t>
            </a:r>
          </a:p>
          <a:p>
            <a:r>
              <a:rPr lang="en-US" sz="1800" dirty="0"/>
              <a:t>Would you be able to tell?</a:t>
            </a:r>
          </a:p>
          <a:p>
            <a:r>
              <a:rPr lang="en-US" sz="1800" dirty="0"/>
              <a:t>If you create a Gantt chart that shows resources, you could determine if the scheduling above would work.</a:t>
            </a:r>
          </a:p>
        </p:txBody>
      </p:sp>
      <p:sp>
        <p:nvSpPr>
          <p:cNvPr id="3" name="Slide Number Placeholder 2"/>
          <p:cNvSpPr>
            <a:spLocks noGrp="1"/>
          </p:cNvSpPr>
          <p:nvPr>
            <p:ph type="sldNum" sz="quarter" idx="12"/>
          </p:nvPr>
        </p:nvSpPr>
        <p:spPr/>
        <p:txBody>
          <a:bodyPr/>
          <a:lstStyle/>
          <a:p>
            <a:pPr>
              <a:defRPr/>
            </a:pPr>
            <a:fld id="{61D213BF-E712-44A2-B033-B2EDDBF693C5}" type="slidenum">
              <a:rPr lang="en-US" smtClean="0"/>
              <a:pPr>
                <a:defRPr/>
              </a:pPr>
              <a:t>6</a:t>
            </a:fld>
            <a:endParaRPr lang="en-US"/>
          </a:p>
        </p:txBody>
      </p:sp>
      <p:sp>
        <p:nvSpPr>
          <p:cNvPr id="5" name="Date Placeholder 4">
            <a:extLst>
              <a:ext uri="{FF2B5EF4-FFF2-40B4-BE49-F238E27FC236}">
                <a16:creationId xmlns:a16="http://schemas.microsoft.com/office/drawing/2014/main" id="{A745EFFD-E0E1-40E0-852D-7AAFCDEF4EE0}"/>
              </a:ext>
            </a:extLst>
          </p:cNvPr>
          <p:cNvSpPr>
            <a:spLocks noGrp="1"/>
          </p:cNvSpPr>
          <p:nvPr>
            <p:ph type="dt" sz="half" idx="10"/>
          </p:nvPr>
        </p:nvSpPr>
        <p:spPr/>
        <p:txBody>
          <a:bodyPr/>
          <a:lstStyle/>
          <a:p>
            <a:pPr>
              <a:defRPr/>
            </a:pPr>
            <a:r>
              <a:rPr lang="en-US"/>
              <a:t>Lecture 10</a:t>
            </a:r>
          </a:p>
        </p:txBody>
      </p:sp>
      <p:sp>
        <p:nvSpPr>
          <p:cNvPr id="6" name="Footer Placeholder 5">
            <a:extLst>
              <a:ext uri="{FF2B5EF4-FFF2-40B4-BE49-F238E27FC236}">
                <a16:creationId xmlns:a16="http://schemas.microsoft.com/office/drawing/2014/main" id="{413DC75D-2B39-4199-947F-24FE2A3CEA60}"/>
              </a:ext>
            </a:extLst>
          </p:cNvPr>
          <p:cNvSpPr>
            <a:spLocks noGrp="1"/>
          </p:cNvSpPr>
          <p:nvPr>
            <p:ph type="ftr" sz="quarter" idx="11"/>
          </p:nvPr>
        </p:nvSpPr>
        <p:spPr/>
        <p:txBody>
          <a:bodyPr/>
          <a:lstStyle/>
          <a:p>
            <a:pPr>
              <a:defRPr/>
            </a:pPr>
            <a:r>
              <a:rPr lang="en-US"/>
              <a:t>G.R. Labbé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06"/>
                                        </p:tgtEl>
                                        <p:attrNameLst>
                                          <p:attrName>style.visibility</p:attrName>
                                        </p:attrNameLst>
                                      </p:cBhvr>
                                      <p:to>
                                        <p:strVal val="visible"/>
                                      </p:to>
                                    </p:set>
                                    <p:anim calcmode="lin" valueType="num">
                                      <p:cBhvr additive="base">
                                        <p:cTn id="7" dur="500" fill="hold"/>
                                        <p:tgtEl>
                                          <p:spTgt spid="4106"/>
                                        </p:tgtEl>
                                        <p:attrNameLst>
                                          <p:attrName>ppt_x</p:attrName>
                                        </p:attrNameLst>
                                      </p:cBhvr>
                                      <p:tavLst>
                                        <p:tav tm="0">
                                          <p:val>
                                            <p:strVal val="#ppt_x"/>
                                          </p:val>
                                        </p:tav>
                                        <p:tav tm="100000">
                                          <p:val>
                                            <p:strVal val="#ppt_x"/>
                                          </p:val>
                                        </p:tav>
                                      </p:tavLst>
                                    </p:anim>
                                    <p:anim calcmode="lin" valueType="num">
                                      <p:cBhvr additive="base">
                                        <p:cTn id="8" dur="500" fill="hold"/>
                                        <p:tgtEl>
                                          <p:spTgt spid="410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13"/>
                                        </p:tgtEl>
                                        <p:attrNameLst>
                                          <p:attrName>style.visibility</p:attrName>
                                        </p:attrNameLst>
                                      </p:cBhvr>
                                      <p:to>
                                        <p:strVal val="visible"/>
                                      </p:to>
                                    </p:set>
                                    <p:anim calcmode="lin" valueType="num">
                                      <p:cBhvr additive="base">
                                        <p:cTn id="13" dur="500" fill="hold"/>
                                        <p:tgtEl>
                                          <p:spTgt spid="4113"/>
                                        </p:tgtEl>
                                        <p:attrNameLst>
                                          <p:attrName>ppt_x</p:attrName>
                                        </p:attrNameLst>
                                      </p:cBhvr>
                                      <p:tavLst>
                                        <p:tav tm="0">
                                          <p:val>
                                            <p:strVal val="#ppt_x"/>
                                          </p:val>
                                        </p:tav>
                                        <p:tav tm="100000">
                                          <p:val>
                                            <p:strVal val="#ppt_x"/>
                                          </p:val>
                                        </p:tav>
                                      </p:tavLst>
                                    </p:anim>
                                    <p:anim calcmode="lin" valueType="num">
                                      <p:cBhvr additive="base">
                                        <p:cTn id="14" dur="500" fill="hold"/>
                                        <p:tgtEl>
                                          <p:spTgt spid="411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112"/>
                                        </p:tgtEl>
                                        <p:attrNameLst>
                                          <p:attrName>style.visibility</p:attrName>
                                        </p:attrNameLst>
                                      </p:cBhvr>
                                      <p:to>
                                        <p:strVal val="visible"/>
                                      </p:to>
                                    </p:set>
                                    <p:anim calcmode="lin" valueType="num">
                                      <p:cBhvr additive="base">
                                        <p:cTn id="17" dur="500" fill="hold"/>
                                        <p:tgtEl>
                                          <p:spTgt spid="4112"/>
                                        </p:tgtEl>
                                        <p:attrNameLst>
                                          <p:attrName>ppt_x</p:attrName>
                                        </p:attrNameLst>
                                      </p:cBhvr>
                                      <p:tavLst>
                                        <p:tav tm="0">
                                          <p:val>
                                            <p:strVal val="#ppt_x"/>
                                          </p:val>
                                        </p:tav>
                                        <p:tav tm="100000">
                                          <p:val>
                                            <p:strVal val="#ppt_x"/>
                                          </p:val>
                                        </p:tav>
                                      </p:tavLst>
                                    </p:anim>
                                    <p:anim calcmode="lin" valueType="num">
                                      <p:cBhvr additive="base">
                                        <p:cTn id="18" dur="500" fill="hold"/>
                                        <p:tgtEl>
                                          <p:spTgt spid="411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111"/>
                                        </p:tgtEl>
                                        <p:attrNameLst>
                                          <p:attrName>style.visibility</p:attrName>
                                        </p:attrNameLst>
                                      </p:cBhvr>
                                      <p:to>
                                        <p:strVal val="visible"/>
                                      </p:to>
                                    </p:set>
                                    <p:anim calcmode="lin" valueType="num">
                                      <p:cBhvr additive="base">
                                        <p:cTn id="21" dur="500" fill="hold"/>
                                        <p:tgtEl>
                                          <p:spTgt spid="4111"/>
                                        </p:tgtEl>
                                        <p:attrNameLst>
                                          <p:attrName>ppt_x</p:attrName>
                                        </p:attrNameLst>
                                      </p:cBhvr>
                                      <p:tavLst>
                                        <p:tav tm="0">
                                          <p:val>
                                            <p:strVal val="#ppt_x"/>
                                          </p:val>
                                        </p:tav>
                                        <p:tav tm="100000">
                                          <p:val>
                                            <p:strVal val="#ppt_x"/>
                                          </p:val>
                                        </p:tav>
                                      </p:tavLst>
                                    </p:anim>
                                    <p:anim calcmode="lin" valueType="num">
                                      <p:cBhvr additive="base">
                                        <p:cTn id="22" dur="500" fill="hold"/>
                                        <p:tgtEl>
                                          <p:spTgt spid="4111"/>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110"/>
                                        </p:tgtEl>
                                        <p:attrNameLst>
                                          <p:attrName>style.visibility</p:attrName>
                                        </p:attrNameLst>
                                      </p:cBhvr>
                                      <p:to>
                                        <p:strVal val="visible"/>
                                      </p:to>
                                    </p:set>
                                    <p:anim calcmode="lin" valueType="num">
                                      <p:cBhvr additive="base">
                                        <p:cTn id="25" dur="500" fill="hold"/>
                                        <p:tgtEl>
                                          <p:spTgt spid="4110"/>
                                        </p:tgtEl>
                                        <p:attrNameLst>
                                          <p:attrName>ppt_x</p:attrName>
                                        </p:attrNameLst>
                                      </p:cBhvr>
                                      <p:tavLst>
                                        <p:tav tm="0">
                                          <p:val>
                                            <p:strVal val="#ppt_x"/>
                                          </p:val>
                                        </p:tav>
                                        <p:tav tm="100000">
                                          <p:val>
                                            <p:strVal val="#ppt_x"/>
                                          </p:val>
                                        </p:tav>
                                      </p:tavLst>
                                    </p:anim>
                                    <p:anim calcmode="lin" valueType="num">
                                      <p:cBhvr additive="base">
                                        <p:cTn id="26" dur="500" fill="hold"/>
                                        <p:tgtEl>
                                          <p:spTgt spid="41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0" grpId="0" animBg="1"/>
      <p:bldP spid="4111" grpId="0" animBg="1"/>
      <p:bldP spid="4112" grpId="0" animBg="1"/>
      <p:bldP spid="41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8"/>
          <p:cNvSpPr>
            <a:spLocks noGrp="1" noChangeArrowheads="1"/>
          </p:cNvSpPr>
          <p:nvPr>
            <p:ph type="title"/>
          </p:nvPr>
        </p:nvSpPr>
        <p:spPr>
          <a:xfrm>
            <a:off x="368677" y="263032"/>
            <a:ext cx="7419183" cy="1071761"/>
          </a:xfrm>
        </p:spPr>
        <p:txBody>
          <a:bodyPr>
            <a:noAutofit/>
          </a:bodyPr>
          <a:lstStyle/>
          <a:p>
            <a:pPr eaLnBrk="1" hangingPunct="1"/>
            <a:r>
              <a:rPr lang="en-US" sz="3600" b="1" dirty="0">
                <a:latin typeface="+mn-lt"/>
                <a:cs typeface="Arial" panose="020B0604020202020204" pitchFamily="34" charset="0"/>
              </a:rPr>
              <a:t>Resource Loading Chart</a:t>
            </a:r>
            <a:br>
              <a:rPr lang="en-US" sz="3600" b="1" dirty="0">
                <a:latin typeface="+mn-lt"/>
                <a:cs typeface="Arial" panose="020B0604020202020204" pitchFamily="34" charset="0"/>
              </a:rPr>
            </a:br>
            <a:r>
              <a:rPr lang="en-US" sz="3600" b="1" dirty="0">
                <a:latin typeface="+mn-lt"/>
                <a:cs typeface="Arial" panose="020B0604020202020204" pitchFamily="34" charset="0"/>
              </a:rPr>
              <a:t>demonstrating Over-Allocation</a:t>
            </a:r>
          </a:p>
        </p:txBody>
      </p:sp>
      <p:graphicFrame>
        <p:nvGraphicFramePr>
          <p:cNvPr id="4107" name="Object 11"/>
          <p:cNvGraphicFramePr>
            <a:graphicFrameLocks noGrp="1" noChangeAspect="1"/>
          </p:cNvGraphicFramePr>
          <p:nvPr>
            <p:ph sz="quarter" idx="2"/>
            <p:extLst>
              <p:ext uri="{D42A27DB-BD31-4B8C-83A1-F6EECF244321}">
                <p14:modId xmlns:p14="http://schemas.microsoft.com/office/powerpoint/2010/main" val="1047674639"/>
              </p:ext>
            </p:extLst>
          </p:nvPr>
        </p:nvGraphicFramePr>
        <p:xfrm>
          <a:off x="344043" y="1469295"/>
          <a:ext cx="8610555" cy="2198687"/>
        </p:xfrm>
        <a:graphic>
          <a:graphicData uri="http://schemas.openxmlformats.org/presentationml/2006/ole">
            <mc:AlternateContent xmlns:mc="http://schemas.openxmlformats.org/markup-compatibility/2006">
              <mc:Choice xmlns:v="urn:schemas-microsoft-com:vml" Requires="v">
                <p:oleObj name="Project" r:id="rId2" imgW="9705975" imgH="2333625" progId="">
                  <p:embed/>
                </p:oleObj>
              </mc:Choice>
              <mc:Fallback>
                <p:oleObj name="Project" r:id="rId2" imgW="9705975" imgH="2333625" progId="">
                  <p:embed/>
                  <p:pic>
                    <p:nvPicPr>
                      <p:cNvPr id="0" name="Picture 1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043" y="1469295"/>
                        <a:ext cx="8610555" cy="2198687"/>
                      </a:xfrm>
                      <a:prstGeom prst="rect">
                        <a:avLst/>
                      </a:prstGeom>
                      <a:noFill/>
                    </p:spPr>
                  </p:pic>
                </p:oleObj>
              </mc:Fallback>
            </mc:AlternateContent>
          </a:graphicData>
        </a:graphic>
      </p:graphicFrame>
      <p:sp>
        <p:nvSpPr>
          <p:cNvPr id="10" name="Content Placeholder 1"/>
          <p:cNvSpPr>
            <a:spLocks noGrp="1"/>
          </p:cNvSpPr>
          <p:nvPr>
            <p:ph sz="quarter" idx="2"/>
          </p:nvPr>
        </p:nvSpPr>
        <p:spPr>
          <a:xfrm>
            <a:off x="368677" y="3762669"/>
            <a:ext cx="8640960" cy="669365"/>
          </a:xfrm>
        </p:spPr>
        <p:txBody>
          <a:bodyPr>
            <a:normAutofit fontScale="92500"/>
          </a:bodyPr>
          <a:lstStyle/>
          <a:p>
            <a:r>
              <a:rPr lang="en-US" sz="1800" dirty="0"/>
              <a:t>In this chart you group the resources and then list the tasks each has been assigned to. In this manner it is easy to see the amount of time that each resource is going to be utilized each day.  </a:t>
            </a:r>
          </a:p>
        </p:txBody>
      </p:sp>
      <p:grpSp>
        <p:nvGrpSpPr>
          <p:cNvPr id="16" name="Group 15"/>
          <p:cNvGrpSpPr>
            <a:grpSpLocks noChangeAspect="1"/>
          </p:cNvGrpSpPr>
          <p:nvPr/>
        </p:nvGrpSpPr>
        <p:grpSpPr bwMode="auto">
          <a:xfrm>
            <a:off x="368677" y="4314690"/>
            <a:ext cx="8704342" cy="1997041"/>
            <a:chOff x="0" y="0"/>
            <a:chExt cx="975" cy="232"/>
          </a:xfrm>
        </p:grpSpPr>
        <p:sp>
          <p:nvSpPr>
            <p:cNvPr id="17" name="AutoShape 3"/>
            <p:cNvSpPr>
              <a:spLocks noChangeAspect="1" noChangeArrowheads="1" noTextEdit="1"/>
            </p:cNvSpPr>
            <p:nvPr/>
          </p:nvSpPr>
          <p:spPr bwMode="auto">
            <a:xfrm>
              <a:off x="0" y="0"/>
              <a:ext cx="960" cy="231"/>
            </a:xfrm>
            <a:prstGeom prst="rect">
              <a:avLst/>
            </a:prstGeom>
            <a:solidFill>
              <a:srgbClr val="FFFFFF"/>
            </a:solidFill>
            <a:ln w="9525" cap="flat" cmpd="sng" algn="ctr">
              <a:solidFill>
                <a:srgbClr val="000000"/>
              </a:solidFill>
              <a:prstDash val="solid"/>
              <a:miter lim="800000"/>
              <a:headEnd type="none" w="med" len="med"/>
              <a:tailEnd type="non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18" name="Group 17"/>
            <p:cNvGrpSpPr>
              <a:grpSpLocks/>
            </p:cNvGrpSpPr>
            <p:nvPr/>
          </p:nvGrpSpPr>
          <p:grpSpPr bwMode="auto">
            <a:xfrm>
              <a:off x="0" y="0"/>
              <a:ext cx="975" cy="232"/>
              <a:chOff x="0" y="0"/>
              <a:chExt cx="975" cy="232"/>
            </a:xfrm>
          </p:grpSpPr>
          <p:sp>
            <p:nvSpPr>
              <p:cNvPr id="78" name="Rectangle 77"/>
              <p:cNvSpPr>
                <a:spLocks noChangeArrowheads="1"/>
              </p:cNvSpPr>
              <p:nvPr/>
            </p:nvSpPr>
            <p:spPr bwMode="auto">
              <a:xfrm>
                <a:off x="0" y="0"/>
                <a:ext cx="960" cy="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9" name="Rectangle 78"/>
              <p:cNvSpPr>
                <a:spLocks noChangeArrowheads="1"/>
              </p:cNvSpPr>
              <p:nvPr/>
            </p:nvSpPr>
            <p:spPr bwMode="auto">
              <a:xfrm>
                <a:off x="15" y="0"/>
                <a:ext cx="11"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ID</a:t>
                </a:r>
              </a:p>
            </p:txBody>
          </p:sp>
          <p:pic>
            <p:nvPicPr>
              <p:cNvPr id="80" name="Picture 7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 y="17"/>
                <a:ext cx="15"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Rectangle 80"/>
              <p:cNvSpPr>
                <a:spLocks noChangeArrowheads="1"/>
              </p:cNvSpPr>
              <p:nvPr/>
            </p:nvSpPr>
            <p:spPr bwMode="auto">
              <a:xfrm>
                <a:off x="82" y="0"/>
                <a:ext cx="78"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Resource Name</a:t>
                </a:r>
              </a:p>
            </p:txBody>
          </p:sp>
          <p:sp>
            <p:nvSpPr>
              <p:cNvPr id="82" name="Rectangle 81"/>
              <p:cNvSpPr>
                <a:spLocks noChangeArrowheads="1"/>
              </p:cNvSpPr>
              <p:nvPr/>
            </p:nvSpPr>
            <p:spPr bwMode="auto">
              <a:xfrm>
                <a:off x="17" y="32"/>
                <a:ext cx="6"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a:t>
                </a:r>
              </a:p>
            </p:txBody>
          </p:sp>
          <p:pic>
            <p:nvPicPr>
              <p:cNvPr id="83" name="Picture 8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 y="32"/>
                <a:ext cx="13"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 name="Picture 8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 y="32"/>
                <a:ext cx="13"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Rectangle 84"/>
              <p:cNvSpPr>
                <a:spLocks noChangeArrowheads="1"/>
              </p:cNvSpPr>
              <p:nvPr/>
            </p:nvSpPr>
            <p:spPr bwMode="auto">
              <a:xfrm>
                <a:off x="83" y="32"/>
                <a:ext cx="59"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1" i="0" u="none" strike="noStrike" kern="0" cap="none" spc="0" normalizeH="0" baseline="0" noProof="0">
                    <a:ln>
                      <a:noFill/>
                    </a:ln>
                    <a:solidFill>
                      <a:srgbClr val="FF0000"/>
                    </a:solidFill>
                    <a:effectLst/>
                    <a:uLnTx/>
                    <a:uFillTx/>
                    <a:latin typeface="Arial"/>
                    <a:ea typeface="+mn-ea"/>
                    <a:cs typeface="Arial"/>
                  </a:rPr>
                  <a:t>John Smith</a:t>
                </a:r>
              </a:p>
            </p:txBody>
          </p:sp>
          <p:sp>
            <p:nvSpPr>
              <p:cNvPr id="86" name="Rectangle 85"/>
              <p:cNvSpPr>
                <a:spLocks noChangeArrowheads="1"/>
              </p:cNvSpPr>
              <p:nvPr/>
            </p:nvSpPr>
            <p:spPr bwMode="auto">
              <a:xfrm>
                <a:off x="115" y="45"/>
                <a:ext cx="97"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1" u="none" strike="noStrike" kern="0" cap="none" spc="0" normalizeH="0" baseline="0" noProof="0">
                    <a:ln>
                      <a:noFill/>
                    </a:ln>
                    <a:solidFill>
                      <a:srgbClr val="000000"/>
                    </a:solidFill>
                    <a:effectLst/>
                    <a:uLnTx/>
                    <a:uFillTx/>
                    <a:latin typeface="Arial"/>
                    <a:ea typeface="+mn-ea"/>
                    <a:cs typeface="Arial"/>
                  </a:rPr>
                  <a:t>A. Contract Signing</a:t>
                </a:r>
              </a:p>
            </p:txBody>
          </p:sp>
          <p:sp>
            <p:nvSpPr>
              <p:cNvPr id="87" name="Rectangle 86"/>
              <p:cNvSpPr>
                <a:spLocks noChangeArrowheads="1"/>
              </p:cNvSpPr>
              <p:nvPr/>
            </p:nvSpPr>
            <p:spPr bwMode="auto">
              <a:xfrm>
                <a:off x="115" y="58"/>
                <a:ext cx="89"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1" u="none" strike="noStrike" kern="0" cap="none" spc="0" normalizeH="0" baseline="0" noProof="0">
                    <a:ln>
                      <a:noFill/>
                    </a:ln>
                    <a:solidFill>
                      <a:srgbClr val="000000"/>
                    </a:solidFill>
                    <a:effectLst/>
                    <a:uLnTx/>
                    <a:uFillTx/>
                    <a:latin typeface="Arial"/>
                    <a:ea typeface="+mn-ea"/>
                    <a:cs typeface="Arial"/>
                  </a:rPr>
                  <a:t>D. Survey Sample</a:t>
                </a:r>
              </a:p>
            </p:txBody>
          </p:sp>
          <p:sp>
            <p:nvSpPr>
              <p:cNvPr id="88" name="Rectangle 87"/>
              <p:cNvSpPr>
                <a:spLocks noChangeArrowheads="1"/>
              </p:cNvSpPr>
              <p:nvPr/>
            </p:nvSpPr>
            <p:spPr bwMode="auto">
              <a:xfrm>
                <a:off x="115" y="72"/>
                <a:ext cx="127"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1" u="none" strike="noStrike" kern="0" cap="none" spc="0" normalizeH="0" baseline="0" noProof="0">
                    <a:ln>
                      <a:noFill/>
                    </a:ln>
                    <a:solidFill>
                      <a:srgbClr val="000000"/>
                    </a:solidFill>
                    <a:effectLst/>
                    <a:uLnTx/>
                    <a:uFillTx/>
                    <a:latin typeface="Arial"/>
                    <a:ea typeface="+mn-ea"/>
                    <a:cs typeface="Arial"/>
                  </a:rPr>
                  <a:t>G. Demographic analysis</a:t>
                </a:r>
              </a:p>
            </p:txBody>
          </p:sp>
          <p:sp>
            <p:nvSpPr>
              <p:cNvPr id="89" name="Rectangle 88"/>
              <p:cNvSpPr>
                <a:spLocks noChangeArrowheads="1"/>
              </p:cNvSpPr>
              <p:nvPr/>
            </p:nvSpPr>
            <p:spPr bwMode="auto">
              <a:xfrm>
                <a:off x="115" y="85"/>
                <a:ext cx="120"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1" u="none" strike="noStrike" kern="0" cap="none" spc="0" normalizeH="0" baseline="0" noProof="0">
                    <a:ln>
                      <a:noFill/>
                    </a:ln>
                    <a:solidFill>
                      <a:srgbClr val="000000"/>
                    </a:solidFill>
                    <a:effectLst/>
                    <a:uLnTx/>
                    <a:uFillTx/>
                    <a:latin typeface="Arial"/>
                    <a:ea typeface="+mn-ea"/>
                    <a:cs typeface="Arial"/>
                  </a:rPr>
                  <a:t>H. Presentation to client</a:t>
                </a:r>
              </a:p>
            </p:txBody>
          </p:sp>
          <p:sp>
            <p:nvSpPr>
              <p:cNvPr id="90" name="Rectangle 89"/>
              <p:cNvSpPr>
                <a:spLocks noChangeArrowheads="1"/>
              </p:cNvSpPr>
              <p:nvPr/>
            </p:nvSpPr>
            <p:spPr bwMode="auto">
              <a:xfrm>
                <a:off x="17" y="98"/>
                <a:ext cx="6"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2</a:t>
                </a:r>
              </a:p>
            </p:txBody>
          </p:sp>
          <p:sp>
            <p:nvSpPr>
              <p:cNvPr id="91" name="Rectangle 90"/>
              <p:cNvSpPr>
                <a:spLocks noChangeArrowheads="1"/>
              </p:cNvSpPr>
              <p:nvPr/>
            </p:nvSpPr>
            <p:spPr bwMode="auto">
              <a:xfrm>
                <a:off x="83" y="98"/>
                <a:ext cx="51"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Sue Bailey</a:t>
                </a:r>
              </a:p>
            </p:txBody>
          </p:sp>
          <p:sp>
            <p:nvSpPr>
              <p:cNvPr id="92" name="Rectangle 91"/>
              <p:cNvSpPr>
                <a:spLocks noChangeArrowheads="1"/>
              </p:cNvSpPr>
              <p:nvPr/>
            </p:nvSpPr>
            <p:spPr bwMode="auto">
              <a:xfrm>
                <a:off x="115" y="111"/>
                <a:ext cx="123"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1" u="none" strike="noStrike" kern="0" cap="none" spc="0" normalizeH="0" baseline="0" noProof="0">
                    <a:ln>
                      <a:noFill/>
                    </a:ln>
                    <a:solidFill>
                      <a:srgbClr val="000000"/>
                    </a:solidFill>
                    <a:effectLst/>
                    <a:uLnTx/>
                    <a:uFillTx/>
                    <a:latin typeface="Arial"/>
                    <a:ea typeface="+mn-ea"/>
                    <a:cs typeface="Arial"/>
                  </a:rPr>
                  <a:t>B. Questionnaire Design</a:t>
                </a:r>
              </a:p>
            </p:txBody>
          </p:sp>
          <p:sp>
            <p:nvSpPr>
              <p:cNvPr id="93" name="Rectangle 92"/>
              <p:cNvSpPr>
                <a:spLocks noChangeArrowheads="1"/>
              </p:cNvSpPr>
              <p:nvPr/>
            </p:nvSpPr>
            <p:spPr bwMode="auto">
              <a:xfrm>
                <a:off x="17" y="125"/>
                <a:ext cx="6"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3</a:t>
                </a:r>
              </a:p>
            </p:txBody>
          </p:sp>
          <p:sp>
            <p:nvSpPr>
              <p:cNvPr id="94" name="Rectangle 93"/>
              <p:cNvSpPr>
                <a:spLocks noChangeArrowheads="1"/>
              </p:cNvSpPr>
              <p:nvPr/>
            </p:nvSpPr>
            <p:spPr bwMode="auto">
              <a:xfrm>
                <a:off x="83" y="125"/>
                <a:ext cx="53"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Tom Jones</a:t>
                </a:r>
              </a:p>
            </p:txBody>
          </p:sp>
          <p:sp>
            <p:nvSpPr>
              <p:cNvPr id="95" name="Rectangle 94"/>
              <p:cNvSpPr>
                <a:spLocks noChangeArrowheads="1"/>
              </p:cNvSpPr>
              <p:nvPr/>
            </p:nvSpPr>
            <p:spPr bwMode="auto">
              <a:xfrm>
                <a:off x="115" y="138"/>
                <a:ext cx="99"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1" u="none" strike="noStrike" kern="0" cap="none" spc="0" normalizeH="0" baseline="0" noProof="0">
                    <a:ln>
                      <a:noFill/>
                    </a:ln>
                    <a:solidFill>
                      <a:srgbClr val="000000"/>
                    </a:solidFill>
                    <a:effectLst/>
                    <a:uLnTx/>
                    <a:uFillTx/>
                    <a:latin typeface="Arial"/>
                    <a:ea typeface="+mn-ea"/>
                    <a:cs typeface="Arial"/>
                  </a:rPr>
                  <a:t>C. Target Market ID</a:t>
                </a:r>
              </a:p>
            </p:txBody>
          </p:sp>
          <p:sp>
            <p:nvSpPr>
              <p:cNvPr id="96" name="Rectangle 95"/>
              <p:cNvSpPr>
                <a:spLocks noChangeArrowheads="1"/>
              </p:cNvSpPr>
              <p:nvPr/>
            </p:nvSpPr>
            <p:spPr bwMode="auto">
              <a:xfrm>
                <a:off x="17" y="151"/>
                <a:ext cx="6"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4</a:t>
                </a:r>
              </a:p>
            </p:txBody>
          </p:sp>
          <p:sp>
            <p:nvSpPr>
              <p:cNvPr id="97" name="Rectangle 96"/>
              <p:cNvSpPr>
                <a:spLocks noChangeArrowheads="1"/>
              </p:cNvSpPr>
              <p:nvPr/>
            </p:nvSpPr>
            <p:spPr bwMode="auto">
              <a:xfrm>
                <a:off x="83" y="151"/>
                <a:ext cx="66"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Steve Cooper</a:t>
                </a:r>
              </a:p>
            </p:txBody>
          </p:sp>
          <p:sp>
            <p:nvSpPr>
              <p:cNvPr id="98" name="Rectangle 97"/>
              <p:cNvSpPr>
                <a:spLocks noChangeArrowheads="1"/>
              </p:cNvSpPr>
              <p:nvPr/>
            </p:nvSpPr>
            <p:spPr bwMode="auto">
              <a:xfrm>
                <a:off x="115" y="164"/>
                <a:ext cx="99"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1" u="none" strike="noStrike" kern="0" cap="none" spc="0" normalizeH="0" baseline="0" noProof="0">
                    <a:ln>
                      <a:noFill/>
                    </a:ln>
                    <a:solidFill>
                      <a:srgbClr val="000000"/>
                    </a:solidFill>
                    <a:effectLst/>
                    <a:uLnTx/>
                    <a:uFillTx/>
                    <a:latin typeface="Arial"/>
                    <a:ea typeface="+mn-ea"/>
                    <a:cs typeface="Arial"/>
                  </a:rPr>
                  <a:t>C. Target Market ID</a:t>
                </a:r>
              </a:p>
            </p:txBody>
          </p:sp>
          <p:sp>
            <p:nvSpPr>
              <p:cNvPr id="99" name="Rectangle 98"/>
              <p:cNvSpPr>
                <a:spLocks noChangeArrowheads="1"/>
              </p:cNvSpPr>
              <p:nvPr/>
            </p:nvSpPr>
            <p:spPr bwMode="auto">
              <a:xfrm>
                <a:off x="17" y="177"/>
                <a:ext cx="6"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5</a:t>
                </a:r>
              </a:p>
            </p:txBody>
          </p:sp>
          <p:sp>
            <p:nvSpPr>
              <p:cNvPr id="100" name="Rectangle 99"/>
              <p:cNvSpPr>
                <a:spLocks noChangeArrowheads="1"/>
              </p:cNvSpPr>
              <p:nvPr/>
            </p:nvSpPr>
            <p:spPr bwMode="auto">
              <a:xfrm>
                <a:off x="83" y="177"/>
                <a:ext cx="69"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Sandra Hobbs</a:t>
                </a:r>
              </a:p>
            </p:txBody>
          </p:sp>
          <p:sp>
            <p:nvSpPr>
              <p:cNvPr id="101" name="Rectangle 100"/>
              <p:cNvSpPr>
                <a:spLocks noChangeArrowheads="1"/>
              </p:cNvSpPr>
              <p:nvPr/>
            </p:nvSpPr>
            <p:spPr bwMode="auto">
              <a:xfrm>
                <a:off x="115" y="191"/>
                <a:ext cx="120"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1" u="none" strike="noStrike" kern="0" cap="none" spc="0" normalizeH="0" baseline="0" noProof="0">
                    <a:ln>
                      <a:noFill/>
                    </a:ln>
                    <a:solidFill>
                      <a:srgbClr val="000000"/>
                    </a:solidFill>
                    <a:effectLst/>
                    <a:uLnTx/>
                    <a:uFillTx/>
                    <a:latin typeface="Arial"/>
                    <a:ea typeface="+mn-ea"/>
                    <a:cs typeface="Arial"/>
                  </a:rPr>
                  <a:t>E. Develop Presentation</a:t>
                </a:r>
              </a:p>
            </p:txBody>
          </p:sp>
          <p:sp>
            <p:nvSpPr>
              <p:cNvPr id="102" name="Rectangle 101"/>
              <p:cNvSpPr>
                <a:spLocks noChangeArrowheads="1"/>
              </p:cNvSpPr>
              <p:nvPr/>
            </p:nvSpPr>
            <p:spPr bwMode="auto">
              <a:xfrm>
                <a:off x="17" y="204"/>
                <a:ext cx="6"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6</a:t>
                </a:r>
              </a:p>
            </p:txBody>
          </p:sp>
          <p:sp>
            <p:nvSpPr>
              <p:cNvPr id="103" name="Rectangle 102"/>
              <p:cNvSpPr>
                <a:spLocks noChangeArrowheads="1"/>
              </p:cNvSpPr>
              <p:nvPr/>
            </p:nvSpPr>
            <p:spPr bwMode="auto">
              <a:xfrm>
                <a:off x="83" y="204"/>
                <a:ext cx="59"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Ian Tinnings</a:t>
                </a:r>
              </a:p>
            </p:txBody>
          </p:sp>
          <p:sp>
            <p:nvSpPr>
              <p:cNvPr id="104" name="Rectangle 103"/>
              <p:cNvSpPr>
                <a:spLocks noChangeArrowheads="1"/>
              </p:cNvSpPr>
              <p:nvPr/>
            </p:nvSpPr>
            <p:spPr bwMode="auto">
              <a:xfrm>
                <a:off x="115" y="217"/>
                <a:ext cx="91"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1" u="none" strike="noStrike" kern="0" cap="none" spc="0" normalizeH="0" baseline="0" noProof="0">
                    <a:ln>
                      <a:noFill/>
                    </a:ln>
                    <a:solidFill>
                      <a:srgbClr val="000000"/>
                    </a:solidFill>
                    <a:effectLst/>
                    <a:uLnTx/>
                    <a:uFillTx/>
                    <a:latin typeface="Arial"/>
                    <a:ea typeface="+mn-ea"/>
                    <a:cs typeface="Arial"/>
                  </a:rPr>
                  <a:t>F. Analyze results</a:t>
                </a:r>
              </a:p>
            </p:txBody>
          </p:sp>
          <p:sp>
            <p:nvSpPr>
              <p:cNvPr id="105" name="Line 32"/>
              <p:cNvSpPr>
                <a:spLocks noChangeShapeType="1"/>
              </p:cNvSpPr>
              <p:nvPr/>
            </p:nvSpPr>
            <p:spPr bwMode="auto">
              <a:xfrm>
                <a:off x="0" y="32"/>
                <a:ext cx="226"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6" name="Line 33"/>
              <p:cNvSpPr>
                <a:spLocks noChangeShapeType="1"/>
              </p:cNvSpPr>
              <p:nvPr/>
            </p:nvSpPr>
            <p:spPr bwMode="auto">
              <a:xfrm>
                <a:off x="0" y="0"/>
                <a:ext cx="226"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7" name="Line 34"/>
              <p:cNvSpPr>
                <a:spLocks noChangeShapeType="1"/>
              </p:cNvSpPr>
              <p:nvPr/>
            </p:nvSpPr>
            <p:spPr bwMode="auto">
              <a:xfrm>
                <a:off x="0" y="230"/>
                <a:ext cx="226"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8" name="Line 35"/>
              <p:cNvSpPr>
                <a:spLocks noChangeShapeType="1"/>
              </p:cNvSpPr>
              <p:nvPr/>
            </p:nvSpPr>
            <p:spPr bwMode="auto">
              <a:xfrm>
                <a:off x="0" y="45"/>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9" name="Line 36"/>
              <p:cNvSpPr>
                <a:spLocks noChangeShapeType="1"/>
              </p:cNvSpPr>
              <p:nvPr/>
            </p:nvSpPr>
            <p:spPr bwMode="auto">
              <a:xfrm>
                <a:off x="0" y="58"/>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0" name="Line 37"/>
              <p:cNvSpPr>
                <a:spLocks noChangeShapeType="1"/>
              </p:cNvSpPr>
              <p:nvPr/>
            </p:nvSpPr>
            <p:spPr bwMode="auto">
              <a:xfrm>
                <a:off x="0" y="72"/>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1" name="Line 38"/>
              <p:cNvSpPr>
                <a:spLocks noChangeShapeType="1"/>
              </p:cNvSpPr>
              <p:nvPr/>
            </p:nvSpPr>
            <p:spPr bwMode="auto">
              <a:xfrm>
                <a:off x="0" y="85"/>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2" name="Line 39"/>
              <p:cNvSpPr>
                <a:spLocks noChangeShapeType="1"/>
              </p:cNvSpPr>
              <p:nvPr/>
            </p:nvSpPr>
            <p:spPr bwMode="auto">
              <a:xfrm>
                <a:off x="0" y="98"/>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3" name="Line 40"/>
              <p:cNvSpPr>
                <a:spLocks noChangeShapeType="1"/>
              </p:cNvSpPr>
              <p:nvPr/>
            </p:nvSpPr>
            <p:spPr bwMode="auto">
              <a:xfrm>
                <a:off x="0" y="111"/>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4" name="Line 41"/>
              <p:cNvSpPr>
                <a:spLocks noChangeShapeType="1"/>
              </p:cNvSpPr>
              <p:nvPr/>
            </p:nvSpPr>
            <p:spPr bwMode="auto">
              <a:xfrm>
                <a:off x="0" y="125"/>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5" name="Line 42"/>
              <p:cNvSpPr>
                <a:spLocks noChangeShapeType="1"/>
              </p:cNvSpPr>
              <p:nvPr/>
            </p:nvSpPr>
            <p:spPr bwMode="auto">
              <a:xfrm>
                <a:off x="0" y="138"/>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6" name="Line 43"/>
              <p:cNvSpPr>
                <a:spLocks noChangeShapeType="1"/>
              </p:cNvSpPr>
              <p:nvPr/>
            </p:nvSpPr>
            <p:spPr bwMode="auto">
              <a:xfrm>
                <a:off x="0" y="151"/>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7" name="Line 44"/>
              <p:cNvSpPr>
                <a:spLocks noChangeShapeType="1"/>
              </p:cNvSpPr>
              <p:nvPr/>
            </p:nvSpPr>
            <p:spPr bwMode="auto">
              <a:xfrm>
                <a:off x="0" y="164"/>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8" name="Line 45"/>
              <p:cNvSpPr>
                <a:spLocks noChangeShapeType="1"/>
              </p:cNvSpPr>
              <p:nvPr/>
            </p:nvSpPr>
            <p:spPr bwMode="auto">
              <a:xfrm>
                <a:off x="0" y="177"/>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9" name="Line 46"/>
              <p:cNvSpPr>
                <a:spLocks noChangeShapeType="1"/>
              </p:cNvSpPr>
              <p:nvPr/>
            </p:nvSpPr>
            <p:spPr bwMode="auto">
              <a:xfrm>
                <a:off x="0" y="191"/>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0" name="Line 47"/>
              <p:cNvSpPr>
                <a:spLocks noChangeShapeType="1"/>
              </p:cNvSpPr>
              <p:nvPr/>
            </p:nvSpPr>
            <p:spPr bwMode="auto">
              <a:xfrm>
                <a:off x="0" y="204"/>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1" name="Line 48"/>
              <p:cNvSpPr>
                <a:spLocks noChangeShapeType="1"/>
              </p:cNvSpPr>
              <p:nvPr/>
            </p:nvSpPr>
            <p:spPr bwMode="auto">
              <a:xfrm>
                <a:off x="0" y="217"/>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2" name="Line 49"/>
              <p:cNvSpPr>
                <a:spLocks noChangeShapeType="1"/>
              </p:cNvSpPr>
              <p:nvPr/>
            </p:nvSpPr>
            <p:spPr bwMode="auto">
              <a:xfrm>
                <a:off x="0" y="32"/>
                <a:ext cx="0" cy="198"/>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3" name="Line 50"/>
              <p:cNvSpPr>
                <a:spLocks noChangeShapeType="1"/>
              </p:cNvSpPr>
              <p:nvPr/>
            </p:nvSpPr>
            <p:spPr bwMode="auto">
              <a:xfrm>
                <a:off x="226" y="32"/>
                <a:ext cx="0" cy="198"/>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4" name="Line 51"/>
              <p:cNvSpPr>
                <a:spLocks noChangeShapeType="1"/>
              </p:cNvSpPr>
              <p:nvPr/>
            </p:nvSpPr>
            <p:spPr bwMode="auto">
              <a:xfrm>
                <a:off x="40" y="32"/>
                <a:ext cx="0" cy="198"/>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5" name="Line 52"/>
              <p:cNvSpPr>
                <a:spLocks noChangeShapeType="1"/>
              </p:cNvSpPr>
              <p:nvPr/>
            </p:nvSpPr>
            <p:spPr bwMode="auto">
              <a:xfrm>
                <a:off x="0" y="0"/>
                <a:ext cx="0" cy="32"/>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6" name="Line 53"/>
              <p:cNvSpPr>
                <a:spLocks noChangeShapeType="1"/>
              </p:cNvSpPr>
              <p:nvPr/>
            </p:nvSpPr>
            <p:spPr bwMode="auto">
              <a:xfrm>
                <a:off x="40" y="0"/>
                <a:ext cx="0" cy="32"/>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7" name="Line 54"/>
              <p:cNvSpPr>
                <a:spLocks noChangeShapeType="1"/>
              </p:cNvSpPr>
              <p:nvPr/>
            </p:nvSpPr>
            <p:spPr bwMode="auto">
              <a:xfrm>
                <a:off x="79" y="0"/>
                <a:ext cx="0" cy="32"/>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8" name="Line 55"/>
              <p:cNvSpPr>
                <a:spLocks noChangeShapeType="1"/>
              </p:cNvSpPr>
              <p:nvPr/>
            </p:nvSpPr>
            <p:spPr bwMode="auto">
              <a:xfrm>
                <a:off x="226" y="0"/>
                <a:ext cx="0" cy="32"/>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9" name="Line 56"/>
              <p:cNvSpPr>
                <a:spLocks noChangeShapeType="1"/>
              </p:cNvSpPr>
              <p:nvPr/>
            </p:nvSpPr>
            <p:spPr bwMode="auto">
              <a:xfrm>
                <a:off x="41" y="45"/>
                <a:ext cx="185"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0" name="Line 57"/>
              <p:cNvSpPr>
                <a:spLocks noChangeShapeType="1"/>
              </p:cNvSpPr>
              <p:nvPr/>
            </p:nvSpPr>
            <p:spPr bwMode="auto">
              <a:xfrm>
                <a:off x="41" y="58"/>
                <a:ext cx="185"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1" name="Line 58"/>
              <p:cNvSpPr>
                <a:spLocks noChangeShapeType="1"/>
              </p:cNvSpPr>
              <p:nvPr/>
            </p:nvSpPr>
            <p:spPr bwMode="auto">
              <a:xfrm>
                <a:off x="41" y="72"/>
                <a:ext cx="185"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2" name="Line 59"/>
              <p:cNvSpPr>
                <a:spLocks noChangeShapeType="1"/>
              </p:cNvSpPr>
              <p:nvPr/>
            </p:nvSpPr>
            <p:spPr bwMode="auto">
              <a:xfrm>
                <a:off x="41" y="85"/>
                <a:ext cx="185"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3" name="Line 60"/>
              <p:cNvSpPr>
                <a:spLocks noChangeShapeType="1"/>
              </p:cNvSpPr>
              <p:nvPr/>
            </p:nvSpPr>
            <p:spPr bwMode="auto">
              <a:xfrm>
                <a:off x="41" y="98"/>
                <a:ext cx="185"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4" name="Line 61"/>
              <p:cNvSpPr>
                <a:spLocks noChangeShapeType="1"/>
              </p:cNvSpPr>
              <p:nvPr/>
            </p:nvSpPr>
            <p:spPr bwMode="auto">
              <a:xfrm>
                <a:off x="41" y="111"/>
                <a:ext cx="185"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5" name="Line 62"/>
              <p:cNvSpPr>
                <a:spLocks noChangeShapeType="1"/>
              </p:cNvSpPr>
              <p:nvPr/>
            </p:nvSpPr>
            <p:spPr bwMode="auto">
              <a:xfrm>
                <a:off x="41" y="125"/>
                <a:ext cx="185"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6" name="Line 63"/>
              <p:cNvSpPr>
                <a:spLocks noChangeShapeType="1"/>
              </p:cNvSpPr>
              <p:nvPr/>
            </p:nvSpPr>
            <p:spPr bwMode="auto">
              <a:xfrm>
                <a:off x="41" y="138"/>
                <a:ext cx="185"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7" name="Line 64"/>
              <p:cNvSpPr>
                <a:spLocks noChangeShapeType="1"/>
              </p:cNvSpPr>
              <p:nvPr/>
            </p:nvSpPr>
            <p:spPr bwMode="auto">
              <a:xfrm>
                <a:off x="41" y="151"/>
                <a:ext cx="185"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8" name="Line 65"/>
              <p:cNvSpPr>
                <a:spLocks noChangeShapeType="1"/>
              </p:cNvSpPr>
              <p:nvPr/>
            </p:nvSpPr>
            <p:spPr bwMode="auto">
              <a:xfrm>
                <a:off x="41" y="164"/>
                <a:ext cx="185"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9" name="Line 66"/>
              <p:cNvSpPr>
                <a:spLocks noChangeShapeType="1"/>
              </p:cNvSpPr>
              <p:nvPr/>
            </p:nvSpPr>
            <p:spPr bwMode="auto">
              <a:xfrm>
                <a:off x="41" y="177"/>
                <a:ext cx="185"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40" name="Line 67"/>
              <p:cNvSpPr>
                <a:spLocks noChangeShapeType="1"/>
              </p:cNvSpPr>
              <p:nvPr/>
            </p:nvSpPr>
            <p:spPr bwMode="auto">
              <a:xfrm>
                <a:off x="41" y="191"/>
                <a:ext cx="185"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41" name="Line 68"/>
              <p:cNvSpPr>
                <a:spLocks noChangeShapeType="1"/>
              </p:cNvSpPr>
              <p:nvPr/>
            </p:nvSpPr>
            <p:spPr bwMode="auto">
              <a:xfrm>
                <a:off x="41" y="204"/>
                <a:ext cx="185"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42" name="Line 69"/>
              <p:cNvSpPr>
                <a:spLocks noChangeShapeType="1"/>
              </p:cNvSpPr>
              <p:nvPr/>
            </p:nvSpPr>
            <p:spPr bwMode="auto">
              <a:xfrm>
                <a:off x="41" y="217"/>
                <a:ext cx="185"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43" name="Line 70"/>
              <p:cNvSpPr>
                <a:spLocks noChangeShapeType="1"/>
              </p:cNvSpPr>
              <p:nvPr/>
            </p:nvSpPr>
            <p:spPr bwMode="auto">
              <a:xfrm>
                <a:off x="79" y="32"/>
                <a:ext cx="0" cy="198"/>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44" name="Rectangle 143"/>
              <p:cNvSpPr>
                <a:spLocks noChangeArrowheads="1"/>
              </p:cNvSpPr>
              <p:nvPr/>
            </p:nvSpPr>
            <p:spPr bwMode="auto">
              <a:xfrm>
                <a:off x="231" y="9"/>
                <a:ext cx="33"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Details</a:t>
                </a:r>
              </a:p>
            </p:txBody>
          </p:sp>
          <p:sp>
            <p:nvSpPr>
              <p:cNvPr id="145" name="Rectangle 144"/>
              <p:cNvSpPr>
                <a:spLocks noChangeArrowheads="1"/>
              </p:cNvSpPr>
              <p:nvPr/>
            </p:nvSpPr>
            <p:spPr bwMode="auto">
              <a:xfrm>
                <a:off x="227" y="33"/>
                <a:ext cx="38" cy="11"/>
              </a:xfrm>
              <a:prstGeom prst="rect">
                <a:avLst/>
              </a:prstGeom>
              <a:blipFill dpi="0" rotWithShape="0">
                <a:blip r:embed="rId7"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46" name="Rectangle 145"/>
              <p:cNvSpPr>
                <a:spLocks noChangeArrowheads="1"/>
              </p:cNvSpPr>
              <p:nvPr/>
            </p:nvSpPr>
            <p:spPr bwMode="auto">
              <a:xfrm>
                <a:off x="231" y="31"/>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47" name="Rectangle 146"/>
              <p:cNvSpPr>
                <a:spLocks noChangeArrowheads="1"/>
              </p:cNvSpPr>
              <p:nvPr/>
            </p:nvSpPr>
            <p:spPr bwMode="auto">
              <a:xfrm>
                <a:off x="267" y="33"/>
                <a:ext cx="691" cy="11"/>
              </a:xfrm>
              <a:prstGeom prst="rect">
                <a:avLst/>
              </a:prstGeom>
              <a:blipFill dpi="0" rotWithShape="0">
                <a:blip r:embed="rId7"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48" name="Rectangle 147"/>
              <p:cNvSpPr>
                <a:spLocks noChangeArrowheads="1"/>
              </p:cNvSpPr>
              <p:nvPr/>
            </p:nvSpPr>
            <p:spPr bwMode="auto">
              <a:xfrm>
                <a:off x="227" y="46"/>
                <a:ext cx="38" cy="12"/>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49" name="Rectangle 148"/>
              <p:cNvSpPr>
                <a:spLocks noChangeArrowheads="1"/>
              </p:cNvSpPr>
              <p:nvPr/>
            </p:nvSpPr>
            <p:spPr bwMode="auto">
              <a:xfrm>
                <a:off x="231" y="44"/>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50" name="Rectangle 149"/>
              <p:cNvSpPr>
                <a:spLocks noChangeArrowheads="1"/>
              </p:cNvSpPr>
              <p:nvPr/>
            </p:nvSpPr>
            <p:spPr bwMode="auto">
              <a:xfrm>
                <a:off x="267" y="46"/>
                <a:ext cx="691" cy="12"/>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51" name="Rectangle 150"/>
              <p:cNvSpPr>
                <a:spLocks noChangeArrowheads="1"/>
              </p:cNvSpPr>
              <p:nvPr/>
            </p:nvSpPr>
            <p:spPr bwMode="auto">
              <a:xfrm>
                <a:off x="227" y="59"/>
                <a:ext cx="38" cy="12"/>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52" name="Rectangle 151"/>
              <p:cNvSpPr>
                <a:spLocks noChangeArrowheads="1"/>
              </p:cNvSpPr>
              <p:nvPr/>
            </p:nvSpPr>
            <p:spPr bwMode="auto">
              <a:xfrm>
                <a:off x="231" y="58"/>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53" name="Rectangle 152"/>
              <p:cNvSpPr>
                <a:spLocks noChangeArrowheads="1"/>
              </p:cNvSpPr>
              <p:nvPr/>
            </p:nvSpPr>
            <p:spPr bwMode="auto">
              <a:xfrm>
                <a:off x="267" y="59"/>
                <a:ext cx="691" cy="12"/>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54" name="Rectangle 153"/>
              <p:cNvSpPr>
                <a:spLocks noChangeArrowheads="1"/>
              </p:cNvSpPr>
              <p:nvPr/>
            </p:nvSpPr>
            <p:spPr bwMode="auto">
              <a:xfrm>
                <a:off x="227" y="73"/>
                <a:ext cx="38" cy="11"/>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55" name="Rectangle 154"/>
              <p:cNvSpPr>
                <a:spLocks noChangeArrowheads="1"/>
              </p:cNvSpPr>
              <p:nvPr/>
            </p:nvSpPr>
            <p:spPr bwMode="auto">
              <a:xfrm>
                <a:off x="231" y="71"/>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56" name="Rectangle 155"/>
              <p:cNvSpPr>
                <a:spLocks noChangeArrowheads="1"/>
              </p:cNvSpPr>
              <p:nvPr/>
            </p:nvSpPr>
            <p:spPr bwMode="auto">
              <a:xfrm>
                <a:off x="267" y="73"/>
                <a:ext cx="691" cy="11"/>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57" name="Rectangle 156"/>
              <p:cNvSpPr>
                <a:spLocks noChangeArrowheads="1"/>
              </p:cNvSpPr>
              <p:nvPr/>
            </p:nvSpPr>
            <p:spPr bwMode="auto">
              <a:xfrm>
                <a:off x="227" y="86"/>
                <a:ext cx="38" cy="11"/>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58" name="Rectangle 157"/>
              <p:cNvSpPr>
                <a:spLocks noChangeArrowheads="1"/>
              </p:cNvSpPr>
              <p:nvPr/>
            </p:nvSpPr>
            <p:spPr bwMode="auto">
              <a:xfrm>
                <a:off x="231" y="84"/>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59" name="Rectangle 158"/>
              <p:cNvSpPr>
                <a:spLocks noChangeArrowheads="1"/>
              </p:cNvSpPr>
              <p:nvPr/>
            </p:nvSpPr>
            <p:spPr bwMode="auto">
              <a:xfrm>
                <a:off x="267" y="86"/>
                <a:ext cx="691" cy="11"/>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60" name="Rectangle 159"/>
              <p:cNvSpPr>
                <a:spLocks noChangeArrowheads="1"/>
              </p:cNvSpPr>
              <p:nvPr/>
            </p:nvSpPr>
            <p:spPr bwMode="auto">
              <a:xfrm>
                <a:off x="227" y="99"/>
                <a:ext cx="38" cy="11"/>
              </a:xfrm>
              <a:prstGeom prst="rect">
                <a:avLst/>
              </a:prstGeom>
              <a:blipFill dpi="0" rotWithShape="0">
                <a:blip r:embed="rId9"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61" name="Rectangle 160"/>
              <p:cNvSpPr>
                <a:spLocks noChangeArrowheads="1"/>
              </p:cNvSpPr>
              <p:nvPr/>
            </p:nvSpPr>
            <p:spPr bwMode="auto">
              <a:xfrm>
                <a:off x="231" y="97"/>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62" name="Rectangle 161"/>
              <p:cNvSpPr>
                <a:spLocks noChangeArrowheads="1"/>
              </p:cNvSpPr>
              <p:nvPr/>
            </p:nvSpPr>
            <p:spPr bwMode="auto">
              <a:xfrm>
                <a:off x="267" y="99"/>
                <a:ext cx="691" cy="11"/>
              </a:xfrm>
              <a:prstGeom prst="rect">
                <a:avLst/>
              </a:prstGeom>
              <a:blipFill dpi="0" rotWithShape="0">
                <a:blip r:embed="rId9"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63" name="Rectangle 162"/>
              <p:cNvSpPr>
                <a:spLocks noChangeArrowheads="1"/>
              </p:cNvSpPr>
              <p:nvPr/>
            </p:nvSpPr>
            <p:spPr bwMode="auto">
              <a:xfrm>
                <a:off x="227" y="112"/>
                <a:ext cx="38" cy="12"/>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64" name="Rectangle 163"/>
              <p:cNvSpPr>
                <a:spLocks noChangeArrowheads="1"/>
              </p:cNvSpPr>
              <p:nvPr/>
            </p:nvSpPr>
            <p:spPr bwMode="auto">
              <a:xfrm>
                <a:off x="231" y="110"/>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65" name="Rectangle 164"/>
              <p:cNvSpPr>
                <a:spLocks noChangeArrowheads="1"/>
              </p:cNvSpPr>
              <p:nvPr/>
            </p:nvSpPr>
            <p:spPr bwMode="auto">
              <a:xfrm>
                <a:off x="267" y="112"/>
                <a:ext cx="691" cy="12"/>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66" name="Rectangle 165"/>
              <p:cNvSpPr>
                <a:spLocks noChangeArrowheads="1"/>
              </p:cNvSpPr>
              <p:nvPr/>
            </p:nvSpPr>
            <p:spPr bwMode="auto">
              <a:xfrm>
                <a:off x="227" y="125"/>
                <a:ext cx="38" cy="12"/>
              </a:xfrm>
              <a:prstGeom prst="rect">
                <a:avLst/>
              </a:prstGeom>
              <a:blipFill dpi="0" rotWithShape="0">
                <a:blip r:embed="rId9"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67" name="Rectangle 166"/>
              <p:cNvSpPr>
                <a:spLocks noChangeArrowheads="1"/>
              </p:cNvSpPr>
              <p:nvPr/>
            </p:nvSpPr>
            <p:spPr bwMode="auto">
              <a:xfrm>
                <a:off x="231" y="124"/>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68" name="Rectangle 167"/>
              <p:cNvSpPr>
                <a:spLocks noChangeArrowheads="1"/>
              </p:cNvSpPr>
              <p:nvPr/>
            </p:nvSpPr>
            <p:spPr bwMode="auto">
              <a:xfrm>
                <a:off x="267" y="125"/>
                <a:ext cx="691" cy="12"/>
              </a:xfrm>
              <a:prstGeom prst="rect">
                <a:avLst/>
              </a:prstGeom>
              <a:blipFill dpi="0" rotWithShape="0">
                <a:blip r:embed="rId9"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69" name="Rectangle 168"/>
              <p:cNvSpPr>
                <a:spLocks noChangeArrowheads="1"/>
              </p:cNvSpPr>
              <p:nvPr/>
            </p:nvSpPr>
            <p:spPr bwMode="auto">
              <a:xfrm>
                <a:off x="227" y="139"/>
                <a:ext cx="38" cy="11"/>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70" name="Rectangle 169"/>
              <p:cNvSpPr>
                <a:spLocks noChangeArrowheads="1"/>
              </p:cNvSpPr>
              <p:nvPr/>
            </p:nvSpPr>
            <p:spPr bwMode="auto">
              <a:xfrm>
                <a:off x="231" y="137"/>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71" name="Rectangle 170"/>
              <p:cNvSpPr>
                <a:spLocks noChangeArrowheads="1"/>
              </p:cNvSpPr>
              <p:nvPr/>
            </p:nvSpPr>
            <p:spPr bwMode="auto">
              <a:xfrm>
                <a:off x="267" y="139"/>
                <a:ext cx="691" cy="11"/>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72" name="Rectangle 171"/>
              <p:cNvSpPr>
                <a:spLocks noChangeArrowheads="1"/>
              </p:cNvSpPr>
              <p:nvPr/>
            </p:nvSpPr>
            <p:spPr bwMode="auto">
              <a:xfrm>
                <a:off x="227" y="152"/>
                <a:ext cx="38" cy="11"/>
              </a:xfrm>
              <a:prstGeom prst="rect">
                <a:avLst/>
              </a:prstGeom>
              <a:blipFill dpi="0" rotWithShape="0">
                <a:blip r:embed="rId9"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73" name="Rectangle 172"/>
              <p:cNvSpPr>
                <a:spLocks noChangeArrowheads="1"/>
              </p:cNvSpPr>
              <p:nvPr/>
            </p:nvSpPr>
            <p:spPr bwMode="auto">
              <a:xfrm>
                <a:off x="231" y="150"/>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74" name="Rectangle 173"/>
              <p:cNvSpPr>
                <a:spLocks noChangeArrowheads="1"/>
              </p:cNvSpPr>
              <p:nvPr/>
            </p:nvSpPr>
            <p:spPr bwMode="auto">
              <a:xfrm>
                <a:off x="267" y="152"/>
                <a:ext cx="691" cy="11"/>
              </a:xfrm>
              <a:prstGeom prst="rect">
                <a:avLst/>
              </a:prstGeom>
              <a:blipFill dpi="0" rotWithShape="0">
                <a:blip r:embed="rId9"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75" name="Rectangle 174"/>
              <p:cNvSpPr>
                <a:spLocks noChangeArrowheads="1"/>
              </p:cNvSpPr>
              <p:nvPr/>
            </p:nvSpPr>
            <p:spPr bwMode="auto">
              <a:xfrm>
                <a:off x="227" y="165"/>
                <a:ext cx="38" cy="11"/>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76" name="Rectangle 175"/>
              <p:cNvSpPr>
                <a:spLocks noChangeArrowheads="1"/>
              </p:cNvSpPr>
              <p:nvPr/>
            </p:nvSpPr>
            <p:spPr bwMode="auto">
              <a:xfrm>
                <a:off x="231" y="163"/>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77" name="Rectangle 176"/>
              <p:cNvSpPr>
                <a:spLocks noChangeArrowheads="1"/>
              </p:cNvSpPr>
              <p:nvPr/>
            </p:nvSpPr>
            <p:spPr bwMode="auto">
              <a:xfrm>
                <a:off x="267" y="165"/>
                <a:ext cx="691" cy="11"/>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78" name="Rectangle 177"/>
              <p:cNvSpPr>
                <a:spLocks noChangeArrowheads="1"/>
              </p:cNvSpPr>
              <p:nvPr/>
            </p:nvSpPr>
            <p:spPr bwMode="auto">
              <a:xfrm>
                <a:off x="227" y="178"/>
                <a:ext cx="38" cy="12"/>
              </a:xfrm>
              <a:prstGeom prst="rect">
                <a:avLst/>
              </a:prstGeom>
              <a:blipFill dpi="0" rotWithShape="0">
                <a:blip r:embed="rId9"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79" name="Rectangle 178"/>
              <p:cNvSpPr>
                <a:spLocks noChangeArrowheads="1"/>
              </p:cNvSpPr>
              <p:nvPr/>
            </p:nvSpPr>
            <p:spPr bwMode="auto">
              <a:xfrm>
                <a:off x="231" y="176"/>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80" name="Rectangle 179"/>
              <p:cNvSpPr>
                <a:spLocks noChangeArrowheads="1"/>
              </p:cNvSpPr>
              <p:nvPr/>
            </p:nvSpPr>
            <p:spPr bwMode="auto">
              <a:xfrm>
                <a:off x="267" y="178"/>
                <a:ext cx="691" cy="12"/>
              </a:xfrm>
              <a:prstGeom prst="rect">
                <a:avLst/>
              </a:prstGeom>
              <a:blipFill dpi="0" rotWithShape="0">
                <a:blip r:embed="rId9"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81" name="Rectangle 180"/>
              <p:cNvSpPr>
                <a:spLocks noChangeArrowheads="1"/>
              </p:cNvSpPr>
              <p:nvPr/>
            </p:nvSpPr>
            <p:spPr bwMode="auto">
              <a:xfrm>
                <a:off x="227" y="192"/>
                <a:ext cx="38" cy="11"/>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82" name="Rectangle 181"/>
              <p:cNvSpPr>
                <a:spLocks noChangeArrowheads="1"/>
              </p:cNvSpPr>
              <p:nvPr/>
            </p:nvSpPr>
            <p:spPr bwMode="auto">
              <a:xfrm>
                <a:off x="231" y="190"/>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83" name="Rectangle 182"/>
              <p:cNvSpPr>
                <a:spLocks noChangeArrowheads="1"/>
              </p:cNvSpPr>
              <p:nvPr/>
            </p:nvSpPr>
            <p:spPr bwMode="auto">
              <a:xfrm>
                <a:off x="267" y="192"/>
                <a:ext cx="691" cy="11"/>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84" name="Rectangle 183"/>
              <p:cNvSpPr>
                <a:spLocks noChangeArrowheads="1"/>
              </p:cNvSpPr>
              <p:nvPr/>
            </p:nvSpPr>
            <p:spPr bwMode="auto">
              <a:xfrm>
                <a:off x="227" y="205"/>
                <a:ext cx="38" cy="11"/>
              </a:xfrm>
              <a:prstGeom prst="rect">
                <a:avLst/>
              </a:prstGeom>
              <a:blipFill dpi="0" rotWithShape="0">
                <a:blip r:embed="rId9"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85" name="Rectangle 184"/>
              <p:cNvSpPr>
                <a:spLocks noChangeArrowheads="1"/>
              </p:cNvSpPr>
              <p:nvPr/>
            </p:nvSpPr>
            <p:spPr bwMode="auto">
              <a:xfrm>
                <a:off x="231" y="203"/>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86" name="Rectangle 185"/>
              <p:cNvSpPr>
                <a:spLocks noChangeArrowheads="1"/>
              </p:cNvSpPr>
              <p:nvPr/>
            </p:nvSpPr>
            <p:spPr bwMode="auto">
              <a:xfrm>
                <a:off x="267" y="205"/>
                <a:ext cx="691" cy="11"/>
              </a:xfrm>
              <a:prstGeom prst="rect">
                <a:avLst/>
              </a:prstGeom>
              <a:blipFill dpi="0" rotWithShape="0">
                <a:blip r:embed="rId9"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87" name="Rectangle 186"/>
              <p:cNvSpPr>
                <a:spLocks noChangeArrowheads="1"/>
              </p:cNvSpPr>
              <p:nvPr/>
            </p:nvSpPr>
            <p:spPr bwMode="auto">
              <a:xfrm>
                <a:off x="227" y="218"/>
                <a:ext cx="38" cy="11"/>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88" name="Rectangle 187"/>
              <p:cNvSpPr>
                <a:spLocks noChangeArrowheads="1"/>
              </p:cNvSpPr>
              <p:nvPr/>
            </p:nvSpPr>
            <p:spPr bwMode="auto">
              <a:xfrm>
                <a:off x="231" y="216"/>
                <a:ext cx="2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Work</a:t>
                </a:r>
              </a:p>
            </p:txBody>
          </p:sp>
          <p:sp>
            <p:nvSpPr>
              <p:cNvPr id="189" name="Rectangle 188"/>
              <p:cNvSpPr>
                <a:spLocks noChangeArrowheads="1"/>
              </p:cNvSpPr>
              <p:nvPr/>
            </p:nvSpPr>
            <p:spPr bwMode="auto">
              <a:xfrm>
                <a:off x="267" y="218"/>
                <a:ext cx="691" cy="11"/>
              </a:xfrm>
              <a:prstGeom prst="rect">
                <a:avLst/>
              </a:prstGeom>
              <a:blipFill dpi="0" rotWithShape="0">
                <a:blip r:embed="rId8"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90" name="Rectangle 189"/>
              <p:cNvSpPr>
                <a:spLocks noChangeArrowheads="1"/>
              </p:cNvSpPr>
              <p:nvPr/>
            </p:nvSpPr>
            <p:spPr bwMode="auto">
              <a:xfrm>
                <a:off x="482" y="33"/>
                <a:ext cx="44" cy="197"/>
              </a:xfrm>
              <a:prstGeom prst="rect">
                <a:avLst/>
              </a:prstGeom>
              <a:blipFill dpi="0" rotWithShape="0">
                <a:blip r:embed="rId10"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91" name="Rectangle 190"/>
              <p:cNvSpPr>
                <a:spLocks noChangeArrowheads="1"/>
              </p:cNvSpPr>
              <p:nvPr/>
            </p:nvSpPr>
            <p:spPr bwMode="auto">
              <a:xfrm>
                <a:off x="526" y="33"/>
                <a:ext cx="43" cy="197"/>
              </a:xfrm>
              <a:prstGeom prst="rect">
                <a:avLst/>
              </a:prstGeom>
              <a:blipFill dpi="0" rotWithShape="0">
                <a:blip r:embed="rId10"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92" name="Rectangle 191"/>
              <p:cNvSpPr>
                <a:spLocks noChangeArrowheads="1"/>
              </p:cNvSpPr>
              <p:nvPr/>
            </p:nvSpPr>
            <p:spPr bwMode="auto">
              <a:xfrm>
                <a:off x="786" y="33"/>
                <a:ext cx="43" cy="197"/>
              </a:xfrm>
              <a:prstGeom prst="rect">
                <a:avLst/>
              </a:prstGeom>
              <a:blipFill dpi="0" rotWithShape="0">
                <a:blip r:embed="rId10"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93" name="Rectangle 192"/>
              <p:cNvSpPr>
                <a:spLocks noChangeArrowheads="1"/>
              </p:cNvSpPr>
              <p:nvPr/>
            </p:nvSpPr>
            <p:spPr bwMode="auto">
              <a:xfrm>
                <a:off x="829" y="33"/>
                <a:ext cx="44" cy="197"/>
              </a:xfrm>
              <a:prstGeom prst="rect">
                <a:avLst/>
              </a:prstGeom>
              <a:blipFill dpi="0" rotWithShape="0">
                <a:blip r:embed="rId10"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94" name="Line 121"/>
              <p:cNvSpPr>
                <a:spLocks noChangeShapeType="1"/>
              </p:cNvSpPr>
              <p:nvPr/>
            </p:nvSpPr>
            <p:spPr bwMode="auto">
              <a:xfrm>
                <a:off x="226" y="45"/>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95" name="Line 122"/>
              <p:cNvSpPr>
                <a:spLocks noChangeShapeType="1"/>
              </p:cNvSpPr>
              <p:nvPr/>
            </p:nvSpPr>
            <p:spPr bwMode="auto">
              <a:xfrm>
                <a:off x="266" y="45"/>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96" name="Line 123"/>
              <p:cNvSpPr>
                <a:spLocks noChangeShapeType="1"/>
              </p:cNvSpPr>
              <p:nvPr/>
            </p:nvSpPr>
            <p:spPr bwMode="auto">
              <a:xfrm>
                <a:off x="226" y="58"/>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97" name="Line 124"/>
              <p:cNvSpPr>
                <a:spLocks noChangeShapeType="1"/>
              </p:cNvSpPr>
              <p:nvPr/>
            </p:nvSpPr>
            <p:spPr bwMode="auto">
              <a:xfrm>
                <a:off x="266" y="58"/>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98" name="Line 125"/>
              <p:cNvSpPr>
                <a:spLocks noChangeShapeType="1"/>
              </p:cNvSpPr>
              <p:nvPr/>
            </p:nvSpPr>
            <p:spPr bwMode="auto">
              <a:xfrm>
                <a:off x="226" y="72"/>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99" name="Line 126"/>
              <p:cNvSpPr>
                <a:spLocks noChangeShapeType="1"/>
              </p:cNvSpPr>
              <p:nvPr/>
            </p:nvSpPr>
            <p:spPr bwMode="auto">
              <a:xfrm>
                <a:off x="266" y="72"/>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00" name="Line 127"/>
              <p:cNvSpPr>
                <a:spLocks noChangeShapeType="1"/>
              </p:cNvSpPr>
              <p:nvPr/>
            </p:nvSpPr>
            <p:spPr bwMode="auto">
              <a:xfrm>
                <a:off x="226" y="85"/>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01" name="Line 128"/>
              <p:cNvSpPr>
                <a:spLocks noChangeShapeType="1"/>
              </p:cNvSpPr>
              <p:nvPr/>
            </p:nvSpPr>
            <p:spPr bwMode="auto">
              <a:xfrm>
                <a:off x="266" y="85"/>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02" name="Line 129"/>
              <p:cNvSpPr>
                <a:spLocks noChangeShapeType="1"/>
              </p:cNvSpPr>
              <p:nvPr/>
            </p:nvSpPr>
            <p:spPr bwMode="auto">
              <a:xfrm>
                <a:off x="226" y="98"/>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03" name="Line 130"/>
              <p:cNvSpPr>
                <a:spLocks noChangeShapeType="1"/>
              </p:cNvSpPr>
              <p:nvPr/>
            </p:nvSpPr>
            <p:spPr bwMode="auto">
              <a:xfrm>
                <a:off x="266" y="98"/>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04" name="Line 131"/>
              <p:cNvSpPr>
                <a:spLocks noChangeShapeType="1"/>
              </p:cNvSpPr>
              <p:nvPr/>
            </p:nvSpPr>
            <p:spPr bwMode="auto">
              <a:xfrm>
                <a:off x="226" y="111"/>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05" name="Line 132"/>
              <p:cNvSpPr>
                <a:spLocks noChangeShapeType="1"/>
              </p:cNvSpPr>
              <p:nvPr/>
            </p:nvSpPr>
            <p:spPr bwMode="auto">
              <a:xfrm>
                <a:off x="266" y="111"/>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06" name="Line 133"/>
              <p:cNvSpPr>
                <a:spLocks noChangeShapeType="1"/>
              </p:cNvSpPr>
              <p:nvPr/>
            </p:nvSpPr>
            <p:spPr bwMode="auto">
              <a:xfrm>
                <a:off x="226" y="125"/>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07" name="Line 134"/>
              <p:cNvSpPr>
                <a:spLocks noChangeShapeType="1"/>
              </p:cNvSpPr>
              <p:nvPr/>
            </p:nvSpPr>
            <p:spPr bwMode="auto">
              <a:xfrm>
                <a:off x="266" y="125"/>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08" name="Line 135"/>
              <p:cNvSpPr>
                <a:spLocks noChangeShapeType="1"/>
              </p:cNvSpPr>
              <p:nvPr/>
            </p:nvSpPr>
            <p:spPr bwMode="auto">
              <a:xfrm>
                <a:off x="226" y="138"/>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09" name="Line 136"/>
              <p:cNvSpPr>
                <a:spLocks noChangeShapeType="1"/>
              </p:cNvSpPr>
              <p:nvPr/>
            </p:nvSpPr>
            <p:spPr bwMode="auto">
              <a:xfrm>
                <a:off x="266" y="138"/>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10" name="Line 137"/>
              <p:cNvSpPr>
                <a:spLocks noChangeShapeType="1"/>
              </p:cNvSpPr>
              <p:nvPr/>
            </p:nvSpPr>
            <p:spPr bwMode="auto">
              <a:xfrm>
                <a:off x="226" y="151"/>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11" name="Line 138"/>
              <p:cNvSpPr>
                <a:spLocks noChangeShapeType="1"/>
              </p:cNvSpPr>
              <p:nvPr/>
            </p:nvSpPr>
            <p:spPr bwMode="auto">
              <a:xfrm>
                <a:off x="266" y="151"/>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12" name="Line 139"/>
              <p:cNvSpPr>
                <a:spLocks noChangeShapeType="1"/>
              </p:cNvSpPr>
              <p:nvPr/>
            </p:nvSpPr>
            <p:spPr bwMode="auto">
              <a:xfrm>
                <a:off x="226" y="164"/>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13" name="Line 140"/>
              <p:cNvSpPr>
                <a:spLocks noChangeShapeType="1"/>
              </p:cNvSpPr>
              <p:nvPr/>
            </p:nvSpPr>
            <p:spPr bwMode="auto">
              <a:xfrm>
                <a:off x="266" y="164"/>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14" name="Line 141"/>
              <p:cNvSpPr>
                <a:spLocks noChangeShapeType="1"/>
              </p:cNvSpPr>
              <p:nvPr/>
            </p:nvSpPr>
            <p:spPr bwMode="auto">
              <a:xfrm>
                <a:off x="226" y="177"/>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15" name="Line 142"/>
              <p:cNvSpPr>
                <a:spLocks noChangeShapeType="1"/>
              </p:cNvSpPr>
              <p:nvPr/>
            </p:nvSpPr>
            <p:spPr bwMode="auto">
              <a:xfrm>
                <a:off x="266" y="177"/>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16" name="Line 143"/>
              <p:cNvSpPr>
                <a:spLocks noChangeShapeType="1"/>
              </p:cNvSpPr>
              <p:nvPr/>
            </p:nvSpPr>
            <p:spPr bwMode="auto">
              <a:xfrm>
                <a:off x="226" y="191"/>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17" name="Line 144"/>
              <p:cNvSpPr>
                <a:spLocks noChangeShapeType="1"/>
              </p:cNvSpPr>
              <p:nvPr/>
            </p:nvSpPr>
            <p:spPr bwMode="auto">
              <a:xfrm>
                <a:off x="266" y="191"/>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18" name="Line 145"/>
              <p:cNvSpPr>
                <a:spLocks noChangeShapeType="1"/>
              </p:cNvSpPr>
              <p:nvPr/>
            </p:nvSpPr>
            <p:spPr bwMode="auto">
              <a:xfrm>
                <a:off x="226" y="204"/>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19" name="Line 146"/>
              <p:cNvSpPr>
                <a:spLocks noChangeShapeType="1"/>
              </p:cNvSpPr>
              <p:nvPr/>
            </p:nvSpPr>
            <p:spPr bwMode="auto">
              <a:xfrm>
                <a:off x="266" y="204"/>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20" name="Line 147"/>
              <p:cNvSpPr>
                <a:spLocks noChangeShapeType="1"/>
              </p:cNvSpPr>
              <p:nvPr/>
            </p:nvSpPr>
            <p:spPr bwMode="auto">
              <a:xfrm>
                <a:off x="226" y="217"/>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21" name="Line 148"/>
              <p:cNvSpPr>
                <a:spLocks noChangeShapeType="1"/>
              </p:cNvSpPr>
              <p:nvPr/>
            </p:nvSpPr>
            <p:spPr bwMode="auto">
              <a:xfrm>
                <a:off x="266" y="217"/>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22" name="Line 149"/>
              <p:cNvSpPr>
                <a:spLocks noChangeShapeType="1"/>
              </p:cNvSpPr>
              <p:nvPr/>
            </p:nvSpPr>
            <p:spPr bwMode="auto">
              <a:xfrm>
                <a:off x="226" y="230"/>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23" name="Line 150"/>
              <p:cNvSpPr>
                <a:spLocks noChangeShapeType="1"/>
              </p:cNvSpPr>
              <p:nvPr/>
            </p:nvSpPr>
            <p:spPr bwMode="auto">
              <a:xfrm>
                <a:off x="266" y="230"/>
                <a:ext cx="693" cy="0"/>
              </a:xfrm>
              <a:prstGeom prst="line">
                <a:avLst/>
              </a:prstGeom>
              <a:noFill/>
              <a:ln w="9525">
                <a:solidFill>
                  <a:srgbClr val="C0C0C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24" name="Line 151"/>
              <p:cNvSpPr>
                <a:spLocks noChangeShapeType="1"/>
              </p:cNvSpPr>
              <p:nvPr/>
            </p:nvSpPr>
            <p:spPr bwMode="auto">
              <a:xfrm>
                <a:off x="226" y="0"/>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25" name="Line 152"/>
              <p:cNvSpPr>
                <a:spLocks noChangeShapeType="1"/>
              </p:cNvSpPr>
              <p:nvPr/>
            </p:nvSpPr>
            <p:spPr bwMode="auto">
              <a:xfrm>
                <a:off x="226" y="32"/>
                <a:ext cx="40"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26" name="Line 153"/>
              <p:cNvSpPr>
                <a:spLocks noChangeShapeType="1"/>
              </p:cNvSpPr>
              <p:nvPr/>
            </p:nvSpPr>
            <p:spPr bwMode="auto">
              <a:xfrm>
                <a:off x="226" y="0"/>
                <a:ext cx="0" cy="23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27" name="Rectangle 226"/>
              <p:cNvSpPr>
                <a:spLocks noChangeArrowheads="1"/>
              </p:cNvSpPr>
              <p:nvPr/>
            </p:nvSpPr>
            <p:spPr bwMode="auto">
              <a:xfrm>
                <a:off x="283" y="20"/>
                <a:ext cx="9"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M</a:t>
                </a:r>
              </a:p>
            </p:txBody>
          </p:sp>
          <p:sp>
            <p:nvSpPr>
              <p:cNvPr id="228" name="Line 155"/>
              <p:cNvSpPr>
                <a:spLocks noChangeShapeType="1"/>
              </p:cNvSpPr>
              <p:nvPr/>
            </p:nvSpPr>
            <p:spPr bwMode="auto">
              <a:xfrm>
                <a:off x="308"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29" name="Rectangle 228"/>
              <p:cNvSpPr>
                <a:spLocks noChangeArrowheads="1"/>
              </p:cNvSpPr>
              <p:nvPr/>
            </p:nvSpPr>
            <p:spPr bwMode="auto">
              <a:xfrm>
                <a:off x="327" y="20"/>
                <a:ext cx="7"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T</a:t>
                </a:r>
              </a:p>
            </p:txBody>
          </p:sp>
          <p:sp>
            <p:nvSpPr>
              <p:cNvPr id="230" name="Rectangle 229"/>
              <p:cNvSpPr>
                <a:spLocks noChangeArrowheads="1"/>
              </p:cNvSpPr>
              <p:nvPr/>
            </p:nvSpPr>
            <p:spPr bwMode="auto">
              <a:xfrm>
                <a:off x="308"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31" name="Line 158"/>
              <p:cNvSpPr>
                <a:spLocks noChangeShapeType="1"/>
              </p:cNvSpPr>
              <p:nvPr/>
            </p:nvSpPr>
            <p:spPr bwMode="auto">
              <a:xfrm>
                <a:off x="351"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32" name="Rectangle 231"/>
              <p:cNvSpPr>
                <a:spLocks noChangeArrowheads="1"/>
              </p:cNvSpPr>
              <p:nvPr/>
            </p:nvSpPr>
            <p:spPr bwMode="auto">
              <a:xfrm>
                <a:off x="368" y="20"/>
                <a:ext cx="10"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a:t>
                </a:r>
              </a:p>
            </p:txBody>
          </p:sp>
          <p:sp>
            <p:nvSpPr>
              <p:cNvPr id="233" name="Rectangle 232"/>
              <p:cNvSpPr>
                <a:spLocks noChangeArrowheads="1"/>
              </p:cNvSpPr>
              <p:nvPr/>
            </p:nvSpPr>
            <p:spPr bwMode="auto">
              <a:xfrm>
                <a:off x="351"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34" name="Line 161"/>
              <p:cNvSpPr>
                <a:spLocks noChangeShapeType="1"/>
              </p:cNvSpPr>
              <p:nvPr/>
            </p:nvSpPr>
            <p:spPr bwMode="auto">
              <a:xfrm>
                <a:off x="395"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35" name="Rectangle 234"/>
              <p:cNvSpPr>
                <a:spLocks noChangeArrowheads="1"/>
              </p:cNvSpPr>
              <p:nvPr/>
            </p:nvSpPr>
            <p:spPr bwMode="auto">
              <a:xfrm>
                <a:off x="414" y="20"/>
                <a:ext cx="7"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T</a:t>
                </a:r>
              </a:p>
            </p:txBody>
          </p:sp>
          <p:sp>
            <p:nvSpPr>
              <p:cNvPr id="236" name="Rectangle 235"/>
              <p:cNvSpPr>
                <a:spLocks noChangeArrowheads="1"/>
              </p:cNvSpPr>
              <p:nvPr/>
            </p:nvSpPr>
            <p:spPr bwMode="auto">
              <a:xfrm>
                <a:off x="395"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37" name="Line 164"/>
              <p:cNvSpPr>
                <a:spLocks noChangeShapeType="1"/>
              </p:cNvSpPr>
              <p:nvPr/>
            </p:nvSpPr>
            <p:spPr bwMode="auto">
              <a:xfrm>
                <a:off x="438"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38" name="Rectangle 237"/>
              <p:cNvSpPr>
                <a:spLocks noChangeArrowheads="1"/>
              </p:cNvSpPr>
              <p:nvPr/>
            </p:nvSpPr>
            <p:spPr bwMode="auto">
              <a:xfrm>
                <a:off x="457" y="20"/>
                <a:ext cx="7"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F</a:t>
                </a:r>
              </a:p>
            </p:txBody>
          </p:sp>
          <p:sp>
            <p:nvSpPr>
              <p:cNvPr id="239" name="Rectangle 238"/>
              <p:cNvSpPr>
                <a:spLocks noChangeArrowheads="1"/>
              </p:cNvSpPr>
              <p:nvPr/>
            </p:nvSpPr>
            <p:spPr bwMode="auto">
              <a:xfrm>
                <a:off x="438"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40" name="Line 167"/>
              <p:cNvSpPr>
                <a:spLocks noChangeShapeType="1"/>
              </p:cNvSpPr>
              <p:nvPr/>
            </p:nvSpPr>
            <p:spPr bwMode="auto">
              <a:xfrm>
                <a:off x="481"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41" name="Rectangle 240"/>
              <p:cNvSpPr>
                <a:spLocks noChangeArrowheads="1"/>
              </p:cNvSpPr>
              <p:nvPr/>
            </p:nvSpPr>
            <p:spPr bwMode="auto">
              <a:xfrm>
                <a:off x="499" y="20"/>
                <a:ext cx="7"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S</a:t>
                </a:r>
              </a:p>
            </p:txBody>
          </p:sp>
          <p:sp>
            <p:nvSpPr>
              <p:cNvPr id="242" name="Rectangle 241"/>
              <p:cNvSpPr>
                <a:spLocks noChangeArrowheads="1"/>
              </p:cNvSpPr>
              <p:nvPr/>
            </p:nvSpPr>
            <p:spPr bwMode="auto">
              <a:xfrm>
                <a:off x="481"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43" name="Line 170"/>
              <p:cNvSpPr>
                <a:spLocks noChangeShapeType="1"/>
              </p:cNvSpPr>
              <p:nvPr/>
            </p:nvSpPr>
            <p:spPr bwMode="auto">
              <a:xfrm>
                <a:off x="525"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44" name="Rectangle 243"/>
              <p:cNvSpPr>
                <a:spLocks noChangeArrowheads="1"/>
              </p:cNvSpPr>
              <p:nvPr/>
            </p:nvSpPr>
            <p:spPr bwMode="auto">
              <a:xfrm>
                <a:off x="543" y="20"/>
                <a:ext cx="7"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S</a:t>
                </a:r>
              </a:p>
            </p:txBody>
          </p:sp>
          <p:sp>
            <p:nvSpPr>
              <p:cNvPr id="245" name="Rectangle 244"/>
              <p:cNvSpPr>
                <a:spLocks noChangeArrowheads="1"/>
              </p:cNvSpPr>
              <p:nvPr/>
            </p:nvSpPr>
            <p:spPr bwMode="auto">
              <a:xfrm>
                <a:off x="525"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46" name="Line 173"/>
              <p:cNvSpPr>
                <a:spLocks noChangeShapeType="1"/>
              </p:cNvSpPr>
              <p:nvPr/>
            </p:nvSpPr>
            <p:spPr bwMode="auto">
              <a:xfrm>
                <a:off x="568"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47" name="Rectangle 246"/>
              <p:cNvSpPr>
                <a:spLocks noChangeArrowheads="1"/>
              </p:cNvSpPr>
              <p:nvPr/>
            </p:nvSpPr>
            <p:spPr bwMode="auto">
              <a:xfrm>
                <a:off x="586" y="20"/>
                <a:ext cx="9"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M</a:t>
                </a:r>
              </a:p>
            </p:txBody>
          </p:sp>
          <p:sp>
            <p:nvSpPr>
              <p:cNvPr id="248" name="Rectangle 247"/>
              <p:cNvSpPr>
                <a:spLocks noChangeArrowheads="1"/>
              </p:cNvSpPr>
              <p:nvPr/>
            </p:nvSpPr>
            <p:spPr bwMode="auto">
              <a:xfrm>
                <a:off x="568"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49" name="Line 176"/>
              <p:cNvSpPr>
                <a:spLocks noChangeShapeType="1"/>
              </p:cNvSpPr>
              <p:nvPr/>
            </p:nvSpPr>
            <p:spPr bwMode="auto">
              <a:xfrm>
                <a:off x="612"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50" name="Rectangle 249"/>
              <p:cNvSpPr>
                <a:spLocks noChangeArrowheads="1"/>
              </p:cNvSpPr>
              <p:nvPr/>
            </p:nvSpPr>
            <p:spPr bwMode="auto">
              <a:xfrm>
                <a:off x="630" y="20"/>
                <a:ext cx="7"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T</a:t>
                </a:r>
              </a:p>
            </p:txBody>
          </p:sp>
          <p:sp>
            <p:nvSpPr>
              <p:cNvPr id="251" name="Rectangle 250"/>
              <p:cNvSpPr>
                <a:spLocks noChangeArrowheads="1"/>
              </p:cNvSpPr>
              <p:nvPr/>
            </p:nvSpPr>
            <p:spPr bwMode="auto">
              <a:xfrm>
                <a:off x="612"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52" name="Line 179"/>
              <p:cNvSpPr>
                <a:spLocks noChangeShapeType="1"/>
              </p:cNvSpPr>
              <p:nvPr/>
            </p:nvSpPr>
            <p:spPr bwMode="auto">
              <a:xfrm>
                <a:off x="655"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53" name="Rectangle 252"/>
              <p:cNvSpPr>
                <a:spLocks noChangeArrowheads="1"/>
              </p:cNvSpPr>
              <p:nvPr/>
            </p:nvSpPr>
            <p:spPr bwMode="auto">
              <a:xfrm>
                <a:off x="672" y="20"/>
                <a:ext cx="10"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W</a:t>
                </a:r>
              </a:p>
            </p:txBody>
          </p:sp>
          <p:sp>
            <p:nvSpPr>
              <p:cNvPr id="254" name="Rectangle 253"/>
              <p:cNvSpPr>
                <a:spLocks noChangeArrowheads="1"/>
              </p:cNvSpPr>
              <p:nvPr/>
            </p:nvSpPr>
            <p:spPr bwMode="auto">
              <a:xfrm>
                <a:off x="655"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55" name="Line 182"/>
              <p:cNvSpPr>
                <a:spLocks noChangeShapeType="1"/>
              </p:cNvSpPr>
              <p:nvPr/>
            </p:nvSpPr>
            <p:spPr bwMode="auto">
              <a:xfrm>
                <a:off x="698"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56" name="Rectangle 255"/>
              <p:cNvSpPr>
                <a:spLocks noChangeArrowheads="1"/>
              </p:cNvSpPr>
              <p:nvPr/>
            </p:nvSpPr>
            <p:spPr bwMode="auto">
              <a:xfrm>
                <a:off x="717" y="20"/>
                <a:ext cx="7"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T</a:t>
                </a:r>
              </a:p>
            </p:txBody>
          </p:sp>
          <p:sp>
            <p:nvSpPr>
              <p:cNvPr id="257" name="Rectangle 256"/>
              <p:cNvSpPr>
                <a:spLocks noChangeArrowheads="1"/>
              </p:cNvSpPr>
              <p:nvPr/>
            </p:nvSpPr>
            <p:spPr bwMode="auto">
              <a:xfrm>
                <a:off x="698"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58" name="Line 185"/>
              <p:cNvSpPr>
                <a:spLocks noChangeShapeType="1"/>
              </p:cNvSpPr>
              <p:nvPr/>
            </p:nvSpPr>
            <p:spPr bwMode="auto">
              <a:xfrm>
                <a:off x="742"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59" name="Rectangle 258"/>
              <p:cNvSpPr>
                <a:spLocks noChangeArrowheads="1"/>
              </p:cNvSpPr>
              <p:nvPr/>
            </p:nvSpPr>
            <p:spPr bwMode="auto">
              <a:xfrm>
                <a:off x="760" y="20"/>
                <a:ext cx="7"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F</a:t>
                </a:r>
              </a:p>
            </p:txBody>
          </p:sp>
          <p:sp>
            <p:nvSpPr>
              <p:cNvPr id="260" name="Rectangle 259"/>
              <p:cNvSpPr>
                <a:spLocks noChangeArrowheads="1"/>
              </p:cNvSpPr>
              <p:nvPr/>
            </p:nvSpPr>
            <p:spPr bwMode="auto">
              <a:xfrm>
                <a:off x="742"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61" name="Line 188"/>
              <p:cNvSpPr>
                <a:spLocks noChangeShapeType="1"/>
              </p:cNvSpPr>
              <p:nvPr/>
            </p:nvSpPr>
            <p:spPr bwMode="auto">
              <a:xfrm>
                <a:off x="785"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62" name="Rectangle 261"/>
              <p:cNvSpPr>
                <a:spLocks noChangeArrowheads="1"/>
              </p:cNvSpPr>
              <p:nvPr/>
            </p:nvSpPr>
            <p:spPr bwMode="auto">
              <a:xfrm>
                <a:off x="803" y="20"/>
                <a:ext cx="7"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S</a:t>
                </a:r>
              </a:p>
            </p:txBody>
          </p:sp>
          <p:sp>
            <p:nvSpPr>
              <p:cNvPr id="263" name="Rectangle 262"/>
              <p:cNvSpPr>
                <a:spLocks noChangeArrowheads="1"/>
              </p:cNvSpPr>
              <p:nvPr/>
            </p:nvSpPr>
            <p:spPr bwMode="auto">
              <a:xfrm>
                <a:off x="785"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64" name="Line 191"/>
              <p:cNvSpPr>
                <a:spLocks noChangeShapeType="1"/>
              </p:cNvSpPr>
              <p:nvPr/>
            </p:nvSpPr>
            <p:spPr bwMode="auto">
              <a:xfrm>
                <a:off x="828"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65" name="Rectangle 264"/>
              <p:cNvSpPr>
                <a:spLocks noChangeArrowheads="1"/>
              </p:cNvSpPr>
              <p:nvPr/>
            </p:nvSpPr>
            <p:spPr bwMode="auto">
              <a:xfrm>
                <a:off x="846" y="20"/>
                <a:ext cx="7"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S</a:t>
                </a:r>
              </a:p>
            </p:txBody>
          </p:sp>
          <p:sp>
            <p:nvSpPr>
              <p:cNvPr id="266" name="Rectangle 265"/>
              <p:cNvSpPr>
                <a:spLocks noChangeArrowheads="1"/>
              </p:cNvSpPr>
              <p:nvPr/>
            </p:nvSpPr>
            <p:spPr bwMode="auto">
              <a:xfrm>
                <a:off x="828"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67" name="Line 194"/>
              <p:cNvSpPr>
                <a:spLocks noChangeShapeType="1"/>
              </p:cNvSpPr>
              <p:nvPr/>
            </p:nvSpPr>
            <p:spPr bwMode="auto">
              <a:xfrm>
                <a:off x="872"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68" name="Rectangle 267"/>
              <p:cNvSpPr>
                <a:spLocks noChangeArrowheads="1"/>
              </p:cNvSpPr>
              <p:nvPr/>
            </p:nvSpPr>
            <p:spPr bwMode="auto">
              <a:xfrm>
                <a:off x="889" y="20"/>
                <a:ext cx="9"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M</a:t>
                </a:r>
              </a:p>
            </p:txBody>
          </p:sp>
          <p:sp>
            <p:nvSpPr>
              <p:cNvPr id="269" name="Rectangle 268"/>
              <p:cNvSpPr>
                <a:spLocks noChangeArrowheads="1"/>
              </p:cNvSpPr>
              <p:nvPr/>
            </p:nvSpPr>
            <p:spPr bwMode="auto">
              <a:xfrm>
                <a:off x="872"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70" name="Line 197"/>
              <p:cNvSpPr>
                <a:spLocks noChangeShapeType="1"/>
              </p:cNvSpPr>
              <p:nvPr/>
            </p:nvSpPr>
            <p:spPr bwMode="auto">
              <a:xfrm>
                <a:off x="915"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71" name="Rectangle 270"/>
              <p:cNvSpPr>
                <a:spLocks noChangeArrowheads="1"/>
              </p:cNvSpPr>
              <p:nvPr/>
            </p:nvSpPr>
            <p:spPr bwMode="auto">
              <a:xfrm>
                <a:off x="934" y="20"/>
                <a:ext cx="7"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T</a:t>
                </a:r>
              </a:p>
            </p:txBody>
          </p:sp>
          <p:sp>
            <p:nvSpPr>
              <p:cNvPr id="272" name="Rectangle 271"/>
              <p:cNvSpPr>
                <a:spLocks noChangeArrowheads="1"/>
              </p:cNvSpPr>
              <p:nvPr/>
            </p:nvSpPr>
            <p:spPr bwMode="auto">
              <a:xfrm>
                <a:off x="915" y="32"/>
                <a:ext cx="1" cy="198"/>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73" name="Line 200"/>
              <p:cNvSpPr>
                <a:spLocks noChangeShapeType="1"/>
              </p:cNvSpPr>
              <p:nvPr/>
            </p:nvSpPr>
            <p:spPr bwMode="auto">
              <a:xfrm>
                <a:off x="958" y="19"/>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74" name="Rectangle 273"/>
              <p:cNvSpPr>
                <a:spLocks noChangeArrowheads="1"/>
              </p:cNvSpPr>
              <p:nvPr/>
            </p:nvSpPr>
            <p:spPr bwMode="auto">
              <a:xfrm>
                <a:off x="975" y="20"/>
                <a:ext cx="0"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endParaRPr kumimoji="0" lang="en-US" sz="800" b="0" i="0" u="none" strike="noStrike" kern="0" cap="none" spc="0" normalizeH="0" baseline="0" noProof="0">
                  <a:ln>
                    <a:noFill/>
                  </a:ln>
                  <a:solidFill>
                    <a:srgbClr val="000000"/>
                  </a:solidFill>
                  <a:effectLst/>
                  <a:uLnTx/>
                  <a:uFillTx/>
                  <a:latin typeface="Arial"/>
                  <a:ea typeface="+mn-ea"/>
                  <a:cs typeface="Arial"/>
                </a:endParaRPr>
              </a:p>
            </p:txBody>
          </p:sp>
          <p:sp>
            <p:nvSpPr>
              <p:cNvPr id="275" name="Rectangle 274"/>
              <p:cNvSpPr>
                <a:spLocks noChangeArrowheads="1"/>
              </p:cNvSpPr>
              <p:nvPr/>
            </p:nvSpPr>
            <p:spPr bwMode="auto">
              <a:xfrm>
                <a:off x="268" y="7"/>
                <a:ext cx="51"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31 Dec '07</a:t>
                </a:r>
              </a:p>
            </p:txBody>
          </p:sp>
          <p:sp>
            <p:nvSpPr>
              <p:cNvPr id="276" name="Line 203"/>
              <p:cNvSpPr>
                <a:spLocks noChangeShapeType="1"/>
              </p:cNvSpPr>
              <p:nvPr/>
            </p:nvSpPr>
            <p:spPr bwMode="auto">
              <a:xfrm>
                <a:off x="568" y="6"/>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77" name="Rectangle 276"/>
              <p:cNvSpPr>
                <a:spLocks noChangeArrowheads="1"/>
              </p:cNvSpPr>
              <p:nvPr/>
            </p:nvSpPr>
            <p:spPr bwMode="auto">
              <a:xfrm>
                <a:off x="571" y="7"/>
                <a:ext cx="49"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07 Jan '08</a:t>
                </a:r>
              </a:p>
            </p:txBody>
          </p:sp>
        </p:grpSp>
        <p:sp>
          <p:nvSpPr>
            <p:cNvPr id="19" name="Rectangle 18"/>
            <p:cNvSpPr>
              <a:spLocks noChangeArrowheads="1"/>
            </p:cNvSpPr>
            <p:nvPr/>
          </p:nvSpPr>
          <p:spPr bwMode="auto">
            <a:xfrm>
              <a:off x="568" y="19"/>
              <a:ext cx="1" cy="211"/>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0" name="Line 207"/>
            <p:cNvSpPr>
              <a:spLocks noChangeShapeType="1"/>
            </p:cNvSpPr>
            <p:nvPr/>
          </p:nvSpPr>
          <p:spPr bwMode="auto">
            <a:xfrm>
              <a:off x="872" y="6"/>
              <a:ext cx="0" cy="13"/>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1" name="Rectangle 20"/>
            <p:cNvSpPr>
              <a:spLocks noChangeArrowheads="1"/>
            </p:cNvSpPr>
            <p:nvPr/>
          </p:nvSpPr>
          <p:spPr bwMode="auto">
            <a:xfrm>
              <a:off x="874" y="7"/>
              <a:ext cx="49"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14 Jan '08</a:t>
              </a:r>
            </a:p>
          </p:txBody>
        </p:sp>
        <p:sp>
          <p:nvSpPr>
            <p:cNvPr id="22" name="Rectangle 21"/>
            <p:cNvSpPr>
              <a:spLocks noChangeArrowheads="1"/>
            </p:cNvSpPr>
            <p:nvPr/>
          </p:nvSpPr>
          <p:spPr bwMode="auto">
            <a:xfrm>
              <a:off x="872" y="19"/>
              <a:ext cx="1" cy="211"/>
            </a:xfrm>
            <a:prstGeom prst="rect">
              <a:avLst/>
            </a:prstGeom>
            <a:blipFill dpi="0" rotWithShape="0">
              <a:blip r:embed="rId11"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3" name="Line 210"/>
            <p:cNvSpPr>
              <a:spLocks noChangeShapeType="1"/>
            </p:cNvSpPr>
            <p:nvPr/>
          </p:nvSpPr>
          <p:spPr bwMode="auto">
            <a:xfrm>
              <a:off x="266" y="6"/>
              <a:ext cx="693"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4" name="Line 211"/>
            <p:cNvSpPr>
              <a:spLocks noChangeShapeType="1"/>
            </p:cNvSpPr>
            <p:nvPr/>
          </p:nvSpPr>
          <p:spPr bwMode="auto">
            <a:xfrm>
              <a:off x="266" y="32"/>
              <a:ext cx="693"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5" name="Line 212"/>
            <p:cNvSpPr>
              <a:spLocks noChangeShapeType="1"/>
            </p:cNvSpPr>
            <p:nvPr/>
          </p:nvSpPr>
          <p:spPr bwMode="auto">
            <a:xfrm>
              <a:off x="266" y="19"/>
              <a:ext cx="693"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6" name="Line 213"/>
            <p:cNvSpPr>
              <a:spLocks noChangeShapeType="1"/>
            </p:cNvSpPr>
            <p:nvPr/>
          </p:nvSpPr>
          <p:spPr bwMode="auto">
            <a:xfrm>
              <a:off x="266" y="6"/>
              <a:ext cx="693"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7" name="Line 214"/>
            <p:cNvSpPr>
              <a:spLocks noChangeShapeType="1"/>
            </p:cNvSpPr>
            <p:nvPr/>
          </p:nvSpPr>
          <p:spPr bwMode="auto">
            <a:xfrm>
              <a:off x="266" y="0"/>
              <a:ext cx="693"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8" name="Line 215"/>
            <p:cNvSpPr>
              <a:spLocks noChangeShapeType="1"/>
            </p:cNvSpPr>
            <p:nvPr/>
          </p:nvSpPr>
          <p:spPr bwMode="auto">
            <a:xfrm>
              <a:off x="266" y="230"/>
              <a:ext cx="693" cy="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9" name="Line 216"/>
            <p:cNvSpPr>
              <a:spLocks noChangeShapeType="1"/>
            </p:cNvSpPr>
            <p:nvPr/>
          </p:nvSpPr>
          <p:spPr bwMode="auto">
            <a:xfrm>
              <a:off x="266" y="0"/>
              <a:ext cx="0" cy="23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0" name="Line 217"/>
            <p:cNvSpPr>
              <a:spLocks noChangeShapeType="1"/>
            </p:cNvSpPr>
            <p:nvPr/>
          </p:nvSpPr>
          <p:spPr bwMode="auto">
            <a:xfrm>
              <a:off x="959" y="0"/>
              <a:ext cx="0" cy="230"/>
            </a:xfrm>
            <a:prstGeom prst="line">
              <a:avLst/>
            </a:prstGeom>
            <a:noFill/>
            <a:ln w="9525">
              <a:solidFill>
                <a:srgbClr val="808080"/>
              </a:solidFill>
              <a:prstDash val="solid"/>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1" name="Rectangle 30"/>
            <p:cNvSpPr>
              <a:spLocks noChangeArrowheads="1"/>
            </p:cNvSpPr>
            <p:nvPr/>
          </p:nvSpPr>
          <p:spPr bwMode="auto">
            <a:xfrm>
              <a:off x="337" y="32"/>
              <a:ext cx="12"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w="0"/>
                  <a:solidFill>
                    <a:sysClr val="windowText" lastClr="000000"/>
                  </a:solidFill>
                  <a:effectLst>
                    <a:outerShdw blurRad="38100" dist="19050" dir="2700000" algn="tl" rotWithShape="0">
                      <a:sysClr val="windowText" lastClr="000000">
                        <a:alpha val="40000"/>
                      </a:sysClr>
                    </a:outerShdw>
                  </a:effectLst>
                  <a:uLnTx/>
                  <a:uFillTx/>
                  <a:latin typeface="Arial"/>
                  <a:ea typeface="+mn-ea"/>
                  <a:cs typeface="Arial"/>
                </a:rPr>
                <a:t>1d</a:t>
              </a:r>
              <a:endParaRPr kumimoji="0" lang="en-US" sz="800" b="0" i="0" u="none" strike="noStrike" kern="0" cap="none" spc="0" normalizeH="0" baseline="0" noProof="0">
                <a:ln>
                  <a:noFill/>
                </a:ln>
                <a:solidFill>
                  <a:srgbClr val="FF0000"/>
                </a:solidFill>
                <a:effectLst/>
                <a:uLnTx/>
                <a:uFillTx/>
                <a:latin typeface="Arial"/>
                <a:ea typeface="+mn-ea"/>
                <a:cs typeface="Arial"/>
              </a:endParaRPr>
            </a:p>
          </p:txBody>
        </p:sp>
        <p:sp>
          <p:nvSpPr>
            <p:cNvPr id="32" name="Rectangle 31"/>
            <p:cNvSpPr>
              <a:spLocks noChangeArrowheads="1"/>
            </p:cNvSpPr>
            <p:nvPr/>
          </p:nvSpPr>
          <p:spPr bwMode="auto">
            <a:xfrm>
              <a:off x="381" y="32"/>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FF0000"/>
                  </a:solidFill>
                  <a:effectLst/>
                  <a:uLnTx/>
                  <a:uFillTx/>
                  <a:latin typeface="Arial"/>
                  <a:ea typeface="+mn-ea"/>
                  <a:cs typeface="Arial"/>
                </a:rPr>
                <a:t>2d</a:t>
              </a:r>
            </a:p>
          </p:txBody>
        </p:sp>
        <p:sp>
          <p:nvSpPr>
            <p:cNvPr id="33" name="Rectangle 32"/>
            <p:cNvSpPr>
              <a:spLocks noChangeArrowheads="1"/>
            </p:cNvSpPr>
            <p:nvPr/>
          </p:nvSpPr>
          <p:spPr bwMode="auto">
            <a:xfrm>
              <a:off x="416" y="32"/>
              <a:ext cx="15"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w="0"/>
                  <a:solidFill>
                    <a:sysClr val="windowText" lastClr="000000"/>
                  </a:solidFill>
                  <a:effectLst>
                    <a:outerShdw blurRad="38100" dist="19050" dir="2700000" algn="tl" rotWithShape="0">
                      <a:sysClr val="windowText" lastClr="000000">
                        <a:alpha val="40000"/>
                      </a:sysClr>
                    </a:outerShdw>
                  </a:effectLst>
                  <a:uLnTx/>
                  <a:uFillTx/>
                  <a:latin typeface="Arial"/>
                  <a:ea typeface="+mn-ea"/>
                  <a:cs typeface="Arial"/>
                </a:rPr>
                <a:t>1</a:t>
              </a:r>
              <a:r>
                <a:rPr kumimoji="0" lang="en-US" sz="800" b="0" i="0" u="none" strike="noStrike" kern="0" cap="none" spc="0" normalizeH="0" baseline="0" noProof="0">
                  <a:ln>
                    <a:noFill/>
                  </a:ln>
                  <a:solidFill>
                    <a:srgbClr val="FF0000"/>
                  </a:solidFill>
                  <a:effectLst/>
                  <a:uLnTx/>
                  <a:uFillTx/>
                  <a:latin typeface="Arial"/>
                  <a:ea typeface="+mn-ea"/>
                  <a:cs typeface="Arial"/>
                </a:rPr>
                <a:t> </a:t>
              </a:r>
              <a:r>
                <a:rPr kumimoji="0" lang="en-US" sz="800" b="0" i="0" u="none" strike="noStrike" kern="0" cap="none" spc="0" normalizeH="0" baseline="0" noProof="0">
                  <a:ln w="0"/>
                  <a:solidFill>
                    <a:sysClr val="windowText" lastClr="000000"/>
                  </a:solidFill>
                  <a:effectLst>
                    <a:outerShdw blurRad="38100" dist="19050" dir="2700000" algn="tl" rotWithShape="0">
                      <a:sysClr val="windowText" lastClr="000000">
                        <a:alpha val="40000"/>
                      </a:sysClr>
                    </a:outerShdw>
                  </a:effectLst>
                  <a:uLnTx/>
                  <a:uFillTx/>
                  <a:latin typeface="Arial"/>
                  <a:ea typeface="+mn-ea"/>
                  <a:cs typeface="Arial"/>
                </a:rPr>
                <a:t>d</a:t>
              </a:r>
              <a:endParaRPr kumimoji="0" lang="en-US" sz="800" b="0" i="0" u="none" strike="noStrike" kern="0" cap="none" spc="0" normalizeH="0" baseline="0" noProof="0">
                <a:ln>
                  <a:noFill/>
                </a:ln>
                <a:solidFill>
                  <a:srgbClr val="FF0000"/>
                </a:solidFill>
                <a:effectLst/>
                <a:uLnTx/>
                <a:uFillTx/>
                <a:latin typeface="Arial"/>
                <a:ea typeface="+mn-ea"/>
                <a:cs typeface="Arial"/>
              </a:endParaRPr>
            </a:p>
          </p:txBody>
        </p:sp>
        <p:sp>
          <p:nvSpPr>
            <p:cNvPr id="34" name="Rectangle 33"/>
            <p:cNvSpPr>
              <a:spLocks noChangeArrowheads="1"/>
            </p:cNvSpPr>
            <p:nvPr/>
          </p:nvSpPr>
          <p:spPr bwMode="auto">
            <a:xfrm>
              <a:off x="467" y="32"/>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FF0000"/>
                  </a:solidFill>
                  <a:effectLst/>
                  <a:uLnTx/>
                  <a:uFillTx/>
                  <a:latin typeface="Arial"/>
                  <a:ea typeface="+mn-ea"/>
                  <a:cs typeface="Arial"/>
                </a:rPr>
                <a:t>2d</a:t>
              </a:r>
            </a:p>
          </p:txBody>
        </p:sp>
        <p:sp>
          <p:nvSpPr>
            <p:cNvPr id="35" name="Rectangle 34"/>
            <p:cNvSpPr>
              <a:spLocks noChangeArrowheads="1"/>
            </p:cNvSpPr>
            <p:nvPr/>
          </p:nvSpPr>
          <p:spPr bwMode="auto">
            <a:xfrm>
              <a:off x="597" y="32"/>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FF0000"/>
                  </a:solidFill>
                  <a:effectLst/>
                  <a:uLnTx/>
                  <a:uFillTx/>
                  <a:latin typeface="Arial"/>
                  <a:ea typeface="+mn-ea"/>
                  <a:cs typeface="Arial"/>
                </a:rPr>
                <a:t>2d</a:t>
              </a:r>
            </a:p>
          </p:txBody>
        </p:sp>
        <p:sp>
          <p:nvSpPr>
            <p:cNvPr id="36" name="Rectangle 35"/>
            <p:cNvSpPr>
              <a:spLocks noChangeArrowheads="1"/>
            </p:cNvSpPr>
            <p:nvPr/>
          </p:nvSpPr>
          <p:spPr bwMode="auto">
            <a:xfrm>
              <a:off x="641" y="32"/>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FF0000"/>
                  </a:solidFill>
                  <a:effectLst/>
                  <a:uLnTx/>
                  <a:uFillTx/>
                  <a:latin typeface="Arial"/>
                  <a:ea typeface="+mn-ea"/>
                  <a:cs typeface="Arial"/>
                </a:rPr>
                <a:t>2d</a:t>
              </a:r>
            </a:p>
          </p:txBody>
        </p:sp>
        <p:sp>
          <p:nvSpPr>
            <p:cNvPr id="37" name="Rectangle 36"/>
            <p:cNvSpPr>
              <a:spLocks noChangeArrowheads="1"/>
            </p:cNvSpPr>
            <p:nvPr/>
          </p:nvSpPr>
          <p:spPr bwMode="auto">
            <a:xfrm>
              <a:off x="684" y="32"/>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FF0000"/>
                  </a:solidFill>
                  <a:effectLst/>
                  <a:uLnTx/>
                  <a:uFillTx/>
                  <a:latin typeface="Arial"/>
                  <a:ea typeface="+mn-ea"/>
                  <a:cs typeface="Arial"/>
                </a:rPr>
                <a:t>2d</a:t>
              </a:r>
            </a:p>
          </p:txBody>
        </p:sp>
        <p:sp>
          <p:nvSpPr>
            <p:cNvPr id="38" name="Rectangle 37"/>
            <p:cNvSpPr>
              <a:spLocks noChangeArrowheads="1"/>
            </p:cNvSpPr>
            <p:nvPr/>
          </p:nvSpPr>
          <p:spPr bwMode="auto">
            <a:xfrm>
              <a:off x="729" y="31"/>
              <a:ext cx="16" cy="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lang="en-US" sz="800" kern="0" dirty="0">
                  <a:latin typeface="Arial"/>
                  <a:cs typeface="Arial"/>
                </a:rPr>
                <a:t>1 </a:t>
              </a:r>
              <a:r>
                <a:rPr kumimoji="0" lang="en-US" sz="800" b="0" i="0" u="none" strike="noStrike" kern="0" cap="none" spc="0" normalizeH="0" baseline="0" noProof="0" dirty="0">
                  <a:ln>
                    <a:noFill/>
                  </a:ln>
                  <a:effectLst/>
                  <a:uLnTx/>
                  <a:uFillTx/>
                  <a:latin typeface="Arial"/>
                  <a:ea typeface="+mn-ea"/>
                  <a:cs typeface="Arial"/>
                </a:rPr>
                <a:t>d</a:t>
              </a:r>
            </a:p>
          </p:txBody>
        </p:sp>
        <p:sp>
          <p:nvSpPr>
            <p:cNvPr id="39" name="Rectangle 38"/>
            <p:cNvSpPr>
              <a:spLocks noChangeArrowheads="1"/>
            </p:cNvSpPr>
            <p:nvPr/>
          </p:nvSpPr>
          <p:spPr bwMode="auto">
            <a:xfrm>
              <a:off x="771" y="32"/>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FF0000"/>
                  </a:solidFill>
                  <a:effectLst/>
                  <a:uLnTx/>
                  <a:uFillTx/>
                  <a:latin typeface="Arial"/>
                  <a:ea typeface="+mn-ea"/>
                  <a:cs typeface="Arial"/>
                </a:rPr>
                <a:t>2d</a:t>
              </a:r>
            </a:p>
          </p:txBody>
        </p:sp>
        <p:sp>
          <p:nvSpPr>
            <p:cNvPr id="40" name="Rectangle 39"/>
            <p:cNvSpPr>
              <a:spLocks noChangeArrowheads="1"/>
            </p:cNvSpPr>
            <p:nvPr/>
          </p:nvSpPr>
          <p:spPr bwMode="auto">
            <a:xfrm>
              <a:off x="901" y="32"/>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41" name="Rectangle 40"/>
            <p:cNvSpPr>
              <a:spLocks noChangeArrowheads="1"/>
            </p:cNvSpPr>
            <p:nvPr/>
          </p:nvSpPr>
          <p:spPr bwMode="auto">
            <a:xfrm>
              <a:off x="944" y="32"/>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42" name="Rectangle 41"/>
            <p:cNvSpPr>
              <a:spLocks noChangeArrowheads="1"/>
            </p:cNvSpPr>
            <p:nvPr/>
          </p:nvSpPr>
          <p:spPr bwMode="auto">
            <a:xfrm>
              <a:off x="324" y="58"/>
              <a:ext cx="24"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 .5 d</a:t>
              </a:r>
            </a:p>
          </p:txBody>
        </p:sp>
        <p:sp>
          <p:nvSpPr>
            <p:cNvPr id="43" name="Rectangle 42"/>
            <p:cNvSpPr>
              <a:spLocks noChangeArrowheads="1"/>
            </p:cNvSpPr>
            <p:nvPr/>
          </p:nvSpPr>
          <p:spPr bwMode="auto">
            <a:xfrm>
              <a:off x="381" y="58"/>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44" name="Rectangle 43"/>
            <p:cNvSpPr>
              <a:spLocks noChangeArrowheads="1"/>
            </p:cNvSpPr>
            <p:nvPr/>
          </p:nvSpPr>
          <p:spPr bwMode="auto">
            <a:xfrm>
              <a:off x="410" y="58"/>
              <a:ext cx="24"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.75 d</a:t>
              </a:r>
            </a:p>
          </p:txBody>
        </p:sp>
        <p:sp>
          <p:nvSpPr>
            <p:cNvPr id="45" name="Rectangle 44"/>
            <p:cNvSpPr>
              <a:spLocks noChangeArrowheads="1"/>
            </p:cNvSpPr>
            <p:nvPr/>
          </p:nvSpPr>
          <p:spPr bwMode="auto">
            <a:xfrm>
              <a:off x="467" y="58"/>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46" name="Rectangle 45"/>
            <p:cNvSpPr>
              <a:spLocks noChangeArrowheads="1"/>
            </p:cNvSpPr>
            <p:nvPr/>
          </p:nvSpPr>
          <p:spPr bwMode="auto">
            <a:xfrm>
              <a:off x="597" y="58"/>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47" name="Rectangle 46"/>
            <p:cNvSpPr>
              <a:spLocks noChangeArrowheads="1"/>
            </p:cNvSpPr>
            <p:nvPr/>
          </p:nvSpPr>
          <p:spPr bwMode="auto">
            <a:xfrm>
              <a:off x="641" y="58"/>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48" name="Rectangle 47"/>
            <p:cNvSpPr>
              <a:spLocks noChangeArrowheads="1"/>
            </p:cNvSpPr>
            <p:nvPr/>
          </p:nvSpPr>
          <p:spPr bwMode="auto">
            <a:xfrm>
              <a:off x="684" y="58"/>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49" name="Rectangle 48"/>
            <p:cNvSpPr>
              <a:spLocks noChangeArrowheads="1"/>
            </p:cNvSpPr>
            <p:nvPr/>
          </p:nvSpPr>
          <p:spPr bwMode="auto">
            <a:xfrm>
              <a:off x="718" y="58"/>
              <a:ext cx="21"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..5 d</a:t>
              </a:r>
            </a:p>
          </p:txBody>
        </p:sp>
        <p:sp>
          <p:nvSpPr>
            <p:cNvPr id="50" name="Rectangle 49"/>
            <p:cNvSpPr>
              <a:spLocks noChangeArrowheads="1"/>
            </p:cNvSpPr>
            <p:nvPr/>
          </p:nvSpPr>
          <p:spPr bwMode="auto">
            <a:xfrm>
              <a:off x="771" y="58"/>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51" name="Rectangle 50"/>
            <p:cNvSpPr>
              <a:spLocks noChangeArrowheads="1"/>
            </p:cNvSpPr>
            <p:nvPr/>
          </p:nvSpPr>
          <p:spPr bwMode="auto">
            <a:xfrm>
              <a:off x="901" y="58"/>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52" name="Rectangle 51"/>
            <p:cNvSpPr>
              <a:spLocks noChangeArrowheads="1"/>
            </p:cNvSpPr>
            <p:nvPr/>
          </p:nvSpPr>
          <p:spPr bwMode="auto">
            <a:xfrm>
              <a:off x="944" y="58"/>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53" name="Rectangle 52"/>
            <p:cNvSpPr>
              <a:spLocks noChangeArrowheads="1"/>
            </p:cNvSpPr>
            <p:nvPr/>
          </p:nvSpPr>
          <p:spPr bwMode="auto">
            <a:xfrm>
              <a:off x="327" y="71"/>
              <a:ext cx="18"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.5 d</a:t>
              </a:r>
            </a:p>
          </p:txBody>
        </p:sp>
        <p:sp>
          <p:nvSpPr>
            <p:cNvPr id="54" name="Rectangle 53"/>
            <p:cNvSpPr>
              <a:spLocks noChangeArrowheads="1"/>
            </p:cNvSpPr>
            <p:nvPr/>
          </p:nvSpPr>
          <p:spPr bwMode="auto">
            <a:xfrm>
              <a:off x="381" y="72"/>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55" name="Rectangle 54"/>
            <p:cNvSpPr>
              <a:spLocks noChangeArrowheads="1"/>
            </p:cNvSpPr>
            <p:nvPr/>
          </p:nvSpPr>
          <p:spPr bwMode="auto">
            <a:xfrm>
              <a:off x="410" y="73"/>
              <a:ext cx="24"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.25 d</a:t>
              </a:r>
            </a:p>
          </p:txBody>
        </p:sp>
        <p:sp>
          <p:nvSpPr>
            <p:cNvPr id="56" name="Rectangle 55"/>
            <p:cNvSpPr>
              <a:spLocks noChangeArrowheads="1"/>
            </p:cNvSpPr>
            <p:nvPr/>
          </p:nvSpPr>
          <p:spPr bwMode="auto">
            <a:xfrm>
              <a:off x="467" y="72"/>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57" name="Rectangle 56"/>
            <p:cNvSpPr>
              <a:spLocks noChangeArrowheads="1"/>
            </p:cNvSpPr>
            <p:nvPr/>
          </p:nvSpPr>
          <p:spPr bwMode="auto">
            <a:xfrm>
              <a:off x="597" y="72"/>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58" name="Rectangle 57"/>
            <p:cNvSpPr>
              <a:spLocks noChangeArrowheads="1"/>
            </p:cNvSpPr>
            <p:nvPr/>
          </p:nvSpPr>
          <p:spPr bwMode="auto">
            <a:xfrm>
              <a:off x="641" y="72"/>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59" name="Rectangle 58"/>
            <p:cNvSpPr>
              <a:spLocks noChangeArrowheads="1"/>
            </p:cNvSpPr>
            <p:nvPr/>
          </p:nvSpPr>
          <p:spPr bwMode="auto">
            <a:xfrm>
              <a:off x="684" y="72"/>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60" name="Rectangle 59"/>
            <p:cNvSpPr>
              <a:spLocks noChangeArrowheads="1"/>
            </p:cNvSpPr>
            <p:nvPr/>
          </p:nvSpPr>
          <p:spPr bwMode="auto">
            <a:xfrm>
              <a:off x="721" y="73"/>
              <a:ext cx="18" cy="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.5 d</a:t>
              </a:r>
            </a:p>
          </p:txBody>
        </p:sp>
        <p:sp>
          <p:nvSpPr>
            <p:cNvPr id="61" name="Rectangle 60"/>
            <p:cNvSpPr>
              <a:spLocks noChangeArrowheads="1"/>
            </p:cNvSpPr>
            <p:nvPr/>
          </p:nvSpPr>
          <p:spPr bwMode="auto">
            <a:xfrm>
              <a:off x="771" y="72"/>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62" name="Rectangle 61"/>
            <p:cNvSpPr>
              <a:spLocks noChangeArrowheads="1"/>
            </p:cNvSpPr>
            <p:nvPr/>
          </p:nvSpPr>
          <p:spPr bwMode="auto">
            <a:xfrm>
              <a:off x="294" y="125"/>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63" name="Rectangle 62"/>
            <p:cNvSpPr>
              <a:spLocks noChangeArrowheads="1"/>
            </p:cNvSpPr>
            <p:nvPr/>
          </p:nvSpPr>
          <p:spPr bwMode="auto">
            <a:xfrm>
              <a:off x="294" y="138"/>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64" name="Rectangle 63"/>
            <p:cNvSpPr>
              <a:spLocks noChangeArrowheads="1"/>
            </p:cNvSpPr>
            <p:nvPr/>
          </p:nvSpPr>
          <p:spPr bwMode="auto">
            <a:xfrm>
              <a:off x="294" y="151"/>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65" name="Rectangle 64"/>
            <p:cNvSpPr>
              <a:spLocks noChangeArrowheads="1"/>
            </p:cNvSpPr>
            <p:nvPr/>
          </p:nvSpPr>
          <p:spPr bwMode="auto">
            <a:xfrm>
              <a:off x="294" y="164"/>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66" name="Rectangle 65"/>
            <p:cNvSpPr>
              <a:spLocks noChangeArrowheads="1"/>
            </p:cNvSpPr>
            <p:nvPr/>
          </p:nvSpPr>
          <p:spPr bwMode="auto">
            <a:xfrm>
              <a:off x="641" y="177"/>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67" name="Rectangle 66"/>
            <p:cNvSpPr>
              <a:spLocks noChangeArrowheads="1"/>
            </p:cNvSpPr>
            <p:nvPr/>
          </p:nvSpPr>
          <p:spPr bwMode="auto">
            <a:xfrm>
              <a:off x="684" y="177"/>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68" name="Rectangle 67"/>
            <p:cNvSpPr>
              <a:spLocks noChangeArrowheads="1"/>
            </p:cNvSpPr>
            <p:nvPr/>
          </p:nvSpPr>
          <p:spPr bwMode="auto">
            <a:xfrm>
              <a:off x="727" y="177"/>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69" name="Rectangle 68"/>
            <p:cNvSpPr>
              <a:spLocks noChangeArrowheads="1"/>
            </p:cNvSpPr>
            <p:nvPr/>
          </p:nvSpPr>
          <p:spPr bwMode="auto">
            <a:xfrm>
              <a:off x="771" y="177"/>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70" name="Rectangle 69"/>
            <p:cNvSpPr>
              <a:spLocks noChangeArrowheads="1"/>
            </p:cNvSpPr>
            <p:nvPr/>
          </p:nvSpPr>
          <p:spPr bwMode="auto">
            <a:xfrm>
              <a:off x="901" y="177"/>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71" name="Rectangle 70"/>
            <p:cNvSpPr>
              <a:spLocks noChangeArrowheads="1"/>
            </p:cNvSpPr>
            <p:nvPr/>
          </p:nvSpPr>
          <p:spPr bwMode="auto">
            <a:xfrm>
              <a:off x="944" y="177"/>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72" name="Rectangle 71"/>
            <p:cNvSpPr>
              <a:spLocks noChangeArrowheads="1"/>
            </p:cNvSpPr>
            <p:nvPr/>
          </p:nvSpPr>
          <p:spPr bwMode="auto">
            <a:xfrm>
              <a:off x="641" y="191"/>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73" name="Rectangle 72"/>
            <p:cNvSpPr>
              <a:spLocks noChangeArrowheads="1"/>
            </p:cNvSpPr>
            <p:nvPr/>
          </p:nvSpPr>
          <p:spPr bwMode="auto">
            <a:xfrm>
              <a:off x="684" y="191"/>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74" name="Rectangle 73"/>
            <p:cNvSpPr>
              <a:spLocks noChangeArrowheads="1"/>
            </p:cNvSpPr>
            <p:nvPr/>
          </p:nvSpPr>
          <p:spPr bwMode="auto">
            <a:xfrm>
              <a:off x="727" y="191"/>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75" name="Rectangle 74"/>
            <p:cNvSpPr>
              <a:spLocks noChangeArrowheads="1"/>
            </p:cNvSpPr>
            <p:nvPr/>
          </p:nvSpPr>
          <p:spPr bwMode="auto">
            <a:xfrm>
              <a:off x="771" y="191"/>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76" name="Rectangle 75"/>
            <p:cNvSpPr>
              <a:spLocks noChangeArrowheads="1"/>
            </p:cNvSpPr>
            <p:nvPr/>
          </p:nvSpPr>
          <p:spPr bwMode="auto">
            <a:xfrm>
              <a:off x="901" y="191"/>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sp>
          <p:nvSpPr>
            <p:cNvPr id="77" name="Rectangle 76"/>
            <p:cNvSpPr>
              <a:spLocks noChangeArrowheads="1"/>
            </p:cNvSpPr>
            <p:nvPr/>
          </p:nvSpPr>
          <p:spPr bwMode="auto">
            <a:xfrm>
              <a:off x="944" y="191"/>
              <a:ext cx="12" cy="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000"/>
              </a:pPr>
              <a:r>
                <a:rPr kumimoji="0" lang="en-US" sz="800" b="0" i="0" u="none" strike="noStrike" kern="0" cap="none" spc="0" normalizeH="0" baseline="0" noProof="0">
                  <a:ln>
                    <a:noFill/>
                  </a:ln>
                  <a:solidFill>
                    <a:srgbClr val="000000"/>
                  </a:solidFill>
                  <a:effectLst/>
                  <a:uLnTx/>
                  <a:uFillTx/>
                  <a:latin typeface="Arial"/>
                  <a:ea typeface="+mn-ea"/>
                  <a:cs typeface="Arial"/>
                </a:rPr>
                <a:t>1d</a:t>
              </a:r>
            </a:p>
          </p:txBody>
        </p:sp>
      </p:grpSp>
      <p:sp>
        <p:nvSpPr>
          <p:cNvPr id="2" name="Slide Number Placeholder 1"/>
          <p:cNvSpPr>
            <a:spLocks noGrp="1"/>
          </p:cNvSpPr>
          <p:nvPr>
            <p:ph type="sldNum" sz="quarter" idx="12"/>
          </p:nvPr>
        </p:nvSpPr>
        <p:spPr/>
        <p:txBody>
          <a:bodyPr/>
          <a:lstStyle/>
          <a:p>
            <a:pPr>
              <a:defRPr/>
            </a:pPr>
            <a:fld id="{61D213BF-E712-44A2-B033-B2EDDBF693C5}" type="slidenum">
              <a:rPr lang="en-US" smtClean="0"/>
              <a:pPr>
                <a:defRPr/>
              </a:pPr>
              <a:t>7</a:t>
            </a:fld>
            <a:endParaRPr lang="en-US"/>
          </a:p>
        </p:txBody>
      </p:sp>
      <p:sp>
        <p:nvSpPr>
          <p:cNvPr id="4" name="Date Placeholder 3">
            <a:extLst>
              <a:ext uri="{FF2B5EF4-FFF2-40B4-BE49-F238E27FC236}">
                <a16:creationId xmlns:a16="http://schemas.microsoft.com/office/drawing/2014/main" id="{A1E813C2-C199-4448-8DC5-170B3C7234D2}"/>
              </a:ext>
            </a:extLst>
          </p:cNvPr>
          <p:cNvSpPr>
            <a:spLocks noGrp="1"/>
          </p:cNvSpPr>
          <p:nvPr>
            <p:ph type="dt" sz="half" idx="10"/>
          </p:nvPr>
        </p:nvSpPr>
        <p:spPr/>
        <p:txBody>
          <a:bodyPr/>
          <a:lstStyle/>
          <a:p>
            <a:pPr>
              <a:defRPr/>
            </a:pPr>
            <a:r>
              <a:rPr lang="en-US"/>
              <a:t>Lecture 10</a:t>
            </a:r>
          </a:p>
        </p:txBody>
      </p:sp>
      <p:sp>
        <p:nvSpPr>
          <p:cNvPr id="5" name="Footer Placeholder 4">
            <a:extLst>
              <a:ext uri="{FF2B5EF4-FFF2-40B4-BE49-F238E27FC236}">
                <a16:creationId xmlns:a16="http://schemas.microsoft.com/office/drawing/2014/main" id="{64F74979-12BA-4294-B13B-0957D163EF3E}"/>
              </a:ext>
            </a:extLst>
          </p:cNvPr>
          <p:cNvSpPr>
            <a:spLocks noGrp="1"/>
          </p:cNvSpPr>
          <p:nvPr>
            <p:ph type="ftr" sz="quarter" idx="11"/>
          </p:nvPr>
        </p:nvSpPr>
        <p:spPr/>
        <p:txBody>
          <a:bodyPr/>
          <a:lstStyle/>
          <a:p>
            <a:pPr>
              <a:defRPr/>
            </a:pPr>
            <a:r>
              <a:rPr lang="en-US"/>
              <a:t>G.R. Labbé</a:t>
            </a:r>
          </a:p>
        </p:txBody>
      </p:sp>
    </p:spTree>
    <p:extLst>
      <p:ext uri="{BB962C8B-B14F-4D97-AF65-F5344CB8AC3E}">
        <p14:creationId xmlns:p14="http://schemas.microsoft.com/office/powerpoint/2010/main" val="36678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07"/>
                                        </p:tgtEl>
                                        <p:attrNameLst>
                                          <p:attrName>style.visibility</p:attrName>
                                        </p:attrNameLst>
                                      </p:cBhvr>
                                      <p:to>
                                        <p:strVal val="visible"/>
                                      </p:to>
                                    </p:set>
                                    <p:anim calcmode="lin" valueType="num">
                                      <p:cBhvr additive="base">
                                        <p:cTn id="7" dur="500" fill="hold"/>
                                        <p:tgtEl>
                                          <p:spTgt spid="4107"/>
                                        </p:tgtEl>
                                        <p:attrNameLst>
                                          <p:attrName>ppt_x</p:attrName>
                                        </p:attrNameLst>
                                      </p:cBhvr>
                                      <p:tavLst>
                                        <p:tav tm="0">
                                          <p:val>
                                            <p:strVal val="#ppt_x"/>
                                          </p:val>
                                        </p:tav>
                                        <p:tav tm="100000">
                                          <p:val>
                                            <p:strVal val="#ppt_x"/>
                                          </p:val>
                                        </p:tav>
                                      </p:tavLst>
                                    </p:anim>
                                    <p:anim calcmode="lin" valueType="num">
                                      <p:cBhvr additive="base">
                                        <p:cTn id="8" dur="500" fill="hold"/>
                                        <p:tgtEl>
                                          <p:spTgt spid="41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582613" y="404664"/>
            <a:ext cx="8568952" cy="1267466"/>
          </a:xfrm>
        </p:spPr>
        <p:txBody>
          <a:bodyPr>
            <a:normAutofit/>
          </a:bodyPr>
          <a:lstStyle/>
          <a:p>
            <a:pPr eaLnBrk="1" hangingPunct="1"/>
            <a:r>
              <a:rPr lang="en-US" sz="3600" b="1" dirty="0">
                <a:latin typeface="+mn-lt"/>
                <a:cs typeface="Arial" panose="020B0604020202020204" pitchFamily="34" charset="0"/>
              </a:rPr>
              <a:t>Rules of Thumb when solving</a:t>
            </a:r>
            <a:br>
              <a:rPr lang="en-US" sz="3600" b="1" dirty="0">
                <a:latin typeface="+mn-lt"/>
                <a:cs typeface="Arial" panose="020B0604020202020204" pitchFamily="34" charset="0"/>
              </a:rPr>
            </a:br>
            <a:r>
              <a:rPr lang="en-US" sz="3600" b="1" dirty="0">
                <a:latin typeface="+mn-lt"/>
                <a:cs typeface="Arial" panose="020B0604020202020204" pitchFamily="34" charset="0"/>
              </a:rPr>
              <a:t>Resource Leveling problems</a:t>
            </a:r>
          </a:p>
        </p:txBody>
      </p:sp>
      <p:sp>
        <p:nvSpPr>
          <p:cNvPr id="10243" name="Rectangle 3"/>
          <p:cNvSpPr>
            <a:spLocks noGrp="1" noChangeArrowheads="1"/>
          </p:cNvSpPr>
          <p:nvPr>
            <p:ph idx="1"/>
          </p:nvPr>
        </p:nvSpPr>
        <p:spPr>
          <a:xfrm>
            <a:off x="582613" y="1916832"/>
            <a:ext cx="7543801" cy="3383466"/>
          </a:xfrm>
        </p:spPr>
        <p:txBody>
          <a:bodyPr>
            <a:normAutofit/>
          </a:bodyPr>
          <a:lstStyle/>
          <a:p>
            <a:pPr marL="0" indent="0" eaLnBrk="1" hangingPunct="1">
              <a:buNone/>
            </a:pPr>
            <a:r>
              <a:rPr lang="en-US" sz="1800" dirty="0"/>
              <a:t>When dealing with </a:t>
            </a:r>
            <a:r>
              <a:rPr lang="en-US" sz="1800"/>
              <a:t>Resource Leveling </a:t>
            </a:r>
            <a:r>
              <a:rPr lang="en-US" sz="1800" dirty="0"/>
              <a:t>problems deal with the tasks in this order:</a:t>
            </a:r>
          </a:p>
          <a:p>
            <a:pPr marL="609600" indent="-609600" eaLnBrk="1" hangingPunct="1">
              <a:buClrTx/>
              <a:buFontTx/>
              <a:buAutoNum type="arabicPeriod"/>
            </a:pPr>
            <a:r>
              <a:rPr lang="en-US" sz="1800" dirty="0"/>
              <a:t>Activities with the </a:t>
            </a:r>
            <a:r>
              <a:rPr lang="en-US" sz="1800" u="sng" dirty="0">
                <a:solidFill>
                  <a:srgbClr val="C00000"/>
                </a:solidFill>
              </a:rPr>
              <a:t>smallest</a:t>
            </a:r>
            <a:r>
              <a:rPr lang="en-US" sz="1800" dirty="0"/>
              <a:t> amount of slack;</a:t>
            </a:r>
          </a:p>
          <a:p>
            <a:pPr marL="609600" indent="-609600" eaLnBrk="1" hangingPunct="1">
              <a:buClrTx/>
              <a:buFontTx/>
              <a:buAutoNum type="arabicPeriod"/>
            </a:pPr>
            <a:r>
              <a:rPr lang="en-US" sz="1800" dirty="0"/>
              <a:t>Activities with the </a:t>
            </a:r>
            <a:r>
              <a:rPr lang="en-US" sz="1800" u="sng" dirty="0">
                <a:solidFill>
                  <a:srgbClr val="C00000"/>
                </a:solidFill>
              </a:rPr>
              <a:t>smallest</a:t>
            </a:r>
            <a:r>
              <a:rPr lang="en-US" sz="1800" dirty="0"/>
              <a:t> duration;</a:t>
            </a:r>
          </a:p>
          <a:p>
            <a:pPr marL="609600" indent="-609600" eaLnBrk="1" hangingPunct="1">
              <a:buClrTx/>
              <a:buFontTx/>
              <a:buAutoNum type="arabicPeriod"/>
            </a:pPr>
            <a:r>
              <a:rPr lang="en-US" sz="1800" dirty="0"/>
              <a:t>Activities with the </a:t>
            </a:r>
            <a:r>
              <a:rPr lang="en-US" sz="1800" u="sng" dirty="0">
                <a:solidFill>
                  <a:srgbClr val="C00000"/>
                </a:solidFill>
              </a:rPr>
              <a:t>lowest</a:t>
            </a:r>
            <a:r>
              <a:rPr lang="en-US" sz="1800" dirty="0"/>
              <a:t> activity identification number </a:t>
            </a:r>
            <a:r>
              <a:rPr lang="en-US" sz="1800" i="1" dirty="0"/>
              <a:t>(e.g. those that start earliest in the WBS)</a:t>
            </a:r>
            <a:r>
              <a:rPr lang="en-US" sz="1800" dirty="0"/>
              <a:t>;</a:t>
            </a:r>
          </a:p>
          <a:p>
            <a:pPr marL="609600" indent="-609600" eaLnBrk="1" hangingPunct="1">
              <a:buClrTx/>
              <a:buFontTx/>
              <a:buAutoNum type="arabicPeriod"/>
            </a:pPr>
            <a:r>
              <a:rPr lang="en-US" sz="1800" dirty="0"/>
              <a:t>Activities with the </a:t>
            </a:r>
            <a:r>
              <a:rPr lang="en-US" sz="1800" u="sng" dirty="0">
                <a:solidFill>
                  <a:srgbClr val="C00000"/>
                </a:solidFill>
              </a:rPr>
              <a:t>most successor</a:t>
            </a:r>
            <a:r>
              <a:rPr lang="en-US" sz="1800" dirty="0">
                <a:solidFill>
                  <a:srgbClr val="C00000"/>
                </a:solidFill>
              </a:rPr>
              <a:t> </a:t>
            </a:r>
            <a:r>
              <a:rPr lang="en-US" sz="1800" dirty="0"/>
              <a:t>tasks; and</a:t>
            </a:r>
          </a:p>
          <a:p>
            <a:pPr marL="609600" indent="-609600" eaLnBrk="1" hangingPunct="1">
              <a:buClrTx/>
              <a:buFontTx/>
              <a:buAutoNum type="arabicPeriod"/>
            </a:pPr>
            <a:r>
              <a:rPr lang="en-US" sz="1800" dirty="0"/>
              <a:t>Activities requiring the </a:t>
            </a:r>
            <a:r>
              <a:rPr lang="en-US" sz="1800" u="sng" dirty="0">
                <a:solidFill>
                  <a:srgbClr val="C00000"/>
                </a:solidFill>
              </a:rPr>
              <a:t>most resources</a:t>
            </a:r>
            <a:r>
              <a:rPr lang="en-US" sz="1800" dirty="0"/>
              <a:t>.</a:t>
            </a:r>
          </a:p>
        </p:txBody>
      </p:sp>
      <p:sp>
        <p:nvSpPr>
          <p:cNvPr id="1024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8</a:t>
            </a:fld>
            <a:endParaRPr lang="en-US"/>
          </a:p>
        </p:txBody>
      </p:sp>
      <p:sp>
        <p:nvSpPr>
          <p:cNvPr id="4" name="Date Placeholder 3">
            <a:extLst>
              <a:ext uri="{FF2B5EF4-FFF2-40B4-BE49-F238E27FC236}">
                <a16:creationId xmlns:a16="http://schemas.microsoft.com/office/drawing/2014/main" id="{6574AF07-43D7-4E8B-9592-4B8495D072E3}"/>
              </a:ext>
            </a:extLst>
          </p:cNvPr>
          <p:cNvSpPr>
            <a:spLocks noGrp="1"/>
          </p:cNvSpPr>
          <p:nvPr>
            <p:ph type="dt" sz="half" idx="10"/>
          </p:nvPr>
        </p:nvSpPr>
        <p:spPr/>
        <p:txBody>
          <a:bodyPr/>
          <a:lstStyle/>
          <a:p>
            <a:pPr>
              <a:defRPr/>
            </a:pPr>
            <a:r>
              <a:rPr lang="en-US"/>
              <a:t>Lecture 10</a:t>
            </a:r>
          </a:p>
        </p:txBody>
      </p:sp>
      <p:sp>
        <p:nvSpPr>
          <p:cNvPr id="5" name="Footer Placeholder 4">
            <a:extLst>
              <a:ext uri="{FF2B5EF4-FFF2-40B4-BE49-F238E27FC236}">
                <a16:creationId xmlns:a16="http://schemas.microsoft.com/office/drawing/2014/main" id="{57BC3D22-59DA-4317-B904-B1E8AE26C0BD}"/>
              </a:ext>
            </a:extLst>
          </p:cNvPr>
          <p:cNvSpPr>
            <a:spLocks noGrp="1"/>
          </p:cNvSpPr>
          <p:nvPr>
            <p:ph type="ftr" sz="quarter" idx="11"/>
          </p:nvPr>
        </p:nvSpPr>
        <p:spPr/>
        <p:txBody>
          <a:bodyPr/>
          <a:lstStyle/>
          <a:p>
            <a:pPr>
              <a:defRPr/>
            </a:pPr>
            <a:r>
              <a:rPr lang="en-US"/>
              <a:t>G.R. Labbé</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2" name="Object 4"/>
          <p:cNvGraphicFramePr>
            <a:graphicFrameLocks noGrp="1" noChangeAspect="1"/>
          </p:cNvGraphicFramePr>
          <p:nvPr>
            <p:ph sz="half" idx="1"/>
            <p:extLst>
              <p:ext uri="{D42A27DB-BD31-4B8C-83A1-F6EECF244321}">
                <p14:modId xmlns:p14="http://schemas.microsoft.com/office/powerpoint/2010/main" val="2787267755"/>
              </p:ext>
            </p:extLst>
          </p:nvPr>
        </p:nvGraphicFramePr>
        <p:xfrm>
          <a:off x="197768" y="1029601"/>
          <a:ext cx="8748464" cy="2101850"/>
        </p:xfrm>
        <a:graphic>
          <a:graphicData uri="http://schemas.openxmlformats.org/presentationml/2006/ole">
            <mc:AlternateContent xmlns:mc="http://schemas.openxmlformats.org/markup-compatibility/2006">
              <mc:Choice xmlns:v="urn:schemas-microsoft-com:vml" Requires="v">
                <p:oleObj name="Project" r:id="rId2" imgW="9658350" imgH="2219325" progId="">
                  <p:embed/>
                </p:oleObj>
              </mc:Choice>
              <mc:Fallback>
                <p:oleObj name="Project" r:id="rId2" imgW="9658350" imgH="2219325" progId="">
                  <p:embed/>
                  <p:pic>
                    <p:nvPicPr>
                      <p:cNvPr id="0" name="Picture 4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768" y="1029601"/>
                        <a:ext cx="8748464" cy="2101850"/>
                      </a:xfrm>
                      <a:prstGeom prst="rect">
                        <a:avLst/>
                      </a:prstGeom>
                      <a:noFill/>
                      <a:ln>
                        <a:noFill/>
                      </a:ln>
                      <a:effectLst/>
                    </p:spPr>
                  </p:pic>
                </p:oleObj>
              </mc:Fallback>
            </mc:AlternateContent>
          </a:graphicData>
        </a:graphic>
      </p:graphicFrame>
      <p:pic>
        <p:nvPicPr>
          <p:cNvPr id="7382" name="Picture 214"/>
          <p:cNvPicPr>
            <a:picLocks noChangeAspect="1" noChangeArrowheads="1"/>
          </p:cNvPicPr>
          <p:nvPr/>
        </p:nvPicPr>
        <p:blipFill>
          <a:blip r:embed="rId4" cstate="print"/>
          <a:srcRect/>
          <a:stretch>
            <a:fillRect/>
          </a:stretch>
        </p:blipFill>
        <p:spPr bwMode="auto">
          <a:xfrm>
            <a:off x="1318496" y="4277185"/>
            <a:ext cx="6552728" cy="1992982"/>
          </a:xfrm>
          <a:prstGeom prst="rect">
            <a:avLst/>
          </a:prstGeom>
          <a:noFill/>
          <a:ln w="9525">
            <a:noFill/>
            <a:miter lim="800000"/>
            <a:headEnd/>
            <a:tailEnd/>
          </a:ln>
        </p:spPr>
      </p:pic>
      <p:sp>
        <p:nvSpPr>
          <p:cNvPr id="2054" name="Oval 215"/>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D8FA7F5-AFCA-428B-BB43-FC05C7535DB1}" type="slidenum">
              <a:rPr lang="en-US" smtClean="0"/>
              <a:pPr>
                <a:defRPr/>
              </a:pPr>
              <a:t>9</a:t>
            </a:fld>
            <a:endParaRPr lang="en-US"/>
          </a:p>
        </p:txBody>
      </p:sp>
      <p:sp>
        <p:nvSpPr>
          <p:cNvPr id="4" name="Date Placeholder 3">
            <a:extLst>
              <a:ext uri="{FF2B5EF4-FFF2-40B4-BE49-F238E27FC236}">
                <a16:creationId xmlns:a16="http://schemas.microsoft.com/office/drawing/2014/main" id="{7A993D1D-643B-4423-AB86-6BD51B107301}"/>
              </a:ext>
            </a:extLst>
          </p:cNvPr>
          <p:cNvSpPr>
            <a:spLocks noGrp="1"/>
          </p:cNvSpPr>
          <p:nvPr>
            <p:ph type="dt" sz="half" idx="10"/>
          </p:nvPr>
        </p:nvSpPr>
        <p:spPr/>
        <p:txBody>
          <a:bodyPr/>
          <a:lstStyle/>
          <a:p>
            <a:pPr>
              <a:defRPr/>
            </a:pPr>
            <a:r>
              <a:rPr lang="en-US"/>
              <a:t>Lecture 10</a:t>
            </a:r>
          </a:p>
        </p:txBody>
      </p:sp>
      <p:sp>
        <p:nvSpPr>
          <p:cNvPr id="5" name="Footer Placeholder 4">
            <a:extLst>
              <a:ext uri="{FF2B5EF4-FFF2-40B4-BE49-F238E27FC236}">
                <a16:creationId xmlns:a16="http://schemas.microsoft.com/office/drawing/2014/main" id="{59A2E1CB-531D-412D-BF93-9D4B2645EE74}"/>
              </a:ext>
            </a:extLst>
          </p:cNvPr>
          <p:cNvSpPr>
            <a:spLocks noGrp="1"/>
          </p:cNvSpPr>
          <p:nvPr>
            <p:ph type="ftr" sz="quarter" idx="11"/>
          </p:nvPr>
        </p:nvSpPr>
        <p:spPr/>
        <p:txBody>
          <a:bodyPr/>
          <a:lstStyle/>
          <a:p>
            <a:pPr>
              <a:defRPr/>
            </a:pPr>
            <a:r>
              <a:rPr lang="en-US"/>
              <a:t>G.R. Labbé</a:t>
            </a:r>
          </a:p>
        </p:txBody>
      </p:sp>
      <p:graphicFrame>
        <p:nvGraphicFramePr>
          <p:cNvPr id="7410" name="Table 7410">
            <a:extLst>
              <a:ext uri="{FF2B5EF4-FFF2-40B4-BE49-F238E27FC236}">
                <a16:creationId xmlns:a16="http://schemas.microsoft.com/office/drawing/2014/main" id="{B237298E-8808-F210-852D-DB84FB4A10F9}"/>
              </a:ext>
            </a:extLst>
          </p:cNvPr>
          <p:cNvGraphicFramePr>
            <a:graphicFrameLocks noGrp="1"/>
          </p:cNvGraphicFramePr>
          <p:nvPr>
            <p:extLst>
              <p:ext uri="{D42A27DB-BD31-4B8C-83A1-F6EECF244321}">
                <p14:modId xmlns:p14="http://schemas.microsoft.com/office/powerpoint/2010/main" val="1007222415"/>
              </p:ext>
            </p:extLst>
          </p:nvPr>
        </p:nvGraphicFramePr>
        <p:xfrm>
          <a:off x="744034" y="4534693"/>
          <a:ext cx="467117" cy="2011680"/>
        </p:xfrm>
        <a:graphic>
          <a:graphicData uri="http://schemas.openxmlformats.org/drawingml/2006/table">
            <a:tbl>
              <a:tblPr firstRow="1" bandRow="1">
                <a:tableStyleId>{2D5ABB26-0587-4C30-8999-92F81FD0307C}</a:tableStyleId>
              </a:tblPr>
              <a:tblGrid>
                <a:gridCol w="467117">
                  <a:extLst>
                    <a:ext uri="{9D8B030D-6E8A-4147-A177-3AD203B41FA5}">
                      <a16:colId xmlns:a16="http://schemas.microsoft.com/office/drawing/2014/main" val="85759718"/>
                    </a:ext>
                  </a:extLst>
                </a:gridCol>
              </a:tblGrid>
              <a:tr h="144091">
                <a:tc>
                  <a:txBody>
                    <a:bodyPr/>
                    <a:lstStyle/>
                    <a:p>
                      <a:r>
                        <a:rPr lang="en-US" sz="600" dirty="0"/>
                        <a:t>6</a:t>
                      </a:r>
                      <a:endParaRPr lang="en-CA" sz="600" dirty="0"/>
                    </a:p>
                  </a:txBody>
                  <a:tcPr/>
                </a:tc>
                <a:extLst>
                  <a:ext uri="{0D108BD9-81ED-4DB2-BD59-A6C34878D82A}">
                    <a16:rowId xmlns:a16="http://schemas.microsoft.com/office/drawing/2014/main" val="3274636841"/>
                  </a:ext>
                </a:extLst>
              </a:tr>
              <a:tr h="144091">
                <a:tc>
                  <a:txBody>
                    <a:bodyPr/>
                    <a:lstStyle/>
                    <a:p>
                      <a:r>
                        <a:rPr lang="en-US" sz="600" dirty="0"/>
                        <a:t>2</a:t>
                      </a:r>
                      <a:endParaRPr lang="en-CA" sz="600" dirty="0"/>
                    </a:p>
                  </a:txBody>
                  <a:tcPr/>
                </a:tc>
                <a:extLst>
                  <a:ext uri="{0D108BD9-81ED-4DB2-BD59-A6C34878D82A}">
                    <a16:rowId xmlns:a16="http://schemas.microsoft.com/office/drawing/2014/main" val="2318716876"/>
                  </a:ext>
                </a:extLst>
              </a:tr>
              <a:tr h="144091">
                <a:tc>
                  <a:txBody>
                    <a:bodyPr/>
                    <a:lstStyle/>
                    <a:p>
                      <a:r>
                        <a:rPr lang="en-US" sz="600" dirty="0"/>
                        <a:t>4</a:t>
                      </a:r>
                      <a:endParaRPr lang="en-CA" sz="600" dirty="0"/>
                    </a:p>
                  </a:txBody>
                  <a:tcPr/>
                </a:tc>
                <a:extLst>
                  <a:ext uri="{0D108BD9-81ED-4DB2-BD59-A6C34878D82A}">
                    <a16:rowId xmlns:a16="http://schemas.microsoft.com/office/drawing/2014/main" val="3233670715"/>
                  </a:ext>
                </a:extLst>
              </a:tr>
              <a:tr h="144091">
                <a:tc>
                  <a:txBody>
                    <a:bodyPr/>
                    <a:lstStyle/>
                    <a:p>
                      <a:r>
                        <a:rPr lang="en-US" sz="600" dirty="0"/>
                        <a:t>3</a:t>
                      </a:r>
                      <a:endParaRPr lang="en-CA" sz="600" dirty="0"/>
                    </a:p>
                  </a:txBody>
                  <a:tcPr/>
                </a:tc>
                <a:extLst>
                  <a:ext uri="{0D108BD9-81ED-4DB2-BD59-A6C34878D82A}">
                    <a16:rowId xmlns:a16="http://schemas.microsoft.com/office/drawing/2014/main" val="4062038535"/>
                  </a:ext>
                </a:extLst>
              </a:tr>
              <a:tr h="144091">
                <a:tc>
                  <a:txBody>
                    <a:bodyPr/>
                    <a:lstStyle/>
                    <a:p>
                      <a:r>
                        <a:rPr lang="en-US" sz="600" dirty="0"/>
                        <a:t>3</a:t>
                      </a:r>
                      <a:endParaRPr lang="en-CA" sz="600" dirty="0"/>
                    </a:p>
                  </a:txBody>
                  <a:tcPr/>
                </a:tc>
                <a:extLst>
                  <a:ext uri="{0D108BD9-81ED-4DB2-BD59-A6C34878D82A}">
                    <a16:rowId xmlns:a16="http://schemas.microsoft.com/office/drawing/2014/main" val="1843396514"/>
                  </a:ext>
                </a:extLst>
              </a:tr>
              <a:tr h="144091">
                <a:tc>
                  <a:txBody>
                    <a:bodyPr/>
                    <a:lstStyle/>
                    <a:p>
                      <a:r>
                        <a:rPr lang="en-US" sz="600" dirty="0"/>
                        <a:t>2</a:t>
                      </a:r>
                      <a:endParaRPr lang="en-CA" sz="600" dirty="0"/>
                    </a:p>
                  </a:txBody>
                  <a:tcPr/>
                </a:tc>
                <a:extLst>
                  <a:ext uri="{0D108BD9-81ED-4DB2-BD59-A6C34878D82A}">
                    <a16:rowId xmlns:a16="http://schemas.microsoft.com/office/drawing/2014/main" val="370716609"/>
                  </a:ext>
                </a:extLst>
              </a:tr>
              <a:tr h="144091">
                <a:tc>
                  <a:txBody>
                    <a:bodyPr/>
                    <a:lstStyle/>
                    <a:p>
                      <a:r>
                        <a:rPr lang="en-US" sz="600" dirty="0"/>
                        <a:t>4</a:t>
                      </a:r>
                      <a:endParaRPr lang="en-CA" sz="600" dirty="0"/>
                    </a:p>
                  </a:txBody>
                  <a:tcPr/>
                </a:tc>
                <a:extLst>
                  <a:ext uri="{0D108BD9-81ED-4DB2-BD59-A6C34878D82A}">
                    <a16:rowId xmlns:a16="http://schemas.microsoft.com/office/drawing/2014/main" val="725298767"/>
                  </a:ext>
                </a:extLst>
              </a:tr>
              <a:tr h="144091">
                <a:tc>
                  <a:txBody>
                    <a:bodyPr/>
                    <a:lstStyle/>
                    <a:p>
                      <a:r>
                        <a:rPr lang="en-US" sz="600" dirty="0"/>
                        <a:t>3</a:t>
                      </a:r>
                      <a:endParaRPr lang="en-CA" sz="600" dirty="0"/>
                    </a:p>
                  </a:txBody>
                  <a:tcPr/>
                </a:tc>
                <a:extLst>
                  <a:ext uri="{0D108BD9-81ED-4DB2-BD59-A6C34878D82A}">
                    <a16:rowId xmlns:a16="http://schemas.microsoft.com/office/drawing/2014/main" val="987858515"/>
                  </a:ext>
                </a:extLst>
              </a:tr>
              <a:tr h="144091">
                <a:tc>
                  <a:txBody>
                    <a:bodyPr/>
                    <a:lstStyle/>
                    <a:p>
                      <a:r>
                        <a:rPr lang="en-US" sz="600" dirty="0"/>
                        <a:t>4</a:t>
                      </a:r>
                      <a:endParaRPr lang="en-CA" sz="600" dirty="0"/>
                    </a:p>
                  </a:txBody>
                  <a:tcPr/>
                </a:tc>
                <a:extLst>
                  <a:ext uri="{0D108BD9-81ED-4DB2-BD59-A6C34878D82A}">
                    <a16:rowId xmlns:a16="http://schemas.microsoft.com/office/drawing/2014/main" val="2055254090"/>
                  </a:ext>
                </a:extLst>
              </a:tr>
              <a:tr h="144091">
                <a:tc>
                  <a:txBody>
                    <a:bodyPr/>
                    <a:lstStyle/>
                    <a:p>
                      <a:r>
                        <a:rPr lang="en-US" sz="600" dirty="0"/>
                        <a:t>2</a:t>
                      </a:r>
                      <a:endParaRPr lang="en-CA" sz="600" dirty="0"/>
                    </a:p>
                  </a:txBody>
                  <a:tcPr/>
                </a:tc>
                <a:extLst>
                  <a:ext uri="{0D108BD9-81ED-4DB2-BD59-A6C34878D82A}">
                    <a16:rowId xmlns:a16="http://schemas.microsoft.com/office/drawing/2014/main" val="2990979139"/>
                  </a:ext>
                </a:extLst>
              </a:tr>
              <a:tr h="150457">
                <a:tc>
                  <a:txBody>
                    <a:bodyPr/>
                    <a:lstStyle/>
                    <a:p>
                      <a:r>
                        <a:rPr lang="en-US" sz="600" dirty="0"/>
                        <a:t>5</a:t>
                      </a:r>
                      <a:endParaRPr lang="en-CA" sz="600" dirty="0"/>
                    </a:p>
                  </a:txBody>
                  <a:tcPr/>
                </a:tc>
                <a:extLst>
                  <a:ext uri="{0D108BD9-81ED-4DB2-BD59-A6C34878D82A}">
                    <a16:rowId xmlns:a16="http://schemas.microsoft.com/office/drawing/2014/main" val="320125513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6"/>
          <p:cNvSpPr txBox="1">
            <a:spLocks noChangeArrowheads="1"/>
          </p:cNvSpPr>
          <p:nvPr/>
        </p:nvSpPr>
        <p:spPr bwMode="auto">
          <a:xfrm rot="-5400000">
            <a:off x="-549023" y="3223697"/>
            <a:ext cx="2534733" cy="369332"/>
          </a:xfrm>
          <a:prstGeom prst="rect">
            <a:avLst/>
          </a:prstGeom>
          <a:noFill/>
          <a:ln w="9525">
            <a:noFill/>
            <a:miter lim="800000"/>
            <a:headEnd/>
            <a:tailEnd/>
          </a:ln>
        </p:spPr>
        <p:txBody>
          <a:bodyPr wrap="none">
            <a:spAutoFit/>
          </a:bodyPr>
          <a:lstStyle/>
          <a:p>
            <a:r>
              <a:rPr lang="en-US" dirty="0">
                <a:latin typeface="+mn-lt"/>
              </a:rPr>
              <a:t>Before Resource Leveling</a:t>
            </a:r>
          </a:p>
        </p:txBody>
      </p:sp>
      <p:sp>
        <p:nvSpPr>
          <p:cNvPr id="11267" name="Text Box 8"/>
          <p:cNvSpPr txBox="1">
            <a:spLocks noChangeArrowheads="1"/>
          </p:cNvSpPr>
          <p:nvPr/>
        </p:nvSpPr>
        <p:spPr bwMode="auto">
          <a:xfrm>
            <a:off x="1321654" y="1241348"/>
            <a:ext cx="6138796" cy="584775"/>
          </a:xfrm>
          <a:prstGeom prst="rect">
            <a:avLst/>
          </a:prstGeom>
          <a:noFill/>
          <a:ln w="9525">
            <a:noFill/>
            <a:miter lim="800000"/>
            <a:headEnd/>
            <a:tailEnd/>
          </a:ln>
        </p:spPr>
        <p:txBody>
          <a:bodyPr wrap="none">
            <a:spAutoFit/>
          </a:bodyPr>
          <a:lstStyle/>
          <a:p>
            <a:r>
              <a:rPr lang="en-US" sz="3200" b="1" dirty="0">
                <a:latin typeface="+mn-lt"/>
              </a:rPr>
              <a:t>Resource level limit: </a:t>
            </a:r>
            <a:r>
              <a:rPr lang="en-US" sz="3200" b="1" dirty="0">
                <a:solidFill>
                  <a:srgbClr val="C00000"/>
                </a:solidFill>
                <a:latin typeface="+mn-lt"/>
              </a:rPr>
              <a:t>9 people/day</a:t>
            </a:r>
          </a:p>
        </p:txBody>
      </p:sp>
      <p:pic>
        <p:nvPicPr>
          <p:cNvPr id="11268" name="Picture 843"/>
          <p:cNvPicPr>
            <a:picLocks noChangeAspect="1" noChangeArrowheads="1"/>
          </p:cNvPicPr>
          <p:nvPr/>
        </p:nvPicPr>
        <p:blipFill>
          <a:blip r:embed="rId2" cstate="print"/>
          <a:srcRect/>
          <a:stretch>
            <a:fillRect/>
          </a:stretch>
        </p:blipFill>
        <p:spPr bwMode="auto">
          <a:xfrm>
            <a:off x="1295143" y="1927225"/>
            <a:ext cx="6911975" cy="2962275"/>
          </a:xfrm>
          <a:prstGeom prst="rect">
            <a:avLst/>
          </a:prstGeom>
          <a:noFill/>
          <a:ln w="9525">
            <a:noFill/>
            <a:miter lim="800000"/>
            <a:headEnd/>
            <a:tailEnd/>
          </a:ln>
        </p:spPr>
      </p:pic>
      <p:sp>
        <p:nvSpPr>
          <p:cNvPr id="11270" name="Oval 845"/>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10</a:t>
            </a:fld>
            <a:endParaRPr lang="en-US"/>
          </a:p>
        </p:txBody>
      </p:sp>
      <p:sp>
        <p:nvSpPr>
          <p:cNvPr id="4" name="Date Placeholder 3">
            <a:extLst>
              <a:ext uri="{FF2B5EF4-FFF2-40B4-BE49-F238E27FC236}">
                <a16:creationId xmlns:a16="http://schemas.microsoft.com/office/drawing/2014/main" id="{9EDD9723-4FF6-4F1A-8AD2-90CC6752CCB7}"/>
              </a:ext>
            </a:extLst>
          </p:cNvPr>
          <p:cNvSpPr>
            <a:spLocks noGrp="1"/>
          </p:cNvSpPr>
          <p:nvPr>
            <p:ph type="dt" sz="half" idx="10"/>
          </p:nvPr>
        </p:nvSpPr>
        <p:spPr/>
        <p:txBody>
          <a:bodyPr/>
          <a:lstStyle/>
          <a:p>
            <a:pPr>
              <a:defRPr/>
            </a:pPr>
            <a:r>
              <a:rPr lang="en-US"/>
              <a:t>Lecture 10</a:t>
            </a:r>
            <a:endParaRPr lang="en-US" dirty="0"/>
          </a:p>
        </p:txBody>
      </p:sp>
      <p:sp>
        <p:nvSpPr>
          <p:cNvPr id="5" name="Footer Placeholder 4">
            <a:extLst>
              <a:ext uri="{FF2B5EF4-FFF2-40B4-BE49-F238E27FC236}">
                <a16:creationId xmlns:a16="http://schemas.microsoft.com/office/drawing/2014/main" id="{461178BF-8FB0-437C-846D-D2D1EF40E23E}"/>
              </a:ext>
            </a:extLst>
          </p:cNvPr>
          <p:cNvSpPr>
            <a:spLocks noGrp="1"/>
          </p:cNvSpPr>
          <p:nvPr>
            <p:ph type="ftr" sz="quarter" idx="11"/>
          </p:nvPr>
        </p:nvSpPr>
        <p:spPr/>
        <p:txBody>
          <a:bodyPr/>
          <a:lstStyle/>
          <a:p>
            <a:pPr>
              <a:defRPr/>
            </a:pPr>
            <a:r>
              <a:rPr lang="en-US"/>
              <a:t>G.R. Labbé</a:t>
            </a:r>
          </a:p>
        </p:txBody>
      </p:sp>
      <p:sp>
        <p:nvSpPr>
          <p:cNvPr id="3" name="Rectangle 8">
            <a:extLst>
              <a:ext uri="{FF2B5EF4-FFF2-40B4-BE49-F238E27FC236}">
                <a16:creationId xmlns:a16="http://schemas.microsoft.com/office/drawing/2014/main" id="{AC8AC6C2-B68D-FC0B-B6A8-9C43679EA128}"/>
              </a:ext>
            </a:extLst>
          </p:cNvPr>
          <p:cNvSpPr>
            <a:spLocks noGrp="1" noChangeArrowheads="1"/>
          </p:cNvSpPr>
          <p:nvPr>
            <p:ph type="title"/>
          </p:nvPr>
        </p:nvSpPr>
        <p:spPr>
          <a:xfrm>
            <a:off x="425936" y="169587"/>
            <a:ext cx="7419183" cy="667125"/>
          </a:xfrm>
        </p:spPr>
        <p:txBody>
          <a:bodyPr>
            <a:noAutofit/>
          </a:bodyPr>
          <a:lstStyle/>
          <a:p>
            <a:pPr eaLnBrk="1" hangingPunct="1"/>
            <a:r>
              <a:rPr lang="en-US" sz="3600" b="1" dirty="0">
                <a:latin typeface="+mn-lt"/>
                <a:cs typeface="Arial" panose="020B0604020202020204" pitchFamily="34" charset="0"/>
              </a:rPr>
              <a:t>Resource Loading Chart</a:t>
            </a:r>
          </a:p>
        </p:txBody>
      </p:sp>
    </p:spTree>
    <p:extLst>
      <p:ext uri="{BB962C8B-B14F-4D97-AF65-F5344CB8AC3E}">
        <p14:creationId xmlns:p14="http://schemas.microsoft.com/office/powerpoint/2010/main" val="1959258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4"/>
          <p:cNvPicPr>
            <a:picLocks noChangeAspect="1" noChangeArrowheads="1"/>
          </p:cNvPicPr>
          <p:nvPr/>
        </p:nvPicPr>
        <p:blipFill>
          <a:blip r:embed="rId2" cstate="print"/>
          <a:srcRect/>
          <a:stretch>
            <a:fillRect/>
          </a:stretch>
        </p:blipFill>
        <p:spPr bwMode="auto">
          <a:xfrm>
            <a:off x="1424363" y="1986757"/>
            <a:ext cx="6985000" cy="3033712"/>
          </a:xfrm>
          <a:prstGeom prst="rect">
            <a:avLst/>
          </a:prstGeom>
          <a:noFill/>
          <a:ln w="9525">
            <a:noFill/>
            <a:miter lim="800000"/>
            <a:headEnd/>
            <a:tailEnd/>
          </a:ln>
        </p:spPr>
      </p:pic>
      <p:sp>
        <p:nvSpPr>
          <p:cNvPr id="13315" name="Text Box 6"/>
          <p:cNvSpPr txBox="1">
            <a:spLocks noChangeArrowheads="1"/>
          </p:cNvSpPr>
          <p:nvPr/>
        </p:nvSpPr>
        <p:spPr bwMode="auto">
          <a:xfrm rot="-5400000">
            <a:off x="-400399" y="3318947"/>
            <a:ext cx="2389885" cy="369332"/>
          </a:xfrm>
          <a:prstGeom prst="rect">
            <a:avLst/>
          </a:prstGeom>
          <a:noFill/>
          <a:ln w="9525">
            <a:noFill/>
            <a:miter lim="800000"/>
            <a:headEnd/>
            <a:tailEnd/>
          </a:ln>
        </p:spPr>
        <p:txBody>
          <a:bodyPr wrap="none">
            <a:spAutoFit/>
          </a:bodyPr>
          <a:lstStyle/>
          <a:p>
            <a:r>
              <a:rPr lang="en-US" dirty="0">
                <a:latin typeface="+mn-lt"/>
              </a:rPr>
              <a:t>After Resource Leveling</a:t>
            </a:r>
          </a:p>
        </p:txBody>
      </p:sp>
      <p:sp>
        <p:nvSpPr>
          <p:cNvPr id="13317" name="Oval 9"/>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Text Box 8"/>
          <p:cNvSpPr txBox="1">
            <a:spLocks noChangeArrowheads="1"/>
          </p:cNvSpPr>
          <p:nvPr/>
        </p:nvSpPr>
        <p:spPr bwMode="auto">
          <a:xfrm>
            <a:off x="582613" y="404664"/>
            <a:ext cx="6885924" cy="646331"/>
          </a:xfrm>
          <a:prstGeom prst="rect">
            <a:avLst/>
          </a:prstGeom>
          <a:noFill/>
          <a:ln w="9525">
            <a:noFill/>
            <a:miter lim="800000"/>
            <a:headEnd/>
            <a:tailEnd/>
          </a:ln>
        </p:spPr>
        <p:txBody>
          <a:bodyPr wrap="none">
            <a:spAutoFit/>
          </a:bodyPr>
          <a:lstStyle/>
          <a:p>
            <a:r>
              <a:rPr lang="en-US" sz="3600" b="1" dirty="0">
                <a:latin typeface="+mn-lt"/>
              </a:rPr>
              <a:t>Resource level limit: 9 people/day</a:t>
            </a:r>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11</a:t>
            </a:fld>
            <a:endParaRPr lang="en-US"/>
          </a:p>
        </p:txBody>
      </p:sp>
      <p:sp>
        <p:nvSpPr>
          <p:cNvPr id="4" name="Date Placeholder 3">
            <a:extLst>
              <a:ext uri="{FF2B5EF4-FFF2-40B4-BE49-F238E27FC236}">
                <a16:creationId xmlns:a16="http://schemas.microsoft.com/office/drawing/2014/main" id="{99EF8AFE-E11F-429C-A980-C0F26D18F3E6}"/>
              </a:ext>
            </a:extLst>
          </p:cNvPr>
          <p:cNvSpPr>
            <a:spLocks noGrp="1"/>
          </p:cNvSpPr>
          <p:nvPr>
            <p:ph type="dt" sz="half" idx="10"/>
          </p:nvPr>
        </p:nvSpPr>
        <p:spPr/>
        <p:txBody>
          <a:bodyPr/>
          <a:lstStyle/>
          <a:p>
            <a:pPr>
              <a:defRPr/>
            </a:pPr>
            <a:r>
              <a:rPr lang="en-US"/>
              <a:t>Lecture 10</a:t>
            </a:r>
          </a:p>
        </p:txBody>
      </p:sp>
      <p:sp>
        <p:nvSpPr>
          <p:cNvPr id="5" name="Footer Placeholder 4">
            <a:extLst>
              <a:ext uri="{FF2B5EF4-FFF2-40B4-BE49-F238E27FC236}">
                <a16:creationId xmlns:a16="http://schemas.microsoft.com/office/drawing/2014/main" id="{B27D5D59-65A9-459C-B07B-15DF6902C13D}"/>
              </a:ext>
            </a:extLst>
          </p:cNvPr>
          <p:cNvSpPr>
            <a:spLocks noGrp="1"/>
          </p:cNvSpPr>
          <p:nvPr>
            <p:ph type="ftr" sz="quarter" idx="11"/>
          </p:nvPr>
        </p:nvSpPr>
        <p:spPr/>
        <p:txBody>
          <a:bodyPr/>
          <a:lstStyle/>
          <a:p>
            <a:pPr>
              <a:defRPr/>
            </a:pPr>
            <a:r>
              <a:rPr lang="en-US"/>
              <a:t>G.R. Labbé</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Group 29"/>
          <p:cNvGrpSpPr>
            <a:grpSpLocks/>
          </p:cNvGrpSpPr>
          <p:nvPr/>
        </p:nvGrpSpPr>
        <p:grpSpPr bwMode="auto">
          <a:xfrm>
            <a:off x="971600" y="1923978"/>
            <a:ext cx="7437763" cy="1456570"/>
            <a:chOff x="294" y="252"/>
            <a:chExt cx="3054" cy="840"/>
          </a:xfrm>
        </p:grpSpPr>
        <p:sp>
          <p:nvSpPr>
            <p:cNvPr id="15368" name="Text Box 17"/>
            <p:cNvSpPr txBox="1">
              <a:spLocks noChangeArrowheads="1"/>
            </p:cNvSpPr>
            <p:nvPr/>
          </p:nvSpPr>
          <p:spPr bwMode="auto">
            <a:xfrm>
              <a:off x="294" y="672"/>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0     A     4</a:t>
              </a:r>
            </a:p>
            <a:p>
              <a:pPr algn="ctr"/>
              <a:r>
                <a:rPr lang="en-US" sz="1400" dirty="0">
                  <a:latin typeface="+mn-lt"/>
                </a:rPr>
                <a:t>Res = 6</a:t>
              </a:r>
            </a:p>
          </p:txBody>
        </p:sp>
        <p:sp>
          <p:nvSpPr>
            <p:cNvPr id="15369" name="Text Box 18"/>
            <p:cNvSpPr txBox="1">
              <a:spLocks noChangeArrowheads="1"/>
            </p:cNvSpPr>
            <p:nvPr/>
          </p:nvSpPr>
          <p:spPr bwMode="auto">
            <a:xfrm>
              <a:off x="954" y="252"/>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4     B     5</a:t>
              </a:r>
            </a:p>
            <a:p>
              <a:pPr algn="ctr"/>
              <a:r>
                <a:rPr lang="en-US" sz="1400" dirty="0">
                  <a:latin typeface="+mn-lt"/>
                </a:rPr>
                <a:t>Res = 2</a:t>
              </a:r>
            </a:p>
          </p:txBody>
        </p:sp>
        <p:sp>
          <p:nvSpPr>
            <p:cNvPr id="15370" name="Text Box 19"/>
            <p:cNvSpPr txBox="1">
              <a:spLocks noChangeArrowheads="1"/>
            </p:cNvSpPr>
            <p:nvPr/>
          </p:nvSpPr>
          <p:spPr bwMode="auto">
            <a:xfrm>
              <a:off x="1620" y="252"/>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5     D     9</a:t>
              </a:r>
            </a:p>
            <a:p>
              <a:pPr algn="ctr"/>
              <a:r>
                <a:rPr lang="en-US" sz="1400" dirty="0">
                  <a:latin typeface="+mn-lt"/>
                </a:rPr>
                <a:t>Res = 7</a:t>
              </a:r>
            </a:p>
          </p:txBody>
        </p:sp>
        <p:sp>
          <p:nvSpPr>
            <p:cNvPr id="15371" name="Text Box 20"/>
            <p:cNvSpPr txBox="1">
              <a:spLocks noChangeArrowheads="1"/>
            </p:cNvSpPr>
            <p:nvPr/>
          </p:nvSpPr>
          <p:spPr bwMode="auto">
            <a:xfrm>
              <a:off x="2286" y="252"/>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9     E    11</a:t>
              </a:r>
            </a:p>
            <a:p>
              <a:pPr algn="ctr"/>
              <a:r>
                <a:rPr lang="en-US" sz="1400" dirty="0">
                  <a:latin typeface="+mn-lt"/>
                </a:rPr>
                <a:t>Res = 3</a:t>
              </a:r>
            </a:p>
          </p:txBody>
        </p:sp>
        <p:sp>
          <p:nvSpPr>
            <p:cNvPr id="15372" name="Text Box 21"/>
            <p:cNvSpPr txBox="1">
              <a:spLocks noChangeArrowheads="1"/>
            </p:cNvSpPr>
            <p:nvPr/>
          </p:nvSpPr>
          <p:spPr bwMode="auto">
            <a:xfrm>
              <a:off x="2892" y="648"/>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11    F   12</a:t>
              </a:r>
            </a:p>
            <a:p>
              <a:pPr algn="ctr"/>
              <a:r>
                <a:rPr lang="en-US" sz="1400" dirty="0">
                  <a:latin typeface="+mn-lt"/>
                </a:rPr>
                <a:t>Res = 6</a:t>
              </a:r>
            </a:p>
          </p:txBody>
        </p:sp>
        <p:sp>
          <p:nvSpPr>
            <p:cNvPr id="15373" name="Text Box 22"/>
            <p:cNvSpPr txBox="1">
              <a:spLocks noChangeArrowheads="1"/>
            </p:cNvSpPr>
            <p:nvPr/>
          </p:nvSpPr>
          <p:spPr bwMode="auto">
            <a:xfrm>
              <a:off x="1074" y="810"/>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4     C    7</a:t>
              </a:r>
            </a:p>
            <a:p>
              <a:pPr algn="ctr"/>
              <a:r>
                <a:rPr lang="en-US" sz="1400" dirty="0">
                  <a:latin typeface="+mn-lt"/>
                </a:rPr>
                <a:t>Res = 2</a:t>
              </a:r>
            </a:p>
          </p:txBody>
        </p:sp>
        <p:cxnSp>
          <p:nvCxnSpPr>
            <p:cNvPr id="15374" name="AutoShape 23"/>
            <p:cNvCxnSpPr>
              <a:cxnSpLocks noChangeShapeType="1"/>
              <a:stCxn id="15368" idx="3"/>
              <a:endCxn id="15373" idx="1"/>
            </p:cNvCxnSpPr>
            <p:nvPr/>
          </p:nvCxnSpPr>
          <p:spPr bwMode="auto">
            <a:xfrm>
              <a:off x="750" y="816"/>
              <a:ext cx="324" cy="138"/>
            </a:xfrm>
            <a:prstGeom prst="straightConnector1">
              <a:avLst/>
            </a:prstGeom>
            <a:noFill/>
            <a:ln w="9525">
              <a:solidFill>
                <a:srgbClr val="000000"/>
              </a:solidFill>
              <a:round/>
              <a:headEnd/>
              <a:tailEnd type="triangle" w="med" len="med"/>
            </a:ln>
          </p:spPr>
        </p:cxnSp>
        <p:cxnSp>
          <p:nvCxnSpPr>
            <p:cNvPr id="15375" name="AutoShape 24"/>
            <p:cNvCxnSpPr>
              <a:cxnSpLocks noChangeShapeType="1"/>
              <a:stCxn id="15373" idx="3"/>
              <a:endCxn id="15372" idx="1"/>
            </p:cNvCxnSpPr>
            <p:nvPr/>
          </p:nvCxnSpPr>
          <p:spPr bwMode="auto">
            <a:xfrm flipV="1">
              <a:off x="1530" y="792"/>
              <a:ext cx="1362" cy="162"/>
            </a:xfrm>
            <a:prstGeom prst="straightConnector1">
              <a:avLst/>
            </a:prstGeom>
            <a:noFill/>
            <a:ln w="9525">
              <a:solidFill>
                <a:srgbClr val="000000"/>
              </a:solidFill>
              <a:round/>
              <a:headEnd/>
              <a:tailEnd type="triangle" w="med" len="med"/>
            </a:ln>
          </p:spPr>
        </p:cxnSp>
        <p:cxnSp>
          <p:nvCxnSpPr>
            <p:cNvPr id="15376" name="AutoShape 25"/>
            <p:cNvCxnSpPr>
              <a:cxnSpLocks noChangeShapeType="1"/>
              <a:stCxn id="15368" idx="3"/>
              <a:endCxn id="15369" idx="1"/>
            </p:cNvCxnSpPr>
            <p:nvPr/>
          </p:nvCxnSpPr>
          <p:spPr bwMode="auto">
            <a:xfrm flipV="1">
              <a:off x="750" y="396"/>
              <a:ext cx="204" cy="420"/>
            </a:xfrm>
            <a:prstGeom prst="straightConnector1">
              <a:avLst/>
            </a:prstGeom>
            <a:noFill/>
            <a:ln w="9525">
              <a:solidFill>
                <a:srgbClr val="000000"/>
              </a:solidFill>
              <a:round/>
              <a:headEnd/>
              <a:tailEnd type="triangle" w="med" len="med"/>
            </a:ln>
          </p:spPr>
        </p:cxnSp>
        <p:cxnSp>
          <p:nvCxnSpPr>
            <p:cNvPr id="15377" name="AutoShape 26"/>
            <p:cNvCxnSpPr>
              <a:cxnSpLocks noChangeShapeType="1"/>
              <a:stCxn id="15369" idx="3"/>
              <a:endCxn id="15370" idx="1"/>
            </p:cNvCxnSpPr>
            <p:nvPr/>
          </p:nvCxnSpPr>
          <p:spPr bwMode="auto">
            <a:xfrm>
              <a:off x="1410" y="396"/>
              <a:ext cx="210" cy="0"/>
            </a:xfrm>
            <a:prstGeom prst="straightConnector1">
              <a:avLst/>
            </a:prstGeom>
            <a:noFill/>
            <a:ln w="9525">
              <a:solidFill>
                <a:srgbClr val="000000"/>
              </a:solidFill>
              <a:round/>
              <a:headEnd/>
              <a:tailEnd type="triangle" w="med" len="med"/>
            </a:ln>
          </p:spPr>
        </p:cxnSp>
        <p:cxnSp>
          <p:nvCxnSpPr>
            <p:cNvPr id="15378" name="AutoShape 27"/>
            <p:cNvCxnSpPr>
              <a:cxnSpLocks noChangeShapeType="1"/>
              <a:stCxn id="15370" idx="3"/>
              <a:endCxn id="15371" idx="1"/>
            </p:cNvCxnSpPr>
            <p:nvPr/>
          </p:nvCxnSpPr>
          <p:spPr bwMode="auto">
            <a:xfrm>
              <a:off x="2076" y="396"/>
              <a:ext cx="210" cy="0"/>
            </a:xfrm>
            <a:prstGeom prst="straightConnector1">
              <a:avLst/>
            </a:prstGeom>
            <a:noFill/>
            <a:ln w="9525">
              <a:solidFill>
                <a:srgbClr val="000000"/>
              </a:solidFill>
              <a:round/>
              <a:headEnd/>
              <a:tailEnd type="triangle" w="med" len="med"/>
            </a:ln>
          </p:spPr>
        </p:cxnSp>
        <p:cxnSp>
          <p:nvCxnSpPr>
            <p:cNvPr id="15379" name="AutoShape 28"/>
            <p:cNvCxnSpPr>
              <a:cxnSpLocks noChangeShapeType="1"/>
              <a:stCxn id="15371" idx="3"/>
              <a:endCxn id="15372" idx="1"/>
            </p:cNvCxnSpPr>
            <p:nvPr/>
          </p:nvCxnSpPr>
          <p:spPr bwMode="auto">
            <a:xfrm>
              <a:off x="2742" y="396"/>
              <a:ext cx="150" cy="396"/>
            </a:xfrm>
            <a:prstGeom prst="straightConnector1">
              <a:avLst/>
            </a:prstGeom>
            <a:noFill/>
            <a:ln w="9525">
              <a:solidFill>
                <a:srgbClr val="000000"/>
              </a:solidFill>
              <a:round/>
              <a:headEnd/>
              <a:tailEnd type="triangle" w="med" len="med"/>
            </a:ln>
          </p:spPr>
        </p:cxnSp>
      </p:grpSp>
      <p:sp>
        <p:nvSpPr>
          <p:cNvPr id="15363" name="Text Box 30"/>
          <p:cNvSpPr txBox="1">
            <a:spLocks noChangeArrowheads="1"/>
          </p:cNvSpPr>
          <p:nvPr/>
        </p:nvSpPr>
        <p:spPr bwMode="auto">
          <a:xfrm>
            <a:off x="480705" y="308781"/>
            <a:ext cx="4833567" cy="646331"/>
          </a:xfrm>
          <a:prstGeom prst="rect">
            <a:avLst/>
          </a:prstGeom>
          <a:noFill/>
          <a:ln w="9525">
            <a:noFill/>
            <a:miter lim="800000"/>
            <a:headEnd/>
            <a:tailEnd/>
          </a:ln>
        </p:spPr>
        <p:txBody>
          <a:bodyPr wrap="none">
            <a:spAutoFit/>
          </a:bodyPr>
          <a:lstStyle/>
          <a:p>
            <a:r>
              <a:rPr lang="en-US" sz="3600" b="1" dirty="0">
                <a:latin typeface="+mn-lt"/>
              </a:rPr>
              <a:t>Sample Project Network</a:t>
            </a:r>
          </a:p>
        </p:txBody>
      </p:sp>
      <p:sp>
        <p:nvSpPr>
          <p:cNvPr id="15364" name="Text Box 31"/>
          <p:cNvSpPr txBox="1">
            <a:spLocks noChangeArrowheads="1"/>
          </p:cNvSpPr>
          <p:nvPr/>
        </p:nvSpPr>
        <p:spPr bwMode="auto">
          <a:xfrm>
            <a:off x="5511526" y="3274508"/>
            <a:ext cx="3097850" cy="307777"/>
          </a:xfrm>
          <a:prstGeom prst="rect">
            <a:avLst/>
          </a:prstGeom>
          <a:noFill/>
          <a:ln w="9525">
            <a:noFill/>
            <a:miter lim="800000"/>
            <a:headEnd/>
            <a:tailEnd/>
          </a:ln>
        </p:spPr>
        <p:txBody>
          <a:bodyPr wrap="square">
            <a:spAutoFit/>
          </a:bodyPr>
          <a:lstStyle/>
          <a:p>
            <a:r>
              <a:rPr lang="en-US" sz="1400" dirty="0">
                <a:latin typeface="+mn-lt"/>
              </a:rPr>
              <a:t>Resource level limit: 8 resources/week</a:t>
            </a:r>
          </a:p>
        </p:txBody>
      </p:sp>
      <p:pic>
        <p:nvPicPr>
          <p:cNvPr id="11296" name="Picture 32"/>
          <p:cNvPicPr>
            <a:picLocks noChangeAspect="1" noChangeArrowheads="1"/>
          </p:cNvPicPr>
          <p:nvPr/>
        </p:nvPicPr>
        <p:blipFill>
          <a:blip r:embed="rId2" cstate="print"/>
          <a:srcRect/>
          <a:stretch>
            <a:fillRect/>
          </a:stretch>
        </p:blipFill>
        <p:spPr bwMode="auto">
          <a:xfrm>
            <a:off x="971600" y="3826875"/>
            <a:ext cx="7105650" cy="1636719"/>
          </a:xfrm>
          <a:prstGeom prst="rect">
            <a:avLst/>
          </a:prstGeom>
          <a:noFill/>
          <a:ln w="9525">
            <a:noFill/>
            <a:miter lim="800000"/>
            <a:headEnd/>
            <a:tailEnd/>
          </a:ln>
        </p:spPr>
      </p:pic>
      <p:sp>
        <p:nvSpPr>
          <p:cNvPr id="11297" name="Oval 33"/>
          <p:cNvSpPr>
            <a:spLocks noChangeArrowheads="1"/>
          </p:cNvSpPr>
          <p:nvPr/>
        </p:nvSpPr>
        <p:spPr bwMode="auto">
          <a:xfrm>
            <a:off x="6084168" y="4625827"/>
            <a:ext cx="288032" cy="185888"/>
          </a:xfrm>
          <a:prstGeom prst="ellipse">
            <a:avLst/>
          </a:prstGeom>
          <a:noFill/>
          <a:ln w="50800">
            <a:solidFill>
              <a:srgbClr val="FF0000"/>
            </a:solidFill>
            <a:round/>
            <a:headEnd/>
            <a:tailEnd/>
          </a:ln>
        </p:spPr>
        <p:txBody>
          <a:bodyPr wrap="none" anchor="ctr"/>
          <a:lstStyle/>
          <a:p>
            <a:endParaRPr lang="en-US"/>
          </a:p>
        </p:txBody>
      </p:sp>
      <p:sp>
        <p:nvSpPr>
          <p:cNvPr id="11298" name="Text Box 34"/>
          <p:cNvSpPr txBox="1">
            <a:spLocks noChangeArrowheads="1"/>
          </p:cNvSpPr>
          <p:nvPr/>
        </p:nvSpPr>
        <p:spPr bwMode="auto">
          <a:xfrm>
            <a:off x="1657318" y="5404392"/>
            <a:ext cx="5734198" cy="738664"/>
          </a:xfrm>
          <a:prstGeom prst="rect">
            <a:avLst/>
          </a:prstGeom>
          <a:noFill/>
          <a:ln w="9525">
            <a:noFill/>
            <a:miter lim="800000"/>
            <a:headEnd/>
            <a:tailEnd/>
          </a:ln>
        </p:spPr>
        <p:txBody>
          <a:bodyPr wrap="none">
            <a:spAutoFit/>
          </a:bodyPr>
          <a:lstStyle/>
          <a:p>
            <a:r>
              <a:rPr lang="en-US" sz="1400" b="1" dirty="0">
                <a:solidFill>
                  <a:srgbClr val="00B050"/>
                </a:solidFill>
                <a:latin typeface="+mn-lt"/>
              </a:rPr>
              <a:t>Task C </a:t>
            </a:r>
            <a:r>
              <a:rPr lang="en-US" sz="1400" dirty="0">
                <a:latin typeface="+mn-lt"/>
              </a:rPr>
              <a:t>is the only one with slack available.</a:t>
            </a:r>
          </a:p>
          <a:p>
            <a:r>
              <a:rPr lang="en-US" sz="1400" dirty="0">
                <a:latin typeface="+mn-lt"/>
              </a:rPr>
              <a:t>Remember first to level those tasks with the </a:t>
            </a:r>
            <a:r>
              <a:rPr lang="en-US" sz="1400" dirty="0">
                <a:solidFill>
                  <a:srgbClr val="7030A0"/>
                </a:solidFill>
                <a:latin typeface="+mn-lt"/>
              </a:rPr>
              <a:t>smallest amount of slack</a:t>
            </a:r>
            <a:r>
              <a:rPr lang="en-US" sz="1400" dirty="0">
                <a:latin typeface="+mn-lt"/>
              </a:rPr>
              <a:t>. </a:t>
            </a:r>
          </a:p>
          <a:p>
            <a:r>
              <a:rPr lang="en-US" sz="1400" dirty="0">
                <a:latin typeface="+mn-lt"/>
              </a:rPr>
              <a:t>All tasks are on critical path, except C. Therefore, they all have priority over C</a:t>
            </a:r>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12</a:t>
            </a:fld>
            <a:endParaRPr lang="en-US"/>
          </a:p>
        </p:txBody>
      </p:sp>
      <p:sp>
        <p:nvSpPr>
          <p:cNvPr id="4" name="Date Placeholder 3">
            <a:extLst>
              <a:ext uri="{FF2B5EF4-FFF2-40B4-BE49-F238E27FC236}">
                <a16:creationId xmlns:a16="http://schemas.microsoft.com/office/drawing/2014/main" id="{984A2D60-94E6-4430-81F0-FDCE04A5CB31}"/>
              </a:ext>
            </a:extLst>
          </p:cNvPr>
          <p:cNvSpPr>
            <a:spLocks noGrp="1"/>
          </p:cNvSpPr>
          <p:nvPr>
            <p:ph type="dt" sz="half" idx="10"/>
          </p:nvPr>
        </p:nvSpPr>
        <p:spPr/>
        <p:txBody>
          <a:bodyPr/>
          <a:lstStyle/>
          <a:p>
            <a:pPr>
              <a:defRPr/>
            </a:pPr>
            <a:r>
              <a:rPr lang="en-US"/>
              <a:t>Lecture 10</a:t>
            </a:r>
          </a:p>
        </p:txBody>
      </p:sp>
      <p:sp>
        <p:nvSpPr>
          <p:cNvPr id="5" name="Footer Placeholder 4">
            <a:extLst>
              <a:ext uri="{FF2B5EF4-FFF2-40B4-BE49-F238E27FC236}">
                <a16:creationId xmlns:a16="http://schemas.microsoft.com/office/drawing/2014/main" id="{1491AB84-C455-4F84-A05D-360381CFE668}"/>
              </a:ext>
            </a:extLst>
          </p:cNvPr>
          <p:cNvSpPr>
            <a:spLocks noGrp="1"/>
          </p:cNvSpPr>
          <p:nvPr>
            <p:ph type="ftr" sz="quarter" idx="11"/>
          </p:nvPr>
        </p:nvSpPr>
        <p:spPr/>
        <p:txBody>
          <a:bodyPr/>
          <a:lstStyle/>
          <a:p>
            <a:pPr>
              <a:defRPr/>
            </a:pPr>
            <a:r>
              <a:rPr lang="en-US"/>
              <a:t>G.R. Labbé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96"/>
                                        </p:tgtEl>
                                        <p:attrNameLst>
                                          <p:attrName>style.visibility</p:attrName>
                                        </p:attrNameLst>
                                      </p:cBhvr>
                                      <p:to>
                                        <p:strVal val="visible"/>
                                      </p:to>
                                    </p:set>
                                    <p:anim calcmode="lin" valueType="num">
                                      <p:cBhvr additive="base">
                                        <p:cTn id="7" dur="500" fill="hold"/>
                                        <p:tgtEl>
                                          <p:spTgt spid="11296"/>
                                        </p:tgtEl>
                                        <p:attrNameLst>
                                          <p:attrName>ppt_x</p:attrName>
                                        </p:attrNameLst>
                                      </p:cBhvr>
                                      <p:tavLst>
                                        <p:tav tm="0">
                                          <p:val>
                                            <p:strVal val="#ppt_x"/>
                                          </p:val>
                                        </p:tav>
                                        <p:tav tm="100000">
                                          <p:val>
                                            <p:strVal val="#ppt_x"/>
                                          </p:val>
                                        </p:tav>
                                      </p:tavLst>
                                    </p:anim>
                                    <p:anim calcmode="lin" valueType="num">
                                      <p:cBhvr additive="base">
                                        <p:cTn id="8" dur="500" fill="hold"/>
                                        <p:tgtEl>
                                          <p:spTgt spid="1129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98"/>
                                        </p:tgtEl>
                                        <p:attrNameLst>
                                          <p:attrName>style.visibility</p:attrName>
                                        </p:attrNameLst>
                                      </p:cBhvr>
                                      <p:to>
                                        <p:strVal val="visible"/>
                                      </p:to>
                                    </p:set>
                                    <p:anim calcmode="lin" valueType="num">
                                      <p:cBhvr additive="base">
                                        <p:cTn id="13" dur="500" fill="hold"/>
                                        <p:tgtEl>
                                          <p:spTgt spid="11298"/>
                                        </p:tgtEl>
                                        <p:attrNameLst>
                                          <p:attrName>ppt_x</p:attrName>
                                        </p:attrNameLst>
                                      </p:cBhvr>
                                      <p:tavLst>
                                        <p:tav tm="0">
                                          <p:val>
                                            <p:strVal val="#ppt_x"/>
                                          </p:val>
                                        </p:tav>
                                        <p:tav tm="100000">
                                          <p:val>
                                            <p:strVal val="#ppt_x"/>
                                          </p:val>
                                        </p:tav>
                                      </p:tavLst>
                                    </p:anim>
                                    <p:anim calcmode="lin" valueType="num">
                                      <p:cBhvr additive="base">
                                        <p:cTn id="14" dur="500" fill="hold"/>
                                        <p:tgtEl>
                                          <p:spTgt spid="1129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297"/>
                                        </p:tgtEl>
                                        <p:attrNameLst>
                                          <p:attrName>style.visibility</p:attrName>
                                        </p:attrNameLst>
                                      </p:cBhvr>
                                      <p:to>
                                        <p:strVal val="visible"/>
                                      </p:to>
                                    </p:set>
                                    <p:anim calcmode="lin" valueType="num">
                                      <p:cBhvr additive="base">
                                        <p:cTn id="19" dur="500" fill="hold"/>
                                        <p:tgtEl>
                                          <p:spTgt spid="11297"/>
                                        </p:tgtEl>
                                        <p:attrNameLst>
                                          <p:attrName>ppt_x</p:attrName>
                                        </p:attrNameLst>
                                      </p:cBhvr>
                                      <p:tavLst>
                                        <p:tav tm="0">
                                          <p:val>
                                            <p:strVal val="#ppt_x"/>
                                          </p:val>
                                        </p:tav>
                                        <p:tav tm="100000">
                                          <p:val>
                                            <p:strVal val="#ppt_x"/>
                                          </p:val>
                                        </p:tav>
                                      </p:tavLst>
                                    </p:anim>
                                    <p:anim calcmode="lin" valueType="num">
                                      <p:cBhvr additive="base">
                                        <p:cTn id="20" dur="500" fill="hold"/>
                                        <p:tgtEl>
                                          <p:spTgt spid="112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97" grpId="0" animBg="1"/>
      <p:bldP spid="1129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12"/>
          <p:cNvSpPr txBox="1">
            <a:spLocks noChangeArrowheads="1"/>
          </p:cNvSpPr>
          <p:nvPr/>
        </p:nvSpPr>
        <p:spPr bwMode="auto">
          <a:xfrm>
            <a:off x="1523889" y="5538345"/>
            <a:ext cx="6096221" cy="369332"/>
          </a:xfrm>
          <a:prstGeom prst="rect">
            <a:avLst/>
          </a:prstGeom>
          <a:noFill/>
          <a:ln w="9525">
            <a:noFill/>
            <a:miter lim="800000"/>
            <a:headEnd/>
            <a:tailEnd/>
          </a:ln>
        </p:spPr>
        <p:txBody>
          <a:bodyPr wrap="none">
            <a:spAutoFit/>
          </a:bodyPr>
          <a:lstStyle/>
          <a:p>
            <a:r>
              <a:rPr lang="en-US" dirty="0">
                <a:latin typeface="+mn-lt"/>
              </a:rPr>
              <a:t>C is the only task available for leveling =&gt; find new home for it. </a:t>
            </a:r>
          </a:p>
        </p:txBody>
      </p:sp>
      <p:sp>
        <p:nvSpPr>
          <p:cNvPr id="16388" name="Oval 13"/>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4" name="Slide Number Placeholder 3"/>
          <p:cNvSpPr>
            <a:spLocks noGrp="1"/>
          </p:cNvSpPr>
          <p:nvPr>
            <p:ph type="sldNum" sz="quarter" idx="12"/>
          </p:nvPr>
        </p:nvSpPr>
        <p:spPr/>
        <p:txBody>
          <a:bodyPr/>
          <a:lstStyle/>
          <a:p>
            <a:pPr>
              <a:defRPr/>
            </a:pPr>
            <a:fld id="{1152812F-33DB-44F2-8D7A-55F34972C181}" type="slidenum">
              <a:rPr lang="en-US" smtClean="0"/>
              <a:pPr>
                <a:defRPr/>
              </a:pPr>
              <a:t>13</a:t>
            </a:fld>
            <a:endParaRPr lang="en-US"/>
          </a:p>
        </p:txBody>
      </p:sp>
      <p:sp>
        <p:nvSpPr>
          <p:cNvPr id="6" name="Date Placeholder 5">
            <a:extLst>
              <a:ext uri="{FF2B5EF4-FFF2-40B4-BE49-F238E27FC236}">
                <a16:creationId xmlns:a16="http://schemas.microsoft.com/office/drawing/2014/main" id="{B605FC4D-5AA7-4223-82D7-1DD0E1031A0A}"/>
              </a:ext>
            </a:extLst>
          </p:cNvPr>
          <p:cNvSpPr>
            <a:spLocks noGrp="1"/>
          </p:cNvSpPr>
          <p:nvPr>
            <p:ph type="dt" sz="half" idx="10"/>
          </p:nvPr>
        </p:nvSpPr>
        <p:spPr/>
        <p:txBody>
          <a:bodyPr/>
          <a:lstStyle/>
          <a:p>
            <a:pPr>
              <a:defRPr/>
            </a:pPr>
            <a:r>
              <a:rPr lang="en-US"/>
              <a:t>Lecture 10</a:t>
            </a:r>
          </a:p>
        </p:txBody>
      </p:sp>
      <p:sp>
        <p:nvSpPr>
          <p:cNvPr id="7" name="Footer Placeholder 6">
            <a:extLst>
              <a:ext uri="{FF2B5EF4-FFF2-40B4-BE49-F238E27FC236}">
                <a16:creationId xmlns:a16="http://schemas.microsoft.com/office/drawing/2014/main" id="{3BF44EE7-52C0-4EFB-B88A-39F7CD186AFA}"/>
              </a:ext>
            </a:extLst>
          </p:cNvPr>
          <p:cNvSpPr>
            <a:spLocks noGrp="1"/>
          </p:cNvSpPr>
          <p:nvPr>
            <p:ph type="ftr" sz="quarter" idx="11"/>
          </p:nvPr>
        </p:nvSpPr>
        <p:spPr/>
        <p:txBody>
          <a:bodyPr/>
          <a:lstStyle/>
          <a:p>
            <a:pPr>
              <a:defRPr/>
            </a:pPr>
            <a:r>
              <a:rPr lang="en-US"/>
              <a:t>G.R. Labbé</a:t>
            </a:r>
          </a:p>
        </p:txBody>
      </p:sp>
      <p:grpSp>
        <p:nvGrpSpPr>
          <p:cNvPr id="5" name="Group 29">
            <a:extLst>
              <a:ext uri="{FF2B5EF4-FFF2-40B4-BE49-F238E27FC236}">
                <a16:creationId xmlns:a16="http://schemas.microsoft.com/office/drawing/2014/main" id="{4CB592AE-5974-17EB-8006-5C0FC6B7D369}"/>
              </a:ext>
            </a:extLst>
          </p:cNvPr>
          <p:cNvGrpSpPr>
            <a:grpSpLocks/>
          </p:cNvGrpSpPr>
          <p:nvPr/>
        </p:nvGrpSpPr>
        <p:grpSpPr bwMode="auto">
          <a:xfrm>
            <a:off x="346755" y="191354"/>
            <a:ext cx="7437763" cy="1456570"/>
            <a:chOff x="294" y="252"/>
            <a:chExt cx="3054" cy="840"/>
          </a:xfrm>
        </p:grpSpPr>
        <p:sp>
          <p:nvSpPr>
            <p:cNvPr id="8" name="Text Box 17">
              <a:extLst>
                <a:ext uri="{FF2B5EF4-FFF2-40B4-BE49-F238E27FC236}">
                  <a16:creationId xmlns:a16="http://schemas.microsoft.com/office/drawing/2014/main" id="{96EBEA97-C7E1-B2A6-286B-BEF621502E71}"/>
                </a:ext>
              </a:extLst>
            </p:cNvPr>
            <p:cNvSpPr txBox="1">
              <a:spLocks noChangeArrowheads="1"/>
            </p:cNvSpPr>
            <p:nvPr/>
          </p:nvSpPr>
          <p:spPr bwMode="auto">
            <a:xfrm>
              <a:off x="294" y="672"/>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0     A     4</a:t>
              </a:r>
            </a:p>
            <a:p>
              <a:pPr algn="ctr"/>
              <a:r>
                <a:rPr lang="en-US" sz="1400" dirty="0">
                  <a:latin typeface="+mn-lt"/>
                </a:rPr>
                <a:t>Res = 6</a:t>
              </a:r>
            </a:p>
          </p:txBody>
        </p:sp>
        <p:sp>
          <p:nvSpPr>
            <p:cNvPr id="9" name="Text Box 18">
              <a:extLst>
                <a:ext uri="{FF2B5EF4-FFF2-40B4-BE49-F238E27FC236}">
                  <a16:creationId xmlns:a16="http://schemas.microsoft.com/office/drawing/2014/main" id="{D23DC829-4C9A-5E46-B0F2-EFEC7CB5CA16}"/>
                </a:ext>
              </a:extLst>
            </p:cNvPr>
            <p:cNvSpPr txBox="1">
              <a:spLocks noChangeArrowheads="1"/>
            </p:cNvSpPr>
            <p:nvPr/>
          </p:nvSpPr>
          <p:spPr bwMode="auto">
            <a:xfrm>
              <a:off x="954" y="252"/>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4     B     5</a:t>
              </a:r>
            </a:p>
            <a:p>
              <a:pPr algn="ctr"/>
              <a:r>
                <a:rPr lang="en-US" sz="1400" dirty="0">
                  <a:latin typeface="+mn-lt"/>
                </a:rPr>
                <a:t>Res = 2</a:t>
              </a:r>
            </a:p>
          </p:txBody>
        </p:sp>
        <p:sp>
          <p:nvSpPr>
            <p:cNvPr id="10" name="Text Box 19">
              <a:extLst>
                <a:ext uri="{FF2B5EF4-FFF2-40B4-BE49-F238E27FC236}">
                  <a16:creationId xmlns:a16="http://schemas.microsoft.com/office/drawing/2014/main" id="{C9F0D41B-1AA4-5FD1-03D2-5809DA64067C}"/>
                </a:ext>
              </a:extLst>
            </p:cNvPr>
            <p:cNvSpPr txBox="1">
              <a:spLocks noChangeArrowheads="1"/>
            </p:cNvSpPr>
            <p:nvPr/>
          </p:nvSpPr>
          <p:spPr bwMode="auto">
            <a:xfrm>
              <a:off x="1620" y="252"/>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5     D     9</a:t>
              </a:r>
            </a:p>
            <a:p>
              <a:pPr algn="ctr"/>
              <a:r>
                <a:rPr lang="en-US" sz="1400" dirty="0">
                  <a:latin typeface="+mn-lt"/>
                </a:rPr>
                <a:t>Res = 7</a:t>
              </a:r>
            </a:p>
          </p:txBody>
        </p:sp>
        <p:sp>
          <p:nvSpPr>
            <p:cNvPr id="11" name="Text Box 20">
              <a:extLst>
                <a:ext uri="{FF2B5EF4-FFF2-40B4-BE49-F238E27FC236}">
                  <a16:creationId xmlns:a16="http://schemas.microsoft.com/office/drawing/2014/main" id="{3DB24871-ABC8-7B59-955F-838BF554340D}"/>
                </a:ext>
              </a:extLst>
            </p:cNvPr>
            <p:cNvSpPr txBox="1">
              <a:spLocks noChangeArrowheads="1"/>
            </p:cNvSpPr>
            <p:nvPr/>
          </p:nvSpPr>
          <p:spPr bwMode="auto">
            <a:xfrm>
              <a:off x="2286" y="252"/>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9     E    11</a:t>
              </a:r>
            </a:p>
            <a:p>
              <a:pPr algn="ctr"/>
              <a:r>
                <a:rPr lang="en-US" sz="1400" dirty="0">
                  <a:latin typeface="+mn-lt"/>
                </a:rPr>
                <a:t>Res = 3</a:t>
              </a:r>
            </a:p>
          </p:txBody>
        </p:sp>
        <p:sp>
          <p:nvSpPr>
            <p:cNvPr id="12" name="Text Box 21">
              <a:extLst>
                <a:ext uri="{FF2B5EF4-FFF2-40B4-BE49-F238E27FC236}">
                  <a16:creationId xmlns:a16="http://schemas.microsoft.com/office/drawing/2014/main" id="{41968A26-A85C-CF4D-04C8-613C0653C6B3}"/>
                </a:ext>
              </a:extLst>
            </p:cNvPr>
            <p:cNvSpPr txBox="1">
              <a:spLocks noChangeArrowheads="1"/>
            </p:cNvSpPr>
            <p:nvPr/>
          </p:nvSpPr>
          <p:spPr bwMode="auto">
            <a:xfrm>
              <a:off x="2892" y="648"/>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11    F   12</a:t>
              </a:r>
            </a:p>
            <a:p>
              <a:pPr algn="ctr"/>
              <a:r>
                <a:rPr lang="en-US" sz="1400" dirty="0">
                  <a:latin typeface="+mn-lt"/>
                </a:rPr>
                <a:t>Res = 6</a:t>
              </a:r>
            </a:p>
          </p:txBody>
        </p:sp>
        <p:sp>
          <p:nvSpPr>
            <p:cNvPr id="13" name="Text Box 22">
              <a:extLst>
                <a:ext uri="{FF2B5EF4-FFF2-40B4-BE49-F238E27FC236}">
                  <a16:creationId xmlns:a16="http://schemas.microsoft.com/office/drawing/2014/main" id="{1D977BF5-4828-1CB4-F54D-9A613CA8A4AF}"/>
                </a:ext>
              </a:extLst>
            </p:cNvPr>
            <p:cNvSpPr txBox="1">
              <a:spLocks noChangeArrowheads="1"/>
            </p:cNvSpPr>
            <p:nvPr/>
          </p:nvSpPr>
          <p:spPr bwMode="auto">
            <a:xfrm>
              <a:off x="1074" y="810"/>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4     C    7</a:t>
              </a:r>
            </a:p>
            <a:p>
              <a:pPr algn="ctr"/>
              <a:r>
                <a:rPr lang="en-US" sz="1400" dirty="0">
                  <a:latin typeface="+mn-lt"/>
                </a:rPr>
                <a:t>Res = 2</a:t>
              </a:r>
            </a:p>
          </p:txBody>
        </p:sp>
        <p:cxnSp>
          <p:nvCxnSpPr>
            <p:cNvPr id="14" name="AutoShape 23">
              <a:extLst>
                <a:ext uri="{FF2B5EF4-FFF2-40B4-BE49-F238E27FC236}">
                  <a16:creationId xmlns:a16="http://schemas.microsoft.com/office/drawing/2014/main" id="{CD357CB9-EC77-A527-C148-EF6F321B9F9B}"/>
                </a:ext>
              </a:extLst>
            </p:cNvPr>
            <p:cNvCxnSpPr>
              <a:cxnSpLocks noChangeShapeType="1"/>
              <a:stCxn id="8" idx="3"/>
              <a:endCxn id="13" idx="1"/>
            </p:cNvCxnSpPr>
            <p:nvPr/>
          </p:nvCxnSpPr>
          <p:spPr bwMode="auto">
            <a:xfrm>
              <a:off x="750" y="816"/>
              <a:ext cx="324" cy="138"/>
            </a:xfrm>
            <a:prstGeom prst="straightConnector1">
              <a:avLst/>
            </a:prstGeom>
            <a:noFill/>
            <a:ln w="9525">
              <a:solidFill>
                <a:srgbClr val="000000"/>
              </a:solidFill>
              <a:round/>
              <a:headEnd/>
              <a:tailEnd type="triangle" w="med" len="med"/>
            </a:ln>
          </p:spPr>
        </p:cxnSp>
        <p:cxnSp>
          <p:nvCxnSpPr>
            <p:cNvPr id="15" name="AutoShape 24">
              <a:extLst>
                <a:ext uri="{FF2B5EF4-FFF2-40B4-BE49-F238E27FC236}">
                  <a16:creationId xmlns:a16="http://schemas.microsoft.com/office/drawing/2014/main" id="{26E928AD-FC0C-E717-3D0B-9781FB08D677}"/>
                </a:ext>
              </a:extLst>
            </p:cNvPr>
            <p:cNvCxnSpPr>
              <a:cxnSpLocks noChangeShapeType="1"/>
              <a:stCxn id="13" idx="3"/>
              <a:endCxn id="12" idx="1"/>
            </p:cNvCxnSpPr>
            <p:nvPr/>
          </p:nvCxnSpPr>
          <p:spPr bwMode="auto">
            <a:xfrm flipV="1">
              <a:off x="1530" y="792"/>
              <a:ext cx="1362" cy="162"/>
            </a:xfrm>
            <a:prstGeom prst="straightConnector1">
              <a:avLst/>
            </a:prstGeom>
            <a:noFill/>
            <a:ln w="9525">
              <a:solidFill>
                <a:srgbClr val="000000"/>
              </a:solidFill>
              <a:round/>
              <a:headEnd/>
              <a:tailEnd type="triangle" w="med" len="med"/>
            </a:ln>
          </p:spPr>
        </p:cxnSp>
        <p:cxnSp>
          <p:nvCxnSpPr>
            <p:cNvPr id="16" name="AutoShape 25">
              <a:extLst>
                <a:ext uri="{FF2B5EF4-FFF2-40B4-BE49-F238E27FC236}">
                  <a16:creationId xmlns:a16="http://schemas.microsoft.com/office/drawing/2014/main" id="{844DF352-BAE9-11ED-E91B-2DE4ABF0ECB2}"/>
                </a:ext>
              </a:extLst>
            </p:cNvPr>
            <p:cNvCxnSpPr>
              <a:cxnSpLocks noChangeShapeType="1"/>
              <a:stCxn id="8" idx="3"/>
              <a:endCxn id="9" idx="1"/>
            </p:cNvCxnSpPr>
            <p:nvPr/>
          </p:nvCxnSpPr>
          <p:spPr bwMode="auto">
            <a:xfrm flipV="1">
              <a:off x="750" y="396"/>
              <a:ext cx="204" cy="420"/>
            </a:xfrm>
            <a:prstGeom prst="straightConnector1">
              <a:avLst/>
            </a:prstGeom>
            <a:noFill/>
            <a:ln w="9525">
              <a:solidFill>
                <a:srgbClr val="000000"/>
              </a:solidFill>
              <a:round/>
              <a:headEnd/>
              <a:tailEnd type="triangle" w="med" len="med"/>
            </a:ln>
          </p:spPr>
        </p:cxnSp>
        <p:cxnSp>
          <p:nvCxnSpPr>
            <p:cNvPr id="17" name="AutoShape 26">
              <a:extLst>
                <a:ext uri="{FF2B5EF4-FFF2-40B4-BE49-F238E27FC236}">
                  <a16:creationId xmlns:a16="http://schemas.microsoft.com/office/drawing/2014/main" id="{20FD2960-3208-DDBA-2D87-089576C3E7AE}"/>
                </a:ext>
              </a:extLst>
            </p:cNvPr>
            <p:cNvCxnSpPr>
              <a:cxnSpLocks noChangeShapeType="1"/>
              <a:stCxn id="9" idx="3"/>
              <a:endCxn id="10" idx="1"/>
            </p:cNvCxnSpPr>
            <p:nvPr/>
          </p:nvCxnSpPr>
          <p:spPr bwMode="auto">
            <a:xfrm>
              <a:off x="1410" y="396"/>
              <a:ext cx="210" cy="0"/>
            </a:xfrm>
            <a:prstGeom prst="straightConnector1">
              <a:avLst/>
            </a:prstGeom>
            <a:noFill/>
            <a:ln w="9525">
              <a:solidFill>
                <a:srgbClr val="000000"/>
              </a:solidFill>
              <a:round/>
              <a:headEnd/>
              <a:tailEnd type="triangle" w="med" len="med"/>
            </a:ln>
          </p:spPr>
        </p:cxnSp>
        <p:cxnSp>
          <p:nvCxnSpPr>
            <p:cNvPr id="18" name="AutoShape 27">
              <a:extLst>
                <a:ext uri="{FF2B5EF4-FFF2-40B4-BE49-F238E27FC236}">
                  <a16:creationId xmlns:a16="http://schemas.microsoft.com/office/drawing/2014/main" id="{2F6F1170-F62B-9549-10D5-BB9A61A41063}"/>
                </a:ext>
              </a:extLst>
            </p:cNvPr>
            <p:cNvCxnSpPr>
              <a:cxnSpLocks noChangeShapeType="1"/>
              <a:stCxn id="10" idx="3"/>
              <a:endCxn id="11" idx="1"/>
            </p:cNvCxnSpPr>
            <p:nvPr/>
          </p:nvCxnSpPr>
          <p:spPr bwMode="auto">
            <a:xfrm>
              <a:off x="2076" y="396"/>
              <a:ext cx="210" cy="0"/>
            </a:xfrm>
            <a:prstGeom prst="straightConnector1">
              <a:avLst/>
            </a:prstGeom>
            <a:noFill/>
            <a:ln w="9525">
              <a:solidFill>
                <a:srgbClr val="000000"/>
              </a:solidFill>
              <a:round/>
              <a:headEnd/>
              <a:tailEnd type="triangle" w="med" len="med"/>
            </a:ln>
          </p:spPr>
        </p:cxnSp>
        <p:cxnSp>
          <p:nvCxnSpPr>
            <p:cNvPr id="19" name="AutoShape 28">
              <a:extLst>
                <a:ext uri="{FF2B5EF4-FFF2-40B4-BE49-F238E27FC236}">
                  <a16:creationId xmlns:a16="http://schemas.microsoft.com/office/drawing/2014/main" id="{0054C116-09E0-5FCE-E66C-378B6B6382CD}"/>
                </a:ext>
              </a:extLst>
            </p:cNvPr>
            <p:cNvCxnSpPr>
              <a:cxnSpLocks noChangeShapeType="1"/>
              <a:stCxn id="11" idx="3"/>
              <a:endCxn id="12" idx="1"/>
            </p:cNvCxnSpPr>
            <p:nvPr/>
          </p:nvCxnSpPr>
          <p:spPr bwMode="auto">
            <a:xfrm>
              <a:off x="2742" y="396"/>
              <a:ext cx="150" cy="396"/>
            </a:xfrm>
            <a:prstGeom prst="straightConnector1">
              <a:avLst/>
            </a:prstGeom>
            <a:noFill/>
            <a:ln w="9525">
              <a:solidFill>
                <a:srgbClr val="000000"/>
              </a:solidFill>
              <a:round/>
              <a:headEnd/>
              <a:tailEnd type="triangle" w="med" len="med"/>
            </a:ln>
          </p:spPr>
        </p:cxnSp>
      </p:grpSp>
      <p:sp>
        <p:nvSpPr>
          <p:cNvPr id="16471" name="Text Box 31">
            <a:extLst>
              <a:ext uri="{FF2B5EF4-FFF2-40B4-BE49-F238E27FC236}">
                <a16:creationId xmlns:a16="http://schemas.microsoft.com/office/drawing/2014/main" id="{396E8945-A049-E562-1327-5352706A1932}"/>
              </a:ext>
            </a:extLst>
          </p:cNvPr>
          <p:cNvSpPr txBox="1">
            <a:spLocks noChangeArrowheads="1"/>
          </p:cNvSpPr>
          <p:nvPr/>
        </p:nvSpPr>
        <p:spPr bwMode="auto">
          <a:xfrm>
            <a:off x="5645291" y="1397624"/>
            <a:ext cx="3097850" cy="307777"/>
          </a:xfrm>
          <a:prstGeom prst="rect">
            <a:avLst/>
          </a:prstGeom>
          <a:noFill/>
          <a:ln w="9525">
            <a:noFill/>
            <a:miter lim="800000"/>
            <a:headEnd/>
            <a:tailEnd/>
          </a:ln>
        </p:spPr>
        <p:txBody>
          <a:bodyPr wrap="square">
            <a:spAutoFit/>
          </a:bodyPr>
          <a:lstStyle/>
          <a:p>
            <a:r>
              <a:rPr lang="en-US" sz="1400" dirty="0">
                <a:latin typeface="+mn-lt"/>
              </a:rPr>
              <a:t>Resource level limit: 8 resources/week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12"/>
          <p:cNvSpPr txBox="1">
            <a:spLocks noChangeArrowheads="1"/>
          </p:cNvSpPr>
          <p:nvPr/>
        </p:nvSpPr>
        <p:spPr bwMode="auto">
          <a:xfrm>
            <a:off x="1523889" y="5538345"/>
            <a:ext cx="6096221" cy="369332"/>
          </a:xfrm>
          <a:prstGeom prst="rect">
            <a:avLst/>
          </a:prstGeom>
          <a:noFill/>
          <a:ln w="9525">
            <a:noFill/>
            <a:miter lim="800000"/>
            <a:headEnd/>
            <a:tailEnd/>
          </a:ln>
        </p:spPr>
        <p:txBody>
          <a:bodyPr wrap="none">
            <a:spAutoFit/>
          </a:bodyPr>
          <a:lstStyle/>
          <a:p>
            <a:r>
              <a:rPr lang="en-US" dirty="0">
                <a:latin typeface="+mn-lt"/>
              </a:rPr>
              <a:t>C is the only task available for leveling =&gt; find new home for it. </a:t>
            </a:r>
          </a:p>
        </p:txBody>
      </p:sp>
      <p:sp>
        <p:nvSpPr>
          <p:cNvPr id="16388" name="Oval 13"/>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grpSp>
        <p:nvGrpSpPr>
          <p:cNvPr id="20" name="Group 19">
            <a:extLst>
              <a:ext uri="{FF2B5EF4-FFF2-40B4-BE49-F238E27FC236}">
                <a16:creationId xmlns:a16="http://schemas.microsoft.com/office/drawing/2014/main" id="{05AC9239-B24B-0043-18BC-2606205E5B00}"/>
              </a:ext>
            </a:extLst>
          </p:cNvPr>
          <p:cNvGrpSpPr/>
          <p:nvPr/>
        </p:nvGrpSpPr>
        <p:grpSpPr>
          <a:xfrm>
            <a:off x="234949" y="1923978"/>
            <a:ext cx="5899692" cy="3584466"/>
            <a:chOff x="234949" y="238336"/>
            <a:chExt cx="8674100" cy="5270108"/>
          </a:xfrm>
        </p:grpSpPr>
        <p:pic>
          <p:nvPicPr>
            <p:cNvPr id="16386" name="Picture 11"/>
            <p:cNvPicPr>
              <a:picLocks noChangeAspect="1" noChangeArrowheads="1"/>
            </p:cNvPicPr>
            <p:nvPr/>
          </p:nvPicPr>
          <p:blipFill rotWithShape="1">
            <a:blip r:embed="rId2" cstate="print"/>
            <a:srcRect b="13798"/>
            <a:stretch/>
          </p:blipFill>
          <p:spPr bwMode="auto">
            <a:xfrm>
              <a:off x="234949" y="238336"/>
              <a:ext cx="8674100" cy="4727902"/>
            </a:xfrm>
            <a:prstGeom prst="rect">
              <a:avLst/>
            </a:prstGeom>
            <a:noFill/>
            <a:ln w="9525">
              <a:noFill/>
              <a:miter lim="800000"/>
              <a:headEnd/>
              <a:tailEnd/>
            </a:ln>
          </p:spPr>
        </p:pic>
        <p:sp>
          <p:nvSpPr>
            <p:cNvPr id="3" name="TextBox 2"/>
            <p:cNvSpPr txBox="1"/>
            <p:nvPr/>
          </p:nvSpPr>
          <p:spPr>
            <a:xfrm>
              <a:off x="4180001" y="5139112"/>
              <a:ext cx="792088" cy="369332"/>
            </a:xfrm>
            <a:prstGeom prst="rect">
              <a:avLst/>
            </a:prstGeom>
            <a:noFill/>
          </p:spPr>
          <p:txBody>
            <a:bodyPr wrap="square" rtlCol="0">
              <a:spAutoFit/>
            </a:bodyPr>
            <a:lstStyle/>
            <a:p>
              <a:pPr algn="ctr"/>
              <a:r>
                <a:rPr lang="en-US" dirty="0">
                  <a:latin typeface="+mn-lt"/>
                </a:rPr>
                <a:t>Days</a:t>
              </a:r>
            </a:p>
          </p:txBody>
        </p:sp>
      </p:grpSp>
      <p:sp>
        <p:nvSpPr>
          <p:cNvPr id="4" name="Slide Number Placeholder 3"/>
          <p:cNvSpPr>
            <a:spLocks noGrp="1"/>
          </p:cNvSpPr>
          <p:nvPr>
            <p:ph type="sldNum" sz="quarter" idx="12"/>
          </p:nvPr>
        </p:nvSpPr>
        <p:spPr/>
        <p:txBody>
          <a:bodyPr/>
          <a:lstStyle/>
          <a:p>
            <a:pPr>
              <a:defRPr/>
            </a:pPr>
            <a:fld id="{1152812F-33DB-44F2-8D7A-55F34972C181}" type="slidenum">
              <a:rPr lang="en-US" smtClean="0"/>
              <a:pPr>
                <a:defRPr/>
              </a:pPr>
              <a:t>14</a:t>
            </a:fld>
            <a:endParaRPr lang="en-US"/>
          </a:p>
        </p:txBody>
      </p:sp>
      <p:sp>
        <p:nvSpPr>
          <p:cNvPr id="6" name="Date Placeholder 5">
            <a:extLst>
              <a:ext uri="{FF2B5EF4-FFF2-40B4-BE49-F238E27FC236}">
                <a16:creationId xmlns:a16="http://schemas.microsoft.com/office/drawing/2014/main" id="{B605FC4D-5AA7-4223-82D7-1DD0E1031A0A}"/>
              </a:ext>
            </a:extLst>
          </p:cNvPr>
          <p:cNvSpPr>
            <a:spLocks noGrp="1"/>
          </p:cNvSpPr>
          <p:nvPr>
            <p:ph type="dt" sz="half" idx="10"/>
          </p:nvPr>
        </p:nvSpPr>
        <p:spPr/>
        <p:txBody>
          <a:bodyPr/>
          <a:lstStyle/>
          <a:p>
            <a:pPr>
              <a:defRPr/>
            </a:pPr>
            <a:r>
              <a:rPr lang="en-US"/>
              <a:t>Lecture 10</a:t>
            </a:r>
          </a:p>
        </p:txBody>
      </p:sp>
      <p:sp>
        <p:nvSpPr>
          <p:cNvPr id="7" name="Footer Placeholder 6">
            <a:extLst>
              <a:ext uri="{FF2B5EF4-FFF2-40B4-BE49-F238E27FC236}">
                <a16:creationId xmlns:a16="http://schemas.microsoft.com/office/drawing/2014/main" id="{3BF44EE7-52C0-4EFB-B88A-39F7CD186AFA}"/>
              </a:ext>
            </a:extLst>
          </p:cNvPr>
          <p:cNvSpPr>
            <a:spLocks noGrp="1"/>
          </p:cNvSpPr>
          <p:nvPr>
            <p:ph type="ftr" sz="quarter" idx="11"/>
          </p:nvPr>
        </p:nvSpPr>
        <p:spPr/>
        <p:txBody>
          <a:bodyPr/>
          <a:lstStyle/>
          <a:p>
            <a:pPr>
              <a:defRPr/>
            </a:pPr>
            <a:r>
              <a:rPr lang="en-US"/>
              <a:t>G.R. Labbé</a:t>
            </a:r>
          </a:p>
        </p:txBody>
      </p:sp>
      <p:grpSp>
        <p:nvGrpSpPr>
          <p:cNvPr id="5" name="Group 29">
            <a:extLst>
              <a:ext uri="{FF2B5EF4-FFF2-40B4-BE49-F238E27FC236}">
                <a16:creationId xmlns:a16="http://schemas.microsoft.com/office/drawing/2014/main" id="{4CB592AE-5974-17EB-8006-5C0FC6B7D369}"/>
              </a:ext>
            </a:extLst>
          </p:cNvPr>
          <p:cNvGrpSpPr>
            <a:grpSpLocks/>
          </p:cNvGrpSpPr>
          <p:nvPr/>
        </p:nvGrpSpPr>
        <p:grpSpPr bwMode="auto">
          <a:xfrm>
            <a:off x="346755" y="191354"/>
            <a:ext cx="7437763" cy="1456570"/>
            <a:chOff x="294" y="252"/>
            <a:chExt cx="3054" cy="840"/>
          </a:xfrm>
        </p:grpSpPr>
        <p:sp>
          <p:nvSpPr>
            <p:cNvPr id="8" name="Text Box 17">
              <a:extLst>
                <a:ext uri="{FF2B5EF4-FFF2-40B4-BE49-F238E27FC236}">
                  <a16:creationId xmlns:a16="http://schemas.microsoft.com/office/drawing/2014/main" id="{96EBEA97-C7E1-B2A6-286B-BEF621502E71}"/>
                </a:ext>
              </a:extLst>
            </p:cNvPr>
            <p:cNvSpPr txBox="1">
              <a:spLocks noChangeArrowheads="1"/>
            </p:cNvSpPr>
            <p:nvPr/>
          </p:nvSpPr>
          <p:spPr bwMode="auto">
            <a:xfrm>
              <a:off x="294" y="672"/>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0     A     4</a:t>
              </a:r>
            </a:p>
            <a:p>
              <a:pPr algn="ctr"/>
              <a:r>
                <a:rPr lang="en-US" sz="1400" dirty="0">
                  <a:latin typeface="+mn-lt"/>
                </a:rPr>
                <a:t>Res = 6</a:t>
              </a:r>
            </a:p>
          </p:txBody>
        </p:sp>
        <p:sp>
          <p:nvSpPr>
            <p:cNvPr id="9" name="Text Box 18">
              <a:extLst>
                <a:ext uri="{FF2B5EF4-FFF2-40B4-BE49-F238E27FC236}">
                  <a16:creationId xmlns:a16="http://schemas.microsoft.com/office/drawing/2014/main" id="{D23DC829-4C9A-5E46-B0F2-EFEC7CB5CA16}"/>
                </a:ext>
              </a:extLst>
            </p:cNvPr>
            <p:cNvSpPr txBox="1">
              <a:spLocks noChangeArrowheads="1"/>
            </p:cNvSpPr>
            <p:nvPr/>
          </p:nvSpPr>
          <p:spPr bwMode="auto">
            <a:xfrm>
              <a:off x="954" y="252"/>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4     B     5</a:t>
              </a:r>
            </a:p>
            <a:p>
              <a:pPr algn="ctr"/>
              <a:r>
                <a:rPr lang="en-US" sz="1400" dirty="0">
                  <a:latin typeface="+mn-lt"/>
                </a:rPr>
                <a:t>Res = 2</a:t>
              </a:r>
            </a:p>
          </p:txBody>
        </p:sp>
        <p:sp>
          <p:nvSpPr>
            <p:cNvPr id="10" name="Text Box 19">
              <a:extLst>
                <a:ext uri="{FF2B5EF4-FFF2-40B4-BE49-F238E27FC236}">
                  <a16:creationId xmlns:a16="http://schemas.microsoft.com/office/drawing/2014/main" id="{C9F0D41B-1AA4-5FD1-03D2-5809DA64067C}"/>
                </a:ext>
              </a:extLst>
            </p:cNvPr>
            <p:cNvSpPr txBox="1">
              <a:spLocks noChangeArrowheads="1"/>
            </p:cNvSpPr>
            <p:nvPr/>
          </p:nvSpPr>
          <p:spPr bwMode="auto">
            <a:xfrm>
              <a:off x="1620" y="252"/>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5     D     9</a:t>
              </a:r>
            </a:p>
            <a:p>
              <a:pPr algn="ctr"/>
              <a:r>
                <a:rPr lang="en-US" sz="1400" dirty="0">
                  <a:latin typeface="+mn-lt"/>
                </a:rPr>
                <a:t>Res = 7</a:t>
              </a:r>
            </a:p>
          </p:txBody>
        </p:sp>
        <p:sp>
          <p:nvSpPr>
            <p:cNvPr id="11" name="Text Box 20">
              <a:extLst>
                <a:ext uri="{FF2B5EF4-FFF2-40B4-BE49-F238E27FC236}">
                  <a16:creationId xmlns:a16="http://schemas.microsoft.com/office/drawing/2014/main" id="{3DB24871-ABC8-7B59-955F-838BF554340D}"/>
                </a:ext>
              </a:extLst>
            </p:cNvPr>
            <p:cNvSpPr txBox="1">
              <a:spLocks noChangeArrowheads="1"/>
            </p:cNvSpPr>
            <p:nvPr/>
          </p:nvSpPr>
          <p:spPr bwMode="auto">
            <a:xfrm>
              <a:off x="2286" y="252"/>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9     E    11</a:t>
              </a:r>
            </a:p>
            <a:p>
              <a:pPr algn="ctr"/>
              <a:r>
                <a:rPr lang="en-US" sz="1400" dirty="0">
                  <a:latin typeface="+mn-lt"/>
                </a:rPr>
                <a:t>Res = 3</a:t>
              </a:r>
            </a:p>
          </p:txBody>
        </p:sp>
        <p:sp>
          <p:nvSpPr>
            <p:cNvPr id="12" name="Text Box 21">
              <a:extLst>
                <a:ext uri="{FF2B5EF4-FFF2-40B4-BE49-F238E27FC236}">
                  <a16:creationId xmlns:a16="http://schemas.microsoft.com/office/drawing/2014/main" id="{41968A26-A85C-CF4D-04C8-613C0653C6B3}"/>
                </a:ext>
              </a:extLst>
            </p:cNvPr>
            <p:cNvSpPr txBox="1">
              <a:spLocks noChangeArrowheads="1"/>
            </p:cNvSpPr>
            <p:nvPr/>
          </p:nvSpPr>
          <p:spPr bwMode="auto">
            <a:xfrm>
              <a:off x="2892" y="648"/>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11    F   12</a:t>
              </a:r>
            </a:p>
            <a:p>
              <a:pPr algn="ctr"/>
              <a:r>
                <a:rPr lang="en-US" sz="1400" dirty="0">
                  <a:latin typeface="+mn-lt"/>
                </a:rPr>
                <a:t>Res = 6</a:t>
              </a:r>
            </a:p>
          </p:txBody>
        </p:sp>
        <p:sp>
          <p:nvSpPr>
            <p:cNvPr id="13" name="Text Box 22">
              <a:extLst>
                <a:ext uri="{FF2B5EF4-FFF2-40B4-BE49-F238E27FC236}">
                  <a16:creationId xmlns:a16="http://schemas.microsoft.com/office/drawing/2014/main" id="{1D977BF5-4828-1CB4-F54D-9A613CA8A4AF}"/>
                </a:ext>
              </a:extLst>
            </p:cNvPr>
            <p:cNvSpPr txBox="1">
              <a:spLocks noChangeArrowheads="1"/>
            </p:cNvSpPr>
            <p:nvPr/>
          </p:nvSpPr>
          <p:spPr bwMode="auto">
            <a:xfrm>
              <a:off x="1074" y="810"/>
              <a:ext cx="456" cy="282"/>
            </a:xfrm>
            <a:prstGeom prst="rect">
              <a:avLst/>
            </a:prstGeom>
            <a:solidFill>
              <a:srgbClr val="FFFFFF"/>
            </a:solidFill>
            <a:ln w="9525">
              <a:solidFill>
                <a:srgbClr val="000000"/>
              </a:solidFill>
              <a:miter lim="800000"/>
              <a:headEnd/>
              <a:tailEnd/>
            </a:ln>
          </p:spPr>
          <p:txBody>
            <a:bodyPr/>
            <a:lstStyle/>
            <a:p>
              <a:pPr algn="ctr"/>
              <a:r>
                <a:rPr lang="en-US" sz="1400" dirty="0">
                  <a:latin typeface="+mn-lt"/>
                </a:rPr>
                <a:t>4     C    7</a:t>
              </a:r>
            </a:p>
            <a:p>
              <a:pPr algn="ctr"/>
              <a:r>
                <a:rPr lang="en-US" sz="1400" dirty="0">
                  <a:latin typeface="+mn-lt"/>
                </a:rPr>
                <a:t>Res = 2</a:t>
              </a:r>
            </a:p>
          </p:txBody>
        </p:sp>
        <p:cxnSp>
          <p:nvCxnSpPr>
            <p:cNvPr id="14" name="AutoShape 23">
              <a:extLst>
                <a:ext uri="{FF2B5EF4-FFF2-40B4-BE49-F238E27FC236}">
                  <a16:creationId xmlns:a16="http://schemas.microsoft.com/office/drawing/2014/main" id="{CD357CB9-EC77-A527-C148-EF6F321B9F9B}"/>
                </a:ext>
              </a:extLst>
            </p:cNvPr>
            <p:cNvCxnSpPr>
              <a:cxnSpLocks noChangeShapeType="1"/>
              <a:stCxn id="8" idx="3"/>
              <a:endCxn id="13" idx="1"/>
            </p:cNvCxnSpPr>
            <p:nvPr/>
          </p:nvCxnSpPr>
          <p:spPr bwMode="auto">
            <a:xfrm>
              <a:off x="750" y="816"/>
              <a:ext cx="324" cy="138"/>
            </a:xfrm>
            <a:prstGeom prst="straightConnector1">
              <a:avLst/>
            </a:prstGeom>
            <a:noFill/>
            <a:ln w="9525">
              <a:solidFill>
                <a:srgbClr val="000000"/>
              </a:solidFill>
              <a:round/>
              <a:headEnd/>
              <a:tailEnd type="triangle" w="med" len="med"/>
            </a:ln>
          </p:spPr>
        </p:cxnSp>
        <p:cxnSp>
          <p:nvCxnSpPr>
            <p:cNvPr id="15" name="AutoShape 24">
              <a:extLst>
                <a:ext uri="{FF2B5EF4-FFF2-40B4-BE49-F238E27FC236}">
                  <a16:creationId xmlns:a16="http://schemas.microsoft.com/office/drawing/2014/main" id="{26E928AD-FC0C-E717-3D0B-9781FB08D677}"/>
                </a:ext>
              </a:extLst>
            </p:cNvPr>
            <p:cNvCxnSpPr>
              <a:cxnSpLocks noChangeShapeType="1"/>
              <a:stCxn id="13" idx="3"/>
              <a:endCxn id="12" idx="1"/>
            </p:cNvCxnSpPr>
            <p:nvPr/>
          </p:nvCxnSpPr>
          <p:spPr bwMode="auto">
            <a:xfrm flipV="1">
              <a:off x="1530" y="792"/>
              <a:ext cx="1362" cy="162"/>
            </a:xfrm>
            <a:prstGeom prst="straightConnector1">
              <a:avLst/>
            </a:prstGeom>
            <a:noFill/>
            <a:ln w="9525">
              <a:solidFill>
                <a:srgbClr val="000000"/>
              </a:solidFill>
              <a:round/>
              <a:headEnd/>
              <a:tailEnd type="triangle" w="med" len="med"/>
            </a:ln>
          </p:spPr>
        </p:cxnSp>
        <p:cxnSp>
          <p:nvCxnSpPr>
            <p:cNvPr id="16" name="AutoShape 25">
              <a:extLst>
                <a:ext uri="{FF2B5EF4-FFF2-40B4-BE49-F238E27FC236}">
                  <a16:creationId xmlns:a16="http://schemas.microsoft.com/office/drawing/2014/main" id="{844DF352-BAE9-11ED-E91B-2DE4ABF0ECB2}"/>
                </a:ext>
              </a:extLst>
            </p:cNvPr>
            <p:cNvCxnSpPr>
              <a:cxnSpLocks noChangeShapeType="1"/>
              <a:stCxn id="8" idx="3"/>
              <a:endCxn id="9" idx="1"/>
            </p:cNvCxnSpPr>
            <p:nvPr/>
          </p:nvCxnSpPr>
          <p:spPr bwMode="auto">
            <a:xfrm flipV="1">
              <a:off x="750" y="396"/>
              <a:ext cx="204" cy="420"/>
            </a:xfrm>
            <a:prstGeom prst="straightConnector1">
              <a:avLst/>
            </a:prstGeom>
            <a:noFill/>
            <a:ln w="9525">
              <a:solidFill>
                <a:srgbClr val="000000"/>
              </a:solidFill>
              <a:round/>
              <a:headEnd/>
              <a:tailEnd type="triangle" w="med" len="med"/>
            </a:ln>
          </p:spPr>
        </p:cxnSp>
        <p:cxnSp>
          <p:nvCxnSpPr>
            <p:cNvPr id="17" name="AutoShape 26">
              <a:extLst>
                <a:ext uri="{FF2B5EF4-FFF2-40B4-BE49-F238E27FC236}">
                  <a16:creationId xmlns:a16="http://schemas.microsoft.com/office/drawing/2014/main" id="{20FD2960-3208-DDBA-2D87-089576C3E7AE}"/>
                </a:ext>
              </a:extLst>
            </p:cNvPr>
            <p:cNvCxnSpPr>
              <a:cxnSpLocks noChangeShapeType="1"/>
              <a:stCxn id="9" idx="3"/>
              <a:endCxn id="10" idx="1"/>
            </p:cNvCxnSpPr>
            <p:nvPr/>
          </p:nvCxnSpPr>
          <p:spPr bwMode="auto">
            <a:xfrm>
              <a:off x="1410" y="396"/>
              <a:ext cx="210" cy="0"/>
            </a:xfrm>
            <a:prstGeom prst="straightConnector1">
              <a:avLst/>
            </a:prstGeom>
            <a:noFill/>
            <a:ln w="9525">
              <a:solidFill>
                <a:srgbClr val="000000"/>
              </a:solidFill>
              <a:round/>
              <a:headEnd/>
              <a:tailEnd type="triangle" w="med" len="med"/>
            </a:ln>
          </p:spPr>
        </p:cxnSp>
        <p:cxnSp>
          <p:nvCxnSpPr>
            <p:cNvPr id="18" name="AutoShape 27">
              <a:extLst>
                <a:ext uri="{FF2B5EF4-FFF2-40B4-BE49-F238E27FC236}">
                  <a16:creationId xmlns:a16="http://schemas.microsoft.com/office/drawing/2014/main" id="{2F6F1170-F62B-9549-10D5-BB9A61A41063}"/>
                </a:ext>
              </a:extLst>
            </p:cNvPr>
            <p:cNvCxnSpPr>
              <a:cxnSpLocks noChangeShapeType="1"/>
              <a:stCxn id="10" idx="3"/>
              <a:endCxn id="11" idx="1"/>
            </p:cNvCxnSpPr>
            <p:nvPr/>
          </p:nvCxnSpPr>
          <p:spPr bwMode="auto">
            <a:xfrm>
              <a:off x="2076" y="396"/>
              <a:ext cx="210" cy="0"/>
            </a:xfrm>
            <a:prstGeom prst="straightConnector1">
              <a:avLst/>
            </a:prstGeom>
            <a:noFill/>
            <a:ln w="9525">
              <a:solidFill>
                <a:srgbClr val="000000"/>
              </a:solidFill>
              <a:round/>
              <a:headEnd/>
              <a:tailEnd type="triangle" w="med" len="med"/>
            </a:ln>
          </p:spPr>
        </p:cxnSp>
        <p:cxnSp>
          <p:nvCxnSpPr>
            <p:cNvPr id="19" name="AutoShape 28">
              <a:extLst>
                <a:ext uri="{FF2B5EF4-FFF2-40B4-BE49-F238E27FC236}">
                  <a16:creationId xmlns:a16="http://schemas.microsoft.com/office/drawing/2014/main" id="{0054C116-09E0-5FCE-E66C-378B6B6382CD}"/>
                </a:ext>
              </a:extLst>
            </p:cNvPr>
            <p:cNvCxnSpPr>
              <a:cxnSpLocks noChangeShapeType="1"/>
              <a:stCxn id="11" idx="3"/>
              <a:endCxn id="12" idx="1"/>
            </p:cNvCxnSpPr>
            <p:nvPr/>
          </p:nvCxnSpPr>
          <p:spPr bwMode="auto">
            <a:xfrm>
              <a:off x="2742" y="396"/>
              <a:ext cx="150" cy="396"/>
            </a:xfrm>
            <a:prstGeom prst="straightConnector1">
              <a:avLst/>
            </a:prstGeom>
            <a:noFill/>
            <a:ln w="9525">
              <a:solidFill>
                <a:srgbClr val="000000"/>
              </a:solidFill>
              <a:round/>
              <a:headEnd/>
              <a:tailEnd type="triangle" w="med" len="med"/>
            </a:ln>
          </p:spPr>
        </p:cxnSp>
      </p:grpSp>
    </p:spTree>
    <p:extLst>
      <p:ext uri="{BB962C8B-B14F-4D97-AF65-F5344CB8AC3E}">
        <p14:creationId xmlns:p14="http://schemas.microsoft.com/office/powerpoint/2010/main" val="2696768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82613" y="385434"/>
            <a:ext cx="7543800" cy="615360"/>
          </a:xfrm>
        </p:spPr>
        <p:txBody>
          <a:bodyPr>
            <a:normAutofit/>
          </a:bodyPr>
          <a:lstStyle/>
          <a:p>
            <a:pPr eaLnBrk="1" hangingPunct="1"/>
            <a:r>
              <a:rPr lang="en-US" sz="3600" b="1" dirty="0">
                <a:latin typeface="+mn-lt"/>
                <a:cs typeface="Arial" panose="020B0604020202020204" pitchFamily="34" charset="0"/>
              </a:rPr>
              <a:t>Resource Loading Charts</a:t>
            </a:r>
          </a:p>
        </p:txBody>
      </p:sp>
      <p:sp>
        <p:nvSpPr>
          <p:cNvPr id="14339" name="Rectangle 3"/>
          <p:cNvSpPr>
            <a:spLocks noGrp="1" noChangeArrowheads="1"/>
          </p:cNvSpPr>
          <p:nvPr>
            <p:ph idx="1"/>
          </p:nvPr>
        </p:nvSpPr>
        <p:spPr>
          <a:xfrm>
            <a:off x="438331" y="1020538"/>
            <a:ext cx="8424936" cy="604704"/>
          </a:xfrm>
        </p:spPr>
        <p:txBody>
          <a:bodyPr>
            <a:normAutofit fontScale="85000" lnSpcReduction="20000"/>
          </a:bodyPr>
          <a:lstStyle/>
          <a:p>
            <a:pPr marL="182563" indent="-182563" algn="ctr" eaLnBrk="1" hangingPunct="1">
              <a:buFontTx/>
              <a:buNone/>
            </a:pPr>
            <a:r>
              <a:rPr lang="en-US" sz="1800" dirty="0"/>
              <a:t>Resource loading charts used to display the amount of resources required as a function of time on a graph. </a:t>
            </a:r>
          </a:p>
          <a:p>
            <a:pPr marL="182563" indent="-182563" algn="ctr" eaLnBrk="1" hangingPunct="1">
              <a:buFontTx/>
              <a:buNone/>
            </a:pPr>
            <a:r>
              <a:rPr lang="en-US" sz="1800" dirty="0"/>
              <a:t>Each </a:t>
            </a:r>
            <a:r>
              <a:rPr lang="en-US" sz="1800" dirty="0">
                <a:solidFill>
                  <a:srgbClr val="00B050"/>
                </a:solidFill>
              </a:rPr>
              <a:t>activity</a:t>
            </a:r>
            <a:r>
              <a:rPr lang="en-US" sz="1800" dirty="0"/>
              <a:t> is typically represented in the charts as a block. </a:t>
            </a:r>
          </a:p>
        </p:txBody>
      </p:sp>
      <p:grpSp>
        <p:nvGrpSpPr>
          <p:cNvPr id="2" name="Group 4"/>
          <p:cNvGrpSpPr>
            <a:grpSpLocks noChangeAspect="1"/>
          </p:cNvGrpSpPr>
          <p:nvPr/>
        </p:nvGrpSpPr>
        <p:grpSpPr bwMode="auto">
          <a:xfrm>
            <a:off x="1012061" y="1125103"/>
            <a:ext cx="7277475" cy="4975960"/>
            <a:chOff x="241" y="127"/>
            <a:chExt cx="5464" cy="3736"/>
          </a:xfrm>
        </p:grpSpPr>
        <p:sp>
          <p:nvSpPr>
            <p:cNvPr id="3" name="AutoShape 3"/>
            <p:cNvSpPr>
              <a:spLocks noChangeAspect="1" noChangeArrowheads="1" noTextEdit="1"/>
            </p:cNvSpPr>
            <p:nvPr/>
          </p:nvSpPr>
          <p:spPr bwMode="auto">
            <a:xfrm>
              <a:off x="241" y="127"/>
              <a:ext cx="5464" cy="3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Rectangle 5"/>
            <p:cNvSpPr>
              <a:spLocks noChangeArrowheads="1"/>
            </p:cNvSpPr>
            <p:nvPr/>
          </p:nvSpPr>
          <p:spPr bwMode="auto">
            <a:xfrm>
              <a:off x="737" y="693"/>
              <a:ext cx="4470" cy="249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Line 6"/>
            <p:cNvSpPr>
              <a:spLocks noChangeShapeType="1"/>
            </p:cNvSpPr>
            <p:nvPr/>
          </p:nvSpPr>
          <p:spPr bwMode="auto">
            <a:xfrm>
              <a:off x="737" y="2936"/>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Line 7"/>
            <p:cNvSpPr>
              <a:spLocks noChangeShapeType="1"/>
            </p:cNvSpPr>
            <p:nvPr/>
          </p:nvSpPr>
          <p:spPr bwMode="auto">
            <a:xfrm>
              <a:off x="737" y="2687"/>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8"/>
            <p:cNvSpPr>
              <a:spLocks noChangeShapeType="1"/>
            </p:cNvSpPr>
            <p:nvPr/>
          </p:nvSpPr>
          <p:spPr bwMode="auto">
            <a:xfrm>
              <a:off x="737" y="2438"/>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Line 9"/>
            <p:cNvSpPr>
              <a:spLocks noChangeShapeType="1"/>
            </p:cNvSpPr>
            <p:nvPr/>
          </p:nvSpPr>
          <p:spPr bwMode="auto">
            <a:xfrm>
              <a:off x="737" y="2188"/>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Line 10"/>
            <p:cNvSpPr>
              <a:spLocks noChangeShapeType="1"/>
            </p:cNvSpPr>
            <p:nvPr/>
          </p:nvSpPr>
          <p:spPr bwMode="auto">
            <a:xfrm>
              <a:off x="737" y="1940"/>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Line 11"/>
            <p:cNvSpPr>
              <a:spLocks noChangeShapeType="1"/>
            </p:cNvSpPr>
            <p:nvPr/>
          </p:nvSpPr>
          <p:spPr bwMode="auto">
            <a:xfrm>
              <a:off x="737" y="1690"/>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Line 12"/>
            <p:cNvSpPr>
              <a:spLocks noChangeShapeType="1"/>
            </p:cNvSpPr>
            <p:nvPr/>
          </p:nvSpPr>
          <p:spPr bwMode="auto">
            <a:xfrm>
              <a:off x="737" y="1441"/>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Line 13"/>
            <p:cNvSpPr>
              <a:spLocks noChangeShapeType="1"/>
            </p:cNvSpPr>
            <p:nvPr/>
          </p:nvSpPr>
          <p:spPr bwMode="auto">
            <a:xfrm>
              <a:off x="737" y="1191"/>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Line 14"/>
            <p:cNvSpPr>
              <a:spLocks noChangeShapeType="1"/>
            </p:cNvSpPr>
            <p:nvPr/>
          </p:nvSpPr>
          <p:spPr bwMode="auto">
            <a:xfrm>
              <a:off x="737" y="942"/>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Line 15"/>
            <p:cNvSpPr>
              <a:spLocks noChangeShapeType="1"/>
            </p:cNvSpPr>
            <p:nvPr/>
          </p:nvSpPr>
          <p:spPr bwMode="auto">
            <a:xfrm>
              <a:off x="737" y="693"/>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Rectangle 16"/>
            <p:cNvSpPr>
              <a:spLocks noChangeArrowheads="1"/>
            </p:cNvSpPr>
            <p:nvPr/>
          </p:nvSpPr>
          <p:spPr bwMode="auto">
            <a:xfrm>
              <a:off x="737" y="693"/>
              <a:ext cx="4470" cy="2492"/>
            </a:xfrm>
            <a:prstGeom prst="rect">
              <a:avLst/>
            </a:prstGeom>
            <a:noFill/>
            <a:ln w="12700">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Rectangle 17"/>
            <p:cNvSpPr>
              <a:spLocks noChangeArrowheads="1"/>
            </p:cNvSpPr>
            <p:nvPr/>
          </p:nvSpPr>
          <p:spPr bwMode="auto">
            <a:xfrm>
              <a:off x="737" y="1690"/>
              <a:ext cx="320" cy="1495"/>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 name="Rectangle 18"/>
            <p:cNvSpPr>
              <a:spLocks noChangeArrowheads="1"/>
            </p:cNvSpPr>
            <p:nvPr/>
          </p:nvSpPr>
          <p:spPr bwMode="auto">
            <a:xfrm>
              <a:off x="1057" y="1690"/>
              <a:ext cx="319" cy="1495"/>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 name="Rectangle 19"/>
            <p:cNvSpPr>
              <a:spLocks noChangeArrowheads="1"/>
            </p:cNvSpPr>
            <p:nvPr/>
          </p:nvSpPr>
          <p:spPr bwMode="auto">
            <a:xfrm>
              <a:off x="1376" y="1690"/>
              <a:ext cx="319" cy="1495"/>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 name="Rectangle 20"/>
            <p:cNvSpPr>
              <a:spLocks noChangeArrowheads="1"/>
            </p:cNvSpPr>
            <p:nvPr/>
          </p:nvSpPr>
          <p:spPr bwMode="auto">
            <a:xfrm>
              <a:off x="1695" y="1690"/>
              <a:ext cx="320" cy="1495"/>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 name="Rectangle 21"/>
            <p:cNvSpPr>
              <a:spLocks noChangeArrowheads="1"/>
            </p:cNvSpPr>
            <p:nvPr/>
          </p:nvSpPr>
          <p:spPr bwMode="auto">
            <a:xfrm>
              <a:off x="2015" y="2687"/>
              <a:ext cx="318" cy="498"/>
            </a:xfrm>
            <a:prstGeom prst="rect">
              <a:avLst/>
            </a:prstGeom>
            <a:solidFill>
              <a:srgbClr val="FFFF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 name="Rectangle 22"/>
            <p:cNvSpPr>
              <a:spLocks noChangeArrowheads="1"/>
            </p:cNvSpPr>
            <p:nvPr/>
          </p:nvSpPr>
          <p:spPr bwMode="auto">
            <a:xfrm>
              <a:off x="2333" y="1441"/>
              <a:ext cx="320" cy="1744"/>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 name="Rectangle 23"/>
            <p:cNvSpPr>
              <a:spLocks noChangeArrowheads="1"/>
            </p:cNvSpPr>
            <p:nvPr/>
          </p:nvSpPr>
          <p:spPr bwMode="auto">
            <a:xfrm>
              <a:off x="2653" y="1441"/>
              <a:ext cx="320" cy="1744"/>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 name="Rectangle 24"/>
            <p:cNvSpPr>
              <a:spLocks noChangeArrowheads="1"/>
            </p:cNvSpPr>
            <p:nvPr/>
          </p:nvSpPr>
          <p:spPr bwMode="auto">
            <a:xfrm>
              <a:off x="2973" y="1441"/>
              <a:ext cx="318" cy="1744"/>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 name="Rectangle 25"/>
            <p:cNvSpPr>
              <a:spLocks noChangeArrowheads="1"/>
            </p:cNvSpPr>
            <p:nvPr/>
          </p:nvSpPr>
          <p:spPr bwMode="auto">
            <a:xfrm>
              <a:off x="3291" y="1441"/>
              <a:ext cx="320" cy="1744"/>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 name="Rectangle 26"/>
            <p:cNvSpPr>
              <a:spLocks noChangeArrowheads="1"/>
            </p:cNvSpPr>
            <p:nvPr/>
          </p:nvSpPr>
          <p:spPr bwMode="auto">
            <a:xfrm>
              <a:off x="2015" y="2188"/>
              <a:ext cx="318" cy="499"/>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 name="Rectangle 27"/>
            <p:cNvSpPr>
              <a:spLocks noChangeArrowheads="1"/>
            </p:cNvSpPr>
            <p:nvPr/>
          </p:nvSpPr>
          <p:spPr bwMode="auto">
            <a:xfrm>
              <a:off x="2333" y="942"/>
              <a:ext cx="320" cy="499"/>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 name="Rectangle 28"/>
            <p:cNvSpPr>
              <a:spLocks noChangeArrowheads="1"/>
            </p:cNvSpPr>
            <p:nvPr/>
          </p:nvSpPr>
          <p:spPr bwMode="auto">
            <a:xfrm>
              <a:off x="2653" y="942"/>
              <a:ext cx="320" cy="499"/>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 name="Rectangle 29"/>
            <p:cNvSpPr>
              <a:spLocks noChangeArrowheads="1"/>
            </p:cNvSpPr>
            <p:nvPr/>
          </p:nvSpPr>
          <p:spPr bwMode="auto">
            <a:xfrm>
              <a:off x="3611" y="2438"/>
              <a:ext cx="319" cy="747"/>
            </a:xfrm>
            <a:prstGeom prst="rect">
              <a:avLst/>
            </a:prstGeom>
            <a:solidFill>
              <a:srgbClr val="FF8080"/>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 name="Rectangle 30"/>
            <p:cNvSpPr>
              <a:spLocks noChangeArrowheads="1"/>
            </p:cNvSpPr>
            <p:nvPr/>
          </p:nvSpPr>
          <p:spPr bwMode="auto">
            <a:xfrm>
              <a:off x="3930" y="2438"/>
              <a:ext cx="319" cy="747"/>
            </a:xfrm>
            <a:prstGeom prst="rect">
              <a:avLst/>
            </a:prstGeom>
            <a:solidFill>
              <a:srgbClr val="FF8080"/>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 name="Rectangle 31"/>
            <p:cNvSpPr>
              <a:spLocks noChangeArrowheads="1"/>
            </p:cNvSpPr>
            <p:nvPr/>
          </p:nvSpPr>
          <p:spPr bwMode="auto">
            <a:xfrm>
              <a:off x="4249" y="1690"/>
              <a:ext cx="320" cy="1495"/>
            </a:xfrm>
            <a:prstGeom prst="rect">
              <a:avLst/>
            </a:prstGeom>
            <a:solidFill>
              <a:srgbClr val="0066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336" name="Line 32"/>
            <p:cNvSpPr>
              <a:spLocks noChangeShapeType="1"/>
            </p:cNvSpPr>
            <p:nvPr/>
          </p:nvSpPr>
          <p:spPr bwMode="auto">
            <a:xfrm>
              <a:off x="737" y="693"/>
              <a:ext cx="0" cy="249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37" name="Line 33"/>
            <p:cNvSpPr>
              <a:spLocks noChangeShapeType="1"/>
            </p:cNvSpPr>
            <p:nvPr/>
          </p:nvSpPr>
          <p:spPr bwMode="auto">
            <a:xfrm>
              <a:off x="696" y="3185"/>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0" name="Line 34"/>
            <p:cNvSpPr>
              <a:spLocks noChangeShapeType="1"/>
            </p:cNvSpPr>
            <p:nvPr/>
          </p:nvSpPr>
          <p:spPr bwMode="auto">
            <a:xfrm>
              <a:off x="696" y="2936"/>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1" name="Line 35"/>
            <p:cNvSpPr>
              <a:spLocks noChangeShapeType="1"/>
            </p:cNvSpPr>
            <p:nvPr/>
          </p:nvSpPr>
          <p:spPr bwMode="auto">
            <a:xfrm>
              <a:off x="696" y="2687"/>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2" name="Line 36"/>
            <p:cNvSpPr>
              <a:spLocks noChangeShapeType="1"/>
            </p:cNvSpPr>
            <p:nvPr/>
          </p:nvSpPr>
          <p:spPr bwMode="auto">
            <a:xfrm>
              <a:off x="696" y="2438"/>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3" name="Line 37"/>
            <p:cNvSpPr>
              <a:spLocks noChangeShapeType="1"/>
            </p:cNvSpPr>
            <p:nvPr/>
          </p:nvSpPr>
          <p:spPr bwMode="auto">
            <a:xfrm>
              <a:off x="696" y="2188"/>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4" name="Line 38"/>
            <p:cNvSpPr>
              <a:spLocks noChangeShapeType="1"/>
            </p:cNvSpPr>
            <p:nvPr/>
          </p:nvSpPr>
          <p:spPr bwMode="auto">
            <a:xfrm>
              <a:off x="696" y="1940"/>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5" name="Line 39"/>
            <p:cNvSpPr>
              <a:spLocks noChangeShapeType="1"/>
            </p:cNvSpPr>
            <p:nvPr/>
          </p:nvSpPr>
          <p:spPr bwMode="auto">
            <a:xfrm>
              <a:off x="696" y="1690"/>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6" name="Line 40"/>
            <p:cNvSpPr>
              <a:spLocks noChangeShapeType="1"/>
            </p:cNvSpPr>
            <p:nvPr/>
          </p:nvSpPr>
          <p:spPr bwMode="auto">
            <a:xfrm>
              <a:off x="696" y="1441"/>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7" name="Line 41"/>
            <p:cNvSpPr>
              <a:spLocks noChangeShapeType="1"/>
            </p:cNvSpPr>
            <p:nvPr/>
          </p:nvSpPr>
          <p:spPr bwMode="auto">
            <a:xfrm>
              <a:off x="696" y="1191"/>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8" name="Line 42"/>
            <p:cNvSpPr>
              <a:spLocks noChangeShapeType="1"/>
            </p:cNvSpPr>
            <p:nvPr/>
          </p:nvSpPr>
          <p:spPr bwMode="auto">
            <a:xfrm>
              <a:off x="696" y="942"/>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9" name="Line 43"/>
            <p:cNvSpPr>
              <a:spLocks noChangeShapeType="1"/>
            </p:cNvSpPr>
            <p:nvPr/>
          </p:nvSpPr>
          <p:spPr bwMode="auto">
            <a:xfrm>
              <a:off x="696" y="693"/>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0" name="Line 44"/>
            <p:cNvSpPr>
              <a:spLocks noChangeShapeType="1"/>
            </p:cNvSpPr>
            <p:nvPr/>
          </p:nvSpPr>
          <p:spPr bwMode="auto">
            <a:xfrm>
              <a:off x="737" y="3185"/>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1" name="Line 45"/>
            <p:cNvSpPr>
              <a:spLocks noChangeShapeType="1"/>
            </p:cNvSpPr>
            <p:nvPr/>
          </p:nvSpPr>
          <p:spPr bwMode="auto">
            <a:xfrm flipV="1">
              <a:off x="737"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2" name="Line 46"/>
            <p:cNvSpPr>
              <a:spLocks noChangeShapeType="1"/>
            </p:cNvSpPr>
            <p:nvPr/>
          </p:nvSpPr>
          <p:spPr bwMode="auto">
            <a:xfrm flipV="1">
              <a:off x="1057"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3" name="Line 47"/>
            <p:cNvSpPr>
              <a:spLocks noChangeShapeType="1"/>
            </p:cNvSpPr>
            <p:nvPr/>
          </p:nvSpPr>
          <p:spPr bwMode="auto">
            <a:xfrm flipV="1">
              <a:off x="1376"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4" name="Line 48"/>
            <p:cNvSpPr>
              <a:spLocks noChangeShapeType="1"/>
            </p:cNvSpPr>
            <p:nvPr/>
          </p:nvSpPr>
          <p:spPr bwMode="auto">
            <a:xfrm flipV="1">
              <a:off x="1695"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5" name="Line 49"/>
            <p:cNvSpPr>
              <a:spLocks noChangeShapeType="1"/>
            </p:cNvSpPr>
            <p:nvPr/>
          </p:nvSpPr>
          <p:spPr bwMode="auto">
            <a:xfrm flipV="1">
              <a:off x="2015"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6" name="Line 50"/>
            <p:cNvSpPr>
              <a:spLocks noChangeShapeType="1"/>
            </p:cNvSpPr>
            <p:nvPr/>
          </p:nvSpPr>
          <p:spPr bwMode="auto">
            <a:xfrm flipV="1">
              <a:off x="2333"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7" name="Line 51"/>
            <p:cNvSpPr>
              <a:spLocks noChangeShapeType="1"/>
            </p:cNvSpPr>
            <p:nvPr/>
          </p:nvSpPr>
          <p:spPr bwMode="auto">
            <a:xfrm flipV="1">
              <a:off x="2653"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8" name="Line 52"/>
            <p:cNvSpPr>
              <a:spLocks noChangeShapeType="1"/>
            </p:cNvSpPr>
            <p:nvPr/>
          </p:nvSpPr>
          <p:spPr bwMode="auto">
            <a:xfrm flipV="1">
              <a:off x="2973"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9" name="Line 53"/>
            <p:cNvSpPr>
              <a:spLocks noChangeShapeType="1"/>
            </p:cNvSpPr>
            <p:nvPr/>
          </p:nvSpPr>
          <p:spPr bwMode="auto">
            <a:xfrm flipV="1">
              <a:off x="3291"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60" name="Line 54"/>
            <p:cNvSpPr>
              <a:spLocks noChangeShapeType="1"/>
            </p:cNvSpPr>
            <p:nvPr/>
          </p:nvSpPr>
          <p:spPr bwMode="auto">
            <a:xfrm flipV="1">
              <a:off x="3611"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61" name="Line 55"/>
            <p:cNvSpPr>
              <a:spLocks noChangeShapeType="1"/>
            </p:cNvSpPr>
            <p:nvPr/>
          </p:nvSpPr>
          <p:spPr bwMode="auto">
            <a:xfrm flipV="1">
              <a:off x="3930"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62" name="Line 56"/>
            <p:cNvSpPr>
              <a:spLocks noChangeShapeType="1"/>
            </p:cNvSpPr>
            <p:nvPr/>
          </p:nvSpPr>
          <p:spPr bwMode="auto">
            <a:xfrm flipV="1">
              <a:off x="4249"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63" name="Line 57"/>
            <p:cNvSpPr>
              <a:spLocks noChangeShapeType="1"/>
            </p:cNvSpPr>
            <p:nvPr/>
          </p:nvSpPr>
          <p:spPr bwMode="auto">
            <a:xfrm flipV="1">
              <a:off x="4569"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64" name="Line 58"/>
            <p:cNvSpPr>
              <a:spLocks noChangeShapeType="1"/>
            </p:cNvSpPr>
            <p:nvPr/>
          </p:nvSpPr>
          <p:spPr bwMode="auto">
            <a:xfrm flipV="1">
              <a:off x="4887"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65" name="Line 59"/>
            <p:cNvSpPr>
              <a:spLocks noChangeShapeType="1"/>
            </p:cNvSpPr>
            <p:nvPr/>
          </p:nvSpPr>
          <p:spPr bwMode="auto">
            <a:xfrm flipV="1">
              <a:off x="5207" y="3185"/>
              <a:ext cx="0" cy="41"/>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66" name="Rectangle 60"/>
            <p:cNvSpPr>
              <a:spLocks noChangeArrowheads="1"/>
            </p:cNvSpPr>
            <p:nvPr/>
          </p:nvSpPr>
          <p:spPr bwMode="auto">
            <a:xfrm>
              <a:off x="1467" y="219"/>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367" name="Rectangle 61"/>
            <p:cNvSpPr>
              <a:spLocks noChangeArrowheads="1"/>
            </p:cNvSpPr>
            <p:nvPr/>
          </p:nvSpPr>
          <p:spPr bwMode="auto">
            <a:xfrm>
              <a:off x="562" y="3109"/>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68" name="Rectangle 62"/>
            <p:cNvSpPr>
              <a:spLocks noChangeArrowheads="1"/>
            </p:cNvSpPr>
            <p:nvPr/>
          </p:nvSpPr>
          <p:spPr bwMode="auto">
            <a:xfrm>
              <a:off x="562" y="2860"/>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69" name="Rectangle 63"/>
            <p:cNvSpPr>
              <a:spLocks noChangeArrowheads="1"/>
            </p:cNvSpPr>
            <p:nvPr/>
          </p:nvSpPr>
          <p:spPr bwMode="auto">
            <a:xfrm>
              <a:off x="562" y="2611"/>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0" name="Rectangle 64"/>
            <p:cNvSpPr>
              <a:spLocks noChangeArrowheads="1"/>
            </p:cNvSpPr>
            <p:nvPr/>
          </p:nvSpPr>
          <p:spPr bwMode="auto">
            <a:xfrm>
              <a:off x="562" y="2362"/>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1" name="Rectangle 65"/>
            <p:cNvSpPr>
              <a:spLocks noChangeArrowheads="1"/>
            </p:cNvSpPr>
            <p:nvPr/>
          </p:nvSpPr>
          <p:spPr bwMode="auto">
            <a:xfrm>
              <a:off x="562" y="2112"/>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2" name="Rectangle 66"/>
            <p:cNvSpPr>
              <a:spLocks noChangeArrowheads="1"/>
            </p:cNvSpPr>
            <p:nvPr/>
          </p:nvSpPr>
          <p:spPr bwMode="auto">
            <a:xfrm>
              <a:off x="562" y="1864"/>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3" name="Rectangle 67"/>
            <p:cNvSpPr>
              <a:spLocks noChangeArrowheads="1"/>
            </p:cNvSpPr>
            <p:nvPr/>
          </p:nvSpPr>
          <p:spPr bwMode="auto">
            <a:xfrm>
              <a:off x="562" y="1614"/>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4" name="Rectangle 68"/>
            <p:cNvSpPr>
              <a:spLocks noChangeArrowheads="1"/>
            </p:cNvSpPr>
            <p:nvPr/>
          </p:nvSpPr>
          <p:spPr bwMode="auto">
            <a:xfrm>
              <a:off x="562" y="1365"/>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5" name="Rectangle 69"/>
            <p:cNvSpPr>
              <a:spLocks noChangeArrowheads="1"/>
            </p:cNvSpPr>
            <p:nvPr/>
          </p:nvSpPr>
          <p:spPr bwMode="auto">
            <a:xfrm>
              <a:off x="562" y="1115"/>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6" name="Rectangle 70"/>
            <p:cNvSpPr>
              <a:spLocks noChangeArrowheads="1"/>
            </p:cNvSpPr>
            <p:nvPr/>
          </p:nvSpPr>
          <p:spPr bwMode="auto">
            <a:xfrm>
              <a:off x="562" y="867"/>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7" name="Rectangle 71"/>
            <p:cNvSpPr>
              <a:spLocks noChangeArrowheads="1"/>
            </p:cNvSpPr>
            <p:nvPr/>
          </p:nvSpPr>
          <p:spPr bwMode="auto">
            <a:xfrm>
              <a:off x="488" y="617"/>
              <a:ext cx="21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8" name="Rectangle 72"/>
            <p:cNvSpPr>
              <a:spLocks noChangeArrowheads="1"/>
            </p:cNvSpPr>
            <p:nvPr/>
          </p:nvSpPr>
          <p:spPr bwMode="auto">
            <a:xfrm>
              <a:off x="860" y="3302"/>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9" name="Rectangle 73"/>
            <p:cNvSpPr>
              <a:spLocks noChangeArrowheads="1"/>
            </p:cNvSpPr>
            <p:nvPr/>
          </p:nvSpPr>
          <p:spPr bwMode="auto">
            <a:xfrm>
              <a:off x="1180" y="3302"/>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00"/>
                  </a:solidFill>
                  <a:effectLst/>
                  <a:latin typeface="Arial" panose="020B0604020202020204" pitchFamily="34" charset="0"/>
                </a:rPr>
                <a:t>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380" name="Rectangle 74"/>
            <p:cNvSpPr>
              <a:spLocks noChangeArrowheads="1"/>
            </p:cNvSpPr>
            <p:nvPr/>
          </p:nvSpPr>
          <p:spPr bwMode="auto">
            <a:xfrm>
              <a:off x="1499" y="3302"/>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00"/>
                  </a:solidFill>
                  <a:effectLst/>
                  <a:latin typeface="Arial" panose="020B0604020202020204" pitchFamily="34" charset="0"/>
                </a:rPr>
                <a:t>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381" name="Rectangle 75"/>
            <p:cNvSpPr>
              <a:spLocks noChangeArrowheads="1"/>
            </p:cNvSpPr>
            <p:nvPr/>
          </p:nvSpPr>
          <p:spPr bwMode="auto">
            <a:xfrm>
              <a:off x="1818" y="3302"/>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2" name="Rectangle 76"/>
            <p:cNvSpPr>
              <a:spLocks noChangeArrowheads="1"/>
            </p:cNvSpPr>
            <p:nvPr/>
          </p:nvSpPr>
          <p:spPr bwMode="auto">
            <a:xfrm>
              <a:off x="2138" y="3302"/>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3" name="Rectangle 77"/>
            <p:cNvSpPr>
              <a:spLocks noChangeArrowheads="1"/>
            </p:cNvSpPr>
            <p:nvPr/>
          </p:nvSpPr>
          <p:spPr bwMode="auto">
            <a:xfrm>
              <a:off x="2457" y="3302"/>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4" name="Rectangle 78"/>
            <p:cNvSpPr>
              <a:spLocks noChangeArrowheads="1"/>
            </p:cNvSpPr>
            <p:nvPr/>
          </p:nvSpPr>
          <p:spPr bwMode="auto">
            <a:xfrm>
              <a:off x="2776" y="3302"/>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5" name="Rectangle 79"/>
            <p:cNvSpPr>
              <a:spLocks noChangeArrowheads="1"/>
            </p:cNvSpPr>
            <p:nvPr/>
          </p:nvSpPr>
          <p:spPr bwMode="auto">
            <a:xfrm>
              <a:off x="3095" y="3302"/>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6" name="Rectangle 80"/>
            <p:cNvSpPr>
              <a:spLocks noChangeArrowheads="1"/>
            </p:cNvSpPr>
            <p:nvPr/>
          </p:nvSpPr>
          <p:spPr bwMode="auto">
            <a:xfrm>
              <a:off x="3414" y="3302"/>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7" name="Rectangle 81"/>
            <p:cNvSpPr>
              <a:spLocks noChangeArrowheads="1"/>
            </p:cNvSpPr>
            <p:nvPr/>
          </p:nvSpPr>
          <p:spPr bwMode="auto">
            <a:xfrm>
              <a:off x="3696" y="3302"/>
              <a:ext cx="21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8" name="Rectangle 82"/>
            <p:cNvSpPr>
              <a:spLocks noChangeArrowheads="1"/>
            </p:cNvSpPr>
            <p:nvPr/>
          </p:nvSpPr>
          <p:spPr bwMode="auto">
            <a:xfrm>
              <a:off x="4016" y="3302"/>
              <a:ext cx="21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9" name="Rectangle 83"/>
            <p:cNvSpPr>
              <a:spLocks noChangeArrowheads="1"/>
            </p:cNvSpPr>
            <p:nvPr/>
          </p:nvSpPr>
          <p:spPr bwMode="auto">
            <a:xfrm>
              <a:off x="4335" y="3302"/>
              <a:ext cx="21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90" name="Rectangle 84"/>
            <p:cNvSpPr>
              <a:spLocks noChangeArrowheads="1"/>
            </p:cNvSpPr>
            <p:nvPr/>
          </p:nvSpPr>
          <p:spPr bwMode="auto">
            <a:xfrm>
              <a:off x="4654" y="3302"/>
              <a:ext cx="21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91" name="Rectangle 85"/>
            <p:cNvSpPr>
              <a:spLocks noChangeArrowheads="1"/>
            </p:cNvSpPr>
            <p:nvPr/>
          </p:nvSpPr>
          <p:spPr bwMode="auto">
            <a:xfrm>
              <a:off x="4974" y="3302"/>
              <a:ext cx="21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92" name="Rectangle 86"/>
            <p:cNvSpPr>
              <a:spLocks noChangeArrowheads="1"/>
            </p:cNvSpPr>
            <p:nvPr/>
          </p:nvSpPr>
          <p:spPr bwMode="auto">
            <a:xfrm>
              <a:off x="2570" y="3523"/>
              <a:ext cx="889"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mn-lt"/>
                </a:rPr>
                <a:t>Project Days</a:t>
              </a:r>
              <a:endParaRPr kumimoji="0" lang="en-US" altLang="en-US" b="0" i="0" u="none" strike="noStrike" cap="none" normalizeH="0" baseline="0" dirty="0">
                <a:ln>
                  <a:noFill/>
                </a:ln>
                <a:solidFill>
                  <a:schemeClr val="tx1"/>
                </a:solidFill>
                <a:effectLst/>
                <a:latin typeface="+mn-lt"/>
              </a:endParaRPr>
            </a:p>
          </p:txBody>
        </p:sp>
        <p:sp>
          <p:nvSpPr>
            <p:cNvPr id="14393" name="Rectangle 87"/>
            <p:cNvSpPr>
              <a:spLocks noChangeArrowheads="1"/>
            </p:cNvSpPr>
            <p:nvPr/>
          </p:nvSpPr>
          <p:spPr bwMode="auto">
            <a:xfrm rot="16200000">
              <a:off x="7" y="1792"/>
              <a:ext cx="722"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mn-lt"/>
                </a:rPr>
                <a:t>Resources</a:t>
              </a:r>
              <a:endParaRPr kumimoji="0" lang="en-US" altLang="en-US" b="0" i="0" u="none" strike="noStrike" cap="none" normalizeH="0" baseline="0" dirty="0">
                <a:ln>
                  <a:noFill/>
                </a:ln>
                <a:solidFill>
                  <a:schemeClr val="tx1"/>
                </a:solidFill>
                <a:effectLst/>
                <a:latin typeface="+mn-lt"/>
              </a:endParaRPr>
            </a:p>
          </p:txBody>
        </p:sp>
        <p:sp>
          <p:nvSpPr>
            <p:cNvPr id="14394" name="Rectangle 88"/>
            <p:cNvSpPr>
              <a:spLocks noChangeArrowheads="1"/>
            </p:cNvSpPr>
            <p:nvPr/>
          </p:nvSpPr>
          <p:spPr bwMode="auto">
            <a:xfrm>
              <a:off x="5271" y="1392"/>
              <a:ext cx="284" cy="1095"/>
            </a:xfrm>
            <a:prstGeom prst="rect">
              <a:avLst/>
            </a:prstGeom>
            <a:solidFill>
              <a:srgbClr val="FFFFFF"/>
            </a:solidFill>
            <a:ln w="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395" name="Rectangle 89"/>
            <p:cNvSpPr>
              <a:spLocks noChangeArrowheads="1"/>
            </p:cNvSpPr>
            <p:nvPr/>
          </p:nvSpPr>
          <p:spPr bwMode="auto">
            <a:xfrm>
              <a:off x="5311" y="1448"/>
              <a:ext cx="82" cy="83"/>
            </a:xfrm>
            <a:prstGeom prst="rect">
              <a:avLst/>
            </a:prstGeom>
            <a:solidFill>
              <a:srgbClr val="0066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396" name="Rectangle 90"/>
            <p:cNvSpPr>
              <a:spLocks noChangeArrowheads="1"/>
            </p:cNvSpPr>
            <p:nvPr/>
          </p:nvSpPr>
          <p:spPr bwMode="auto">
            <a:xfrm>
              <a:off x="5424" y="1415"/>
              <a:ext cx="14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97" name="Rectangle 91"/>
            <p:cNvSpPr>
              <a:spLocks noChangeArrowheads="1"/>
            </p:cNvSpPr>
            <p:nvPr/>
          </p:nvSpPr>
          <p:spPr bwMode="auto">
            <a:xfrm>
              <a:off x="5311" y="1631"/>
              <a:ext cx="82" cy="82"/>
            </a:xfrm>
            <a:prstGeom prst="rect">
              <a:avLst/>
            </a:prstGeom>
            <a:solidFill>
              <a:srgbClr val="FF8080"/>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398" name="Rectangle 92"/>
            <p:cNvSpPr>
              <a:spLocks noChangeArrowheads="1"/>
            </p:cNvSpPr>
            <p:nvPr/>
          </p:nvSpPr>
          <p:spPr bwMode="auto">
            <a:xfrm>
              <a:off x="5424" y="1597"/>
              <a:ext cx="15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99" name="Rectangle 93"/>
            <p:cNvSpPr>
              <a:spLocks noChangeArrowheads="1"/>
            </p:cNvSpPr>
            <p:nvPr/>
          </p:nvSpPr>
          <p:spPr bwMode="auto">
            <a:xfrm>
              <a:off x="5311" y="1813"/>
              <a:ext cx="82" cy="82"/>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400" name="Rectangle 94"/>
            <p:cNvSpPr>
              <a:spLocks noChangeArrowheads="1"/>
            </p:cNvSpPr>
            <p:nvPr/>
          </p:nvSpPr>
          <p:spPr bwMode="auto">
            <a:xfrm>
              <a:off x="5424" y="1779"/>
              <a:ext cx="159"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401" name="Rectangle 95"/>
            <p:cNvSpPr>
              <a:spLocks noChangeArrowheads="1"/>
            </p:cNvSpPr>
            <p:nvPr/>
          </p:nvSpPr>
          <p:spPr bwMode="auto">
            <a:xfrm>
              <a:off x="5311" y="1995"/>
              <a:ext cx="82" cy="83"/>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402" name="Rectangle 96"/>
            <p:cNvSpPr>
              <a:spLocks noChangeArrowheads="1"/>
            </p:cNvSpPr>
            <p:nvPr/>
          </p:nvSpPr>
          <p:spPr bwMode="auto">
            <a:xfrm>
              <a:off x="5424" y="1962"/>
              <a:ext cx="159"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403" name="Rectangle 97"/>
            <p:cNvSpPr>
              <a:spLocks noChangeArrowheads="1"/>
            </p:cNvSpPr>
            <p:nvPr/>
          </p:nvSpPr>
          <p:spPr bwMode="auto">
            <a:xfrm>
              <a:off x="5311" y="2178"/>
              <a:ext cx="82" cy="82"/>
            </a:xfrm>
            <a:prstGeom prst="rect">
              <a:avLst/>
            </a:prstGeom>
            <a:solidFill>
              <a:srgbClr val="FFFF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404" name="Rectangle 98"/>
            <p:cNvSpPr>
              <a:spLocks noChangeArrowheads="1"/>
            </p:cNvSpPr>
            <p:nvPr/>
          </p:nvSpPr>
          <p:spPr bwMode="auto">
            <a:xfrm>
              <a:off x="5424" y="2144"/>
              <a:ext cx="15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405" name="Rectangle 99"/>
            <p:cNvSpPr>
              <a:spLocks noChangeArrowheads="1"/>
            </p:cNvSpPr>
            <p:nvPr/>
          </p:nvSpPr>
          <p:spPr bwMode="auto">
            <a:xfrm>
              <a:off x="5311" y="2360"/>
              <a:ext cx="82" cy="82"/>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406" name="Rectangle 100"/>
            <p:cNvSpPr>
              <a:spLocks noChangeArrowheads="1"/>
            </p:cNvSpPr>
            <p:nvPr/>
          </p:nvSpPr>
          <p:spPr bwMode="auto">
            <a:xfrm>
              <a:off x="5424" y="2326"/>
              <a:ext cx="15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407" name="Line 101"/>
            <p:cNvSpPr>
              <a:spLocks noChangeShapeType="1"/>
            </p:cNvSpPr>
            <p:nvPr/>
          </p:nvSpPr>
          <p:spPr bwMode="auto">
            <a:xfrm>
              <a:off x="2235" y="1199"/>
              <a:ext cx="889" cy="0"/>
            </a:xfrm>
            <a:prstGeom prst="line">
              <a:avLst/>
            </a:prstGeom>
            <a:noFill/>
            <a:ln w="38100">
              <a:solidFill>
                <a:srgbClr val="FF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4" name="Oval 9"/>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4" name="Slide Number Placeholder 3"/>
          <p:cNvSpPr>
            <a:spLocks noGrp="1"/>
          </p:cNvSpPr>
          <p:nvPr>
            <p:ph type="sldNum" sz="quarter" idx="12"/>
          </p:nvPr>
        </p:nvSpPr>
        <p:spPr/>
        <p:txBody>
          <a:bodyPr/>
          <a:lstStyle/>
          <a:p>
            <a:pPr>
              <a:defRPr/>
            </a:pPr>
            <a:fld id="{1152812F-33DB-44F2-8D7A-55F34972C181}" type="slidenum">
              <a:rPr lang="en-US" smtClean="0"/>
              <a:pPr>
                <a:defRPr/>
              </a:pPr>
              <a:t>15</a:t>
            </a:fld>
            <a:endParaRPr lang="en-US"/>
          </a:p>
        </p:txBody>
      </p:sp>
      <p:sp>
        <p:nvSpPr>
          <p:cNvPr id="14409" name="Date Placeholder 14408">
            <a:extLst>
              <a:ext uri="{FF2B5EF4-FFF2-40B4-BE49-F238E27FC236}">
                <a16:creationId xmlns:a16="http://schemas.microsoft.com/office/drawing/2014/main" id="{210D89CC-F5E3-49BB-B94D-B8481CE68B67}"/>
              </a:ext>
            </a:extLst>
          </p:cNvPr>
          <p:cNvSpPr>
            <a:spLocks noGrp="1"/>
          </p:cNvSpPr>
          <p:nvPr>
            <p:ph type="dt" sz="half" idx="10"/>
          </p:nvPr>
        </p:nvSpPr>
        <p:spPr/>
        <p:txBody>
          <a:bodyPr/>
          <a:lstStyle/>
          <a:p>
            <a:pPr>
              <a:defRPr/>
            </a:pPr>
            <a:r>
              <a:rPr lang="en-US"/>
              <a:t>Lecture 10</a:t>
            </a:r>
            <a:endParaRPr lang="en-US" dirty="0"/>
          </a:p>
        </p:txBody>
      </p:sp>
      <p:sp>
        <p:nvSpPr>
          <p:cNvPr id="14410" name="Footer Placeholder 14409">
            <a:extLst>
              <a:ext uri="{FF2B5EF4-FFF2-40B4-BE49-F238E27FC236}">
                <a16:creationId xmlns:a16="http://schemas.microsoft.com/office/drawing/2014/main" id="{9C8A9867-C3CD-44A5-89C3-1F193702C3BE}"/>
              </a:ext>
            </a:extLst>
          </p:cNvPr>
          <p:cNvSpPr>
            <a:spLocks noGrp="1"/>
          </p:cNvSpPr>
          <p:nvPr>
            <p:ph type="ftr" sz="quarter" idx="11"/>
          </p:nvPr>
        </p:nvSpPr>
        <p:spPr/>
        <p:txBody>
          <a:bodyPr/>
          <a:lstStyle/>
          <a:p>
            <a:pPr>
              <a:defRPr/>
            </a:pPr>
            <a:r>
              <a:rPr lang="en-US"/>
              <a:t>G.R. Labbé</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14"/>
          <p:cNvPicPr>
            <a:picLocks noChangeAspect="1" noChangeArrowheads="1"/>
          </p:cNvPicPr>
          <p:nvPr/>
        </p:nvPicPr>
        <p:blipFill rotWithShape="1">
          <a:blip r:embed="rId2" cstate="print"/>
          <a:srcRect b="14461"/>
          <a:stretch/>
        </p:blipFill>
        <p:spPr bwMode="auto">
          <a:xfrm>
            <a:off x="306958" y="137062"/>
            <a:ext cx="8674100" cy="5073178"/>
          </a:xfrm>
          <a:prstGeom prst="rect">
            <a:avLst/>
          </a:prstGeom>
          <a:noFill/>
          <a:ln w="9525">
            <a:noFill/>
            <a:miter lim="800000"/>
            <a:headEnd/>
            <a:tailEnd/>
          </a:ln>
        </p:spPr>
      </p:pic>
      <p:sp>
        <p:nvSpPr>
          <p:cNvPr id="13321" name="Oval 9"/>
          <p:cNvSpPr>
            <a:spLocks noChangeArrowheads="1"/>
          </p:cNvSpPr>
          <p:nvPr/>
        </p:nvSpPr>
        <p:spPr bwMode="auto">
          <a:xfrm>
            <a:off x="7308304" y="5112762"/>
            <a:ext cx="639706" cy="508495"/>
          </a:xfrm>
          <a:prstGeom prst="ellipse">
            <a:avLst/>
          </a:prstGeom>
          <a:noFill/>
          <a:ln w="38100">
            <a:solidFill>
              <a:srgbClr val="FF0000"/>
            </a:solidFill>
            <a:round/>
            <a:headEnd/>
            <a:tailEnd/>
          </a:ln>
        </p:spPr>
        <p:txBody>
          <a:bodyPr wrap="none" anchor="ctr"/>
          <a:lstStyle/>
          <a:p>
            <a:endParaRPr lang="en-US"/>
          </a:p>
        </p:txBody>
      </p:sp>
      <p:sp>
        <p:nvSpPr>
          <p:cNvPr id="13322" name="Text Box 10"/>
          <p:cNvSpPr txBox="1">
            <a:spLocks noChangeArrowheads="1"/>
          </p:cNvSpPr>
          <p:nvPr/>
        </p:nvSpPr>
        <p:spPr bwMode="auto">
          <a:xfrm>
            <a:off x="1515428" y="5754954"/>
            <a:ext cx="6257162" cy="369332"/>
          </a:xfrm>
          <a:prstGeom prst="rect">
            <a:avLst/>
          </a:prstGeom>
          <a:noFill/>
          <a:ln w="9525">
            <a:noFill/>
            <a:miter lim="800000"/>
            <a:headEnd/>
            <a:tailEnd/>
          </a:ln>
        </p:spPr>
        <p:txBody>
          <a:bodyPr wrap="none">
            <a:spAutoFit/>
          </a:bodyPr>
          <a:lstStyle/>
          <a:p>
            <a:pPr algn="ctr"/>
            <a:r>
              <a:rPr lang="en-US" dirty="0">
                <a:latin typeface="+mn-lt"/>
              </a:rPr>
              <a:t>How can we let the project finish on the original end day (12)?</a:t>
            </a:r>
          </a:p>
        </p:txBody>
      </p:sp>
      <p:sp>
        <p:nvSpPr>
          <p:cNvPr id="17413" name="Oval 15"/>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Rectangle 1"/>
          <p:cNvSpPr/>
          <p:nvPr/>
        </p:nvSpPr>
        <p:spPr>
          <a:xfrm>
            <a:off x="4331262" y="5390264"/>
            <a:ext cx="625492" cy="369332"/>
          </a:xfrm>
          <a:prstGeom prst="rect">
            <a:avLst/>
          </a:prstGeom>
        </p:spPr>
        <p:txBody>
          <a:bodyPr wrap="none">
            <a:spAutoFit/>
          </a:bodyPr>
          <a:lstStyle/>
          <a:p>
            <a:pPr algn="ctr"/>
            <a:r>
              <a:rPr lang="en-US" dirty="0">
                <a:latin typeface="+mn-lt"/>
              </a:rPr>
              <a:t>Days</a:t>
            </a:r>
          </a:p>
        </p:txBody>
      </p:sp>
      <p:sp>
        <p:nvSpPr>
          <p:cNvPr id="3" name="Rectangle 2"/>
          <p:cNvSpPr/>
          <p:nvPr/>
        </p:nvSpPr>
        <p:spPr>
          <a:xfrm>
            <a:off x="1187624" y="5154446"/>
            <a:ext cx="6912768" cy="369332"/>
          </a:xfrm>
          <a:prstGeom prst="rect">
            <a:avLst/>
          </a:prstGeom>
        </p:spPr>
        <p:txBody>
          <a:bodyPr wrap="square">
            <a:spAutoFit/>
          </a:bodyPr>
          <a:lstStyle/>
          <a:p>
            <a:r>
              <a:rPr lang="en-US" dirty="0"/>
              <a:t> 1      2      3      4      5     6    7      8      9     10   11   12    13</a:t>
            </a:r>
          </a:p>
        </p:txBody>
      </p:sp>
      <p:sp>
        <p:nvSpPr>
          <p:cNvPr id="4" name="Slide Number Placeholder 3"/>
          <p:cNvSpPr>
            <a:spLocks noGrp="1"/>
          </p:cNvSpPr>
          <p:nvPr>
            <p:ph type="sldNum" sz="quarter" idx="12"/>
          </p:nvPr>
        </p:nvSpPr>
        <p:spPr/>
        <p:txBody>
          <a:bodyPr/>
          <a:lstStyle/>
          <a:p>
            <a:pPr>
              <a:defRPr/>
            </a:pPr>
            <a:fld id="{1152812F-33DB-44F2-8D7A-55F34972C181}" type="slidenum">
              <a:rPr lang="en-US" smtClean="0"/>
              <a:pPr>
                <a:defRPr/>
              </a:pPr>
              <a:t>16</a:t>
            </a:fld>
            <a:endParaRPr lang="en-US"/>
          </a:p>
        </p:txBody>
      </p:sp>
      <p:sp>
        <p:nvSpPr>
          <p:cNvPr id="6" name="Date Placeholder 5">
            <a:extLst>
              <a:ext uri="{FF2B5EF4-FFF2-40B4-BE49-F238E27FC236}">
                <a16:creationId xmlns:a16="http://schemas.microsoft.com/office/drawing/2014/main" id="{FEA79898-E4AB-4A6D-A10C-96E596003815}"/>
              </a:ext>
            </a:extLst>
          </p:cNvPr>
          <p:cNvSpPr>
            <a:spLocks noGrp="1"/>
          </p:cNvSpPr>
          <p:nvPr>
            <p:ph type="dt" sz="half" idx="10"/>
          </p:nvPr>
        </p:nvSpPr>
        <p:spPr/>
        <p:txBody>
          <a:bodyPr/>
          <a:lstStyle/>
          <a:p>
            <a:pPr>
              <a:defRPr/>
            </a:pPr>
            <a:r>
              <a:rPr lang="en-US"/>
              <a:t>Lecture 10</a:t>
            </a:r>
          </a:p>
        </p:txBody>
      </p:sp>
      <p:sp>
        <p:nvSpPr>
          <p:cNvPr id="7" name="Footer Placeholder 6">
            <a:extLst>
              <a:ext uri="{FF2B5EF4-FFF2-40B4-BE49-F238E27FC236}">
                <a16:creationId xmlns:a16="http://schemas.microsoft.com/office/drawing/2014/main" id="{8BF8E1B4-ED57-455D-9F27-A8692B33C256}"/>
              </a:ext>
            </a:extLst>
          </p:cNvPr>
          <p:cNvSpPr>
            <a:spLocks noGrp="1"/>
          </p:cNvSpPr>
          <p:nvPr>
            <p:ph type="ftr" sz="quarter" idx="11"/>
          </p:nvPr>
        </p:nvSpPr>
        <p:spPr/>
        <p:txBody>
          <a:bodyPr/>
          <a:lstStyle/>
          <a:p>
            <a:pPr>
              <a:defRPr/>
            </a:pPr>
            <a:r>
              <a:rPr lang="en-US"/>
              <a:t>G.R. Labbé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3321"/>
                                        </p:tgtEl>
                                        <p:attrNameLst>
                                          <p:attrName>style.visibility</p:attrName>
                                        </p:attrNameLst>
                                      </p:cBhvr>
                                      <p:to>
                                        <p:strVal val="visible"/>
                                      </p:to>
                                    </p:set>
                                    <p:anim calcmode="lin" valueType="num">
                                      <p:cBhvr>
                                        <p:cTn id="7" dur="1000" fill="hold"/>
                                        <p:tgtEl>
                                          <p:spTgt spid="13321"/>
                                        </p:tgtEl>
                                        <p:attrNameLst>
                                          <p:attrName>ppt_w</p:attrName>
                                        </p:attrNameLst>
                                      </p:cBhvr>
                                      <p:tavLst>
                                        <p:tav tm="0">
                                          <p:val>
                                            <p:strVal val="#ppt_w*0.70"/>
                                          </p:val>
                                        </p:tav>
                                        <p:tav tm="100000">
                                          <p:val>
                                            <p:strVal val="#ppt_w"/>
                                          </p:val>
                                        </p:tav>
                                      </p:tavLst>
                                    </p:anim>
                                    <p:anim calcmode="lin" valueType="num">
                                      <p:cBhvr>
                                        <p:cTn id="8" dur="1000" fill="hold"/>
                                        <p:tgtEl>
                                          <p:spTgt spid="13321"/>
                                        </p:tgtEl>
                                        <p:attrNameLst>
                                          <p:attrName>ppt_h</p:attrName>
                                        </p:attrNameLst>
                                      </p:cBhvr>
                                      <p:tavLst>
                                        <p:tav tm="0">
                                          <p:val>
                                            <p:strVal val="#ppt_h"/>
                                          </p:val>
                                        </p:tav>
                                        <p:tav tm="100000">
                                          <p:val>
                                            <p:strVal val="#ppt_h"/>
                                          </p:val>
                                        </p:tav>
                                      </p:tavLst>
                                    </p:anim>
                                    <p:animEffect transition="in" filter="fade">
                                      <p:cBhvr>
                                        <p:cTn id="9" dur="1000"/>
                                        <p:tgtEl>
                                          <p:spTgt spid="13321"/>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3322"/>
                                        </p:tgtEl>
                                        <p:attrNameLst>
                                          <p:attrName>style.visibility</p:attrName>
                                        </p:attrNameLst>
                                      </p:cBhvr>
                                      <p:to>
                                        <p:strVal val="visible"/>
                                      </p:to>
                                    </p:set>
                                    <p:anim calcmode="lin" valueType="num">
                                      <p:cBhvr additive="base">
                                        <p:cTn id="14" dur="500" fill="hold"/>
                                        <p:tgtEl>
                                          <p:spTgt spid="13322"/>
                                        </p:tgtEl>
                                        <p:attrNameLst>
                                          <p:attrName>ppt_x</p:attrName>
                                        </p:attrNameLst>
                                      </p:cBhvr>
                                      <p:tavLst>
                                        <p:tav tm="0">
                                          <p:val>
                                            <p:strVal val="#ppt_x"/>
                                          </p:val>
                                        </p:tav>
                                        <p:tav tm="100000">
                                          <p:val>
                                            <p:strVal val="#ppt_x"/>
                                          </p:val>
                                        </p:tav>
                                      </p:tavLst>
                                    </p:anim>
                                    <p:anim calcmode="lin" valueType="num">
                                      <p:cBhvr additive="base">
                                        <p:cTn id="15" dur="500" fill="hold"/>
                                        <p:tgtEl>
                                          <p:spTgt spid="133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1" grpId="0" animBg="1"/>
      <p:bldP spid="133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12"/>
          <p:cNvSpPr txBox="1">
            <a:spLocks noChangeArrowheads="1"/>
          </p:cNvSpPr>
          <p:nvPr/>
        </p:nvSpPr>
        <p:spPr bwMode="auto">
          <a:xfrm>
            <a:off x="1523889" y="5538345"/>
            <a:ext cx="6096221" cy="369332"/>
          </a:xfrm>
          <a:prstGeom prst="rect">
            <a:avLst/>
          </a:prstGeom>
          <a:noFill/>
          <a:ln w="9525">
            <a:noFill/>
            <a:miter lim="800000"/>
            <a:headEnd/>
            <a:tailEnd/>
          </a:ln>
        </p:spPr>
        <p:txBody>
          <a:bodyPr wrap="none">
            <a:spAutoFit/>
          </a:bodyPr>
          <a:lstStyle/>
          <a:p>
            <a:r>
              <a:rPr lang="en-US" dirty="0">
                <a:latin typeface="+mn-lt"/>
              </a:rPr>
              <a:t>C is the only task available for leveling =&gt; find new home for it. </a:t>
            </a:r>
          </a:p>
        </p:txBody>
      </p:sp>
      <p:sp>
        <p:nvSpPr>
          <p:cNvPr id="16388" name="Oval 13"/>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4" name="Slide Number Placeholder 3"/>
          <p:cNvSpPr>
            <a:spLocks noGrp="1"/>
          </p:cNvSpPr>
          <p:nvPr>
            <p:ph type="sldNum" sz="quarter" idx="12"/>
          </p:nvPr>
        </p:nvSpPr>
        <p:spPr/>
        <p:txBody>
          <a:bodyPr/>
          <a:lstStyle/>
          <a:p>
            <a:pPr>
              <a:defRPr/>
            </a:pPr>
            <a:fld id="{1152812F-33DB-44F2-8D7A-55F34972C181}" type="slidenum">
              <a:rPr lang="en-US" smtClean="0"/>
              <a:pPr>
                <a:defRPr/>
              </a:pPr>
              <a:t>17</a:t>
            </a:fld>
            <a:endParaRPr lang="en-US"/>
          </a:p>
        </p:txBody>
      </p:sp>
      <p:sp>
        <p:nvSpPr>
          <p:cNvPr id="6" name="Date Placeholder 5">
            <a:extLst>
              <a:ext uri="{FF2B5EF4-FFF2-40B4-BE49-F238E27FC236}">
                <a16:creationId xmlns:a16="http://schemas.microsoft.com/office/drawing/2014/main" id="{B605FC4D-5AA7-4223-82D7-1DD0E1031A0A}"/>
              </a:ext>
            </a:extLst>
          </p:cNvPr>
          <p:cNvSpPr>
            <a:spLocks noGrp="1"/>
          </p:cNvSpPr>
          <p:nvPr>
            <p:ph type="dt" sz="half" idx="10"/>
          </p:nvPr>
        </p:nvSpPr>
        <p:spPr/>
        <p:txBody>
          <a:bodyPr/>
          <a:lstStyle/>
          <a:p>
            <a:pPr>
              <a:defRPr/>
            </a:pPr>
            <a:r>
              <a:rPr lang="en-US"/>
              <a:t>Lecture 10</a:t>
            </a:r>
          </a:p>
        </p:txBody>
      </p:sp>
      <p:sp>
        <p:nvSpPr>
          <p:cNvPr id="7" name="Footer Placeholder 6">
            <a:extLst>
              <a:ext uri="{FF2B5EF4-FFF2-40B4-BE49-F238E27FC236}">
                <a16:creationId xmlns:a16="http://schemas.microsoft.com/office/drawing/2014/main" id="{3BF44EE7-52C0-4EFB-B88A-39F7CD186AFA}"/>
              </a:ext>
            </a:extLst>
          </p:cNvPr>
          <p:cNvSpPr>
            <a:spLocks noGrp="1"/>
          </p:cNvSpPr>
          <p:nvPr>
            <p:ph type="ftr" sz="quarter" idx="11"/>
          </p:nvPr>
        </p:nvSpPr>
        <p:spPr/>
        <p:txBody>
          <a:bodyPr/>
          <a:lstStyle/>
          <a:p>
            <a:pPr>
              <a:defRPr/>
            </a:pPr>
            <a:r>
              <a:rPr lang="en-US"/>
              <a:t>G.R. Labbé</a:t>
            </a:r>
          </a:p>
        </p:txBody>
      </p:sp>
      <p:grpSp>
        <p:nvGrpSpPr>
          <p:cNvPr id="5" name="Group 4">
            <a:extLst>
              <a:ext uri="{FF2B5EF4-FFF2-40B4-BE49-F238E27FC236}">
                <a16:creationId xmlns:a16="http://schemas.microsoft.com/office/drawing/2014/main" id="{75F4F9F6-3B8A-6325-AD5F-B069CEB3AD73}"/>
              </a:ext>
            </a:extLst>
          </p:cNvPr>
          <p:cNvGrpSpPr>
            <a:grpSpLocks noChangeAspect="1"/>
          </p:cNvGrpSpPr>
          <p:nvPr/>
        </p:nvGrpSpPr>
        <p:grpSpPr bwMode="auto">
          <a:xfrm>
            <a:off x="234950" y="238125"/>
            <a:ext cx="8674100" cy="5345113"/>
            <a:chOff x="148" y="150"/>
            <a:chExt cx="5464" cy="3367"/>
          </a:xfrm>
        </p:grpSpPr>
        <p:sp>
          <p:nvSpPr>
            <p:cNvPr id="8" name="AutoShape 3">
              <a:extLst>
                <a:ext uri="{FF2B5EF4-FFF2-40B4-BE49-F238E27FC236}">
                  <a16:creationId xmlns:a16="http://schemas.microsoft.com/office/drawing/2014/main" id="{CEFE9B2F-00B3-7166-EA24-22D4777933A8}"/>
                </a:ext>
              </a:extLst>
            </p:cNvPr>
            <p:cNvSpPr>
              <a:spLocks noChangeAspect="1" noChangeArrowheads="1" noTextEdit="1"/>
            </p:cNvSpPr>
            <p:nvPr/>
          </p:nvSpPr>
          <p:spPr bwMode="auto">
            <a:xfrm>
              <a:off x="148" y="150"/>
              <a:ext cx="5464" cy="2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9" name="Rectangle 5">
              <a:extLst>
                <a:ext uri="{FF2B5EF4-FFF2-40B4-BE49-F238E27FC236}">
                  <a16:creationId xmlns:a16="http://schemas.microsoft.com/office/drawing/2014/main" id="{D776F871-55A9-4BD3-7E5E-0C7541A96D2D}"/>
                </a:ext>
              </a:extLst>
            </p:cNvPr>
            <p:cNvSpPr>
              <a:spLocks noChangeArrowheads="1"/>
            </p:cNvSpPr>
            <p:nvPr/>
          </p:nvSpPr>
          <p:spPr bwMode="auto">
            <a:xfrm>
              <a:off x="737" y="723"/>
              <a:ext cx="4470" cy="230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10" name="Line 6">
              <a:extLst>
                <a:ext uri="{FF2B5EF4-FFF2-40B4-BE49-F238E27FC236}">
                  <a16:creationId xmlns:a16="http://schemas.microsoft.com/office/drawing/2014/main" id="{A347D7CE-39E7-C669-9F59-F991B8E453EA}"/>
                </a:ext>
              </a:extLst>
            </p:cNvPr>
            <p:cNvSpPr>
              <a:spLocks noChangeShapeType="1"/>
            </p:cNvSpPr>
            <p:nvPr/>
          </p:nvSpPr>
          <p:spPr bwMode="auto">
            <a:xfrm>
              <a:off x="737" y="2797"/>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1" name="Line 7">
              <a:extLst>
                <a:ext uri="{FF2B5EF4-FFF2-40B4-BE49-F238E27FC236}">
                  <a16:creationId xmlns:a16="http://schemas.microsoft.com/office/drawing/2014/main" id="{C31FF08A-340A-A6B7-B783-E907A9583243}"/>
                </a:ext>
              </a:extLst>
            </p:cNvPr>
            <p:cNvSpPr>
              <a:spLocks noChangeShapeType="1"/>
            </p:cNvSpPr>
            <p:nvPr/>
          </p:nvSpPr>
          <p:spPr bwMode="auto">
            <a:xfrm>
              <a:off x="737" y="2568"/>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2" name="Line 8">
              <a:extLst>
                <a:ext uri="{FF2B5EF4-FFF2-40B4-BE49-F238E27FC236}">
                  <a16:creationId xmlns:a16="http://schemas.microsoft.com/office/drawing/2014/main" id="{DB1F2F99-2B1D-07DF-9389-BAEC2A7F8D6E}"/>
                </a:ext>
              </a:extLst>
            </p:cNvPr>
            <p:cNvSpPr>
              <a:spLocks noChangeShapeType="1"/>
            </p:cNvSpPr>
            <p:nvPr/>
          </p:nvSpPr>
          <p:spPr bwMode="auto">
            <a:xfrm>
              <a:off x="737" y="2337"/>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3" name="Line 9">
              <a:extLst>
                <a:ext uri="{FF2B5EF4-FFF2-40B4-BE49-F238E27FC236}">
                  <a16:creationId xmlns:a16="http://schemas.microsoft.com/office/drawing/2014/main" id="{D8681388-F334-244B-AE28-47FE867101E4}"/>
                </a:ext>
              </a:extLst>
            </p:cNvPr>
            <p:cNvSpPr>
              <a:spLocks noChangeShapeType="1"/>
            </p:cNvSpPr>
            <p:nvPr/>
          </p:nvSpPr>
          <p:spPr bwMode="auto">
            <a:xfrm>
              <a:off x="737" y="2106"/>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4" name="Line 10">
              <a:extLst>
                <a:ext uri="{FF2B5EF4-FFF2-40B4-BE49-F238E27FC236}">
                  <a16:creationId xmlns:a16="http://schemas.microsoft.com/office/drawing/2014/main" id="{27E98E28-512D-BA6D-524A-FDBB9C2E24D1}"/>
                </a:ext>
              </a:extLst>
            </p:cNvPr>
            <p:cNvSpPr>
              <a:spLocks noChangeShapeType="1"/>
            </p:cNvSpPr>
            <p:nvPr/>
          </p:nvSpPr>
          <p:spPr bwMode="auto">
            <a:xfrm>
              <a:off x="737" y="1876"/>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5" name="Line 11">
              <a:extLst>
                <a:ext uri="{FF2B5EF4-FFF2-40B4-BE49-F238E27FC236}">
                  <a16:creationId xmlns:a16="http://schemas.microsoft.com/office/drawing/2014/main" id="{203BE1BE-DD3F-9D26-4FF2-3704B7C1D05D}"/>
                </a:ext>
              </a:extLst>
            </p:cNvPr>
            <p:cNvSpPr>
              <a:spLocks noChangeShapeType="1"/>
            </p:cNvSpPr>
            <p:nvPr/>
          </p:nvSpPr>
          <p:spPr bwMode="auto">
            <a:xfrm>
              <a:off x="737" y="1645"/>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6" name="Line 12">
              <a:extLst>
                <a:ext uri="{FF2B5EF4-FFF2-40B4-BE49-F238E27FC236}">
                  <a16:creationId xmlns:a16="http://schemas.microsoft.com/office/drawing/2014/main" id="{DE498373-D70B-6C92-9B2B-E5A431D8DA4F}"/>
                </a:ext>
              </a:extLst>
            </p:cNvPr>
            <p:cNvSpPr>
              <a:spLocks noChangeShapeType="1"/>
            </p:cNvSpPr>
            <p:nvPr/>
          </p:nvSpPr>
          <p:spPr bwMode="auto">
            <a:xfrm>
              <a:off x="737" y="1415"/>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7" name="Line 13">
              <a:extLst>
                <a:ext uri="{FF2B5EF4-FFF2-40B4-BE49-F238E27FC236}">
                  <a16:creationId xmlns:a16="http://schemas.microsoft.com/office/drawing/2014/main" id="{CCC0ADA7-8AAD-9531-3AAF-13415C48AA95}"/>
                </a:ext>
              </a:extLst>
            </p:cNvPr>
            <p:cNvSpPr>
              <a:spLocks noChangeShapeType="1"/>
            </p:cNvSpPr>
            <p:nvPr/>
          </p:nvSpPr>
          <p:spPr bwMode="auto">
            <a:xfrm>
              <a:off x="737" y="1184"/>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 name="Line 14">
              <a:extLst>
                <a:ext uri="{FF2B5EF4-FFF2-40B4-BE49-F238E27FC236}">
                  <a16:creationId xmlns:a16="http://schemas.microsoft.com/office/drawing/2014/main" id="{49BC9FEC-07CB-D2BD-8A64-E7BB0DB7A0D8}"/>
                </a:ext>
              </a:extLst>
            </p:cNvPr>
            <p:cNvSpPr>
              <a:spLocks noChangeShapeType="1"/>
            </p:cNvSpPr>
            <p:nvPr/>
          </p:nvSpPr>
          <p:spPr bwMode="auto">
            <a:xfrm>
              <a:off x="737" y="954"/>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9" name="Line 15">
              <a:extLst>
                <a:ext uri="{FF2B5EF4-FFF2-40B4-BE49-F238E27FC236}">
                  <a16:creationId xmlns:a16="http://schemas.microsoft.com/office/drawing/2014/main" id="{570FD26B-0C6E-A779-43BD-2BE4D4DBE9A6}"/>
                </a:ext>
              </a:extLst>
            </p:cNvPr>
            <p:cNvSpPr>
              <a:spLocks noChangeShapeType="1"/>
            </p:cNvSpPr>
            <p:nvPr/>
          </p:nvSpPr>
          <p:spPr bwMode="auto">
            <a:xfrm>
              <a:off x="737" y="723"/>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20" name="Rectangle 16">
              <a:extLst>
                <a:ext uri="{FF2B5EF4-FFF2-40B4-BE49-F238E27FC236}">
                  <a16:creationId xmlns:a16="http://schemas.microsoft.com/office/drawing/2014/main" id="{E2969F5B-C82D-3650-4071-DB115B3EBB4A}"/>
                </a:ext>
              </a:extLst>
            </p:cNvPr>
            <p:cNvSpPr>
              <a:spLocks noChangeArrowheads="1"/>
            </p:cNvSpPr>
            <p:nvPr/>
          </p:nvSpPr>
          <p:spPr bwMode="auto">
            <a:xfrm>
              <a:off x="737" y="723"/>
              <a:ext cx="4470" cy="2305"/>
            </a:xfrm>
            <a:prstGeom prst="rect">
              <a:avLst/>
            </a:prstGeom>
            <a:noFill/>
            <a:ln w="12700">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21" name="Rectangle 17">
              <a:extLst>
                <a:ext uri="{FF2B5EF4-FFF2-40B4-BE49-F238E27FC236}">
                  <a16:creationId xmlns:a16="http://schemas.microsoft.com/office/drawing/2014/main" id="{3424A3BD-F2C6-0056-6CC9-49F938805B78}"/>
                </a:ext>
              </a:extLst>
            </p:cNvPr>
            <p:cNvSpPr>
              <a:spLocks noChangeArrowheads="1"/>
            </p:cNvSpPr>
            <p:nvPr/>
          </p:nvSpPr>
          <p:spPr bwMode="auto">
            <a:xfrm>
              <a:off x="737" y="1645"/>
              <a:ext cx="320" cy="1383"/>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22" name="Rectangle 18">
              <a:extLst>
                <a:ext uri="{FF2B5EF4-FFF2-40B4-BE49-F238E27FC236}">
                  <a16:creationId xmlns:a16="http://schemas.microsoft.com/office/drawing/2014/main" id="{51AE8FB8-7A78-C270-8BBB-033C0E89BD2D}"/>
                </a:ext>
              </a:extLst>
            </p:cNvPr>
            <p:cNvSpPr>
              <a:spLocks noChangeArrowheads="1"/>
            </p:cNvSpPr>
            <p:nvPr/>
          </p:nvSpPr>
          <p:spPr bwMode="auto">
            <a:xfrm>
              <a:off x="1057" y="1645"/>
              <a:ext cx="319" cy="1383"/>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23" name="Rectangle 19">
              <a:extLst>
                <a:ext uri="{FF2B5EF4-FFF2-40B4-BE49-F238E27FC236}">
                  <a16:creationId xmlns:a16="http://schemas.microsoft.com/office/drawing/2014/main" id="{2C2B13D9-385A-0F47-C2F6-500C41B68540}"/>
                </a:ext>
              </a:extLst>
            </p:cNvPr>
            <p:cNvSpPr>
              <a:spLocks noChangeArrowheads="1"/>
            </p:cNvSpPr>
            <p:nvPr/>
          </p:nvSpPr>
          <p:spPr bwMode="auto">
            <a:xfrm>
              <a:off x="1376" y="1645"/>
              <a:ext cx="319" cy="1383"/>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24" name="Rectangle 20">
              <a:extLst>
                <a:ext uri="{FF2B5EF4-FFF2-40B4-BE49-F238E27FC236}">
                  <a16:creationId xmlns:a16="http://schemas.microsoft.com/office/drawing/2014/main" id="{3FE64EE6-3D5F-793E-F619-4A649AEF9A4F}"/>
                </a:ext>
              </a:extLst>
            </p:cNvPr>
            <p:cNvSpPr>
              <a:spLocks noChangeArrowheads="1"/>
            </p:cNvSpPr>
            <p:nvPr/>
          </p:nvSpPr>
          <p:spPr bwMode="auto">
            <a:xfrm>
              <a:off x="1695" y="1645"/>
              <a:ext cx="320" cy="1383"/>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25" name="Rectangle 21">
              <a:extLst>
                <a:ext uri="{FF2B5EF4-FFF2-40B4-BE49-F238E27FC236}">
                  <a16:creationId xmlns:a16="http://schemas.microsoft.com/office/drawing/2014/main" id="{6570A1B0-8884-0630-0FD2-CC9F5C9B8CDB}"/>
                </a:ext>
              </a:extLst>
            </p:cNvPr>
            <p:cNvSpPr>
              <a:spLocks noChangeArrowheads="1"/>
            </p:cNvSpPr>
            <p:nvPr/>
          </p:nvSpPr>
          <p:spPr bwMode="auto">
            <a:xfrm>
              <a:off x="2015" y="2568"/>
              <a:ext cx="318" cy="460"/>
            </a:xfrm>
            <a:prstGeom prst="rect">
              <a:avLst/>
            </a:prstGeom>
            <a:solidFill>
              <a:srgbClr val="FFFF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26" name="Rectangle 22">
              <a:extLst>
                <a:ext uri="{FF2B5EF4-FFF2-40B4-BE49-F238E27FC236}">
                  <a16:creationId xmlns:a16="http://schemas.microsoft.com/office/drawing/2014/main" id="{B1C2D4AD-DC4B-20CB-BA0E-7BA57196A76A}"/>
                </a:ext>
              </a:extLst>
            </p:cNvPr>
            <p:cNvSpPr>
              <a:spLocks noChangeArrowheads="1"/>
            </p:cNvSpPr>
            <p:nvPr/>
          </p:nvSpPr>
          <p:spPr bwMode="auto">
            <a:xfrm>
              <a:off x="2333" y="1415"/>
              <a:ext cx="320" cy="1613"/>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27" name="Rectangle 23">
              <a:extLst>
                <a:ext uri="{FF2B5EF4-FFF2-40B4-BE49-F238E27FC236}">
                  <a16:creationId xmlns:a16="http://schemas.microsoft.com/office/drawing/2014/main" id="{C4DC6782-0F6E-19A7-ACD6-9249635A8876}"/>
                </a:ext>
              </a:extLst>
            </p:cNvPr>
            <p:cNvSpPr>
              <a:spLocks noChangeArrowheads="1"/>
            </p:cNvSpPr>
            <p:nvPr/>
          </p:nvSpPr>
          <p:spPr bwMode="auto">
            <a:xfrm>
              <a:off x="2653" y="1415"/>
              <a:ext cx="320" cy="1613"/>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28" name="Rectangle 24">
              <a:extLst>
                <a:ext uri="{FF2B5EF4-FFF2-40B4-BE49-F238E27FC236}">
                  <a16:creationId xmlns:a16="http://schemas.microsoft.com/office/drawing/2014/main" id="{B50C85A3-BEE8-2DF5-2A74-9949D8AF595C}"/>
                </a:ext>
              </a:extLst>
            </p:cNvPr>
            <p:cNvSpPr>
              <a:spLocks noChangeArrowheads="1"/>
            </p:cNvSpPr>
            <p:nvPr/>
          </p:nvSpPr>
          <p:spPr bwMode="auto">
            <a:xfrm>
              <a:off x="2973" y="1415"/>
              <a:ext cx="318" cy="1613"/>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29" name="Rectangle 25">
              <a:extLst>
                <a:ext uri="{FF2B5EF4-FFF2-40B4-BE49-F238E27FC236}">
                  <a16:creationId xmlns:a16="http://schemas.microsoft.com/office/drawing/2014/main" id="{6E6B9480-2640-AA73-DDA6-081A80A8CD40}"/>
                </a:ext>
              </a:extLst>
            </p:cNvPr>
            <p:cNvSpPr>
              <a:spLocks noChangeArrowheads="1"/>
            </p:cNvSpPr>
            <p:nvPr/>
          </p:nvSpPr>
          <p:spPr bwMode="auto">
            <a:xfrm>
              <a:off x="3291" y="1415"/>
              <a:ext cx="320" cy="1613"/>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30" name="Rectangle 26">
              <a:extLst>
                <a:ext uri="{FF2B5EF4-FFF2-40B4-BE49-F238E27FC236}">
                  <a16:creationId xmlns:a16="http://schemas.microsoft.com/office/drawing/2014/main" id="{99D42DFA-FDA5-A9AC-930B-BF7324D7D981}"/>
                </a:ext>
              </a:extLst>
            </p:cNvPr>
            <p:cNvSpPr>
              <a:spLocks noChangeArrowheads="1"/>
            </p:cNvSpPr>
            <p:nvPr/>
          </p:nvSpPr>
          <p:spPr bwMode="auto">
            <a:xfrm>
              <a:off x="3634" y="2578"/>
              <a:ext cx="318" cy="462"/>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31" name="Rectangle 27">
              <a:extLst>
                <a:ext uri="{FF2B5EF4-FFF2-40B4-BE49-F238E27FC236}">
                  <a16:creationId xmlns:a16="http://schemas.microsoft.com/office/drawing/2014/main" id="{55CAB828-7798-C82E-6BE2-711C190B86E7}"/>
                </a:ext>
              </a:extLst>
            </p:cNvPr>
            <p:cNvSpPr>
              <a:spLocks noChangeArrowheads="1"/>
            </p:cNvSpPr>
            <p:nvPr/>
          </p:nvSpPr>
          <p:spPr bwMode="auto">
            <a:xfrm>
              <a:off x="3945" y="1875"/>
              <a:ext cx="320" cy="461"/>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32" name="Rectangle 28">
              <a:extLst>
                <a:ext uri="{FF2B5EF4-FFF2-40B4-BE49-F238E27FC236}">
                  <a16:creationId xmlns:a16="http://schemas.microsoft.com/office/drawing/2014/main" id="{DBCFF3DE-58B5-C05C-7E7F-A3934AC52560}"/>
                </a:ext>
              </a:extLst>
            </p:cNvPr>
            <p:cNvSpPr>
              <a:spLocks noChangeArrowheads="1"/>
            </p:cNvSpPr>
            <p:nvPr/>
          </p:nvSpPr>
          <p:spPr bwMode="auto">
            <a:xfrm>
              <a:off x="4265" y="1875"/>
              <a:ext cx="320" cy="461"/>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33" name="Rectangle 29">
              <a:extLst>
                <a:ext uri="{FF2B5EF4-FFF2-40B4-BE49-F238E27FC236}">
                  <a16:creationId xmlns:a16="http://schemas.microsoft.com/office/drawing/2014/main" id="{76D65E29-8DA6-0CC2-2D3A-84D609FD37B5}"/>
                </a:ext>
              </a:extLst>
            </p:cNvPr>
            <p:cNvSpPr>
              <a:spLocks noChangeArrowheads="1"/>
            </p:cNvSpPr>
            <p:nvPr/>
          </p:nvSpPr>
          <p:spPr bwMode="auto">
            <a:xfrm>
              <a:off x="3942" y="2347"/>
              <a:ext cx="319" cy="691"/>
            </a:xfrm>
            <a:prstGeom prst="rect">
              <a:avLst/>
            </a:prstGeom>
            <a:solidFill>
              <a:srgbClr val="FF8080"/>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34" name="Rectangle 30">
              <a:extLst>
                <a:ext uri="{FF2B5EF4-FFF2-40B4-BE49-F238E27FC236}">
                  <a16:creationId xmlns:a16="http://schemas.microsoft.com/office/drawing/2014/main" id="{C9E66B34-1459-697E-ECA8-385F2EAE1F5F}"/>
                </a:ext>
              </a:extLst>
            </p:cNvPr>
            <p:cNvSpPr>
              <a:spLocks noChangeArrowheads="1"/>
            </p:cNvSpPr>
            <p:nvPr/>
          </p:nvSpPr>
          <p:spPr bwMode="auto">
            <a:xfrm>
              <a:off x="4261" y="2347"/>
              <a:ext cx="319" cy="691"/>
            </a:xfrm>
            <a:prstGeom prst="rect">
              <a:avLst/>
            </a:prstGeom>
            <a:solidFill>
              <a:srgbClr val="FF8080"/>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35" name="Rectangle 31">
              <a:extLst>
                <a:ext uri="{FF2B5EF4-FFF2-40B4-BE49-F238E27FC236}">
                  <a16:creationId xmlns:a16="http://schemas.microsoft.com/office/drawing/2014/main" id="{B1C071A8-DE76-23D1-9B07-1AB53FEE0EE4}"/>
                </a:ext>
              </a:extLst>
            </p:cNvPr>
            <p:cNvSpPr>
              <a:spLocks noChangeArrowheads="1"/>
            </p:cNvSpPr>
            <p:nvPr/>
          </p:nvSpPr>
          <p:spPr bwMode="auto">
            <a:xfrm>
              <a:off x="4567" y="1635"/>
              <a:ext cx="320" cy="1383"/>
            </a:xfrm>
            <a:prstGeom prst="rect">
              <a:avLst/>
            </a:prstGeom>
            <a:solidFill>
              <a:srgbClr val="0066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36" name="Line 32">
              <a:extLst>
                <a:ext uri="{FF2B5EF4-FFF2-40B4-BE49-F238E27FC236}">
                  <a16:creationId xmlns:a16="http://schemas.microsoft.com/office/drawing/2014/main" id="{8135076D-04BE-3B4D-F572-9450EC129973}"/>
                </a:ext>
              </a:extLst>
            </p:cNvPr>
            <p:cNvSpPr>
              <a:spLocks noChangeShapeType="1"/>
            </p:cNvSpPr>
            <p:nvPr/>
          </p:nvSpPr>
          <p:spPr bwMode="auto">
            <a:xfrm>
              <a:off x="737" y="723"/>
              <a:ext cx="0" cy="2305"/>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37" name="Line 33">
              <a:extLst>
                <a:ext uri="{FF2B5EF4-FFF2-40B4-BE49-F238E27FC236}">
                  <a16:creationId xmlns:a16="http://schemas.microsoft.com/office/drawing/2014/main" id="{3ECFF642-889F-F334-8FD3-052E6122425D}"/>
                </a:ext>
              </a:extLst>
            </p:cNvPr>
            <p:cNvSpPr>
              <a:spLocks noChangeShapeType="1"/>
            </p:cNvSpPr>
            <p:nvPr/>
          </p:nvSpPr>
          <p:spPr bwMode="auto">
            <a:xfrm>
              <a:off x="696" y="3028"/>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38" name="Line 34">
              <a:extLst>
                <a:ext uri="{FF2B5EF4-FFF2-40B4-BE49-F238E27FC236}">
                  <a16:creationId xmlns:a16="http://schemas.microsoft.com/office/drawing/2014/main" id="{F8BAD8A2-E45B-0B14-91BD-B583F374EDE7}"/>
                </a:ext>
              </a:extLst>
            </p:cNvPr>
            <p:cNvSpPr>
              <a:spLocks noChangeShapeType="1"/>
            </p:cNvSpPr>
            <p:nvPr/>
          </p:nvSpPr>
          <p:spPr bwMode="auto">
            <a:xfrm>
              <a:off x="696" y="2797"/>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39" name="Line 35">
              <a:extLst>
                <a:ext uri="{FF2B5EF4-FFF2-40B4-BE49-F238E27FC236}">
                  <a16:creationId xmlns:a16="http://schemas.microsoft.com/office/drawing/2014/main" id="{7ABA9D61-46D2-6D66-8E31-A3051E4FE531}"/>
                </a:ext>
              </a:extLst>
            </p:cNvPr>
            <p:cNvSpPr>
              <a:spLocks noChangeShapeType="1"/>
            </p:cNvSpPr>
            <p:nvPr/>
          </p:nvSpPr>
          <p:spPr bwMode="auto">
            <a:xfrm>
              <a:off x="696" y="2568"/>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40" name="Line 36">
              <a:extLst>
                <a:ext uri="{FF2B5EF4-FFF2-40B4-BE49-F238E27FC236}">
                  <a16:creationId xmlns:a16="http://schemas.microsoft.com/office/drawing/2014/main" id="{0E9BECA5-F35E-BE35-4F03-1DD052A90235}"/>
                </a:ext>
              </a:extLst>
            </p:cNvPr>
            <p:cNvSpPr>
              <a:spLocks noChangeShapeType="1"/>
            </p:cNvSpPr>
            <p:nvPr/>
          </p:nvSpPr>
          <p:spPr bwMode="auto">
            <a:xfrm>
              <a:off x="696" y="2337"/>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41" name="Line 37">
              <a:extLst>
                <a:ext uri="{FF2B5EF4-FFF2-40B4-BE49-F238E27FC236}">
                  <a16:creationId xmlns:a16="http://schemas.microsoft.com/office/drawing/2014/main" id="{8534CE63-54AC-B958-3FE3-524B0BED0C99}"/>
                </a:ext>
              </a:extLst>
            </p:cNvPr>
            <p:cNvSpPr>
              <a:spLocks noChangeShapeType="1"/>
            </p:cNvSpPr>
            <p:nvPr/>
          </p:nvSpPr>
          <p:spPr bwMode="auto">
            <a:xfrm>
              <a:off x="696" y="2106"/>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42" name="Line 38">
              <a:extLst>
                <a:ext uri="{FF2B5EF4-FFF2-40B4-BE49-F238E27FC236}">
                  <a16:creationId xmlns:a16="http://schemas.microsoft.com/office/drawing/2014/main" id="{5C77975D-7A96-67F0-77AB-6D615E83DC6D}"/>
                </a:ext>
              </a:extLst>
            </p:cNvPr>
            <p:cNvSpPr>
              <a:spLocks noChangeShapeType="1"/>
            </p:cNvSpPr>
            <p:nvPr/>
          </p:nvSpPr>
          <p:spPr bwMode="auto">
            <a:xfrm>
              <a:off x="696" y="1876"/>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43" name="Line 39">
              <a:extLst>
                <a:ext uri="{FF2B5EF4-FFF2-40B4-BE49-F238E27FC236}">
                  <a16:creationId xmlns:a16="http://schemas.microsoft.com/office/drawing/2014/main" id="{6878C70A-F261-5A83-6A54-49D89AAAC32E}"/>
                </a:ext>
              </a:extLst>
            </p:cNvPr>
            <p:cNvSpPr>
              <a:spLocks noChangeShapeType="1"/>
            </p:cNvSpPr>
            <p:nvPr/>
          </p:nvSpPr>
          <p:spPr bwMode="auto">
            <a:xfrm>
              <a:off x="696" y="1645"/>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44" name="Line 40">
              <a:extLst>
                <a:ext uri="{FF2B5EF4-FFF2-40B4-BE49-F238E27FC236}">
                  <a16:creationId xmlns:a16="http://schemas.microsoft.com/office/drawing/2014/main" id="{E72BAAA3-89A2-7EF9-8D31-9027E4AF76B5}"/>
                </a:ext>
              </a:extLst>
            </p:cNvPr>
            <p:cNvSpPr>
              <a:spLocks noChangeShapeType="1"/>
            </p:cNvSpPr>
            <p:nvPr/>
          </p:nvSpPr>
          <p:spPr bwMode="auto">
            <a:xfrm>
              <a:off x="696" y="1415"/>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45" name="Line 41">
              <a:extLst>
                <a:ext uri="{FF2B5EF4-FFF2-40B4-BE49-F238E27FC236}">
                  <a16:creationId xmlns:a16="http://schemas.microsoft.com/office/drawing/2014/main" id="{0D21B7DD-5F97-59AD-C06B-E6012E6F592A}"/>
                </a:ext>
              </a:extLst>
            </p:cNvPr>
            <p:cNvSpPr>
              <a:spLocks noChangeShapeType="1"/>
            </p:cNvSpPr>
            <p:nvPr/>
          </p:nvSpPr>
          <p:spPr bwMode="auto">
            <a:xfrm>
              <a:off x="696" y="1184"/>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46" name="Line 42">
              <a:extLst>
                <a:ext uri="{FF2B5EF4-FFF2-40B4-BE49-F238E27FC236}">
                  <a16:creationId xmlns:a16="http://schemas.microsoft.com/office/drawing/2014/main" id="{1A4BB2DF-7BE2-429C-CE96-B51D4310AE65}"/>
                </a:ext>
              </a:extLst>
            </p:cNvPr>
            <p:cNvSpPr>
              <a:spLocks noChangeShapeType="1"/>
            </p:cNvSpPr>
            <p:nvPr/>
          </p:nvSpPr>
          <p:spPr bwMode="auto">
            <a:xfrm>
              <a:off x="696" y="954"/>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47" name="Line 43">
              <a:extLst>
                <a:ext uri="{FF2B5EF4-FFF2-40B4-BE49-F238E27FC236}">
                  <a16:creationId xmlns:a16="http://schemas.microsoft.com/office/drawing/2014/main" id="{FC8778D4-704D-4D2C-1B2D-81F01E82C3E2}"/>
                </a:ext>
              </a:extLst>
            </p:cNvPr>
            <p:cNvSpPr>
              <a:spLocks noChangeShapeType="1"/>
            </p:cNvSpPr>
            <p:nvPr/>
          </p:nvSpPr>
          <p:spPr bwMode="auto">
            <a:xfrm>
              <a:off x="696" y="723"/>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48" name="Line 44">
              <a:extLst>
                <a:ext uri="{FF2B5EF4-FFF2-40B4-BE49-F238E27FC236}">
                  <a16:creationId xmlns:a16="http://schemas.microsoft.com/office/drawing/2014/main" id="{F0A394B2-7343-C76D-5381-2261844BF568}"/>
                </a:ext>
              </a:extLst>
            </p:cNvPr>
            <p:cNvSpPr>
              <a:spLocks noChangeShapeType="1"/>
            </p:cNvSpPr>
            <p:nvPr/>
          </p:nvSpPr>
          <p:spPr bwMode="auto">
            <a:xfrm>
              <a:off x="737" y="3028"/>
              <a:ext cx="447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49" name="Line 45">
              <a:extLst>
                <a:ext uri="{FF2B5EF4-FFF2-40B4-BE49-F238E27FC236}">
                  <a16:creationId xmlns:a16="http://schemas.microsoft.com/office/drawing/2014/main" id="{92412336-585B-0012-534C-D0B5500C2779}"/>
                </a:ext>
              </a:extLst>
            </p:cNvPr>
            <p:cNvSpPr>
              <a:spLocks noChangeShapeType="1"/>
            </p:cNvSpPr>
            <p:nvPr/>
          </p:nvSpPr>
          <p:spPr bwMode="auto">
            <a:xfrm flipV="1">
              <a:off x="737"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0" name="Line 46">
              <a:extLst>
                <a:ext uri="{FF2B5EF4-FFF2-40B4-BE49-F238E27FC236}">
                  <a16:creationId xmlns:a16="http://schemas.microsoft.com/office/drawing/2014/main" id="{5819A29C-E538-BB51-2054-6B0B24BFBEAE}"/>
                </a:ext>
              </a:extLst>
            </p:cNvPr>
            <p:cNvSpPr>
              <a:spLocks noChangeShapeType="1"/>
            </p:cNvSpPr>
            <p:nvPr/>
          </p:nvSpPr>
          <p:spPr bwMode="auto">
            <a:xfrm flipV="1">
              <a:off x="1057"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1" name="Line 47">
              <a:extLst>
                <a:ext uri="{FF2B5EF4-FFF2-40B4-BE49-F238E27FC236}">
                  <a16:creationId xmlns:a16="http://schemas.microsoft.com/office/drawing/2014/main" id="{F29A6C16-9FB3-8680-A467-D66184AD757A}"/>
                </a:ext>
              </a:extLst>
            </p:cNvPr>
            <p:cNvSpPr>
              <a:spLocks noChangeShapeType="1"/>
            </p:cNvSpPr>
            <p:nvPr/>
          </p:nvSpPr>
          <p:spPr bwMode="auto">
            <a:xfrm flipV="1">
              <a:off x="1376"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2" name="Line 48">
              <a:extLst>
                <a:ext uri="{FF2B5EF4-FFF2-40B4-BE49-F238E27FC236}">
                  <a16:creationId xmlns:a16="http://schemas.microsoft.com/office/drawing/2014/main" id="{A9F2045C-950F-201A-1B92-A890CAF3B2E0}"/>
                </a:ext>
              </a:extLst>
            </p:cNvPr>
            <p:cNvSpPr>
              <a:spLocks noChangeShapeType="1"/>
            </p:cNvSpPr>
            <p:nvPr/>
          </p:nvSpPr>
          <p:spPr bwMode="auto">
            <a:xfrm flipV="1">
              <a:off x="1695"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3" name="Line 49">
              <a:extLst>
                <a:ext uri="{FF2B5EF4-FFF2-40B4-BE49-F238E27FC236}">
                  <a16:creationId xmlns:a16="http://schemas.microsoft.com/office/drawing/2014/main" id="{35554681-73A3-69C1-BD59-560F4E65539D}"/>
                </a:ext>
              </a:extLst>
            </p:cNvPr>
            <p:cNvSpPr>
              <a:spLocks noChangeShapeType="1"/>
            </p:cNvSpPr>
            <p:nvPr/>
          </p:nvSpPr>
          <p:spPr bwMode="auto">
            <a:xfrm flipV="1">
              <a:off x="2015"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4" name="Line 50">
              <a:extLst>
                <a:ext uri="{FF2B5EF4-FFF2-40B4-BE49-F238E27FC236}">
                  <a16:creationId xmlns:a16="http://schemas.microsoft.com/office/drawing/2014/main" id="{0587ACC9-B984-09FA-9249-84300F6F6CF2}"/>
                </a:ext>
              </a:extLst>
            </p:cNvPr>
            <p:cNvSpPr>
              <a:spLocks noChangeShapeType="1"/>
            </p:cNvSpPr>
            <p:nvPr/>
          </p:nvSpPr>
          <p:spPr bwMode="auto">
            <a:xfrm flipV="1">
              <a:off x="2333"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5" name="Line 51">
              <a:extLst>
                <a:ext uri="{FF2B5EF4-FFF2-40B4-BE49-F238E27FC236}">
                  <a16:creationId xmlns:a16="http://schemas.microsoft.com/office/drawing/2014/main" id="{4D8D375D-DC52-8649-EFB2-7925EB6AA6C5}"/>
                </a:ext>
              </a:extLst>
            </p:cNvPr>
            <p:cNvSpPr>
              <a:spLocks noChangeShapeType="1"/>
            </p:cNvSpPr>
            <p:nvPr/>
          </p:nvSpPr>
          <p:spPr bwMode="auto">
            <a:xfrm flipV="1">
              <a:off x="2653"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6" name="Line 52">
              <a:extLst>
                <a:ext uri="{FF2B5EF4-FFF2-40B4-BE49-F238E27FC236}">
                  <a16:creationId xmlns:a16="http://schemas.microsoft.com/office/drawing/2014/main" id="{D8A81337-360A-6257-7E8F-43ABF8A8D1DF}"/>
                </a:ext>
              </a:extLst>
            </p:cNvPr>
            <p:cNvSpPr>
              <a:spLocks noChangeShapeType="1"/>
            </p:cNvSpPr>
            <p:nvPr/>
          </p:nvSpPr>
          <p:spPr bwMode="auto">
            <a:xfrm flipV="1">
              <a:off x="2973"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7" name="Line 53">
              <a:extLst>
                <a:ext uri="{FF2B5EF4-FFF2-40B4-BE49-F238E27FC236}">
                  <a16:creationId xmlns:a16="http://schemas.microsoft.com/office/drawing/2014/main" id="{51157886-AA48-E774-0373-7B51D071AEB9}"/>
                </a:ext>
              </a:extLst>
            </p:cNvPr>
            <p:cNvSpPr>
              <a:spLocks noChangeShapeType="1"/>
            </p:cNvSpPr>
            <p:nvPr/>
          </p:nvSpPr>
          <p:spPr bwMode="auto">
            <a:xfrm flipV="1">
              <a:off x="3291"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8" name="Line 54">
              <a:extLst>
                <a:ext uri="{FF2B5EF4-FFF2-40B4-BE49-F238E27FC236}">
                  <a16:creationId xmlns:a16="http://schemas.microsoft.com/office/drawing/2014/main" id="{94DA701E-F111-EB42-4FA3-092F9FC906FA}"/>
                </a:ext>
              </a:extLst>
            </p:cNvPr>
            <p:cNvSpPr>
              <a:spLocks noChangeShapeType="1"/>
            </p:cNvSpPr>
            <p:nvPr/>
          </p:nvSpPr>
          <p:spPr bwMode="auto">
            <a:xfrm flipV="1">
              <a:off x="3611"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9" name="Line 55">
              <a:extLst>
                <a:ext uri="{FF2B5EF4-FFF2-40B4-BE49-F238E27FC236}">
                  <a16:creationId xmlns:a16="http://schemas.microsoft.com/office/drawing/2014/main" id="{5406A777-8BCC-F87E-A508-E388EC86CBB3}"/>
                </a:ext>
              </a:extLst>
            </p:cNvPr>
            <p:cNvSpPr>
              <a:spLocks noChangeShapeType="1"/>
            </p:cNvSpPr>
            <p:nvPr/>
          </p:nvSpPr>
          <p:spPr bwMode="auto">
            <a:xfrm flipV="1">
              <a:off x="3930"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60" name="Line 56">
              <a:extLst>
                <a:ext uri="{FF2B5EF4-FFF2-40B4-BE49-F238E27FC236}">
                  <a16:creationId xmlns:a16="http://schemas.microsoft.com/office/drawing/2014/main" id="{92B9863B-864E-399D-7756-57414DEDEF7C}"/>
                </a:ext>
              </a:extLst>
            </p:cNvPr>
            <p:cNvSpPr>
              <a:spLocks noChangeShapeType="1"/>
            </p:cNvSpPr>
            <p:nvPr/>
          </p:nvSpPr>
          <p:spPr bwMode="auto">
            <a:xfrm flipV="1">
              <a:off x="4249"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61" name="Line 57">
              <a:extLst>
                <a:ext uri="{FF2B5EF4-FFF2-40B4-BE49-F238E27FC236}">
                  <a16:creationId xmlns:a16="http://schemas.microsoft.com/office/drawing/2014/main" id="{13706E2D-07A4-4F77-FA24-28A2F8CED363}"/>
                </a:ext>
              </a:extLst>
            </p:cNvPr>
            <p:cNvSpPr>
              <a:spLocks noChangeShapeType="1"/>
            </p:cNvSpPr>
            <p:nvPr/>
          </p:nvSpPr>
          <p:spPr bwMode="auto">
            <a:xfrm flipV="1">
              <a:off x="4569"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62" name="Line 58">
              <a:extLst>
                <a:ext uri="{FF2B5EF4-FFF2-40B4-BE49-F238E27FC236}">
                  <a16:creationId xmlns:a16="http://schemas.microsoft.com/office/drawing/2014/main" id="{8F73F208-03D6-E6A3-2F44-E2829C11A820}"/>
                </a:ext>
              </a:extLst>
            </p:cNvPr>
            <p:cNvSpPr>
              <a:spLocks noChangeShapeType="1"/>
            </p:cNvSpPr>
            <p:nvPr/>
          </p:nvSpPr>
          <p:spPr bwMode="auto">
            <a:xfrm flipV="1">
              <a:off x="4887"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63" name="Line 59">
              <a:extLst>
                <a:ext uri="{FF2B5EF4-FFF2-40B4-BE49-F238E27FC236}">
                  <a16:creationId xmlns:a16="http://schemas.microsoft.com/office/drawing/2014/main" id="{9D0DE4D9-3037-97DD-8937-F3E73AC4C66B}"/>
                </a:ext>
              </a:extLst>
            </p:cNvPr>
            <p:cNvSpPr>
              <a:spLocks noChangeShapeType="1"/>
            </p:cNvSpPr>
            <p:nvPr/>
          </p:nvSpPr>
          <p:spPr bwMode="auto">
            <a:xfrm flipV="1">
              <a:off x="5207" y="3028"/>
              <a:ext cx="0" cy="3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6384" name="Rectangle 60">
              <a:extLst>
                <a:ext uri="{FF2B5EF4-FFF2-40B4-BE49-F238E27FC236}">
                  <a16:creationId xmlns:a16="http://schemas.microsoft.com/office/drawing/2014/main" id="{64DE3D53-4866-B977-F72F-A0EBC38ECD9D}"/>
                </a:ext>
              </a:extLst>
            </p:cNvPr>
            <p:cNvSpPr>
              <a:spLocks noChangeArrowheads="1"/>
            </p:cNvSpPr>
            <p:nvPr/>
          </p:nvSpPr>
          <p:spPr bwMode="auto">
            <a:xfrm>
              <a:off x="1467" y="285"/>
              <a:ext cx="2941"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1" i="0" u="none" strike="noStrike" cap="none" normalizeH="0" baseline="0">
                  <a:ln>
                    <a:noFill/>
                  </a:ln>
                  <a:solidFill>
                    <a:srgbClr val="000000"/>
                  </a:solidFill>
                  <a:effectLst/>
                  <a:latin typeface="Arial" panose="020B0604020202020204" pitchFamily="34" charset="0"/>
                </a:rPr>
                <a:t>Resource Load Chart before leveling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85" name="Rectangle 61">
              <a:extLst>
                <a:ext uri="{FF2B5EF4-FFF2-40B4-BE49-F238E27FC236}">
                  <a16:creationId xmlns:a16="http://schemas.microsoft.com/office/drawing/2014/main" id="{51719618-36F0-DEDE-304E-1375E4AA196A}"/>
                </a:ext>
              </a:extLst>
            </p:cNvPr>
            <p:cNvSpPr>
              <a:spLocks noChangeArrowheads="1"/>
            </p:cNvSpPr>
            <p:nvPr/>
          </p:nvSpPr>
          <p:spPr bwMode="auto">
            <a:xfrm>
              <a:off x="562" y="2958"/>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89" name="Rectangle 62">
              <a:extLst>
                <a:ext uri="{FF2B5EF4-FFF2-40B4-BE49-F238E27FC236}">
                  <a16:creationId xmlns:a16="http://schemas.microsoft.com/office/drawing/2014/main" id="{0A788940-0B06-095F-2FB4-1EDA7333A60B}"/>
                </a:ext>
              </a:extLst>
            </p:cNvPr>
            <p:cNvSpPr>
              <a:spLocks noChangeArrowheads="1"/>
            </p:cNvSpPr>
            <p:nvPr/>
          </p:nvSpPr>
          <p:spPr bwMode="auto">
            <a:xfrm>
              <a:off x="562" y="2727"/>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90" name="Rectangle 63">
              <a:extLst>
                <a:ext uri="{FF2B5EF4-FFF2-40B4-BE49-F238E27FC236}">
                  <a16:creationId xmlns:a16="http://schemas.microsoft.com/office/drawing/2014/main" id="{29E68D9E-DE30-1562-1604-6196A99AF35E}"/>
                </a:ext>
              </a:extLst>
            </p:cNvPr>
            <p:cNvSpPr>
              <a:spLocks noChangeArrowheads="1"/>
            </p:cNvSpPr>
            <p:nvPr/>
          </p:nvSpPr>
          <p:spPr bwMode="auto">
            <a:xfrm>
              <a:off x="562" y="2497"/>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91" name="Rectangle 64">
              <a:extLst>
                <a:ext uri="{FF2B5EF4-FFF2-40B4-BE49-F238E27FC236}">
                  <a16:creationId xmlns:a16="http://schemas.microsoft.com/office/drawing/2014/main" id="{B70BBADB-0334-7B19-E82D-07BB08E1C84A}"/>
                </a:ext>
              </a:extLst>
            </p:cNvPr>
            <p:cNvSpPr>
              <a:spLocks noChangeArrowheads="1"/>
            </p:cNvSpPr>
            <p:nvPr/>
          </p:nvSpPr>
          <p:spPr bwMode="auto">
            <a:xfrm>
              <a:off x="562" y="2267"/>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92" name="Rectangle 65">
              <a:extLst>
                <a:ext uri="{FF2B5EF4-FFF2-40B4-BE49-F238E27FC236}">
                  <a16:creationId xmlns:a16="http://schemas.microsoft.com/office/drawing/2014/main" id="{22CF3C5E-CD9E-C1CF-ABFB-78496866369F}"/>
                </a:ext>
              </a:extLst>
            </p:cNvPr>
            <p:cNvSpPr>
              <a:spLocks noChangeArrowheads="1"/>
            </p:cNvSpPr>
            <p:nvPr/>
          </p:nvSpPr>
          <p:spPr bwMode="auto">
            <a:xfrm>
              <a:off x="562" y="2036"/>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93" name="Rectangle 66">
              <a:extLst>
                <a:ext uri="{FF2B5EF4-FFF2-40B4-BE49-F238E27FC236}">
                  <a16:creationId xmlns:a16="http://schemas.microsoft.com/office/drawing/2014/main" id="{606C0090-178A-EE87-6643-313510432FC3}"/>
                </a:ext>
              </a:extLst>
            </p:cNvPr>
            <p:cNvSpPr>
              <a:spLocks noChangeArrowheads="1"/>
            </p:cNvSpPr>
            <p:nvPr/>
          </p:nvSpPr>
          <p:spPr bwMode="auto">
            <a:xfrm>
              <a:off x="562" y="1806"/>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94" name="Rectangle 67">
              <a:extLst>
                <a:ext uri="{FF2B5EF4-FFF2-40B4-BE49-F238E27FC236}">
                  <a16:creationId xmlns:a16="http://schemas.microsoft.com/office/drawing/2014/main" id="{333B27FA-8974-6B70-C126-0C93270092C5}"/>
                </a:ext>
              </a:extLst>
            </p:cNvPr>
            <p:cNvSpPr>
              <a:spLocks noChangeArrowheads="1"/>
            </p:cNvSpPr>
            <p:nvPr/>
          </p:nvSpPr>
          <p:spPr bwMode="auto">
            <a:xfrm>
              <a:off x="562" y="1575"/>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95" name="Rectangle 68">
              <a:extLst>
                <a:ext uri="{FF2B5EF4-FFF2-40B4-BE49-F238E27FC236}">
                  <a16:creationId xmlns:a16="http://schemas.microsoft.com/office/drawing/2014/main" id="{CB0CC841-1E8D-74E8-22BB-AA289577CCEF}"/>
                </a:ext>
              </a:extLst>
            </p:cNvPr>
            <p:cNvSpPr>
              <a:spLocks noChangeArrowheads="1"/>
            </p:cNvSpPr>
            <p:nvPr/>
          </p:nvSpPr>
          <p:spPr bwMode="auto">
            <a:xfrm>
              <a:off x="562" y="1345"/>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96" name="Rectangle 69">
              <a:extLst>
                <a:ext uri="{FF2B5EF4-FFF2-40B4-BE49-F238E27FC236}">
                  <a16:creationId xmlns:a16="http://schemas.microsoft.com/office/drawing/2014/main" id="{05133A36-C3C9-8C34-39F9-2DF720EBBC3D}"/>
                </a:ext>
              </a:extLst>
            </p:cNvPr>
            <p:cNvSpPr>
              <a:spLocks noChangeArrowheads="1"/>
            </p:cNvSpPr>
            <p:nvPr/>
          </p:nvSpPr>
          <p:spPr bwMode="auto">
            <a:xfrm>
              <a:off x="562" y="1114"/>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97" name="Rectangle 70">
              <a:extLst>
                <a:ext uri="{FF2B5EF4-FFF2-40B4-BE49-F238E27FC236}">
                  <a16:creationId xmlns:a16="http://schemas.microsoft.com/office/drawing/2014/main" id="{7494C744-EA98-486D-EBB5-D9DE1538855A}"/>
                </a:ext>
              </a:extLst>
            </p:cNvPr>
            <p:cNvSpPr>
              <a:spLocks noChangeArrowheads="1"/>
            </p:cNvSpPr>
            <p:nvPr/>
          </p:nvSpPr>
          <p:spPr bwMode="auto">
            <a:xfrm>
              <a:off x="562" y="884"/>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98" name="Rectangle 71">
              <a:extLst>
                <a:ext uri="{FF2B5EF4-FFF2-40B4-BE49-F238E27FC236}">
                  <a16:creationId xmlns:a16="http://schemas.microsoft.com/office/drawing/2014/main" id="{6266089C-F782-3C4A-15E2-567B15E404AB}"/>
                </a:ext>
              </a:extLst>
            </p:cNvPr>
            <p:cNvSpPr>
              <a:spLocks noChangeArrowheads="1"/>
            </p:cNvSpPr>
            <p:nvPr/>
          </p:nvSpPr>
          <p:spPr bwMode="auto">
            <a:xfrm>
              <a:off x="488" y="653"/>
              <a:ext cx="21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99" name="Rectangle 72">
              <a:extLst>
                <a:ext uri="{FF2B5EF4-FFF2-40B4-BE49-F238E27FC236}">
                  <a16:creationId xmlns:a16="http://schemas.microsoft.com/office/drawing/2014/main" id="{42E1DAA6-0606-4175-7D58-C0E37AE25089}"/>
                </a:ext>
              </a:extLst>
            </p:cNvPr>
            <p:cNvSpPr>
              <a:spLocks noChangeArrowheads="1"/>
            </p:cNvSpPr>
            <p:nvPr/>
          </p:nvSpPr>
          <p:spPr bwMode="auto">
            <a:xfrm>
              <a:off x="860" y="3136"/>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00" name="Rectangle 73">
              <a:extLst>
                <a:ext uri="{FF2B5EF4-FFF2-40B4-BE49-F238E27FC236}">
                  <a16:creationId xmlns:a16="http://schemas.microsoft.com/office/drawing/2014/main" id="{9B924DCE-0CB9-621B-B85D-41A5CF55BEBD}"/>
                </a:ext>
              </a:extLst>
            </p:cNvPr>
            <p:cNvSpPr>
              <a:spLocks noChangeArrowheads="1"/>
            </p:cNvSpPr>
            <p:nvPr/>
          </p:nvSpPr>
          <p:spPr bwMode="auto">
            <a:xfrm>
              <a:off x="1180" y="3136"/>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01" name="Rectangle 74">
              <a:extLst>
                <a:ext uri="{FF2B5EF4-FFF2-40B4-BE49-F238E27FC236}">
                  <a16:creationId xmlns:a16="http://schemas.microsoft.com/office/drawing/2014/main" id="{38FF6AFB-9EAC-D5BD-D1ED-E74AF170F2FB}"/>
                </a:ext>
              </a:extLst>
            </p:cNvPr>
            <p:cNvSpPr>
              <a:spLocks noChangeArrowheads="1"/>
            </p:cNvSpPr>
            <p:nvPr/>
          </p:nvSpPr>
          <p:spPr bwMode="auto">
            <a:xfrm>
              <a:off x="1499" y="3136"/>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02" name="Rectangle 75">
              <a:extLst>
                <a:ext uri="{FF2B5EF4-FFF2-40B4-BE49-F238E27FC236}">
                  <a16:creationId xmlns:a16="http://schemas.microsoft.com/office/drawing/2014/main" id="{475D91F0-C567-C6A1-AB14-C61F7C1719A7}"/>
                </a:ext>
              </a:extLst>
            </p:cNvPr>
            <p:cNvSpPr>
              <a:spLocks noChangeArrowheads="1"/>
            </p:cNvSpPr>
            <p:nvPr/>
          </p:nvSpPr>
          <p:spPr bwMode="auto">
            <a:xfrm>
              <a:off x="1818" y="3136"/>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03" name="Rectangle 76">
              <a:extLst>
                <a:ext uri="{FF2B5EF4-FFF2-40B4-BE49-F238E27FC236}">
                  <a16:creationId xmlns:a16="http://schemas.microsoft.com/office/drawing/2014/main" id="{BC53526F-0223-2F1F-0159-633D48110B4D}"/>
                </a:ext>
              </a:extLst>
            </p:cNvPr>
            <p:cNvSpPr>
              <a:spLocks noChangeArrowheads="1"/>
            </p:cNvSpPr>
            <p:nvPr/>
          </p:nvSpPr>
          <p:spPr bwMode="auto">
            <a:xfrm>
              <a:off x="2138" y="3136"/>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04" name="Rectangle 77">
              <a:extLst>
                <a:ext uri="{FF2B5EF4-FFF2-40B4-BE49-F238E27FC236}">
                  <a16:creationId xmlns:a16="http://schemas.microsoft.com/office/drawing/2014/main" id="{88387425-22D0-9F40-64B2-9B979EDF35FC}"/>
                </a:ext>
              </a:extLst>
            </p:cNvPr>
            <p:cNvSpPr>
              <a:spLocks noChangeArrowheads="1"/>
            </p:cNvSpPr>
            <p:nvPr/>
          </p:nvSpPr>
          <p:spPr bwMode="auto">
            <a:xfrm>
              <a:off x="2457" y="3136"/>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05" name="Rectangle 78">
              <a:extLst>
                <a:ext uri="{FF2B5EF4-FFF2-40B4-BE49-F238E27FC236}">
                  <a16:creationId xmlns:a16="http://schemas.microsoft.com/office/drawing/2014/main" id="{4042C425-77F0-873F-D156-F45B6BD81F2F}"/>
                </a:ext>
              </a:extLst>
            </p:cNvPr>
            <p:cNvSpPr>
              <a:spLocks noChangeArrowheads="1"/>
            </p:cNvSpPr>
            <p:nvPr/>
          </p:nvSpPr>
          <p:spPr bwMode="auto">
            <a:xfrm>
              <a:off x="2776" y="3136"/>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06" name="Rectangle 79">
              <a:extLst>
                <a:ext uri="{FF2B5EF4-FFF2-40B4-BE49-F238E27FC236}">
                  <a16:creationId xmlns:a16="http://schemas.microsoft.com/office/drawing/2014/main" id="{F3A8624A-B4A6-65C3-859D-8DAC900E7E80}"/>
                </a:ext>
              </a:extLst>
            </p:cNvPr>
            <p:cNvSpPr>
              <a:spLocks noChangeArrowheads="1"/>
            </p:cNvSpPr>
            <p:nvPr/>
          </p:nvSpPr>
          <p:spPr bwMode="auto">
            <a:xfrm>
              <a:off x="3095" y="3136"/>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07" name="Rectangle 80">
              <a:extLst>
                <a:ext uri="{FF2B5EF4-FFF2-40B4-BE49-F238E27FC236}">
                  <a16:creationId xmlns:a16="http://schemas.microsoft.com/office/drawing/2014/main" id="{E81F3240-0772-5DF7-FF35-9F4E3B519008}"/>
                </a:ext>
              </a:extLst>
            </p:cNvPr>
            <p:cNvSpPr>
              <a:spLocks noChangeArrowheads="1"/>
            </p:cNvSpPr>
            <p:nvPr/>
          </p:nvSpPr>
          <p:spPr bwMode="auto">
            <a:xfrm>
              <a:off x="3414" y="3136"/>
              <a:ext cx="13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08" name="Rectangle 81">
              <a:extLst>
                <a:ext uri="{FF2B5EF4-FFF2-40B4-BE49-F238E27FC236}">
                  <a16:creationId xmlns:a16="http://schemas.microsoft.com/office/drawing/2014/main" id="{2E64F8E1-7F68-29CE-09F1-E79279FC0F1E}"/>
                </a:ext>
              </a:extLst>
            </p:cNvPr>
            <p:cNvSpPr>
              <a:spLocks noChangeArrowheads="1"/>
            </p:cNvSpPr>
            <p:nvPr/>
          </p:nvSpPr>
          <p:spPr bwMode="auto">
            <a:xfrm>
              <a:off x="3696" y="3136"/>
              <a:ext cx="21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09" name="Rectangle 82">
              <a:extLst>
                <a:ext uri="{FF2B5EF4-FFF2-40B4-BE49-F238E27FC236}">
                  <a16:creationId xmlns:a16="http://schemas.microsoft.com/office/drawing/2014/main" id="{9C4069E2-2AEF-5543-94A6-5E54EBED0765}"/>
                </a:ext>
              </a:extLst>
            </p:cNvPr>
            <p:cNvSpPr>
              <a:spLocks noChangeArrowheads="1"/>
            </p:cNvSpPr>
            <p:nvPr/>
          </p:nvSpPr>
          <p:spPr bwMode="auto">
            <a:xfrm>
              <a:off x="4016" y="3136"/>
              <a:ext cx="21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11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10" name="Rectangle 83">
              <a:extLst>
                <a:ext uri="{FF2B5EF4-FFF2-40B4-BE49-F238E27FC236}">
                  <a16:creationId xmlns:a16="http://schemas.microsoft.com/office/drawing/2014/main" id="{7DBA4887-329C-D9AB-1751-2F1265CBAA77}"/>
                </a:ext>
              </a:extLst>
            </p:cNvPr>
            <p:cNvSpPr>
              <a:spLocks noChangeArrowheads="1"/>
            </p:cNvSpPr>
            <p:nvPr/>
          </p:nvSpPr>
          <p:spPr bwMode="auto">
            <a:xfrm>
              <a:off x="4335" y="3136"/>
              <a:ext cx="21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12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11" name="Rectangle 84">
              <a:extLst>
                <a:ext uri="{FF2B5EF4-FFF2-40B4-BE49-F238E27FC236}">
                  <a16:creationId xmlns:a16="http://schemas.microsoft.com/office/drawing/2014/main" id="{FF48A641-46F3-2B41-8591-0EBB8A5ACAA8}"/>
                </a:ext>
              </a:extLst>
            </p:cNvPr>
            <p:cNvSpPr>
              <a:spLocks noChangeArrowheads="1"/>
            </p:cNvSpPr>
            <p:nvPr/>
          </p:nvSpPr>
          <p:spPr bwMode="auto">
            <a:xfrm>
              <a:off x="4654" y="3136"/>
              <a:ext cx="21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12" name="Rectangle 85">
              <a:extLst>
                <a:ext uri="{FF2B5EF4-FFF2-40B4-BE49-F238E27FC236}">
                  <a16:creationId xmlns:a16="http://schemas.microsoft.com/office/drawing/2014/main" id="{010482E0-44BE-318D-A105-29FCA6CC0AD7}"/>
                </a:ext>
              </a:extLst>
            </p:cNvPr>
            <p:cNvSpPr>
              <a:spLocks noChangeArrowheads="1"/>
            </p:cNvSpPr>
            <p:nvPr/>
          </p:nvSpPr>
          <p:spPr bwMode="auto">
            <a:xfrm>
              <a:off x="4974" y="3136"/>
              <a:ext cx="21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14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13" name="Rectangle 86">
              <a:extLst>
                <a:ext uri="{FF2B5EF4-FFF2-40B4-BE49-F238E27FC236}">
                  <a16:creationId xmlns:a16="http://schemas.microsoft.com/office/drawing/2014/main" id="{8F24F530-CBB5-90BA-58AB-41F7A4E5EDA2}"/>
                </a:ext>
              </a:extLst>
            </p:cNvPr>
            <p:cNvSpPr>
              <a:spLocks noChangeArrowheads="1"/>
            </p:cNvSpPr>
            <p:nvPr/>
          </p:nvSpPr>
          <p:spPr bwMode="auto">
            <a:xfrm>
              <a:off x="2570" y="3341"/>
              <a:ext cx="903"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000000"/>
                  </a:solidFill>
                  <a:effectLst/>
                  <a:latin typeface="Arial" panose="020B0604020202020204" pitchFamily="34" charset="0"/>
                </a:rPr>
                <a:t>Project Days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414" name="Rectangle 87">
              <a:extLst>
                <a:ext uri="{FF2B5EF4-FFF2-40B4-BE49-F238E27FC236}">
                  <a16:creationId xmlns:a16="http://schemas.microsoft.com/office/drawing/2014/main" id="{16B36AC5-D3AD-C94E-7564-FD28ACAAF946}"/>
                </a:ext>
              </a:extLst>
            </p:cNvPr>
            <p:cNvSpPr>
              <a:spLocks noChangeArrowheads="1"/>
            </p:cNvSpPr>
            <p:nvPr/>
          </p:nvSpPr>
          <p:spPr bwMode="auto">
            <a:xfrm rot="16200000">
              <a:off x="-25" y="1714"/>
              <a:ext cx="773"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rgbClr val="000000"/>
                  </a:solidFill>
                  <a:effectLst/>
                  <a:latin typeface="Arial" panose="020B0604020202020204" pitchFamily="34" charset="0"/>
                </a:rPr>
                <a:t>Resources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15" name="Rectangle 88">
              <a:extLst>
                <a:ext uri="{FF2B5EF4-FFF2-40B4-BE49-F238E27FC236}">
                  <a16:creationId xmlns:a16="http://schemas.microsoft.com/office/drawing/2014/main" id="{79813135-A1E5-8C26-86DD-0B12C36684B9}"/>
                </a:ext>
              </a:extLst>
            </p:cNvPr>
            <p:cNvSpPr>
              <a:spLocks noChangeArrowheads="1"/>
            </p:cNvSpPr>
            <p:nvPr/>
          </p:nvSpPr>
          <p:spPr bwMode="auto">
            <a:xfrm>
              <a:off x="5271" y="1369"/>
              <a:ext cx="284" cy="1013"/>
            </a:xfrm>
            <a:prstGeom prst="rect">
              <a:avLst/>
            </a:prstGeom>
            <a:solidFill>
              <a:srgbClr val="FFFFFF"/>
            </a:solidFill>
            <a:ln w="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6416" name="Rectangle 89">
              <a:extLst>
                <a:ext uri="{FF2B5EF4-FFF2-40B4-BE49-F238E27FC236}">
                  <a16:creationId xmlns:a16="http://schemas.microsoft.com/office/drawing/2014/main" id="{4C5E9134-16BC-D54F-0065-FAF8B3280A5C}"/>
                </a:ext>
              </a:extLst>
            </p:cNvPr>
            <p:cNvSpPr>
              <a:spLocks noChangeArrowheads="1"/>
            </p:cNvSpPr>
            <p:nvPr/>
          </p:nvSpPr>
          <p:spPr bwMode="auto">
            <a:xfrm>
              <a:off x="5311" y="1422"/>
              <a:ext cx="82" cy="76"/>
            </a:xfrm>
            <a:prstGeom prst="rect">
              <a:avLst/>
            </a:prstGeom>
            <a:solidFill>
              <a:srgbClr val="0066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6417" name="Rectangle 90">
              <a:extLst>
                <a:ext uri="{FF2B5EF4-FFF2-40B4-BE49-F238E27FC236}">
                  <a16:creationId xmlns:a16="http://schemas.microsoft.com/office/drawing/2014/main" id="{771B742C-978A-E272-77C2-8C0C96F1754B}"/>
                </a:ext>
              </a:extLst>
            </p:cNvPr>
            <p:cNvSpPr>
              <a:spLocks noChangeArrowheads="1"/>
            </p:cNvSpPr>
            <p:nvPr/>
          </p:nvSpPr>
          <p:spPr bwMode="auto">
            <a:xfrm>
              <a:off x="5424" y="1391"/>
              <a:ext cx="1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18" name="Rectangle 91">
              <a:extLst>
                <a:ext uri="{FF2B5EF4-FFF2-40B4-BE49-F238E27FC236}">
                  <a16:creationId xmlns:a16="http://schemas.microsoft.com/office/drawing/2014/main" id="{E31C6428-E7E2-5490-F909-A8BCE012DE42}"/>
                </a:ext>
              </a:extLst>
            </p:cNvPr>
            <p:cNvSpPr>
              <a:spLocks noChangeArrowheads="1"/>
            </p:cNvSpPr>
            <p:nvPr/>
          </p:nvSpPr>
          <p:spPr bwMode="auto">
            <a:xfrm>
              <a:off x="5311" y="1590"/>
              <a:ext cx="82" cy="77"/>
            </a:xfrm>
            <a:prstGeom prst="rect">
              <a:avLst/>
            </a:prstGeom>
            <a:solidFill>
              <a:srgbClr val="FF8080"/>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6419" name="Rectangle 92">
              <a:extLst>
                <a:ext uri="{FF2B5EF4-FFF2-40B4-BE49-F238E27FC236}">
                  <a16:creationId xmlns:a16="http://schemas.microsoft.com/office/drawing/2014/main" id="{71B7ABE6-AD08-E447-A20B-298A9FFC069E}"/>
                </a:ext>
              </a:extLst>
            </p:cNvPr>
            <p:cNvSpPr>
              <a:spLocks noChangeArrowheads="1"/>
            </p:cNvSpPr>
            <p:nvPr/>
          </p:nvSpPr>
          <p:spPr bwMode="auto">
            <a:xfrm>
              <a:off x="5424" y="1559"/>
              <a:ext cx="15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20" name="Rectangle 93">
              <a:extLst>
                <a:ext uri="{FF2B5EF4-FFF2-40B4-BE49-F238E27FC236}">
                  <a16:creationId xmlns:a16="http://schemas.microsoft.com/office/drawing/2014/main" id="{245DFD18-9734-9C5C-B4CB-DC9EFDFB98DF}"/>
                </a:ext>
              </a:extLst>
            </p:cNvPr>
            <p:cNvSpPr>
              <a:spLocks noChangeArrowheads="1"/>
            </p:cNvSpPr>
            <p:nvPr/>
          </p:nvSpPr>
          <p:spPr bwMode="auto">
            <a:xfrm>
              <a:off x="5311" y="1759"/>
              <a:ext cx="82" cy="76"/>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6421" name="Rectangle 94">
              <a:extLst>
                <a:ext uri="{FF2B5EF4-FFF2-40B4-BE49-F238E27FC236}">
                  <a16:creationId xmlns:a16="http://schemas.microsoft.com/office/drawing/2014/main" id="{1F4E642D-E88C-23E3-FD69-5051DF89C543}"/>
                </a:ext>
              </a:extLst>
            </p:cNvPr>
            <p:cNvSpPr>
              <a:spLocks noChangeArrowheads="1"/>
            </p:cNvSpPr>
            <p:nvPr/>
          </p:nvSpPr>
          <p:spPr bwMode="auto">
            <a:xfrm>
              <a:off x="5424" y="1728"/>
              <a:ext cx="161"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22" name="Rectangle 95">
              <a:extLst>
                <a:ext uri="{FF2B5EF4-FFF2-40B4-BE49-F238E27FC236}">
                  <a16:creationId xmlns:a16="http://schemas.microsoft.com/office/drawing/2014/main" id="{0C23C00A-C0E8-0270-0439-89E25BE092F0}"/>
                </a:ext>
              </a:extLst>
            </p:cNvPr>
            <p:cNvSpPr>
              <a:spLocks noChangeArrowheads="1"/>
            </p:cNvSpPr>
            <p:nvPr/>
          </p:nvSpPr>
          <p:spPr bwMode="auto">
            <a:xfrm>
              <a:off x="5311" y="1928"/>
              <a:ext cx="82" cy="76"/>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6423" name="Rectangle 96">
              <a:extLst>
                <a:ext uri="{FF2B5EF4-FFF2-40B4-BE49-F238E27FC236}">
                  <a16:creationId xmlns:a16="http://schemas.microsoft.com/office/drawing/2014/main" id="{09E9B19D-AAA2-FE5B-C93A-431AB21BA4E8}"/>
                </a:ext>
              </a:extLst>
            </p:cNvPr>
            <p:cNvSpPr>
              <a:spLocks noChangeArrowheads="1"/>
            </p:cNvSpPr>
            <p:nvPr/>
          </p:nvSpPr>
          <p:spPr bwMode="auto">
            <a:xfrm>
              <a:off x="5424" y="1897"/>
              <a:ext cx="161"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24" name="Rectangle 97">
              <a:extLst>
                <a:ext uri="{FF2B5EF4-FFF2-40B4-BE49-F238E27FC236}">
                  <a16:creationId xmlns:a16="http://schemas.microsoft.com/office/drawing/2014/main" id="{ED78B5C0-C005-7577-87CA-6BB5438AA859}"/>
                </a:ext>
              </a:extLst>
            </p:cNvPr>
            <p:cNvSpPr>
              <a:spLocks noChangeArrowheads="1"/>
            </p:cNvSpPr>
            <p:nvPr/>
          </p:nvSpPr>
          <p:spPr bwMode="auto">
            <a:xfrm>
              <a:off x="5311" y="2096"/>
              <a:ext cx="82" cy="77"/>
            </a:xfrm>
            <a:prstGeom prst="rect">
              <a:avLst/>
            </a:prstGeom>
            <a:solidFill>
              <a:srgbClr val="FFFF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6425" name="Rectangle 98">
              <a:extLst>
                <a:ext uri="{FF2B5EF4-FFF2-40B4-BE49-F238E27FC236}">
                  <a16:creationId xmlns:a16="http://schemas.microsoft.com/office/drawing/2014/main" id="{DB10B5CF-48CF-4CAF-F52F-86013360DA06}"/>
                </a:ext>
              </a:extLst>
            </p:cNvPr>
            <p:cNvSpPr>
              <a:spLocks noChangeArrowheads="1"/>
            </p:cNvSpPr>
            <p:nvPr/>
          </p:nvSpPr>
          <p:spPr bwMode="auto">
            <a:xfrm>
              <a:off x="5424" y="2065"/>
              <a:ext cx="15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26" name="Rectangle 99">
              <a:extLst>
                <a:ext uri="{FF2B5EF4-FFF2-40B4-BE49-F238E27FC236}">
                  <a16:creationId xmlns:a16="http://schemas.microsoft.com/office/drawing/2014/main" id="{EDFEE32E-0D4C-BC13-11A2-BF2D9F197D0A}"/>
                </a:ext>
              </a:extLst>
            </p:cNvPr>
            <p:cNvSpPr>
              <a:spLocks noChangeArrowheads="1"/>
            </p:cNvSpPr>
            <p:nvPr/>
          </p:nvSpPr>
          <p:spPr bwMode="auto">
            <a:xfrm>
              <a:off x="5311" y="2265"/>
              <a:ext cx="82" cy="76"/>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6427" name="Rectangle 100">
              <a:extLst>
                <a:ext uri="{FF2B5EF4-FFF2-40B4-BE49-F238E27FC236}">
                  <a16:creationId xmlns:a16="http://schemas.microsoft.com/office/drawing/2014/main" id="{E6901AE5-F549-6107-29A6-59C5CE005D46}"/>
                </a:ext>
              </a:extLst>
            </p:cNvPr>
            <p:cNvSpPr>
              <a:spLocks noChangeArrowheads="1"/>
            </p:cNvSpPr>
            <p:nvPr/>
          </p:nvSpPr>
          <p:spPr bwMode="auto">
            <a:xfrm>
              <a:off x="5424" y="2234"/>
              <a:ext cx="15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000000"/>
                  </a:solidFill>
                  <a:effectLst/>
                  <a:latin typeface="Arial" panose="020B060402020202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28" name="Line 101">
              <a:extLst>
                <a:ext uri="{FF2B5EF4-FFF2-40B4-BE49-F238E27FC236}">
                  <a16:creationId xmlns:a16="http://schemas.microsoft.com/office/drawing/2014/main" id="{12FBF7C6-557A-971C-00B5-75A92DF30D1F}"/>
                </a:ext>
              </a:extLst>
            </p:cNvPr>
            <p:cNvSpPr>
              <a:spLocks noChangeShapeType="1"/>
            </p:cNvSpPr>
            <p:nvPr/>
          </p:nvSpPr>
          <p:spPr bwMode="auto">
            <a:xfrm>
              <a:off x="2235" y="1191"/>
              <a:ext cx="889" cy="0"/>
            </a:xfrm>
            <a:prstGeom prst="line">
              <a:avLst/>
            </a:prstGeom>
            <a:noFill/>
            <a:ln w="38100">
              <a:solidFill>
                <a:srgbClr val="FF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grpSp>
    </p:spTree>
    <p:extLst>
      <p:ext uri="{BB962C8B-B14F-4D97-AF65-F5344CB8AC3E}">
        <p14:creationId xmlns:p14="http://schemas.microsoft.com/office/powerpoint/2010/main" val="350747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82613" y="385434"/>
            <a:ext cx="7543800" cy="615360"/>
          </a:xfrm>
        </p:spPr>
        <p:txBody>
          <a:bodyPr>
            <a:normAutofit/>
          </a:bodyPr>
          <a:lstStyle/>
          <a:p>
            <a:pPr eaLnBrk="1" hangingPunct="1"/>
            <a:r>
              <a:rPr lang="en-US" sz="3600" b="1" dirty="0">
                <a:latin typeface="+mn-lt"/>
                <a:cs typeface="Arial" panose="020B0604020202020204" pitchFamily="34" charset="0"/>
              </a:rPr>
              <a:t>Resource Loading Charts</a:t>
            </a:r>
          </a:p>
        </p:txBody>
      </p:sp>
      <p:sp>
        <p:nvSpPr>
          <p:cNvPr id="14339" name="Rectangle 3"/>
          <p:cNvSpPr>
            <a:spLocks noGrp="1" noChangeArrowheads="1"/>
          </p:cNvSpPr>
          <p:nvPr>
            <p:ph idx="1"/>
          </p:nvPr>
        </p:nvSpPr>
        <p:spPr>
          <a:xfrm>
            <a:off x="438331" y="1020538"/>
            <a:ext cx="8424936" cy="604704"/>
          </a:xfrm>
        </p:spPr>
        <p:txBody>
          <a:bodyPr>
            <a:normAutofit fontScale="85000" lnSpcReduction="20000"/>
          </a:bodyPr>
          <a:lstStyle/>
          <a:p>
            <a:pPr marL="182563" indent="-182563" algn="ctr" eaLnBrk="1" hangingPunct="1">
              <a:buFontTx/>
              <a:buNone/>
            </a:pPr>
            <a:r>
              <a:rPr lang="en-US" sz="1800" dirty="0"/>
              <a:t>Resource loading charts used to display the amount of resources required as a function of time on a graph. </a:t>
            </a:r>
          </a:p>
          <a:p>
            <a:pPr marL="182563" indent="-182563" algn="ctr" eaLnBrk="1" hangingPunct="1">
              <a:buFontTx/>
              <a:buNone/>
            </a:pPr>
            <a:r>
              <a:rPr lang="en-US" sz="1800" dirty="0"/>
              <a:t>Each </a:t>
            </a:r>
            <a:r>
              <a:rPr lang="en-US" sz="1800" dirty="0">
                <a:solidFill>
                  <a:srgbClr val="00B050"/>
                </a:solidFill>
              </a:rPr>
              <a:t>activity</a:t>
            </a:r>
            <a:r>
              <a:rPr lang="en-US" sz="1800" dirty="0"/>
              <a:t> is typically represented in the charts as a block. </a:t>
            </a:r>
          </a:p>
        </p:txBody>
      </p:sp>
      <p:sp>
        <p:nvSpPr>
          <p:cNvPr id="3" name="AutoShape 3"/>
          <p:cNvSpPr>
            <a:spLocks noChangeAspect="1" noChangeArrowheads="1" noTextEdit="1"/>
          </p:cNvSpPr>
          <p:nvPr/>
        </p:nvSpPr>
        <p:spPr bwMode="auto">
          <a:xfrm>
            <a:off x="1012061" y="1125103"/>
            <a:ext cx="7277475" cy="497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Rectangle 5"/>
          <p:cNvSpPr>
            <a:spLocks noChangeArrowheads="1"/>
          </p:cNvSpPr>
          <p:nvPr/>
        </p:nvSpPr>
        <p:spPr bwMode="auto">
          <a:xfrm>
            <a:off x="1672681" y="1878956"/>
            <a:ext cx="5953571" cy="331908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Line 6"/>
          <p:cNvSpPr>
            <a:spLocks noChangeShapeType="1"/>
          </p:cNvSpPr>
          <p:nvPr/>
        </p:nvSpPr>
        <p:spPr bwMode="auto">
          <a:xfrm>
            <a:off x="1672681" y="4866396"/>
            <a:ext cx="595357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Line 7"/>
          <p:cNvSpPr>
            <a:spLocks noChangeShapeType="1"/>
          </p:cNvSpPr>
          <p:nvPr/>
        </p:nvSpPr>
        <p:spPr bwMode="auto">
          <a:xfrm>
            <a:off x="1672681" y="4534754"/>
            <a:ext cx="595357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8"/>
          <p:cNvSpPr>
            <a:spLocks noChangeShapeType="1"/>
          </p:cNvSpPr>
          <p:nvPr/>
        </p:nvSpPr>
        <p:spPr bwMode="auto">
          <a:xfrm>
            <a:off x="1672681" y="4203113"/>
            <a:ext cx="595357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Line 9"/>
          <p:cNvSpPr>
            <a:spLocks noChangeShapeType="1"/>
          </p:cNvSpPr>
          <p:nvPr/>
        </p:nvSpPr>
        <p:spPr bwMode="auto">
          <a:xfrm>
            <a:off x="1672681" y="3870139"/>
            <a:ext cx="595357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Line 10"/>
          <p:cNvSpPr>
            <a:spLocks noChangeShapeType="1"/>
          </p:cNvSpPr>
          <p:nvPr/>
        </p:nvSpPr>
        <p:spPr bwMode="auto">
          <a:xfrm>
            <a:off x="1672681" y="3539829"/>
            <a:ext cx="595357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Line 11"/>
          <p:cNvSpPr>
            <a:spLocks noChangeShapeType="1"/>
          </p:cNvSpPr>
          <p:nvPr/>
        </p:nvSpPr>
        <p:spPr bwMode="auto">
          <a:xfrm>
            <a:off x="1672681" y="3206855"/>
            <a:ext cx="595357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Line 12"/>
          <p:cNvSpPr>
            <a:spLocks noChangeShapeType="1"/>
          </p:cNvSpPr>
          <p:nvPr/>
        </p:nvSpPr>
        <p:spPr bwMode="auto">
          <a:xfrm>
            <a:off x="1672681" y="2875213"/>
            <a:ext cx="595357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Line 13"/>
          <p:cNvSpPr>
            <a:spLocks noChangeShapeType="1"/>
          </p:cNvSpPr>
          <p:nvPr/>
        </p:nvSpPr>
        <p:spPr bwMode="auto">
          <a:xfrm>
            <a:off x="1672681" y="2542239"/>
            <a:ext cx="595357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Line 14"/>
          <p:cNvSpPr>
            <a:spLocks noChangeShapeType="1"/>
          </p:cNvSpPr>
          <p:nvPr/>
        </p:nvSpPr>
        <p:spPr bwMode="auto">
          <a:xfrm>
            <a:off x="1672681" y="2210597"/>
            <a:ext cx="595357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Line 15"/>
          <p:cNvSpPr>
            <a:spLocks noChangeShapeType="1"/>
          </p:cNvSpPr>
          <p:nvPr/>
        </p:nvSpPr>
        <p:spPr bwMode="auto">
          <a:xfrm>
            <a:off x="1672681" y="1878956"/>
            <a:ext cx="595357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Rectangle 16"/>
          <p:cNvSpPr>
            <a:spLocks noChangeArrowheads="1"/>
          </p:cNvSpPr>
          <p:nvPr/>
        </p:nvSpPr>
        <p:spPr bwMode="auto">
          <a:xfrm>
            <a:off x="1672681" y="1878956"/>
            <a:ext cx="5953571" cy="3319083"/>
          </a:xfrm>
          <a:prstGeom prst="rect">
            <a:avLst/>
          </a:prstGeom>
          <a:noFill/>
          <a:ln w="12700">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Rectangle 17"/>
          <p:cNvSpPr>
            <a:spLocks noChangeArrowheads="1"/>
          </p:cNvSpPr>
          <p:nvPr/>
        </p:nvSpPr>
        <p:spPr bwMode="auto">
          <a:xfrm>
            <a:off x="1672681" y="3206855"/>
            <a:ext cx="426206" cy="1991183"/>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 name="Rectangle 18"/>
          <p:cNvSpPr>
            <a:spLocks noChangeArrowheads="1"/>
          </p:cNvSpPr>
          <p:nvPr/>
        </p:nvSpPr>
        <p:spPr bwMode="auto">
          <a:xfrm>
            <a:off x="2098887" y="3206855"/>
            <a:ext cx="424875" cy="1991183"/>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 name="Rectangle 19"/>
          <p:cNvSpPr>
            <a:spLocks noChangeArrowheads="1"/>
          </p:cNvSpPr>
          <p:nvPr/>
        </p:nvSpPr>
        <p:spPr bwMode="auto">
          <a:xfrm>
            <a:off x="2523762" y="3206855"/>
            <a:ext cx="424875" cy="1991183"/>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 name="Rectangle 20"/>
          <p:cNvSpPr>
            <a:spLocks noChangeArrowheads="1"/>
          </p:cNvSpPr>
          <p:nvPr/>
        </p:nvSpPr>
        <p:spPr bwMode="auto">
          <a:xfrm>
            <a:off x="2948637" y="3206855"/>
            <a:ext cx="426206" cy="1991183"/>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 name="Rectangle 21"/>
          <p:cNvSpPr>
            <a:spLocks noChangeArrowheads="1"/>
          </p:cNvSpPr>
          <p:nvPr/>
        </p:nvSpPr>
        <p:spPr bwMode="auto">
          <a:xfrm>
            <a:off x="3374843" y="4534754"/>
            <a:ext cx="423543" cy="663284"/>
          </a:xfrm>
          <a:prstGeom prst="rect">
            <a:avLst/>
          </a:prstGeom>
          <a:solidFill>
            <a:srgbClr val="FFFF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 name="Rectangle 22"/>
          <p:cNvSpPr>
            <a:spLocks noChangeArrowheads="1"/>
          </p:cNvSpPr>
          <p:nvPr/>
        </p:nvSpPr>
        <p:spPr bwMode="auto">
          <a:xfrm>
            <a:off x="3798386" y="2875213"/>
            <a:ext cx="426206" cy="2322825"/>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 name="Rectangle 23"/>
          <p:cNvSpPr>
            <a:spLocks noChangeArrowheads="1"/>
          </p:cNvSpPr>
          <p:nvPr/>
        </p:nvSpPr>
        <p:spPr bwMode="auto">
          <a:xfrm>
            <a:off x="4224592" y="2875213"/>
            <a:ext cx="426206" cy="2322825"/>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 name="Rectangle 24"/>
          <p:cNvSpPr>
            <a:spLocks noChangeArrowheads="1"/>
          </p:cNvSpPr>
          <p:nvPr/>
        </p:nvSpPr>
        <p:spPr bwMode="auto">
          <a:xfrm>
            <a:off x="4650799" y="2875213"/>
            <a:ext cx="423543" cy="2322825"/>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 name="Rectangle 25"/>
          <p:cNvSpPr>
            <a:spLocks noChangeArrowheads="1"/>
          </p:cNvSpPr>
          <p:nvPr/>
        </p:nvSpPr>
        <p:spPr bwMode="auto">
          <a:xfrm>
            <a:off x="5074341" y="2875213"/>
            <a:ext cx="426206" cy="2322825"/>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 name="Rectangle 26"/>
          <p:cNvSpPr>
            <a:spLocks noChangeArrowheads="1"/>
          </p:cNvSpPr>
          <p:nvPr/>
        </p:nvSpPr>
        <p:spPr bwMode="auto">
          <a:xfrm>
            <a:off x="3374843" y="3870139"/>
            <a:ext cx="423543" cy="664616"/>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 name="Rectangle 27"/>
          <p:cNvSpPr>
            <a:spLocks noChangeArrowheads="1"/>
          </p:cNvSpPr>
          <p:nvPr/>
        </p:nvSpPr>
        <p:spPr bwMode="auto">
          <a:xfrm>
            <a:off x="5502638" y="3518710"/>
            <a:ext cx="426206" cy="664616"/>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 name="Rectangle 28"/>
          <p:cNvSpPr>
            <a:spLocks noChangeArrowheads="1"/>
          </p:cNvSpPr>
          <p:nvPr/>
        </p:nvSpPr>
        <p:spPr bwMode="auto">
          <a:xfrm>
            <a:off x="5906384" y="3498923"/>
            <a:ext cx="426206" cy="664616"/>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 name="Rectangle 29"/>
          <p:cNvSpPr>
            <a:spLocks noChangeArrowheads="1"/>
          </p:cNvSpPr>
          <p:nvPr/>
        </p:nvSpPr>
        <p:spPr bwMode="auto">
          <a:xfrm>
            <a:off x="5500548" y="4203113"/>
            <a:ext cx="424875" cy="994926"/>
          </a:xfrm>
          <a:prstGeom prst="rect">
            <a:avLst/>
          </a:prstGeom>
          <a:solidFill>
            <a:srgbClr val="FF8080"/>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 name="Rectangle 30"/>
          <p:cNvSpPr>
            <a:spLocks noChangeArrowheads="1"/>
          </p:cNvSpPr>
          <p:nvPr/>
        </p:nvSpPr>
        <p:spPr bwMode="auto">
          <a:xfrm>
            <a:off x="5925422" y="4203113"/>
            <a:ext cx="424875" cy="994926"/>
          </a:xfrm>
          <a:prstGeom prst="rect">
            <a:avLst/>
          </a:prstGeom>
          <a:solidFill>
            <a:srgbClr val="FF8080"/>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 name="Rectangle 31"/>
          <p:cNvSpPr>
            <a:spLocks noChangeArrowheads="1"/>
          </p:cNvSpPr>
          <p:nvPr/>
        </p:nvSpPr>
        <p:spPr bwMode="auto">
          <a:xfrm>
            <a:off x="6350297" y="3206855"/>
            <a:ext cx="426206" cy="1991183"/>
          </a:xfrm>
          <a:prstGeom prst="rect">
            <a:avLst/>
          </a:prstGeom>
          <a:solidFill>
            <a:srgbClr val="0066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336" name="Line 32"/>
          <p:cNvSpPr>
            <a:spLocks noChangeShapeType="1"/>
          </p:cNvSpPr>
          <p:nvPr/>
        </p:nvSpPr>
        <p:spPr bwMode="auto">
          <a:xfrm>
            <a:off x="1672681" y="1878956"/>
            <a:ext cx="0" cy="3319083"/>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37" name="Line 33"/>
          <p:cNvSpPr>
            <a:spLocks noChangeShapeType="1"/>
          </p:cNvSpPr>
          <p:nvPr/>
        </p:nvSpPr>
        <p:spPr bwMode="auto">
          <a:xfrm>
            <a:off x="1618073" y="5198038"/>
            <a:ext cx="54608"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0" name="Line 34"/>
          <p:cNvSpPr>
            <a:spLocks noChangeShapeType="1"/>
          </p:cNvSpPr>
          <p:nvPr/>
        </p:nvSpPr>
        <p:spPr bwMode="auto">
          <a:xfrm>
            <a:off x="1618073" y="4866396"/>
            <a:ext cx="54608"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1" name="Line 35"/>
          <p:cNvSpPr>
            <a:spLocks noChangeShapeType="1"/>
          </p:cNvSpPr>
          <p:nvPr/>
        </p:nvSpPr>
        <p:spPr bwMode="auto">
          <a:xfrm>
            <a:off x="1618073" y="4534754"/>
            <a:ext cx="54608"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2" name="Line 36"/>
          <p:cNvSpPr>
            <a:spLocks noChangeShapeType="1"/>
          </p:cNvSpPr>
          <p:nvPr/>
        </p:nvSpPr>
        <p:spPr bwMode="auto">
          <a:xfrm>
            <a:off x="1618073" y="4203113"/>
            <a:ext cx="54608"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3" name="Line 37"/>
          <p:cNvSpPr>
            <a:spLocks noChangeShapeType="1"/>
          </p:cNvSpPr>
          <p:nvPr/>
        </p:nvSpPr>
        <p:spPr bwMode="auto">
          <a:xfrm>
            <a:off x="1618073" y="3870139"/>
            <a:ext cx="54608"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4" name="Line 38"/>
          <p:cNvSpPr>
            <a:spLocks noChangeShapeType="1"/>
          </p:cNvSpPr>
          <p:nvPr/>
        </p:nvSpPr>
        <p:spPr bwMode="auto">
          <a:xfrm>
            <a:off x="1618073" y="3539829"/>
            <a:ext cx="54608"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5" name="Line 39"/>
          <p:cNvSpPr>
            <a:spLocks noChangeShapeType="1"/>
          </p:cNvSpPr>
          <p:nvPr/>
        </p:nvSpPr>
        <p:spPr bwMode="auto">
          <a:xfrm>
            <a:off x="1618073" y="3206855"/>
            <a:ext cx="54608"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6" name="Line 40"/>
          <p:cNvSpPr>
            <a:spLocks noChangeShapeType="1"/>
          </p:cNvSpPr>
          <p:nvPr/>
        </p:nvSpPr>
        <p:spPr bwMode="auto">
          <a:xfrm>
            <a:off x="1618073" y="2875213"/>
            <a:ext cx="54608"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7" name="Line 41"/>
          <p:cNvSpPr>
            <a:spLocks noChangeShapeType="1"/>
          </p:cNvSpPr>
          <p:nvPr/>
        </p:nvSpPr>
        <p:spPr bwMode="auto">
          <a:xfrm>
            <a:off x="1618073" y="2542239"/>
            <a:ext cx="54608"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8" name="Line 42"/>
          <p:cNvSpPr>
            <a:spLocks noChangeShapeType="1"/>
          </p:cNvSpPr>
          <p:nvPr/>
        </p:nvSpPr>
        <p:spPr bwMode="auto">
          <a:xfrm>
            <a:off x="1618073" y="2210597"/>
            <a:ext cx="54608"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49" name="Line 43"/>
          <p:cNvSpPr>
            <a:spLocks noChangeShapeType="1"/>
          </p:cNvSpPr>
          <p:nvPr/>
        </p:nvSpPr>
        <p:spPr bwMode="auto">
          <a:xfrm>
            <a:off x="1618073" y="1878956"/>
            <a:ext cx="54608"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0" name="Line 44"/>
          <p:cNvSpPr>
            <a:spLocks noChangeShapeType="1"/>
          </p:cNvSpPr>
          <p:nvPr/>
        </p:nvSpPr>
        <p:spPr bwMode="auto">
          <a:xfrm>
            <a:off x="1672681" y="5198038"/>
            <a:ext cx="595357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1" name="Line 45"/>
          <p:cNvSpPr>
            <a:spLocks noChangeShapeType="1"/>
          </p:cNvSpPr>
          <p:nvPr/>
        </p:nvSpPr>
        <p:spPr bwMode="auto">
          <a:xfrm flipV="1">
            <a:off x="1672681"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2" name="Line 46"/>
          <p:cNvSpPr>
            <a:spLocks noChangeShapeType="1"/>
          </p:cNvSpPr>
          <p:nvPr/>
        </p:nvSpPr>
        <p:spPr bwMode="auto">
          <a:xfrm flipV="1">
            <a:off x="2098887"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3" name="Line 47"/>
          <p:cNvSpPr>
            <a:spLocks noChangeShapeType="1"/>
          </p:cNvSpPr>
          <p:nvPr/>
        </p:nvSpPr>
        <p:spPr bwMode="auto">
          <a:xfrm flipV="1">
            <a:off x="2523762"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4" name="Line 48"/>
          <p:cNvSpPr>
            <a:spLocks noChangeShapeType="1"/>
          </p:cNvSpPr>
          <p:nvPr/>
        </p:nvSpPr>
        <p:spPr bwMode="auto">
          <a:xfrm flipV="1">
            <a:off x="2948637"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5" name="Line 49"/>
          <p:cNvSpPr>
            <a:spLocks noChangeShapeType="1"/>
          </p:cNvSpPr>
          <p:nvPr/>
        </p:nvSpPr>
        <p:spPr bwMode="auto">
          <a:xfrm flipV="1">
            <a:off x="3374843"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6" name="Line 50"/>
          <p:cNvSpPr>
            <a:spLocks noChangeShapeType="1"/>
          </p:cNvSpPr>
          <p:nvPr/>
        </p:nvSpPr>
        <p:spPr bwMode="auto">
          <a:xfrm flipV="1">
            <a:off x="3798386"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7" name="Line 51"/>
          <p:cNvSpPr>
            <a:spLocks noChangeShapeType="1"/>
          </p:cNvSpPr>
          <p:nvPr/>
        </p:nvSpPr>
        <p:spPr bwMode="auto">
          <a:xfrm flipV="1">
            <a:off x="4224592"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8" name="Line 52"/>
          <p:cNvSpPr>
            <a:spLocks noChangeShapeType="1"/>
          </p:cNvSpPr>
          <p:nvPr/>
        </p:nvSpPr>
        <p:spPr bwMode="auto">
          <a:xfrm flipV="1">
            <a:off x="4650799"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59" name="Line 53"/>
          <p:cNvSpPr>
            <a:spLocks noChangeShapeType="1"/>
          </p:cNvSpPr>
          <p:nvPr/>
        </p:nvSpPr>
        <p:spPr bwMode="auto">
          <a:xfrm flipV="1">
            <a:off x="5074341"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60" name="Line 54"/>
          <p:cNvSpPr>
            <a:spLocks noChangeShapeType="1"/>
          </p:cNvSpPr>
          <p:nvPr/>
        </p:nvSpPr>
        <p:spPr bwMode="auto">
          <a:xfrm flipV="1">
            <a:off x="5500548"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61" name="Line 55"/>
          <p:cNvSpPr>
            <a:spLocks noChangeShapeType="1"/>
          </p:cNvSpPr>
          <p:nvPr/>
        </p:nvSpPr>
        <p:spPr bwMode="auto">
          <a:xfrm flipV="1">
            <a:off x="5925422"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62" name="Line 56"/>
          <p:cNvSpPr>
            <a:spLocks noChangeShapeType="1"/>
          </p:cNvSpPr>
          <p:nvPr/>
        </p:nvSpPr>
        <p:spPr bwMode="auto">
          <a:xfrm flipV="1">
            <a:off x="6350297"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63" name="Line 57"/>
          <p:cNvSpPr>
            <a:spLocks noChangeShapeType="1"/>
          </p:cNvSpPr>
          <p:nvPr/>
        </p:nvSpPr>
        <p:spPr bwMode="auto">
          <a:xfrm flipV="1">
            <a:off x="6776503"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64" name="Line 58"/>
          <p:cNvSpPr>
            <a:spLocks noChangeShapeType="1"/>
          </p:cNvSpPr>
          <p:nvPr/>
        </p:nvSpPr>
        <p:spPr bwMode="auto">
          <a:xfrm flipV="1">
            <a:off x="7200046"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65" name="Line 59"/>
          <p:cNvSpPr>
            <a:spLocks noChangeShapeType="1"/>
          </p:cNvSpPr>
          <p:nvPr/>
        </p:nvSpPr>
        <p:spPr bwMode="auto">
          <a:xfrm flipV="1">
            <a:off x="7626252" y="5198038"/>
            <a:ext cx="0" cy="54608"/>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66" name="Rectangle 60"/>
          <p:cNvSpPr>
            <a:spLocks noChangeArrowheads="1"/>
          </p:cNvSpPr>
          <p:nvPr/>
        </p:nvSpPr>
        <p:spPr bwMode="auto">
          <a:xfrm>
            <a:off x="2644964" y="1247637"/>
            <a:ext cx="0" cy="23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367" name="Rectangle 61"/>
          <p:cNvSpPr>
            <a:spLocks noChangeArrowheads="1"/>
          </p:cNvSpPr>
          <p:nvPr/>
        </p:nvSpPr>
        <p:spPr bwMode="auto">
          <a:xfrm>
            <a:off x="1439599" y="5096814"/>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68" name="Rectangle 62"/>
          <p:cNvSpPr>
            <a:spLocks noChangeArrowheads="1"/>
          </p:cNvSpPr>
          <p:nvPr/>
        </p:nvSpPr>
        <p:spPr bwMode="auto">
          <a:xfrm>
            <a:off x="1439599" y="4765172"/>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69" name="Rectangle 63"/>
          <p:cNvSpPr>
            <a:spLocks noChangeArrowheads="1"/>
          </p:cNvSpPr>
          <p:nvPr/>
        </p:nvSpPr>
        <p:spPr bwMode="auto">
          <a:xfrm>
            <a:off x="1439599" y="4433530"/>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0" name="Rectangle 64"/>
          <p:cNvSpPr>
            <a:spLocks noChangeArrowheads="1"/>
          </p:cNvSpPr>
          <p:nvPr/>
        </p:nvSpPr>
        <p:spPr bwMode="auto">
          <a:xfrm>
            <a:off x="1439599" y="4101888"/>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1" name="Rectangle 65"/>
          <p:cNvSpPr>
            <a:spLocks noChangeArrowheads="1"/>
          </p:cNvSpPr>
          <p:nvPr/>
        </p:nvSpPr>
        <p:spPr bwMode="auto">
          <a:xfrm>
            <a:off x="1439599" y="3768915"/>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2" name="Rectangle 66"/>
          <p:cNvSpPr>
            <a:spLocks noChangeArrowheads="1"/>
          </p:cNvSpPr>
          <p:nvPr/>
        </p:nvSpPr>
        <p:spPr bwMode="auto">
          <a:xfrm>
            <a:off x="1439599" y="3438605"/>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3" name="Rectangle 67"/>
          <p:cNvSpPr>
            <a:spLocks noChangeArrowheads="1"/>
          </p:cNvSpPr>
          <p:nvPr/>
        </p:nvSpPr>
        <p:spPr bwMode="auto">
          <a:xfrm>
            <a:off x="1439599" y="3105631"/>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4" name="Rectangle 68"/>
          <p:cNvSpPr>
            <a:spLocks noChangeArrowheads="1"/>
          </p:cNvSpPr>
          <p:nvPr/>
        </p:nvSpPr>
        <p:spPr bwMode="auto">
          <a:xfrm>
            <a:off x="1439599" y="2773989"/>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5" name="Rectangle 69"/>
          <p:cNvSpPr>
            <a:spLocks noChangeArrowheads="1"/>
          </p:cNvSpPr>
          <p:nvPr/>
        </p:nvSpPr>
        <p:spPr bwMode="auto">
          <a:xfrm>
            <a:off x="1439599" y="2441015"/>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6" name="Rectangle 70"/>
          <p:cNvSpPr>
            <a:spLocks noChangeArrowheads="1"/>
          </p:cNvSpPr>
          <p:nvPr/>
        </p:nvSpPr>
        <p:spPr bwMode="auto">
          <a:xfrm>
            <a:off x="1439599" y="2110705"/>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7" name="Rectangle 71"/>
          <p:cNvSpPr>
            <a:spLocks noChangeArrowheads="1"/>
          </p:cNvSpPr>
          <p:nvPr/>
        </p:nvSpPr>
        <p:spPr bwMode="auto">
          <a:xfrm>
            <a:off x="1341039" y="1777732"/>
            <a:ext cx="282362"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8" name="Rectangle 72"/>
          <p:cNvSpPr>
            <a:spLocks noChangeArrowheads="1"/>
          </p:cNvSpPr>
          <p:nvPr/>
        </p:nvSpPr>
        <p:spPr bwMode="auto">
          <a:xfrm>
            <a:off x="1836504" y="5353870"/>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79" name="Rectangle 73"/>
          <p:cNvSpPr>
            <a:spLocks noChangeArrowheads="1"/>
          </p:cNvSpPr>
          <p:nvPr/>
        </p:nvSpPr>
        <p:spPr bwMode="auto">
          <a:xfrm>
            <a:off x="2262711" y="5353870"/>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00"/>
                </a:solidFill>
                <a:effectLst/>
                <a:latin typeface="Arial" panose="020B0604020202020204" pitchFamily="34" charset="0"/>
              </a:rPr>
              <a:t>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380" name="Rectangle 74"/>
          <p:cNvSpPr>
            <a:spLocks noChangeArrowheads="1"/>
          </p:cNvSpPr>
          <p:nvPr/>
        </p:nvSpPr>
        <p:spPr bwMode="auto">
          <a:xfrm>
            <a:off x="2687585" y="5353870"/>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rgbClr val="000000"/>
                </a:solidFill>
                <a:effectLst/>
                <a:latin typeface="Arial" panose="020B0604020202020204" pitchFamily="34" charset="0"/>
              </a:rPr>
              <a:t>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381" name="Rectangle 75"/>
          <p:cNvSpPr>
            <a:spLocks noChangeArrowheads="1"/>
          </p:cNvSpPr>
          <p:nvPr/>
        </p:nvSpPr>
        <p:spPr bwMode="auto">
          <a:xfrm>
            <a:off x="3112460" y="5353870"/>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2" name="Rectangle 76"/>
          <p:cNvSpPr>
            <a:spLocks noChangeArrowheads="1"/>
          </p:cNvSpPr>
          <p:nvPr/>
        </p:nvSpPr>
        <p:spPr bwMode="auto">
          <a:xfrm>
            <a:off x="3538666" y="5353870"/>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3" name="Rectangle 77"/>
          <p:cNvSpPr>
            <a:spLocks noChangeArrowheads="1"/>
          </p:cNvSpPr>
          <p:nvPr/>
        </p:nvSpPr>
        <p:spPr bwMode="auto">
          <a:xfrm>
            <a:off x="3963541" y="5353870"/>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4" name="Rectangle 78"/>
          <p:cNvSpPr>
            <a:spLocks noChangeArrowheads="1"/>
          </p:cNvSpPr>
          <p:nvPr/>
        </p:nvSpPr>
        <p:spPr bwMode="auto">
          <a:xfrm>
            <a:off x="4388415" y="5353870"/>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5" name="Rectangle 79"/>
          <p:cNvSpPr>
            <a:spLocks noChangeArrowheads="1"/>
          </p:cNvSpPr>
          <p:nvPr/>
        </p:nvSpPr>
        <p:spPr bwMode="auto">
          <a:xfrm>
            <a:off x="4813290" y="5353870"/>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6" name="Rectangle 80"/>
          <p:cNvSpPr>
            <a:spLocks noChangeArrowheads="1"/>
          </p:cNvSpPr>
          <p:nvPr/>
        </p:nvSpPr>
        <p:spPr bwMode="auto">
          <a:xfrm>
            <a:off x="5238164" y="5353870"/>
            <a:ext cx="18113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7" name="Rectangle 81"/>
          <p:cNvSpPr>
            <a:spLocks noChangeArrowheads="1"/>
          </p:cNvSpPr>
          <p:nvPr/>
        </p:nvSpPr>
        <p:spPr bwMode="auto">
          <a:xfrm>
            <a:off x="5613759" y="5353870"/>
            <a:ext cx="282362"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8" name="Rectangle 82"/>
          <p:cNvSpPr>
            <a:spLocks noChangeArrowheads="1"/>
          </p:cNvSpPr>
          <p:nvPr/>
        </p:nvSpPr>
        <p:spPr bwMode="auto">
          <a:xfrm>
            <a:off x="6039965" y="5353870"/>
            <a:ext cx="282362"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89" name="Rectangle 83"/>
          <p:cNvSpPr>
            <a:spLocks noChangeArrowheads="1"/>
          </p:cNvSpPr>
          <p:nvPr/>
        </p:nvSpPr>
        <p:spPr bwMode="auto">
          <a:xfrm>
            <a:off x="6464840" y="5353870"/>
            <a:ext cx="282362"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90" name="Rectangle 84"/>
          <p:cNvSpPr>
            <a:spLocks noChangeArrowheads="1"/>
          </p:cNvSpPr>
          <p:nvPr/>
        </p:nvSpPr>
        <p:spPr bwMode="auto">
          <a:xfrm>
            <a:off x="6889714" y="5353870"/>
            <a:ext cx="282362"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91" name="Rectangle 85"/>
          <p:cNvSpPr>
            <a:spLocks noChangeArrowheads="1"/>
          </p:cNvSpPr>
          <p:nvPr/>
        </p:nvSpPr>
        <p:spPr bwMode="auto">
          <a:xfrm>
            <a:off x="7315921" y="5353870"/>
            <a:ext cx="282362"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92" name="Rectangle 86"/>
          <p:cNvSpPr>
            <a:spLocks noChangeArrowheads="1"/>
          </p:cNvSpPr>
          <p:nvPr/>
        </p:nvSpPr>
        <p:spPr bwMode="auto">
          <a:xfrm>
            <a:off x="4114045" y="5648219"/>
            <a:ext cx="1184055" cy="27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mn-lt"/>
              </a:rPr>
              <a:t>Project Days</a:t>
            </a:r>
            <a:endParaRPr kumimoji="0" lang="en-US" altLang="en-US" b="0" i="0" u="none" strike="noStrike" cap="none" normalizeH="0" baseline="0" dirty="0">
              <a:ln>
                <a:noFill/>
              </a:ln>
              <a:solidFill>
                <a:schemeClr val="tx1"/>
              </a:solidFill>
              <a:effectLst/>
              <a:latin typeface="+mn-lt"/>
            </a:endParaRPr>
          </a:p>
        </p:txBody>
      </p:sp>
      <p:sp>
        <p:nvSpPr>
          <p:cNvPr id="14393" name="Rectangle 87"/>
          <p:cNvSpPr>
            <a:spLocks noChangeArrowheads="1"/>
          </p:cNvSpPr>
          <p:nvPr/>
        </p:nvSpPr>
        <p:spPr bwMode="auto">
          <a:xfrm rot="16200000">
            <a:off x="700398" y="3342708"/>
            <a:ext cx="961628" cy="277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mn-lt"/>
              </a:rPr>
              <a:t>Resources</a:t>
            </a:r>
            <a:endParaRPr kumimoji="0" lang="en-US" altLang="en-US" b="0" i="0" u="none" strike="noStrike" cap="none" normalizeH="0" baseline="0" dirty="0">
              <a:ln>
                <a:noFill/>
              </a:ln>
              <a:solidFill>
                <a:schemeClr val="tx1"/>
              </a:solidFill>
              <a:effectLst/>
              <a:latin typeface="+mn-lt"/>
            </a:endParaRPr>
          </a:p>
        </p:txBody>
      </p:sp>
      <p:sp>
        <p:nvSpPr>
          <p:cNvPr id="14394" name="Rectangle 88"/>
          <p:cNvSpPr>
            <a:spLocks noChangeArrowheads="1"/>
          </p:cNvSpPr>
          <p:nvPr/>
        </p:nvSpPr>
        <p:spPr bwMode="auto">
          <a:xfrm>
            <a:off x="7711494" y="2809950"/>
            <a:ext cx="378258" cy="1458425"/>
          </a:xfrm>
          <a:prstGeom prst="rect">
            <a:avLst/>
          </a:prstGeom>
          <a:solidFill>
            <a:srgbClr val="FFFFFF"/>
          </a:solidFill>
          <a:ln w="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395" name="Rectangle 89"/>
          <p:cNvSpPr>
            <a:spLocks noChangeArrowheads="1"/>
          </p:cNvSpPr>
          <p:nvPr/>
        </p:nvSpPr>
        <p:spPr bwMode="auto">
          <a:xfrm>
            <a:off x="7764769" y="2884536"/>
            <a:ext cx="109215" cy="110547"/>
          </a:xfrm>
          <a:prstGeom prst="rect">
            <a:avLst/>
          </a:prstGeom>
          <a:solidFill>
            <a:srgbClr val="0066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396" name="Rectangle 90"/>
          <p:cNvSpPr>
            <a:spLocks noChangeArrowheads="1"/>
          </p:cNvSpPr>
          <p:nvPr/>
        </p:nvSpPr>
        <p:spPr bwMode="auto">
          <a:xfrm>
            <a:off x="7915273" y="2840584"/>
            <a:ext cx="191793"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97" name="Rectangle 91"/>
          <p:cNvSpPr>
            <a:spLocks noChangeArrowheads="1"/>
          </p:cNvSpPr>
          <p:nvPr/>
        </p:nvSpPr>
        <p:spPr bwMode="auto">
          <a:xfrm>
            <a:off x="7764769" y="3128273"/>
            <a:ext cx="109215" cy="109215"/>
          </a:xfrm>
          <a:prstGeom prst="rect">
            <a:avLst/>
          </a:prstGeom>
          <a:solidFill>
            <a:srgbClr val="FF8080"/>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398" name="Rectangle 92"/>
          <p:cNvSpPr>
            <a:spLocks noChangeArrowheads="1"/>
          </p:cNvSpPr>
          <p:nvPr/>
        </p:nvSpPr>
        <p:spPr bwMode="auto">
          <a:xfrm>
            <a:off x="7915273" y="3082989"/>
            <a:ext cx="20244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99" name="Rectangle 93"/>
          <p:cNvSpPr>
            <a:spLocks noChangeArrowheads="1"/>
          </p:cNvSpPr>
          <p:nvPr/>
        </p:nvSpPr>
        <p:spPr bwMode="auto">
          <a:xfrm>
            <a:off x="7764769" y="3370678"/>
            <a:ext cx="109215" cy="109215"/>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400" name="Rectangle 94"/>
          <p:cNvSpPr>
            <a:spLocks noChangeArrowheads="1"/>
          </p:cNvSpPr>
          <p:nvPr/>
        </p:nvSpPr>
        <p:spPr bwMode="auto">
          <a:xfrm>
            <a:off x="7915273" y="3325394"/>
            <a:ext cx="211771"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401" name="Rectangle 95"/>
          <p:cNvSpPr>
            <a:spLocks noChangeArrowheads="1"/>
          </p:cNvSpPr>
          <p:nvPr/>
        </p:nvSpPr>
        <p:spPr bwMode="auto">
          <a:xfrm>
            <a:off x="7764769" y="3613083"/>
            <a:ext cx="109215" cy="110547"/>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402" name="Rectangle 96"/>
          <p:cNvSpPr>
            <a:spLocks noChangeArrowheads="1"/>
          </p:cNvSpPr>
          <p:nvPr/>
        </p:nvSpPr>
        <p:spPr bwMode="auto">
          <a:xfrm>
            <a:off x="7915273" y="3569130"/>
            <a:ext cx="211771"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403" name="Rectangle 97"/>
          <p:cNvSpPr>
            <a:spLocks noChangeArrowheads="1"/>
          </p:cNvSpPr>
          <p:nvPr/>
        </p:nvSpPr>
        <p:spPr bwMode="auto">
          <a:xfrm>
            <a:off x="7764769" y="3856820"/>
            <a:ext cx="109215" cy="109215"/>
          </a:xfrm>
          <a:prstGeom prst="rect">
            <a:avLst/>
          </a:prstGeom>
          <a:solidFill>
            <a:srgbClr val="FFFF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404" name="Rectangle 98"/>
          <p:cNvSpPr>
            <a:spLocks noChangeArrowheads="1"/>
          </p:cNvSpPr>
          <p:nvPr/>
        </p:nvSpPr>
        <p:spPr bwMode="auto">
          <a:xfrm>
            <a:off x="7915273" y="3811535"/>
            <a:ext cx="20244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405" name="Rectangle 99"/>
          <p:cNvSpPr>
            <a:spLocks noChangeArrowheads="1"/>
          </p:cNvSpPr>
          <p:nvPr/>
        </p:nvSpPr>
        <p:spPr bwMode="auto">
          <a:xfrm>
            <a:off x="7764769" y="4099225"/>
            <a:ext cx="109215" cy="109215"/>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406" name="Rectangle 100"/>
          <p:cNvSpPr>
            <a:spLocks noChangeArrowheads="1"/>
          </p:cNvSpPr>
          <p:nvPr/>
        </p:nvSpPr>
        <p:spPr bwMode="auto">
          <a:xfrm>
            <a:off x="7915273" y="4053940"/>
            <a:ext cx="202448" cy="24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407" name="Line 101"/>
          <p:cNvSpPr>
            <a:spLocks noChangeShapeType="1"/>
          </p:cNvSpPr>
          <p:nvPr/>
        </p:nvSpPr>
        <p:spPr bwMode="auto">
          <a:xfrm>
            <a:off x="3667860" y="2552895"/>
            <a:ext cx="1184055" cy="0"/>
          </a:xfrm>
          <a:prstGeom prst="line">
            <a:avLst/>
          </a:prstGeom>
          <a:noFill/>
          <a:ln w="38100">
            <a:solidFill>
              <a:srgbClr val="FF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Oval 9"/>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4" name="Slide Number Placeholder 3"/>
          <p:cNvSpPr>
            <a:spLocks noGrp="1"/>
          </p:cNvSpPr>
          <p:nvPr>
            <p:ph type="sldNum" sz="quarter" idx="12"/>
          </p:nvPr>
        </p:nvSpPr>
        <p:spPr/>
        <p:txBody>
          <a:bodyPr/>
          <a:lstStyle/>
          <a:p>
            <a:pPr>
              <a:defRPr/>
            </a:pPr>
            <a:fld id="{1152812F-33DB-44F2-8D7A-55F34972C181}" type="slidenum">
              <a:rPr lang="en-US" smtClean="0"/>
              <a:pPr>
                <a:defRPr/>
              </a:pPr>
              <a:t>18</a:t>
            </a:fld>
            <a:endParaRPr lang="en-US"/>
          </a:p>
        </p:txBody>
      </p:sp>
      <p:sp>
        <p:nvSpPr>
          <p:cNvPr id="14409" name="Date Placeholder 14408">
            <a:extLst>
              <a:ext uri="{FF2B5EF4-FFF2-40B4-BE49-F238E27FC236}">
                <a16:creationId xmlns:a16="http://schemas.microsoft.com/office/drawing/2014/main" id="{210D89CC-F5E3-49BB-B94D-B8481CE68B67}"/>
              </a:ext>
            </a:extLst>
          </p:cNvPr>
          <p:cNvSpPr>
            <a:spLocks noGrp="1"/>
          </p:cNvSpPr>
          <p:nvPr>
            <p:ph type="dt" sz="half" idx="10"/>
          </p:nvPr>
        </p:nvSpPr>
        <p:spPr/>
        <p:txBody>
          <a:bodyPr/>
          <a:lstStyle/>
          <a:p>
            <a:pPr>
              <a:defRPr/>
            </a:pPr>
            <a:r>
              <a:rPr lang="en-US"/>
              <a:t>Lecture 10</a:t>
            </a:r>
            <a:endParaRPr lang="en-US" dirty="0"/>
          </a:p>
        </p:txBody>
      </p:sp>
      <p:sp>
        <p:nvSpPr>
          <p:cNvPr id="14410" name="Footer Placeholder 14409">
            <a:extLst>
              <a:ext uri="{FF2B5EF4-FFF2-40B4-BE49-F238E27FC236}">
                <a16:creationId xmlns:a16="http://schemas.microsoft.com/office/drawing/2014/main" id="{9C8A9867-C3CD-44A5-89C3-1F193702C3BE}"/>
              </a:ext>
            </a:extLst>
          </p:cNvPr>
          <p:cNvSpPr>
            <a:spLocks noGrp="1"/>
          </p:cNvSpPr>
          <p:nvPr>
            <p:ph type="ftr" sz="quarter" idx="11"/>
          </p:nvPr>
        </p:nvSpPr>
        <p:spPr/>
        <p:txBody>
          <a:bodyPr/>
          <a:lstStyle/>
          <a:p>
            <a:pPr>
              <a:defRPr/>
            </a:pPr>
            <a:r>
              <a:rPr lang="en-US"/>
              <a:t>G.R. Labbé</a:t>
            </a:r>
          </a:p>
        </p:txBody>
      </p:sp>
    </p:spTree>
    <p:extLst>
      <p:ext uri="{BB962C8B-B14F-4D97-AF65-F5344CB8AC3E}">
        <p14:creationId xmlns:p14="http://schemas.microsoft.com/office/powerpoint/2010/main" val="1926346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Line 6"/>
          <p:cNvSpPr>
            <a:spLocks noChangeShapeType="1"/>
          </p:cNvSpPr>
          <p:nvPr/>
        </p:nvSpPr>
        <p:spPr bwMode="auto">
          <a:xfrm>
            <a:off x="6635750" y="5297486"/>
            <a:ext cx="215900" cy="593725"/>
          </a:xfrm>
          <a:prstGeom prst="line">
            <a:avLst/>
          </a:prstGeom>
          <a:noFill/>
          <a:ln w="38100">
            <a:solidFill>
              <a:srgbClr val="FF0000"/>
            </a:solidFill>
            <a:round/>
            <a:headEnd type="stealth" w="med" len="lg"/>
            <a:tailEnd/>
          </a:ln>
        </p:spPr>
        <p:txBody>
          <a:bodyPr/>
          <a:lstStyle/>
          <a:p>
            <a:endParaRPr lang="en-CA"/>
          </a:p>
        </p:txBody>
      </p:sp>
      <p:sp>
        <p:nvSpPr>
          <p:cNvPr id="18436" name="Oval 10"/>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Rectangle 1"/>
          <p:cNvSpPr/>
          <p:nvPr/>
        </p:nvSpPr>
        <p:spPr>
          <a:xfrm>
            <a:off x="1259632" y="5147231"/>
            <a:ext cx="6984776" cy="369332"/>
          </a:xfrm>
          <a:prstGeom prst="rect">
            <a:avLst/>
          </a:prstGeom>
        </p:spPr>
        <p:txBody>
          <a:bodyPr wrap="square">
            <a:spAutoFit/>
          </a:bodyPr>
          <a:lstStyle/>
          <a:p>
            <a:r>
              <a:rPr lang="en-US" dirty="0"/>
              <a:t>1      2      3      4      5      6      7      8      9     10    11    12    13</a:t>
            </a:r>
          </a:p>
        </p:txBody>
      </p:sp>
      <p:sp>
        <p:nvSpPr>
          <p:cNvPr id="3" name="Rectangle 2"/>
          <p:cNvSpPr/>
          <p:nvPr/>
        </p:nvSpPr>
        <p:spPr>
          <a:xfrm>
            <a:off x="4259254" y="5434176"/>
            <a:ext cx="625492" cy="369332"/>
          </a:xfrm>
          <a:prstGeom prst="rect">
            <a:avLst/>
          </a:prstGeom>
        </p:spPr>
        <p:txBody>
          <a:bodyPr wrap="none">
            <a:spAutoFit/>
          </a:bodyPr>
          <a:lstStyle/>
          <a:p>
            <a:pPr algn="ctr"/>
            <a:r>
              <a:rPr lang="en-US" dirty="0">
                <a:latin typeface="+mn-lt"/>
              </a:rPr>
              <a:t>Days</a:t>
            </a:r>
          </a:p>
        </p:txBody>
      </p:sp>
      <p:sp>
        <p:nvSpPr>
          <p:cNvPr id="4" name="Slide Number Placeholder 3"/>
          <p:cNvSpPr>
            <a:spLocks noGrp="1"/>
          </p:cNvSpPr>
          <p:nvPr>
            <p:ph type="sldNum" sz="quarter" idx="12"/>
          </p:nvPr>
        </p:nvSpPr>
        <p:spPr/>
        <p:txBody>
          <a:bodyPr/>
          <a:lstStyle/>
          <a:p>
            <a:pPr>
              <a:defRPr/>
            </a:pPr>
            <a:fld id="{1152812F-33DB-44F2-8D7A-55F34972C181}" type="slidenum">
              <a:rPr lang="en-US" smtClean="0"/>
              <a:pPr>
                <a:defRPr/>
              </a:pPr>
              <a:t>19</a:t>
            </a:fld>
            <a:endParaRPr lang="en-US"/>
          </a:p>
        </p:txBody>
      </p:sp>
      <p:sp>
        <p:nvSpPr>
          <p:cNvPr id="6" name="Date Placeholder 5">
            <a:extLst>
              <a:ext uri="{FF2B5EF4-FFF2-40B4-BE49-F238E27FC236}">
                <a16:creationId xmlns:a16="http://schemas.microsoft.com/office/drawing/2014/main" id="{1BEA9DAD-BAFF-4B8A-87DC-9BB5A3E9C089}"/>
              </a:ext>
            </a:extLst>
          </p:cNvPr>
          <p:cNvSpPr>
            <a:spLocks noGrp="1"/>
          </p:cNvSpPr>
          <p:nvPr>
            <p:ph type="dt" sz="half" idx="10"/>
          </p:nvPr>
        </p:nvSpPr>
        <p:spPr/>
        <p:txBody>
          <a:bodyPr/>
          <a:lstStyle/>
          <a:p>
            <a:pPr>
              <a:defRPr/>
            </a:pPr>
            <a:r>
              <a:rPr lang="en-US"/>
              <a:t>Lecture 10</a:t>
            </a:r>
          </a:p>
        </p:txBody>
      </p:sp>
      <p:sp>
        <p:nvSpPr>
          <p:cNvPr id="7" name="Footer Placeholder 6">
            <a:extLst>
              <a:ext uri="{FF2B5EF4-FFF2-40B4-BE49-F238E27FC236}">
                <a16:creationId xmlns:a16="http://schemas.microsoft.com/office/drawing/2014/main" id="{07D7A7A4-3323-4DB7-9010-ABF2DE9636A3}"/>
              </a:ext>
            </a:extLst>
          </p:cNvPr>
          <p:cNvSpPr>
            <a:spLocks noGrp="1"/>
          </p:cNvSpPr>
          <p:nvPr>
            <p:ph type="ftr" sz="quarter" idx="11"/>
          </p:nvPr>
        </p:nvSpPr>
        <p:spPr/>
        <p:txBody>
          <a:bodyPr/>
          <a:lstStyle/>
          <a:p>
            <a:pPr>
              <a:defRPr/>
            </a:pPr>
            <a:r>
              <a:rPr lang="en-US"/>
              <a:t>G.R. Labbé</a:t>
            </a:r>
          </a:p>
        </p:txBody>
      </p:sp>
      <p:grpSp>
        <p:nvGrpSpPr>
          <p:cNvPr id="14379" name="Group 104">
            <a:extLst>
              <a:ext uri="{FF2B5EF4-FFF2-40B4-BE49-F238E27FC236}">
                <a16:creationId xmlns:a16="http://schemas.microsoft.com/office/drawing/2014/main" id="{13A0E283-E267-7278-BA43-095231DD6497}"/>
              </a:ext>
            </a:extLst>
          </p:cNvPr>
          <p:cNvGrpSpPr>
            <a:grpSpLocks noChangeAspect="1"/>
          </p:cNvGrpSpPr>
          <p:nvPr/>
        </p:nvGrpSpPr>
        <p:grpSpPr bwMode="auto">
          <a:xfrm>
            <a:off x="234950" y="419100"/>
            <a:ext cx="8674100" cy="4868863"/>
            <a:chOff x="148" y="264"/>
            <a:chExt cx="5464" cy="3067"/>
          </a:xfrm>
        </p:grpSpPr>
        <p:sp>
          <p:nvSpPr>
            <p:cNvPr id="14380" name="AutoShape 103">
              <a:extLst>
                <a:ext uri="{FF2B5EF4-FFF2-40B4-BE49-F238E27FC236}">
                  <a16:creationId xmlns:a16="http://schemas.microsoft.com/office/drawing/2014/main" id="{D2DC0ABC-C2CF-0CC3-525D-C1356C0453D0}"/>
                </a:ext>
              </a:extLst>
            </p:cNvPr>
            <p:cNvSpPr>
              <a:spLocks noChangeAspect="1" noChangeArrowheads="1" noTextEdit="1"/>
            </p:cNvSpPr>
            <p:nvPr/>
          </p:nvSpPr>
          <p:spPr bwMode="auto">
            <a:xfrm>
              <a:off x="148" y="292"/>
              <a:ext cx="5464" cy="3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14381" name="Rectangle 105">
              <a:extLst>
                <a:ext uri="{FF2B5EF4-FFF2-40B4-BE49-F238E27FC236}">
                  <a16:creationId xmlns:a16="http://schemas.microsoft.com/office/drawing/2014/main" id="{D5463899-C4E2-87ED-E6F7-D0D6356BDFEA}"/>
                </a:ext>
              </a:extLst>
            </p:cNvPr>
            <p:cNvSpPr>
              <a:spLocks noChangeArrowheads="1"/>
            </p:cNvSpPr>
            <p:nvPr/>
          </p:nvSpPr>
          <p:spPr bwMode="auto">
            <a:xfrm>
              <a:off x="751" y="828"/>
              <a:ext cx="4451" cy="239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14382" name="Line 106">
              <a:extLst>
                <a:ext uri="{FF2B5EF4-FFF2-40B4-BE49-F238E27FC236}">
                  <a16:creationId xmlns:a16="http://schemas.microsoft.com/office/drawing/2014/main" id="{AFA92AC2-BBCE-67A3-2AFD-D997BB47F1C6}"/>
                </a:ext>
              </a:extLst>
            </p:cNvPr>
            <p:cNvSpPr>
              <a:spLocks noChangeShapeType="1"/>
            </p:cNvSpPr>
            <p:nvPr/>
          </p:nvSpPr>
          <p:spPr bwMode="auto">
            <a:xfrm>
              <a:off x="751" y="2986"/>
              <a:ext cx="445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4383" name="Line 107">
              <a:extLst>
                <a:ext uri="{FF2B5EF4-FFF2-40B4-BE49-F238E27FC236}">
                  <a16:creationId xmlns:a16="http://schemas.microsoft.com/office/drawing/2014/main" id="{A31AA34E-9BA7-A0D9-BC3D-8AF92A9BFCBD}"/>
                </a:ext>
              </a:extLst>
            </p:cNvPr>
            <p:cNvSpPr>
              <a:spLocks noChangeShapeType="1"/>
            </p:cNvSpPr>
            <p:nvPr/>
          </p:nvSpPr>
          <p:spPr bwMode="auto">
            <a:xfrm>
              <a:off x="751" y="2746"/>
              <a:ext cx="445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4384" name="Line 108">
              <a:extLst>
                <a:ext uri="{FF2B5EF4-FFF2-40B4-BE49-F238E27FC236}">
                  <a16:creationId xmlns:a16="http://schemas.microsoft.com/office/drawing/2014/main" id="{2497ED6C-774C-902B-040E-B3CE4A08E025}"/>
                </a:ext>
              </a:extLst>
            </p:cNvPr>
            <p:cNvSpPr>
              <a:spLocks noChangeShapeType="1"/>
            </p:cNvSpPr>
            <p:nvPr/>
          </p:nvSpPr>
          <p:spPr bwMode="auto">
            <a:xfrm>
              <a:off x="751" y="2507"/>
              <a:ext cx="445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4385" name="Line 109">
              <a:extLst>
                <a:ext uri="{FF2B5EF4-FFF2-40B4-BE49-F238E27FC236}">
                  <a16:creationId xmlns:a16="http://schemas.microsoft.com/office/drawing/2014/main" id="{13ED9040-4507-B045-5A6B-1AC83B819503}"/>
                </a:ext>
              </a:extLst>
            </p:cNvPr>
            <p:cNvSpPr>
              <a:spLocks noChangeShapeType="1"/>
            </p:cNvSpPr>
            <p:nvPr/>
          </p:nvSpPr>
          <p:spPr bwMode="auto">
            <a:xfrm>
              <a:off x="751" y="2267"/>
              <a:ext cx="445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4386" name="Line 110">
              <a:extLst>
                <a:ext uri="{FF2B5EF4-FFF2-40B4-BE49-F238E27FC236}">
                  <a16:creationId xmlns:a16="http://schemas.microsoft.com/office/drawing/2014/main" id="{3AEE4170-A565-381E-89E3-56357BD75365}"/>
                </a:ext>
              </a:extLst>
            </p:cNvPr>
            <p:cNvSpPr>
              <a:spLocks noChangeShapeType="1"/>
            </p:cNvSpPr>
            <p:nvPr/>
          </p:nvSpPr>
          <p:spPr bwMode="auto">
            <a:xfrm>
              <a:off x="751" y="2027"/>
              <a:ext cx="445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4387" name="Line 111">
              <a:extLst>
                <a:ext uri="{FF2B5EF4-FFF2-40B4-BE49-F238E27FC236}">
                  <a16:creationId xmlns:a16="http://schemas.microsoft.com/office/drawing/2014/main" id="{5EE9B663-7C30-A3FE-6C73-0DDB98399CC9}"/>
                </a:ext>
              </a:extLst>
            </p:cNvPr>
            <p:cNvSpPr>
              <a:spLocks noChangeShapeType="1"/>
            </p:cNvSpPr>
            <p:nvPr/>
          </p:nvSpPr>
          <p:spPr bwMode="auto">
            <a:xfrm>
              <a:off x="751" y="1787"/>
              <a:ext cx="445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4388" name="Line 112">
              <a:extLst>
                <a:ext uri="{FF2B5EF4-FFF2-40B4-BE49-F238E27FC236}">
                  <a16:creationId xmlns:a16="http://schemas.microsoft.com/office/drawing/2014/main" id="{DB542855-63EF-0A67-6C24-184BE78604EC}"/>
                </a:ext>
              </a:extLst>
            </p:cNvPr>
            <p:cNvSpPr>
              <a:spLocks noChangeShapeType="1"/>
            </p:cNvSpPr>
            <p:nvPr/>
          </p:nvSpPr>
          <p:spPr bwMode="auto">
            <a:xfrm>
              <a:off x="751" y="1547"/>
              <a:ext cx="445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4389" name="Line 113">
              <a:extLst>
                <a:ext uri="{FF2B5EF4-FFF2-40B4-BE49-F238E27FC236}">
                  <a16:creationId xmlns:a16="http://schemas.microsoft.com/office/drawing/2014/main" id="{B331490A-AD91-AE3D-621D-4BF256BF8D6D}"/>
                </a:ext>
              </a:extLst>
            </p:cNvPr>
            <p:cNvSpPr>
              <a:spLocks noChangeShapeType="1"/>
            </p:cNvSpPr>
            <p:nvPr/>
          </p:nvSpPr>
          <p:spPr bwMode="auto">
            <a:xfrm>
              <a:off x="751" y="1308"/>
              <a:ext cx="445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4390" name="Line 114">
              <a:extLst>
                <a:ext uri="{FF2B5EF4-FFF2-40B4-BE49-F238E27FC236}">
                  <a16:creationId xmlns:a16="http://schemas.microsoft.com/office/drawing/2014/main" id="{9D7B560E-5018-F0CE-8448-F7AD47334D94}"/>
                </a:ext>
              </a:extLst>
            </p:cNvPr>
            <p:cNvSpPr>
              <a:spLocks noChangeShapeType="1"/>
            </p:cNvSpPr>
            <p:nvPr/>
          </p:nvSpPr>
          <p:spPr bwMode="auto">
            <a:xfrm>
              <a:off x="751" y="1068"/>
              <a:ext cx="445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4391" name="Line 115">
              <a:extLst>
                <a:ext uri="{FF2B5EF4-FFF2-40B4-BE49-F238E27FC236}">
                  <a16:creationId xmlns:a16="http://schemas.microsoft.com/office/drawing/2014/main" id="{F32F4C22-A5AC-CD55-BCFD-B73273B1DF09}"/>
                </a:ext>
              </a:extLst>
            </p:cNvPr>
            <p:cNvSpPr>
              <a:spLocks noChangeShapeType="1"/>
            </p:cNvSpPr>
            <p:nvPr/>
          </p:nvSpPr>
          <p:spPr bwMode="auto">
            <a:xfrm>
              <a:off x="751" y="828"/>
              <a:ext cx="445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4392" name="Rectangle 116">
              <a:extLst>
                <a:ext uri="{FF2B5EF4-FFF2-40B4-BE49-F238E27FC236}">
                  <a16:creationId xmlns:a16="http://schemas.microsoft.com/office/drawing/2014/main" id="{72C735B4-BA09-3094-2A08-ACAD1794CA39}"/>
                </a:ext>
              </a:extLst>
            </p:cNvPr>
            <p:cNvSpPr>
              <a:spLocks noChangeArrowheads="1"/>
            </p:cNvSpPr>
            <p:nvPr/>
          </p:nvSpPr>
          <p:spPr bwMode="auto">
            <a:xfrm>
              <a:off x="751" y="828"/>
              <a:ext cx="4451" cy="2397"/>
            </a:xfrm>
            <a:prstGeom prst="rect">
              <a:avLst/>
            </a:prstGeom>
            <a:noFill/>
            <a:ln w="12700">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4393" name="Rectangle 117">
              <a:extLst>
                <a:ext uri="{FF2B5EF4-FFF2-40B4-BE49-F238E27FC236}">
                  <a16:creationId xmlns:a16="http://schemas.microsoft.com/office/drawing/2014/main" id="{88A7D653-28E4-57F3-1329-719C5620F8B3}"/>
                </a:ext>
              </a:extLst>
            </p:cNvPr>
            <p:cNvSpPr>
              <a:spLocks noChangeArrowheads="1"/>
            </p:cNvSpPr>
            <p:nvPr/>
          </p:nvSpPr>
          <p:spPr bwMode="auto">
            <a:xfrm>
              <a:off x="751" y="1787"/>
              <a:ext cx="318" cy="1438"/>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4394" name="Rectangle 118">
              <a:extLst>
                <a:ext uri="{FF2B5EF4-FFF2-40B4-BE49-F238E27FC236}">
                  <a16:creationId xmlns:a16="http://schemas.microsoft.com/office/drawing/2014/main" id="{20012D41-128D-9821-B81D-B278CCB3BA6E}"/>
                </a:ext>
              </a:extLst>
            </p:cNvPr>
            <p:cNvSpPr>
              <a:spLocks noChangeArrowheads="1"/>
            </p:cNvSpPr>
            <p:nvPr/>
          </p:nvSpPr>
          <p:spPr bwMode="auto">
            <a:xfrm>
              <a:off x="1069" y="1787"/>
              <a:ext cx="318" cy="1438"/>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4395" name="Rectangle 119">
              <a:extLst>
                <a:ext uri="{FF2B5EF4-FFF2-40B4-BE49-F238E27FC236}">
                  <a16:creationId xmlns:a16="http://schemas.microsoft.com/office/drawing/2014/main" id="{E14BBD40-606A-6FFF-0FC0-4005FF48E2E6}"/>
                </a:ext>
              </a:extLst>
            </p:cNvPr>
            <p:cNvSpPr>
              <a:spLocks noChangeArrowheads="1"/>
            </p:cNvSpPr>
            <p:nvPr/>
          </p:nvSpPr>
          <p:spPr bwMode="auto">
            <a:xfrm>
              <a:off x="1387" y="1787"/>
              <a:ext cx="318" cy="1438"/>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4396" name="Rectangle 120">
              <a:extLst>
                <a:ext uri="{FF2B5EF4-FFF2-40B4-BE49-F238E27FC236}">
                  <a16:creationId xmlns:a16="http://schemas.microsoft.com/office/drawing/2014/main" id="{8693FC08-2DCC-9B58-116A-BC2FE1C418EC}"/>
                </a:ext>
              </a:extLst>
            </p:cNvPr>
            <p:cNvSpPr>
              <a:spLocks noChangeArrowheads="1"/>
            </p:cNvSpPr>
            <p:nvPr/>
          </p:nvSpPr>
          <p:spPr bwMode="auto">
            <a:xfrm>
              <a:off x="1705" y="1787"/>
              <a:ext cx="318" cy="1438"/>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4397" name="Rectangle 121">
              <a:extLst>
                <a:ext uri="{FF2B5EF4-FFF2-40B4-BE49-F238E27FC236}">
                  <a16:creationId xmlns:a16="http://schemas.microsoft.com/office/drawing/2014/main" id="{E6332187-C30C-697C-4BF0-06833C3366DA}"/>
                </a:ext>
              </a:extLst>
            </p:cNvPr>
            <p:cNvSpPr>
              <a:spLocks noChangeArrowheads="1"/>
            </p:cNvSpPr>
            <p:nvPr/>
          </p:nvSpPr>
          <p:spPr bwMode="auto">
            <a:xfrm>
              <a:off x="2023" y="2746"/>
              <a:ext cx="318" cy="479"/>
            </a:xfrm>
            <a:prstGeom prst="rect">
              <a:avLst/>
            </a:prstGeom>
            <a:solidFill>
              <a:srgbClr val="FFFF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4398" name="Rectangle 122">
              <a:extLst>
                <a:ext uri="{FF2B5EF4-FFF2-40B4-BE49-F238E27FC236}">
                  <a16:creationId xmlns:a16="http://schemas.microsoft.com/office/drawing/2014/main" id="{82724557-2FB5-082D-0AB8-1810F910F57A}"/>
                </a:ext>
              </a:extLst>
            </p:cNvPr>
            <p:cNvSpPr>
              <a:spLocks noChangeArrowheads="1"/>
            </p:cNvSpPr>
            <p:nvPr/>
          </p:nvSpPr>
          <p:spPr bwMode="auto">
            <a:xfrm>
              <a:off x="2023" y="2267"/>
              <a:ext cx="318" cy="479"/>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4399" name="Rectangle 123">
              <a:extLst>
                <a:ext uri="{FF2B5EF4-FFF2-40B4-BE49-F238E27FC236}">
                  <a16:creationId xmlns:a16="http://schemas.microsoft.com/office/drawing/2014/main" id="{735E8C6C-7598-147C-68DE-62658CA0ABBA}"/>
                </a:ext>
              </a:extLst>
            </p:cNvPr>
            <p:cNvSpPr>
              <a:spLocks noChangeArrowheads="1"/>
            </p:cNvSpPr>
            <p:nvPr/>
          </p:nvSpPr>
          <p:spPr bwMode="auto">
            <a:xfrm>
              <a:off x="3612" y="2746"/>
              <a:ext cx="318" cy="479"/>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432" name="Rectangle 124">
              <a:extLst>
                <a:ext uri="{FF2B5EF4-FFF2-40B4-BE49-F238E27FC236}">
                  <a16:creationId xmlns:a16="http://schemas.microsoft.com/office/drawing/2014/main" id="{20A32014-6714-0D8C-54A5-09DC376A8A09}"/>
                </a:ext>
              </a:extLst>
            </p:cNvPr>
            <p:cNvSpPr>
              <a:spLocks noChangeArrowheads="1"/>
            </p:cNvSpPr>
            <p:nvPr/>
          </p:nvSpPr>
          <p:spPr bwMode="auto">
            <a:xfrm>
              <a:off x="3930" y="2746"/>
              <a:ext cx="318" cy="479"/>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433" name="Rectangle 125">
              <a:extLst>
                <a:ext uri="{FF2B5EF4-FFF2-40B4-BE49-F238E27FC236}">
                  <a16:creationId xmlns:a16="http://schemas.microsoft.com/office/drawing/2014/main" id="{428C7138-04C1-3148-B55C-19C5DCFCC863}"/>
                </a:ext>
              </a:extLst>
            </p:cNvPr>
            <p:cNvSpPr>
              <a:spLocks noChangeArrowheads="1"/>
            </p:cNvSpPr>
            <p:nvPr/>
          </p:nvSpPr>
          <p:spPr bwMode="auto">
            <a:xfrm>
              <a:off x="2341" y="1547"/>
              <a:ext cx="317" cy="1678"/>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434" name="Rectangle 126">
              <a:extLst>
                <a:ext uri="{FF2B5EF4-FFF2-40B4-BE49-F238E27FC236}">
                  <a16:creationId xmlns:a16="http://schemas.microsoft.com/office/drawing/2014/main" id="{8C73F7D6-03A8-8D97-D26F-29C5E5AC5642}"/>
                </a:ext>
              </a:extLst>
            </p:cNvPr>
            <p:cNvSpPr>
              <a:spLocks noChangeArrowheads="1"/>
            </p:cNvSpPr>
            <p:nvPr/>
          </p:nvSpPr>
          <p:spPr bwMode="auto">
            <a:xfrm>
              <a:off x="2658" y="1547"/>
              <a:ext cx="319" cy="1678"/>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437" name="Rectangle 127">
              <a:extLst>
                <a:ext uri="{FF2B5EF4-FFF2-40B4-BE49-F238E27FC236}">
                  <a16:creationId xmlns:a16="http://schemas.microsoft.com/office/drawing/2014/main" id="{C5BF08D3-6E21-528A-CCF3-5D41E35247B8}"/>
                </a:ext>
              </a:extLst>
            </p:cNvPr>
            <p:cNvSpPr>
              <a:spLocks noChangeArrowheads="1"/>
            </p:cNvSpPr>
            <p:nvPr/>
          </p:nvSpPr>
          <p:spPr bwMode="auto">
            <a:xfrm>
              <a:off x="2977" y="1547"/>
              <a:ext cx="318" cy="1678"/>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438" name="Rectangle 128">
              <a:extLst>
                <a:ext uri="{FF2B5EF4-FFF2-40B4-BE49-F238E27FC236}">
                  <a16:creationId xmlns:a16="http://schemas.microsoft.com/office/drawing/2014/main" id="{D0C4F4D2-6CA5-0BBD-329A-1913F09ADECE}"/>
                </a:ext>
              </a:extLst>
            </p:cNvPr>
            <p:cNvSpPr>
              <a:spLocks noChangeArrowheads="1"/>
            </p:cNvSpPr>
            <p:nvPr/>
          </p:nvSpPr>
          <p:spPr bwMode="auto">
            <a:xfrm>
              <a:off x="3295" y="1547"/>
              <a:ext cx="317" cy="1678"/>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439" name="Rectangle 129">
              <a:extLst>
                <a:ext uri="{FF2B5EF4-FFF2-40B4-BE49-F238E27FC236}">
                  <a16:creationId xmlns:a16="http://schemas.microsoft.com/office/drawing/2014/main" id="{56C2BBB9-CFBE-F348-EB14-50C47E57F467}"/>
                </a:ext>
              </a:extLst>
            </p:cNvPr>
            <p:cNvSpPr>
              <a:spLocks noChangeArrowheads="1"/>
            </p:cNvSpPr>
            <p:nvPr/>
          </p:nvSpPr>
          <p:spPr bwMode="auto">
            <a:xfrm>
              <a:off x="3612" y="2027"/>
              <a:ext cx="318" cy="719"/>
            </a:xfrm>
            <a:prstGeom prst="rect">
              <a:avLst/>
            </a:prstGeom>
            <a:solidFill>
              <a:srgbClr val="FF8080"/>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440" name="Rectangle 130">
              <a:extLst>
                <a:ext uri="{FF2B5EF4-FFF2-40B4-BE49-F238E27FC236}">
                  <a16:creationId xmlns:a16="http://schemas.microsoft.com/office/drawing/2014/main" id="{C8650EC2-0134-281D-5F54-CBF272E4AA9E}"/>
                </a:ext>
              </a:extLst>
            </p:cNvPr>
            <p:cNvSpPr>
              <a:spLocks noChangeArrowheads="1"/>
            </p:cNvSpPr>
            <p:nvPr/>
          </p:nvSpPr>
          <p:spPr bwMode="auto">
            <a:xfrm>
              <a:off x="3930" y="2027"/>
              <a:ext cx="318" cy="719"/>
            </a:xfrm>
            <a:prstGeom prst="rect">
              <a:avLst/>
            </a:prstGeom>
            <a:solidFill>
              <a:srgbClr val="FF8080"/>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441" name="Rectangle 131">
              <a:extLst>
                <a:ext uri="{FF2B5EF4-FFF2-40B4-BE49-F238E27FC236}">
                  <a16:creationId xmlns:a16="http://schemas.microsoft.com/office/drawing/2014/main" id="{625F3AF5-4F98-E0F2-AB3A-31B2F138B75B}"/>
                </a:ext>
              </a:extLst>
            </p:cNvPr>
            <p:cNvSpPr>
              <a:spLocks noChangeArrowheads="1"/>
            </p:cNvSpPr>
            <p:nvPr/>
          </p:nvSpPr>
          <p:spPr bwMode="auto">
            <a:xfrm>
              <a:off x="4248" y="1787"/>
              <a:ext cx="318" cy="1438"/>
            </a:xfrm>
            <a:prstGeom prst="rect">
              <a:avLst/>
            </a:prstGeom>
            <a:solidFill>
              <a:srgbClr val="0066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442" name="Line 132">
              <a:extLst>
                <a:ext uri="{FF2B5EF4-FFF2-40B4-BE49-F238E27FC236}">
                  <a16:creationId xmlns:a16="http://schemas.microsoft.com/office/drawing/2014/main" id="{1DC97D8D-385C-873F-BBC9-49D26BE1759B}"/>
                </a:ext>
              </a:extLst>
            </p:cNvPr>
            <p:cNvSpPr>
              <a:spLocks noChangeShapeType="1"/>
            </p:cNvSpPr>
            <p:nvPr/>
          </p:nvSpPr>
          <p:spPr bwMode="auto">
            <a:xfrm>
              <a:off x="751" y="828"/>
              <a:ext cx="0" cy="2397"/>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43" name="Line 133">
              <a:extLst>
                <a:ext uri="{FF2B5EF4-FFF2-40B4-BE49-F238E27FC236}">
                  <a16:creationId xmlns:a16="http://schemas.microsoft.com/office/drawing/2014/main" id="{E259AAD8-F7F0-D8F5-F897-E2098F959BDC}"/>
                </a:ext>
              </a:extLst>
            </p:cNvPr>
            <p:cNvSpPr>
              <a:spLocks noChangeShapeType="1"/>
            </p:cNvSpPr>
            <p:nvPr/>
          </p:nvSpPr>
          <p:spPr bwMode="auto">
            <a:xfrm>
              <a:off x="710" y="3225"/>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44" name="Line 134">
              <a:extLst>
                <a:ext uri="{FF2B5EF4-FFF2-40B4-BE49-F238E27FC236}">
                  <a16:creationId xmlns:a16="http://schemas.microsoft.com/office/drawing/2014/main" id="{D241FCE6-BC34-FECB-70FE-F87BE34EBDEB}"/>
                </a:ext>
              </a:extLst>
            </p:cNvPr>
            <p:cNvSpPr>
              <a:spLocks noChangeShapeType="1"/>
            </p:cNvSpPr>
            <p:nvPr/>
          </p:nvSpPr>
          <p:spPr bwMode="auto">
            <a:xfrm>
              <a:off x="710" y="2986"/>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45" name="Line 135">
              <a:extLst>
                <a:ext uri="{FF2B5EF4-FFF2-40B4-BE49-F238E27FC236}">
                  <a16:creationId xmlns:a16="http://schemas.microsoft.com/office/drawing/2014/main" id="{39BF28D2-CA2B-6531-B7CB-29A4410E8FC6}"/>
                </a:ext>
              </a:extLst>
            </p:cNvPr>
            <p:cNvSpPr>
              <a:spLocks noChangeShapeType="1"/>
            </p:cNvSpPr>
            <p:nvPr/>
          </p:nvSpPr>
          <p:spPr bwMode="auto">
            <a:xfrm>
              <a:off x="710" y="2746"/>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46" name="Line 136">
              <a:extLst>
                <a:ext uri="{FF2B5EF4-FFF2-40B4-BE49-F238E27FC236}">
                  <a16:creationId xmlns:a16="http://schemas.microsoft.com/office/drawing/2014/main" id="{F7C7113B-D994-BA03-7073-769A0417AA24}"/>
                </a:ext>
              </a:extLst>
            </p:cNvPr>
            <p:cNvSpPr>
              <a:spLocks noChangeShapeType="1"/>
            </p:cNvSpPr>
            <p:nvPr/>
          </p:nvSpPr>
          <p:spPr bwMode="auto">
            <a:xfrm>
              <a:off x="710" y="2507"/>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47" name="Line 137">
              <a:extLst>
                <a:ext uri="{FF2B5EF4-FFF2-40B4-BE49-F238E27FC236}">
                  <a16:creationId xmlns:a16="http://schemas.microsoft.com/office/drawing/2014/main" id="{5937CEB3-76A2-4CBC-BFC1-BD435A8E94CB}"/>
                </a:ext>
              </a:extLst>
            </p:cNvPr>
            <p:cNvSpPr>
              <a:spLocks noChangeShapeType="1"/>
            </p:cNvSpPr>
            <p:nvPr/>
          </p:nvSpPr>
          <p:spPr bwMode="auto">
            <a:xfrm>
              <a:off x="710" y="2267"/>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48" name="Line 138">
              <a:extLst>
                <a:ext uri="{FF2B5EF4-FFF2-40B4-BE49-F238E27FC236}">
                  <a16:creationId xmlns:a16="http://schemas.microsoft.com/office/drawing/2014/main" id="{F45A3770-0E5D-4763-A5FA-A87B6F730236}"/>
                </a:ext>
              </a:extLst>
            </p:cNvPr>
            <p:cNvSpPr>
              <a:spLocks noChangeShapeType="1"/>
            </p:cNvSpPr>
            <p:nvPr/>
          </p:nvSpPr>
          <p:spPr bwMode="auto">
            <a:xfrm>
              <a:off x="710" y="2027"/>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49" name="Line 139">
              <a:extLst>
                <a:ext uri="{FF2B5EF4-FFF2-40B4-BE49-F238E27FC236}">
                  <a16:creationId xmlns:a16="http://schemas.microsoft.com/office/drawing/2014/main" id="{F5B25682-8965-588C-E68B-D92EEFA6EC17}"/>
                </a:ext>
              </a:extLst>
            </p:cNvPr>
            <p:cNvSpPr>
              <a:spLocks noChangeShapeType="1"/>
            </p:cNvSpPr>
            <p:nvPr/>
          </p:nvSpPr>
          <p:spPr bwMode="auto">
            <a:xfrm>
              <a:off x="710" y="1787"/>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50" name="Line 140">
              <a:extLst>
                <a:ext uri="{FF2B5EF4-FFF2-40B4-BE49-F238E27FC236}">
                  <a16:creationId xmlns:a16="http://schemas.microsoft.com/office/drawing/2014/main" id="{BAF2D178-8803-6B4B-DFC9-716B6CC73129}"/>
                </a:ext>
              </a:extLst>
            </p:cNvPr>
            <p:cNvSpPr>
              <a:spLocks noChangeShapeType="1"/>
            </p:cNvSpPr>
            <p:nvPr/>
          </p:nvSpPr>
          <p:spPr bwMode="auto">
            <a:xfrm>
              <a:off x="710" y="1547"/>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51" name="Line 141">
              <a:extLst>
                <a:ext uri="{FF2B5EF4-FFF2-40B4-BE49-F238E27FC236}">
                  <a16:creationId xmlns:a16="http://schemas.microsoft.com/office/drawing/2014/main" id="{43A5C58C-125C-2DC7-37F0-37891FCA8669}"/>
                </a:ext>
              </a:extLst>
            </p:cNvPr>
            <p:cNvSpPr>
              <a:spLocks noChangeShapeType="1"/>
            </p:cNvSpPr>
            <p:nvPr/>
          </p:nvSpPr>
          <p:spPr bwMode="auto">
            <a:xfrm>
              <a:off x="710" y="1308"/>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52" name="Line 142">
              <a:extLst>
                <a:ext uri="{FF2B5EF4-FFF2-40B4-BE49-F238E27FC236}">
                  <a16:creationId xmlns:a16="http://schemas.microsoft.com/office/drawing/2014/main" id="{849C1781-4E84-9D15-5740-2EBF0855AAA7}"/>
                </a:ext>
              </a:extLst>
            </p:cNvPr>
            <p:cNvSpPr>
              <a:spLocks noChangeShapeType="1"/>
            </p:cNvSpPr>
            <p:nvPr/>
          </p:nvSpPr>
          <p:spPr bwMode="auto">
            <a:xfrm>
              <a:off x="710" y="1068"/>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53" name="Line 143">
              <a:extLst>
                <a:ext uri="{FF2B5EF4-FFF2-40B4-BE49-F238E27FC236}">
                  <a16:creationId xmlns:a16="http://schemas.microsoft.com/office/drawing/2014/main" id="{A95A9EC0-6DBC-AA46-8651-2278AE62B320}"/>
                </a:ext>
              </a:extLst>
            </p:cNvPr>
            <p:cNvSpPr>
              <a:spLocks noChangeShapeType="1"/>
            </p:cNvSpPr>
            <p:nvPr/>
          </p:nvSpPr>
          <p:spPr bwMode="auto">
            <a:xfrm>
              <a:off x="710" y="828"/>
              <a:ext cx="4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54" name="Line 144">
              <a:extLst>
                <a:ext uri="{FF2B5EF4-FFF2-40B4-BE49-F238E27FC236}">
                  <a16:creationId xmlns:a16="http://schemas.microsoft.com/office/drawing/2014/main" id="{A21DFFAE-EE6A-A645-9C5F-486B8E8F39FF}"/>
                </a:ext>
              </a:extLst>
            </p:cNvPr>
            <p:cNvSpPr>
              <a:spLocks noChangeShapeType="1"/>
            </p:cNvSpPr>
            <p:nvPr/>
          </p:nvSpPr>
          <p:spPr bwMode="auto">
            <a:xfrm>
              <a:off x="751" y="3225"/>
              <a:ext cx="445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55" name="Line 145">
              <a:extLst>
                <a:ext uri="{FF2B5EF4-FFF2-40B4-BE49-F238E27FC236}">
                  <a16:creationId xmlns:a16="http://schemas.microsoft.com/office/drawing/2014/main" id="{AF47112E-0D4A-B210-6B61-ED56E773D75F}"/>
                </a:ext>
              </a:extLst>
            </p:cNvPr>
            <p:cNvSpPr>
              <a:spLocks noChangeShapeType="1"/>
            </p:cNvSpPr>
            <p:nvPr/>
          </p:nvSpPr>
          <p:spPr bwMode="auto">
            <a:xfrm flipV="1">
              <a:off x="751"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56" name="Line 146">
              <a:extLst>
                <a:ext uri="{FF2B5EF4-FFF2-40B4-BE49-F238E27FC236}">
                  <a16:creationId xmlns:a16="http://schemas.microsoft.com/office/drawing/2014/main" id="{466362D5-AC3B-6EE5-7F58-6949D47FE6FA}"/>
                </a:ext>
              </a:extLst>
            </p:cNvPr>
            <p:cNvSpPr>
              <a:spLocks noChangeShapeType="1"/>
            </p:cNvSpPr>
            <p:nvPr/>
          </p:nvSpPr>
          <p:spPr bwMode="auto">
            <a:xfrm flipV="1">
              <a:off x="1069"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57" name="Line 147">
              <a:extLst>
                <a:ext uri="{FF2B5EF4-FFF2-40B4-BE49-F238E27FC236}">
                  <a16:creationId xmlns:a16="http://schemas.microsoft.com/office/drawing/2014/main" id="{EE5B051B-C079-7DCB-DBEC-A7299E2546B8}"/>
                </a:ext>
              </a:extLst>
            </p:cNvPr>
            <p:cNvSpPr>
              <a:spLocks noChangeShapeType="1"/>
            </p:cNvSpPr>
            <p:nvPr/>
          </p:nvSpPr>
          <p:spPr bwMode="auto">
            <a:xfrm flipV="1">
              <a:off x="1387"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58" name="Line 148">
              <a:extLst>
                <a:ext uri="{FF2B5EF4-FFF2-40B4-BE49-F238E27FC236}">
                  <a16:creationId xmlns:a16="http://schemas.microsoft.com/office/drawing/2014/main" id="{3EE45FFC-E9AF-E1C0-E708-3E8A557A09D6}"/>
                </a:ext>
              </a:extLst>
            </p:cNvPr>
            <p:cNvSpPr>
              <a:spLocks noChangeShapeType="1"/>
            </p:cNvSpPr>
            <p:nvPr/>
          </p:nvSpPr>
          <p:spPr bwMode="auto">
            <a:xfrm flipV="1">
              <a:off x="1705"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59" name="Line 149">
              <a:extLst>
                <a:ext uri="{FF2B5EF4-FFF2-40B4-BE49-F238E27FC236}">
                  <a16:creationId xmlns:a16="http://schemas.microsoft.com/office/drawing/2014/main" id="{E2701E0E-B5B3-6AC7-E442-28A2988BDD18}"/>
                </a:ext>
              </a:extLst>
            </p:cNvPr>
            <p:cNvSpPr>
              <a:spLocks noChangeShapeType="1"/>
            </p:cNvSpPr>
            <p:nvPr/>
          </p:nvSpPr>
          <p:spPr bwMode="auto">
            <a:xfrm flipV="1">
              <a:off x="2023"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60" name="Line 150">
              <a:extLst>
                <a:ext uri="{FF2B5EF4-FFF2-40B4-BE49-F238E27FC236}">
                  <a16:creationId xmlns:a16="http://schemas.microsoft.com/office/drawing/2014/main" id="{FCEB8063-4079-E0F7-292B-9BDD3F118BDD}"/>
                </a:ext>
              </a:extLst>
            </p:cNvPr>
            <p:cNvSpPr>
              <a:spLocks noChangeShapeType="1"/>
            </p:cNvSpPr>
            <p:nvPr/>
          </p:nvSpPr>
          <p:spPr bwMode="auto">
            <a:xfrm flipV="1">
              <a:off x="2341"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61" name="Line 151">
              <a:extLst>
                <a:ext uri="{FF2B5EF4-FFF2-40B4-BE49-F238E27FC236}">
                  <a16:creationId xmlns:a16="http://schemas.microsoft.com/office/drawing/2014/main" id="{6487CBB1-1C95-2569-8A43-AE591B392358}"/>
                </a:ext>
              </a:extLst>
            </p:cNvPr>
            <p:cNvSpPr>
              <a:spLocks noChangeShapeType="1"/>
            </p:cNvSpPr>
            <p:nvPr/>
          </p:nvSpPr>
          <p:spPr bwMode="auto">
            <a:xfrm flipV="1">
              <a:off x="2658"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62" name="Line 152">
              <a:extLst>
                <a:ext uri="{FF2B5EF4-FFF2-40B4-BE49-F238E27FC236}">
                  <a16:creationId xmlns:a16="http://schemas.microsoft.com/office/drawing/2014/main" id="{AACCCFDA-C620-D5B1-C6FC-BDF74485BACF}"/>
                </a:ext>
              </a:extLst>
            </p:cNvPr>
            <p:cNvSpPr>
              <a:spLocks noChangeShapeType="1"/>
            </p:cNvSpPr>
            <p:nvPr/>
          </p:nvSpPr>
          <p:spPr bwMode="auto">
            <a:xfrm flipV="1">
              <a:off x="2977"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63" name="Line 153">
              <a:extLst>
                <a:ext uri="{FF2B5EF4-FFF2-40B4-BE49-F238E27FC236}">
                  <a16:creationId xmlns:a16="http://schemas.microsoft.com/office/drawing/2014/main" id="{9430B894-C0BA-C360-5771-8E3AAF122AC8}"/>
                </a:ext>
              </a:extLst>
            </p:cNvPr>
            <p:cNvSpPr>
              <a:spLocks noChangeShapeType="1"/>
            </p:cNvSpPr>
            <p:nvPr/>
          </p:nvSpPr>
          <p:spPr bwMode="auto">
            <a:xfrm flipV="1">
              <a:off x="3295"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64" name="Line 154">
              <a:extLst>
                <a:ext uri="{FF2B5EF4-FFF2-40B4-BE49-F238E27FC236}">
                  <a16:creationId xmlns:a16="http://schemas.microsoft.com/office/drawing/2014/main" id="{D91DA22B-DE2E-B7C2-5247-62AD4FECB3A9}"/>
                </a:ext>
              </a:extLst>
            </p:cNvPr>
            <p:cNvSpPr>
              <a:spLocks noChangeShapeType="1"/>
            </p:cNvSpPr>
            <p:nvPr/>
          </p:nvSpPr>
          <p:spPr bwMode="auto">
            <a:xfrm flipV="1">
              <a:off x="3612"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65" name="Line 155">
              <a:extLst>
                <a:ext uri="{FF2B5EF4-FFF2-40B4-BE49-F238E27FC236}">
                  <a16:creationId xmlns:a16="http://schemas.microsoft.com/office/drawing/2014/main" id="{21B1FB9A-8775-C1E2-724C-A26B96106291}"/>
                </a:ext>
              </a:extLst>
            </p:cNvPr>
            <p:cNvSpPr>
              <a:spLocks noChangeShapeType="1"/>
            </p:cNvSpPr>
            <p:nvPr/>
          </p:nvSpPr>
          <p:spPr bwMode="auto">
            <a:xfrm flipV="1">
              <a:off x="3930"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66" name="Line 156">
              <a:extLst>
                <a:ext uri="{FF2B5EF4-FFF2-40B4-BE49-F238E27FC236}">
                  <a16:creationId xmlns:a16="http://schemas.microsoft.com/office/drawing/2014/main" id="{78BB449B-18FB-E25F-CE9E-CDEC9E984B33}"/>
                </a:ext>
              </a:extLst>
            </p:cNvPr>
            <p:cNvSpPr>
              <a:spLocks noChangeShapeType="1"/>
            </p:cNvSpPr>
            <p:nvPr/>
          </p:nvSpPr>
          <p:spPr bwMode="auto">
            <a:xfrm flipV="1">
              <a:off x="4248"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67" name="Line 157">
              <a:extLst>
                <a:ext uri="{FF2B5EF4-FFF2-40B4-BE49-F238E27FC236}">
                  <a16:creationId xmlns:a16="http://schemas.microsoft.com/office/drawing/2014/main" id="{CCB24D45-43BA-604A-B105-ECC55FB3D62B}"/>
                </a:ext>
              </a:extLst>
            </p:cNvPr>
            <p:cNvSpPr>
              <a:spLocks noChangeShapeType="1"/>
            </p:cNvSpPr>
            <p:nvPr/>
          </p:nvSpPr>
          <p:spPr bwMode="auto">
            <a:xfrm flipV="1">
              <a:off x="4566"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68" name="Line 158">
              <a:extLst>
                <a:ext uri="{FF2B5EF4-FFF2-40B4-BE49-F238E27FC236}">
                  <a16:creationId xmlns:a16="http://schemas.microsoft.com/office/drawing/2014/main" id="{FB8478D9-7AF1-12A3-948C-F65ABCE9463D}"/>
                </a:ext>
              </a:extLst>
            </p:cNvPr>
            <p:cNvSpPr>
              <a:spLocks noChangeShapeType="1"/>
            </p:cNvSpPr>
            <p:nvPr/>
          </p:nvSpPr>
          <p:spPr bwMode="auto">
            <a:xfrm flipV="1">
              <a:off x="4884"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69" name="Line 159">
              <a:extLst>
                <a:ext uri="{FF2B5EF4-FFF2-40B4-BE49-F238E27FC236}">
                  <a16:creationId xmlns:a16="http://schemas.microsoft.com/office/drawing/2014/main" id="{EBCCC019-FD9C-34D5-E175-7EE94F01CFEE}"/>
                </a:ext>
              </a:extLst>
            </p:cNvPr>
            <p:cNvSpPr>
              <a:spLocks noChangeShapeType="1"/>
            </p:cNvSpPr>
            <p:nvPr/>
          </p:nvSpPr>
          <p:spPr bwMode="auto">
            <a:xfrm flipV="1">
              <a:off x="5202" y="3225"/>
              <a:ext cx="0" cy="4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sp>
          <p:nvSpPr>
            <p:cNvPr id="18470" name="Rectangle 160">
              <a:extLst>
                <a:ext uri="{FF2B5EF4-FFF2-40B4-BE49-F238E27FC236}">
                  <a16:creationId xmlns:a16="http://schemas.microsoft.com/office/drawing/2014/main" id="{FA34C6E0-CB1B-DFC9-2558-72CE040E2C3F}"/>
                </a:ext>
              </a:extLst>
            </p:cNvPr>
            <p:cNvSpPr>
              <a:spLocks noChangeArrowheads="1"/>
            </p:cNvSpPr>
            <p:nvPr/>
          </p:nvSpPr>
          <p:spPr bwMode="auto">
            <a:xfrm>
              <a:off x="802" y="264"/>
              <a:ext cx="431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Arial" panose="020B0604020202020204" pitchFamily="34" charset="0"/>
                </a:rPr>
                <a:t>Resource Load Chart after Leveling and Splitting Task C</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471" name="Rectangle 161">
              <a:extLst>
                <a:ext uri="{FF2B5EF4-FFF2-40B4-BE49-F238E27FC236}">
                  <a16:creationId xmlns:a16="http://schemas.microsoft.com/office/drawing/2014/main" id="{528EACD5-3464-6432-1580-C41C492DD938}"/>
                </a:ext>
              </a:extLst>
            </p:cNvPr>
            <p:cNvSpPr>
              <a:spLocks noChangeArrowheads="1"/>
            </p:cNvSpPr>
            <p:nvPr/>
          </p:nvSpPr>
          <p:spPr bwMode="auto">
            <a:xfrm>
              <a:off x="576" y="3150"/>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72" name="Rectangle 162">
              <a:extLst>
                <a:ext uri="{FF2B5EF4-FFF2-40B4-BE49-F238E27FC236}">
                  <a16:creationId xmlns:a16="http://schemas.microsoft.com/office/drawing/2014/main" id="{4E00644C-4AC5-EE1D-A959-1E7A270708AF}"/>
                </a:ext>
              </a:extLst>
            </p:cNvPr>
            <p:cNvSpPr>
              <a:spLocks noChangeArrowheads="1"/>
            </p:cNvSpPr>
            <p:nvPr/>
          </p:nvSpPr>
          <p:spPr bwMode="auto">
            <a:xfrm>
              <a:off x="576" y="2910"/>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73" name="Rectangle 163">
              <a:extLst>
                <a:ext uri="{FF2B5EF4-FFF2-40B4-BE49-F238E27FC236}">
                  <a16:creationId xmlns:a16="http://schemas.microsoft.com/office/drawing/2014/main" id="{9FAC3266-4EA1-B89F-038D-A9FF3243358E}"/>
                </a:ext>
              </a:extLst>
            </p:cNvPr>
            <p:cNvSpPr>
              <a:spLocks noChangeArrowheads="1"/>
            </p:cNvSpPr>
            <p:nvPr/>
          </p:nvSpPr>
          <p:spPr bwMode="auto">
            <a:xfrm>
              <a:off x="576" y="2670"/>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74" name="Rectangle 164">
              <a:extLst>
                <a:ext uri="{FF2B5EF4-FFF2-40B4-BE49-F238E27FC236}">
                  <a16:creationId xmlns:a16="http://schemas.microsoft.com/office/drawing/2014/main" id="{F91F3650-A14E-734F-0276-250FD77A2D04}"/>
                </a:ext>
              </a:extLst>
            </p:cNvPr>
            <p:cNvSpPr>
              <a:spLocks noChangeArrowheads="1"/>
            </p:cNvSpPr>
            <p:nvPr/>
          </p:nvSpPr>
          <p:spPr bwMode="auto">
            <a:xfrm>
              <a:off x="576" y="2431"/>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75" name="Rectangle 165">
              <a:extLst>
                <a:ext uri="{FF2B5EF4-FFF2-40B4-BE49-F238E27FC236}">
                  <a16:creationId xmlns:a16="http://schemas.microsoft.com/office/drawing/2014/main" id="{8EE6F0AE-264C-BDC9-67B6-412933B45FC2}"/>
                </a:ext>
              </a:extLst>
            </p:cNvPr>
            <p:cNvSpPr>
              <a:spLocks noChangeArrowheads="1"/>
            </p:cNvSpPr>
            <p:nvPr/>
          </p:nvSpPr>
          <p:spPr bwMode="auto">
            <a:xfrm>
              <a:off x="576" y="2191"/>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76" name="Rectangle 166">
              <a:extLst>
                <a:ext uri="{FF2B5EF4-FFF2-40B4-BE49-F238E27FC236}">
                  <a16:creationId xmlns:a16="http://schemas.microsoft.com/office/drawing/2014/main" id="{55C68808-381E-4CA1-3345-B192B2BA936B}"/>
                </a:ext>
              </a:extLst>
            </p:cNvPr>
            <p:cNvSpPr>
              <a:spLocks noChangeArrowheads="1"/>
            </p:cNvSpPr>
            <p:nvPr/>
          </p:nvSpPr>
          <p:spPr bwMode="auto">
            <a:xfrm>
              <a:off x="576" y="1951"/>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77" name="Rectangle 167">
              <a:extLst>
                <a:ext uri="{FF2B5EF4-FFF2-40B4-BE49-F238E27FC236}">
                  <a16:creationId xmlns:a16="http://schemas.microsoft.com/office/drawing/2014/main" id="{5F0B5680-1675-B1FD-4E3A-E16A05D207AF}"/>
                </a:ext>
              </a:extLst>
            </p:cNvPr>
            <p:cNvSpPr>
              <a:spLocks noChangeArrowheads="1"/>
            </p:cNvSpPr>
            <p:nvPr/>
          </p:nvSpPr>
          <p:spPr bwMode="auto">
            <a:xfrm>
              <a:off x="576" y="1711"/>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78" name="Rectangle 168">
              <a:extLst>
                <a:ext uri="{FF2B5EF4-FFF2-40B4-BE49-F238E27FC236}">
                  <a16:creationId xmlns:a16="http://schemas.microsoft.com/office/drawing/2014/main" id="{CB722966-6983-487A-C419-C249D3326274}"/>
                </a:ext>
              </a:extLst>
            </p:cNvPr>
            <p:cNvSpPr>
              <a:spLocks noChangeArrowheads="1"/>
            </p:cNvSpPr>
            <p:nvPr/>
          </p:nvSpPr>
          <p:spPr bwMode="auto">
            <a:xfrm>
              <a:off x="576" y="1471"/>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79" name="Rectangle 169">
              <a:extLst>
                <a:ext uri="{FF2B5EF4-FFF2-40B4-BE49-F238E27FC236}">
                  <a16:creationId xmlns:a16="http://schemas.microsoft.com/office/drawing/2014/main" id="{54FAFFC3-EB85-22CA-86D0-0A1C3FC4E787}"/>
                </a:ext>
              </a:extLst>
            </p:cNvPr>
            <p:cNvSpPr>
              <a:spLocks noChangeArrowheads="1"/>
            </p:cNvSpPr>
            <p:nvPr/>
          </p:nvSpPr>
          <p:spPr bwMode="auto">
            <a:xfrm>
              <a:off x="576" y="1232"/>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80" name="Rectangle 170">
              <a:extLst>
                <a:ext uri="{FF2B5EF4-FFF2-40B4-BE49-F238E27FC236}">
                  <a16:creationId xmlns:a16="http://schemas.microsoft.com/office/drawing/2014/main" id="{7C372089-E04B-9397-ADCD-4C8BDCB8101A}"/>
                </a:ext>
              </a:extLst>
            </p:cNvPr>
            <p:cNvSpPr>
              <a:spLocks noChangeArrowheads="1"/>
            </p:cNvSpPr>
            <p:nvPr/>
          </p:nvSpPr>
          <p:spPr bwMode="auto">
            <a:xfrm>
              <a:off x="576" y="992"/>
              <a:ext cx="13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81" name="Rectangle 171">
              <a:extLst>
                <a:ext uri="{FF2B5EF4-FFF2-40B4-BE49-F238E27FC236}">
                  <a16:creationId xmlns:a16="http://schemas.microsoft.com/office/drawing/2014/main" id="{C1739113-5E92-3390-89EA-B38C975A102E}"/>
                </a:ext>
              </a:extLst>
            </p:cNvPr>
            <p:cNvSpPr>
              <a:spLocks noChangeArrowheads="1"/>
            </p:cNvSpPr>
            <p:nvPr/>
          </p:nvSpPr>
          <p:spPr bwMode="auto">
            <a:xfrm>
              <a:off x="502" y="752"/>
              <a:ext cx="21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97" name="Rectangle 187">
              <a:extLst>
                <a:ext uri="{FF2B5EF4-FFF2-40B4-BE49-F238E27FC236}">
                  <a16:creationId xmlns:a16="http://schemas.microsoft.com/office/drawing/2014/main" id="{F0915FC9-E66E-6495-908B-A95A908E095D}"/>
                </a:ext>
              </a:extLst>
            </p:cNvPr>
            <p:cNvSpPr>
              <a:spLocks noChangeArrowheads="1"/>
            </p:cNvSpPr>
            <p:nvPr/>
          </p:nvSpPr>
          <p:spPr bwMode="auto">
            <a:xfrm rot="16200000">
              <a:off x="0" y="1891"/>
              <a:ext cx="76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a:ln>
                    <a:noFill/>
                  </a:ln>
                  <a:solidFill>
                    <a:srgbClr val="000000"/>
                  </a:solidFill>
                  <a:effectLst/>
                  <a:latin typeface="Arial" panose="020B0604020202020204" pitchFamily="34" charset="0"/>
                </a:rPr>
                <a:t>Resources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98" name="Rectangle 188">
              <a:extLst>
                <a:ext uri="{FF2B5EF4-FFF2-40B4-BE49-F238E27FC236}">
                  <a16:creationId xmlns:a16="http://schemas.microsoft.com/office/drawing/2014/main" id="{38A04055-32B8-CBE7-E48B-A76E6F35BD65}"/>
                </a:ext>
              </a:extLst>
            </p:cNvPr>
            <p:cNvSpPr>
              <a:spLocks noChangeArrowheads="1"/>
            </p:cNvSpPr>
            <p:nvPr/>
          </p:nvSpPr>
          <p:spPr bwMode="auto">
            <a:xfrm>
              <a:off x="5270" y="1539"/>
              <a:ext cx="284" cy="1095"/>
            </a:xfrm>
            <a:prstGeom prst="rect">
              <a:avLst/>
            </a:prstGeom>
            <a:solidFill>
              <a:srgbClr val="FFFFFF"/>
            </a:solidFill>
            <a:ln w="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499" name="Rectangle 189">
              <a:extLst>
                <a:ext uri="{FF2B5EF4-FFF2-40B4-BE49-F238E27FC236}">
                  <a16:creationId xmlns:a16="http://schemas.microsoft.com/office/drawing/2014/main" id="{FA0FF4CB-2073-54C6-99A0-B6621A8DC424}"/>
                </a:ext>
              </a:extLst>
            </p:cNvPr>
            <p:cNvSpPr>
              <a:spLocks noChangeArrowheads="1"/>
            </p:cNvSpPr>
            <p:nvPr/>
          </p:nvSpPr>
          <p:spPr bwMode="auto">
            <a:xfrm>
              <a:off x="5309" y="1596"/>
              <a:ext cx="83" cy="82"/>
            </a:xfrm>
            <a:prstGeom prst="rect">
              <a:avLst/>
            </a:prstGeom>
            <a:solidFill>
              <a:srgbClr val="0066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500" name="Rectangle 190">
              <a:extLst>
                <a:ext uri="{FF2B5EF4-FFF2-40B4-BE49-F238E27FC236}">
                  <a16:creationId xmlns:a16="http://schemas.microsoft.com/office/drawing/2014/main" id="{0F5395D3-0895-19E0-4179-11B1D949B087}"/>
                </a:ext>
              </a:extLst>
            </p:cNvPr>
            <p:cNvSpPr>
              <a:spLocks noChangeArrowheads="1"/>
            </p:cNvSpPr>
            <p:nvPr/>
          </p:nvSpPr>
          <p:spPr bwMode="auto">
            <a:xfrm>
              <a:off x="5422" y="1562"/>
              <a:ext cx="14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501" name="Rectangle 191">
              <a:extLst>
                <a:ext uri="{FF2B5EF4-FFF2-40B4-BE49-F238E27FC236}">
                  <a16:creationId xmlns:a16="http://schemas.microsoft.com/office/drawing/2014/main" id="{687696F9-4478-1CF0-FA01-4DF96687BB4B}"/>
                </a:ext>
              </a:extLst>
            </p:cNvPr>
            <p:cNvSpPr>
              <a:spLocks noChangeArrowheads="1"/>
            </p:cNvSpPr>
            <p:nvPr/>
          </p:nvSpPr>
          <p:spPr bwMode="auto">
            <a:xfrm>
              <a:off x="5309" y="1778"/>
              <a:ext cx="83" cy="83"/>
            </a:xfrm>
            <a:prstGeom prst="rect">
              <a:avLst/>
            </a:prstGeom>
            <a:solidFill>
              <a:srgbClr val="FF8080"/>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502" name="Rectangle 192">
              <a:extLst>
                <a:ext uri="{FF2B5EF4-FFF2-40B4-BE49-F238E27FC236}">
                  <a16:creationId xmlns:a16="http://schemas.microsoft.com/office/drawing/2014/main" id="{5C445F29-075F-8A39-F325-84DFBEA84AC2}"/>
                </a:ext>
              </a:extLst>
            </p:cNvPr>
            <p:cNvSpPr>
              <a:spLocks noChangeArrowheads="1"/>
            </p:cNvSpPr>
            <p:nvPr/>
          </p:nvSpPr>
          <p:spPr bwMode="auto">
            <a:xfrm>
              <a:off x="5422" y="1745"/>
              <a:ext cx="15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503" name="Rectangle 193">
              <a:extLst>
                <a:ext uri="{FF2B5EF4-FFF2-40B4-BE49-F238E27FC236}">
                  <a16:creationId xmlns:a16="http://schemas.microsoft.com/office/drawing/2014/main" id="{D3272EF1-D8B7-E170-4899-3037406F3844}"/>
                </a:ext>
              </a:extLst>
            </p:cNvPr>
            <p:cNvSpPr>
              <a:spLocks noChangeArrowheads="1"/>
            </p:cNvSpPr>
            <p:nvPr/>
          </p:nvSpPr>
          <p:spPr bwMode="auto">
            <a:xfrm>
              <a:off x="5309" y="1961"/>
              <a:ext cx="83" cy="82"/>
            </a:xfrm>
            <a:prstGeom prst="rect">
              <a:avLst/>
            </a:prstGeom>
            <a:solidFill>
              <a:srgbClr val="6600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504" name="Rectangle 194">
              <a:extLst>
                <a:ext uri="{FF2B5EF4-FFF2-40B4-BE49-F238E27FC236}">
                  <a16:creationId xmlns:a16="http://schemas.microsoft.com/office/drawing/2014/main" id="{72CA5BF9-344E-C61F-5B17-738933024CDC}"/>
                </a:ext>
              </a:extLst>
            </p:cNvPr>
            <p:cNvSpPr>
              <a:spLocks noChangeArrowheads="1"/>
            </p:cNvSpPr>
            <p:nvPr/>
          </p:nvSpPr>
          <p:spPr bwMode="auto">
            <a:xfrm>
              <a:off x="5422" y="1927"/>
              <a:ext cx="159"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505" name="Rectangle 195">
              <a:extLst>
                <a:ext uri="{FF2B5EF4-FFF2-40B4-BE49-F238E27FC236}">
                  <a16:creationId xmlns:a16="http://schemas.microsoft.com/office/drawing/2014/main" id="{C67676CF-F227-B9FA-48EB-629A18E00123}"/>
                </a:ext>
              </a:extLst>
            </p:cNvPr>
            <p:cNvSpPr>
              <a:spLocks noChangeArrowheads="1"/>
            </p:cNvSpPr>
            <p:nvPr/>
          </p:nvSpPr>
          <p:spPr bwMode="auto">
            <a:xfrm>
              <a:off x="5309" y="2143"/>
              <a:ext cx="83" cy="82"/>
            </a:xfrm>
            <a:prstGeom prst="rect">
              <a:avLst/>
            </a:prstGeom>
            <a:solidFill>
              <a:srgbClr val="CCFFFF"/>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506" name="Rectangle 196">
              <a:extLst>
                <a:ext uri="{FF2B5EF4-FFF2-40B4-BE49-F238E27FC236}">
                  <a16:creationId xmlns:a16="http://schemas.microsoft.com/office/drawing/2014/main" id="{75EC9F6D-6A93-462C-C85E-1692314DB1F7}"/>
                </a:ext>
              </a:extLst>
            </p:cNvPr>
            <p:cNvSpPr>
              <a:spLocks noChangeArrowheads="1"/>
            </p:cNvSpPr>
            <p:nvPr/>
          </p:nvSpPr>
          <p:spPr bwMode="auto">
            <a:xfrm>
              <a:off x="5422" y="2109"/>
              <a:ext cx="159"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507" name="Rectangle 197">
              <a:extLst>
                <a:ext uri="{FF2B5EF4-FFF2-40B4-BE49-F238E27FC236}">
                  <a16:creationId xmlns:a16="http://schemas.microsoft.com/office/drawing/2014/main" id="{79F8BF80-F897-64FA-8B4F-F5E2698E7DC5}"/>
                </a:ext>
              </a:extLst>
            </p:cNvPr>
            <p:cNvSpPr>
              <a:spLocks noChangeArrowheads="1"/>
            </p:cNvSpPr>
            <p:nvPr/>
          </p:nvSpPr>
          <p:spPr bwMode="auto">
            <a:xfrm>
              <a:off x="5309" y="2325"/>
              <a:ext cx="83" cy="83"/>
            </a:xfrm>
            <a:prstGeom prst="rect">
              <a:avLst/>
            </a:prstGeom>
            <a:solidFill>
              <a:srgbClr val="FFFFCC"/>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508" name="Rectangle 198">
              <a:extLst>
                <a:ext uri="{FF2B5EF4-FFF2-40B4-BE49-F238E27FC236}">
                  <a16:creationId xmlns:a16="http://schemas.microsoft.com/office/drawing/2014/main" id="{282BBA47-A85F-BCC0-CD7B-F6BF835CEBB4}"/>
                </a:ext>
              </a:extLst>
            </p:cNvPr>
            <p:cNvSpPr>
              <a:spLocks noChangeArrowheads="1"/>
            </p:cNvSpPr>
            <p:nvPr/>
          </p:nvSpPr>
          <p:spPr bwMode="auto">
            <a:xfrm>
              <a:off x="5422" y="2292"/>
              <a:ext cx="15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509" name="Rectangle 199">
              <a:extLst>
                <a:ext uri="{FF2B5EF4-FFF2-40B4-BE49-F238E27FC236}">
                  <a16:creationId xmlns:a16="http://schemas.microsoft.com/office/drawing/2014/main" id="{62966133-84BE-4F85-7284-AAE966996127}"/>
                </a:ext>
              </a:extLst>
            </p:cNvPr>
            <p:cNvSpPr>
              <a:spLocks noChangeArrowheads="1"/>
            </p:cNvSpPr>
            <p:nvPr/>
          </p:nvSpPr>
          <p:spPr bwMode="auto">
            <a:xfrm>
              <a:off x="5309" y="2508"/>
              <a:ext cx="83" cy="82"/>
            </a:xfrm>
            <a:prstGeom prst="rect">
              <a:avLst/>
            </a:prstGeom>
            <a:solidFill>
              <a:srgbClr val="993366"/>
            </a:solidFill>
            <a:ln w="12700">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8510" name="Rectangle 200">
              <a:extLst>
                <a:ext uri="{FF2B5EF4-FFF2-40B4-BE49-F238E27FC236}">
                  <a16:creationId xmlns:a16="http://schemas.microsoft.com/office/drawing/2014/main" id="{10A1CAF6-DA82-35AA-338B-13E90EF00E30}"/>
                </a:ext>
              </a:extLst>
            </p:cNvPr>
            <p:cNvSpPr>
              <a:spLocks noChangeArrowheads="1"/>
            </p:cNvSpPr>
            <p:nvPr/>
          </p:nvSpPr>
          <p:spPr bwMode="auto">
            <a:xfrm>
              <a:off x="5422" y="2474"/>
              <a:ext cx="15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a:ln>
                    <a:noFill/>
                  </a:ln>
                  <a:solidFill>
                    <a:srgbClr val="000000"/>
                  </a:solidFill>
                  <a:effectLst/>
                  <a:latin typeface="Arial" panose="020B060402020202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511" name="Line 201">
              <a:extLst>
                <a:ext uri="{FF2B5EF4-FFF2-40B4-BE49-F238E27FC236}">
                  <a16:creationId xmlns:a16="http://schemas.microsoft.com/office/drawing/2014/main" id="{CE77DFD7-C3F2-A11D-D590-637CE6B5054C}"/>
                </a:ext>
              </a:extLst>
            </p:cNvPr>
            <p:cNvSpPr>
              <a:spLocks noChangeShapeType="1"/>
            </p:cNvSpPr>
            <p:nvPr/>
          </p:nvSpPr>
          <p:spPr bwMode="auto">
            <a:xfrm>
              <a:off x="843" y="1298"/>
              <a:ext cx="4078" cy="0"/>
            </a:xfrm>
            <a:prstGeom prst="line">
              <a:avLst/>
            </a:prstGeom>
            <a:noFill/>
            <a:ln w="38100">
              <a:solidFill>
                <a:srgbClr val="FF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CA"/>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42"/>
                                        </p:tgtEl>
                                        <p:attrNameLst>
                                          <p:attrName>style.visibility</p:attrName>
                                        </p:attrNameLst>
                                      </p:cBhvr>
                                      <p:to>
                                        <p:strVal val="visible"/>
                                      </p:to>
                                    </p:set>
                                    <p:anim calcmode="lin" valueType="num">
                                      <p:cBhvr additive="base">
                                        <p:cTn id="7" dur="500" fill="hold"/>
                                        <p:tgtEl>
                                          <p:spTgt spid="14342"/>
                                        </p:tgtEl>
                                        <p:attrNameLst>
                                          <p:attrName>ppt_x</p:attrName>
                                        </p:attrNameLst>
                                      </p:cBhvr>
                                      <p:tavLst>
                                        <p:tav tm="0">
                                          <p:val>
                                            <p:strVal val="#ppt_x"/>
                                          </p:val>
                                        </p:tav>
                                        <p:tav tm="100000">
                                          <p:val>
                                            <p:strVal val="#ppt_x"/>
                                          </p:val>
                                        </p:tav>
                                      </p:tavLst>
                                    </p:anim>
                                    <p:anim calcmode="lin" valueType="num">
                                      <p:cBhvr additive="base">
                                        <p:cTn id="8" dur="500" fill="hold"/>
                                        <p:tgtEl>
                                          <p:spTgt spid="143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86557" y="404664"/>
            <a:ext cx="7543800" cy="550108"/>
          </a:xfrm>
        </p:spPr>
        <p:txBody>
          <a:bodyPr>
            <a:noAutofit/>
          </a:bodyPr>
          <a:lstStyle/>
          <a:p>
            <a:pPr eaLnBrk="1" hangingPunct="1"/>
            <a:r>
              <a:rPr lang="en-US" sz="3600" b="1" dirty="0">
                <a:solidFill>
                  <a:srgbClr val="7030A0"/>
                </a:solidFill>
                <a:latin typeface="+mn-lt"/>
                <a:cs typeface="Arial" panose="020B0604020202020204" pitchFamily="34" charset="0"/>
              </a:rPr>
              <a:t>Splitting</a:t>
            </a:r>
            <a:r>
              <a:rPr lang="en-US" sz="3600" b="1" dirty="0">
                <a:latin typeface="+mn-lt"/>
                <a:cs typeface="Arial" panose="020B0604020202020204" pitchFamily="34" charset="0"/>
              </a:rPr>
              <a:t> a task</a:t>
            </a:r>
          </a:p>
        </p:txBody>
      </p:sp>
      <p:sp>
        <p:nvSpPr>
          <p:cNvPr id="19459" name="Rectangle 3"/>
          <p:cNvSpPr>
            <a:spLocks noGrp="1" noChangeArrowheads="1"/>
          </p:cNvSpPr>
          <p:nvPr>
            <p:ph idx="1"/>
          </p:nvPr>
        </p:nvSpPr>
        <p:spPr>
          <a:xfrm>
            <a:off x="865562" y="1844824"/>
            <a:ext cx="7543801" cy="4023360"/>
          </a:xfrm>
        </p:spPr>
        <p:txBody>
          <a:bodyPr>
            <a:normAutofit/>
          </a:bodyPr>
          <a:lstStyle/>
          <a:p>
            <a:pPr eaLnBrk="1" hangingPunct="1"/>
            <a:r>
              <a:rPr lang="en-US" sz="2800" dirty="0"/>
              <a:t>Means </a:t>
            </a:r>
            <a:r>
              <a:rPr lang="en-US" sz="2800" dirty="0">
                <a:solidFill>
                  <a:srgbClr val="00B050"/>
                </a:solidFill>
              </a:rPr>
              <a:t>interrupting</a:t>
            </a:r>
            <a:r>
              <a:rPr lang="en-US" sz="2800" dirty="0"/>
              <a:t> the continuous stream of work on an activity at some point in its progress and applying that resource to another activity. Then returning to the original task.</a:t>
            </a:r>
          </a:p>
          <a:p>
            <a:pPr eaLnBrk="1" hangingPunct="1"/>
            <a:r>
              <a:rPr lang="en-US" sz="2800" dirty="0"/>
              <a:t>Splitting can be useful provided </a:t>
            </a:r>
            <a:r>
              <a:rPr lang="en-US" sz="2800" u="sng" dirty="0">
                <a:solidFill>
                  <a:srgbClr val="C00000"/>
                </a:solidFill>
                <a:highlight>
                  <a:srgbClr val="FFFF00"/>
                </a:highlight>
              </a:rPr>
              <a:t>there are no excessive costs associated </a:t>
            </a:r>
            <a:r>
              <a:rPr lang="en-US" sz="2800" dirty="0"/>
              <a:t>with splitting the task. For example, large </a:t>
            </a:r>
            <a:r>
              <a:rPr lang="en-US" sz="2800" b="1" dirty="0"/>
              <a:t>start-up</a:t>
            </a:r>
            <a:r>
              <a:rPr lang="en-US" sz="2800" dirty="0"/>
              <a:t> or </a:t>
            </a:r>
            <a:r>
              <a:rPr lang="en-US" sz="2800" b="1" dirty="0"/>
              <a:t>shutdown</a:t>
            </a:r>
            <a:r>
              <a:rPr lang="en-US" sz="2800" dirty="0"/>
              <a:t> costs make splitting an unattractive option.</a:t>
            </a:r>
          </a:p>
          <a:p>
            <a:pPr eaLnBrk="1" hangingPunct="1"/>
            <a:r>
              <a:rPr lang="en-US" sz="2800" dirty="0"/>
              <a:t>Only some tasks can be split. </a:t>
            </a:r>
          </a:p>
        </p:txBody>
      </p:sp>
      <p:sp>
        <p:nvSpPr>
          <p:cNvPr id="19460"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20</a:t>
            </a:fld>
            <a:endParaRPr lang="en-US"/>
          </a:p>
        </p:txBody>
      </p:sp>
      <p:sp>
        <p:nvSpPr>
          <p:cNvPr id="4" name="Date Placeholder 3">
            <a:extLst>
              <a:ext uri="{FF2B5EF4-FFF2-40B4-BE49-F238E27FC236}">
                <a16:creationId xmlns:a16="http://schemas.microsoft.com/office/drawing/2014/main" id="{3B803224-507A-4740-9A5C-7803F7F286BD}"/>
              </a:ext>
            </a:extLst>
          </p:cNvPr>
          <p:cNvSpPr>
            <a:spLocks noGrp="1"/>
          </p:cNvSpPr>
          <p:nvPr>
            <p:ph type="dt" sz="half" idx="10"/>
          </p:nvPr>
        </p:nvSpPr>
        <p:spPr/>
        <p:txBody>
          <a:bodyPr/>
          <a:lstStyle/>
          <a:p>
            <a:pPr>
              <a:defRPr/>
            </a:pPr>
            <a:r>
              <a:rPr lang="en-US"/>
              <a:t>Lecture 10</a:t>
            </a:r>
          </a:p>
        </p:txBody>
      </p:sp>
      <p:sp>
        <p:nvSpPr>
          <p:cNvPr id="5" name="Footer Placeholder 4">
            <a:extLst>
              <a:ext uri="{FF2B5EF4-FFF2-40B4-BE49-F238E27FC236}">
                <a16:creationId xmlns:a16="http://schemas.microsoft.com/office/drawing/2014/main" id="{017D2625-1FF6-4706-B383-94F7ACD96054}"/>
              </a:ext>
            </a:extLst>
          </p:cNvPr>
          <p:cNvSpPr>
            <a:spLocks noGrp="1"/>
          </p:cNvSpPr>
          <p:nvPr>
            <p:ph type="ftr" sz="quarter" idx="11"/>
          </p:nvPr>
        </p:nvSpPr>
        <p:spPr/>
        <p:txBody>
          <a:bodyPr/>
          <a:lstStyle/>
          <a:p>
            <a:pPr>
              <a:defRPr/>
            </a:pPr>
            <a:r>
              <a:rPr lang="en-US"/>
              <a:t>G.R. Labbé</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Resource Leveling Example</a:t>
            </a:r>
          </a:p>
        </p:txBody>
      </p:sp>
      <p:sp>
        <p:nvSpPr>
          <p:cNvPr id="3" name="Content Placeholder 2"/>
          <p:cNvSpPr>
            <a:spLocks noGrp="1"/>
          </p:cNvSpPr>
          <p:nvPr>
            <p:ph idx="1"/>
          </p:nvPr>
        </p:nvSpPr>
        <p:spPr/>
        <p:txBody>
          <a:bodyPr/>
          <a:lstStyle/>
          <a:p>
            <a:r>
              <a:rPr lang="en-CA" dirty="0"/>
              <a:t>Create a Resource Load Chart from the following AON network diagram, and level it to 9 personnel per day. You can split the tasks.</a:t>
            </a:r>
          </a:p>
        </p:txBody>
      </p:sp>
      <p:sp>
        <p:nvSpPr>
          <p:cNvPr id="4" name="Slide Number Placeholder 3"/>
          <p:cNvSpPr>
            <a:spLocks noGrp="1"/>
          </p:cNvSpPr>
          <p:nvPr>
            <p:ph type="sldNum" sz="quarter" idx="12"/>
          </p:nvPr>
        </p:nvSpPr>
        <p:spPr/>
        <p:txBody>
          <a:bodyPr/>
          <a:lstStyle/>
          <a:p>
            <a:pPr>
              <a:defRPr/>
            </a:pPr>
            <a:fld id="{1152812F-33DB-44F2-8D7A-55F34972C181}" type="slidenum">
              <a:rPr lang="en-US" smtClean="0"/>
              <a:pPr>
                <a:defRPr/>
              </a:pPr>
              <a:t>21</a:t>
            </a:fld>
            <a:endParaRPr lang="en-US"/>
          </a:p>
        </p:txBody>
      </p:sp>
      <p:grpSp>
        <p:nvGrpSpPr>
          <p:cNvPr id="5" name="Group 4"/>
          <p:cNvGrpSpPr/>
          <p:nvPr/>
        </p:nvGrpSpPr>
        <p:grpSpPr>
          <a:xfrm>
            <a:off x="893640" y="2796861"/>
            <a:ext cx="7037623" cy="2085638"/>
            <a:chOff x="592750" y="497500"/>
            <a:chExt cx="4356100" cy="1291500"/>
          </a:xfrm>
        </p:grpSpPr>
        <p:sp>
          <p:nvSpPr>
            <p:cNvPr id="6" name="Text Box 2"/>
            <p:cNvSpPr txBox="1"/>
            <p:nvPr/>
          </p:nvSpPr>
          <p:spPr>
            <a:xfrm>
              <a:off x="2209800" y="499700"/>
              <a:ext cx="1016000" cy="4572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0"/>
                </a:spcAft>
              </a:pPr>
              <a:r>
                <a:rPr lang="en-CA" dirty="0">
                  <a:effectLst/>
                  <a:latin typeface="Calibri" panose="020F0502020204030204" pitchFamily="34" charset="0"/>
                  <a:ea typeface="Calibri" panose="020F0502020204030204" pitchFamily="34" charset="0"/>
                  <a:cs typeface="Times New Roman" panose="02020603050405020304" pitchFamily="18" charset="0"/>
                </a:rPr>
                <a:t>3    </a:t>
              </a:r>
              <a:r>
                <a:rPr lang="en-CA" b="1" dirty="0">
                  <a:effectLst/>
                  <a:latin typeface="Calibri" panose="020F0502020204030204" pitchFamily="34" charset="0"/>
                  <a:ea typeface="Calibri" panose="020F0502020204030204" pitchFamily="34" charset="0"/>
                  <a:cs typeface="Times New Roman" panose="02020603050405020304" pitchFamily="18" charset="0"/>
                </a:rPr>
                <a:t>B</a:t>
              </a:r>
              <a:r>
                <a:rPr lang="en-CA" dirty="0">
                  <a:effectLst/>
                  <a:latin typeface="Calibri" panose="020F0502020204030204" pitchFamily="34" charset="0"/>
                  <a:ea typeface="Calibri" panose="020F0502020204030204" pitchFamily="34" charset="0"/>
                  <a:cs typeface="Times New Roman" panose="02020603050405020304" pitchFamily="18" charset="0"/>
                </a:rPr>
                <a:t>    8</a:t>
              </a:r>
            </a:p>
            <a:p>
              <a:pPr algn="ctr">
                <a:lnSpc>
                  <a:spcPct val="107000"/>
                </a:lnSpc>
                <a:spcAft>
                  <a:spcPts val="0"/>
                </a:spcAft>
              </a:pPr>
              <a:r>
                <a:rPr lang="en-CA" dirty="0">
                  <a:effectLst/>
                  <a:latin typeface="Calibri" panose="020F0502020204030204" pitchFamily="34" charset="0"/>
                  <a:ea typeface="Calibri" panose="020F0502020204030204" pitchFamily="34" charset="0"/>
                  <a:cs typeface="Times New Roman" panose="02020603050405020304" pitchFamily="18" charset="0"/>
                </a:rPr>
                <a:t>4 </a:t>
              </a:r>
              <a:r>
                <a:rPr lang="en-CA" dirty="0">
                  <a:latin typeface="Calibri" panose="020F0502020204030204" pitchFamily="34" charset="0"/>
                  <a:ea typeface="Calibri" panose="020F0502020204030204" pitchFamily="34" charset="0"/>
                  <a:cs typeface="Times New Roman" panose="02020603050405020304" pitchFamily="18" charset="0"/>
                </a:rPr>
                <a:t>personnel</a:t>
              </a:r>
              <a:endParaRPr lang="en-CA"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 Box 3"/>
            <p:cNvSpPr txBox="1"/>
            <p:nvPr/>
          </p:nvSpPr>
          <p:spPr>
            <a:xfrm>
              <a:off x="592750" y="1327650"/>
              <a:ext cx="1016000" cy="4572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6000"/>
                </a:lnSpc>
                <a:spcAft>
                  <a:spcPts val="0"/>
                </a:spcAft>
              </a:pPr>
              <a:r>
                <a:rPr lang="en-CA" dirty="0">
                  <a:effectLst/>
                  <a:latin typeface="Calibri" panose="020F0502020204030204" pitchFamily="34" charset="0"/>
                  <a:ea typeface="Calibri" panose="020F0502020204030204" pitchFamily="34" charset="0"/>
                  <a:cs typeface="Times New Roman" panose="02020603050405020304" pitchFamily="18" charset="0"/>
                </a:rPr>
                <a:t>0    </a:t>
              </a:r>
              <a:r>
                <a:rPr lang="en-CA" b="1" dirty="0">
                  <a:effectLst/>
                  <a:latin typeface="Calibri" panose="020F0502020204030204" pitchFamily="34" charset="0"/>
                  <a:ea typeface="Calibri" panose="020F0502020204030204" pitchFamily="34" charset="0"/>
                  <a:cs typeface="Times New Roman" panose="02020603050405020304" pitchFamily="18" charset="0"/>
                </a:rPr>
                <a:t>C</a:t>
              </a:r>
              <a:r>
                <a:rPr lang="en-CA" dirty="0">
                  <a:effectLst/>
                  <a:latin typeface="Calibri" panose="020F0502020204030204" pitchFamily="34" charset="0"/>
                  <a:ea typeface="Calibri" panose="020F0502020204030204" pitchFamily="34" charset="0"/>
                  <a:cs typeface="Times New Roman" panose="02020603050405020304" pitchFamily="18" charset="0"/>
                </a:rPr>
                <a:t>    7</a:t>
              </a:r>
              <a:endParaRPr lang="en-CA" sz="2000" dirty="0">
                <a:effectLst/>
                <a:latin typeface="Times New Roman" panose="02020603050405020304" pitchFamily="18" charset="0"/>
                <a:ea typeface="Times New Roman" panose="02020603050405020304" pitchFamily="18" charset="0"/>
              </a:endParaRPr>
            </a:p>
            <a:p>
              <a:pPr algn="ctr">
                <a:lnSpc>
                  <a:spcPct val="106000"/>
                </a:lnSpc>
                <a:spcAft>
                  <a:spcPts val="0"/>
                </a:spcAft>
              </a:pPr>
              <a:r>
                <a:rPr lang="en-CA" dirty="0">
                  <a:effectLst/>
                  <a:latin typeface="Calibri" panose="020F0502020204030204" pitchFamily="34" charset="0"/>
                  <a:ea typeface="Calibri" panose="020F0502020204030204" pitchFamily="34" charset="0"/>
                  <a:cs typeface="Times New Roman" panose="02020603050405020304" pitchFamily="18" charset="0"/>
                </a:rPr>
                <a:t>2 </a:t>
              </a:r>
              <a:r>
                <a:rPr lang="en-CA" dirty="0">
                  <a:latin typeface="Calibri" panose="020F0502020204030204" pitchFamily="34" charset="0"/>
                  <a:ea typeface="Calibri" panose="020F0502020204030204" pitchFamily="34" charset="0"/>
                  <a:cs typeface="Times New Roman" panose="02020603050405020304" pitchFamily="18" charset="0"/>
                </a:rPr>
                <a:t>personnel</a:t>
              </a:r>
              <a:endParaRPr lang="en-CA" sz="2000" dirty="0">
                <a:effectLst/>
                <a:latin typeface="Times New Roman" panose="02020603050405020304" pitchFamily="18" charset="0"/>
                <a:ea typeface="Times New Roman" panose="02020603050405020304" pitchFamily="18" charset="0"/>
              </a:endParaRPr>
            </a:p>
          </p:txBody>
        </p:sp>
        <p:sp>
          <p:nvSpPr>
            <p:cNvPr id="8" name="Text Box 3"/>
            <p:cNvSpPr txBox="1"/>
            <p:nvPr/>
          </p:nvSpPr>
          <p:spPr>
            <a:xfrm>
              <a:off x="592750" y="497500"/>
              <a:ext cx="1016000" cy="4572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6000"/>
                </a:lnSpc>
                <a:spcAft>
                  <a:spcPts val="0"/>
                </a:spcAft>
              </a:pPr>
              <a:r>
                <a:rPr lang="en-CA" dirty="0">
                  <a:effectLst/>
                  <a:latin typeface="Calibri" panose="020F0502020204030204" pitchFamily="34" charset="0"/>
                  <a:ea typeface="Calibri" panose="020F0502020204030204" pitchFamily="34" charset="0"/>
                  <a:cs typeface="Times New Roman" panose="02020603050405020304" pitchFamily="18" charset="0"/>
                </a:rPr>
                <a:t>0    </a:t>
              </a:r>
              <a:r>
                <a:rPr lang="en-CA" b="1" dirty="0">
                  <a:effectLst/>
                  <a:latin typeface="Calibri" panose="020F0502020204030204" pitchFamily="34" charset="0"/>
                  <a:ea typeface="Calibri" panose="020F0502020204030204" pitchFamily="34" charset="0"/>
                  <a:cs typeface="Times New Roman" panose="02020603050405020304" pitchFamily="18" charset="0"/>
                </a:rPr>
                <a:t>A</a:t>
              </a:r>
              <a:r>
                <a:rPr lang="en-CA" dirty="0">
                  <a:effectLst/>
                  <a:latin typeface="Calibri" panose="020F0502020204030204" pitchFamily="34" charset="0"/>
                  <a:ea typeface="Calibri" panose="020F0502020204030204" pitchFamily="34" charset="0"/>
                  <a:cs typeface="Times New Roman" panose="02020603050405020304" pitchFamily="18" charset="0"/>
                </a:rPr>
                <a:t>    3</a:t>
              </a:r>
              <a:endParaRPr lang="en-CA" sz="2000" dirty="0">
                <a:effectLst/>
                <a:latin typeface="Times New Roman" panose="02020603050405020304" pitchFamily="18" charset="0"/>
                <a:ea typeface="Times New Roman" panose="02020603050405020304" pitchFamily="18" charset="0"/>
              </a:endParaRPr>
            </a:p>
            <a:p>
              <a:pPr algn="ctr">
                <a:lnSpc>
                  <a:spcPct val="106000"/>
                </a:lnSpc>
                <a:spcAft>
                  <a:spcPts val="0"/>
                </a:spcAft>
              </a:pPr>
              <a:r>
                <a:rPr lang="en-CA" dirty="0">
                  <a:effectLst/>
                  <a:latin typeface="Calibri" panose="020F0502020204030204" pitchFamily="34" charset="0"/>
                  <a:ea typeface="Calibri" panose="020F0502020204030204" pitchFamily="34" charset="0"/>
                  <a:cs typeface="Times New Roman" panose="02020603050405020304" pitchFamily="18" charset="0"/>
                </a:rPr>
                <a:t>5 personnel</a:t>
              </a:r>
              <a:endParaRPr lang="en-CA" sz="2000" dirty="0">
                <a:effectLst/>
                <a:latin typeface="Times New Roman" panose="02020603050405020304" pitchFamily="18" charset="0"/>
                <a:ea typeface="Times New Roman" panose="02020603050405020304" pitchFamily="18" charset="0"/>
              </a:endParaRPr>
            </a:p>
          </p:txBody>
        </p:sp>
        <p:sp>
          <p:nvSpPr>
            <p:cNvPr id="9" name="Text Box 3"/>
            <p:cNvSpPr txBox="1"/>
            <p:nvPr/>
          </p:nvSpPr>
          <p:spPr>
            <a:xfrm>
              <a:off x="2209800" y="1331800"/>
              <a:ext cx="1016000" cy="4572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6000"/>
                </a:lnSpc>
                <a:spcAft>
                  <a:spcPts val="0"/>
                </a:spcAft>
              </a:pPr>
              <a:r>
                <a:rPr lang="en-CA" dirty="0">
                  <a:effectLst/>
                  <a:latin typeface="Calibri" panose="020F0502020204030204" pitchFamily="34" charset="0"/>
                  <a:ea typeface="Calibri" panose="020F0502020204030204" pitchFamily="34" charset="0"/>
                  <a:cs typeface="Times New Roman" panose="02020603050405020304" pitchFamily="18" charset="0"/>
                </a:rPr>
                <a:t>7    </a:t>
              </a:r>
              <a:r>
                <a:rPr lang="en-CA" b="1" dirty="0">
                  <a:effectLst/>
                  <a:latin typeface="Calibri" panose="020F0502020204030204" pitchFamily="34" charset="0"/>
                  <a:ea typeface="Calibri" panose="020F0502020204030204" pitchFamily="34" charset="0"/>
                  <a:cs typeface="Times New Roman" panose="02020603050405020304" pitchFamily="18" charset="0"/>
                </a:rPr>
                <a:t>D</a:t>
              </a:r>
              <a:r>
                <a:rPr lang="en-CA" dirty="0">
                  <a:effectLst/>
                  <a:latin typeface="Calibri" panose="020F0502020204030204" pitchFamily="34" charset="0"/>
                  <a:ea typeface="Calibri" panose="020F0502020204030204" pitchFamily="34" charset="0"/>
                  <a:cs typeface="Times New Roman" panose="02020603050405020304" pitchFamily="18" charset="0"/>
                </a:rPr>
                <a:t>    9</a:t>
              </a:r>
              <a:endParaRPr lang="en-CA" sz="2000" dirty="0">
                <a:effectLst/>
                <a:latin typeface="Times New Roman" panose="02020603050405020304" pitchFamily="18" charset="0"/>
                <a:ea typeface="Times New Roman" panose="02020603050405020304" pitchFamily="18" charset="0"/>
              </a:endParaRPr>
            </a:p>
            <a:p>
              <a:pPr algn="ctr">
                <a:lnSpc>
                  <a:spcPct val="106000"/>
                </a:lnSpc>
                <a:spcAft>
                  <a:spcPts val="0"/>
                </a:spcAft>
              </a:pPr>
              <a:r>
                <a:rPr lang="en-CA" dirty="0">
                  <a:effectLst/>
                  <a:latin typeface="Calibri" panose="020F0502020204030204" pitchFamily="34" charset="0"/>
                  <a:ea typeface="Calibri" panose="020F0502020204030204" pitchFamily="34" charset="0"/>
                  <a:cs typeface="Times New Roman" panose="02020603050405020304" pitchFamily="18" charset="0"/>
                </a:rPr>
                <a:t>8 </a:t>
              </a:r>
              <a:r>
                <a:rPr lang="en-CA" dirty="0">
                  <a:latin typeface="Calibri" panose="020F0502020204030204" pitchFamily="34" charset="0"/>
                  <a:ea typeface="Calibri" panose="020F0502020204030204" pitchFamily="34" charset="0"/>
                  <a:cs typeface="Times New Roman" panose="02020603050405020304" pitchFamily="18" charset="0"/>
                </a:rPr>
                <a:t>personnel</a:t>
              </a:r>
              <a:endParaRPr lang="en-CA" sz="2000" dirty="0">
                <a:effectLst/>
                <a:latin typeface="Times New Roman" panose="02020603050405020304" pitchFamily="18" charset="0"/>
                <a:ea typeface="Times New Roman" panose="02020603050405020304" pitchFamily="18" charset="0"/>
              </a:endParaRPr>
            </a:p>
          </p:txBody>
        </p:sp>
        <p:sp>
          <p:nvSpPr>
            <p:cNvPr id="10" name="Text Box 3"/>
            <p:cNvSpPr txBox="1"/>
            <p:nvPr/>
          </p:nvSpPr>
          <p:spPr>
            <a:xfrm>
              <a:off x="3932850" y="956900"/>
              <a:ext cx="1016000" cy="4572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6000"/>
                </a:lnSpc>
                <a:spcAft>
                  <a:spcPts val="0"/>
                </a:spcAft>
              </a:pPr>
              <a:r>
                <a:rPr lang="en-CA" dirty="0">
                  <a:effectLst/>
                  <a:latin typeface="Calibri" panose="020F0502020204030204" pitchFamily="34" charset="0"/>
                  <a:ea typeface="Calibri" panose="020F0502020204030204" pitchFamily="34" charset="0"/>
                  <a:cs typeface="Times New Roman" panose="02020603050405020304" pitchFamily="18" charset="0"/>
                </a:rPr>
                <a:t>9    </a:t>
              </a:r>
              <a:r>
                <a:rPr lang="en-CA" b="1" dirty="0">
                  <a:effectLst/>
                  <a:latin typeface="Calibri" panose="020F0502020204030204" pitchFamily="34" charset="0"/>
                  <a:ea typeface="Calibri" panose="020F0502020204030204" pitchFamily="34" charset="0"/>
                  <a:cs typeface="Times New Roman" panose="02020603050405020304" pitchFamily="18" charset="0"/>
                </a:rPr>
                <a:t>E</a:t>
              </a:r>
              <a:r>
                <a:rPr lang="en-CA" dirty="0">
                  <a:effectLst/>
                  <a:latin typeface="Calibri" panose="020F0502020204030204" pitchFamily="34" charset="0"/>
                  <a:ea typeface="Calibri" panose="020F0502020204030204" pitchFamily="34" charset="0"/>
                  <a:cs typeface="Times New Roman" panose="02020603050405020304" pitchFamily="18" charset="0"/>
                </a:rPr>
                <a:t>    11</a:t>
              </a:r>
              <a:endParaRPr lang="en-CA" sz="2000" dirty="0">
                <a:effectLst/>
                <a:latin typeface="Times New Roman" panose="02020603050405020304" pitchFamily="18" charset="0"/>
                <a:ea typeface="Times New Roman" panose="02020603050405020304" pitchFamily="18" charset="0"/>
              </a:endParaRPr>
            </a:p>
            <a:p>
              <a:pPr algn="ctr">
                <a:lnSpc>
                  <a:spcPct val="106000"/>
                </a:lnSpc>
                <a:spcAft>
                  <a:spcPts val="0"/>
                </a:spcAft>
              </a:pPr>
              <a:r>
                <a:rPr lang="en-CA" dirty="0">
                  <a:effectLst/>
                  <a:latin typeface="Calibri" panose="020F0502020204030204" pitchFamily="34" charset="0"/>
                  <a:ea typeface="Calibri" panose="020F0502020204030204" pitchFamily="34" charset="0"/>
                  <a:cs typeface="Times New Roman" panose="02020603050405020304" pitchFamily="18" charset="0"/>
                </a:rPr>
                <a:t>5 </a:t>
              </a:r>
              <a:r>
                <a:rPr lang="en-CA" dirty="0">
                  <a:latin typeface="Calibri" panose="020F0502020204030204" pitchFamily="34" charset="0"/>
                  <a:ea typeface="Calibri" panose="020F0502020204030204" pitchFamily="34" charset="0"/>
                  <a:cs typeface="Times New Roman" panose="02020603050405020304" pitchFamily="18" charset="0"/>
                </a:rPr>
                <a:t>personnel</a:t>
              </a:r>
              <a:endParaRPr lang="en-CA" sz="2000" dirty="0">
                <a:effectLst/>
                <a:latin typeface="Times New Roman" panose="02020603050405020304" pitchFamily="18" charset="0"/>
                <a:ea typeface="Times New Roman" panose="02020603050405020304" pitchFamily="18" charset="0"/>
              </a:endParaRPr>
            </a:p>
          </p:txBody>
        </p:sp>
        <p:cxnSp>
          <p:nvCxnSpPr>
            <p:cNvPr id="11" name="Straight Arrow Connector 10"/>
            <p:cNvCxnSpPr>
              <a:stCxn id="9" idx="3"/>
              <a:endCxn id="7" idx="1"/>
            </p:cNvCxnSpPr>
            <p:nvPr/>
          </p:nvCxnSpPr>
          <p:spPr>
            <a:xfrm>
              <a:off x="1608750" y="726100"/>
              <a:ext cx="601050" cy="220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3"/>
              <a:endCxn id="11" idx="1"/>
            </p:cNvCxnSpPr>
            <p:nvPr/>
          </p:nvCxnSpPr>
          <p:spPr>
            <a:xfrm>
              <a:off x="1608750" y="1556250"/>
              <a:ext cx="601050" cy="415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3"/>
              <a:endCxn id="12" idx="1"/>
            </p:cNvCxnSpPr>
            <p:nvPr/>
          </p:nvCxnSpPr>
          <p:spPr>
            <a:xfrm>
              <a:off x="3225800" y="728300"/>
              <a:ext cx="707050" cy="45720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1" idx="3"/>
              <a:endCxn id="12" idx="1"/>
            </p:cNvCxnSpPr>
            <p:nvPr/>
          </p:nvCxnSpPr>
          <p:spPr>
            <a:xfrm flipV="1">
              <a:off x="3225800" y="1185500"/>
              <a:ext cx="707050" cy="37490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36797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152812F-33DB-44F2-8D7A-55F34972C181}" type="slidenum">
              <a:rPr lang="en-US" smtClean="0"/>
              <a:pPr>
                <a:defRPr/>
              </a:pPr>
              <a:t>22</a:t>
            </a:fld>
            <a:endParaRPr lang="en-US"/>
          </a:p>
        </p:txBody>
      </p:sp>
      <p:grpSp>
        <p:nvGrpSpPr>
          <p:cNvPr id="5" name="Group 4"/>
          <p:cNvGrpSpPr/>
          <p:nvPr/>
        </p:nvGrpSpPr>
        <p:grpSpPr>
          <a:xfrm>
            <a:off x="3995936" y="328491"/>
            <a:ext cx="4536503" cy="1296144"/>
            <a:chOff x="592750" y="497500"/>
            <a:chExt cx="4356100" cy="1291500"/>
          </a:xfrm>
        </p:grpSpPr>
        <p:sp>
          <p:nvSpPr>
            <p:cNvPr id="6" name="Text Box 2"/>
            <p:cNvSpPr txBox="1"/>
            <p:nvPr/>
          </p:nvSpPr>
          <p:spPr>
            <a:xfrm>
              <a:off x="2209800" y="499700"/>
              <a:ext cx="1016000" cy="4572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0"/>
                </a:spcAft>
              </a:pPr>
              <a:r>
                <a:rPr lang="en-CA" sz="1200" dirty="0">
                  <a:effectLst/>
                  <a:latin typeface="Calibri" panose="020F0502020204030204" pitchFamily="34" charset="0"/>
                  <a:ea typeface="Calibri" panose="020F0502020204030204" pitchFamily="34" charset="0"/>
                  <a:cs typeface="Times New Roman" panose="02020603050405020304" pitchFamily="18" charset="0"/>
                </a:rPr>
                <a:t>3    </a:t>
              </a:r>
              <a:r>
                <a:rPr lang="en-CA" sz="1200" b="1" dirty="0">
                  <a:effectLst/>
                  <a:latin typeface="Calibri" panose="020F0502020204030204" pitchFamily="34" charset="0"/>
                  <a:ea typeface="Calibri" panose="020F0502020204030204" pitchFamily="34" charset="0"/>
                  <a:cs typeface="Times New Roman" panose="02020603050405020304" pitchFamily="18" charset="0"/>
                </a:rPr>
                <a:t>B</a:t>
              </a:r>
              <a:r>
                <a:rPr lang="en-CA" sz="1200" dirty="0">
                  <a:effectLst/>
                  <a:latin typeface="Calibri" panose="020F0502020204030204" pitchFamily="34" charset="0"/>
                  <a:ea typeface="Calibri" panose="020F0502020204030204" pitchFamily="34" charset="0"/>
                  <a:cs typeface="Times New Roman" panose="02020603050405020304" pitchFamily="18" charset="0"/>
                </a:rPr>
                <a:t>    8</a:t>
              </a:r>
            </a:p>
            <a:p>
              <a:pPr algn="ctr">
                <a:lnSpc>
                  <a:spcPct val="107000"/>
                </a:lnSpc>
                <a:spcAft>
                  <a:spcPts val="0"/>
                </a:spcAft>
              </a:pPr>
              <a:r>
                <a:rPr lang="en-CA" sz="1200" dirty="0">
                  <a:effectLst/>
                  <a:latin typeface="Calibri" panose="020F0502020204030204" pitchFamily="34" charset="0"/>
                  <a:ea typeface="Calibri" panose="020F0502020204030204" pitchFamily="34" charset="0"/>
                  <a:cs typeface="Times New Roman" panose="02020603050405020304" pitchFamily="18" charset="0"/>
                </a:rPr>
                <a:t>4 </a:t>
              </a:r>
              <a:r>
                <a:rPr lang="en-CA" sz="1200" dirty="0">
                  <a:latin typeface="Calibri" panose="020F0502020204030204" pitchFamily="34" charset="0"/>
                  <a:ea typeface="Calibri" panose="020F0502020204030204" pitchFamily="34" charset="0"/>
                  <a:cs typeface="Times New Roman" panose="02020603050405020304" pitchFamily="18" charset="0"/>
                </a:rPr>
                <a:t>personnel</a:t>
              </a:r>
              <a:endParaRPr lang="en-CA"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 Box 3"/>
            <p:cNvSpPr txBox="1"/>
            <p:nvPr/>
          </p:nvSpPr>
          <p:spPr>
            <a:xfrm>
              <a:off x="592750" y="1327650"/>
              <a:ext cx="1016000" cy="4572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6000"/>
                </a:lnSpc>
                <a:spcAft>
                  <a:spcPts val="0"/>
                </a:spcAft>
              </a:pPr>
              <a:r>
                <a:rPr lang="en-CA" sz="1200" dirty="0">
                  <a:effectLst/>
                  <a:latin typeface="Calibri" panose="020F0502020204030204" pitchFamily="34" charset="0"/>
                  <a:ea typeface="Calibri" panose="020F0502020204030204" pitchFamily="34" charset="0"/>
                  <a:cs typeface="Times New Roman" panose="02020603050405020304" pitchFamily="18" charset="0"/>
                </a:rPr>
                <a:t>0    </a:t>
              </a:r>
              <a:r>
                <a:rPr lang="en-CA" sz="1200" b="1" dirty="0">
                  <a:effectLst/>
                  <a:latin typeface="Calibri" panose="020F0502020204030204" pitchFamily="34" charset="0"/>
                  <a:ea typeface="Calibri" panose="020F0502020204030204" pitchFamily="34" charset="0"/>
                  <a:cs typeface="Times New Roman" panose="02020603050405020304" pitchFamily="18" charset="0"/>
                </a:rPr>
                <a:t>C</a:t>
              </a:r>
              <a:r>
                <a:rPr lang="en-CA" sz="1200" dirty="0">
                  <a:effectLst/>
                  <a:latin typeface="Calibri" panose="020F0502020204030204" pitchFamily="34" charset="0"/>
                  <a:ea typeface="Calibri" panose="020F0502020204030204" pitchFamily="34" charset="0"/>
                  <a:cs typeface="Times New Roman" panose="02020603050405020304" pitchFamily="18" charset="0"/>
                </a:rPr>
                <a:t>    7</a:t>
              </a:r>
              <a:endParaRPr lang="en-CA" sz="1400" dirty="0">
                <a:effectLst/>
                <a:latin typeface="Times New Roman" panose="02020603050405020304" pitchFamily="18" charset="0"/>
                <a:ea typeface="Times New Roman" panose="02020603050405020304" pitchFamily="18" charset="0"/>
              </a:endParaRPr>
            </a:p>
            <a:p>
              <a:pPr algn="ctr">
                <a:lnSpc>
                  <a:spcPct val="106000"/>
                </a:lnSpc>
                <a:spcAft>
                  <a:spcPts val="0"/>
                </a:spcAft>
              </a:pPr>
              <a:r>
                <a:rPr lang="en-CA" sz="1200" dirty="0">
                  <a:effectLst/>
                  <a:latin typeface="Calibri" panose="020F0502020204030204" pitchFamily="34" charset="0"/>
                  <a:ea typeface="Calibri" panose="020F0502020204030204" pitchFamily="34" charset="0"/>
                  <a:cs typeface="Times New Roman" panose="02020603050405020304" pitchFamily="18" charset="0"/>
                </a:rPr>
                <a:t>2 </a:t>
              </a:r>
              <a:r>
                <a:rPr lang="en-CA" sz="1200" dirty="0">
                  <a:latin typeface="Calibri" panose="020F0502020204030204" pitchFamily="34" charset="0"/>
                  <a:ea typeface="Calibri" panose="020F0502020204030204" pitchFamily="34" charset="0"/>
                  <a:cs typeface="Times New Roman" panose="02020603050405020304" pitchFamily="18" charset="0"/>
                </a:rPr>
                <a:t>personnel</a:t>
              </a:r>
              <a:endParaRPr lang="en-CA" sz="1400" dirty="0">
                <a:effectLst/>
                <a:latin typeface="Times New Roman" panose="02020603050405020304" pitchFamily="18" charset="0"/>
                <a:ea typeface="Times New Roman" panose="02020603050405020304" pitchFamily="18" charset="0"/>
              </a:endParaRPr>
            </a:p>
          </p:txBody>
        </p:sp>
        <p:sp>
          <p:nvSpPr>
            <p:cNvPr id="8" name="Text Box 3"/>
            <p:cNvSpPr txBox="1"/>
            <p:nvPr/>
          </p:nvSpPr>
          <p:spPr>
            <a:xfrm>
              <a:off x="592750" y="497500"/>
              <a:ext cx="1016000" cy="4572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6000"/>
                </a:lnSpc>
                <a:spcAft>
                  <a:spcPts val="0"/>
                </a:spcAft>
              </a:pPr>
              <a:r>
                <a:rPr lang="en-CA" sz="1200" dirty="0">
                  <a:effectLst/>
                  <a:latin typeface="Calibri" panose="020F0502020204030204" pitchFamily="34" charset="0"/>
                  <a:ea typeface="Calibri" panose="020F0502020204030204" pitchFamily="34" charset="0"/>
                  <a:cs typeface="Times New Roman" panose="02020603050405020304" pitchFamily="18" charset="0"/>
                </a:rPr>
                <a:t>0    </a:t>
              </a:r>
              <a:r>
                <a:rPr lang="en-CA" sz="1200" b="1" dirty="0">
                  <a:effectLst/>
                  <a:latin typeface="Calibri" panose="020F0502020204030204" pitchFamily="34" charset="0"/>
                  <a:ea typeface="Calibri" panose="020F0502020204030204" pitchFamily="34" charset="0"/>
                  <a:cs typeface="Times New Roman" panose="02020603050405020304" pitchFamily="18" charset="0"/>
                </a:rPr>
                <a:t>A</a:t>
              </a:r>
              <a:r>
                <a:rPr lang="en-CA" sz="1200" dirty="0">
                  <a:effectLst/>
                  <a:latin typeface="Calibri" panose="020F0502020204030204" pitchFamily="34" charset="0"/>
                  <a:ea typeface="Calibri" panose="020F0502020204030204" pitchFamily="34" charset="0"/>
                  <a:cs typeface="Times New Roman" panose="02020603050405020304" pitchFamily="18" charset="0"/>
                </a:rPr>
                <a:t>    3</a:t>
              </a:r>
              <a:endParaRPr lang="en-CA" sz="1400" dirty="0">
                <a:effectLst/>
                <a:latin typeface="Times New Roman" panose="02020603050405020304" pitchFamily="18" charset="0"/>
                <a:ea typeface="Times New Roman" panose="02020603050405020304" pitchFamily="18" charset="0"/>
              </a:endParaRPr>
            </a:p>
            <a:p>
              <a:pPr algn="ctr">
                <a:lnSpc>
                  <a:spcPct val="106000"/>
                </a:lnSpc>
                <a:spcAft>
                  <a:spcPts val="0"/>
                </a:spcAft>
              </a:pPr>
              <a:r>
                <a:rPr lang="en-CA" sz="1200" dirty="0">
                  <a:effectLst/>
                  <a:latin typeface="Calibri" panose="020F0502020204030204" pitchFamily="34" charset="0"/>
                  <a:ea typeface="Calibri" panose="020F0502020204030204" pitchFamily="34" charset="0"/>
                  <a:cs typeface="Times New Roman" panose="02020603050405020304" pitchFamily="18" charset="0"/>
                </a:rPr>
                <a:t>5 personnel</a:t>
              </a:r>
              <a:endParaRPr lang="en-CA" sz="1400" dirty="0">
                <a:effectLst/>
                <a:latin typeface="Times New Roman" panose="02020603050405020304" pitchFamily="18" charset="0"/>
                <a:ea typeface="Times New Roman" panose="02020603050405020304" pitchFamily="18" charset="0"/>
              </a:endParaRPr>
            </a:p>
          </p:txBody>
        </p:sp>
        <p:sp>
          <p:nvSpPr>
            <p:cNvPr id="9" name="Text Box 3"/>
            <p:cNvSpPr txBox="1"/>
            <p:nvPr/>
          </p:nvSpPr>
          <p:spPr>
            <a:xfrm>
              <a:off x="2209800" y="1331800"/>
              <a:ext cx="1016000" cy="4572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6000"/>
                </a:lnSpc>
                <a:spcAft>
                  <a:spcPts val="0"/>
                </a:spcAft>
              </a:pPr>
              <a:r>
                <a:rPr lang="en-CA" sz="1200" dirty="0">
                  <a:effectLst/>
                  <a:latin typeface="Calibri" panose="020F0502020204030204" pitchFamily="34" charset="0"/>
                  <a:ea typeface="Calibri" panose="020F0502020204030204" pitchFamily="34" charset="0"/>
                  <a:cs typeface="Times New Roman" panose="02020603050405020304" pitchFamily="18" charset="0"/>
                </a:rPr>
                <a:t>7    </a:t>
              </a:r>
              <a:r>
                <a:rPr lang="en-CA" sz="1200" b="1" dirty="0">
                  <a:effectLst/>
                  <a:latin typeface="Calibri" panose="020F0502020204030204" pitchFamily="34" charset="0"/>
                  <a:ea typeface="Calibri" panose="020F0502020204030204" pitchFamily="34" charset="0"/>
                  <a:cs typeface="Times New Roman" panose="02020603050405020304" pitchFamily="18" charset="0"/>
                </a:rPr>
                <a:t>D</a:t>
              </a:r>
              <a:r>
                <a:rPr lang="en-CA" sz="1200" dirty="0">
                  <a:effectLst/>
                  <a:latin typeface="Calibri" panose="020F0502020204030204" pitchFamily="34" charset="0"/>
                  <a:ea typeface="Calibri" panose="020F0502020204030204" pitchFamily="34" charset="0"/>
                  <a:cs typeface="Times New Roman" panose="02020603050405020304" pitchFamily="18" charset="0"/>
                </a:rPr>
                <a:t>    9</a:t>
              </a:r>
              <a:endParaRPr lang="en-CA" sz="1400" dirty="0">
                <a:effectLst/>
                <a:latin typeface="Times New Roman" panose="02020603050405020304" pitchFamily="18" charset="0"/>
                <a:ea typeface="Times New Roman" panose="02020603050405020304" pitchFamily="18" charset="0"/>
              </a:endParaRPr>
            </a:p>
            <a:p>
              <a:pPr algn="ctr">
                <a:lnSpc>
                  <a:spcPct val="106000"/>
                </a:lnSpc>
                <a:spcAft>
                  <a:spcPts val="0"/>
                </a:spcAft>
              </a:pPr>
              <a:r>
                <a:rPr lang="en-CA" sz="1200" dirty="0">
                  <a:effectLst/>
                  <a:latin typeface="Calibri" panose="020F0502020204030204" pitchFamily="34" charset="0"/>
                  <a:ea typeface="Calibri" panose="020F0502020204030204" pitchFamily="34" charset="0"/>
                  <a:cs typeface="Times New Roman" panose="02020603050405020304" pitchFamily="18" charset="0"/>
                </a:rPr>
                <a:t>8 </a:t>
              </a:r>
              <a:r>
                <a:rPr lang="en-CA" sz="1200" dirty="0">
                  <a:latin typeface="Calibri" panose="020F0502020204030204" pitchFamily="34" charset="0"/>
                  <a:ea typeface="Calibri" panose="020F0502020204030204" pitchFamily="34" charset="0"/>
                  <a:cs typeface="Times New Roman" panose="02020603050405020304" pitchFamily="18" charset="0"/>
                </a:rPr>
                <a:t>personnel</a:t>
              </a:r>
              <a:endParaRPr lang="en-CA" sz="1400" dirty="0">
                <a:effectLst/>
                <a:latin typeface="Times New Roman" panose="02020603050405020304" pitchFamily="18" charset="0"/>
                <a:ea typeface="Times New Roman" panose="02020603050405020304" pitchFamily="18" charset="0"/>
              </a:endParaRPr>
            </a:p>
          </p:txBody>
        </p:sp>
        <p:sp>
          <p:nvSpPr>
            <p:cNvPr id="10" name="Text Box 3"/>
            <p:cNvSpPr txBox="1"/>
            <p:nvPr/>
          </p:nvSpPr>
          <p:spPr>
            <a:xfrm>
              <a:off x="3932850" y="956900"/>
              <a:ext cx="1016000" cy="4572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6000"/>
                </a:lnSpc>
                <a:spcAft>
                  <a:spcPts val="0"/>
                </a:spcAft>
              </a:pPr>
              <a:r>
                <a:rPr lang="en-CA" sz="1200" dirty="0">
                  <a:effectLst/>
                  <a:latin typeface="Calibri" panose="020F0502020204030204" pitchFamily="34" charset="0"/>
                  <a:ea typeface="Calibri" panose="020F0502020204030204" pitchFamily="34" charset="0"/>
                  <a:cs typeface="Times New Roman" panose="02020603050405020304" pitchFamily="18" charset="0"/>
                </a:rPr>
                <a:t>9    </a:t>
              </a:r>
              <a:r>
                <a:rPr lang="en-CA" sz="1200" b="1" dirty="0">
                  <a:effectLst/>
                  <a:latin typeface="Calibri" panose="020F0502020204030204" pitchFamily="34" charset="0"/>
                  <a:ea typeface="Calibri" panose="020F0502020204030204" pitchFamily="34" charset="0"/>
                  <a:cs typeface="Times New Roman" panose="02020603050405020304" pitchFamily="18" charset="0"/>
                </a:rPr>
                <a:t>E</a:t>
              </a:r>
              <a:r>
                <a:rPr lang="en-CA" sz="1200" dirty="0">
                  <a:effectLst/>
                  <a:latin typeface="Calibri" panose="020F0502020204030204" pitchFamily="34" charset="0"/>
                  <a:ea typeface="Calibri" panose="020F0502020204030204" pitchFamily="34" charset="0"/>
                  <a:cs typeface="Times New Roman" panose="02020603050405020304" pitchFamily="18" charset="0"/>
                </a:rPr>
                <a:t>    11</a:t>
              </a:r>
              <a:endParaRPr lang="en-CA" sz="1400" dirty="0">
                <a:effectLst/>
                <a:latin typeface="Times New Roman" panose="02020603050405020304" pitchFamily="18" charset="0"/>
                <a:ea typeface="Times New Roman" panose="02020603050405020304" pitchFamily="18" charset="0"/>
              </a:endParaRPr>
            </a:p>
            <a:p>
              <a:pPr algn="ctr">
                <a:lnSpc>
                  <a:spcPct val="106000"/>
                </a:lnSpc>
                <a:spcAft>
                  <a:spcPts val="0"/>
                </a:spcAft>
              </a:pPr>
              <a:r>
                <a:rPr lang="en-CA" sz="1200" dirty="0">
                  <a:effectLst/>
                  <a:latin typeface="Calibri" panose="020F0502020204030204" pitchFamily="34" charset="0"/>
                  <a:ea typeface="Calibri" panose="020F0502020204030204" pitchFamily="34" charset="0"/>
                  <a:cs typeface="Times New Roman" panose="02020603050405020304" pitchFamily="18" charset="0"/>
                </a:rPr>
                <a:t>5 </a:t>
              </a:r>
              <a:r>
                <a:rPr lang="en-CA" sz="1200" dirty="0">
                  <a:latin typeface="Calibri" panose="020F0502020204030204" pitchFamily="34" charset="0"/>
                  <a:ea typeface="Calibri" panose="020F0502020204030204" pitchFamily="34" charset="0"/>
                  <a:cs typeface="Times New Roman" panose="02020603050405020304" pitchFamily="18" charset="0"/>
                </a:rPr>
                <a:t>personnel</a:t>
              </a:r>
              <a:endParaRPr lang="en-CA" sz="1400" dirty="0">
                <a:effectLst/>
                <a:latin typeface="Times New Roman" panose="02020603050405020304" pitchFamily="18" charset="0"/>
                <a:ea typeface="Times New Roman" panose="02020603050405020304" pitchFamily="18" charset="0"/>
              </a:endParaRPr>
            </a:p>
          </p:txBody>
        </p:sp>
        <p:cxnSp>
          <p:nvCxnSpPr>
            <p:cNvPr id="11" name="Straight Arrow Connector 10"/>
            <p:cNvCxnSpPr>
              <a:stCxn id="9" idx="3"/>
              <a:endCxn id="7" idx="1"/>
            </p:cNvCxnSpPr>
            <p:nvPr/>
          </p:nvCxnSpPr>
          <p:spPr>
            <a:xfrm>
              <a:off x="1608750" y="726100"/>
              <a:ext cx="601050" cy="220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3"/>
              <a:endCxn id="11" idx="1"/>
            </p:cNvCxnSpPr>
            <p:nvPr/>
          </p:nvCxnSpPr>
          <p:spPr>
            <a:xfrm>
              <a:off x="1608750" y="1556250"/>
              <a:ext cx="601050" cy="415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3"/>
              <a:endCxn id="12" idx="1"/>
            </p:cNvCxnSpPr>
            <p:nvPr/>
          </p:nvCxnSpPr>
          <p:spPr>
            <a:xfrm>
              <a:off x="3225800" y="728300"/>
              <a:ext cx="707050" cy="45720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1" idx="3"/>
              <a:endCxn id="12" idx="1"/>
            </p:cNvCxnSpPr>
            <p:nvPr/>
          </p:nvCxnSpPr>
          <p:spPr>
            <a:xfrm flipV="1">
              <a:off x="3225800" y="1185500"/>
              <a:ext cx="707050" cy="37490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535C37C4-0048-1E43-A72D-D5FE40E60436}"/>
              </a:ext>
            </a:extLst>
          </p:cNvPr>
          <p:cNvSpPr txBox="1"/>
          <p:nvPr/>
        </p:nvSpPr>
        <p:spPr>
          <a:xfrm>
            <a:off x="169043" y="418800"/>
            <a:ext cx="3754885" cy="1200329"/>
          </a:xfrm>
          <a:prstGeom prst="rect">
            <a:avLst/>
          </a:prstGeom>
          <a:noFill/>
        </p:spPr>
        <p:txBody>
          <a:bodyPr wrap="square">
            <a:spAutoFit/>
          </a:bodyPr>
          <a:lstStyle/>
          <a:p>
            <a:r>
              <a:rPr lang="en-CA" dirty="0"/>
              <a:t>Create a Resource Load Chart from the following AON network diagram, and level it to 9 personnel per day. You can split the tasks.</a:t>
            </a:r>
          </a:p>
        </p:txBody>
      </p:sp>
    </p:spTree>
    <p:extLst>
      <p:ext uri="{BB962C8B-B14F-4D97-AF65-F5344CB8AC3E}">
        <p14:creationId xmlns:p14="http://schemas.microsoft.com/office/powerpoint/2010/main" val="1535596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67270" y="632080"/>
            <a:ext cx="8229600" cy="420656"/>
          </a:xfrm>
        </p:spPr>
        <p:txBody>
          <a:bodyPr>
            <a:noAutofit/>
          </a:bodyPr>
          <a:lstStyle/>
          <a:p>
            <a:pPr eaLnBrk="1" hangingPunct="1"/>
            <a:r>
              <a:rPr lang="en-US" sz="3600" b="1" dirty="0">
                <a:latin typeface="+mn-lt"/>
                <a:cs typeface="Arial" panose="020B0604020202020204" pitchFamily="34" charset="0"/>
              </a:rPr>
              <a:t>Resource Smoothing</a:t>
            </a:r>
          </a:p>
        </p:txBody>
      </p:sp>
      <p:sp>
        <p:nvSpPr>
          <p:cNvPr id="9219" name="Rectangle 3"/>
          <p:cNvSpPr>
            <a:spLocks noGrp="1" noChangeArrowheads="1"/>
          </p:cNvSpPr>
          <p:nvPr>
            <p:ph idx="1"/>
          </p:nvPr>
        </p:nvSpPr>
        <p:spPr>
          <a:xfrm>
            <a:off x="582613" y="1845734"/>
            <a:ext cx="7784147" cy="3959530"/>
          </a:xfrm>
        </p:spPr>
        <p:txBody>
          <a:bodyPr>
            <a:noAutofit/>
          </a:bodyPr>
          <a:lstStyle/>
          <a:p>
            <a:pPr eaLnBrk="1" hangingPunct="1">
              <a:lnSpc>
                <a:spcPct val="90000"/>
              </a:lnSpc>
            </a:pPr>
            <a:r>
              <a:rPr lang="en-US" sz="2400" b="1" dirty="0"/>
              <a:t>Resource Smoothing </a:t>
            </a:r>
            <a:r>
              <a:rPr lang="en-US" sz="2400" dirty="0"/>
              <a:t>is similar to </a:t>
            </a:r>
            <a:r>
              <a:rPr lang="en-US" sz="2400" b="1" dirty="0"/>
              <a:t>Resource Leveling</a:t>
            </a:r>
          </a:p>
          <a:p>
            <a:pPr eaLnBrk="1" hangingPunct="1">
              <a:lnSpc>
                <a:spcPct val="90000"/>
              </a:lnSpc>
            </a:pPr>
            <a:r>
              <a:rPr lang="en-US" sz="2400" dirty="0">
                <a:solidFill>
                  <a:srgbClr val="FF0000"/>
                </a:solidFill>
              </a:rPr>
              <a:t>Resource Leveling </a:t>
            </a:r>
            <a:r>
              <a:rPr lang="en-US" sz="2400" dirty="0"/>
              <a:t>deals with a limited amount of a resource, a resource is only available at certain times, or the resource is over-allocated</a:t>
            </a:r>
          </a:p>
          <a:p>
            <a:pPr eaLnBrk="1" hangingPunct="1">
              <a:lnSpc>
                <a:spcPct val="90000"/>
              </a:lnSpc>
            </a:pPr>
            <a:r>
              <a:rPr lang="en-US" sz="2400" dirty="0"/>
              <a:t>In resource leveling it’s sometimes necessary to extend the project duration (although this is not desired)</a:t>
            </a:r>
          </a:p>
          <a:p>
            <a:pPr eaLnBrk="1" hangingPunct="1">
              <a:lnSpc>
                <a:spcPct val="90000"/>
              </a:lnSpc>
            </a:pPr>
            <a:r>
              <a:rPr lang="en-US" sz="2400" dirty="0">
                <a:solidFill>
                  <a:srgbClr val="FF0000"/>
                </a:solidFill>
              </a:rPr>
              <a:t>Resource Smoothing </a:t>
            </a:r>
            <a:r>
              <a:rPr lang="en-US" sz="2400" dirty="0"/>
              <a:t>is done after Resource Leveling</a:t>
            </a:r>
          </a:p>
          <a:p>
            <a:pPr eaLnBrk="1" hangingPunct="1">
              <a:lnSpc>
                <a:spcPct val="90000"/>
              </a:lnSpc>
            </a:pPr>
            <a:r>
              <a:rPr lang="en-US" sz="2400" dirty="0"/>
              <a:t>It never extends the project duration, it just tries to use resources more efficiently by using available slack</a:t>
            </a:r>
          </a:p>
        </p:txBody>
      </p:sp>
      <p:sp>
        <p:nvSpPr>
          <p:cNvPr id="9220"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23</a:t>
            </a:fld>
            <a:endParaRPr lang="en-US"/>
          </a:p>
        </p:txBody>
      </p:sp>
      <p:sp>
        <p:nvSpPr>
          <p:cNvPr id="4" name="Rectangle 3"/>
          <p:cNvSpPr/>
          <p:nvPr/>
        </p:nvSpPr>
        <p:spPr>
          <a:xfrm>
            <a:off x="582613" y="6503848"/>
            <a:ext cx="1592295" cy="276999"/>
          </a:xfrm>
          <a:prstGeom prst="rect">
            <a:avLst/>
          </a:prstGeom>
        </p:spPr>
        <p:txBody>
          <a:bodyPr wrap="none">
            <a:spAutoFit/>
          </a:bodyPr>
          <a:lstStyle/>
          <a:p>
            <a:pPr lvl="0"/>
            <a:r>
              <a:rPr lang="en-US" sz="1200" dirty="0">
                <a:solidFill>
                  <a:prstClr val="black"/>
                </a:solidFill>
                <a:latin typeface="Calibri"/>
                <a:cs typeface="Arial" panose="020B0604020202020204" pitchFamily="34" charset="0"/>
              </a:rPr>
              <a:t>G. Labbé and R. Schott</a:t>
            </a:r>
            <a:endParaRPr lang="en-US" sz="1200" dirty="0">
              <a:solidFill>
                <a:prstClr val="black"/>
              </a:solidFill>
              <a:latin typeface="Calibri"/>
            </a:endParaRPr>
          </a:p>
        </p:txBody>
      </p:sp>
    </p:spTree>
    <p:extLst>
      <p:ext uri="{BB962C8B-B14F-4D97-AF65-F5344CB8AC3E}">
        <p14:creationId xmlns:p14="http://schemas.microsoft.com/office/powerpoint/2010/main" val="2834895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6213" y="404664"/>
            <a:ext cx="8229600" cy="420656"/>
          </a:xfrm>
        </p:spPr>
        <p:txBody>
          <a:bodyPr>
            <a:noAutofit/>
          </a:bodyPr>
          <a:lstStyle/>
          <a:p>
            <a:pPr eaLnBrk="1" hangingPunct="1"/>
            <a:r>
              <a:rPr lang="en-US" sz="3600" b="1" dirty="0">
                <a:latin typeface="+mn-lt"/>
                <a:cs typeface="Arial" panose="020B0604020202020204" pitchFamily="34" charset="0"/>
              </a:rPr>
              <a:t>Resource Smoothing</a:t>
            </a:r>
          </a:p>
        </p:txBody>
      </p:sp>
      <p:sp>
        <p:nvSpPr>
          <p:cNvPr id="9219" name="Rectangle 3"/>
          <p:cNvSpPr>
            <a:spLocks noGrp="1" noChangeArrowheads="1"/>
          </p:cNvSpPr>
          <p:nvPr>
            <p:ph idx="1"/>
          </p:nvPr>
        </p:nvSpPr>
        <p:spPr>
          <a:xfrm>
            <a:off x="582613" y="948434"/>
            <a:ext cx="7784147" cy="5439280"/>
          </a:xfrm>
        </p:spPr>
        <p:txBody>
          <a:bodyPr>
            <a:noAutofit/>
          </a:bodyPr>
          <a:lstStyle/>
          <a:p>
            <a:pPr eaLnBrk="1" hangingPunct="1">
              <a:lnSpc>
                <a:spcPct val="90000"/>
              </a:lnSpc>
            </a:pPr>
            <a:r>
              <a:rPr lang="en-US" sz="2400" dirty="0"/>
              <a:t>Here the project only has 45 hours of a resource per week, so it is </a:t>
            </a:r>
            <a:r>
              <a:rPr lang="en-US" sz="2400" dirty="0">
                <a:solidFill>
                  <a:srgbClr val="FF0000"/>
                </a:solidFill>
              </a:rPr>
              <a:t>leveled</a:t>
            </a:r>
            <a:r>
              <a:rPr lang="en-US" sz="2400" dirty="0"/>
              <a:t> to that, but that extends the duration from seven weeks to nine weeks</a:t>
            </a:r>
          </a:p>
          <a:p>
            <a:pPr eaLnBrk="1" hangingPunct="1">
              <a:lnSpc>
                <a:spcPct val="90000"/>
              </a:lnSpc>
            </a:pPr>
            <a:endParaRPr lang="en-US" sz="2400" dirty="0"/>
          </a:p>
          <a:p>
            <a:pPr eaLnBrk="1" hangingPunct="1">
              <a:lnSpc>
                <a:spcPct val="90000"/>
              </a:lnSpc>
            </a:pPr>
            <a:endParaRPr lang="en-US" sz="2400" dirty="0"/>
          </a:p>
          <a:p>
            <a:pPr eaLnBrk="1" hangingPunct="1">
              <a:lnSpc>
                <a:spcPct val="90000"/>
              </a:lnSpc>
            </a:pPr>
            <a:endParaRPr lang="en-US" sz="2400" dirty="0"/>
          </a:p>
          <a:p>
            <a:pPr eaLnBrk="1" hangingPunct="1">
              <a:lnSpc>
                <a:spcPct val="90000"/>
              </a:lnSpc>
            </a:pPr>
            <a:endParaRPr lang="en-US" sz="2400" dirty="0"/>
          </a:p>
          <a:p>
            <a:pPr eaLnBrk="1" hangingPunct="1">
              <a:lnSpc>
                <a:spcPct val="90000"/>
              </a:lnSpc>
            </a:pPr>
            <a:endParaRPr lang="en-US" sz="2400" dirty="0"/>
          </a:p>
          <a:p>
            <a:pPr eaLnBrk="1" hangingPunct="1">
              <a:lnSpc>
                <a:spcPct val="90000"/>
              </a:lnSpc>
            </a:pPr>
            <a:endParaRPr lang="en-US" sz="2400" dirty="0"/>
          </a:p>
          <a:p>
            <a:pPr eaLnBrk="1" hangingPunct="1">
              <a:lnSpc>
                <a:spcPct val="90000"/>
              </a:lnSpc>
            </a:pPr>
            <a:endParaRPr lang="en-US" sz="2400" dirty="0"/>
          </a:p>
          <a:p>
            <a:pPr eaLnBrk="1" hangingPunct="1">
              <a:lnSpc>
                <a:spcPct val="90000"/>
              </a:lnSpc>
            </a:pPr>
            <a:r>
              <a:rPr lang="en-US" sz="2400" dirty="0"/>
              <a:t>After </a:t>
            </a:r>
            <a:r>
              <a:rPr lang="en-US" sz="2400" dirty="0">
                <a:solidFill>
                  <a:srgbClr val="FF0000"/>
                </a:solidFill>
              </a:rPr>
              <a:t>resource smoothing</a:t>
            </a:r>
            <a:r>
              <a:rPr lang="en-US" sz="2400" dirty="0"/>
              <a:t>, the resource is used about the same each week (~38 hours)</a:t>
            </a:r>
          </a:p>
        </p:txBody>
      </p:sp>
      <p:sp>
        <p:nvSpPr>
          <p:cNvPr id="9220"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24</a:t>
            </a:fld>
            <a:endParaRPr lang="en-US"/>
          </a:p>
        </p:txBody>
      </p:sp>
      <p:sp>
        <p:nvSpPr>
          <p:cNvPr id="4" name="Rectangle 3"/>
          <p:cNvSpPr/>
          <p:nvPr/>
        </p:nvSpPr>
        <p:spPr>
          <a:xfrm>
            <a:off x="582613" y="6503848"/>
            <a:ext cx="1592295" cy="276999"/>
          </a:xfrm>
          <a:prstGeom prst="rect">
            <a:avLst/>
          </a:prstGeom>
        </p:spPr>
        <p:txBody>
          <a:bodyPr wrap="none">
            <a:spAutoFit/>
          </a:bodyPr>
          <a:lstStyle/>
          <a:p>
            <a:pPr lvl="0"/>
            <a:r>
              <a:rPr lang="en-US" sz="1200" dirty="0">
                <a:solidFill>
                  <a:prstClr val="black"/>
                </a:solidFill>
                <a:latin typeface="Calibri"/>
                <a:cs typeface="Arial" panose="020B0604020202020204" pitchFamily="34" charset="0"/>
              </a:rPr>
              <a:t>G. Labbé and R. Schott</a:t>
            </a:r>
            <a:endParaRPr lang="en-US" sz="1200" dirty="0">
              <a:solidFill>
                <a:prstClr val="black"/>
              </a:solidFill>
              <a:latin typeface="Calibri"/>
            </a:endParaRPr>
          </a:p>
        </p:txBody>
      </p:sp>
      <p:grpSp>
        <p:nvGrpSpPr>
          <p:cNvPr id="6" name="Group 5"/>
          <p:cNvGrpSpPr/>
          <p:nvPr/>
        </p:nvGrpSpPr>
        <p:grpSpPr>
          <a:xfrm>
            <a:off x="1259632" y="2060848"/>
            <a:ext cx="6832465" cy="3463585"/>
            <a:chOff x="1259632" y="2060848"/>
            <a:chExt cx="6832465" cy="3463585"/>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2060848"/>
              <a:ext cx="6552728" cy="3463585"/>
            </a:xfrm>
            <a:prstGeom prst="rect">
              <a:avLst/>
            </a:prstGeom>
          </p:spPr>
        </p:pic>
        <p:sp>
          <p:nvSpPr>
            <p:cNvPr id="5" name="TextBox 4"/>
            <p:cNvSpPr txBox="1"/>
            <p:nvPr/>
          </p:nvSpPr>
          <p:spPr>
            <a:xfrm rot="16200000">
              <a:off x="6926938" y="3654140"/>
              <a:ext cx="2053319" cy="276999"/>
            </a:xfrm>
            <a:prstGeom prst="rect">
              <a:avLst/>
            </a:prstGeom>
            <a:noFill/>
          </p:spPr>
          <p:txBody>
            <a:bodyPr wrap="none" rtlCol="0">
              <a:spAutoFit/>
            </a:bodyPr>
            <a:lstStyle/>
            <a:p>
              <a:r>
                <a:rPr lang="en-CA" sz="1200" dirty="0">
                  <a:solidFill>
                    <a:schemeClr val="bg2">
                      <a:lumMod val="75000"/>
                    </a:schemeClr>
                  </a:solidFill>
                </a:rPr>
                <a:t>https://www.izenbridge.com</a:t>
              </a:r>
            </a:p>
          </p:txBody>
        </p:sp>
      </p:grpSp>
    </p:spTree>
    <p:extLst>
      <p:ext uri="{BB962C8B-B14F-4D97-AF65-F5344CB8AC3E}">
        <p14:creationId xmlns:p14="http://schemas.microsoft.com/office/powerpoint/2010/main" val="279857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827584" y="476672"/>
            <a:ext cx="8229600" cy="994469"/>
          </a:xfrm>
        </p:spPr>
        <p:txBody>
          <a:bodyPr>
            <a:noAutofit/>
          </a:bodyPr>
          <a:lstStyle/>
          <a:p>
            <a:pPr eaLnBrk="1" hangingPunct="1"/>
            <a:r>
              <a:rPr lang="en-US" sz="3600" b="1" dirty="0">
                <a:latin typeface="+mn-lt"/>
                <a:cs typeface="Arial" panose="020B0604020202020204" pitchFamily="34" charset="0"/>
              </a:rPr>
              <a:t>Resource Allocation across Multiple Projects</a:t>
            </a:r>
          </a:p>
        </p:txBody>
      </p:sp>
      <p:sp>
        <p:nvSpPr>
          <p:cNvPr id="20483" name="Rectangle 3"/>
          <p:cNvSpPr>
            <a:spLocks noGrp="1" noChangeArrowheads="1"/>
          </p:cNvSpPr>
          <p:nvPr>
            <p:ph idx="1"/>
          </p:nvPr>
        </p:nvSpPr>
        <p:spPr>
          <a:xfrm>
            <a:off x="582614" y="1791676"/>
            <a:ext cx="2405210" cy="4157604"/>
          </a:xfrm>
        </p:spPr>
        <p:txBody>
          <a:bodyPr>
            <a:noAutofit/>
          </a:bodyPr>
          <a:lstStyle/>
          <a:p>
            <a:pPr marL="0" indent="0" eaLnBrk="1" hangingPunct="1">
              <a:lnSpc>
                <a:spcPct val="80000"/>
              </a:lnSpc>
              <a:buFontTx/>
              <a:buNone/>
            </a:pPr>
            <a:r>
              <a:rPr lang="en-US" sz="2400" dirty="0"/>
              <a:t>Often different projects will use similar resources</a:t>
            </a:r>
          </a:p>
          <a:p>
            <a:pPr marL="0" indent="0" eaLnBrk="1" hangingPunct="1">
              <a:lnSpc>
                <a:spcPct val="80000"/>
              </a:lnSpc>
              <a:buFontTx/>
              <a:buNone/>
            </a:pPr>
            <a:r>
              <a:rPr lang="en-US" sz="2400" dirty="0"/>
              <a:t>Rather than acquire new resources for each project, your organization will usually </a:t>
            </a:r>
            <a:r>
              <a:rPr lang="en-US" sz="2400" dirty="0">
                <a:solidFill>
                  <a:srgbClr val="00B050"/>
                </a:solidFill>
              </a:rPr>
              <a:t>share resources </a:t>
            </a:r>
            <a:r>
              <a:rPr lang="en-US" sz="2400" dirty="0"/>
              <a:t>across </a:t>
            </a:r>
            <a:r>
              <a:rPr lang="en-US" sz="2400" dirty="0">
                <a:solidFill>
                  <a:srgbClr val="00B050"/>
                </a:solidFill>
              </a:rPr>
              <a:t>multiple projects</a:t>
            </a:r>
          </a:p>
        </p:txBody>
      </p:sp>
      <p:sp>
        <p:nvSpPr>
          <p:cNvPr id="2048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25</a:t>
            </a:fld>
            <a:endParaRPr lang="en-US"/>
          </a:p>
        </p:txBody>
      </p:sp>
      <p:sp>
        <p:nvSpPr>
          <p:cNvPr id="3" name="Rectangle 2"/>
          <p:cNvSpPr/>
          <p:nvPr/>
        </p:nvSpPr>
        <p:spPr>
          <a:xfrm>
            <a:off x="582613" y="6503848"/>
            <a:ext cx="1592295" cy="276999"/>
          </a:xfrm>
          <a:prstGeom prst="rect">
            <a:avLst/>
          </a:prstGeom>
        </p:spPr>
        <p:txBody>
          <a:bodyPr wrap="none">
            <a:spAutoFit/>
          </a:bodyPr>
          <a:lstStyle/>
          <a:p>
            <a:pPr lvl="0"/>
            <a:r>
              <a:rPr lang="en-US" sz="1200" dirty="0">
                <a:solidFill>
                  <a:prstClr val="black"/>
                </a:solidFill>
                <a:latin typeface="Calibri"/>
                <a:cs typeface="Arial" panose="020B0604020202020204" pitchFamily="34" charset="0"/>
              </a:rPr>
              <a:t>G. Labbé and R. Schott</a:t>
            </a:r>
            <a:endParaRPr lang="en-US" sz="1200" dirty="0">
              <a:solidFill>
                <a:prstClr val="black"/>
              </a:solidFill>
              <a:latin typeface="Calibri"/>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9832" y="1532551"/>
            <a:ext cx="5888972" cy="4416729"/>
          </a:xfrm>
          <a:prstGeom prst="rect">
            <a:avLst/>
          </a:prstGeom>
        </p:spPr>
      </p:pic>
      <p:sp>
        <p:nvSpPr>
          <p:cNvPr id="5" name="Rectangle 4"/>
          <p:cNvSpPr/>
          <p:nvPr/>
        </p:nvSpPr>
        <p:spPr>
          <a:xfrm>
            <a:off x="3027156" y="6010690"/>
            <a:ext cx="4572000" cy="230832"/>
          </a:xfrm>
          <a:prstGeom prst="rect">
            <a:avLst/>
          </a:prstGeom>
        </p:spPr>
        <p:txBody>
          <a:bodyPr>
            <a:spAutoFit/>
          </a:bodyPr>
          <a:lstStyle/>
          <a:p>
            <a:r>
              <a:rPr lang="en-CA" sz="900" dirty="0">
                <a:solidFill>
                  <a:schemeClr val="bg1">
                    <a:lumMod val="50000"/>
                  </a:schemeClr>
                </a:solidFill>
              </a:rPr>
              <a:t>https://www.flickr.com/photos/vancouverfilmschool/5331017892</a:t>
            </a:r>
          </a:p>
        </p:txBody>
      </p:sp>
    </p:spTree>
    <p:extLst>
      <p:ext uri="{BB962C8B-B14F-4D97-AF65-F5344CB8AC3E}">
        <p14:creationId xmlns:p14="http://schemas.microsoft.com/office/powerpoint/2010/main" val="3787324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82613" y="405174"/>
            <a:ext cx="8229600" cy="994469"/>
          </a:xfrm>
        </p:spPr>
        <p:txBody>
          <a:bodyPr>
            <a:noAutofit/>
          </a:bodyPr>
          <a:lstStyle/>
          <a:p>
            <a:pPr eaLnBrk="1" hangingPunct="1"/>
            <a:r>
              <a:rPr lang="en-US" sz="3600" b="1" dirty="0">
                <a:latin typeface="+mn-lt"/>
                <a:cs typeface="Arial" panose="020B0604020202020204" pitchFamily="34" charset="0"/>
              </a:rPr>
              <a:t>Resource Allocation</a:t>
            </a:r>
            <a:br>
              <a:rPr lang="en-US" sz="3600" b="1" dirty="0">
                <a:latin typeface="+mn-lt"/>
                <a:cs typeface="Arial" panose="020B0604020202020204" pitchFamily="34" charset="0"/>
              </a:rPr>
            </a:br>
            <a:r>
              <a:rPr lang="en-US" sz="3600" b="1" dirty="0">
                <a:latin typeface="+mn-lt"/>
                <a:cs typeface="Arial" panose="020B0604020202020204" pitchFamily="34" charset="0"/>
              </a:rPr>
              <a:t>across multiple projects</a:t>
            </a:r>
          </a:p>
        </p:txBody>
      </p:sp>
      <p:sp>
        <p:nvSpPr>
          <p:cNvPr id="20483" name="Rectangle 3"/>
          <p:cNvSpPr>
            <a:spLocks noGrp="1" noChangeArrowheads="1"/>
          </p:cNvSpPr>
          <p:nvPr>
            <p:ph idx="1"/>
          </p:nvPr>
        </p:nvSpPr>
        <p:spPr>
          <a:xfrm>
            <a:off x="899592" y="1988840"/>
            <a:ext cx="7509771" cy="3960439"/>
          </a:xfrm>
        </p:spPr>
        <p:txBody>
          <a:bodyPr>
            <a:normAutofit/>
          </a:bodyPr>
          <a:lstStyle/>
          <a:p>
            <a:pPr marL="457200" indent="-457200" eaLnBrk="1" hangingPunct="1">
              <a:lnSpc>
                <a:spcPct val="80000"/>
              </a:lnSpc>
              <a:buFontTx/>
              <a:buNone/>
            </a:pPr>
            <a:r>
              <a:rPr lang="en-US" dirty="0">
                <a:solidFill>
                  <a:schemeClr val="tx1"/>
                </a:solidFill>
              </a:rPr>
              <a:t>The main challenge is </a:t>
            </a:r>
            <a:r>
              <a:rPr lang="en-US" b="1" dirty="0">
                <a:solidFill>
                  <a:srgbClr val="C00000"/>
                </a:solidFill>
              </a:rPr>
              <a:t>interdependency</a:t>
            </a:r>
            <a:r>
              <a:rPr lang="en-US" dirty="0">
                <a:solidFill>
                  <a:srgbClr val="C00000"/>
                </a:solidFill>
              </a:rPr>
              <a:t>:</a:t>
            </a:r>
          </a:p>
          <a:p>
            <a:pPr marL="457200" indent="-457200" eaLnBrk="1" hangingPunct="1">
              <a:lnSpc>
                <a:spcPct val="80000"/>
              </a:lnSpc>
              <a:buFontTx/>
              <a:buNone/>
            </a:pPr>
            <a:endParaRPr lang="en-US" dirty="0"/>
          </a:p>
          <a:p>
            <a:pPr lvl="1">
              <a:lnSpc>
                <a:spcPct val="80000"/>
              </a:lnSpc>
              <a:buClrTx/>
              <a:buFont typeface="Wingdings" panose="05000000000000000000" pitchFamily="2" charset="2"/>
              <a:buChar char="q"/>
            </a:pPr>
            <a:r>
              <a:rPr lang="en-US" sz="2000" dirty="0"/>
              <a:t> Any resource allocation decisions made in </a:t>
            </a:r>
            <a:r>
              <a:rPr lang="en-US" sz="2000" dirty="0">
                <a:solidFill>
                  <a:srgbClr val="00B050"/>
                </a:solidFill>
              </a:rPr>
              <a:t>one project </a:t>
            </a:r>
            <a:r>
              <a:rPr lang="en-US" sz="2000" dirty="0"/>
              <a:t>are likely to have ramifications in </a:t>
            </a:r>
            <a:r>
              <a:rPr lang="en-US" sz="2000" dirty="0">
                <a:solidFill>
                  <a:srgbClr val="00B050"/>
                </a:solidFill>
              </a:rPr>
              <a:t>other projects</a:t>
            </a:r>
            <a:r>
              <a:rPr lang="en-US" sz="2000" dirty="0"/>
              <a:t>.</a:t>
            </a:r>
          </a:p>
          <a:p>
            <a:pPr lvl="1">
              <a:lnSpc>
                <a:spcPct val="80000"/>
              </a:lnSpc>
              <a:buClrTx/>
              <a:buFont typeface="Wingdings" panose="05000000000000000000" pitchFamily="2" charset="2"/>
              <a:buChar char="q"/>
            </a:pPr>
            <a:endParaRPr lang="en-US" dirty="0"/>
          </a:p>
          <a:p>
            <a:pPr lvl="1">
              <a:lnSpc>
                <a:spcPct val="80000"/>
              </a:lnSpc>
              <a:buClrTx/>
              <a:buFont typeface="Wingdings" panose="05000000000000000000" pitchFamily="2" charset="2"/>
              <a:buChar char="q"/>
            </a:pPr>
            <a:r>
              <a:rPr lang="en-US" sz="2000" dirty="0"/>
              <a:t> Some of the more common problems with interdependency among projects:</a:t>
            </a:r>
          </a:p>
          <a:p>
            <a:pPr marL="0" indent="0" eaLnBrk="1" hangingPunct="1">
              <a:lnSpc>
                <a:spcPct val="80000"/>
              </a:lnSpc>
              <a:buNone/>
            </a:pPr>
            <a:r>
              <a:rPr lang="en-US" dirty="0"/>
              <a:t>	Inefficient use of resources;</a:t>
            </a:r>
          </a:p>
          <a:p>
            <a:pPr marL="0" indent="0" eaLnBrk="1" hangingPunct="1">
              <a:lnSpc>
                <a:spcPct val="80000"/>
              </a:lnSpc>
              <a:buNone/>
            </a:pPr>
            <a:r>
              <a:rPr lang="en-US" dirty="0"/>
              <a:t>	Resource </a:t>
            </a:r>
            <a:r>
              <a:rPr lang="en-US" dirty="0">
                <a:solidFill>
                  <a:srgbClr val="00B050"/>
                </a:solidFill>
              </a:rPr>
              <a:t>bottlenecks</a:t>
            </a:r>
            <a:r>
              <a:rPr lang="en-US" dirty="0"/>
              <a:t>;</a:t>
            </a:r>
          </a:p>
          <a:p>
            <a:pPr marL="0" indent="0" eaLnBrk="1" hangingPunct="1">
              <a:lnSpc>
                <a:spcPct val="80000"/>
              </a:lnSpc>
              <a:buNone/>
            </a:pPr>
            <a:r>
              <a:rPr lang="en-US" dirty="0"/>
              <a:t>	Ripple effects; and</a:t>
            </a:r>
          </a:p>
          <a:p>
            <a:pPr marL="0" indent="0" eaLnBrk="1" hangingPunct="1">
              <a:lnSpc>
                <a:spcPct val="80000"/>
              </a:lnSpc>
              <a:buNone/>
            </a:pPr>
            <a:r>
              <a:rPr lang="en-US" dirty="0"/>
              <a:t>	Heightened pressure on personnel to multitask.</a:t>
            </a:r>
            <a:endParaRPr lang="en-US" sz="1800" dirty="0"/>
          </a:p>
        </p:txBody>
      </p:sp>
      <p:sp>
        <p:nvSpPr>
          <p:cNvPr id="2048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26</a:t>
            </a:fld>
            <a:endParaRPr lang="en-US"/>
          </a:p>
        </p:txBody>
      </p:sp>
      <p:sp>
        <p:nvSpPr>
          <p:cNvPr id="4" name="Date Placeholder 3">
            <a:extLst>
              <a:ext uri="{FF2B5EF4-FFF2-40B4-BE49-F238E27FC236}">
                <a16:creationId xmlns:a16="http://schemas.microsoft.com/office/drawing/2014/main" id="{A825F527-994F-4F85-AC3B-50F0A7149842}"/>
              </a:ext>
            </a:extLst>
          </p:cNvPr>
          <p:cNvSpPr>
            <a:spLocks noGrp="1"/>
          </p:cNvSpPr>
          <p:nvPr>
            <p:ph type="dt" sz="half" idx="10"/>
          </p:nvPr>
        </p:nvSpPr>
        <p:spPr/>
        <p:txBody>
          <a:bodyPr/>
          <a:lstStyle/>
          <a:p>
            <a:pPr>
              <a:defRPr/>
            </a:pPr>
            <a:r>
              <a:rPr lang="en-US"/>
              <a:t>Lecture 10</a:t>
            </a:r>
          </a:p>
        </p:txBody>
      </p:sp>
      <p:sp>
        <p:nvSpPr>
          <p:cNvPr id="5" name="Footer Placeholder 4">
            <a:extLst>
              <a:ext uri="{FF2B5EF4-FFF2-40B4-BE49-F238E27FC236}">
                <a16:creationId xmlns:a16="http://schemas.microsoft.com/office/drawing/2014/main" id="{F8E79B32-6716-43FC-99B1-E4E7C647B461}"/>
              </a:ext>
            </a:extLst>
          </p:cNvPr>
          <p:cNvSpPr>
            <a:spLocks noGrp="1"/>
          </p:cNvSpPr>
          <p:nvPr>
            <p:ph type="ftr" sz="quarter" idx="11"/>
          </p:nvPr>
        </p:nvSpPr>
        <p:spPr/>
        <p:txBody>
          <a:bodyPr/>
          <a:lstStyle/>
          <a:p>
            <a:pPr>
              <a:defRPr/>
            </a:pPr>
            <a:r>
              <a:rPr lang="en-US"/>
              <a:t>G.R. Labbé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anim calcmode="lin" valueType="num">
                                      <p:cBhvr additive="base">
                                        <p:cTn id="11"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483">
                                            <p:txEl>
                                              <p:pRg st="4" end="4"/>
                                            </p:txEl>
                                          </p:spTgt>
                                        </p:tgtEl>
                                        <p:attrNameLst>
                                          <p:attrName>style.visibility</p:attrName>
                                        </p:attrNameLst>
                                      </p:cBhvr>
                                      <p:to>
                                        <p:strVal val="visible"/>
                                      </p:to>
                                    </p:set>
                                    <p:anim calcmode="lin" valueType="num">
                                      <p:cBhvr additive="base">
                                        <p:cTn id="15"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483">
                                            <p:txEl>
                                              <p:pRg st="5" end="5"/>
                                            </p:txEl>
                                          </p:spTgt>
                                        </p:tgtEl>
                                        <p:attrNameLst>
                                          <p:attrName>style.visibility</p:attrName>
                                        </p:attrNameLst>
                                      </p:cBhvr>
                                      <p:to>
                                        <p:strVal val="visible"/>
                                      </p:to>
                                    </p:set>
                                    <p:anim calcmode="lin" valueType="num">
                                      <p:cBhvr additive="base">
                                        <p:cTn id="21"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0483">
                                            <p:txEl>
                                              <p:pRg st="6" end="6"/>
                                            </p:txEl>
                                          </p:spTgt>
                                        </p:tgtEl>
                                        <p:attrNameLst>
                                          <p:attrName>style.visibility</p:attrName>
                                        </p:attrNameLst>
                                      </p:cBhvr>
                                      <p:to>
                                        <p:strVal val="visible"/>
                                      </p:to>
                                    </p:set>
                                    <p:anim calcmode="lin" valueType="num">
                                      <p:cBhvr additive="base">
                                        <p:cTn id="27"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48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0483">
                                            <p:txEl>
                                              <p:pRg st="7" end="7"/>
                                            </p:txEl>
                                          </p:spTgt>
                                        </p:tgtEl>
                                        <p:attrNameLst>
                                          <p:attrName>style.visibility</p:attrName>
                                        </p:attrNameLst>
                                      </p:cBhvr>
                                      <p:to>
                                        <p:strVal val="visible"/>
                                      </p:to>
                                    </p:set>
                                    <p:anim calcmode="lin" valueType="num">
                                      <p:cBhvr additive="base">
                                        <p:cTn id="33" dur="500" fill="hold"/>
                                        <p:tgtEl>
                                          <p:spTgt spid="2048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048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0483">
                                            <p:txEl>
                                              <p:pRg st="8" end="8"/>
                                            </p:txEl>
                                          </p:spTgt>
                                        </p:tgtEl>
                                        <p:attrNameLst>
                                          <p:attrName>style.visibility</p:attrName>
                                        </p:attrNameLst>
                                      </p:cBhvr>
                                      <p:to>
                                        <p:strVal val="visible"/>
                                      </p:to>
                                    </p:set>
                                    <p:anim calcmode="lin" valueType="num">
                                      <p:cBhvr additive="base">
                                        <p:cTn id="39" dur="500" fill="hold"/>
                                        <p:tgtEl>
                                          <p:spTgt spid="2048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048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59" y="404664"/>
            <a:ext cx="7543800" cy="1044665"/>
          </a:xfrm>
        </p:spPr>
        <p:txBody>
          <a:bodyPr>
            <a:normAutofit/>
          </a:bodyPr>
          <a:lstStyle/>
          <a:p>
            <a:r>
              <a:rPr lang="en-US" sz="3600" b="1" dirty="0">
                <a:latin typeface="+mn-lt"/>
                <a:cs typeface="Arial" panose="020B0604020202020204" pitchFamily="34" charset="0"/>
              </a:rPr>
              <a:t>Resource Allocation</a:t>
            </a:r>
            <a:br>
              <a:rPr lang="en-US" sz="3600" b="1" dirty="0">
                <a:latin typeface="+mn-lt"/>
                <a:cs typeface="Arial" panose="020B0604020202020204" pitchFamily="34" charset="0"/>
              </a:rPr>
            </a:br>
            <a:r>
              <a:rPr lang="en-US" sz="3600" b="1" dirty="0">
                <a:latin typeface="+mn-lt"/>
                <a:cs typeface="Arial" panose="020B0604020202020204" pitchFamily="34" charset="0"/>
              </a:rPr>
              <a:t>across multiple projects</a:t>
            </a:r>
            <a:endParaRPr lang="en-US" sz="3600" b="1" dirty="0">
              <a:latin typeface="+mn-lt"/>
            </a:endParaRPr>
          </a:p>
        </p:txBody>
      </p:sp>
      <p:sp>
        <p:nvSpPr>
          <p:cNvPr id="3" name="Content Placeholder 2"/>
          <p:cNvSpPr>
            <a:spLocks noGrp="1"/>
          </p:cNvSpPr>
          <p:nvPr>
            <p:ph idx="1"/>
          </p:nvPr>
        </p:nvSpPr>
        <p:spPr>
          <a:xfrm>
            <a:off x="822959" y="2136711"/>
            <a:ext cx="7586404" cy="3812569"/>
          </a:xfrm>
        </p:spPr>
        <p:txBody>
          <a:bodyPr>
            <a:normAutofit/>
          </a:bodyPr>
          <a:lstStyle/>
          <a:p>
            <a:pPr marL="457200" indent="-457200">
              <a:lnSpc>
                <a:spcPct val="80000"/>
              </a:lnSpc>
              <a:buNone/>
            </a:pPr>
            <a:r>
              <a:rPr lang="en-US" dirty="0"/>
              <a:t>	</a:t>
            </a:r>
            <a:r>
              <a:rPr lang="en-US" sz="2400" dirty="0"/>
              <a:t>Any system used to optimize the complex problems with </a:t>
            </a:r>
            <a:r>
              <a:rPr lang="en-US" sz="2400" dirty="0">
                <a:solidFill>
                  <a:srgbClr val="00B050"/>
                </a:solidFill>
              </a:rPr>
              <a:t>multi-project resource allocation </a:t>
            </a:r>
            <a:r>
              <a:rPr lang="en-US" sz="2400" dirty="0"/>
              <a:t>must consider the need, and as much as possible, to minimize the negative effects of these three key factors:</a:t>
            </a:r>
          </a:p>
          <a:p>
            <a:pPr marL="457200" indent="-457200">
              <a:lnSpc>
                <a:spcPct val="80000"/>
              </a:lnSpc>
              <a:buClrTx/>
              <a:buFontTx/>
              <a:buAutoNum type="arabicPeriod"/>
            </a:pPr>
            <a:r>
              <a:rPr lang="en-US" sz="2400" b="1" dirty="0"/>
              <a:t>Schedule slippage</a:t>
            </a:r>
          </a:p>
          <a:p>
            <a:pPr marL="457200" indent="-457200">
              <a:lnSpc>
                <a:spcPct val="80000"/>
              </a:lnSpc>
              <a:buClrTx/>
              <a:buFontTx/>
              <a:buAutoNum type="arabicPeriod"/>
            </a:pPr>
            <a:r>
              <a:rPr lang="en-US" sz="2400" b="1" dirty="0"/>
              <a:t>Resource Utilization</a:t>
            </a:r>
          </a:p>
          <a:p>
            <a:pPr marL="457200" indent="-457200">
              <a:lnSpc>
                <a:spcPct val="80000"/>
              </a:lnSpc>
              <a:buClrTx/>
              <a:buFontTx/>
              <a:buAutoNum type="arabicPeriod"/>
            </a:pPr>
            <a:r>
              <a:rPr lang="en-US" sz="2400" b="1" dirty="0"/>
              <a:t>In-Process Inventory </a:t>
            </a:r>
            <a:r>
              <a:rPr lang="en-US" sz="2400" b="1" i="1" dirty="0"/>
              <a:t>(WIP)</a:t>
            </a:r>
          </a:p>
        </p:txBody>
      </p:sp>
      <p:sp>
        <p:nvSpPr>
          <p:cNvPr id="4" name="Oval 9"/>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5" name="Slide Number Placeholder 4"/>
          <p:cNvSpPr>
            <a:spLocks noGrp="1"/>
          </p:cNvSpPr>
          <p:nvPr>
            <p:ph type="sldNum" sz="quarter" idx="12"/>
          </p:nvPr>
        </p:nvSpPr>
        <p:spPr/>
        <p:txBody>
          <a:bodyPr/>
          <a:lstStyle/>
          <a:p>
            <a:pPr>
              <a:defRPr/>
            </a:pPr>
            <a:fld id="{1152812F-33DB-44F2-8D7A-55F34972C181}" type="slidenum">
              <a:rPr lang="en-US" smtClean="0"/>
              <a:pPr>
                <a:defRPr/>
              </a:pPr>
              <a:t>27</a:t>
            </a:fld>
            <a:endParaRPr lang="en-US"/>
          </a:p>
        </p:txBody>
      </p:sp>
      <p:sp>
        <p:nvSpPr>
          <p:cNvPr id="6" name="Date Placeholder 5">
            <a:extLst>
              <a:ext uri="{FF2B5EF4-FFF2-40B4-BE49-F238E27FC236}">
                <a16:creationId xmlns:a16="http://schemas.microsoft.com/office/drawing/2014/main" id="{8D32EF7B-190A-4779-AC69-D44C50BA53E0}"/>
              </a:ext>
            </a:extLst>
          </p:cNvPr>
          <p:cNvSpPr>
            <a:spLocks noGrp="1"/>
          </p:cNvSpPr>
          <p:nvPr>
            <p:ph type="dt" sz="half" idx="10"/>
          </p:nvPr>
        </p:nvSpPr>
        <p:spPr/>
        <p:txBody>
          <a:bodyPr/>
          <a:lstStyle/>
          <a:p>
            <a:pPr>
              <a:defRPr/>
            </a:pPr>
            <a:r>
              <a:rPr lang="en-US"/>
              <a:t>Lecture 10</a:t>
            </a:r>
          </a:p>
        </p:txBody>
      </p:sp>
      <p:sp>
        <p:nvSpPr>
          <p:cNvPr id="8" name="Footer Placeholder 7">
            <a:extLst>
              <a:ext uri="{FF2B5EF4-FFF2-40B4-BE49-F238E27FC236}">
                <a16:creationId xmlns:a16="http://schemas.microsoft.com/office/drawing/2014/main" id="{EA9B6204-1BB0-4439-B88C-DF119C96D1BC}"/>
              </a:ext>
            </a:extLst>
          </p:cNvPr>
          <p:cNvSpPr>
            <a:spLocks noGrp="1"/>
          </p:cNvSpPr>
          <p:nvPr>
            <p:ph type="ftr" sz="quarter" idx="11"/>
          </p:nvPr>
        </p:nvSpPr>
        <p:spPr/>
        <p:txBody>
          <a:bodyPr/>
          <a:lstStyle/>
          <a:p>
            <a:pPr>
              <a:defRPr/>
            </a:pPr>
            <a:r>
              <a:rPr lang="en-US"/>
              <a:t>G.R. Labbé</a:t>
            </a:r>
          </a:p>
        </p:txBody>
      </p:sp>
    </p:spTree>
    <p:extLst>
      <p:ext uri="{BB962C8B-B14F-4D97-AF65-F5344CB8AC3E}">
        <p14:creationId xmlns:p14="http://schemas.microsoft.com/office/powerpoint/2010/main" val="272696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ircle(in)">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heel(1)">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arn(inVertic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82613" y="368111"/>
            <a:ext cx="7543800" cy="684625"/>
          </a:xfrm>
        </p:spPr>
        <p:txBody>
          <a:bodyPr>
            <a:normAutofit/>
          </a:bodyPr>
          <a:lstStyle/>
          <a:p>
            <a:pPr eaLnBrk="1" hangingPunct="1"/>
            <a:r>
              <a:rPr lang="en-US" sz="3600" b="1" dirty="0">
                <a:latin typeface="+mn-lt"/>
                <a:cs typeface="Arial" panose="020B0604020202020204" pitchFamily="34" charset="0"/>
              </a:rPr>
              <a:t>1. Schedule Slippage</a:t>
            </a:r>
          </a:p>
        </p:txBody>
      </p:sp>
      <p:sp>
        <p:nvSpPr>
          <p:cNvPr id="21507" name="Rectangle 3"/>
          <p:cNvSpPr>
            <a:spLocks noGrp="1" noChangeArrowheads="1"/>
          </p:cNvSpPr>
          <p:nvPr>
            <p:ph idx="1"/>
          </p:nvPr>
        </p:nvSpPr>
        <p:spPr>
          <a:xfrm>
            <a:off x="865562" y="2054758"/>
            <a:ext cx="7543801" cy="3389556"/>
          </a:xfrm>
        </p:spPr>
        <p:txBody>
          <a:bodyPr>
            <a:normAutofit/>
          </a:bodyPr>
          <a:lstStyle/>
          <a:p>
            <a:pPr marL="0" indent="0" eaLnBrk="1" hangingPunct="1">
              <a:buFontTx/>
              <a:buNone/>
            </a:pPr>
            <a:r>
              <a:rPr lang="en-US" sz="2400" dirty="0"/>
              <a:t>For many projects this is more than the realization that the project will be late. In many industries this can result in </a:t>
            </a:r>
            <a:r>
              <a:rPr lang="en-US" sz="2400" dirty="0">
                <a:solidFill>
                  <a:srgbClr val="00B050"/>
                </a:solidFill>
              </a:rPr>
              <a:t>serious financial penalties</a:t>
            </a:r>
            <a:r>
              <a:rPr lang="en-US" sz="2400" dirty="0"/>
              <a:t>. It is not uncommon for companies to charge thousands of dollars in penalty clauses for each day a project is delayed. </a:t>
            </a:r>
          </a:p>
          <a:p>
            <a:pPr marL="0" indent="0" eaLnBrk="1" hangingPunct="1">
              <a:buFontTx/>
              <a:buNone/>
            </a:pPr>
            <a:r>
              <a:rPr lang="en-US" sz="2400" dirty="0"/>
              <a:t>In these cases, it is very important to consider the priority level a project gets based on the </a:t>
            </a:r>
            <a:r>
              <a:rPr lang="en-US" sz="2400" b="1" dirty="0">
                <a:solidFill>
                  <a:srgbClr val="7030A0"/>
                </a:solidFill>
              </a:rPr>
              <a:t>impact</a:t>
            </a:r>
            <a:r>
              <a:rPr lang="en-US" sz="2400" dirty="0">
                <a:solidFill>
                  <a:srgbClr val="7030A0"/>
                </a:solidFill>
              </a:rPr>
              <a:t> of schedule slippage </a:t>
            </a:r>
            <a:r>
              <a:rPr lang="en-US" sz="2400" dirty="0"/>
              <a:t>for </a:t>
            </a:r>
            <a:r>
              <a:rPr lang="en-US" sz="2400" dirty="0">
                <a:solidFill>
                  <a:srgbClr val="00B050"/>
                </a:solidFill>
              </a:rPr>
              <a:t>each individual project</a:t>
            </a:r>
          </a:p>
        </p:txBody>
      </p:sp>
      <p:sp>
        <p:nvSpPr>
          <p:cNvPr id="4" name="Oval 9"/>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28</a:t>
            </a:fld>
            <a:endParaRPr lang="en-US"/>
          </a:p>
        </p:txBody>
      </p:sp>
      <p:sp>
        <p:nvSpPr>
          <p:cNvPr id="5" name="Date Placeholder 4">
            <a:extLst>
              <a:ext uri="{FF2B5EF4-FFF2-40B4-BE49-F238E27FC236}">
                <a16:creationId xmlns:a16="http://schemas.microsoft.com/office/drawing/2014/main" id="{3DC7C147-2687-4633-892D-408237E705E2}"/>
              </a:ext>
            </a:extLst>
          </p:cNvPr>
          <p:cNvSpPr>
            <a:spLocks noGrp="1"/>
          </p:cNvSpPr>
          <p:nvPr>
            <p:ph type="dt" sz="half" idx="10"/>
          </p:nvPr>
        </p:nvSpPr>
        <p:spPr/>
        <p:txBody>
          <a:bodyPr/>
          <a:lstStyle/>
          <a:p>
            <a:pPr>
              <a:defRPr/>
            </a:pPr>
            <a:r>
              <a:rPr lang="en-US"/>
              <a:t>Lecture 10</a:t>
            </a:r>
          </a:p>
        </p:txBody>
      </p:sp>
      <p:sp>
        <p:nvSpPr>
          <p:cNvPr id="6" name="Footer Placeholder 5">
            <a:extLst>
              <a:ext uri="{FF2B5EF4-FFF2-40B4-BE49-F238E27FC236}">
                <a16:creationId xmlns:a16="http://schemas.microsoft.com/office/drawing/2014/main" id="{837C62FF-1A0C-4DFC-A8C4-6BB9B85AFC0F}"/>
              </a:ext>
            </a:extLst>
          </p:cNvPr>
          <p:cNvSpPr>
            <a:spLocks noGrp="1"/>
          </p:cNvSpPr>
          <p:nvPr>
            <p:ph type="ftr" sz="quarter" idx="11"/>
          </p:nvPr>
        </p:nvSpPr>
        <p:spPr/>
        <p:txBody>
          <a:bodyPr/>
          <a:lstStyle/>
          <a:p>
            <a:pPr>
              <a:defRPr/>
            </a:pPr>
            <a:r>
              <a:rPr lang="en-US"/>
              <a:t>G.R. Labbé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fade">
                                      <p:cBhvr>
                                        <p:cTn id="7" dur="20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fade">
                                      <p:cBhvr>
                                        <p:cTn id="12" dur="2000"/>
                                        <p:tgtEl>
                                          <p:spTgt spid="215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8"/>
          <p:cNvPicPr>
            <a:picLocks noChangeAspect="1" noChangeArrowheads="1"/>
          </p:cNvPicPr>
          <p:nvPr/>
        </p:nvPicPr>
        <p:blipFill>
          <a:blip r:embed="rId2" cstate="print"/>
          <a:srcRect/>
          <a:stretch>
            <a:fillRect/>
          </a:stretch>
        </p:blipFill>
        <p:spPr bwMode="auto">
          <a:xfrm>
            <a:off x="226064" y="1827099"/>
            <a:ext cx="4902200" cy="3792537"/>
          </a:xfrm>
          <a:prstGeom prst="rect">
            <a:avLst/>
          </a:prstGeom>
          <a:noFill/>
          <a:ln w="9525">
            <a:noFill/>
            <a:miter lim="800000"/>
            <a:headEnd/>
            <a:tailEnd/>
          </a:ln>
        </p:spPr>
      </p:pic>
      <p:sp>
        <p:nvSpPr>
          <p:cNvPr id="22531" name="Rectangle 2"/>
          <p:cNvSpPr>
            <a:spLocks noGrp="1" noChangeArrowheads="1"/>
          </p:cNvSpPr>
          <p:nvPr>
            <p:ph type="title"/>
          </p:nvPr>
        </p:nvSpPr>
        <p:spPr>
          <a:xfrm>
            <a:off x="426620" y="401725"/>
            <a:ext cx="8229600" cy="692621"/>
          </a:xfrm>
        </p:spPr>
        <p:txBody>
          <a:bodyPr>
            <a:normAutofit/>
          </a:bodyPr>
          <a:lstStyle/>
          <a:p>
            <a:pPr eaLnBrk="1" hangingPunct="1"/>
            <a:r>
              <a:rPr lang="en-US" sz="3600" b="1" dirty="0">
                <a:latin typeface="+mn-lt"/>
                <a:cs typeface="Arial" panose="020B0604020202020204" pitchFamily="34" charset="0"/>
              </a:rPr>
              <a:t>2. Resource Utilization</a:t>
            </a:r>
          </a:p>
        </p:txBody>
      </p:sp>
      <p:sp>
        <p:nvSpPr>
          <p:cNvPr id="22532" name="Rectangle 3"/>
          <p:cNvSpPr>
            <a:spLocks noGrp="1" noChangeArrowheads="1"/>
          </p:cNvSpPr>
          <p:nvPr>
            <p:ph idx="1"/>
          </p:nvPr>
        </p:nvSpPr>
        <p:spPr>
          <a:xfrm>
            <a:off x="5256213" y="1757363"/>
            <a:ext cx="3430587" cy="4525962"/>
          </a:xfrm>
        </p:spPr>
        <p:txBody>
          <a:bodyPr>
            <a:normAutofit fontScale="92500" lnSpcReduction="10000"/>
          </a:bodyPr>
          <a:lstStyle/>
          <a:p>
            <a:pPr marL="0" indent="0" eaLnBrk="1" hangingPunct="1">
              <a:lnSpc>
                <a:spcPct val="80000"/>
              </a:lnSpc>
              <a:buFontTx/>
              <a:buNone/>
            </a:pPr>
            <a:r>
              <a:rPr lang="en-US" sz="2400" dirty="0"/>
              <a:t>The goal of every company is to use the existing resources as efficiently as possible. Adding resources can be expensive and may not be necessary. </a:t>
            </a:r>
          </a:p>
          <a:p>
            <a:pPr marL="0" indent="0" eaLnBrk="1" hangingPunct="1">
              <a:lnSpc>
                <a:spcPct val="80000"/>
              </a:lnSpc>
              <a:buFontTx/>
              <a:buNone/>
            </a:pPr>
            <a:r>
              <a:rPr lang="en-US" sz="2400" dirty="0"/>
              <a:t>The </a:t>
            </a:r>
            <a:r>
              <a:rPr lang="en-US" sz="2400" dirty="0">
                <a:solidFill>
                  <a:schemeClr val="accent2">
                    <a:lumMod val="75000"/>
                  </a:schemeClr>
                </a:solidFill>
              </a:rPr>
              <a:t>tan area </a:t>
            </a:r>
            <a:r>
              <a:rPr lang="en-US" sz="2400" dirty="0"/>
              <a:t>in the chart shows the </a:t>
            </a:r>
            <a:r>
              <a:rPr lang="en-US" sz="2400" b="1" dirty="0"/>
              <a:t>available resources</a:t>
            </a:r>
            <a:r>
              <a:rPr lang="en-US" sz="2400" dirty="0"/>
              <a:t> not used in the current project. </a:t>
            </a:r>
          </a:p>
          <a:p>
            <a:pPr marL="0" indent="0" eaLnBrk="1" hangingPunct="1">
              <a:lnSpc>
                <a:spcPct val="80000"/>
              </a:lnSpc>
              <a:buFontTx/>
              <a:buNone/>
            </a:pPr>
            <a:r>
              <a:rPr lang="en-US" sz="2400" dirty="0"/>
              <a:t>To maximize resource utilization, the available resources would be assigned to other, concurrent, projects thereby improving the overall efficiency with which we use project resources.</a:t>
            </a:r>
          </a:p>
        </p:txBody>
      </p:sp>
      <p:sp>
        <p:nvSpPr>
          <p:cNvPr id="22533" name="Line 6"/>
          <p:cNvSpPr>
            <a:spLocks noChangeShapeType="1"/>
          </p:cNvSpPr>
          <p:nvPr/>
        </p:nvSpPr>
        <p:spPr bwMode="auto">
          <a:xfrm flipV="1">
            <a:off x="1187624" y="3284981"/>
            <a:ext cx="792088" cy="2462306"/>
          </a:xfrm>
          <a:prstGeom prst="line">
            <a:avLst/>
          </a:prstGeom>
          <a:ln>
            <a:solidFill>
              <a:srgbClr val="FF0000"/>
            </a:solidFill>
            <a:headEnd type="none" w="med" len="med"/>
            <a:tailEnd type="arrow" w="med" len="med"/>
          </a:ln>
        </p:spPr>
        <p:style>
          <a:lnRef idx="3">
            <a:schemeClr val="dk1"/>
          </a:lnRef>
          <a:fillRef idx="0">
            <a:schemeClr val="dk1"/>
          </a:fillRef>
          <a:effectRef idx="2">
            <a:schemeClr val="dk1"/>
          </a:effectRef>
          <a:fontRef idx="minor">
            <a:schemeClr val="tx1"/>
          </a:fontRef>
        </p:style>
        <p:txBody>
          <a:bodyPr/>
          <a:lstStyle/>
          <a:p>
            <a:endParaRPr lang="en-CA"/>
          </a:p>
        </p:txBody>
      </p:sp>
      <p:sp>
        <p:nvSpPr>
          <p:cNvPr id="22534" name="Text Box 7"/>
          <p:cNvSpPr txBox="1">
            <a:spLocks noChangeArrowheads="1"/>
          </p:cNvSpPr>
          <p:nvPr/>
        </p:nvSpPr>
        <p:spPr bwMode="auto">
          <a:xfrm>
            <a:off x="339725" y="5747287"/>
            <a:ext cx="1905265" cy="369332"/>
          </a:xfrm>
          <a:prstGeom prst="rect">
            <a:avLst/>
          </a:prstGeom>
          <a:noFill/>
          <a:ln w="9525">
            <a:noFill/>
            <a:miter lim="800000"/>
            <a:headEnd/>
            <a:tailEnd/>
          </a:ln>
        </p:spPr>
        <p:txBody>
          <a:bodyPr wrap="none">
            <a:spAutoFit/>
          </a:bodyPr>
          <a:lstStyle/>
          <a:p>
            <a:r>
              <a:rPr lang="en-US" dirty="0">
                <a:latin typeface="+mn-lt"/>
              </a:rPr>
              <a:t>Unused Resources</a:t>
            </a:r>
          </a:p>
        </p:txBody>
      </p:sp>
      <p:sp>
        <p:nvSpPr>
          <p:cNvPr id="7" name="Oval 9"/>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29</a:t>
            </a:fld>
            <a:endParaRPr lang="en-US"/>
          </a:p>
        </p:txBody>
      </p:sp>
      <p:sp>
        <p:nvSpPr>
          <p:cNvPr id="4" name="Date Placeholder 3">
            <a:extLst>
              <a:ext uri="{FF2B5EF4-FFF2-40B4-BE49-F238E27FC236}">
                <a16:creationId xmlns:a16="http://schemas.microsoft.com/office/drawing/2014/main" id="{B75102BB-88D6-42FE-962C-9FBED357BFC8}"/>
              </a:ext>
            </a:extLst>
          </p:cNvPr>
          <p:cNvSpPr>
            <a:spLocks noGrp="1"/>
          </p:cNvSpPr>
          <p:nvPr>
            <p:ph type="dt" sz="half" idx="10"/>
          </p:nvPr>
        </p:nvSpPr>
        <p:spPr/>
        <p:txBody>
          <a:bodyPr/>
          <a:lstStyle/>
          <a:p>
            <a:pPr>
              <a:defRPr/>
            </a:pPr>
            <a:r>
              <a:rPr lang="en-US"/>
              <a:t>Lecture 10</a:t>
            </a:r>
          </a:p>
        </p:txBody>
      </p:sp>
      <p:sp>
        <p:nvSpPr>
          <p:cNvPr id="5" name="Footer Placeholder 4">
            <a:extLst>
              <a:ext uri="{FF2B5EF4-FFF2-40B4-BE49-F238E27FC236}">
                <a16:creationId xmlns:a16="http://schemas.microsoft.com/office/drawing/2014/main" id="{2A8BDFDA-285D-42A5-838B-BE9F71F6A28C}"/>
              </a:ext>
            </a:extLst>
          </p:cNvPr>
          <p:cNvSpPr>
            <a:spLocks noGrp="1"/>
          </p:cNvSpPr>
          <p:nvPr>
            <p:ph type="ftr" sz="quarter" idx="11"/>
          </p:nvPr>
        </p:nvSpPr>
        <p:spPr/>
        <p:txBody>
          <a:bodyPr/>
          <a:lstStyle/>
          <a:p>
            <a:pPr>
              <a:defRPr/>
            </a:pPr>
            <a:r>
              <a:rPr lang="en-US"/>
              <a:t>G.R. Labbé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wipe(down)">
                                      <p:cBhvr>
                                        <p:cTn id="7" dur="500"/>
                                        <p:tgtEl>
                                          <p:spTgt spid="225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2534"/>
                                        </p:tgtEl>
                                        <p:attrNameLst>
                                          <p:attrName>style.visibility</p:attrName>
                                        </p:attrNameLst>
                                      </p:cBhvr>
                                      <p:to>
                                        <p:strVal val="visible"/>
                                      </p:to>
                                    </p:set>
                                    <p:animEffect transition="in" filter="wipe(down)">
                                      <p:cBhvr>
                                        <p:cTn id="12" dur="500"/>
                                        <p:tgtEl>
                                          <p:spTgt spid="22534"/>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2533"/>
                                        </p:tgtEl>
                                        <p:attrNameLst>
                                          <p:attrName>style.visibility</p:attrName>
                                        </p:attrNameLst>
                                      </p:cBhvr>
                                      <p:to>
                                        <p:strVal val="visible"/>
                                      </p:to>
                                    </p:set>
                                    <p:animEffect transition="in" filter="wipe(down)">
                                      <p:cBhvr>
                                        <p:cTn id="15" dur="500"/>
                                        <p:tgtEl>
                                          <p:spTgt spid="2253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2532">
                                            <p:txEl>
                                              <p:pRg st="0" end="0"/>
                                            </p:txEl>
                                          </p:spTgt>
                                        </p:tgtEl>
                                        <p:attrNameLst>
                                          <p:attrName>style.visibility</p:attrName>
                                        </p:attrNameLst>
                                      </p:cBhvr>
                                      <p:to>
                                        <p:strVal val="visible"/>
                                      </p:to>
                                    </p:set>
                                    <p:animEffect transition="in" filter="fade">
                                      <p:cBhvr>
                                        <p:cTn id="20" dur="2000"/>
                                        <p:tgtEl>
                                          <p:spTgt spid="2253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2532">
                                            <p:txEl>
                                              <p:pRg st="1" end="1"/>
                                            </p:txEl>
                                          </p:spTgt>
                                        </p:tgtEl>
                                        <p:attrNameLst>
                                          <p:attrName>style.visibility</p:attrName>
                                        </p:attrNameLst>
                                      </p:cBhvr>
                                      <p:to>
                                        <p:strVal val="visible"/>
                                      </p:to>
                                    </p:set>
                                    <p:animEffect transition="in" filter="fade">
                                      <p:cBhvr>
                                        <p:cTn id="25" dur="2000"/>
                                        <p:tgtEl>
                                          <p:spTgt spid="22532">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532">
                                            <p:txEl>
                                              <p:pRg st="2" end="2"/>
                                            </p:txEl>
                                          </p:spTgt>
                                        </p:tgtEl>
                                        <p:attrNameLst>
                                          <p:attrName>style.visibility</p:attrName>
                                        </p:attrNameLst>
                                      </p:cBhvr>
                                      <p:to>
                                        <p:strVal val="visible"/>
                                      </p:to>
                                    </p:set>
                                    <p:animEffect transition="in" filter="fade">
                                      <p:cBhvr>
                                        <p:cTn id="30" dur="2000"/>
                                        <p:tgtEl>
                                          <p:spTgt spid="225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build="allAtOnce"/>
      <p:bldP spid="22533" grpId="0" animBg="1"/>
      <p:bldP spid="2253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404664"/>
            <a:ext cx="8229600" cy="638944"/>
          </a:xfrm>
        </p:spPr>
        <p:txBody>
          <a:bodyPr>
            <a:normAutofit/>
          </a:bodyPr>
          <a:lstStyle/>
          <a:p>
            <a:pPr eaLnBrk="1" hangingPunct="1"/>
            <a:r>
              <a:rPr lang="en-US" sz="3200" b="1" dirty="0">
                <a:latin typeface="Arial" panose="020B0604020202020204" pitchFamily="34" charset="0"/>
                <a:cs typeface="Arial" panose="020B0604020202020204" pitchFamily="34" charset="0"/>
              </a:rPr>
              <a:t>3</a:t>
            </a:r>
            <a:r>
              <a:rPr lang="en-US" sz="3600" b="1" dirty="0">
                <a:latin typeface="+mn-lt"/>
                <a:cs typeface="Arial" panose="020B0604020202020204" pitchFamily="34" charset="0"/>
              </a:rPr>
              <a:t>. In-Process Inventory</a:t>
            </a:r>
          </a:p>
        </p:txBody>
      </p:sp>
      <p:sp>
        <p:nvSpPr>
          <p:cNvPr id="23555" name="Rectangle 3"/>
          <p:cNvSpPr>
            <a:spLocks noGrp="1" noChangeArrowheads="1"/>
          </p:cNvSpPr>
          <p:nvPr>
            <p:ph idx="1"/>
          </p:nvPr>
        </p:nvSpPr>
        <p:spPr>
          <a:xfrm>
            <a:off x="453001" y="1803764"/>
            <a:ext cx="8229600" cy="4534156"/>
          </a:xfrm>
        </p:spPr>
        <p:txBody>
          <a:bodyPr>
            <a:normAutofit/>
          </a:bodyPr>
          <a:lstStyle/>
          <a:p>
            <a:pPr marL="0" indent="0" eaLnBrk="1" hangingPunct="1">
              <a:lnSpc>
                <a:spcPct val="80000"/>
              </a:lnSpc>
              <a:buFontTx/>
              <a:buNone/>
            </a:pPr>
            <a:r>
              <a:rPr lang="en-US" dirty="0">
                <a:cs typeface="Arial" panose="020B0604020202020204" pitchFamily="34" charset="0"/>
              </a:rPr>
              <a:t>The third standard for analyzing the </a:t>
            </a:r>
            <a:r>
              <a:rPr lang="en-US" dirty="0">
                <a:solidFill>
                  <a:srgbClr val="00B050"/>
                </a:solidFill>
                <a:cs typeface="Arial" panose="020B0604020202020204" pitchFamily="34" charset="0"/>
              </a:rPr>
              <a:t>optimal use of multi project resources</a:t>
            </a:r>
            <a:r>
              <a:rPr lang="en-US" dirty="0">
                <a:cs typeface="Arial" panose="020B0604020202020204" pitchFamily="34" charset="0"/>
              </a:rPr>
              <a:t> is to consider their impact on </a:t>
            </a:r>
            <a:r>
              <a:rPr lang="en-US" b="1" dirty="0">
                <a:cs typeface="Arial" panose="020B0604020202020204" pitchFamily="34" charset="0"/>
              </a:rPr>
              <a:t>In-Process Inventory</a:t>
            </a:r>
            <a:r>
              <a:rPr lang="en-US" dirty="0">
                <a:cs typeface="Arial" panose="020B0604020202020204" pitchFamily="34" charset="0"/>
              </a:rPr>
              <a:t>. </a:t>
            </a:r>
            <a:r>
              <a:rPr lang="en-US" dirty="0">
                <a:solidFill>
                  <a:srgbClr val="7030A0"/>
                </a:solidFill>
                <a:cs typeface="Arial" panose="020B0604020202020204" pitchFamily="34" charset="0"/>
              </a:rPr>
              <a:t>In-Process Inventory </a:t>
            </a:r>
            <a:r>
              <a:rPr lang="en-US" dirty="0">
                <a:cs typeface="Arial" panose="020B0604020202020204" pitchFamily="34" charset="0"/>
              </a:rPr>
              <a:t>represents the amount of work waiting to be completed but </a:t>
            </a:r>
            <a:r>
              <a:rPr lang="en-US" b="1" u="sng" dirty="0">
                <a:solidFill>
                  <a:srgbClr val="00B050"/>
                </a:solidFill>
                <a:cs typeface="Arial" panose="020B0604020202020204" pitchFamily="34" charset="0"/>
              </a:rPr>
              <a:t>delayed due to unavailable resources</a:t>
            </a:r>
            <a:r>
              <a:rPr lang="en-US" dirty="0">
                <a:cs typeface="Arial" panose="020B0604020202020204" pitchFamily="34" charset="0"/>
              </a:rPr>
              <a:t>. </a:t>
            </a:r>
          </a:p>
          <a:p>
            <a:pPr marL="0" indent="0" eaLnBrk="1" hangingPunct="1">
              <a:lnSpc>
                <a:spcPct val="80000"/>
              </a:lnSpc>
              <a:buFontTx/>
              <a:buNone/>
            </a:pPr>
            <a:endParaRPr lang="en-US" dirty="0">
              <a:cs typeface="Arial" panose="020B0604020202020204" pitchFamily="34" charset="0"/>
            </a:endParaRPr>
          </a:p>
          <a:p>
            <a:pPr marL="0" indent="0" eaLnBrk="1" hangingPunct="1">
              <a:lnSpc>
                <a:spcPct val="80000"/>
              </a:lnSpc>
              <a:buFontTx/>
              <a:buNone/>
            </a:pPr>
            <a:r>
              <a:rPr lang="en-US" dirty="0">
                <a:cs typeface="Arial" panose="020B0604020202020204" pitchFamily="34" charset="0"/>
              </a:rPr>
              <a:t>For example, an automotive company may find several resources delayed because it only has </a:t>
            </a:r>
            <a:r>
              <a:rPr lang="en-US" dirty="0">
                <a:solidFill>
                  <a:srgbClr val="00B050"/>
                </a:solidFill>
                <a:cs typeface="Arial" panose="020B0604020202020204" pitchFamily="34" charset="0"/>
              </a:rPr>
              <a:t>one set of climate chambers for testing</a:t>
            </a:r>
            <a:r>
              <a:rPr lang="en-US" dirty="0">
                <a:cs typeface="Arial" panose="020B0604020202020204" pitchFamily="34" charset="0"/>
              </a:rPr>
              <a:t>. The projects stack up behind this resource bottleneck and represent the company's In-Process Inventory of projects. </a:t>
            </a:r>
          </a:p>
          <a:p>
            <a:pPr marL="0" indent="0" eaLnBrk="1" hangingPunct="1">
              <a:lnSpc>
                <a:spcPct val="80000"/>
              </a:lnSpc>
              <a:buFontTx/>
              <a:buNone/>
            </a:pPr>
            <a:r>
              <a:rPr lang="en-US" dirty="0">
                <a:cs typeface="Arial" panose="020B0604020202020204" pitchFamily="34" charset="0"/>
              </a:rPr>
              <a:t>Excessive In-Process Inventory is often caused by a lack of available resources and represents the kinds of trade-off decisions companies must make in multi project environments. Does it make sense to </a:t>
            </a:r>
            <a:r>
              <a:rPr lang="en-US" dirty="0">
                <a:solidFill>
                  <a:srgbClr val="00B050"/>
                </a:solidFill>
                <a:cs typeface="Arial" panose="020B0604020202020204" pitchFamily="34" charset="0"/>
              </a:rPr>
              <a:t>hire more resources</a:t>
            </a:r>
            <a:r>
              <a:rPr lang="en-US" dirty="0">
                <a:cs typeface="Arial" panose="020B0604020202020204" pitchFamily="34" charset="0"/>
              </a:rPr>
              <a:t>? Is the bottleneck only </a:t>
            </a:r>
            <a:r>
              <a:rPr lang="en-US" dirty="0">
                <a:solidFill>
                  <a:srgbClr val="00B050"/>
                </a:solidFill>
                <a:cs typeface="Arial" panose="020B0604020202020204" pitchFamily="34" charset="0"/>
              </a:rPr>
              <a:t>temporary</a:t>
            </a:r>
            <a:r>
              <a:rPr lang="en-US" dirty="0">
                <a:cs typeface="Arial" panose="020B0604020202020204" pitchFamily="34" charset="0"/>
              </a:rPr>
              <a:t>, leading to inefficient resource allocation later if you purchase new resources?</a:t>
            </a:r>
          </a:p>
        </p:txBody>
      </p:sp>
      <p:sp>
        <p:nvSpPr>
          <p:cNvPr id="4" name="Oval 9"/>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30</a:t>
            </a:fld>
            <a:endParaRPr lang="en-US"/>
          </a:p>
        </p:txBody>
      </p:sp>
      <p:sp>
        <p:nvSpPr>
          <p:cNvPr id="5" name="Date Placeholder 4">
            <a:extLst>
              <a:ext uri="{FF2B5EF4-FFF2-40B4-BE49-F238E27FC236}">
                <a16:creationId xmlns:a16="http://schemas.microsoft.com/office/drawing/2014/main" id="{DD615F79-8C51-4BB1-B40A-416CA2522FF4}"/>
              </a:ext>
            </a:extLst>
          </p:cNvPr>
          <p:cNvSpPr>
            <a:spLocks noGrp="1"/>
          </p:cNvSpPr>
          <p:nvPr>
            <p:ph type="dt" sz="half" idx="10"/>
          </p:nvPr>
        </p:nvSpPr>
        <p:spPr/>
        <p:txBody>
          <a:bodyPr/>
          <a:lstStyle/>
          <a:p>
            <a:pPr>
              <a:defRPr/>
            </a:pPr>
            <a:r>
              <a:rPr lang="en-US"/>
              <a:t>Lecture 10</a:t>
            </a:r>
          </a:p>
        </p:txBody>
      </p:sp>
      <p:sp>
        <p:nvSpPr>
          <p:cNvPr id="6" name="Footer Placeholder 5">
            <a:extLst>
              <a:ext uri="{FF2B5EF4-FFF2-40B4-BE49-F238E27FC236}">
                <a16:creationId xmlns:a16="http://schemas.microsoft.com/office/drawing/2014/main" id="{DFF6EE89-A6B4-4D96-8C4A-4CB62AA72E61}"/>
              </a:ext>
            </a:extLst>
          </p:cNvPr>
          <p:cNvSpPr>
            <a:spLocks noGrp="1"/>
          </p:cNvSpPr>
          <p:nvPr>
            <p:ph type="ftr" sz="quarter" idx="11"/>
          </p:nvPr>
        </p:nvSpPr>
        <p:spPr/>
        <p:txBody>
          <a:bodyPr/>
          <a:lstStyle/>
          <a:p>
            <a:pPr>
              <a:defRPr/>
            </a:pPr>
            <a:r>
              <a:rPr lang="en-US"/>
              <a:t>G.R. Labbé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fade">
                                      <p:cBhvr>
                                        <p:cTn id="7" dur="20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555">
                                            <p:txEl>
                                              <p:pRg st="2" end="2"/>
                                            </p:txEl>
                                          </p:spTgt>
                                        </p:tgtEl>
                                        <p:attrNameLst>
                                          <p:attrName>style.visibility</p:attrName>
                                        </p:attrNameLst>
                                      </p:cBhvr>
                                      <p:to>
                                        <p:strVal val="visible"/>
                                      </p:to>
                                    </p:set>
                                    <p:animEffect transition="in" filter="fade">
                                      <p:cBhvr>
                                        <p:cTn id="12" dur="2000"/>
                                        <p:tgtEl>
                                          <p:spTgt spid="23555">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3555">
                                            <p:txEl>
                                              <p:pRg st="3" end="3"/>
                                            </p:txEl>
                                          </p:spTgt>
                                        </p:tgtEl>
                                        <p:attrNameLst>
                                          <p:attrName>style.visibility</p:attrName>
                                        </p:attrNameLst>
                                      </p:cBhvr>
                                      <p:to>
                                        <p:strVal val="visible"/>
                                      </p:to>
                                    </p:set>
                                    <p:animEffect transition="in" filter="fade">
                                      <p:cBhvr>
                                        <p:cTn id="15" dur="2000"/>
                                        <p:tgtEl>
                                          <p:spTgt spid="235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allAtOnce"/>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370698"/>
            <a:ext cx="8229600" cy="1143000"/>
          </a:xfrm>
        </p:spPr>
        <p:txBody>
          <a:bodyPr>
            <a:normAutofit/>
          </a:bodyPr>
          <a:lstStyle/>
          <a:p>
            <a:pPr eaLnBrk="1" hangingPunct="1"/>
            <a:r>
              <a:rPr lang="en-US" sz="3600" b="1" dirty="0">
                <a:latin typeface="+mn-lt"/>
                <a:cs typeface="Arial" panose="020B0604020202020204" pitchFamily="34" charset="0"/>
              </a:rPr>
              <a:t>Resolving Resource Decisions in</a:t>
            </a:r>
            <a:br>
              <a:rPr lang="en-US" sz="3600" b="1" dirty="0">
                <a:latin typeface="+mn-lt"/>
                <a:cs typeface="Arial" panose="020B0604020202020204" pitchFamily="34" charset="0"/>
              </a:rPr>
            </a:br>
            <a:r>
              <a:rPr lang="en-US" sz="3600" b="1" dirty="0">
                <a:latin typeface="+mn-lt"/>
                <a:cs typeface="Arial" panose="020B0604020202020204" pitchFamily="34" charset="0"/>
              </a:rPr>
              <a:t>Multi-project Environments</a:t>
            </a:r>
          </a:p>
        </p:txBody>
      </p:sp>
      <p:sp>
        <p:nvSpPr>
          <p:cNvPr id="24579" name="Rectangle 3"/>
          <p:cNvSpPr>
            <a:spLocks noGrp="1" noChangeArrowheads="1"/>
          </p:cNvSpPr>
          <p:nvPr>
            <p:ph idx="1"/>
          </p:nvPr>
        </p:nvSpPr>
        <p:spPr>
          <a:xfrm>
            <a:off x="457200" y="1834233"/>
            <a:ext cx="8229600" cy="4349080"/>
          </a:xfrm>
        </p:spPr>
        <p:txBody>
          <a:bodyPr/>
          <a:lstStyle/>
          <a:p>
            <a:pPr eaLnBrk="1" hangingPunct="1">
              <a:lnSpc>
                <a:spcPct val="80000"/>
              </a:lnSpc>
              <a:buFontTx/>
              <a:buNone/>
            </a:pPr>
            <a:r>
              <a:rPr lang="en-US" sz="2200" dirty="0"/>
              <a:t>There are several methods for resolving </a:t>
            </a:r>
            <a:r>
              <a:rPr lang="en-US" sz="2200" dirty="0">
                <a:solidFill>
                  <a:srgbClr val="00B050"/>
                </a:solidFill>
              </a:rPr>
              <a:t>resource allocation problems</a:t>
            </a:r>
            <a:r>
              <a:rPr lang="en-US" sz="2200" dirty="0"/>
              <a:t>:</a:t>
            </a:r>
          </a:p>
          <a:p>
            <a:pPr eaLnBrk="1" hangingPunct="1">
              <a:lnSpc>
                <a:spcPct val="80000"/>
              </a:lnSpc>
            </a:pPr>
            <a:r>
              <a:rPr lang="en-US" sz="2200" dirty="0"/>
              <a:t>"</a:t>
            </a:r>
            <a:r>
              <a:rPr lang="en-US" sz="2200" b="1" dirty="0"/>
              <a:t>First in Line</a:t>
            </a:r>
            <a:r>
              <a:rPr lang="en-US" sz="2200" dirty="0"/>
              <a:t>" or "first come-first served" is the simplest rule of thumb for allocating resources. It is easy to employ, it simply follows the master project calendar. The </a:t>
            </a:r>
            <a:r>
              <a:rPr lang="en-US" sz="2200" dirty="0">
                <a:solidFill>
                  <a:srgbClr val="7030A0"/>
                </a:solidFill>
              </a:rPr>
              <a:t>earliest project </a:t>
            </a:r>
            <a:r>
              <a:rPr lang="en-US" sz="2200" dirty="0"/>
              <a:t>gets </a:t>
            </a:r>
            <a:r>
              <a:rPr lang="en-US" sz="2200" dirty="0">
                <a:solidFill>
                  <a:srgbClr val="7030A0"/>
                </a:solidFill>
              </a:rPr>
              <a:t>scheduled first</a:t>
            </a:r>
            <a:r>
              <a:rPr lang="en-US" sz="2200" dirty="0"/>
              <a:t>. This method ignores any other important information such as priority, emergency situations, preference due to higher commercial success of other projects. </a:t>
            </a:r>
          </a:p>
          <a:p>
            <a:pPr eaLnBrk="1" hangingPunct="1">
              <a:lnSpc>
                <a:spcPct val="80000"/>
              </a:lnSpc>
            </a:pPr>
            <a:r>
              <a:rPr lang="en-US" sz="2200" b="1" dirty="0"/>
              <a:t>Greatest Resource Demand</a:t>
            </a:r>
            <a:br>
              <a:rPr lang="en-US" sz="2200" b="1" dirty="0"/>
            </a:br>
            <a:r>
              <a:rPr lang="en-US" sz="2200" dirty="0"/>
              <a:t>With this decision rule the project with the </a:t>
            </a:r>
            <a:r>
              <a:rPr lang="en-US" sz="2200" dirty="0">
                <a:solidFill>
                  <a:srgbClr val="7030A0"/>
                </a:solidFill>
              </a:rPr>
              <a:t>highest demand of resources </a:t>
            </a:r>
            <a:r>
              <a:rPr lang="en-US" sz="2200" dirty="0"/>
              <a:t>get </a:t>
            </a:r>
            <a:r>
              <a:rPr lang="en-US" sz="2200" dirty="0">
                <a:solidFill>
                  <a:srgbClr val="7030A0"/>
                </a:solidFill>
              </a:rPr>
              <a:t>scheduled first</a:t>
            </a:r>
            <a:r>
              <a:rPr lang="en-US" sz="2200" dirty="0"/>
              <a:t>. Then the remaining projects are examined and scheduled according to their level of resource demand. The logic in this method is that in this way the </a:t>
            </a:r>
            <a:r>
              <a:rPr lang="en-US" sz="2200" dirty="0">
                <a:solidFill>
                  <a:srgbClr val="00B050"/>
                </a:solidFill>
              </a:rPr>
              <a:t>resource bottlenecks </a:t>
            </a:r>
            <a:r>
              <a:rPr lang="en-US" sz="2200" dirty="0"/>
              <a:t>will show up very quickly and it can be used as a starting point for potential additional resource allocation.</a:t>
            </a:r>
          </a:p>
        </p:txBody>
      </p:sp>
      <p:sp>
        <p:nvSpPr>
          <p:cNvPr id="24580"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31</a:t>
            </a:fld>
            <a:endParaRPr lang="en-US"/>
          </a:p>
        </p:txBody>
      </p:sp>
      <p:sp>
        <p:nvSpPr>
          <p:cNvPr id="4" name="Date Placeholder 3">
            <a:extLst>
              <a:ext uri="{FF2B5EF4-FFF2-40B4-BE49-F238E27FC236}">
                <a16:creationId xmlns:a16="http://schemas.microsoft.com/office/drawing/2014/main" id="{6BE73602-3680-48BE-8FD5-23105E7DFB4C}"/>
              </a:ext>
            </a:extLst>
          </p:cNvPr>
          <p:cNvSpPr>
            <a:spLocks noGrp="1"/>
          </p:cNvSpPr>
          <p:nvPr>
            <p:ph type="dt" sz="half" idx="10"/>
          </p:nvPr>
        </p:nvSpPr>
        <p:spPr/>
        <p:txBody>
          <a:bodyPr/>
          <a:lstStyle/>
          <a:p>
            <a:pPr>
              <a:defRPr/>
            </a:pPr>
            <a:r>
              <a:rPr lang="en-US"/>
              <a:t>Lecture 10</a:t>
            </a:r>
          </a:p>
        </p:txBody>
      </p:sp>
      <p:sp>
        <p:nvSpPr>
          <p:cNvPr id="5" name="Footer Placeholder 4">
            <a:extLst>
              <a:ext uri="{FF2B5EF4-FFF2-40B4-BE49-F238E27FC236}">
                <a16:creationId xmlns:a16="http://schemas.microsoft.com/office/drawing/2014/main" id="{6B73DA40-BE6D-4D18-A4EC-8B2F5E83898B}"/>
              </a:ext>
            </a:extLst>
          </p:cNvPr>
          <p:cNvSpPr>
            <a:spLocks noGrp="1"/>
          </p:cNvSpPr>
          <p:nvPr>
            <p:ph type="ftr" sz="quarter" idx="11"/>
          </p:nvPr>
        </p:nvSpPr>
        <p:spPr/>
        <p:txBody>
          <a:bodyPr/>
          <a:lstStyle/>
          <a:p>
            <a:pPr>
              <a:defRPr/>
            </a:pPr>
            <a:r>
              <a:rPr lang="en-US"/>
              <a:t>G.R. Labbé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fade">
                                      <p:cBhvr>
                                        <p:cTn id="7" dur="20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fade">
                                      <p:cBhvr>
                                        <p:cTn id="12" dur="2000"/>
                                        <p:tgtEl>
                                          <p:spTgt spid="245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Effect transition="in" filter="fade">
                                      <p:cBhvr>
                                        <p:cTn id="17" dur="2000"/>
                                        <p:tgtEl>
                                          <p:spTgt spid="245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572749" y="373025"/>
            <a:ext cx="8229600" cy="994916"/>
          </a:xfrm>
        </p:spPr>
        <p:txBody>
          <a:bodyPr>
            <a:noAutofit/>
          </a:bodyPr>
          <a:lstStyle/>
          <a:p>
            <a:r>
              <a:rPr lang="en-US" sz="3600" b="1" dirty="0">
                <a:latin typeface="+mn-lt"/>
                <a:cs typeface="Arial" panose="020B0604020202020204" pitchFamily="34" charset="0"/>
              </a:rPr>
              <a:t>Resolving Resource Decisions in</a:t>
            </a:r>
            <a:br>
              <a:rPr lang="en-US" sz="3600" b="1" dirty="0">
                <a:latin typeface="+mn-lt"/>
                <a:cs typeface="Arial" panose="020B0604020202020204" pitchFamily="34" charset="0"/>
              </a:rPr>
            </a:br>
            <a:r>
              <a:rPr lang="en-US" sz="3600" b="1" dirty="0">
                <a:latin typeface="+mn-lt"/>
                <a:cs typeface="Arial" panose="020B0604020202020204" pitchFamily="34" charset="0"/>
              </a:rPr>
              <a:t>Multi-project Environments</a:t>
            </a:r>
            <a:endParaRPr lang="en-US" sz="3600" b="1" dirty="0">
              <a:latin typeface="+mn-lt"/>
            </a:endParaRPr>
          </a:p>
        </p:txBody>
      </p:sp>
      <p:sp>
        <p:nvSpPr>
          <p:cNvPr id="25603" name="Rectangle 3"/>
          <p:cNvSpPr>
            <a:spLocks noGrp="1" noChangeArrowheads="1"/>
          </p:cNvSpPr>
          <p:nvPr>
            <p:ph idx="1"/>
          </p:nvPr>
        </p:nvSpPr>
        <p:spPr>
          <a:xfrm>
            <a:off x="437554" y="2204864"/>
            <a:ext cx="8229600" cy="3672408"/>
          </a:xfrm>
        </p:spPr>
        <p:txBody>
          <a:bodyPr>
            <a:normAutofit/>
          </a:bodyPr>
          <a:lstStyle/>
          <a:p>
            <a:pPr eaLnBrk="1" hangingPunct="1">
              <a:lnSpc>
                <a:spcPct val="80000"/>
              </a:lnSpc>
            </a:pPr>
            <a:r>
              <a:rPr lang="en-US" sz="2200" b="1" dirty="0"/>
              <a:t>Greatest Resource Utilization </a:t>
            </a:r>
            <a:r>
              <a:rPr lang="en-US" sz="2200" b="1" i="1" dirty="0"/>
              <a:t>(Most types of resources)</a:t>
            </a:r>
          </a:p>
          <a:p>
            <a:pPr eaLnBrk="1" hangingPunct="1">
              <a:lnSpc>
                <a:spcPct val="80000"/>
              </a:lnSpc>
            </a:pPr>
            <a:br>
              <a:rPr lang="en-US" sz="2200" i="1" dirty="0"/>
            </a:br>
            <a:r>
              <a:rPr lang="en-US" sz="2200" dirty="0"/>
              <a:t>Is a variation on the above rule. This rule schedules the project first that </a:t>
            </a:r>
            <a:r>
              <a:rPr lang="en-US" sz="2200" dirty="0">
                <a:solidFill>
                  <a:srgbClr val="7030A0"/>
                </a:solidFill>
              </a:rPr>
              <a:t>uses the most types of resources</a:t>
            </a:r>
            <a:r>
              <a:rPr lang="en-US" sz="2200" dirty="0"/>
              <a:t>. </a:t>
            </a:r>
          </a:p>
          <a:p>
            <a:pPr eaLnBrk="1" hangingPunct="1">
              <a:lnSpc>
                <a:spcPct val="80000"/>
              </a:lnSpc>
            </a:pPr>
            <a:r>
              <a:rPr lang="en-US" sz="2200" dirty="0"/>
              <a:t>E.g. a company wants to run two projects A and B across a resource pool made up of </a:t>
            </a:r>
            <a:r>
              <a:rPr lang="en-US" sz="2200" u="sng" dirty="0"/>
              <a:t>programmers</a:t>
            </a:r>
            <a:r>
              <a:rPr lang="en-US" sz="2200" dirty="0"/>
              <a:t>, </a:t>
            </a:r>
            <a:r>
              <a:rPr lang="en-US" sz="2200" u="sng" dirty="0"/>
              <a:t>system analysts </a:t>
            </a:r>
            <a:r>
              <a:rPr lang="en-US" sz="2200" dirty="0"/>
              <a:t>and </a:t>
            </a:r>
            <a:r>
              <a:rPr lang="en-US" sz="2200" u="sng" dirty="0"/>
              <a:t>networking staff.</a:t>
            </a:r>
            <a:r>
              <a:rPr lang="en-US" sz="2200" dirty="0"/>
              <a:t> Project A utilizes a lot of programmers. Project B utilizes all three resource types, but much less. </a:t>
            </a:r>
          </a:p>
          <a:p>
            <a:pPr eaLnBrk="1" hangingPunct="1">
              <a:lnSpc>
                <a:spcPct val="80000"/>
              </a:lnSpc>
            </a:pPr>
            <a:r>
              <a:rPr lang="en-US" sz="2200" dirty="0"/>
              <a:t>Using this rule, a company will prioritize project B above A in order to ensure that all resources are being utilized to the greatest extent.</a:t>
            </a:r>
          </a:p>
        </p:txBody>
      </p:sp>
      <p:sp>
        <p:nvSpPr>
          <p:cNvPr id="2560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32</a:t>
            </a:fld>
            <a:endParaRPr lang="en-US"/>
          </a:p>
        </p:txBody>
      </p:sp>
      <p:sp>
        <p:nvSpPr>
          <p:cNvPr id="3" name="Date Placeholder 2">
            <a:extLst>
              <a:ext uri="{FF2B5EF4-FFF2-40B4-BE49-F238E27FC236}">
                <a16:creationId xmlns:a16="http://schemas.microsoft.com/office/drawing/2014/main" id="{8737490C-45DB-49AD-A70C-CFCBE312FA8A}"/>
              </a:ext>
            </a:extLst>
          </p:cNvPr>
          <p:cNvSpPr>
            <a:spLocks noGrp="1"/>
          </p:cNvSpPr>
          <p:nvPr>
            <p:ph type="dt" sz="half" idx="10"/>
          </p:nvPr>
        </p:nvSpPr>
        <p:spPr/>
        <p:txBody>
          <a:bodyPr/>
          <a:lstStyle/>
          <a:p>
            <a:pPr>
              <a:defRPr/>
            </a:pPr>
            <a:r>
              <a:rPr lang="en-US"/>
              <a:t>Lecture 10</a:t>
            </a:r>
          </a:p>
        </p:txBody>
      </p:sp>
      <p:sp>
        <p:nvSpPr>
          <p:cNvPr id="5" name="Footer Placeholder 4">
            <a:extLst>
              <a:ext uri="{FF2B5EF4-FFF2-40B4-BE49-F238E27FC236}">
                <a16:creationId xmlns:a16="http://schemas.microsoft.com/office/drawing/2014/main" id="{CE10F21B-7638-4391-B687-60E1AFC7CD90}"/>
              </a:ext>
            </a:extLst>
          </p:cNvPr>
          <p:cNvSpPr>
            <a:spLocks noGrp="1"/>
          </p:cNvSpPr>
          <p:nvPr>
            <p:ph type="ftr" sz="quarter" idx="11"/>
          </p:nvPr>
        </p:nvSpPr>
        <p:spPr/>
        <p:txBody>
          <a:bodyPr/>
          <a:lstStyle/>
          <a:p>
            <a:pPr>
              <a:defRPr/>
            </a:pPr>
            <a:r>
              <a:rPr lang="en-US"/>
              <a:t>G.R. Labbé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fade">
                                      <p:cBhvr>
                                        <p:cTn id="7" dur="20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fade">
                                      <p:cBhvr>
                                        <p:cTn id="12" dur="2000"/>
                                        <p:tgtEl>
                                          <p:spTgt spid="25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fade">
                                      <p:cBhvr>
                                        <p:cTn id="17" dur="2000"/>
                                        <p:tgtEl>
                                          <p:spTgt spid="256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603">
                                            <p:txEl>
                                              <p:pRg st="3" end="3"/>
                                            </p:txEl>
                                          </p:spTgt>
                                        </p:tgtEl>
                                        <p:attrNameLst>
                                          <p:attrName>style.visibility</p:attrName>
                                        </p:attrNameLst>
                                      </p:cBhvr>
                                      <p:to>
                                        <p:strVal val="visible"/>
                                      </p:to>
                                    </p:set>
                                    <p:animEffect transition="in" filter="fade">
                                      <p:cBhvr>
                                        <p:cTn id="22" dur="2000"/>
                                        <p:tgtEl>
                                          <p:spTgt spid="256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59" y="404664"/>
            <a:ext cx="7543800" cy="1044665"/>
          </a:xfrm>
        </p:spPr>
        <p:txBody>
          <a:bodyPr>
            <a:normAutofit/>
          </a:bodyPr>
          <a:lstStyle/>
          <a:p>
            <a:r>
              <a:rPr lang="en-US" sz="3600" b="1" dirty="0">
                <a:latin typeface="+mn-lt"/>
                <a:cs typeface="Arial" panose="020B0604020202020204" pitchFamily="34" charset="0"/>
              </a:rPr>
              <a:t>Resolving Resource Decisions in</a:t>
            </a:r>
            <a:br>
              <a:rPr lang="en-US" sz="3600" b="1" dirty="0">
                <a:latin typeface="+mn-lt"/>
                <a:cs typeface="Arial" panose="020B0604020202020204" pitchFamily="34" charset="0"/>
              </a:rPr>
            </a:br>
            <a:r>
              <a:rPr lang="en-US" sz="3600" b="1" dirty="0">
                <a:latin typeface="+mn-lt"/>
                <a:cs typeface="Arial" panose="020B0604020202020204" pitchFamily="34" charset="0"/>
              </a:rPr>
              <a:t>Multi-project Environments</a:t>
            </a:r>
            <a:endParaRPr lang="en-US" sz="3600" b="1" dirty="0">
              <a:latin typeface="+mn-lt"/>
            </a:endParaRPr>
          </a:p>
        </p:txBody>
      </p:sp>
      <p:sp>
        <p:nvSpPr>
          <p:cNvPr id="3" name="Content Placeholder 2"/>
          <p:cNvSpPr>
            <a:spLocks noGrp="1"/>
          </p:cNvSpPr>
          <p:nvPr>
            <p:ph idx="1"/>
          </p:nvPr>
        </p:nvSpPr>
        <p:spPr>
          <a:xfrm>
            <a:off x="822958" y="2204864"/>
            <a:ext cx="7543801" cy="2519370"/>
          </a:xfrm>
        </p:spPr>
        <p:txBody>
          <a:bodyPr/>
          <a:lstStyle/>
          <a:p>
            <a:r>
              <a:rPr lang="en-US" b="1" dirty="0"/>
              <a:t>Minimum Late Finish Time (Earliest Finish First)</a:t>
            </a:r>
          </a:p>
          <a:p>
            <a:br>
              <a:rPr lang="en-US" b="1" dirty="0"/>
            </a:br>
            <a:r>
              <a:rPr lang="en-US" dirty="0"/>
              <a:t>This rule prioritizes projects based on </a:t>
            </a:r>
            <a:r>
              <a:rPr lang="en-US" dirty="0">
                <a:solidFill>
                  <a:srgbClr val="7030A0"/>
                </a:solidFill>
              </a:rPr>
              <a:t>finish dates</a:t>
            </a:r>
            <a:r>
              <a:rPr lang="en-US" dirty="0"/>
              <a:t>. The one with the </a:t>
            </a:r>
            <a:r>
              <a:rPr lang="en-US" dirty="0">
                <a:solidFill>
                  <a:srgbClr val="00B050"/>
                </a:solidFill>
              </a:rPr>
              <a:t>earliest late finish date </a:t>
            </a:r>
            <a:r>
              <a:rPr lang="en-US" dirty="0"/>
              <a:t>will be prioritized. </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5" name="Slide Number Placeholder 4"/>
          <p:cNvSpPr>
            <a:spLocks noGrp="1"/>
          </p:cNvSpPr>
          <p:nvPr>
            <p:ph type="sldNum" sz="quarter" idx="12"/>
          </p:nvPr>
        </p:nvSpPr>
        <p:spPr/>
        <p:txBody>
          <a:bodyPr/>
          <a:lstStyle/>
          <a:p>
            <a:pPr>
              <a:defRPr/>
            </a:pPr>
            <a:fld id="{1152812F-33DB-44F2-8D7A-55F34972C181}" type="slidenum">
              <a:rPr lang="en-US" smtClean="0"/>
              <a:pPr>
                <a:defRPr/>
              </a:pPr>
              <a:t>33</a:t>
            </a:fld>
            <a:endParaRPr lang="en-US"/>
          </a:p>
        </p:txBody>
      </p:sp>
      <p:sp>
        <p:nvSpPr>
          <p:cNvPr id="7" name="Date Placeholder 6">
            <a:extLst>
              <a:ext uri="{FF2B5EF4-FFF2-40B4-BE49-F238E27FC236}">
                <a16:creationId xmlns:a16="http://schemas.microsoft.com/office/drawing/2014/main" id="{84EA6729-BE98-4749-8720-B7FE4EB9305C}"/>
              </a:ext>
            </a:extLst>
          </p:cNvPr>
          <p:cNvSpPr>
            <a:spLocks noGrp="1"/>
          </p:cNvSpPr>
          <p:nvPr>
            <p:ph type="dt" sz="half" idx="10"/>
          </p:nvPr>
        </p:nvSpPr>
        <p:spPr/>
        <p:txBody>
          <a:bodyPr/>
          <a:lstStyle/>
          <a:p>
            <a:pPr>
              <a:defRPr/>
            </a:pPr>
            <a:r>
              <a:rPr lang="en-US"/>
              <a:t>Lecture 10</a:t>
            </a:r>
          </a:p>
        </p:txBody>
      </p:sp>
      <p:sp>
        <p:nvSpPr>
          <p:cNvPr id="8" name="Footer Placeholder 7">
            <a:extLst>
              <a:ext uri="{FF2B5EF4-FFF2-40B4-BE49-F238E27FC236}">
                <a16:creationId xmlns:a16="http://schemas.microsoft.com/office/drawing/2014/main" id="{D946B17D-7F63-4CBE-B4FD-1CD637B442A2}"/>
              </a:ext>
            </a:extLst>
          </p:cNvPr>
          <p:cNvSpPr>
            <a:spLocks noGrp="1"/>
          </p:cNvSpPr>
          <p:nvPr>
            <p:ph type="ftr" sz="quarter" idx="11"/>
          </p:nvPr>
        </p:nvSpPr>
        <p:spPr/>
        <p:txBody>
          <a:bodyPr/>
          <a:lstStyle/>
          <a:p>
            <a:pPr>
              <a:defRPr/>
            </a:pPr>
            <a:r>
              <a:rPr lang="en-US"/>
              <a:t>G.R. Labbé</a:t>
            </a:r>
          </a:p>
        </p:txBody>
      </p:sp>
    </p:spTree>
    <p:extLst>
      <p:ext uri="{BB962C8B-B14F-4D97-AF65-F5344CB8AC3E}">
        <p14:creationId xmlns:p14="http://schemas.microsoft.com/office/powerpoint/2010/main" val="2984054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822959" y="404664"/>
            <a:ext cx="7543800" cy="1081030"/>
          </a:xfrm>
        </p:spPr>
        <p:txBody>
          <a:bodyPr>
            <a:normAutofit/>
          </a:bodyPr>
          <a:lstStyle/>
          <a:p>
            <a:r>
              <a:rPr lang="en-US" sz="3600" b="1" dirty="0">
                <a:latin typeface="+mn-lt"/>
                <a:cs typeface="Arial" panose="020B0604020202020204" pitchFamily="34" charset="0"/>
              </a:rPr>
              <a:t>Resolving Resource Decisions in</a:t>
            </a:r>
            <a:br>
              <a:rPr lang="en-US" sz="3600" b="1" dirty="0">
                <a:latin typeface="+mn-lt"/>
                <a:cs typeface="Arial" panose="020B0604020202020204" pitchFamily="34" charset="0"/>
              </a:rPr>
            </a:br>
            <a:r>
              <a:rPr lang="en-US" sz="3600" b="1" dirty="0">
                <a:latin typeface="+mn-lt"/>
                <a:cs typeface="Arial" panose="020B0604020202020204" pitchFamily="34" charset="0"/>
              </a:rPr>
              <a:t>Multi-project Environments</a:t>
            </a:r>
          </a:p>
        </p:txBody>
      </p:sp>
      <p:sp>
        <p:nvSpPr>
          <p:cNvPr id="26627" name="Rectangle 3"/>
          <p:cNvSpPr>
            <a:spLocks noGrp="1" noChangeArrowheads="1"/>
          </p:cNvSpPr>
          <p:nvPr>
            <p:ph idx="1"/>
          </p:nvPr>
        </p:nvSpPr>
        <p:spPr/>
        <p:txBody>
          <a:bodyPr>
            <a:normAutofit fontScale="92500" lnSpcReduction="20000"/>
          </a:bodyPr>
          <a:lstStyle/>
          <a:p>
            <a:pPr marL="274638" indent="-274638" eaLnBrk="1" hangingPunct="1">
              <a:lnSpc>
                <a:spcPct val="90000"/>
              </a:lnSpc>
              <a:buFontTx/>
              <a:buNone/>
            </a:pPr>
            <a:r>
              <a:rPr lang="en-US" sz="2400" b="1" dirty="0"/>
              <a:t>Mathematical Programming</a:t>
            </a:r>
          </a:p>
          <a:p>
            <a:pPr marL="274638" indent="-274638" eaLnBrk="1" hangingPunct="1">
              <a:lnSpc>
                <a:spcPct val="90000"/>
              </a:lnSpc>
              <a:buFontTx/>
              <a:buNone/>
            </a:pPr>
            <a:br>
              <a:rPr lang="en-US" sz="2400" dirty="0"/>
            </a:br>
            <a:r>
              <a:rPr lang="en-US" sz="2400" dirty="0"/>
              <a:t>The common objectives these models seek to minimize are:</a:t>
            </a:r>
          </a:p>
          <a:p>
            <a:pPr marL="274638" indent="-274638" eaLnBrk="1" hangingPunct="1">
              <a:lnSpc>
                <a:spcPct val="90000"/>
              </a:lnSpc>
              <a:buClrTx/>
              <a:buFontTx/>
              <a:buAutoNum type="arabicPeriod"/>
            </a:pPr>
            <a:r>
              <a:rPr lang="en-US" sz="2400" b="1" dirty="0">
                <a:solidFill>
                  <a:srgbClr val="7030A0"/>
                </a:solidFill>
              </a:rPr>
              <a:t>Minimize</a:t>
            </a:r>
            <a:r>
              <a:rPr lang="en-US" sz="2400" b="1" dirty="0"/>
              <a:t> total development time for all projects;</a:t>
            </a:r>
          </a:p>
          <a:p>
            <a:pPr marL="274638" indent="-274638" eaLnBrk="1" hangingPunct="1">
              <a:lnSpc>
                <a:spcPct val="90000"/>
              </a:lnSpc>
              <a:buClrTx/>
              <a:buFontTx/>
              <a:buAutoNum type="arabicPeriod"/>
            </a:pPr>
            <a:r>
              <a:rPr lang="en-US" sz="2400" b="1" dirty="0">
                <a:solidFill>
                  <a:srgbClr val="7030A0"/>
                </a:solidFill>
              </a:rPr>
              <a:t>Minimize</a:t>
            </a:r>
            <a:r>
              <a:rPr lang="en-US" sz="2400" b="1" dirty="0"/>
              <a:t> resource utilization across all projects; and</a:t>
            </a:r>
          </a:p>
          <a:p>
            <a:pPr marL="274638" indent="-274638" eaLnBrk="1" hangingPunct="1">
              <a:lnSpc>
                <a:spcPct val="90000"/>
              </a:lnSpc>
              <a:buClrTx/>
              <a:buFontTx/>
              <a:buAutoNum type="arabicPeriod"/>
            </a:pPr>
            <a:r>
              <a:rPr lang="en-US" sz="2400" b="1" dirty="0">
                <a:solidFill>
                  <a:srgbClr val="7030A0"/>
                </a:solidFill>
              </a:rPr>
              <a:t>Minimize</a:t>
            </a:r>
            <a:r>
              <a:rPr lang="en-US" sz="2400" b="1" dirty="0"/>
              <a:t> total lateness across all projects.</a:t>
            </a:r>
          </a:p>
          <a:p>
            <a:pPr marL="274638" indent="-274638" eaLnBrk="1" hangingPunct="1">
              <a:lnSpc>
                <a:spcPct val="90000"/>
              </a:lnSpc>
              <a:buFontTx/>
              <a:buNone/>
            </a:pPr>
            <a:endParaRPr lang="en-US" sz="2400" b="1" dirty="0"/>
          </a:p>
          <a:p>
            <a:pPr marL="274638" indent="-274638" eaLnBrk="1" hangingPunct="1">
              <a:lnSpc>
                <a:spcPct val="90000"/>
              </a:lnSpc>
              <a:buFontTx/>
              <a:buNone/>
            </a:pPr>
            <a:r>
              <a:rPr lang="en-US" sz="2400" dirty="0"/>
              <a:t>While mathematical programming is a worthy approach to resolving the constrained resource problem, it tends to be limited due to the complexity of the problem, the large number of variables and the time necessary to generate a sufficiently small set of options.</a:t>
            </a:r>
          </a:p>
        </p:txBody>
      </p:sp>
      <p:sp>
        <p:nvSpPr>
          <p:cNvPr id="4" name="Oval 9"/>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34</a:t>
            </a:fld>
            <a:endParaRPr lang="en-US"/>
          </a:p>
        </p:txBody>
      </p:sp>
      <p:sp>
        <p:nvSpPr>
          <p:cNvPr id="5" name="Date Placeholder 4">
            <a:extLst>
              <a:ext uri="{FF2B5EF4-FFF2-40B4-BE49-F238E27FC236}">
                <a16:creationId xmlns:a16="http://schemas.microsoft.com/office/drawing/2014/main" id="{C5A9104A-8AF5-411B-B5C5-11CDEEC279B9}"/>
              </a:ext>
            </a:extLst>
          </p:cNvPr>
          <p:cNvSpPr>
            <a:spLocks noGrp="1"/>
          </p:cNvSpPr>
          <p:nvPr>
            <p:ph type="dt" sz="half" idx="10"/>
          </p:nvPr>
        </p:nvSpPr>
        <p:spPr/>
        <p:txBody>
          <a:bodyPr/>
          <a:lstStyle/>
          <a:p>
            <a:pPr>
              <a:defRPr/>
            </a:pPr>
            <a:r>
              <a:rPr lang="en-US"/>
              <a:t>Lecture 10</a:t>
            </a:r>
          </a:p>
        </p:txBody>
      </p:sp>
      <p:sp>
        <p:nvSpPr>
          <p:cNvPr id="6" name="Footer Placeholder 5">
            <a:extLst>
              <a:ext uri="{FF2B5EF4-FFF2-40B4-BE49-F238E27FC236}">
                <a16:creationId xmlns:a16="http://schemas.microsoft.com/office/drawing/2014/main" id="{5C4F4AA2-AB49-402A-97A5-44A0D6498211}"/>
              </a:ext>
            </a:extLst>
          </p:cNvPr>
          <p:cNvSpPr>
            <a:spLocks noGrp="1"/>
          </p:cNvSpPr>
          <p:nvPr>
            <p:ph type="ftr" sz="quarter" idx="11"/>
          </p:nvPr>
        </p:nvSpPr>
        <p:spPr/>
        <p:txBody>
          <a:bodyPr/>
          <a:lstStyle/>
          <a:p>
            <a:pPr>
              <a:defRPr/>
            </a:pPr>
            <a:r>
              <a:rPr lang="en-US"/>
              <a:t>G.R. Labbé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fade">
                                      <p:cBhvr>
                                        <p:cTn id="7" dur="20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fade">
                                      <p:cBhvr>
                                        <p:cTn id="12" dur="2000"/>
                                        <p:tgtEl>
                                          <p:spTgt spid="26627">
                                            <p:txEl>
                                              <p:pRg st="1" end="1"/>
                                            </p:txEl>
                                          </p:spTgt>
                                        </p:tgtEl>
                                      </p:cBhvr>
                                    </p:animEffect>
                                  </p:childTnLst>
                                </p:cTn>
                              </p:par>
                              <p:par>
                                <p:cTn id="13" presetID="42" presetClass="entr" presetSubtype="0" fill="hold" grpId="0" nodeType="withEffect">
                                  <p:stCondLst>
                                    <p:cond delay="0"/>
                                  </p:stCondLst>
                                  <p:childTnLst>
                                    <p:set>
                                      <p:cBhvr>
                                        <p:cTn id="14" dur="1" fill="hold">
                                          <p:stCondLst>
                                            <p:cond delay="0"/>
                                          </p:stCondLst>
                                        </p:cTn>
                                        <p:tgtEl>
                                          <p:spTgt spid="26627">
                                            <p:txEl>
                                              <p:pRg st="2" end="2"/>
                                            </p:txEl>
                                          </p:spTgt>
                                        </p:tgtEl>
                                        <p:attrNameLst>
                                          <p:attrName>style.visibility</p:attrName>
                                        </p:attrNameLst>
                                      </p:cBhvr>
                                      <p:to>
                                        <p:strVal val="visible"/>
                                      </p:to>
                                    </p:set>
                                    <p:animEffect transition="in" filter="fade">
                                      <p:cBhvr>
                                        <p:cTn id="15" dur="1000"/>
                                        <p:tgtEl>
                                          <p:spTgt spid="26627">
                                            <p:txEl>
                                              <p:pRg st="2" end="2"/>
                                            </p:txEl>
                                          </p:spTgt>
                                        </p:tgtEl>
                                      </p:cBhvr>
                                    </p:animEffect>
                                    <p:anim calcmode="lin" valueType="num">
                                      <p:cBhvr>
                                        <p:cTn id="16" dur="10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p:cTn id="17" dur="1000" fill="hold"/>
                                        <p:tgtEl>
                                          <p:spTgt spid="26627">
                                            <p:txEl>
                                              <p:pRg st="2" end="2"/>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26627">
                                            <p:txEl>
                                              <p:pRg st="3" end="3"/>
                                            </p:txEl>
                                          </p:spTgt>
                                        </p:tgtEl>
                                        <p:attrNameLst>
                                          <p:attrName>style.visibility</p:attrName>
                                        </p:attrNameLst>
                                      </p:cBhvr>
                                      <p:to>
                                        <p:strVal val="visible"/>
                                      </p:to>
                                    </p:set>
                                    <p:animEffect transition="in" filter="fade">
                                      <p:cBhvr>
                                        <p:cTn id="20" dur="1000"/>
                                        <p:tgtEl>
                                          <p:spTgt spid="26627">
                                            <p:txEl>
                                              <p:pRg st="3" end="3"/>
                                            </p:txEl>
                                          </p:spTgt>
                                        </p:tgtEl>
                                      </p:cBhvr>
                                    </p:animEffect>
                                    <p:anim calcmode="lin" valueType="num">
                                      <p:cBhvr>
                                        <p:cTn id="21" dur="10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p:cTn id="22" dur="1000" fill="hold"/>
                                        <p:tgtEl>
                                          <p:spTgt spid="26627">
                                            <p:txEl>
                                              <p:pRg st="3" end="3"/>
                                            </p:txEl>
                                          </p:spTgt>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26627">
                                            <p:txEl>
                                              <p:pRg st="4" end="4"/>
                                            </p:txEl>
                                          </p:spTgt>
                                        </p:tgtEl>
                                        <p:attrNameLst>
                                          <p:attrName>style.visibility</p:attrName>
                                        </p:attrNameLst>
                                      </p:cBhvr>
                                      <p:to>
                                        <p:strVal val="visible"/>
                                      </p:to>
                                    </p:set>
                                    <p:animEffect transition="in" filter="fade">
                                      <p:cBhvr>
                                        <p:cTn id="25" dur="1000"/>
                                        <p:tgtEl>
                                          <p:spTgt spid="26627">
                                            <p:txEl>
                                              <p:pRg st="4" end="4"/>
                                            </p:txEl>
                                          </p:spTgt>
                                        </p:tgtEl>
                                      </p:cBhvr>
                                    </p:animEffect>
                                    <p:anim calcmode="lin" valueType="num">
                                      <p:cBhvr>
                                        <p:cTn id="26" dur="1000" fill="hold"/>
                                        <p:tgtEl>
                                          <p:spTgt spid="26627">
                                            <p:txEl>
                                              <p:pRg st="4" end="4"/>
                                            </p:txEl>
                                          </p:spTgt>
                                        </p:tgtEl>
                                        <p:attrNameLst>
                                          <p:attrName>ppt_x</p:attrName>
                                        </p:attrNameLst>
                                      </p:cBhvr>
                                      <p:tavLst>
                                        <p:tav tm="0">
                                          <p:val>
                                            <p:strVal val="#ppt_x"/>
                                          </p:val>
                                        </p:tav>
                                        <p:tav tm="100000">
                                          <p:val>
                                            <p:strVal val="#ppt_x"/>
                                          </p:val>
                                        </p:tav>
                                      </p:tavLst>
                                    </p:anim>
                                    <p:anim calcmode="lin" valueType="num">
                                      <p:cBhvr>
                                        <p:cTn id="27" dur="1000" fill="hold"/>
                                        <p:tgtEl>
                                          <p:spTgt spid="26627">
                                            <p:txEl>
                                              <p:pRg st="4" end="4"/>
                                            </p:txEl>
                                          </p:spTgt>
                                        </p:tgtEl>
                                        <p:attrNameLst>
                                          <p:attrName>ppt_y</p:attrName>
                                        </p:attrNameLst>
                                      </p:cBhvr>
                                      <p:tavLst>
                                        <p:tav tm="0">
                                          <p:val>
                                            <p:strVal val="#ppt_y+.1"/>
                                          </p:val>
                                        </p:tav>
                                        <p:tav tm="100000">
                                          <p:val>
                                            <p:strVal val="#ppt_y"/>
                                          </p:val>
                                        </p:tav>
                                      </p:tavLst>
                                    </p:anim>
                                  </p:childTnLst>
                                </p:cTn>
                              </p:par>
                              <p:par>
                                <p:cTn id="28" presetID="10" presetClass="entr" presetSubtype="0" fill="hold" grpId="0" nodeType="withEffect">
                                  <p:stCondLst>
                                    <p:cond delay="0"/>
                                  </p:stCondLst>
                                  <p:childTnLst>
                                    <p:set>
                                      <p:cBhvr>
                                        <p:cTn id="29" dur="1" fill="hold">
                                          <p:stCondLst>
                                            <p:cond delay="0"/>
                                          </p:stCondLst>
                                        </p:cTn>
                                        <p:tgtEl>
                                          <p:spTgt spid="26627">
                                            <p:txEl>
                                              <p:pRg st="6" end="6"/>
                                            </p:txEl>
                                          </p:spTgt>
                                        </p:tgtEl>
                                        <p:attrNameLst>
                                          <p:attrName>style.visibility</p:attrName>
                                        </p:attrNameLst>
                                      </p:cBhvr>
                                      <p:to>
                                        <p:strVal val="visible"/>
                                      </p:to>
                                    </p:set>
                                    <p:animEffect transition="in" filter="fade">
                                      <p:cBhvr>
                                        <p:cTn id="30" dur="2000"/>
                                        <p:tgtEl>
                                          <p:spTgt spid="266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allAtOnce"/>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22959" y="404664"/>
            <a:ext cx="7543800" cy="612617"/>
          </a:xfrm>
        </p:spPr>
        <p:txBody>
          <a:bodyPr>
            <a:normAutofit/>
          </a:bodyPr>
          <a:lstStyle/>
          <a:p>
            <a:pPr eaLnBrk="1" hangingPunct="1"/>
            <a:r>
              <a:rPr lang="en-US" sz="3600" b="1" dirty="0">
                <a:latin typeface="+mn-lt"/>
                <a:cs typeface="Arial" panose="020B0604020202020204" pitchFamily="34" charset="0"/>
              </a:rPr>
              <a:t>Summary</a:t>
            </a:r>
          </a:p>
        </p:txBody>
      </p:sp>
      <p:sp>
        <p:nvSpPr>
          <p:cNvPr id="27651" name="Rectangle 3"/>
          <p:cNvSpPr>
            <a:spLocks noGrp="1" noChangeArrowheads="1"/>
          </p:cNvSpPr>
          <p:nvPr>
            <p:ph idx="1"/>
          </p:nvPr>
        </p:nvSpPr>
        <p:spPr>
          <a:xfrm>
            <a:off x="865562" y="1845734"/>
            <a:ext cx="7543801" cy="4023360"/>
          </a:xfrm>
        </p:spPr>
        <p:txBody>
          <a:bodyPr>
            <a:normAutofit fontScale="92500" lnSpcReduction="10000"/>
          </a:bodyPr>
          <a:lstStyle/>
          <a:p>
            <a:pPr marL="92075" indent="-92075" eaLnBrk="1" hangingPunct="1">
              <a:lnSpc>
                <a:spcPct val="90000"/>
              </a:lnSpc>
              <a:buFontTx/>
              <a:buNone/>
            </a:pPr>
            <a:r>
              <a:rPr lang="en-US" sz="2400" dirty="0">
                <a:solidFill>
                  <a:srgbClr val="7030A0"/>
                </a:solidFill>
              </a:rPr>
              <a:t>Resource management </a:t>
            </a:r>
            <a:r>
              <a:rPr lang="en-US" sz="2400" dirty="0"/>
              <a:t>in projects is a problem that is frequently overlooked by novice project managers or in firms that have not devoted enough time to understanding the full nature of the project management challenge they face.</a:t>
            </a:r>
          </a:p>
          <a:p>
            <a:pPr marL="92075" indent="-92075" eaLnBrk="1" hangingPunct="1">
              <a:lnSpc>
                <a:spcPct val="90000"/>
              </a:lnSpc>
              <a:buFontTx/>
              <a:buNone/>
            </a:pPr>
            <a:r>
              <a:rPr lang="en-US" sz="2400" dirty="0"/>
              <a:t>As noted, it is common to develop project plans and schedules under the assumption of unlimited resources as if the organization can always find the trained personnel and other resources necessary to support project activities. This practice inevitably leads to schedule slippages and extra costs as the reality of resource availability overshadows the optimism of initial scheduling.</a:t>
            </a:r>
          </a:p>
          <a:p>
            <a:pPr marL="92075" indent="-92075" eaLnBrk="1" hangingPunct="1">
              <a:lnSpc>
                <a:spcPct val="90000"/>
              </a:lnSpc>
              <a:buFontTx/>
              <a:buNone/>
            </a:pPr>
            <a:r>
              <a:rPr lang="en-US" sz="2400" dirty="0"/>
              <a:t>Use </a:t>
            </a:r>
            <a:r>
              <a:rPr lang="en-US" sz="2400" dirty="0">
                <a:solidFill>
                  <a:srgbClr val="00B050"/>
                </a:solidFill>
              </a:rPr>
              <a:t>Resource Management </a:t>
            </a:r>
            <a:r>
              <a:rPr lang="en-US" sz="2400" dirty="0"/>
              <a:t>to avoid these downfalls.</a:t>
            </a:r>
          </a:p>
        </p:txBody>
      </p:sp>
      <p:sp>
        <p:nvSpPr>
          <p:cNvPr id="27652"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1152812F-33DB-44F2-8D7A-55F34972C181}" type="slidenum">
              <a:rPr lang="en-US" smtClean="0"/>
              <a:pPr>
                <a:defRPr/>
              </a:pPr>
              <a:t>35</a:t>
            </a:fld>
            <a:endParaRPr lang="en-US"/>
          </a:p>
        </p:txBody>
      </p:sp>
      <p:sp>
        <p:nvSpPr>
          <p:cNvPr id="4" name="Date Placeholder 3">
            <a:extLst>
              <a:ext uri="{FF2B5EF4-FFF2-40B4-BE49-F238E27FC236}">
                <a16:creationId xmlns:a16="http://schemas.microsoft.com/office/drawing/2014/main" id="{D84D5397-F846-486A-82CF-FC4F2B658441}"/>
              </a:ext>
            </a:extLst>
          </p:cNvPr>
          <p:cNvSpPr>
            <a:spLocks noGrp="1"/>
          </p:cNvSpPr>
          <p:nvPr>
            <p:ph type="dt" sz="half" idx="10"/>
          </p:nvPr>
        </p:nvSpPr>
        <p:spPr/>
        <p:txBody>
          <a:bodyPr/>
          <a:lstStyle/>
          <a:p>
            <a:pPr>
              <a:defRPr/>
            </a:pPr>
            <a:r>
              <a:rPr lang="en-US"/>
              <a:t>Lecture 10</a:t>
            </a:r>
          </a:p>
        </p:txBody>
      </p:sp>
      <p:sp>
        <p:nvSpPr>
          <p:cNvPr id="5" name="Footer Placeholder 4">
            <a:extLst>
              <a:ext uri="{FF2B5EF4-FFF2-40B4-BE49-F238E27FC236}">
                <a16:creationId xmlns:a16="http://schemas.microsoft.com/office/drawing/2014/main" id="{EF1CB352-63F9-4B68-A800-D54FFD1E614C}"/>
              </a:ext>
            </a:extLst>
          </p:cNvPr>
          <p:cNvSpPr>
            <a:spLocks noGrp="1"/>
          </p:cNvSpPr>
          <p:nvPr>
            <p:ph type="ftr" sz="quarter" idx="11"/>
          </p:nvPr>
        </p:nvSpPr>
        <p:spPr/>
        <p:txBody>
          <a:bodyPr/>
          <a:lstStyle/>
          <a:p>
            <a:pPr>
              <a:defRPr/>
            </a:pPr>
            <a:r>
              <a:rPr lang="en-US"/>
              <a:t>G.R. Labbé</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D8BA6-6211-4EFA-900D-96227CEA1F39}"/>
              </a:ext>
            </a:extLst>
          </p:cNvPr>
          <p:cNvSpPr>
            <a:spLocks noGrp="1"/>
          </p:cNvSpPr>
          <p:nvPr>
            <p:ph type="title"/>
          </p:nvPr>
        </p:nvSpPr>
        <p:spPr/>
        <p:txBody>
          <a:bodyPr/>
          <a:lstStyle/>
          <a:p>
            <a:r>
              <a:rPr lang="en-US" sz="3600" b="1" dirty="0">
                <a:latin typeface="+mn-lt"/>
              </a:rPr>
              <a:t>Discussion Questions</a:t>
            </a:r>
            <a:br>
              <a:rPr lang="en-US" sz="4800" dirty="0">
                <a:latin typeface="+mn-lt"/>
              </a:rPr>
            </a:br>
            <a:endParaRPr lang="en-CA" dirty="0"/>
          </a:p>
        </p:txBody>
      </p:sp>
      <p:sp>
        <p:nvSpPr>
          <p:cNvPr id="3" name="Content Placeholder 2">
            <a:extLst>
              <a:ext uri="{FF2B5EF4-FFF2-40B4-BE49-F238E27FC236}">
                <a16:creationId xmlns:a16="http://schemas.microsoft.com/office/drawing/2014/main" id="{B684B098-D171-42E4-B096-3A63F289E65C}"/>
              </a:ext>
            </a:extLst>
          </p:cNvPr>
          <p:cNvSpPr>
            <a:spLocks noGrp="1"/>
          </p:cNvSpPr>
          <p:nvPr>
            <p:ph idx="1"/>
          </p:nvPr>
        </p:nvSpPr>
        <p:spPr>
          <a:xfrm>
            <a:off x="683568" y="1988840"/>
            <a:ext cx="7543801" cy="4023360"/>
          </a:xfrm>
        </p:spPr>
        <p:txBody>
          <a:bodyPr>
            <a:normAutofit fontScale="92500" lnSpcReduction="10000"/>
          </a:bodyPr>
          <a:lstStyle/>
          <a:p>
            <a:pPr marL="609600" indent="-609600" eaLnBrk="1" hangingPunct="1">
              <a:lnSpc>
                <a:spcPct val="90000"/>
              </a:lnSpc>
              <a:buClr>
                <a:schemeClr val="tx1"/>
              </a:buClr>
              <a:buFontTx/>
              <a:buAutoNum type="arabicPeriod"/>
            </a:pPr>
            <a:r>
              <a:rPr lang="en-US" dirty="0"/>
              <a:t>It has been argued that a project schedule which has </a:t>
            </a:r>
            <a:r>
              <a:rPr lang="en-US" b="1" dirty="0"/>
              <a:t>not been resource leveled </a:t>
            </a:r>
            <a:r>
              <a:rPr lang="en-US" dirty="0"/>
              <a:t>is useless. Do you agree or disagree with this statement? Why or why not? </a:t>
            </a:r>
          </a:p>
          <a:p>
            <a:pPr marL="609600" indent="-609600" eaLnBrk="1" hangingPunct="1">
              <a:lnSpc>
                <a:spcPct val="80000"/>
              </a:lnSpc>
              <a:buClr>
                <a:schemeClr val="tx1"/>
              </a:buClr>
              <a:buFontTx/>
              <a:buAutoNum type="arabicPeriod"/>
            </a:pPr>
            <a:r>
              <a:rPr lang="en-US" dirty="0"/>
              <a:t>How does resource smoothing affect multi-project scheduling?</a:t>
            </a:r>
          </a:p>
          <a:p>
            <a:pPr marL="609600" indent="-609600">
              <a:lnSpc>
                <a:spcPct val="80000"/>
              </a:lnSpc>
              <a:buClr>
                <a:schemeClr val="tx1"/>
              </a:buClr>
              <a:buFont typeface="+mj-lt"/>
              <a:buAutoNum type="arabicPeriod" startAt="3"/>
            </a:pPr>
            <a:r>
              <a:rPr lang="en-US" dirty="0"/>
              <a:t>Multi-tasking can have an important negative impact on your ability to resource level a project. When your team members are involved in multiple additional commitments, we must be careful not to assign their time too optimistically. In fact, it has been said: “</a:t>
            </a:r>
            <a:r>
              <a:rPr lang="en-US" b="1" dirty="0"/>
              <a:t>Remember, 40 hours is not the same as one week’s work</a:t>
            </a:r>
            <a:r>
              <a:rPr lang="en-US" dirty="0"/>
              <a:t>.” Comment on this idea. How does multi-tasking make it difficult to accurately resource level a project? </a:t>
            </a:r>
          </a:p>
          <a:p>
            <a:pPr marL="609600" indent="-609600">
              <a:lnSpc>
                <a:spcPct val="80000"/>
              </a:lnSpc>
              <a:buClr>
                <a:schemeClr val="tx1"/>
              </a:buClr>
              <a:buFontTx/>
              <a:buAutoNum type="arabicPeriod" startAt="3"/>
            </a:pPr>
            <a:r>
              <a:rPr lang="en-US" dirty="0"/>
              <a:t>Why is resource management significantly </a:t>
            </a:r>
            <a:r>
              <a:rPr lang="en-US" b="1" dirty="0"/>
              <a:t>more difficult </a:t>
            </a:r>
            <a:r>
              <a:rPr lang="en-US" dirty="0"/>
              <a:t>in a multi-project environment? What are some rules of thumb to help project managers better control resources across several simultaneous projects?</a:t>
            </a:r>
            <a:endParaRPr lang="en-CA" dirty="0"/>
          </a:p>
          <a:p>
            <a:pPr marL="609600" indent="-609600" eaLnBrk="1" hangingPunct="1">
              <a:lnSpc>
                <a:spcPct val="80000"/>
              </a:lnSpc>
              <a:buClr>
                <a:schemeClr val="tx1"/>
              </a:buClr>
              <a:buFontTx/>
              <a:buAutoNum type="arabicPeriod"/>
            </a:pPr>
            <a:endParaRPr lang="en-CA" dirty="0"/>
          </a:p>
        </p:txBody>
      </p:sp>
      <p:sp>
        <p:nvSpPr>
          <p:cNvPr id="4" name="Slide Number Placeholder 3">
            <a:extLst>
              <a:ext uri="{FF2B5EF4-FFF2-40B4-BE49-F238E27FC236}">
                <a16:creationId xmlns:a16="http://schemas.microsoft.com/office/drawing/2014/main" id="{2350B177-FD44-4312-8F48-D497EBB7BE56}"/>
              </a:ext>
            </a:extLst>
          </p:cNvPr>
          <p:cNvSpPr>
            <a:spLocks noGrp="1"/>
          </p:cNvSpPr>
          <p:nvPr>
            <p:ph type="sldNum" sz="quarter" idx="12"/>
          </p:nvPr>
        </p:nvSpPr>
        <p:spPr/>
        <p:txBody>
          <a:bodyPr/>
          <a:lstStyle/>
          <a:p>
            <a:pPr>
              <a:defRPr/>
            </a:pPr>
            <a:fld id="{1152812F-33DB-44F2-8D7A-55F34972C181}" type="slidenum">
              <a:rPr lang="en-US" smtClean="0"/>
              <a:pPr>
                <a:defRPr/>
              </a:pPr>
              <a:t>36</a:t>
            </a:fld>
            <a:endParaRPr lang="en-US"/>
          </a:p>
        </p:txBody>
      </p:sp>
      <p:sp>
        <p:nvSpPr>
          <p:cNvPr id="6" name="TextBox 5">
            <a:extLst>
              <a:ext uri="{FF2B5EF4-FFF2-40B4-BE49-F238E27FC236}">
                <a16:creationId xmlns:a16="http://schemas.microsoft.com/office/drawing/2014/main" id="{D0D9A0D4-A8AF-43E2-9B32-E1F68C920812}"/>
              </a:ext>
            </a:extLst>
          </p:cNvPr>
          <p:cNvSpPr txBox="1"/>
          <p:nvPr/>
        </p:nvSpPr>
        <p:spPr>
          <a:xfrm>
            <a:off x="822960" y="6503848"/>
            <a:ext cx="4572000" cy="276999"/>
          </a:xfrm>
          <a:prstGeom prst="rect">
            <a:avLst/>
          </a:prstGeom>
          <a:noFill/>
        </p:spPr>
        <p:txBody>
          <a:bodyPr wrap="square">
            <a:spAutoFit/>
          </a:bodyPr>
          <a:lstStyle/>
          <a:p>
            <a:pPr lvl="0"/>
            <a:r>
              <a:rPr lang="en-US" sz="1200" dirty="0">
                <a:solidFill>
                  <a:prstClr val="black"/>
                </a:solidFill>
                <a:latin typeface="Calibri"/>
                <a:cs typeface="Arial" panose="020B0604020202020204" pitchFamily="34" charset="0"/>
              </a:rPr>
              <a:t>G. Labbé and R. Schott</a:t>
            </a:r>
            <a:endParaRPr lang="en-US" sz="1200" dirty="0">
              <a:solidFill>
                <a:prstClr val="black"/>
              </a:solidFill>
              <a:latin typeface="Calibri"/>
            </a:endParaRPr>
          </a:p>
        </p:txBody>
      </p:sp>
    </p:spTree>
    <p:extLst>
      <p:ext uri="{BB962C8B-B14F-4D97-AF65-F5344CB8AC3E}">
        <p14:creationId xmlns:p14="http://schemas.microsoft.com/office/powerpoint/2010/main" val="21725841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CB9CF-B762-4832-BDBF-35808AFFD852}"/>
              </a:ext>
            </a:extLst>
          </p:cNvPr>
          <p:cNvSpPr>
            <a:spLocks noGrp="1"/>
          </p:cNvSpPr>
          <p:nvPr>
            <p:ph type="title"/>
          </p:nvPr>
        </p:nvSpPr>
        <p:spPr/>
        <p:txBody>
          <a:bodyPr/>
          <a:lstStyle/>
          <a:p>
            <a:r>
              <a:rPr lang="en-US" sz="3600" b="1" dirty="0">
                <a:latin typeface="+mn-lt"/>
              </a:rPr>
              <a:t>Discussion Questions</a:t>
            </a:r>
            <a:br>
              <a:rPr lang="en-US" sz="4800" dirty="0">
                <a:latin typeface="+mn-lt"/>
              </a:rPr>
            </a:br>
            <a:endParaRPr lang="en-CA" dirty="0"/>
          </a:p>
        </p:txBody>
      </p:sp>
      <p:sp>
        <p:nvSpPr>
          <p:cNvPr id="3" name="Content Placeholder 2">
            <a:extLst>
              <a:ext uri="{FF2B5EF4-FFF2-40B4-BE49-F238E27FC236}">
                <a16:creationId xmlns:a16="http://schemas.microsoft.com/office/drawing/2014/main" id="{EA62451D-2AD2-4214-9D0B-633771CC2B66}"/>
              </a:ext>
            </a:extLst>
          </p:cNvPr>
          <p:cNvSpPr>
            <a:spLocks noGrp="1"/>
          </p:cNvSpPr>
          <p:nvPr>
            <p:ph idx="1"/>
          </p:nvPr>
        </p:nvSpPr>
        <p:spPr/>
        <p:txBody>
          <a:bodyPr>
            <a:normAutofit fontScale="92500" lnSpcReduction="10000"/>
          </a:bodyPr>
          <a:lstStyle/>
          <a:p>
            <a:pPr marL="609600" indent="-609600" eaLnBrk="1" hangingPunct="1">
              <a:lnSpc>
                <a:spcPct val="90000"/>
              </a:lnSpc>
              <a:buClr>
                <a:schemeClr val="tx1"/>
              </a:buClr>
              <a:buFont typeface="+mj-lt"/>
              <a:buAutoNum type="arabicPeriod" startAt="5"/>
            </a:pPr>
            <a:r>
              <a:rPr lang="en-US" dirty="0"/>
              <a:t>Consider a project to build a </a:t>
            </a:r>
            <a:r>
              <a:rPr lang="en-US" b="1" dirty="0"/>
              <a:t>bridge</a:t>
            </a:r>
            <a:r>
              <a:rPr lang="en-US" dirty="0"/>
              <a:t> over a river gorge.  What are some of the </a:t>
            </a:r>
            <a:r>
              <a:rPr lang="en-US" b="1" dirty="0"/>
              <a:t>resource constraints </a:t>
            </a:r>
            <a:r>
              <a:rPr lang="en-US" dirty="0"/>
              <a:t>that would make this project challenging?</a:t>
            </a:r>
          </a:p>
          <a:p>
            <a:pPr marL="609600" indent="-609600">
              <a:buClr>
                <a:schemeClr val="tx1"/>
              </a:buClr>
              <a:buFont typeface="+mj-lt"/>
              <a:buAutoNum type="arabicPeriod" startAt="6"/>
            </a:pPr>
            <a:r>
              <a:rPr lang="en-US" dirty="0"/>
              <a:t>Discuss the nature of “</a:t>
            </a:r>
            <a:r>
              <a:rPr lang="en-US" b="1" dirty="0"/>
              <a:t>time/cost tradeoffs</a:t>
            </a:r>
            <a:r>
              <a:rPr lang="en-US" dirty="0"/>
              <a:t>” on projects.  What does this concept imply for our project management practices? </a:t>
            </a:r>
          </a:p>
          <a:p>
            <a:pPr marL="609600" indent="-609600">
              <a:buClr>
                <a:schemeClr val="tx1"/>
              </a:buClr>
              <a:buFontTx/>
              <a:buAutoNum type="arabicPeriod" startAt="6"/>
            </a:pPr>
            <a:r>
              <a:rPr lang="en-US" dirty="0"/>
              <a:t>When resource leveling a project, there are several </a:t>
            </a:r>
            <a:r>
              <a:rPr lang="en-US" b="1" dirty="0"/>
              <a:t>heuristics</a:t>
            </a:r>
            <a:r>
              <a:rPr lang="en-US" dirty="0"/>
              <a:t> that can help us prioritize those activities that receive resources first.  Explain how each of the heuristics works and give an example.</a:t>
            </a:r>
          </a:p>
          <a:p>
            <a:pPr marL="609600" indent="-609600">
              <a:buClr>
                <a:schemeClr val="tx1"/>
              </a:buClr>
              <a:buFont typeface="+mj-lt"/>
              <a:buAutoNum type="arabicPeriod" startAt="8"/>
            </a:pPr>
            <a:r>
              <a:rPr lang="en-US" dirty="0"/>
              <a:t>For many projects, the key resources to be managed are the </a:t>
            </a:r>
            <a:r>
              <a:rPr lang="en-US" b="1" dirty="0"/>
              <a:t>project team personnel</a:t>
            </a:r>
            <a:r>
              <a:rPr lang="en-US" dirty="0"/>
              <a:t>.  Explain in what sense and how project team personnel are often the project critical resource.</a:t>
            </a:r>
          </a:p>
          <a:p>
            <a:pPr marL="609600" indent="-609600">
              <a:buClr>
                <a:schemeClr val="tx1"/>
              </a:buClr>
              <a:buFont typeface="+mj-lt"/>
              <a:buAutoNum type="arabicPeriod" startAt="8"/>
            </a:pPr>
            <a:r>
              <a:rPr lang="en-US" dirty="0"/>
              <a:t>What is the </a:t>
            </a:r>
            <a:r>
              <a:rPr lang="en-US" b="1" dirty="0"/>
              <a:t>philosophy</a:t>
            </a:r>
            <a:r>
              <a:rPr lang="en-US" dirty="0"/>
              <a:t> underlying resource loading?  What does it do for our project?  Why is it a critical element in effectively managing the project plan? </a:t>
            </a:r>
          </a:p>
          <a:p>
            <a:pPr marL="609600" indent="-609600">
              <a:buClr>
                <a:schemeClr val="tx1"/>
              </a:buClr>
              <a:buFontTx/>
              <a:buAutoNum type="arabicPeriod" startAt="6"/>
            </a:pPr>
            <a:endParaRPr lang="en-US" dirty="0"/>
          </a:p>
          <a:p>
            <a:pPr marL="609600" indent="-609600" eaLnBrk="1" hangingPunct="1">
              <a:lnSpc>
                <a:spcPct val="90000"/>
              </a:lnSpc>
              <a:buClr>
                <a:schemeClr val="tx1"/>
              </a:buClr>
              <a:buFont typeface="+mj-lt"/>
              <a:buAutoNum type="arabicPeriod" startAt="5"/>
            </a:pPr>
            <a:endParaRPr lang="en-CA" dirty="0"/>
          </a:p>
        </p:txBody>
      </p:sp>
      <p:sp>
        <p:nvSpPr>
          <p:cNvPr id="4" name="Slide Number Placeholder 3">
            <a:extLst>
              <a:ext uri="{FF2B5EF4-FFF2-40B4-BE49-F238E27FC236}">
                <a16:creationId xmlns:a16="http://schemas.microsoft.com/office/drawing/2014/main" id="{9A283A66-E38F-4A89-839D-72146A39B740}"/>
              </a:ext>
            </a:extLst>
          </p:cNvPr>
          <p:cNvSpPr>
            <a:spLocks noGrp="1"/>
          </p:cNvSpPr>
          <p:nvPr>
            <p:ph type="sldNum" sz="quarter" idx="12"/>
          </p:nvPr>
        </p:nvSpPr>
        <p:spPr/>
        <p:txBody>
          <a:bodyPr/>
          <a:lstStyle/>
          <a:p>
            <a:pPr>
              <a:defRPr/>
            </a:pPr>
            <a:fld id="{1152812F-33DB-44F2-8D7A-55F34972C181}" type="slidenum">
              <a:rPr lang="en-US" smtClean="0"/>
              <a:pPr>
                <a:defRPr/>
              </a:pPr>
              <a:t>37</a:t>
            </a:fld>
            <a:endParaRPr lang="en-US"/>
          </a:p>
        </p:txBody>
      </p:sp>
      <p:sp>
        <p:nvSpPr>
          <p:cNvPr id="6" name="TextBox 5">
            <a:extLst>
              <a:ext uri="{FF2B5EF4-FFF2-40B4-BE49-F238E27FC236}">
                <a16:creationId xmlns:a16="http://schemas.microsoft.com/office/drawing/2014/main" id="{D4E5C57F-CD1E-4591-8991-3EE6E7D84AE8}"/>
              </a:ext>
            </a:extLst>
          </p:cNvPr>
          <p:cNvSpPr txBox="1"/>
          <p:nvPr/>
        </p:nvSpPr>
        <p:spPr>
          <a:xfrm>
            <a:off x="822960" y="6503848"/>
            <a:ext cx="4572000" cy="276999"/>
          </a:xfrm>
          <a:prstGeom prst="rect">
            <a:avLst/>
          </a:prstGeom>
          <a:noFill/>
        </p:spPr>
        <p:txBody>
          <a:bodyPr wrap="square">
            <a:spAutoFit/>
          </a:bodyPr>
          <a:lstStyle/>
          <a:p>
            <a:pPr lvl="0"/>
            <a:r>
              <a:rPr lang="en-US" sz="1200" dirty="0">
                <a:solidFill>
                  <a:prstClr val="black"/>
                </a:solidFill>
                <a:latin typeface="Calibri"/>
                <a:cs typeface="Arial" panose="020B0604020202020204" pitchFamily="34" charset="0"/>
              </a:rPr>
              <a:t>G. Labbé and R. Schott</a:t>
            </a:r>
            <a:endParaRPr lang="en-US" sz="1200" dirty="0">
              <a:solidFill>
                <a:prstClr val="black"/>
              </a:solidFill>
              <a:latin typeface="Calibri"/>
            </a:endParaRPr>
          </a:p>
        </p:txBody>
      </p:sp>
    </p:spTree>
    <p:extLst>
      <p:ext uri="{BB962C8B-B14F-4D97-AF65-F5344CB8AC3E}">
        <p14:creationId xmlns:p14="http://schemas.microsoft.com/office/powerpoint/2010/main" val="3265240872"/>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3164</TotalTime>
  <Words>2973</Words>
  <Application>Microsoft Office PowerPoint</Application>
  <PresentationFormat>On-screen Show (4:3)</PresentationFormat>
  <Paragraphs>576</Paragraphs>
  <Slides>37</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4" baseType="lpstr">
      <vt:lpstr>Arial</vt:lpstr>
      <vt:lpstr>Calibri</vt:lpstr>
      <vt:lpstr>Calibri Light</vt:lpstr>
      <vt:lpstr>Times New Roman</vt:lpstr>
      <vt:lpstr>Wingdings</vt:lpstr>
      <vt:lpstr>Retrospect</vt:lpstr>
      <vt:lpstr>Project</vt:lpstr>
      <vt:lpstr>PowerPoint Presentation</vt:lpstr>
      <vt:lpstr>PowerPoint Presentation</vt:lpstr>
      <vt:lpstr>Constraints on Projects</vt:lpstr>
      <vt:lpstr>Resource Leveling</vt:lpstr>
      <vt:lpstr>Resource Leveling</vt:lpstr>
      <vt:lpstr>Resource Loading Chart demonstrating Over-Allocation</vt:lpstr>
      <vt:lpstr>Resource Loading Chart demonstrating Over-Allocation</vt:lpstr>
      <vt:lpstr>Rules of Thumb when solving Resource Leveling problems</vt:lpstr>
      <vt:lpstr>PowerPoint Presentation</vt:lpstr>
      <vt:lpstr>Resource Loading Chart</vt:lpstr>
      <vt:lpstr>PowerPoint Presentation</vt:lpstr>
      <vt:lpstr>PowerPoint Presentation</vt:lpstr>
      <vt:lpstr>PowerPoint Presentation</vt:lpstr>
      <vt:lpstr>PowerPoint Presentation</vt:lpstr>
      <vt:lpstr>Resource Loading Charts</vt:lpstr>
      <vt:lpstr>PowerPoint Presentation</vt:lpstr>
      <vt:lpstr>PowerPoint Presentation</vt:lpstr>
      <vt:lpstr>Resource Loading Charts</vt:lpstr>
      <vt:lpstr>PowerPoint Presentation</vt:lpstr>
      <vt:lpstr>Splitting a task</vt:lpstr>
      <vt:lpstr>Resource Leveling Example</vt:lpstr>
      <vt:lpstr>PowerPoint Presentation</vt:lpstr>
      <vt:lpstr>Resource Smoothing</vt:lpstr>
      <vt:lpstr>Resource Smoothing</vt:lpstr>
      <vt:lpstr>Resource Allocation across Multiple Projects</vt:lpstr>
      <vt:lpstr>Resource Allocation across multiple projects</vt:lpstr>
      <vt:lpstr>Resource Allocation across multiple projects</vt:lpstr>
      <vt:lpstr>1. Schedule Slippage</vt:lpstr>
      <vt:lpstr>2. Resource Utilization</vt:lpstr>
      <vt:lpstr>3. In-Process Inventory</vt:lpstr>
      <vt:lpstr>Resolving Resource Decisions in Multi-project Environments</vt:lpstr>
      <vt:lpstr>Resolving Resource Decisions in Multi-project Environments</vt:lpstr>
      <vt:lpstr>Resolving Resource Decisions in Multi-project Environments</vt:lpstr>
      <vt:lpstr>Resolving Resource Decisions in Multi-project Environments</vt:lpstr>
      <vt:lpstr>Summary</vt:lpstr>
      <vt:lpstr>Discussion Questions </vt:lpstr>
      <vt:lpstr>Discussion 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12</dc:title>
  <dc:subject>Resource Management</dc:subject>
  <dc:creator>Ray Schott</dc:creator>
  <cp:lastModifiedBy>Ozlu, Sinan</cp:lastModifiedBy>
  <cp:revision>123</cp:revision>
  <cp:lastPrinted>2025-11-25T23:26:20Z</cp:lastPrinted>
  <dcterms:created xsi:type="dcterms:W3CDTF">2007-12-17T00:16:14Z</dcterms:created>
  <dcterms:modified xsi:type="dcterms:W3CDTF">2025-12-03T05:32:34Z</dcterms:modified>
</cp:coreProperties>
</file>