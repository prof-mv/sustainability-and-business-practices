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1"/>
  </p:sldMasterIdLst>
  <p:notesMasterIdLst>
    <p:notesMasterId r:id="rId3"/>
  </p:notesMasterIdLst>
  <p:sldIdLst>
    <p:sldId id="39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8E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307" autoAdjust="0"/>
  </p:normalViewPr>
  <p:slideViewPr>
    <p:cSldViewPr snapToObjects="1">
      <p:cViewPr varScale="1">
        <p:scale>
          <a:sx n="83" d="100"/>
          <a:sy n="83" d="100"/>
        </p:scale>
        <p:origin x="1450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79C5A0D-8E40-4135-8D86-9DE3655EA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928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2606040"/>
            <a:ext cx="7543800" cy="27432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100">
                <a:solidFill>
                  <a:schemeClr val="tx1"/>
                </a:solidFill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5360437"/>
            <a:ext cx="7543800" cy="36576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500" b="1" cap="all" baseline="0">
                <a:solidFill>
                  <a:schemeClr val="accent1"/>
                </a:solidFill>
                <a:effectLst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5888736"/>
            <a:ext cx="9144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5888736"/>
            <a:ext cx="9144000" cy="109728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12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0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1565829"/>
            <a:ext cx="4457700" cy="41148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4050">
                <a:effectLst>
                  <a:outerShdw blurRad="38100" dist="25400" dir="18900000" algn="b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1" y="5682344"/>
            <a:ext cx="4457700" cy="41054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50" b="1" cap="all" baseline="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75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1550" y="1825626"/>
            <a:ext cx="3543300" cy="411797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49" y="1825626"/>
            <a:ext cx="3543300" cy="411797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21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28800"/>
            <a:ext cx="3545586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70151"/>
            <a:ext cx="3545586" cy="34734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5721" y="1828800"/>
            <a:ext cx="3545586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6864" y="2470151"/>
            <a:ext cx="3545586" cy="34734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9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10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20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1" y="2514600"/>
            <a:ext cx="260604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727" y="685800"/>
            <a:ext cx="4594860" cy="54864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4343400"/>
            <a:ext cx="2606040" cy="118872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0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5815305" y="283"/>
            <a:ext cx="3326788" cy="68562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outerShdw blurRad="25400" dist="254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80313" y="0"/>
            <a:ext cx="41148" cy="6858000"/>
          </a:xfrm>
          <a:prstGeom prst="rect">
            <a:avLst/>
          </a:prstGeom>
          <a:ln>
            <a:noFill/>
          </a:ln>
          <a:effectLst>
            <a:innerShdw blurRad="25400" dist="127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14600"/>
            <a:ext cx="260604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1325880"/>
            <a:ext cx="5143500" cy="4206240"/>
          </a:xfrm>
          <a:solidFill>
            <a:schemeClr val="bg2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4343400"/>
            <a:ext cx="2606040" cy="118872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87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21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50" y="382231"/>
            <a:ext cx="1028700" cy="5561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0" y="382230"/>
            <a:ext cx="5897880" cy="55613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LAWS 1038-23W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91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257036"/>
            <a:ext cx="9144000" cy="54864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0" y="381000"/>
            <a:ext cx="72009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828800"/>
            <a:ext cx="72009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7128" y="6419462"/>
            <a:ext cx="1013537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/>
                </a:solidFill>
                <a:latin typeface="Cambria"/>
              </a:rPr>
              <a:t>G.R. Labbé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0" y="6419462"/>
            <a:ext cx="3886200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prstClr val="black"/>
                </a:solidFill>
                <a:latin typeface="Cambria"/>
              </a:rPr>
              <a:t>LAWS 1038-23W</a:t>
            </a:r>
            <a:endParaRPr lang="en-US" dirty="0">
              <a:solidFill>
                <a:prstClr val="black"/>
              </a:solidFill>
              <a:latin typeface="Cambri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48769" y="6419462"/>
            <a:ext cx="523681" cy="2389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E31375A4-56A4-47D6-9801-1991572033F7}" type="slidenum">
              <a:rPr lang="en-US" smtClean="0">
                <a:solidFill>
                  <a:prstClr val="black"/>
                </a:solidFill>
                <a:latin typeface="Cambri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/>
              </a:solidFill>
              <a:latin typeface="Cambria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257036"/>
            <a:ext cx="9144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4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 cap="all" baseline="0">
          <a:solidFill>
            <a:schemeClr val="accent1"/>
          </a:solidFill>
          <a:effectLst>
            <a:outerShdw blurRad="38100" dist="25400" dir="18900000" algn="bl" rotWithShape="0">
              <a:schemeClr val="bg1">
                <a:alpha val="8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205740" indent="-171450" algn="l" defTabSz="685800" rtl="0" eaLnBrk="1" latinLnBrk="0" hangingPunct="1">
        <a:lnSpc>
          <a:spcPct val="90000"/>
        </a:lnSpc>
        <a:spcBef>
          <a:spcPts val="1350"/>
        </a:spcBef>
        <a:buClr>
          <a:schemeClr val="accent1"/>
        </a:buClr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7734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78308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71450" algn="l" defTabSz="6858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88815" y="0"/>
            <a:ext cx="57423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A" sz="6000" b="1" dirty="0">
                <a:solidFill>
                  <a:srgbClr val="00B050"/>
                </a:solidFill>
                <a:latin typeface="Calibri" panose="020F0502020204030204" pitchFamily="34" charset="0"/>
              </a:rPr>
              <a:t>Course Map</a:t>
            </a:r>
            <a:endParaRPr lang="en-US" sz="6000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3460AB-B8C3-4B77-91CE-0B10A54FBECA}"/>
              </a:ext>
            </a:extLst>
          </p:cNvPr>
          <p:cNvSpPr/>
          <p:nvPr/>
        </p:nvSpPr>
        <p:spPr>
          <a:xfrm>
            <a:off x="272666" y="984043"/>
            <a:ext cx="8568952" cy="8640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rgbClr val="FFFF00"/>
                </a:solidFill>
                <a:latin typeface="Calibri" panose="020F0502020204030204" pitchFamily="34" charset="0"/>
              </a:rPr>
              <a:t>Lecture 1</a:t>
            </a:r>
          </a:p>
          <a:p>
            <a:pPr algn="ctr"/>
            <a:r>
              <a:rPr lang="en-CA" dirty="0">
                <a:solidFill>
                  <a:srgbClr val="FFFF00"/>
                </a:solidFill>
                <a:latin typeface="Calibri" panose="020F0502020204030204" pitchFamily="34" charset="0"/>
              </a:rPr>
              <a:t>Introduction to Project Management and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9587" y="2022155"/>
            <a:ext cx="1989348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2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Project Scope, Charter and Organizational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3190" y="2022155"/>
            <a:ext cx="2000846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3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Leadership and the Project Manager</a:t>
            </a: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9482" y="2022155"/>
            <a:ext cx="1952679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4</a:t>
            </a:r>
            <a:endParaRPr lang="en-CA" sz="2000" dirty="0">
              <a:latin typeface="Calibri" panose="020F0502020204030204" pitchFamily="34" charset="0"/>
            </a:endParaRP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Work Breakdown Structures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(WBS)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3914" y="2022155"/>
            <a:ext cx="1907704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5</a:t>
            </a:r>
            <a:endParaRPr lang="en-CA" sz="2000" dirty="0">
              <a:latin typeface="Calibri" panose="020F0502020204030204" pitchFamily="34" charset="0"/>
            </a:endParaRP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Network Diagrams and Activity on Node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(AON)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396" y="3242611"/>
            <a:ext cx="1989348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6</a:t>
            </a:r>
            <a:endParaRPr lang="en-CA" sz="2000" dirty="0">
              <a:latin typeface="Calibri" panose="020F0502020204030204" pitchFamily="34" charset="0"/>
            </a:endParaRP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Risk Management</a:t>
            </a: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23190" y="3227728"/>
            <a:ext cx="2000846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7</a:t>
            </a:r>
            <a:endParaRPr lang="en-CA" sz="2000" dirty="0">
              <a:latin typeface="Calibri" panose="020F0502020204030204" pitchFamily="34" charset="0"/>
            </a:endParaRP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Project Scheduling</a:t>
            </a: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78345" y="3242611"/>
            <a:ext cx="1952679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8</a:t>
            </a:r>
            <a:r>
              <a:rPr lang="en-CA" sz="2000" dirty="0"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Costs Estimation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and Budgeting</a:t>
            </a: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33914" y="3229693"/>
            <a:ext cx="1901974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9</a:t>
            </a:r>
            <a:r>
              <a:rPr lang="en-CA" sz="2000" dirty="0"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Negotiation and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Conflict Management</a:t>
            </a: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8396" y="4466709"/>
            <a:ext cx="4245640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lvl="0" algn="ctr"/>
            <a:r>
              <a:rPr lang="en-CA" sz="2000" b="1" dirty="0">
                <a:latin typeface="Calibri" panose="020F0502020204030204" pitchFamily="34" charset="0"/>
              </a:rPr>
              <a:t>Lecture 10</a:t>
            </a:r>
            <a:endParaRPr lang="en-CA" sz="2000" dirty="0">
              <a:latin typeface="Calibri" panose="020F0502020204030204" pitchFamily="34" charset="0"/>
            </a:endParaRPr>
          </a:p>
          <a:p>
            <a:pPr lvl="0" algn="ctr"/>
            <a:r>
              <a:rPr lang="en-CA" sz="1400" dirty="0">
                <a:latin typeface="Calibri" panose="020F0502020204030204" pitchFamily="34" charset="0"/>
              </a:rPr>
              <a:t>Resource Management</a:t>
            </a:r>
          </a:p>
          <a:p>
            <a:pPr lvl="0" algn="ctr"/>
            <a:endParaRPr lang="en-CA" sz="1400" dirty="0">
              <a:latin typeface="Calibri" panose="020F0502020204030204" pitchFamily="34" charset="0"/>
            </a:endParaRPr>
          </a:p>
          <a:p>
            <a:pPr lvl="0"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73752" y="4466709"/>
            <a:ext cx="4062136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lvl="0" algn="ctr"/>
            <a:r>
              <a:rPr lang="en-CA" sz="2000" b="1" dirty="0">
                <a:latin typeface="Calibri" panose="020F0502020204030204" pitchFamily="34" charset="0"/>
              </a:rPr>
              <a:t>Lecture 11</a:t>
            </a:r>
            <a:endParaRPr lang="en-CA" sz="2000" dirty="0">
              <a:latin typeface="Calibri" panose="020F0502020204030204" pitchFamily="34" charset="0"/>
            </a:endParaRPr>
          </a:p>
          <a:p>
            <a:pPr lvl="0" algn="ctr"/>
            <a:r>
              <a:rPr lang="en-CA" sz="1400" dirty="0">
                <a:latin typeface="Calibri" panose="020F0502020204030204" pitchFamily="34" charset="0"/>
              </a:rPr>
              <a:t>Control Systems</a:t>
            </a:r>
          </a:p>
          <a:p>
            <a:pPr lvl="0" algn="ctr"/>
            <a:endParaRPr lang="en-CA" sz="1400" dirty="0">
              <a:latin typeface="Calibri" panose="020F0502020204030204" pitchFamily="34" charset="0"/>
            </a:endParaRPr>
          </a:p>
          <a:p>
            <a:pPr lvl="0" algn="ctr"/>
            <a:endParaRPr lang="en-CA" sz="1400" dirty="0"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1985" y="5703725"/>
            <a:ext cx="8563222" cy="104644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CA" sz="2000" b="1" dirty="0">
                <a:latin typeface="Calibri" panose="020F0502020204030204" pitchFamily="34" charset="0"/>
              </a:rPr>
              <a:t>Lecture 12</a:t>
            </a:r>
          </a:p>
          <a:p>
            <a:pPr algn="ctr"/>
            <a:r>
              <a:rPr lang="en-CA" sz="1400" dirty="0">
                <a:latin typeface="Calibri" panose="020F0502020204030204" pitchFamily="34" charset="0"/>
              </a:rPr>
              <a:t>Project Closeout and Termination</a:t>
            </a:r>
          </a:p>
          <a:p>
            <a:pPr algn="ctr"/>
            <a:endParaRPr lang="en-CA" sz="1400" dirty="0">
              <a:latin typeface="Calibri" panose="020F0502020204030204" pitchFamily="34" charset="0"/>
            </a:endParaRPr>
          </a:p>
          <a:p>
            <a:pPr algn="ctr"/>
            <a:endParaRPr lang="en-US" sz="14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11BD27F-0764-427E-9315-ACDE5F50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7B07EFA-C786-AD31-D213-39F69DD7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G.R. Labbé</a:t>
            </a:r>
          </a:p>
        </p:txBody>
      </p:sp>
    </p:spTree>
    <p:extLst>
      <p:ext uri="{BB962C8B-B14F-4D97-AF65-F5344CB8AC3E}">
        <p14:creationId xmlns:p14="http://schemas.microsoft.com/office/powerpoint/2010/main" val="42209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 Line Business 16x9">
  <a:themeElements>
    <a:clrScheme name="Ray 2">
      <a:dk1>
        <a:sysClr val="windowText" lastClr="000000"/>
      </a:dk1>
      <a:lt1>
        <a:sysClr val="window" lastClr="FFFFFF"/>
      </a:lt1>
      <a:dk2>
        <a:srgbClr val="444D26"/>
      </a:dk2>
      <a:lt2>
        <a:srgbClr val="D8D8D8"/>
      </a:lt2>
      <a:accent1>
        <a:srgbClr val="6B3D8C"/>
      </a:accent1>
      <a:accent2>
        <a:srgbClr val="DD7E0E"/>
      </a:accent2>
      <a:accent3>
        <a:srgbClr val="E7BC29"/>
      </a:accent3>
      <a:accent4>
        <a:srgbClr val="B55475"/>
      </a:accent4>
      <a:accent5>
        <a:srgbClr val="9C85C0"/>
      </a:accent5>
      <a:accent6>
        <a:srgbClr val="4E74A3"/>
      </a:accent6>
      <a:hlink>
        <a:srgbClr val="00B0F0"/>
      </a:hlink>
      <a:folHlink>
        <a:srgbClr val="7F6F6F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14775</TotalTime>
  <Words>85</Words>
  <Application>Microsoft Office PowerPoint</Application>
  <PresentationFormat>On-screen Show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Red Line Business 16x9</vt:lpstr>
      <vt:lpstr>PowerPoint Presentation</vt:lpstr>
    </vt:vector>
  </TitlesOfParts>
  <Company>Siemens VDO Automotive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uid90235</dc:creator>
  <cp:lastModifiedBy>Ozlu, Sinan</cp:lastModifiedBy>
  <cp:revision>207</cp:revision>
  <dcterms:created xsi:type="dcterms:W3CDTF">2007-10-08T12:38:54Z</dcterms:created>
  <dcterms:modified xsi:type="dcterms:W3CDTF">2024-11-30T05:02:42Z</dcterms:modified>
</cp:coreProperties>
</file>