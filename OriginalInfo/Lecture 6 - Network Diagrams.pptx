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Lst>
  <p:notesMasterIdLst>
    <p:notesMasterId r:id="rId37"/>
  </p:notesMasterIdLst>
  <p:sldIdLst>
    <p:sldId id="256" r:id="rId2"/>
    <p:sldId id="328" r:id="rId3"/>
    <p:sldId id="257" r:id="rId4"/>
    <p:sldId id="322" r:id="rId5"/>
    <p:sldId id="324" r:id="rId6"/>
    <p:sldId id="325" r:id="rId7"/>
    <p:sldId id="258" r:id="rId8"/>
    <p:sldId id="259" r:id="rId9"/>
    <p:sldId id="260" r:id="rId10"/>
    <p:sldId id="261" r:id="rId11"/>
    <p:sldId id="329" r:id="rId12"/>
    <p:sldId id="262" r:id="rId13"/>
    <p:sldId id="321" r:id="rId14"/>
    <p:sldId id="263" r:id="rId15"/>
    <p:sldId id="264" r:id="rId16"/>
    <p:sldId id="265" r:id="rId17"/>
    <p:sldId id="266" r:id="rId18"/>
    <p:sldId id="268" r:id="rId19"/>
    <p:sldId id="269" r:id="rId20"/>
    <p:sldId id="270" r:id="rId21"/>
    <p:sldId id="271" r:id="rId22"/>
    <p:sldId id="272" r:id="rId23"/>
    <p:sldId id="317" r:id="rId24"/>
    <p:sldId id="274" r:id="rId25"/>
    <p:sldId id="275" r:id="rId26"/>
    <p:sldId id="331" r:id="rId27"/>
    <p:sldId id="276" r:id="rId28"/>
    <p:sldId id="277" r:id="rId29"/>
    <p:sldId id="304" r:id="rId30"/>
    <p:sldId id="314" r:id="rId31"/>
    <p:sldId id="333" r:id="rId32"/>
    <p:sldId id="338" r:id="rId33"/>
    <p:sldId id="339" r:id="rId34"/>
    <p:sldId id="334" r:id="rId35"/>
    <p:sldId id="335" r:id="rId3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Objects="1">
      <p:cViewPr varScale="1">
        <p:scale>
          <a:sx n="81" d="100"/>
          <a:sy n="81" d="100"/>
        </p:scale>
        <p:origin x="1526" y="130"/>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BDE9BFF9-8B19-4529-8167-1CA911CA4B01}" type="datetimeFigureOut">
              <a:rPr lang="en-US" smtClean="0"/>
              <a:pPr/>
              <a:t>10/7/2025</a:t>
            </a:fld>
            <a:endParaRPr lang="en-US"/>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4D90732F-9689-44F5-A325-350DC67F2B1A}" type="slidenum">
              <a:rPr lang="en-US" smtClean="0"/>
              <a:pPr/>
              <a:t>‹#›</a:t>
            </a:fld>
            <a:endParaRPr lang="en-US"/>
          </a:p>
        </p:txBody>
      </p:sp>
    </p:spTree>
    <p:extLst>
      <p:ext uri="{BB962C8B-B14F-4D97-AF65-F5344CB8AC3E}">
        <p14:creationId xmlns:p14="http://schemas.microsoft.com/office/powerpoint/2010/main" val="207642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a:t>
            </a:fld>
            <a:endParaRPr lang="en-US"/>
          </a:p>
        </p:txBody>
      </p:sp>
    </p:spTree>
    <p:extLst>
      <p:ext uri="{BB962C8B-B14F-4D97-AF65-F5344CB8AC3E}">
        <p14:creationId xmlns:p14="http://schemas.microsoft.com/office/powerpoint/2010/main" val="3432093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3</a:t>
            </a:fld>
            <a:endParaRPr lang="en-US"/>
          </a:p>
        </p:txBody>
      </p:sp>
    </p:spTree>
    <p:extLst>
      <p:ext uri="{BB962C8B-B14F-4D97-AF65-F5344CB8AC3E}">
        <p14:creationId xmlns:p14="http://schemas.microsoft.com/office/powerpoint/2010/main" val="2205331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4</a:t>
            </a:fld>
            <a:endParaRPr lang="en-US"/>
          </a:p>
        </p:txBody>
      </p:sp>
    </p:spTree>
    <p:extLst>
      <p:ext uri="{BB962C8B-B14F-4D97-AF65-F5344CB8AC3E}">
        <p14:creationId xmlns:p14="http://schemas.microsoft.com/office/powerpoint/2010/main" val="1306814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5</a:t>
            </a:fld>
            <a:endParaRPr lang="en-US"/>
          </a:p>
        </p:txBody>
      </p:sp>
    </p:spTree>
    <p:extLst>
      <p:ext uri="{BB962C8B-B14F-4D97-AF65-F5344CB8AC3E}">
        <p14:creationId xmlns:p14="http://schemas.microsoft.com/office/powerpoint/2010/main" val="1836873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6</a:t>
            </a:fld>
            <a:endParaRPr lang="en-US"/>
          </a:p>
        </p:txBody>
      </p:sp>
    </p:spTree>
    <p:extLst>
      <p:ext uri="{BB962C8B-B14F-4D97-AF65-F5344CB8AC3E}">
        <p14:creationId xmlns:p14="http://schemas.microsoft.com/office/powerpoint/2010/main" val="34461369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7</a:t>
            </a:fld>
            <a:endParaRPr lang="en-US"/>
          </a:p>
        </p:txBody>
      </p:sp>
    </p:spTree>
    <p:extLst>
      <p:ext uri="{BB962C8B-B14F-4D97-AF65-F5344CB8AC3E}">
        <p14:creationId xmlns:p14="http://schemas.microsoft.com/office/powerpoint/2010/main" val="33144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8</a:t>
            </a:fld>
            <a:endParaRPr lang="en-US"/>
          </a:p>
        </p:txBody>
      </p:sp>
    </p:spTree>
    <p:extLst>
      <p:ext uri="{BB962C8B-B14F-4D97-AF65-F5344CB8AC3E}">
        <p14:creationId xmlns:p14="http://schemas.microsoft.com/office/powerpoint/2010/main" val="2156061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9</a:t>
            </a:fld>
            <a:endParaRPr lang="en-US"/>
          </a:p>
        </p:txBody>
      </p:sp>
    </p:spTree>
    <p:extLst>
      <p:ext uri="{BB962C8B-B14F-4D97-AF65-F5344CB8AC3E}">
        <p14:creationId xmlns:p14="http://schemas.microsoft.com/office/powerpoint/2010/main" val="3177197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10</a:t>
            </a:fld>
            <a:endParaRPr lang="en-US"/>
          </a:p>
        </p:txBody>
      </p:sp>
    </p:spTree>
    <p:extLst>
      <p:ext uri="{BB962C8B-B14F-4D97-AF65-F5344CB8AC3E}">
        <p14:creationId xmlns:p14="http://schemas.microsoft.com/office/powerpoint/2010/main" val="2135448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12</a:t>
            </a:fld>
            <a:endParaRPr lang="en-US"/>
          </a:p>
        </p:txBody>
      </p:sp>
    </p:spTree>
    <p:extLst>
      <p:ext uri="{BB962C8B-B14F-4D97-AF65-F5344CB8AC3E}">
        <p14:creationId xmlns:p14="http://schemas.microsoft.com/office/powerpoint/2010/main" val="211756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13</a:t>
            </a:fld>
            <a:endParaRPr lang="en-US"/>
          </a:p>
        </p:txBody>
      </p:sp>
    </p:spTree>
    <p:extLst>
      <p:ext uri="{BB962C8B-B14F-4D97-AF65-F5344CB8AC3E}">
        <p14:creationId xmlns:p14="http://schemas.microsoft.com/office/powerpoint/2010/main" val="4085036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14</a:t>
            </a:fld>
            <a:endParaRPr lang="en-US"/>
          </a:p>
        </p:txBody>
      </p:sp>
    </p:spTree>
    <p:extLst>
      <p:ext uri="{BB962C8B-B14F-4D97-AF65-F5344CB8AC3E}">
        <p14:creationId xmlns:p14="http://schemas.microsoft.com/office/powerpoint/2010/main" val="7985214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15</a:t>
            </a:fld>
            <a:endParaRPr lang="en-US"/>
          </a:p>
        </p:txBody>
      </p:sp>
    </p:spTree>
    <p:extLst>
      <p:ext uri="{BB962C8B-B14F-4D97-AF65-F5344CB8AC3E}">
        <p14:creationId xmlns:p14="http://schemas.microsoft.com/office/powerpoint/2010/main" val="2104254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16</a:t>
            </a:fld>
            <a:endParaRPr lang="en-US"/>
          </a:p>
        </p:txBody>
      </p:sp>
    </p:spTree>
    <p:extLst>
      <p:ext uri="{BB962C8B-B14F-4D97-AF65-F5344CB8AC3E}">
        <p14:creationId xmlns:p14="http://schemas.microsoft.com/office/powerpoint/2010/main" val="10419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17</a:t>
            </a:fld>
            <a:endParaRPr lang="en-US"/>
          </a:p>
        </p:txBody>
      </p:sp>
    </p:spTree>
    <p:extLst>
      <p:ext uri="{BB962C8B-B14F-4D97-AF65-F5344CB8AC3E}">
        <p14:creationId xmlns:p14="http://schemas.microsoft.com/office/powerpoint/2010/main" val="2456611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18</a:t>
            </a:fld>
            <a:endParaRPr lang="en-US"/>
          </a:p>
        </p:txBody>
      </p:sp>
    </p:spTree>
    <p:extLst>
      <p:ext uri="{BB962C8B-B14F-4D97-AF65-F5344CB8AC3E}">
        <p14:creationId xmlns:p14="http://schemas.microsoft.com/office/powerpoint/2010/main" val="21171429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19</a:t>
            </a:fld>
            <a:endParaRPr lang="en-US"/>
          </a:p>
        </p:txBody>
      </p:sp>
    </p:spTree>
    <p:extLst>
      <p:ext uri="{BB962C8B-B14F-4D97-AF65-F5344CB8AC3E}">
        <p14:creationId xmlns:p14="http://schemas.microsoft.com/office/powerpoint/2010/main" val="8385446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20</a:t>
            </a:fld>
            <a:endParaRPr lang="en-US"/>
          </a:p>
        </p:txBody>
      </p:sp>
    </p:spTree>
    <p:extLst>
      <p:ext uri="{BB962C8B-B14F-4D97-AF65-F5344CB8AC3E}">
        <p14:creationId xmlns:p14="http://schemas.microsoft.com/office/powerpoint/2010/main" val="324928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21</a:t>
            </a:fld>
            <a:endParaRPr lang="en-US"/>
          </a:p>
        </p:txBody>
      </p:sp>
    </p:spTree>
    <p:extLst>
      <p:ext uri="{BB962C8B-B14F-4D97-AF65-F5344CB8AC3E}">
        <p14:creationId xmlns:p14="http://schemas.microsoft.com/office/powerpoint/2010/main" val="1773772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22</a:t>
            </a:fld>
            <a:endParaRPr lang="en-US"/>
          </a:p>
        </p:txBody>
      </p:sp>
    </p:spTree>
    <p:extLst>
      <p:ext uri="{BB962C8B-B14F-4D97-AF65-F5344CB8AC3E}">
        <p14:creationId xmlns:p14="http://schemas.microsoft.com/office/powerpoint/2010/main" val="27505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23</a:t>
            </a:fld>
            <a:endParaRPr lang="en-US"/>
          </a:p>
        </p:txBody>
      </p:sp>
    </p:spTree>
    <p:extLst>
      <p:ext uri="{BB962C8B-B14F-4D97-AF65-F5344CB8AC3E}">
        <p14:creationId xmlns:p14="http://schemas.microsoft.com/office/powerpoint/2010/main" val="2235665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24</a:t>
            </a:fld>
            <a:endParaRPr lang="en-US"/>
          </a:p>
        </p:txBody>
      </p:sp>
    </p:spTree>
    <p:extLst>
      <p:ext uri="{BB962C8B-B14F-4D97-AF65-F5344CB8AC3E}">
        <p14:creationId xmlns:p14="http://schemas.microsoft.com/office/powerpoint/2010/main" val="14571466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25</a:t>
            </a:fld>
            <a:endParaRPr lang="en-US"/>
          </a:p>
        </p:txBody>
      </p:sp>
    </p:spTree>
    <p:extLst>
      <p:ext uri="{BB962C8B-B14F-4D97-AF65-F5344CB8AC3E}">
        <p14:creationId xmlns:p14="http://schemas.microsoft.com/office/powerpoint/2010/main" val="22551072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27</a:t>
            </a:fld>
            <a:endParaRPr lang="en-US"/>
          </a:p>
        </p:txBody>
      </p:sp>
    </p:spTree>
    <p:extLst>
      <p:ext uri="{BB962C8B-B14F-4D97-AF65-F5344CB8AC3E}">
        <p14:creationId xmlns:p14="http://schemas.microsoft.com/office/powerpoint/2010/main" val="1402651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28</a:t>
            </a:fld>
            <a:endParaRPr lang="en-US"/>
          </a:p>
        </p:txBody>
      </p:sp>
    </p:spTree>
    <p:extLst>
      <p:ext uri="{BB962C8B-B14F-4D97-AF65-F5344CB8AC3E}">
        <p14:creationId xmlns:p14="http://schemas.microsoft.com/office/powerpoint/2010/main" val="1197061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29</a:t>
            </a:fld>
            <a:endParaRPr lang="en-US"/>
          </a:p>
        </p:txBody>
      </p:sp>
    </p:spTree>
    <p:extLst>
      <p:ext uri="{BB962C8B-B14F-4D97-AF65-F5344CB8AC3E}">
        <p14:creationId xmlns:p14="http://schemas.microsoft.com/office/powerpoint/2010/main" val="28465680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90732F-9689-44F5-A325-350DC67F2B1A}" type="slidenum">
              <a:rPr lang="en-US" smtClean="0"/>
              <a:pPr/>
              <a:t>30</a:t>
            </a:fld>
            <a:endParaRPr lang="en-US"/>
          </a:p>
        </p:txBody>
      </p:sp>
    </p:spTree>
    <p:extLst>
      <p:ext uri="{BB962C8B-B14F-4D97-AF65-F5344CB8AC3E}">
        <p14:creationId xmlns:p14="http://schemas.microsoft.com/office/powerpoint/2010/main" val="1277436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r>
              <a:rPr lang="en-US"/>
              <a:t>G.R. Labbé</a:t>
            </a:r>
          </a:p>
        </p:txBody>
      </p:sp>
      <p:sp>
        <p:nvSpPr>
          <p:cNvPr id="5" name="Footer Placeholder 4"/>
          <p:cNvSpPr>
            <a:spLocks noGrp="1"/>
          </p:cNvSpPr>
          <p:nvPr>
            <p:ph type="ftr" sz="quarter" idx="11"/>
          </p:nvPr>
        </p:nvSpPr>
        <p:spPr/>
        <p:txBody>
          <a:bodyPr/>
          <a:lstStyle/>
          <a:p>
            <a:pPr>
              <a:defRPr/>
            </a:pPr>
            <a:r>
              <a:rPr lang="en-US"/>
              <a:t>MGMT 1007-23W                                         </a:t>
            </a:r>
          </a:p>
        </p:txBody>
      </p:sp>
      <p:sp>
        <p:nvSpPr>
          <p:cNvPr id="6" name="Slide Number Placeholder 5"/>
          <p:cNvSpPr>
            <a:spLocks noGrp="1"/>
          </p:cNvSpPr>
          <p:nvPr>
            <p:ph type="sldNum" sz="quarter" idx="12"/>
          </p:nvPr>
        </p:nvSpPr>
        <p:spPr/>
        <p:txBody>
          <a:bodyPr/>
          <a:lstStyle/>
          <a:p>
            <a:pPr>
              <a:defRPr/>
            </a:pPr>
            <a:fld id="{2836B356-6E20-4E8B-83DC-D9BE1D4E3CAF}" type="slidenum">
              <a:rPr lang="en-US" smtClean="0"/>
              <a:pPr>
                <a:defRPr/>
              </a:pPr>
              <a:t>‹#›</a:t>
            </a:fld>
            <a:endParaRPr lang="en-US" dirty="0"/>
          </a:p>
        </p:txBody>
      </p:sp>
    </p:spTree>
    <p:extLst>
      <p:ext uri="{BB962C8B-B14F-4D97-AF65-F5344CB8AC3E}">
        <p14:creationId xmlns:p14="http://schemas.microsoft.com/office/powerpoint/2010/main" val="696048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G.R. Labbé</a:t>
            </a:r>
          </a:p>
        </p:txBody>
      </p:sp>
      <p:sp>
        <p:nvSpPr>
          <p:cNvPr id="5" name="Footer Placeholder 4"/>
          <p:cNvSpPr>
            <a:spLocks noGrp="1"/>
          </p:cNvSpPr>
          <p:nvPr>
            <p:ph type="ftr" sz="quarter" idx="11"/>
          </p:nvPr>
        </p:nvSpPr>
        <p:spPr/>
        <p:txBody>
          <a:bodyPr/>
          <a:lstStyle/>
          <a:p>
            <a:pPr>
              <a:defRPr/>
            </a:pPr>
            <a:r>
              <a:rPr lang="en-US"/>
              <a:t>MGMT 1007-23W                                         </a:t>
            </a:r>
          </a:p>
        </p:txBody>
      </p:sp>
      <p:sp>
        <p:nvSpPr>
          <p:cNvPr id="6" name="Slide Number Placeholder 5"/>
          <p:cNvSpPr>
            <a:spLocks noGrp="1"/>
          </p:cNvSpPr>
          <p:nvPr>
            <p:ph type="sldNum" sz="quarter" idx="12"/>
          </p:nvPr>
        </p:nvSpPr>
        <p:spPr/>
        <p:txBody>
          <a:bodyPr/>
          <a:lstStyle/>
          <a:p>
            <a:pPr>
              <a:defRPr/>
            </a:pPr>
            <a:fld id="{B9783C55-CC08-4E09-BF3D-925249F2761C}" type="slidenum">
              <a:rPr lang="en-US" altLang="en-US" smtClean="0"/>
              <a:pPr>
                <a:defRPr/>
              </a:pPr>
              <a:t>‹#›</a:t>
            </a:fld>
            <a:endParaRPr lang="en-US" altLang="en-US"/>
          </a:p>
        </p:txBody>
      </p:sp>
    </p:spTree>
    <p:extLst>
      <p:ext uri="{BB962C8B-B14F-4D97-AF65-F5344CB8AC3E}">
        <p14:creationId xmlns:p14="http://schemas.microsoft.com/office/powerpoint/2010/main" val="17326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r>
              <a:rPr lang="en-US"/>
              <a:t>G.R. Labbé</a:t>
            </a:r>
          </a:p>
        </p:txBody>
      </p:sp>
      <p:sp>
        <p:nvSpPr>
          <p:cNvPr id="5" name="Footer Placeholder 4"/>
          <p:cNvSpPr>
            <a:spLocks noGrp="1"/>
          </p:cNvSpPr>
          <p:nvPr>
            <p:ph type="ftr" sz="quarter" idx="11"/>
          </p:nvPr>
        </p:nvSpPr>
        <p:spPr/>
        <p:txBody>
          <a:bodyPr/>
          <a:lstStyle/>
          <a:p>
            <a:pPr>
              <a:defRPr/>
            </a:pPr>
            <a:r>
              <a:rPr lang="en-US"/>
              <a:t>MGMT 1007-23W                                         </a:t>
            </a:r>
          </a:p>
        </p:txBody>
      </p:sp>
      <p:sp>
        <p:nvSpPr>
          <p:cNvPr id="6" name="Slide Number Placeholder 5"/>
          <p:cNvSpPr>
            <a:spLocks noGrp="1"/>
          </p:cNvSpPr>
          <p:nvPr>
            <p:ph type="sldNum" sz="quarter" idx="12"/>
          </p:nvPr>
        </p:nvSpPr>
        <p:spPr/>
        <p:txBody>
          <a:bodyPr/>
          <a:lstStyle/>
          <a:p>
            <a:pPr>
              <a:defRPr/>
            </a:pPr>
            <a:fld id="{0717B745-E05C-4E63-BFF4-3A8CCD18F336}" type="slidenum">
              <a:rPr lang="en-US" altLang="en-US" smtClean="0"/>
              <a:pPr>
                <a:defRPr/>
              </a:pPr>
              <a:t>‹#›</a:t>
            </a:fld>
            <a:endParaRPr lang="en-US" altLang="en-US"/>
          </a:p>
        </p:txBody>
      </p:sp>
    </p:spTree>
    <p:extLst>
      <p:ext uri="{BB962C8B-B14F-4D97-AF65-F5344CB8AC3E}">
        <p14:creationId xmlns:p14="http://schemas.microsoft.com/office/powerpoint/2010/main" val="2619716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r>
              <a:rPr lang="en-US"/>
              <a:t>G.R. Labbé</a:t>
            </a:r>
          </a:p>
        </p:txBody>
      </p:sp>
      <p:sp>
        <p:nvSpPr>
          <p:cNvPr id="6" name="Footer Placeholder 5"/>
          <p:cNvSpPr>
            <a:spLocks noGrp="1"/>
          </p:cNvSpPr>
          <p:nvPr>
            <p:ph type="ftr" sz="quarter" idx="11"/>
          </p:nvPr>
        </p:nvSpPr>
        <p:spPr/>
        <p:txBody>
          <a:bodyPr/>
          <a:lstStyle/>
          <a:p>
            <a:pPr>
              <a:defRPr/>
            </a:pPr>
            <a:r>
              <a:rPr lang="en-US"/>
              <a:t>MGMT 1007-23W                                         </a:t>
            </a:r>
          </a:p>
        </p:txBody>
      </p:sp>
      <p:sp>
        <p:nvSpPr>
          <p:cNvPr id="7" name="Slide Number Placeholder 6"/>
          <p:cNvSpPr>
            <a:spLocks noGrp="1"/>
          </p:cNvSpPr>
          <p:nvPr>
            <p:ph type="sldNum" sz="quarter" idx="12"/>
          </p:nvPr>
        </p:nvSpPr>
        <p:spPr/>
        <p:txBody>
          <a:bodyPr/>
          <a:lstStyle/>
          <a:p>
            <a:pPr>
              <a:defRPr/>
            </a:pPr>
            <a:fld id="{29FA38D1-D97B-439D-B785-2A95B6CF08A9}" type="slidenum">
              <a:rPr lang="en-US" altLang="en-US" smtClean="0"/>
              <a:pPr>
                <a:defRPr/>
              </a:pPr>
              <a:t>‹#›</a:t>
            </a:fld>
            <a:endParaRPr lang="en-US" altLang="en-US"/>
          </a:p>
        </p:txBody>
      </p:sp>
    </p:spTree>
    <p:extLst>
      <p:ext uri="{BB962C8B-B14F-4D97-AF65-F5344CB8AC3E}">
        <p14:creationId xmlns:p14="http://schemas.microsoft.com/office/powerpoint/2010/main" val="2903159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r>
              <a:rPr lang="en-US"/>
              <a:t>G.R. Labbé</a:t>
            </a:r>
          </a:p>
        </p:txBody>
      </p:sp>
      <p:sp>
        <p:nvSpPr>
          <p:cNvPr id="8" name="Footer Placeholder 7"/>
          <p:cNvSpPr>
            <a:spLocks noGrp="1"/>
          </p:cNvSpPr>
          <p:nvPr>
            <p:ph type="ftr" sz="quarter" idx="11"/>
          </p:nvPr>
        </p:nvSpPr>
        <p:spPr/>
        <p:txBody>
          <a:bodyPr/>
          <a:lstStyle/>
          <a:p>
            <a:pPr>
              <a:defRPr/>
            </a:pPr>
            <a:r>
              <a:rPr lang="en-US"/>
              <a:t>MGMT 1007-23W                                         </a:t>
            </a:r>
          </a:p>
        </p:txBody>
      </p:sp>
      <p:sp>
        <p:nvSpPr>
          <p:cNvPr id="9" name="Slide Number Placeholder 8"/>
          <p:cNvSpPr>
            <a:spLocks noGrp="1"/>
          </p:cNvSpPr>
          <p:nvPr>
            <p:ph type="sldNum" sz="quarter" idx="12"/>
          </p:nvPr>
        </p:nvSpPr>
        <p:spPr/>
        <p:txBody>
          <a:bodyPr/>
          <a:lstStyle/>
          <a:p>
            <a:pPr>
              <a:defRPr/>
            </a:pPr>
            <a:fld id="{E8DC5325-9673-4EFC-833D-BBC421E8F63C}" type="slidenum">
              <a:rPr lang="en-US" altLang="en-US" smtClean="0"/>
              <a:pPr>
                <a:defRPr/>
              </a:pPr>
              <a:t>‹#›</a:t>
            </a:fld>
            <a:endParaRPr lang="en-US" altLang="en-US"/>
          </a:p>
        </p:txBody>
      </p:sp>
    </p:spTree>
    <p:extLst>
      <p:ext uri="{BB962C8B-B14F-4D97-AF65-F5344CB8AC3E}">
        <p14:creationId xmlns:p14="http://schemas.microsoft.com/office/powerpoint/2010/main" val="770776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r>
              <a:rPr lang="en-US"/>
              <a:t>G.R. Labbé</a:t>
            </a:r>
          </a:p>
        </p:txBody>
      </p:sp>
      <p:sp>
        <p:nvSpPr>
          <p:cNvPr id="4" name="Footer Placeholder 3"/>
          <p:cNvSpPr>
            <a:spLocks noGrp="1"/>
          </p:cNvSpPr>
          <p:nvPr>
            <p:ph type="ftr" sz="quarter" idx="11"/>
          </p:nvPr>
        </p:nvSpPr>
        <p:spPr/>
        <p:txBody>
          <a:bodyPr/>
          <a:lstStyle/>
          <a:p>
            <a:pPr>
              <a:defRPr/>
            </a:pPr>
            <a:r>
              <a:rPr lang="en-US"/>
              <a:t>MGMT 1007-23W                                         </a:t>
            </a:r>
          </a:p>
        </p:txBody>
      </p:sp>
      <p:sp>
        <p:nvSpPr>
          <p:cNvPr id="5" name="Slide Number Placeholder 4"/>
          <p:cNvSpPr>
            <a:spLocks noGrp="1"/>
          </p:cNvSpPr>
          <p:nvPr>
            <p:ph type="sldNum" sz="quarter" idx="12"/>
          </p:nvPr>
        </p:nvSpPr>
        <p:spPr/>
        <p:txBody>
          <a:bodyPr/>
          <a:lstStyle/>
          <a:p>
            <a:pPr>
              <a:defRPr/>
            </a:pPr>
            <a:fld id="{CDB69897-AA48-4E6E-B5FC-972F283D53F3}" type="slidenum">
              <a:rPr lang="en-US" altLang="en-US" smtClean="0"/>
              <a:pPr>
                <a:defRPr/>
              </a:pPr>
              <a:t>‹#›</a:t>
            </a:fld>
            <a:endParaRPr lang="en-US" altLang="en-US"/>
          </a:p>
        </p:txBody>
      </p:sp>
    </p:spTree>
    <p:extLst>
      <p:ext uri="{BB962C8B-B14F-4D97-AF65-F5344CB8AC3E}">
        <p14:creationId xmlns:p14="http://schemas.microsoft.com/office/powerpoint/2010/main" val="1493064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a:t>G.R. Labbé</a:t>
            </a:r>
          </a:p>
        </p:txBody>
      </p:sp>
      <p:sp>
        <p:nvSpPr>
          <p:cNvPr id="3" name="Footer Placeholder 2"/>
          <p:cNvSpPr>
            <a:spLocks noGrp="1"/>
          </p:cNvSpPr>
          <p:nvPr>
            <p:ph type="ftr" sz="quarter" idx="11"/>
          </p:nvPr>
        </p:nvSpPr>
        <p:spPr/>
        <p:txBody>
          <a:bodyPr/>
          <a:lstStyle/>
          <a:p>
            <a:pPr>
              <a:defRPr/>
            </a:pPr>
            <a:r>
              <a:rPr lang="en-US"/>
              <a:t>MGMT 1007-23W                                         </a:t>
            </a:r>
          </a:p>
        </p:txBody>
      </p:sp>
      <p:sp>
        <p:nvSpPr>
          <p:cNvPr id="4" name="Slide Number Placeholder 3"/>
          <p:cNvSpPr>
            <a:spLocks noGrp="1"/>
          </p:cNvSpPr>
          <p:nvPr>
            <p:ph type="sldNum" sz="quarter" idx="12"/>
          </p:nvPr>
        </p:nvSpPr>
        <p:spPr/>
        <p:txBody>
          <a:bodyPr/>
          <a:lstStyle/>
          <a:p>
            <a:pPr>
              <a:defRPr/>
            </a:pPr>
            <a:fld id="{A2BAAAC1-70E3-4FA4-9D23-397B2827E273}" type="slidenum">
              <a:rPr lang="en-US" altLang="en-US" smtClean="0"/>
              <a:pPr>
                <a:defRPr/>
              </a:pPr>
              <a:t>‹#›</a:t>
            </a:fld>
            <a:endParaRPr lang="en-US" altLang="en-US"/>
          </a:p>
        </p:txBody>
      </p:sp>
    </p:spTree>
    <p:extLst>
      <p:ext uri="{BB962C8B-B14F-4D97-AF65-F5344CB8AC3E}">
        <p14:creationId xmlns:p14="http://schemas.microsoft.com/office/powerpoint/2010/main" val="10558332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G.R. Labbé</a:t>
            </a:r>
          </a:p>
        </p:txBody>
      </p:sp>
      <p:sp>
        <p:nvSpPr>
          <p:cNvPr id="6" name="Footer Placeholder 5"/>
          <p:cNvSpPr>
            <a:spLocks noGrp="1"/>
          </p:cNvSpPr>
          <p:nvPr>
            <p:ph type="ftr" sz="quarter" idx="11"/>
          </p:nvPr>
        </p:nvSpPr>
        <p:spPr/>
        <p:txBody>
          <a:bodyPr/>
          <a:lstStyle/>
          <a:p>
            <a:pPr>
              <a:defRPr/>
            </a:pPr>
            <a:r>
              <a:rPr lang="en-US"/>
              <a:t>MGMT 1007-23W                                         </a:t>
            </a:r>
          </a:p>
        </p:txBody>
      </p:sp>
      <p:sp>
        <p:nvSpPr>
          <p:cNvPr id="7" name="Slide Number Placeholder 6"/>
          <p:cNvSpPr>
            <a:spLocks noGrp="1"/>
          </p:cNvSpPr>
          <p:nvPr>
            <p:ph type="sldNum" sz="quarter" idx="12"/>
          </p:nvPr>
        </p:nvSpPr>
        <p:spPr/>
        <p:txBody>
          <a:bodyPr/>
          <a:lstStyle/>
          <a:p>
            <a:pPr>
              <a:defRPr/>
            </a:pPr>
            <a:fld id="{75FEE4BB-24B6-4D24-B2CB-7C2C039F4870}" type="slidenum">
              <a:rPr lang="en-US" altLang="en-US" smtClean="0"/>
              <a:pPr>
                <a:defRPr/>
              </a:pPr>
              <a:t>‹#›</a:t>
            </a:fld>
            <a:endParaRPr lang="en-US" altLang="en-US"/>
          </a:p>
        </p:txBody>
      </p:sp>
    </p:spTree>
    <p:extLst>
      <p:ext uri="{BB962C8B-B14F-4D97-AF65-F5344CB8AC3E}">
        <p14:creationId xmlns:p14="http://schemas.microsoft.com/office/powerpoint/2010/main" val="408792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r>
              <a:rPr lang="en-US"/>
              <a:t>G.R. Labbé</a:t>
            </a:r>
          </a:p>
        </p:txBody>
      </p:sp>
      <p:sp>
        <p:nvSpPr>
          <p:cNvPr id="6" name="Footer Placeholder 5"/>
          <p:cNvSpPr>
            <a:spLocks noGrp="1"/>
          </p:cNvSpPr>
          <p:nvPr>
            <p:ph type="ftr" sz="quarter" idx="11"/>
          </p:nvPr>
        </p:nvSpPr>
        <p:spPr/>
        <p:txBody>
          <a:bodyPr/>
          <a:lstStyle/>
          <a:p>
            <a:pPr>
              <a:defRPr/>
            </a:pPr>
            <a:r>
              <a:rPr lang="en-US"/>
              <a:t>MGMT 1007-23W                                         </a:t>
            </a:r>
          </a:p>
        </p:txBody>
      </p:sp>
      <p:sp>
        <p:nvSpPr>
          <p:cNvPr id="7" name="Slide Number Placeholder 6"/>
          <p:cNvSpPr>
            <a:spLocks noGrp="1"/>
          </p:cNvSpPr>
          <p:nvPr>
            <p:ph type="sldNum" sz="quarter" idx="12"/>
          </p:nvPr>
        </p:nvSpPr>
        <p:spPr/>
        <p:txBody>
          <a:bodyPr/>
          <a:lstStyle/>
          <a:p>
            <a:pPr>
              <a:defRPr/>
            </a:pPr>
            <a:fld id="{6F82BDBA-BC39-431D-A94E-491FC383196A}" type="slidenum">
              <a:rPr lang="en-US" altLang="en-US" smtClean="0"/>
              <a:pPr>
                <a:defRPr/>
              </a:pPr>
              <a:t>‹#›</a:t>
            </a:fld>
            <a:endParaRPr lang="en-US" altLang="en-US"/>
          </a:p>
        </p:txBody>
      </p:sp>
    </p:spTree>
    <p:extLst>
      <p:ext uri="{BB962C8B-B14F-4D97-AF65-F5344CB8AC3E}">
        <p14:creationId xmlns:p14="http://schemas.microsoft.com/office/powerpoint/2010/main" val="3658209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G.R. Labbé</a:t>
            </a:r>
          </a:p>
        </p:txBody>
      </p:sp>
      <p:sp>
        <p:nvSpPr>
          <p:cNvPr id="5" name="Footer Placeholder 4"/>
          <p:cNvSpPr>
            <a:spLocks noGrp="1"/>
          </p:cNvSpPr>
          <p:nvPr>
            <p:ph type="ftr" sz="quarter" idx="11"/>
          </p:nvPr>
        </p:nvSpPr>
        <p:spPr/>
        <p:txBody>
          <a:bodyPr/>
          <a:lstStyle/>
          <a:p>
            <a:pPr>
              <a:defRPr/>
            </a:pPr>
            <a:r>
              <a:rPr lang="en-US"/>
              <a:t>MGMT 1007-23W                                         </a:t>
            </a:r>
          </a:p>
        </p:txBody>
      </p:sp>
      <p:sp>
        <p:nvSpPr>
          <p:cNvPr id="6" name="Slide Number Placeholder 5"/>
          <p:cNvSpPr>
            <a:spLocks noGrp="1"/>
          </p:cNvSpPr>
          <p:nvPr>
            <p:ph type="sldNum" sz="quarter" idx="12"/>
          </p:nvPr>
        </p:nvSpPr>
        <p:spPr/>
        <p:txBody>
          <a:bodyPr/>
          <a:lstStyle/>
          <a:p>
            <a:pPr>
              <a:defRPr/>
            </a:pPr>
            <a:fld id="{EA89A6F4-D702-4ECA-9229-FB68D3935B1C}" type="slidenum">
              <a:rPr lang="en-US" altLang="en-US" smtClean="0"/>
              <a:pPr>
                <a:defRPr/>
              </a:pPr>
              <a:t>‹#›</a:t>
            </a:fld>
            <a:endParaRPr lang="en-US" altLang="en-US"/>
          </a:p>
        </p:txBody>
      </p:sp>
    </p:spTree>
    <p:extLst>
      <p:ext uri="{BB962C8B-B14F-4D97-AF65-F5344CB8AC3E}">
        <p14:creationId xmlns:p14="http://schemas.microsoft.com/office/powerpoint/2010/main" val="772098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r>
              <a:rPr lang="en-US"/>
              <a:t>G.R. Labbé</a:t>
            </a:r>
          </a:p>
        </p:txBody>
      </p:sp>
      <p:sp>
        <p:nvSpPr>
          <p:cNvPr id="5" name="Footer Placeholder 4"/>
          <p:cNvSpPr>
            <a:spLocks noGrp="1"/>
          </p:cNvSpPr>
          <p:nvPr>
            <p:ph type="ftr" sz="quarter" idx="11"/>
          </p:nvPr>
        </p:nvSpPr>
        <p:spPr/>
        <p:txBody>
          <a:bodyPr/>
          <a:lstStyle/>
          <a:p>
            <a:pPr>
              <a:defRPr/>
            </a:pPr>
            <a:r>
              <a:rPr lang="en-US"/>
              <a:t>MGMT 1007-23W                                         </a:t>
            </a:r>
          </a:p>
        </p:txBody>
      </p:sp>
      <p:sp>
        <p:nvSpPr>
          <p:cNvPr id="6" name="Slide Number Placeholder 5"/>
          <p:cNvSpPr>
            <a:spLocks noGrp="1"/>
          </p:cNvSpPr>
          <p:nvPr>
            <p:ph type="sldNum" sz="quarter" idx="12"/>
          </p:nvPr>
        </p:nvSpPr>
        <p:spPr/>
        <p:txBody>
          <a:bodyPr/>
          <a:lstStyle/>
          <a:p>
            <a:pPr>
              <a:defRPr/>
            </a:pPr>
            <a:fld id="{A9D897C8-37B0-402B-B431-2F4FA427C7ED}" type="slidenum">
              <a:rPr lang="en-US" altLang="en-US" smtClean="0"/>
              <a:pPr>
                <a:defRPr/>
              </a:pPr>
              <a:t>‹#›</a:t>
            </a:fld>
            <a:endParaRPr lang="en-US" altLang="en-US"/>
          </a:p>
        </p:txBody>
      </p:sp>
    </p:spTree>
    <p:extLst>
      <p:ext uri="{BB962C8B-B14F-4D97-AF65-F5344CB8AC3E}">
        <p14:creationId xmlns:p14="http://schemas.microsoft.com/office/powerpoint/2010/main" val="977060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60000"/>
                <a:lumOff val="40000"/>
              </a:schemeClr>
            </a:gs>
            <a:gs pos="24000">
              <a:srgbClr val="96B7E1"/>
            </a:gs>
            <a:gs pos="100000">
              <a:schemeClr val="accent5">
                <a:lumMod val="60000"/>
                <a:lumOff val="4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r>
              <a:rPr lang="en-US"/>
              <a:t>G.R. Labbé</a:t>
            </a:r>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US"/>
              <a:t>MGMT 1007-23W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63E03ABB-5B24-493E-A4A7-F6E3F4A9D940}" type="slidenum">
              <a:rPr lang="en-US" altLang="en-US" smtClean="0"/>
              <a:pPr>
                <a:defRPr/>
              </a:pPr>
              <a:t>‹#›</a:t>
            </a:fld>
            <a:endParaRPr lang="en-US" altLang="en-US"/>
          </a:p>
        </p:txBody>
      </p:sp>
    </p:spTree>
    <p:extLst>
      <p:ext uri="{BB962C8B-B14F-4D97-AF65-F5344CB8AC3E}">
        <p14:creationId xmlns:p14="http://schemas.microsoft.com/office/powerpoint/2010/main" val="2716582006"/>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package" Target="../embeddings/Microsoft_Excel_Worksheet.xlsx"/></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2.xlsx"/><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Excel_Worksheet3.xlsx"/><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931876" y="5109202"/>
            <a:ext cx="7639050" cy="576262"/>
          </a:xfrm>
          <a:noFill/>
          <a:ln>
            <a:noFill/>
          </a:ln>
        </p:spPr>
        <p:style>
          <a:lnRef idx="2">
            <a:schemeClr val="dk1"/>
          </a:lnRef>
          <a:fillRef idx="1">
            <a:schemeClr val="lt1"/>
          </a:fillRef>
          <a:effectRef idx="0">
            <a:schemeClr val="dk1"/>
          </a:effectRef>
          <a:fontRef idx="minor">
            <a:schemeClr val="dk1"/>
          </a:fontRef>
        </p:style>
        <p:txBody>
          <a:bodyPr rtlCol="0">
            <a:noAutofit/>
          </a:bodyPr>
          <a:lstStyle/>
          <a:p>
            <a:pPr algn="ctr" fontAlgn="auto">
              <a:spcAft>
                <a:spcPts val="0"/>
              </a:spcAft>
              <a:defRPr/>
            </a:pPr>
            <a:r>
              <a:rPr lang="en-US" sz="4000" b="1" dirty="0">
                <a:solidFill>
                  <a:srgbClr val="C00000"/>
                </a:solidFill>
              </a:rPr>
              <a:t>Network Diagrams and</a:t>
            </a:r>
            <a:br>
              <a:rPr lang="en-US" sz="4000" b="1" dirty="0">
                <a:solidFill>
                  <a:srgbClr val="C00000"/>
                </a:solidFill>
              </a:rPr>
            </a:br>
            <a:r>
              <a:rPr lang="en-US" sz="4000" b="1" dirty="0">
                <a:solidFill>
                  <a:srgbClr val="C00000"/>
                </a:solidFill>
              </a:rPr>
              <a:t>Activity on Node Analysis</a:t>
            </a:r>
            <a:br>
              <a:rPr lang="en-US" sz="4000" b="1" dirty="0">
                <a:solidFill>
                  <a:srgbClr val="C00000"/>
                </a:solidFill>
              </a:rPr>
            </a:br>
            <a:r>
              <a:rPr lang="en-US" sz="4000" b="1" dirty="0">
                <a:solidFill>
                  <a:srgbClr val="C00000"/>
                </a:solidFill>
              </a:rPr>
              <a:t>(AON)</a:t>
            </a:r>
          </a:p>
        </p:txBody>
      </p:sp>
      <p:pic>
        <p:nvPicPr>
          <p:cNvPr id="20482" name="Picture 3" descr="C:\Users\Family\Desktop\mobile-workforce-scheduling-optimization-problem.jpg"/>
          <p:cNvPicPr>
            <a:picLocks noChangeAspect="1" noChangeArrowheads="1"/>
          </p:cNvPicPr>
          <p:nvPr/>
        </p:nvPicPr>
        <p:blipFill>
          <a:blip r:embed="rId3" cstate="print"/>
          <a:srcRect/>
          <a:stretch>
            <a:fillRect/>
          </a:stretch>
        </p:blipFill>
        <p:spPr bwMode="auto">
          <a:xfrm>
            <a:off x="2573337" y="760413"/>
            <a:ext cx="4321175" cy="3051175"/>
          </a:xfrm>
          <a:prstGeom prst="rect">
            <a:avLst/>
          </a:prstGeom>
          <a:noFill/>
          <a:ln w="9525">
            <a:noFill/>
            <a:miter lim="800000"/>
            <a:headEnd/>
            <a:tailEnd/>
          </a:ln>
        </p:spPr>
      </p:pic>
      <p:sp>
        <p:nvSpPr>
          <p:cNvPr id="20483" name="TextBox 1"/>
          <p:cNvSpPr txBox="1">
            <a:spLocks noChangeArrowheads="1"/>
          </p:cNvSpPr>
          <p:nvPr/>
        </p:nvSpPr>
        <p:spPr bwMode="auto">
          <a:xfrm>
            <a:off x="929054" y="5873355"/>
            <a:ext cx="7639050" cy="646331"/>
          </a:xfrm>
          <a:prstGeom prst="rect">
            <a:avLst/>
          </a:prstGeom>
          <a:noFill/>
          <a:ln w="9525">
            <a:noFill/>
            <a:miter lim="800000"/>
            <a:headEnd/>
            <a:tailEnd/>
          </a:ln>
        </p:spPr>
        <p:txBody>
          <a:bodyPr wrap="square">
            <a:spAutoFit/>
          </a:bodyPr>
          <a:lstStyle/>
          <a:p>
            <a:pPr algn="ctr"/>
            <a:r>
              <a:rPr lang="en-US" sz="3600" b="1" dirty="0">
                <a:latin typeface="+mn-lt"/>
              </a:rPr>
              <a:t>MGMT-3105                      Lecture 6</a:t>
            </a:r>
          </a:p>
        </p:txBody>
      </p:sp>
      <p:sp>
        <p:nvSpPr>
          <p:cNvPr id="2" name="Rectangle 1"/>
          <p:cNvSpPr/>
          <p:nvPr/>
        </p:nvSpPr>
        <p:spPr>
          <a:xfrm>
            <a:off x="3552824" y="3827513"/>
            <a:ext cx="2362200" cy="184666"/>
          </a:xfrm>
          <a:prstGeom prst="rect">
            <a:avLst/>
          </a:prstGeom>
        </p:spPr>
        <p:txBody>
          <a:bodyPr wrap="square">
            <a:spAutoFit/>
          </a:bodyPr>
          <a:lstStyle/>
          <a:p>
            <a:r>
              <a:rPr lang="en-US" sz="600" dirty="0"/>
              <a:t>http://worldartsme.com/images/decisionmaking-clipart-1.jpg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dirty="0"/>
              <a:t>Project Time Management</a:t>
            </a:r>
          </a:p>
        </p:txBody>
      </p:sp>
      <p:sp>
        <p:nvSpPr>
          <p:cNvPr id="3" name="Content Placeholder 2"/>
          <p:cNvSpPr>
            <a:spLocks noGrp="1"/>
          </p:cNvSpPr>
          <p:nvPr>
            <p:ph idx="1"/>
          </p:nvPr>
        </p:nvSpPr>
        <p:spPr>
          <a:xfrm>
            <a:off x="422031" y="1219200"/>
            <a:ext cx="8305800" cy="5486399"/>
          </a:xfrm>
        </p:spPr>
        <p:txBody>
          <a:bodyPr>
            <a:normAutofit/>
          </a:bodyPr>
          <a:lstStyle/>
          <a:p>
            <a:r>
              <a:rPr lang="en-US" sz="2800" b="1" spc="-35" dirty="0">
                <a:solidFill>
                  <a:srgbClr val="00B050"/>
                </a:solidFill>
              </a:rPr>
              <a:t>P</a:t>
            </a:r>
            <a:r>
              <a:rPr lang="en-US" sz="2800" b="1" spc="5" dirty="0">
                <a:solidFill>
                  <a:srgbClr val="00B050"/>
                </a:solidFill>
              </a:rPr>
              <a:t>r</a:t>
            </a:r>
            <a:r>
              <a:rPr lang="en-US" sz="2800" b="1" spc="-10" dirty="0">
                <a:solidFill>
                  <a:srgbClr val="00B050"/>
                </a:solidFill>
              </a:rPr>
              <a:t>o</a:t>
            </a:r>
            <a:r>
              <a:rPr lang="en-US" sz="2800" b="1" spc="-5" dirty="0">
                <a:solidFill>
                  <a:srgbClr val="00B050"/>
                </a:solidFill>
              </a:rPr>
              <a:t>j</a:t>
            </a:r>
            <a:r>
              <a:rPr lang="en-US" sz="2800" b="1" spc="-10" dirty="0">
                <a:solidFill>
                  <a:srgbClr val="00B050"/>
                </a:solidFill>
              </a:rPr>
              <a:t>ect</a:t>
            </a:r>
            <a:r>
              <a:rPr lang="en-US" sz="2800" b="1" dirty="0">
                <a:solidFill>
                  <a:srgbClr val="00B050"/>
                </a:solidFill>
              </a:rPr>
              <a:t> </a:t>
            </a:r>
            <a:r>
              <a:rPr lang="en-US" sz="2800" b="1" spc="-15" dirty="0">
                <a:solidFill>
                  <a:srgbClr val="00B050"/>
                </a:solidFill>
              </a:rPr>
              <a:t>T</a:t>
            </a:r>
            <a:r>
              <a:rPr lang="en-US" sz="2800" b="1" spc="-5" dirty="0">
                <a:solidFill>
                  <a:srgbClr val="00B050"/>
                </a:solidFill>
              </a:rPr>
              <a:t>i</a:t>
            </a:r>
            <a:r>
              <a:rPr lang="en-US" sz="2800" b="1" dirty="0">
                <a:solidFill>
                  <a:srgbClr val="00B050"/>
                </a:solidFill>
              </a:rPr>
              <a:t>me M</a:t>
            </a:r>
            <a:r>
              <a:rPr lang="en-US" sz="2800" b="1" spc="-10" dirty="0">
                <a:solidFill>
                  <a:srgbClr val="00B050"/>
                </a:solidFill>
              </a:rPr>
              <a:t>an</a:t>
            </a:r>
            <a:r>
              <a:rPr lang="en-US" sz="2800" b="1" dirty="0">
                <a:solidFill>
                  <a:srgbClr val="00B050"/>
                </a:solidFill>
              </a:rPr>
              <a:t>a</a:t>
            </a:r>
            <a:r>
              <a:rPr lang="en-US" sz="2800" b="1" spc="-10" dirty="0">
                <a:solidFill>
                  <a:srgbClr val="00B050"/>
                </a:solidFill>
              </a:rPr>
              <a:t>ge</a:t>
            </a:r>
            <a:r>
              <a:rPr lang="en-US" sz="2800" b="1" dirty="0">
                <a:solidFill>
                  <a:srgbClr val="00B050"/>
                </a:solidFill>
              </a:rPr>
              <a:t>m</a:t>
            </a:r>
            <a:r>
              <a:rPr lang="en-US" sz="2800" b="1" spc="-10" dirty="0">
                <a:solidFill>
                  <a:srgbClr val="00B050"/>
                </a:solidFill>
              </a:rPr>
              <a:t>e</a:t>
            </a:r>
            <a:r>
              <a:rPr lang="en-US" sz="2800" b="1" dirty="0">
                <a:solidFill>
                  <a:srgbClr val="00B050"/>
                </a:solidFill>
              </a:rPr>
              <a:t>n</a:t>
            </a:r>
            <a:r>
              <a:rPr lang="en-US" sz="2800" b="1" spc="-10" dirty="0">
                <a:solidFill>
                  <a:srgbClr val="00B050"/>
                </a:solidFill>
              </a:rPr>
              <a:t>t</a:t>
            </a:r>
            <a:r>
              <a:rPr lang="en-US" sz="2800" b="1" dirty="0">
                <a:solidFill>
                  <a:srgbClr val="00B050"/>
                </a:solidFill>
              </a:rPr>
              <a:t> </a:t>
            </a:r>
            <a:r>
              <a:rPr lang="en-US" sz="2800" spc="-5" dirty="0"/>
              <a:t>i</a:t>
            </a:r>
            <a:r>
              <a:rPr lang="en-US" sz="2800" spc="-10" dirty="0"/>
              <a:t>n</a:t>
            </a:r>
            <a:r>
              <a:rPr lang="en-US" sz="2800" dirty="0"/>
              <a:t>c</a:t>
            </a:r>
            <a:r>
              <a:rPr lang="en-US" sz="2800" spc="-5" dirty="0"/>
              <a:t>l</a:t>
            </a:r>
            <a:r>
              <a:rPr lang="en-US" sz="2800" spc="-10" dirty="0"/>
              <a:t>ud</a:t>
            </a:r>
            <a:r>
              <a:rPr lang="en-US" sz="2800" dirty="0"/>
              <a:t>es </a:t>
            </a:r>
            <a:r>
              <a:rPr lang="en-US" sz="2800" spc="-10" dirty="0"/>
              <a:t>all</a:t>
            </a:r>
            <a:r>
              <a:rPr lang="en-US" sz="2800" dirty="0"/>
              <a:t> t</a:t>
            </a:r>
            <a:r>
              <a:rPr lang="en-US" sz="2800" spc="-10" dirty="0"/>
              <a:t>h</a:t>
            </a:r>
            <a:r>
              <a:rPr lang="en-US" sz="2800" dirty="0"/>
              <a:t>e</a:t>
            </a:r>
            <a:r>
              <a:rPr lang="en-US" sz="2800" spc="-10" dirty="0"/>
              <a:t> p</a:t>
            </a:r>
            <a:r>
              <a:rPr lang="en-US" sz="2800" spc="5" dirty="0"/>
              <a:t>r</a:t>
            </a:r>
            <a:r>
              <a:rPr lang="en-US" sz="2800" spc="-10" dirty="0"/>
              <a:t>o</a:t>
            </a:r>
            <a:r>
              <a:rPr lang="en-US" sz="2800" dirty="0"/>
              <a:t>c</a:t>
            </a:r>
            <a:r>
              <a:rPr lang="en-US" sz="2800" spc="-10" dirty="0"/>
              <a:t>e</a:t>
            </a:r>
            <a:r>
              <a:rPr lang="en-US" sz="2800" dirty="0"/>
              <a:t>ss </a:t>
            </a:r>
            <a:r>
              <a:rPr lang="en-US" sz="2800" spc="-10" dirty="0"/>
              <a:t>t</a:t>
            </a:r>
            <a:r>
              <a:rPr lang="en-US" sz="2800" dirty="0"/>
              <a:t>h</a:t>
            </a:r>
            <a:r>
              <a:rPr lang="en-US" sz="2800" spc="-10" dirty="0"/>
              <a:t>at a</a:t>
            </a:r>
            <a:r>
              <a:rPr lang="en-US" sz="2800" spc="5" dirty="0"/>
              <a:t>r</a:t>
            </a:r>
            <a:r>
              <a:rPr lang="en-US" sz="2800" dirty="0"/>
              <a:t>e</a:t>
            </a:r>
            <a:r>
              <a:rPr lang="en-US" sz="2800" spc="-10" dirty="0"/>
              <a:t> n</a:t>
            </a:r>
            <a:r>
              <a:rPr lang="en-US" sz="2800" dirty="0"/>
              <a:t>e</a:t>
            </a:r>
            <a:r>
              <a:rPr lang="en-US" sz="2800" spc="-10" dirty="0"/>
              <a:t>ede</a:t>
            </a:r>
            <a:r>
              <a:rPr lang="en-US" sz="2800" dirty="0"/>
              <a:t>d </a:t>
            </a:r>
            <a:r>
              <a:rPr lang="en-US" sz="2800" spc="-10" dirty="0"/>
              <a:t>t</a:t>
            </a:r>
            <a:r>
              <a:rPr lang="en-US" sz="2800" dirty="0"/>
              <a:t>o</a:t>
            </a:r>
            <a:r>
              <a:rPr lang="en-US" sz="2800" spc="-10" dirty="0"/>
              <a:t> </a:t>
            </a:r>
            <a:r>
              <a:rPr lang="en-US" sz="2800" spc="5" dirty="0"/>
              <a:t>m</a:t>
            </a:r>
            <a:r>
              <a:rPr lang="en-US" sz="2800" spc="-10" dirty="0"/>
              <a:t>ana</a:t>
            </a:r>
            <a:r>
              <a:rPr lang="en-US" sz="2800" dirty="0"/>
              <a:t>ge</a:t>
            </a:r>
            <a:r>
              <a:rPr lang="en-US" sz="2800" spc="-10" dirty="0"/>
              <a:t> th</a:t>
            </a:r>
            <a:r>
              <a:rPr lang="en-US" sz="2800" dirty="0"/>
              <a:t>e</a:t>
            </a:r>
            <a:r>
              <a:rPr lang="en-US" sz="2800" spc="-10" dirty="0"/>
              <a:t> </a:t>
            </a:r>
            <a:r>
              <a:rPr lang="en-US" sz="2800" dirty="0"/>
              <a:t>t</a:t>
            </a:r>
            <a:r>
              <a:rPr lang="en-US" sz="2800" spc="-5" dirty="0"/>
              <a:t>i</a:t>
            </a:r>
            <a:r>
              <a:rPr lang="en-US" sz="2800" dirty="0"/>
              <a:t>m</a:t>
            </a:r>
            <a:r>
              <a:rPr lang="en-US" sz="2800" spc="-10" dirty="0"/>
              <a:t>e</a:t>
            </a:r>
            <a:r>
              <a:rPr lang="en-US" sz="2800" spc="-5" dirty="0"/>
              <a:t>l</a:t>
            </a:r>
            <a:r>
              <a:rPr lang="en-US" sz="2800" dirty="0"/>
              <a:t>y com</a:t>
            </a:r>
            <a:r>
              <a:rPr lang="en-US" sz="2800" spc="-10" dirty="0"/>
              <a:t>p</a:t>
            </a:r>
            <a:r>
              <a:rPr lang="en-US" sz="2800" spc="-5" dirty="0"/>
              <a:t>l</a:t>
            </a:r>
            <a:r>
              <a:rPr lang="en-US" sz="2800" spc="-10" dirty="0"/>
              <a:t>et</a:t>
            </a:r>
            <a:r>
              <a:rPr lang="en-US" sz="2800" spc="-5" dirty="0"/>
              <a:t>i</a:t>
            </a:r>
            <a:r>
              <a:rPr lang="en-US" sz="2800" spc="-10" dirty="0"/>
              <a:t>o</a:t>
            </a:r>
            <a:r>
              <a:rPr lang="en-US" sz="2800" dirty="0"/>
              <a:t>n </a:t>
            </a:r>
            <a:r>
              <a:rPr lang="en-US" sz="2800" spc="-10" dirty="0"/>
              <a:t>of</a:t>
            </a:r>
            <a:r>
              <a:rPr lang="en-US" sz="2800" dirty="0"/>
              <a:t> </a:t>
            </a:r>
            <a:r>
              <a:rPr lang="en-US" sz="2800" spc="-10" dirty="0"/>
              <a:t>t</a:t>
            </a:r>
            <a:r>
              <a:rPr lang="en-US" sz="2800" dirty="0"/>
              <a:t>he </a:t>
            </a:r>
            <a:r>
              <a:rPr lang="en-US" sz="2800" spc="-10" dirty="0"/>
              <a:t>p</a:t>
            </a:r>
            <a:r>
              <a:rPr lang="en-US" sz="2800" spc="5" dirty="0"/>
              <a:t>r</a:t>
            </a:r>
            <a:r>
              <a:rPr lang="en-US" sz="2800" spc="-10" dirty="0"/>
              <a:t>o</a:t>
            </a:r>
            <a:r>
              <a:rPr lang="en-US" sz="2800" spc="-5" dirty="0"/>
              <a:t>j</a:t>
            </a:r>
            <a:r>
              <a:rPr lang="en-US" sz="2800" spc="-10" dirty="0"/>
              <a:t>ect.</a:t>
            </a:r>
          </a:p>
          <a:p>
            <a:pPr marL="800100" lvl="1" indent="-457200">
              <a:buFont typeface="+mj-lt"/>
              <a:buAutoNum type="arabicPeriod"/>
            </a:pPr>
            <a:r>
              <a:rPr lang="en-US" sz="2800" spc="-35" dirty="0">
                <a:cs typeface="Arial Unicode MS"/>
              </a:rPr>
              <a:t>P</a:t>
            </a:r>
            <a:r>
              <a:rPr lang="en-US" sz="2800" spc="-5" dirty="0">
                <a:cs typeface="Arial Unicode MS"/>
              </a:rPr>
              <a:t>l</a:t>
            </a:r>
            <a:r>
              <a:rPr lang="en-US" sz="2800" spc="-10" dirty="0">
                <a:cs typeface="Arial Unicode MS"/>
              </a:rPr>
              <a:t>a</a:t>
            </a:r>
            <a:r>
              <a:rPr lang="en-US" sz="2800" dirty="0">
                <a:cs typeface="Arial Unicode MS"/>
              </a:rPr>
              <a:t>n </a:t>
            </a:r>
            <a:r>
              <a:rPr lang="en-US" sz="2800" spc="-35" dirty="0">
                <a:cs typeface="Arial Unicode MS"/>
              </a:rPr>
              <a:t>S</a:t>
            </a:r>
            <a:r>
              <a:rPr lang="en-US" sz="2800" dirty="0">
                <a:cs typeface="Arial Unicode MS"/>
              </a:rPr>
              <a:t>ch</a:t>
            </a:r>
            <a:r>
              <a:rPr lang="en-US" sz="2800" spc="-10" dirty="0">
                <a:cs typeface="Arial Unicode MS"/>
              </a:rPr>
              <a:t>edu</a:t>
            </a:r>
            <a:r>
              <a:rPr lang="en-US" sz="2800" spc="-5" dirty="0">
                <a:cs typeface="Arial Unicode MS"/>
              </a:rPr>
              <a:t>l</a:t>
            </a:r>
            <a:r>
              <a:rPr lang="en-US" sz="2800" dirty="0">
                <a:cs typeface="Arial Unicode MS"/>
              </a:rPr>
              <a:t>e</a:t>
            </a:r>
            <a:r>
              <a:rPr lang="en-US" sz="2800" spc="-10" dirty="0">
                <a:cs typeface="Arial Unicode MS"/>
              </a:rPr>
              <a:t> </a:t>
            </a:r>
            <a:r>
              <a:rPr lang="en-US" sz="2800" spc="5" dirty="0">
                <a:cs typeface="Arial Unicode MS"/>
              </a:rPr>
              <a:t>M</a:t>
            </a:r>
            <a:r>
              <a:rPr lang="en-US" sz="2800" spc="-10" dirty="0">
                <a:cs typeface="Arial Unicode MS"/>
              </a:rPr>
              <a:t>anag</a:t>
            </a:r>
            <a:r>
              <a:rPr lang="en-US" sz="2800" dirty="0">
                <a:cs typeface="Arial Unicode MS"/>
              </a:rPr>
              <a:t>em</a:t>
            </a:r>
            <a:r>
              <a:rPr lang="en-US" sz="2800" spc="-10" dirty="0">
                <a:cs typeface="Arial Unicode MS"/>
              </a:rPr>
              <a:t>e</a:t>
            </a:r>
            <a:r>
              <a:rPr lang="en-US" sz="2800" dirty="0">
                <a:cs typeface="Arial Unicode MS"/>
              </a:rPr>
              <a:t>n</a:t>
            </a:r>
            <a:r>
              <a:rPr lang="en-US" sz="2800" spc="-10" dirty="0">
                <a:cs typeface="Arial Unicode MS"/>
              </a:rPr>
              <a:t>t</a:t>
            </a:r>
            <a:endParaRPr lang="en-US" sz="2800" dirty="0">
              <a:cs typeface="Arial Unicode MS"/>
            </a:endParaRPr>
          </a:p>
          <a:p>
            <a:pPr marL="800100" lvl="1" indent="-457200">
              <a:buFont typeface="+mj-lt"/>
              <a:buAutoNum type="arabicPeriod"/>
            </a:pPr>
            <a:r>
              <a:rPr lang="en-US" sz="2800" b="1" spc="-20" dirty="0">
                <a:solidFill>
                  <a:srgbClr val="FF0000"/>
                </a:solidFill>
                <a:cs typeface="Arial Black"/>
              </a:rPr>
              <a:t>D</a:t>
            </a:r>
            <a:r>
              <a:rPr lang="en-US" sz="2800" b="1" spc="-35" dirty="0">
                <a:solidFill>
                  <a:srgbClr val="FF0000"/>
                </a:solidFill>
                <a:cs typeface="Arial Black"/>
              </a:rPr>
              <a:t>e</a:t>
            </a:r>
            <a:r>
              <a:rPr lang="en-US" sz="2800" b="1" dirty="0">
                <a:solidFill>
                  <a:srgbClr val="FF0000"/>
                </a:solidFill>
                <a:cs typeface="Arial Black"/>
              </a:rPr>
              <a:t>f</a:t>
            </a:r>
            <a:r>
              <a:rPr lang="en-US" sz="2800" b="1" spc="-15" dirty="0">
                <a:solidFill>
                  <a:srgbClr val="FF0000"/>
                </a:solidFill>
                <a:cs typeface="Arial Black"/>
              </a:rPr>
              <a:t>ine</a:t>
            </a:r>
            <a:r>
              <a:rPr lang="en-US" sz="2800" b="1" spc="-5" dirty="0">
                <a:solidFill>
                  <a:srgbClr val="FF0000"/>
                </a:solidFill>
                <a:cs typeface="Arial Black"/>
              </a:rPr>
              <a:t> </a:t>
            </a:r>
            <a:r>
              <a:rPr lang="en-US" sz="2800" b="1" spc="-20" dirty="0">
                <a:solidFill>
                  <a:srgbClr val="FF0000"/>
                </a:solidFill>
                <a:cs typeface="Arial Black"/>
              </a:rPr>
              <a:t>A</a:t>
            </a:r>
            <a:r>
              <a:rPr lang="en-US" sz="2800" b="1" spc="-25" dirty="0">
                <a:solidFill>
                  <a:srgbClr val="FF0000"/>
                </a:solidFill>
                <a:cs typeface="Arial Black"/>
              </a:rPr>
              <a:t>c</a:t>
            </a:r>
            <a:r>
              <a:rPr lang="en-US" sz="2800" b="1" spc="-10" dirty="0">
                <a:solidFill>
                  <a:srgbClr val="FF0000"/>
                </a:solidFill>
                <a:cs typeface="Arial Black"/>
              </a:rPr>
              <a:t>ti</a:t>
            </a:r>
            <a:r>
              <a:rPr lang="en-US" sz="2800" b="1" spc="-25" dirty="0">
                <a:solidFill>
                  <a:srgbClr val="FF0000"/>
                </a:solidFill>
                <a:cs typeface="Arial Black"/>
              </a:rPr>
              <a:t>v</a:t>
            </a:r>
            <a:r>
              <a:rPr lang="en-US" sz="2800" b="1" spc="5" dirty="0">
                <a:solidFill>
                  <a:srgbClr val="FF0000"/>
                </a:solidFill>
                <a:cs typeface="Arial Black"/>
              </a:rPr>
              <a:t>i</a:t>
            </a:r>
            <a:r>
              <a:rPr lang="en-US" sz="2800" b="1" spc="-15" dirty="0">
                <a:solidFill>
                  <a:srgbClr val="FF0000"/>
                </a:solidFill>
                <a:cs typeface="Arial Black"/>
              </a:rPr>
              <a:t>ties</a:t>
            </a:r>
            <a:endParaRPr lang="en-US" sz="2800" dirty="0">
              <a:solidFill>
                <a:srgbClr val="FF0000"/>
              </a:solidFill>
              <a:cs typeface="Arial Black"/>
            </a:endParaRPr>
          </a:p>
          <a:p>
            <a:pPr marL="800100" lvl="1" indent="-457200">
              <a:buFont typeface="+mj-lt"/>
              <a:buAutoNum type="arabicPeriod"/>
            </a:pPr>
            <a:r>
              <a:rPr lang="en-US" sz="2800" b="1" spc="-5" dirty="0">
                <a:solidFill>
                  <a:srgbClr val="FF0000"/>
                </a:solidFill>
                <a:cs typeface="Arial Black"/>
              </a:rPr>
              <a:t>S</a:t>
            </a:r>
            <a:r>
              <a:rPr lang="en-US" sz="2800" b="1" spc="-35" dirty="0">
                <a:solidFill>
                  <a:srgbClr val="FF0000"/>
                </a:solidFill>
                <a:cs typeface="Arial Black"/>
              </a:rPr>
              <a:t>e</a:t>
            </a:r>
            <a:r>
              <a:rPr lang="en-US" sz="2800" b="1" spc="-25" dirty="0">
                <a:solidFill>
                  <a:srgbClr val="FF0000"/>
                </a:solidFill>
                <a:cs typeface="Arial Black"/>
              </a:rPr>
              <a:t>q</a:t>
            </a:r>
            <a:r>
              <a:rPr lang="en-US" sz="2800" b="1" spc="-35" dirty="0">
                <a:solidFill>
                  <a:srgbClr val="FF0000"/>
                </a:solidFill>
                <a:cs typeface="Arial Black"/>
              </a:rPr>
              <a:t>u</a:t>
            </a:r>
            <a:r>
              <a:rPr lang="en-US" sz="2800" b="1" spc="-25" dirty="0">
                <a:solidFill>
                  <a:srgbClr val="FF0000"/>
                </a:solidFill>
                <a:cs typeface="Arial Black"/>
              </a:rPr>
              <a:t>en</a:t>
            </a:r>
            <a:r>
              <a:rPr lang="en-US" sz="2800" b="1" spc="-35" dirty="0">
                <a:solidFill>
                  <a:srgbClr val="FF0000"/>
                </a:solidFill>
                <a:cs typeface="Arial Black"/>
              </a:rPr>
              <a:t>c</a:t>
            </a:r>
            <a:r>
              <a:rPr lang="en-US" sz="2800" b="1" spc="-20" dirty="0">
                <a:solidFill>
                  <a:srgbClr val="FF0000"/>
                </a:solidFill>
                <a:cs typeface="Arial Black"/>
              </a:rPr>
              <a:t>e</a:t>
            </a:r>
            <a:r>
              <a:rPr lang="en-US" sz="2800" b="1" spc="-5" dirty="0">
                <a:solidFill>
                  <a:srgbClr val="FF0000"/>
                </a:solidFill>
                <a:cs typeface="Arial Black"/>
              </a:rPr>
              <a:t> </a:t>
            </a:r>
            <a:r>
              <a:rPr lang="en-US" sz="2800" b="1" spc="-15" dirty="0">
                <a:solidFill>
                  <a:srgbClr val="FF0000"/>
                </a:solidFill>
                <a:cs typeface="Arial Black"/>
              </a:rPr>
              <a:t>t</a:t>
            </a:r>
            <a:r>
              <a:rPr lang="en-US" sz="2800" b="1" spc="-35" dirty="0">
                <a:solidFill>
                  <a:srgbClr val="FF0000"/>
                </a:solidFill>
                <a:cs typeface="Arial Black"/>
              </a:rPr>
              <a:t>h</a:t>
            </a:r>
            <a:r>
              <a:rPr lang="en-US" sz="2800" b="1" spc="-20" dirty="0">
                <a:solidFill>
                  <a:srgbClr val="FF0000"/>
                </a:solidFill>
                <a:cs typeface="Arial Black"/>
              </a:rPr>
              <a:t>e</a:t>
            </a:r>
            <a:r>
              <a:rPr lang="en-US" sz="2800" b="1" spc="-5" dirty="0">
                <a:solidFill>
                  <a:srgbClr val="FF0000"/>
                </a:solidFill>
                <a:cs typeface="Arial Black"/>
              </a:rPr>
              <a:t> </a:t>
            </a:r>
            <a:r>
              <a:rPr lang="en-US" sz="2800" b="1" spc="-25" dirty="0">
                <a:solidFill>
                  <a:srgbClr val="FF0000"/>
                </a:solidFill>
                <a:cs typeface="Arial Black"/>
              </a:rPr>
              <a:t>ac</a:t>
            </a:r>
            <a:r>
              <a:rPr lang="en-US" sz="2800" b="1" spc="-10" dirty="0">
                <a:solidFill>
                  <a:srgbClr val="FF0000"/>
                </a:solidFill>
                <a:cs typeface="Arial Black"/>
              </a:rPr>
              <a:t>ti</a:t>
            </a:r>
            <a:r>
              <a:rPr lang="en-US" sz="2800" b="1" spc="-25" dirty="0">
                <a:solidFill>
                  <a:srgbClr val="FF0000"/>
                </a:solidFill>
                <a:cs typeface="Arial Black"/>
              </a:rPr>
              <a:t>v</a:t>
            </a:r>
            <a:r>
              <a:rPr lang="en-US" sz="2800" b="1" spc="5" dirty="0">
                <a:solidFill>
                  <a:srgbClr val="FF0000"/>
                </a:solidFill>
                <a:cs typeface="Arial Black"/>
              </a:rPr>
              <a:t>i</a:t>
            </a:r>
            <a:r>
              <a:rPr lang="en-US" sz="2800" b="1" spc="-20" dirty="0">
                <a:solidFill>
                  <a:srgbClr val="FF0000"/>
                </a:solidFill>
                <a:cs typeface="Arial Black"/>
              </a:rPr>
              <a:t>t</a:t>
            </a:r>
            <a:r>
              <a:rPr lang="en-US" sz="2800" b="1" spc="5" dirty="0">
                <a:solidFill>
                  <a:srgbClr val="FF0000"/>
                </a:solidFill>
                <a:cs typeface="Arial Black"/>
              </a:rPr>
              <a:t>i</a:t>
            </a:r>
            <a:r>
              <a:rPr lang="en-US" sz="2800" b="1" spc="-35" dirty="0">
                <a:solidFill>
                  <a:srgbClr val="FF0000"/>
                </a:solidFill>
                <a:cs typeface="Arial Black"/>
              </a:rPr>
              <a:t>e</a:t>
            </a:r>
            <a:r>
              <a:rPr lang="en-US" sz="2800" b="1" spc="-15" dirty="0">
                <a:solidFill>
                  <a:srgbClr val="FF0000"/>
                </a:solidFill>
                <a:cs typeface="Arial Black"/>
              </a:rPr>
              <a:t>s</a:t>
            </a:r>
            <a:endParaRPr lang="en-US" sz="2800" dirty="0">
              <a:solidFill>
                <a:srgbClr val="FF0000"/>
              </a:solidFill>
              <a:cs typeface="Arial Black"/>
            </a:endParaRPr>
          </a:p>
          <a:p>
            <a:pPr marL="800100" lvl="1" indent="-457200">
              <a:buFont typeface="+mj-lt"/>
              <a:buAutoNum type="arabicPeriod"/>
            </a:pPr>
            <a:r>
              <a:rPr lang="en-US" sz="2800" spc="-35" dirty="0">
                <a:cs typeface="Arial Unicode MS"/>
              </a:rPr>
              <a:t>E</a:t>
            </a:r>
            <a:r>
              <a:rPr lang="en-US" sz="2800" spc="-15" dirty="0">
                <a:cs typeface="Arial Unicode MS"/>
              </a:rPr>
              <a:t>s</a:t>
            </a:r>
            <a:r>
              <a:rPr lang="en-US" sz="2800" dirty="0">
                <a:cs typeface="Arial Unicode MS"/>
              </a:rPr>
              <a:t>t</a:t>
            </a:r>
            <a:r>
              <a:rPr lang="en-US" sz="2800" spc="-15" dirty="0">
                <a:cs typeface="Arial Unicode MS"/>
              </a:rPr>
              <a:t>i</a:t>
            </a:r>
            <a:r>
              <a:rPr lang="en-US" sz="2800" spc="5" dirty="0">
                <a:cs typeface="Arial Unicode MS"/>
              </a:rPr>
              <a:t>m</a:t>
            </a:r>
            <a:r>
              <a:rPr lang="en-US" sz="2800" spc="-10" dirty="0">
                <a:cs typeface="Arial Unicode MS"/>
              </a:rPr>
              <a:t>at</a:t>
            </a:r>
            <a:r>
              <a:rPr lang="en-US" sz="2800" dirty="0">
                <a:cs typeface="Arial Unicode MS"/>
              </a:rPr>
              <a:t>e </a:t>
            </a:r>
            <a:r>
              <a:rPr lang="en-US" sz="2800" spc="-10" dirty="0">
                <a:cs typeface="Arial Unicode MS"/>
              </a:rPr>
              <a:t>act</a:t>
            </a:r>
            <a:r>
              <a:rPr lang="en-US" sz="2800" spc="-5" dirty="0">
                <a:cs typeface="Arial Unicode MS"/>
              </a:rPr>
              <a:t>i</a:t>
            </a:r>
            <a:r>
              <a:rPr lang="en-US" sz="2800" dirty="0">
                <a:cs typeface="Arial Unicode MS"/>
              </a:rPr>
              <a:t>v</a:t>
            </a:r>
            <a:r>
              <a:rPr lang="en-US" sz="2800" spc="-5" dirty="0">
                <a:cs typeface="Arial Unicode MS"/>
              </a:rPr>
              <a:t>i</a:t>
            </a:r>
            <a:r>
              <a:rPr lang="en-US" sz="2800" spc="-10" dirty="0">
                <a:cs typeface="Arial Unicode MS"/>
              </a:rPr>
              <a:t>t</a:t>
            </a:r>
            <a:r>
              <a:rPr lang="en-US" sz="2800" dirty="0">
                <a:cs typeface="Arial Unicode MS"/>
              </a:rPr>
              <a:t>y re</a:t>
            </a:r>
            <a:r>
              <a:rPr lang="en-US" sz="2800" spc="-10" dirty="0">
                <a:cs typeface="Arial Unicode MS"/>
              </a:rPr>
              <a:t>s</a:t>
            </a:r>
            <a:r>
              <a:rPr lang="en-US" sz="2800" dirty="0">
                <a:cs typeface="Arial Unicode MS"/>
              </a:rPr>
              <a:t>o</a:t>
            </a:r>
            <a:r>
              <a:rPr lang="en-US" sz="2800" spc="-10" dirty="0">
                <a:cs typeface="Arial Unicode MS"/>
              </a:rPr>
              <a:t>u</a:t>
            </a:r>
            <a:r>
              <a:rPr lang="en-US" sz="2800" dirty="0">
                <a:cs typeface="Arial Unicode MS"/>
              </a:rPr>
              <a:t>rces</a:t>
            </a:r>
          </a:p>
          <a:p>
            <a:pPr marL="800100" lvl="1" indent="-457200">
              <a:buFont typeface="+mj-lt"/>
              <a:buAutoNum type="arabicPeriod"/>
            </a:pPr>
            <a:r>
              <a:rPr lang="en-US" sz="2800" b="1" spc="-5" dirty="0">
                <a:solidFill>
                  <a:srgbClr val="FF0000"/>
                </a:solidFill>
                <a:cs typeface="Arial Black"/>
              </a:rPr>
              <a:t>E</a:t>
            </a:r>
            <a:r>
              <a:rPr lang="en-US" sz="2800" b="1" spc="-15" dirty="0">
                <a:solidFill>
                  <a:srgbClr val="FF0000"/>
                </a:solidFill>
                <a:cs typeface="Arial Black"/>
              </a:rPr>
              <a:t>st</a:t>
            </a:r>
            <a:r>
              <a:rPr lang="en-US" sz="2800" b="1" dirty="0">
                <a:solidFill>
                  <a:srgbClr val="FF0000"/>
                </a:solidFill>
                <a:cs typeface="Arial Black"/>
              </a:rPr>
              <a:t>im</a:t>
            </a:r>
            <a:r>
              <a:rPr lang="en-US" sz="2800" b="1" spc="-45" dirty="0">
                <a:solidFill>
                  <a:srgbClr val="FF0000"/>
                </a:solidFill>
                <a:cs typeface="Arial Black"/>
              </a:rPr>
              <a:t>a</a:t>
            </a:r>
            <a:r>
              <a:rPr lang="en-US" sz="2800" b="1" spc="-15" dirty="0">
                <a:solidFill>
                  <a:srgbClr val="FF0000"/>
                </a:solidFill>
                <a:cs typeface="Arial Black"/>
              </a:rPr>
              <a:t>te</a:t>
            </a:r>
            <a:r>
              <a:rPr lang="en-US" sz="2800" b="1" spc="-5" dirty="0">
                <a:solidFill>
                  <a:srgbClr val="FF0000"/>
                </a:solidFill>
                <a:cs typeface="Arial Black"/>
              </a:rPr>
              <a:t> </a:t>
            </a:r>
            <a:r>
              <a:rPr lang="en-US" sz="2800" b="1" spc="-35" dirty="0">
                <a:solidFill>
                  <a:srgbClr val="FF0000"/>
                </a:solidFill>
                <a:cs typeface="Arial Black"/>
              </a:rPr>
              <a:t>a</a:t>
            </a:r>
            <a:r>
              <a:rPr lang="en-US" sz="2800" b="1" spc="-25" dirty="0">
                <a:solidFill>
                  <a:srgbClr val="FF0000"/>
                </a:solidFill>
                <a:cs typeface="Arial Black"/>
              </a:rPr>
              <a:t>c</a:t>
            </a:r>
            <a:r>
              <a:rPr lang="en-US" sz="2800" b="1" spc="-15" dirty="0">
                <a:solidFill>
                  <a:srgbClr val="FF0000"/>
                </a:solidFill>
                <a:cs typeface="Arial Black"/>
              </a:rPr>
              <a:t>tivity</a:t>
            </a:r>
            <a:r>
              <a:rPr lang="en-US" sz="2800" b="1" spc="-10" dirty="0">
                <a:solidFill>
                  <a:srgbClr val="FF0000"/>
                </a:solidFill>
                <a:cs typeface="Arial Black"/>
              </a:rPr>
              <a:t> </a:t>
            </a:r>
            <a:r>
              <a:rPr lang="en-US" sz="2800" b="1" spc="-25" dirty="0">
                <a:solidFill>
                  <a:srgbClr val="FF0000"/>
                </a:solidFill>
                <a:cs typeface="Arial Black"/>
              </a:rPr>
              <a:t>du</a:t>
            </a:r>
            <a:r>
              <a:rPr lang="en-US" sz="2800" b="1" spc="15" dirty="0">
                <a:solidFill>
                  <a:srgbClr val="FF0000"/>
                </a:solidFill>
                <a:cs typeface="Arial Black"/>
              </a:rPr>
              <a:t>r</a:t>
            </a:r>
            <a:r>
              <a:rPr lang="en-US" sz="2800" b="1" spc="-65" dirty="0">
                <a:solidFill>
                  <a:srgbClr val="FF0000"/>
                </a:solidFill>
                <a:cs typeface="Arial Black"/>
              </a:rPr>
              <a:t>a</a:t>
            </a:r>
            <a:r>
              <a:rPr lang="en-US" sz="2800" b="1" spc="-15" dirty="0">
                <a:solidFill>
                  <a:srgbClr val="FF0000"/>
                </a:solidFill>
                <a:cs typeface="Arial Black"/>
              </a:rPr>
              <a:t>tions</a:t>
            </a:r>
            <a:endParaRPr lang="en-US" sz="2800" dirty="0">
              <a:solidFill>
                <a:srgbClr val="FF0000"/>
              </a:solidFill>
              <a:cs typeface="Arial Black"/>
            </a:endParaRPr>
          </a:p>
          <a:p>
            <a:pPr marL="800100" lvl="1" indent="-457200">
              <a:buFont typeface="+mj-lt"/>
              <a:buAutoNum type="arabicPeriod"/>
            </a:pPr>
            <a:r>
              <a:rPr lang="en-US" sz="2800" spc="-5" dirty="0">
                <a:cs typeface="Arial Unicode MS"/>
              </a:rPr>
              <a:t>D</a:t>
            </a:r>
            <a:r>
              <a:rPr lang="en-US" sz="2800" spc="-10" dirty="0">
                <a:cs typeface="Arial Unicode MS"/>
              </a:rPr>
              <a:t>e</a:t>
            </a:r>
            <a:r>
              <a:rPr lang="en-US" sz="2800" dirty="0">
                <a:cs typeface="Arial Unicode MS"/>
              </a:rPr>
              <a:t>v</a:t>
            </a:r>
            <a:r>
              <a:rPr lang="en-US" sz="2800" spc="-10" dirty="0">
                <a:cs typeface="Arial Unicode MS"/>
              </a:rPr>
              <a:t>e</a:t>
            </a:r>
            <a:r>
              <a:rPr lang="en-US" sz="2800" spc="-5" dirty="0">
                <a:cs typeface="Arial Unicode MS"/>
              </a:rPr>
              <a:t>l</a:t>
            </a:r>
            <a:r>
              <a:rPr lang="en-US" sz="2800" spc="-10" dirty="0">
                <a:cs typeface="Arial Unicode MS"/>
              </a:rPr>
              <a:t>o</a:t>
            </a:r>
            <a:r>
              <a:rPr lang="en-US" sz="2800" dirty="0">
                <a:cs typeface="Arial Unicode MS"/>
              </a:rPr>
              <a:t>p</a:t>
            </a:r>
            <a:r>
              <a:rPr lang="en-US" sz="2800" spc="-10" dirty="0">
                <a:cs typeface="Arial Unicode MS"/>
              </a:rPr>
              <a:t> </a:t>
            </a:r>
            <a:r>
              <a:rPr lang="en-US" sz="2800" dirty="0">
                <a:cs typeface="Arial Unicode MS"/>
              </a:rPr>
              <a:t>sch</a:t>
            </a:r>
            <a:r>
              <a:rPr lang="en-US" sz="2800" spc="-10" dirty="0">
                <a:cs typeface="Arial Unicode MS"/>
              </a:rPr>
              <a:t>edu</a:t>
            </a:r>
            <a:r>
              <a:rPr lang="en-US" sz="2800" spc="-5" dirty="0">
                <a:cs typeface="Arial Unicode MS"/>
              </a:rPr>
              <a:t>l</a:t>
            </a:r>
            <a:r>
              <a:rPr lang="en-US" sz="2800" dirty="0">
                <a:cs typeface="Arial Unicode MS"/>
              </a:rPr>
              <a:t>e</a:t>
            </a:r>
          </a:p>
          <a:p>
            <a:pPr marL="800100" lvl="1" indent="-457200">
              <a:buFont typeface="+mj-lt"/>
              <a:buAutoNum type="arabicPeriod"/>
            </a:pPr>
            <a:r>
              <a:rPr lang="en-US" sz="2800" spc="-10" dirty="0">
                <a:cs typeface="Arial Unicode MS"/>
              </a:rPr>
              <a:t>Cont</a:t>
            </a:r>
            <a:r>
              <a:rPr lang="en-US" sz="2800" dirty="0">
                <a:cs typeface="Arial Unicode MS"/>
              </a:rPr>
              <a:t>rol</a:t>
            </a:r>
            <a:r>
              <a:rPr lang="en-US" sz="2800" spc="-5" dirty="0">
                <a:cs typeface="Arial Unicode MS"/>
              </a:rPr>
              <a:t> </a:t>
            </a:r>
            <a:r>
              <a:rPr lang="en-US" sz="2800" dirty="0">
                <a:cs typeface="Arial Unicode MS"/>
              </a:rPr>
              <a:t>sc</a:t>
            </a:r>
            <a:r>
              <a:rPr lang="en-US" sz="2800" spc="-10" dirty="0">
                <a:cs typeface="Arial Unicode MS"/>
              </a:rPr>
              <a:t>hed</a:t>
            </a:r>
            <a:r>
              <a:rPr lang="en-US" sz="2800" dirty="0">
                <a:cs typeface="Arial Unicode MS"/>
              </a:rPr>
              <a:t>u</a:t>
            </a:r>
            <a:r>
              <a:rPr lang="en-US" sz="2800" spc="-15" dirty="0">
                <a:cs typeface="Arial Unicode MS"/>
              </a:rPr>
              <a:t>l</a:t>
            </a:r>
            <a:r>
              <a:rPr lang="en-US" sz="2800" dirty="0">
                <a:cs typeface="Arial Unicode MS"/>
              </a:rPr>
              <a:t>e</a:t>
            </a:r>
            <a:r>
              <a:rPr lang="en-US" sz="2800" spc="-10" dirty="0">
                <a:cs typeface="Arial Unicode MS"/>
              </a:rPr>
              <a:t>.</a:t>
            </a:r>
            <a:endParaRPr lang="en-US" sz="2800" dirty="0">
              <a:cs typeface="Arial Unicode MS"/>
            </a:endParaRPr>
          </a:p>
          <a:p>
            <a:pPr marL="12700">
              <a:lnSpc>
                <a:spcPct val="100000"/>
              </a:lnSpc>
              <a:spcBef>
                <a:spcPts val="1720"/>
              </a:spcBef>
            </a:pPr>
            <a:r>
              <a:rPr lang="en-US" sz="2400" spc="-20" dirty="0">
                <a:cs typeface="Arial Unicode MS"/>
              </a:rPr>
              <a:t>Today we are covering only</a:t>
            </a:r>
            <a:r>
              <a:rPr lang="en-US" sz="2400" dirty="0">
                <a:cs typeface="Arial Unicode MS"/>
              </a:rPr>
              <a:t> </a:t>
            </a:r>
            <a:r>
              <a:rPr lang="en-US" sz="2400" spc="-10" dirty="0">
                <a:cs typeface="Arial Unicode MS"/>
              </a:rPr>
              <a:t>t</a:t>
            </a:r>
            <a:r>
              <a:rPr lang="en-US" sz="2400" dirty="0">
                <a:cs typeface="Arial Unicode MS"/>
              </a:rPr>
              <a:t>he</a:t>
            </a:r>
            <a:r>
              <a:rPr lang="en-US" sz="2400" spc="-10" dirty="0">
                <a:cs typeface="Arial Unicode MS"/>
              </a:rPr>
              <a:t> p</a:t>
            </a:r>
            <a:r>
              <a:rPr lang="en-US" sz="2400" dirty="0">
                <a:cs typeface="Arial Unicode MS"/>
              </a:rPr>
              <a:t>roc</a:t>
            </a:r>
            <a:r>
              <a:rPr lang="en-US" sz="2400" spc="-10" dirty="0">
                <a:cs typeface="Arial Unicode MS"/>
              </a:rPr>
              <a:t>e</a:t>
            </a:r>
            <a:r>
              <a:rPr lang="en-US" sz="2400" dirty="0">
                <a:cs typeface="Arial Unicode MS"/>
              </a:rPr>
              <a:t>ss</a:t>
            </a:r>
            <a:r>
              <a:rPr lang="en-US" sz="2400" spc="-10" dirty="0">
                <a:cs typeface="Arial Unicode MS"/>
              </a:rPr>
              <a:t>e</a:t>
            </a:r>
            <a:r>
              <a:rPr lang="en-US" sz="2400" dirty="0">
                <a:cs typeface="Arial Unicode MS"/>
              </a:rPr>
              <a:t>s </a:t>
            </a:r>
            <a:r>
              <a:rPr lang="en-US" sz="2400" spc="-5" dirty="0">
                <a:cs typeface="Arial Unicode MS"/>
              </a:rPr>
              <a:t>i</a:t>
            </a:r>
            <a:r>
              <a:rPr lang="en-US" sz="2400" dirty="0">
                <a:cs typeface="Arial Unicode MS"/>
              </a:rPr>
              <a:t>n</a:t>
            </a:r>
            <a:r>
              <a:rPr lang="en-US" sz="2400" spc="40" dirty="0">
                <a:cs typeface="Arial Unicode MS"/>
              </a:rPr>
              <a:t> </a:t>
            </a:r>
            <a:r>
              <a:rPr lang="en-US" sz="2400" b="1" spc="-35" dirty="0">
                <a:solidFill>
                  <a:srgbClr val="FF0000"/>
                </a:solidFill>
                <a:cs typeface="Arial Black"/>
              </a:rPr>
              <a:t>b</a:t>
            </a:r>
            <a:r>
              <a:rPr lang="en-US" sz="2400" b="1" spc="-5" dirty="0">
                <a:solidFill>
                  <a:srgbClr val="FF0000"/>
                </a:solidFill>
                <a:cs typeface="Arial Black"/>
              </a:rPr>
              <a:t>old Red</a:t>
            </a:r>
            <a:endParaRPr lang="en-US" sz="2400" dirty="0">
              <a:solidFill>
                <a:srgbClr val="FF0000"/>
              </a:solidFill>
            </a:endParaRPr>
          </a:p>
          <a:p>
            <a:endParaRPr lang="en-US" spc="-10" dirty="0"/>
          </a:p>
          <a:p>
            <a:endParaRPr lang="en-US" dirty="0"/>
          </a:p>
        </p:txBody>
      </p:sp>
      <p:sp>
        <p:nvSpPr>
          <p:cNvPr id="4" name="Slide Number Placeholder 3"/>
          <p:cNvSpPr>
            <a:spLocks noGrp="1"/>
          </p:cNvSpPr>
          <p:nvPr>
            <p:ph type="sldNum" sz="quarter" idx="12"/>
          </p:nvPr>
        </p:nvSpPr>
        <p:spPr/>
        <p:txBody>
          <a:bodyPr/>
          <a:lstStyle/>
          <a:p>
            <a:pPr>
              <a:defRPr/>
            </a:pPr>
            <a:fld id="{B9783C55-CC08-4E09-BF3D-925249F2761C}" type="slidenum">
              <a:rPr lang="en-US" altLang="en-US" smtClean="0"/>
              <a:pPr>
                <a:defRPr/>
              </a:pPr>
              <a:t>2</a:t>
            </a:fld>
            <a:endParaRPr lang="en-US" altLang="en-US"/>
          </a:p>
        </p:txBody>
      </p:sp>
      <p:sp>
        <p:nvSpPr>
          <p:cNvPr id="7" name="Date Placeholder 6">
            <a:extLst>
              <a:ext uri="{FF2B5EF4-FFF2-40B4-BE49-F238E27FC236}">
                <a16:creationId xmlns:a16="http://schemas.microsoft.com/office/drawing/2014/main" id="{9D1819AA-05E7-44E3-B41E-F5E271AA5F79}"/>
              </a:ext>
            </a:extLst>
          </p:cNvPr>
          <p:cNvSpPr>
            <a:spLocks noGrp="1"/>
          </p:cNvSpPr>
          <p:nvPr>
            <p:ph type="dt" sz="half" idx="10"/>
          </p:nvPr>
        </p:nvSpPr>
        <p:spPr/>
        <p:txBody>
          <a:bodyPr/>
          <a:lstStyle/>
          <a:p>
            <a:pPr>
              <a:defRPr/>
            </a:pPr>
            <a:r>
              <a:rPr lang="en-US"/>
              <a:t>G.R. Labbé</a:t>
            </a:r>
          </a:p>
        </p:txBody>
      </p:sp>
    </p:spTree>
    <p:extLst>
      <p:ext uri="{BB962C8B-B14F-4D97-AF65-F5344CB8AC3E}">
        <p14:creationId xmlns:p14="http://schemas.microsoft.com/office/powerpoint/2010/main" val="1671026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685332" y="618519"/>
            <a:ext cx="7773338" cy="448282"/>
          </a:xfrm>
        </p:spPr>
        <p:txBody>
          <a:bodyPr>
            <a:noAutofit/>
          </a:bodyPr>
          <a:lstStyle/>
          <a:p>
            <a:r>
              <a:rPr lang="en-US" sz="2800" dirty="0">
                <a:latin typeface="+mn-lt"/>
              </a:rPr>
              <a:t>Define Activities Process</a:t>
            </a:r>
          </a:p>
        </p:txBody>
      </p:sp>
      <p:sp>
        <p:nvSpPr>
          <p:cNvPr id="22530" name="Rectangle 3"/>
          <p:cNvSpPr>
            <a:spLocks noGrp="1" noChangeArrowheads="1"/>
          </p:cNvSpPr>
          <p:nvPr>
            <p:ph idx="1"/>
          </p:nvPr>
        </p:nvSpPr>
        <p:spPr>
          <a:xfrm>
            <a:off x="313016" y="1315244"/>
            <a:ext cx="8458199" cy="2181225"/>
          </a:xfrm>
        </p:spPr>
        <p:txBody>
          <a:bodyPr>
            <a:normAutofit/>
          </a:bodyPr>
          <a:lstStyle/>
          <a:p>
            <a:r>
              <a:rPr lang="en-US" sz="2000" dirty="0"/>
              <a:t>First you need to generate the </a:t>
            </a:r>
            <a:r>
              <a:rPr lang="en-US" sz="2000" dirty="0">
                <a:solidFill>
                  <a:srgbClr val="00B050"/>
                </a:solidFill>
              </a:rPr>
              <a:t>Work Breakdown Structure (WBS) </a:t>
            </a:r>
            <a:r>
              <a:rPr lang="en-US" sz="2000" dirty="0"/>
              <a:t>for the project as demonstrated. This is done by identifying all the activities that need to be completed to meet the project deliverables.</a:t>
            </a:r>
          </a:p>
          <a:p>
            <a:r>
              <a:rPr lang="en-US" sz="2000" dirty="0"/>
              <a:t>From the WBS, you need to generate the </a:t>
            </a:r>
            <a:r>
              <a:rPr lang="en-US" sz="2000" b="1" dirty="0">
                <a:solidFill>
                  <a:srgbClr val="7030A0"/>
                </a:solidFill>
              </a:rPr>
              <a:t>Network Activity Diagram </a:t>
            </a:r>
            <a:r>
              <a:rPr lang="en-US" sz="2000" dirty="0"/>
              <a:t>for the project – commonly referred to as the Network Diagram. </a:t>
            </a:r>
          </a:p>
        </p:txBody>
      </p:sp>
      <p:sp>
        <p:nvSpPr>
          <p:cNvPr id="22531"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22532" name="Picture 6" descr="http://www.pmhut.com/wp-content/uploads/2008/01/network-diagram-with-durati.jpg"/>
          <p:cNvPicPr>
            <a:picLocks noChangeAspect="1" noChangeArrowheads="1"/>
          </p:cNvPicPr>
          <p:nvPr/>
        </p:nvPicPr>
        <p:blipFill>
          <a:blip r:embed="rId3" cstate="print"/>
          <a:srcRect/>
          <a:stretch>
            <a:fillRect/>
          </a:stretch>
        </p:blipFill>
        <p:spPr bwMode="auto">
          <a:xfrm>
            <a:off x="1901309" y="3124200"/>
            <a:ext cx="5281612" cy="2911475"/>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3</a:t>
            </a:fld>
            <a:endParaRPr lang="en-US" altLang="en-US"/>
          </a:p>
        </p:txBody>
      </p:sp>
      <p:sp>
        <p:nvSpPr>
          <p:cNvPr id="5" name="Date Placeholder 4">
            <a:extLst>
              <a:ext uri="{FF2B5EF4-FFF2-40B4-BE49-F238E27FC236}">
                <a16:creationId xmlns:a16="http://schemas.microsoft.com/office/drawing/2014/main" id="{39F2CD0A-0EDB-4408-A357-81E6F4267D26}"/>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mn-lt"/>
              </a:rPr>
              <a:t>WBS Review</a:t>
            </a:r>
            <a:br>
              <a:rPr lang="en-US" sz="3600" dirty="0">
                <a:latin typeface="+mn-lt"/>
              </a:rPr>
            </a:br>
            <a:br>
              <a:rPr lang="en-US" sz="2800" dirty="0">
                <a:latin typeface="+mn-lt"/>
              </a:rPr>
            </a:br>
            <a:r>
              <a:rPr lang="en-US" sz="2400" dirty="0">
                <a:latin typeface="+mn-lt"/>
              </a:rPr>
              <a:t>What is the definition of WBS?</a:t>
            </a:r>
          </a:p>
        </p:txBody>
      </p:sp>
      <p:sp>
        <p:nvSpPr>
          <p:cNvPr id="3" name="Content Placeholder 2"/>
          <p:cNvSpPr>
            <a:spLocks noGrp="1"/>
          </p:cNvSpPr>
          <p:nvPr>
            <p:ph idx="1"/>
          </p:nvPr>
        </p:nvSpPr>
        <p:spPr>
          <a:xfrm>
            <a:off x="228600" y="1788232"/>
            <a:ext cx="8686800" cy="4953000"/>
          </a:xfrm>
        </p:spPr>
        <p:txBody>
          <a:bodyPr>
            <a:normAutofit/>
          </a:bodyPr>
          <a:lstStyle/>
          <a:p>
            <a:pPr marL="288925" indent="-288925" algn="ctr">
              <a:buNone/>
            </a:pPr>
            <a:r>
              <a:rPr lang="en-US" sz="2000" b="1"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A work breakdown structure </a:t>
            </a:r>
            <a:r>
              <a:rPr lang="en-US" sz="2000" i="1" dirty="0">
                <a:solidFill>
                  <a:srgbClr val="FF0000"/>
                </a:solidFill>
                <a:latin typeface="Arial" panose="020B0604020202020204" pitchFamily="34" charset="0"/>
                <a:cs typeface="Arial" panose="020B0604020202020204" pitchFamily="34" charset="0"/>
              </a:rPr>
              <a:t>(WBS)</a:t>
            </a:r>
            <a:r>
              <a:rPr lang="en-US" sz="2000" dirty="0">
                <a:solidFill>
                  <a:srgbClr val="FF0000"/>
                </a:solidFill>
                <a:latin typeface="Arial" panose="020B0604020202020204" pitchFamily="34" charset="0"/>
                <a:cs typeface="Arial" panose="020B0604020202020204" pitchFamily="34" charset="0"/>
              </a:rPr>
              <a:t> is a deliverable</a:t>
            </a:r>
          </a:p>
          <a:p>
            <a:pPr marL="288925" indent="-288925" algn="ctr">
              <a:buNone/>
            </a:pPr>
            <a:r>
              <a:rPr lang="en-US" sz="2000" dirty="0">
                <a:solidFill>
                  <a:srgbClr val="FF0000"/>
                </a:solidFill>
                <a:latin typeface="Arial" panose="020B0604020202020204" pitchFamily="34" charset="0"/>
                <a:cs typeface="Arial" panose="020B0604020202020204" pitchFamily="34" charset="0"/>
              </a:rPr>
              <a:t>		oriented grouping of project components that organizes</a:t>
            </a:r>
          </a:p>
          <a:p>
            <a:pPr marL="288925" indent="-288925" algn="ctr">
              <a:buNone/>
            </a:pPr>
            <a:r>
              <a:rPr lang="en-US" sz="2000" dirty="0">
                <a:solidFill>
                  <a:srgbClr val="FF0000"/>
                </a:solidFill>
                <a:latin typeface="Arial" panose="020B0604020202020204" pitchFamily="34" charset="0"/>
                <a:cs typeface="Arial" panose="020B0604020202020204" pitchFamily="34" charset="0"/>
              </a:rPr>
              <a:t> and defines the total scope of the project.</a:t>
            </a:r>
          </a:p>
          <a:p>
            <a:pPr marL="288925" indent="-288925">
              <a:buNone/>
            </a:pPr>
            <a:endParaRPr lang="en-US" sz="2000" dirty="0">
              <a:latin typeface="Arial" panose="020B0604020202020204" pitchFamily="34" charset="0"/>
              <a:cs typeface="Arial" panose="020B0604020202020204" pitchFamily="34" charset="0"/>
            </a:endParaRPr>
          </a:p>
          <a:p>
            <a:pPr>
              <a:buFont typeface="Wingdings" panose="05000000000000000000" pitchFamily="2" charset="2"/>
              <a:buChar char="v"/>
            </a:pPr>
            <a:r>
              <a:rPr lang="en-US" sz="2000" dirty="0">
                <a:latin typeface="Arial" panose="020B0604020202020204" pitchFamily="34" charset="0"/>
                <a:cs typeface="Arial" panose="020B0604020202020204" pitchFamily="34" charset="0"/>
              </a:rPr>
              <a:t>The </a:t>
            </a:r>
            <a:r>
              <a:rPr lang="en-US" sz="2000" dirty="0">
                <a:solidFill>
                  <a:srgbClr val="00B050"/>
                </a:solidFill>
                <a:latin typeface="Arial" panose="020B0604020202020204" pitchFamily="34" charset="0"/>
                <a:cs typeface="Arial" panose="020B0604020202020204" pitchFamily="34" charset="0"/>
              </a:rPr>
              <a:t>WBS</a:t>
            </a:r>
            <a:r>
              <a:rPr lang="en-US" sz="2000" dirty="0">
                <a:latin typeface="Arial" panose="020B0604020202020204" pitchFamily="34" charset="0"/>
                <a:cs typeface="Arial" panose="020B0604020202020204" pitchFamily="34" charset="0"/>
              </a:rPr>
              <a:t> is the </a:t>
            </a:r>
            <a:r>
              <a:rPr lang="en-US" sz="2000" dirty="0">
                <a:solidFill>
                  <a:srgbClr val="00B050"/>
                </a:solidFill>
                <a:latin typeface="Arial" panose="020B0604020202020204" pitchFamily="34" charset="0"/>
                <a:cs typeface="Arial" panose="020B0604020202020204" pitchFamily="34" charset="0"/>
              </a:rPr>
              <a:t>project scope</a:t>
            </a:r>
            <a:r>
              <a:rPr lang="en-US" sz="2000" dirty="0">
                <a:latin typeface="Arial" panose="020B0604020202020204" pitchFamily="34" charset="0"/>
                <a:cs typeface="Arial" panose="020B0604020202020204" pitchFamily="34" charset="0"/>
              </a:rPr>
              <a:t> broken down into smaller manageable  pieces or tasks. If all the tasks are completed, then the sum of those tasks will equal the project scope.</a:t>
            </a:r>
          </a:p>
          <a:p>
            <a:pPr>
              <a:buFont typeface="Wingdings" panose="05000000000000000000" pitchFamily="2" charset="2"/>
              <a:buChar char="v"/>
            </a:pPr>
            <a:r>
              <a:rPr lang="en-US" sz="2000" dirty="0">
                <a:solidFill>
                  <a:srgbClr val="00B050"/>
                </a:solidFill>
                <a:latin typeface="Arial" panose="020B0604020202020204" pitchFamily="34" charset="0"/>
                <a:cs typeface="Arial" panose="020B0604020202020204" pitchFamily="34" charset="0"/>
              </a:rPr>
              <a:t>Level 1 </a:t>
            </a:r>
            <a:r>
              <a:rPr lang="en-US" sz="2000" dirty="0">
                <a:latin typeface="Arial" panose="020B0604020202020204" pitchFamily="34" charset="0"/>
                <a:cs typeface="Arial" panose="020B0604020202020204" pitchFamily="34" charset="0"/>
              </a:rPr>
              <a:t>of a WBS is the scope broken down in </a:t>
            </a:r>
            <a:r>
              <a:rPr lang="en-US" sz="2000" dirty="0">
                <a:solidFill>
                  <a:schemeClr val="bg2">
                    <a:lumMod val="75000"/>
                  </a:schemeClr>
                </a:solidFill>
                <a:latin typeface="Arial" panose="020B0604020202020204" pitchFamily="34" charset="0"/>
                <a:cs typeface="Arial" panose="020B0604020202020204" pitchFamily="34" charset="0"/>
              </a:rPr>
              <a:t>broad categories</a:t>
            </a:r>
            <a:r>
              <a:rPr lang="en-US" sz="2000" dirty="0">
                <a:latin typeface="Arial" panose="020B0604020202020204" pitchFamily="34" charset="0"/>
                <a:cs typeface="Arial" panose="020B0604020202020204" pitchFamily="34" charset="0"/>
              </a:rPr>
              <a:t>. </a:t>
            </a:r>
          </a:p>
          <a:p>
            <a:pPr>
              <a:buFont typeface="Wingdings" panose="05000000000000000000" pitchFamily="2" charset="2"/>
              <a:buChar char="v"/>
            </a:pPr>
            <a:r>
              <a:rPr lang="en-US" sz="2000" dirty="0">
                <a:solidFill>
                  <a:srgbClr val="00B050"/>
                </a:solidFill>
                <a:latin typeface="Arial" panose="020B0604020202020204" pitchFamily="34" charset="0"/>
                <a:cs typeface="Arial" panose="020B0604020202020204" pitchFamily="34" charset="0"/>
              </a:rPr>
              <a:t>Level 2 </a:t>
            </a:r>
            <a:r>
              <a:rPr lang="en-US" sz="2000" dirty="0">
                <a:latin typeface="Arial" panose="020B0604020202020204" pitchFamily="34" charset="0"/>
                <a:cs typeface="Arial" panose="020B0604020202020204" pitchFamily="34" charset="0"/>
              </a:rPr>
              <a:t>is each of these broad categories broken down into smaller more manageable tasks or smaller categories (</a:t>
            </a:r>
            <a:r>
              <a:rPr lang="en-US" sz="2000" dirty="0">
                <a:solidFill>
                  <a:srgbClr val="7030A0"/>
                </a:solidFill>
                <a:latin typeface="Arial" panose="020B0604020202020204" pitchFamily="34" charset="0"/>
                <a:cs typeface="Arial" panose="020B0604020202020204" pitchFamily="34" charset="0"/>
              </a:rPr>
              <a:t>work packages</a:t>
            </a:r>
            <a:r>
              <a:rPr lang="en-US" sz="2000" dirty="0">
                <a:latin typeface="Arial" panose="020B0604020202020204" pitchFamily="34" charset="0"/>
                <a:cs typeface="Arial" panose="020B0604020202020204" pitchFamily="34" charset="0"/>
              </a:rPr>
              <a:t>). These tasks take between 8 and 80 hours to complete for the average project. You do not want to break tasks down below 8 hours as it becomes micromanaging at that point. Tasks more than 80 hours are too broad to manage properly</a:t>
            </a:r>
            <a:r>
              <a:rPr lang="en-US" sz="2000" b="1" dirty="0">
                <a:latin typeface="Arial" panose="020B0604020202020204" pitchFamily="34" charset="0"/>
                <a:cs typeface="Arial" panose="020B0604020202020204" pitchFamily="34" charset="0"/>
              </a:rPr>
              <a:t>.</a:t>
            </a:r>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B9783C55-CC08-4E09-BF3D-925249F2761C}" type="slidenum">
              <a:rPr lang="en-US" altLang="en-US" smtClean="0"/>
              <a:pPr>
                <a:defRPr/>
              </a:pPr>
              <a:t>4</a:t>
            </a:fld>
            <a:endParaRPr lang="en-US" altLang="en-US"/>
          </a:p>
        </p:txBody>
      </p:sp>
      <p:sp>
        <p:nvSpPr>
          <p:cNvPr id="8" name="Date Placeholder 7">
            <a:extLst>
              <a:ext uri="{FF2B5EF4-FFF2-40B4-BE49-F238E27FC236}">
                <a16:creationId xmlns:a16="http://schemas.microsoft.com/office/drawing/2014/main" id="{4769877A-EF34-468C-A976-AFB23E680DFE}"/>
              </a:ext>
            </a:extLst>
          </p:cNvPr>
          <p:cNvSpPr>
            <a:spLocks noGrp="1"/>
          </p:cNvSpPr>
          <p:nvPr>
            <p:ph type="dt" sz="half" idx="10"/>
          </p:nvPr>
        </p:nvSpPr>
        <p:spPr/>
        <p:txBody>
          <a:bodyPr/>
          <a:lstStyle/>
          <a:p>
            <a:pPr>
              <a:defRPr/>
            </a:pPr>
            <a:r>
              <a:rPr lang="en-US"/>
              <a:t>G.R. Labbé</a:t>
            </a:r>
          </a:p>
        </p:txBody>
      </p:sp>
    </p:spTree>
    <p:extLst>
      <p:ext uri="{BB962C8B-B14F-4D97-AF65-F5344CB8AC3E}">
        <p14:creationId xmlns:p14="http://schemas.microsoft.com/office/powerpoint/2010/main" val="3205415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arn(inVertic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barn(inVertic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barn(inVertical)">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207924691"/>
              </p:ext>
            </p:extLst>
          </p:nvPr>
        </p:nvGraphicFramePr>
        <p:xfrm>
          <a:off x="762000" y="152400"/>
          <a:ext cx="7848603" cy="6502741"/>
        </p:xfrm>
        <a:graphic>
          <a:graphicData uri="http://schemas.openxmlformats.org/drawingml/2006/table">
            <a:tbl>
              <a:tblPr>
                <a:tableStyleId>{5C22544A-7EE6-4342-B048-85BDC9FD1C3A}</a:tableStyleId>
              </a:tblPr>
              <a:tblGrid>
                <a:gridCol w="872067">
                  <a:extLst>
                    <a:ext uri="{9D8B030D-6E8A-4147-A177-3AD203B41FA5}">
                      <a16:colId xmlns:a16="http://schemas.microsoft.com/office/drawing/2014/main" val="20000"/>
                    </a:ext>
                  </a:extLst>
                </a:gridCol>
                <a:gridCol w="872067">
                  <a:extLst>
                    <a:ext uri="{9D8B030D-6E8A-4147-A177-3AD203B41FA5}">
                      <a16:colId xmlns:a16="http://schemas.microsoft.com/office/drawing/2014/main" val="20001"/>
                    </a:ext>
                  </a:extLst>
                </a:gridCol>
                <a:gridCol w="872067">
                  <a:extLst>
                    <a:ext uri="{9D8B030D-6E8A-4147-A177-3AD203B41FA5}">
                      <a16:colId xmlns:a16="http://schemas.microsoft.com/office/drawing/2014/main" val="20002"/>
                    </a:ext>
                  </a:extLst>
                </a:gridCol>
                <a:gridCol w="872067">
                  <a:extLst>
                    <a:ext uri="{9D8B030D-6E8A-4147-A177-3AD203B41FA5}">
                      <a16:colId xmlns:a16="http://schemas.microsoft.com/office/drawing/2014/main" val="20003"/>
                    </a:ext>
                  </a:extLst>
                </a:gridCol>
                <a:gridCol w="872067">
                  <a:extLst>
                    <a:ext uri="{9D8B030D-6E8A-4147-A177-3AD203B41FA5}">
                      <a16:colId xmlns:a16="http://schemas.microsoft.com/office/drawing/2014/main" val="20004"/>
                    </a:ext>
                  </a:extLst>
                </a:gridCol>
                <a:gridCol w="872067">
                  <a:extLst>
                    <a:ext uri="{9D8B030D-6E8A-4147-A177-3AD203B41FA5}">
                      <a16:colId xmlns:a16="http://schemas.microsoft.com/office/drawing/2014/main" val="20005"/>
                    </a:ext>
                  </a:extLst>
                </a:gridCol>
                <a:gridCol w="872067">
                  <a:extLst>
                    <a:ext uri="{9D8B030D-6E8A-4147-A177-3AD203B41FA5}">
                      <a16:colId xmlns:a16="http://schemas.microsoft.com/office/drawing/2014/main" val="20006"/>
                    </a:ext>
                  </a:extLst>
                </a:gridCol>
                <a:gridCol w="872067">
                  <a:extLst>
                    <a:ext uri="{9D8B030D-6E8A-4147-A177-3AD203B41FA5}">
                      <a16:colId xmlns:a16="http://schemas.microsoft.com/office/drawing/2014/main" val="20007"/>
                    </a:ext>
                  </a:extLst>
                </a:gridCol>
                <a:gridCol w="872067">
                  <a:extLst>
                    <a:ext uri="{9D8B030D-6E8A-4147-A177-3AD203B41FA5}">
                      <a16:colId xmlns:a16="http://schemas.microsoft.com/office/drawing/2014/main" val="20008"/>
                    </a:ext>
                  </a:extLst>
                </a:gridCol>
              </a:tblGrid>
              <a:tr h="325446">
                <a:tc gridSpan="9">
                  <a:txBody>
                    <a:bodyPr/>
                    <a:lstStyle/>
                    <a:p>
                      <a:pPr algn="ctr" fontAlgn="b"/>
                      <a:r>
                        <a:rPr lang="en-US" sz="2000" u="sng" strike="noStrike" dirty="0">
                          <a:effectLst/>
                        </a:rPr>
                        <a:t>Sample WBS for Project Management</a:t>
                      </a:r>
                      <a:endParaRPr lang="en-US" sz="2000" b="1" i="0" u="sng" strike="noStrike" dirty="0">
                        <a:solidFill>
                          <a:srgbClr val="000000"/>
                        </a:solidFill>
                        <a:effectLst/>
                        <a:latin typeface="Calibri" panose="020F050202020403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03468">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dirty="0">
                        <a:solidFill>
                          <a:srgbClr val="000000"/>
                        </a:solidFill>
                        <a:effectLst/>
                        <a:latin typeface="Calibri" panose="020F0502020204030204" pitchFamily="34" charset="0"/>
                      </a:endParaRPr>
                    </a:p>
                  </a:txBody>
                  <a:tcPr marL="6263" marR="6263" marT="6263" marB="0" anchor="b"/>
                </a:tc>
                <a:tc>
                  <a:txBody>
                    <a:bodyPr/>
                    <a:lstStyle/>
                    <a:p>
                      <a:pPr algn="ctr" fontAlgn="b"/>
                      <a:endParaRPr lang="en-US" sz="1100" b="1" i="0" u="sng"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1"/>
                  </a:ext>
                </a:extLst>
              </a:tr>
              <a:tr h="218593">
                <a:tc>
                  <a:txBody>
                    <a:bodyPr/>
                    <a:lstStyle/>
                    <a:p>
                      <a:pPr algn="r" fontAlgn="b"/>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7">
                  <a:txBody>
                    <a:bodyPr/>
                    <a:lstStyle/>
                    <a:p>
                      <a:pPr algn="l" fontAlgn="b"/>
                      <a:r>
                        <a:rPr lang="en-US" sz="1400" u="none" strike="noStrike" dirty="0">
                          <a:effectLst/>
                          <a:latin typeface="Arial" panose="020B0604020202020204" pitchFamily="34" charset="0"/>
                          <a:cs typeface="Arial" panose="020B0604020202020204" pitchFamily="34" charset="0"/>
                        </a:rPr>
                        <a:t>Fabrication and Assembly of components for tool rest (Project 275)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2"/>
                  </a:ext>
                </a:extLst>
              </a:tr>
              <a:tr h="218593">
                <a:tc>
                  <a:txBody>
                    <a:bodyPr/>
                    <a:lstStyle/>
                    <a:p>
                      <a:pPr algn="l" fontAlgn="b"/>
                      <a:r>
                        <a:rPr lang="en-US" sz="1400" u="none" strike="noStrike">
                          <a:effectLst/>
                          <a:latin typeface="Arial" panose="020B0604020202020204" pitchFamily="34" charset="0"/>
                          <a:cs typeface="Arial" panose="020B0604020202020204" pitchFamily="34" charset="0"/>
                        </a:rPr>
                        <a:t>(Level 1)</a:t>
                      </a:r>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effectLst/>
                          <a:latin typeface="Arial" panose="020B0604020202020204" pitchFamily="34" charset="0"/>
                          <a:cs typeface="Arial" panose="020B0604020202020204" pitchFamily="34" charset="0"/>
                        </a:rPr>
                        <a:t>Material</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2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3"/>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1.1</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4">
                  <a:txBody>
                    <a:bodyPr/>
                    <a:lstStyle/>
                    <a:p>
                      <a:pPr algn="l" fontAlgn="b"/>
                      <a:r>
                        <a:rPr lang="en-US" sz="1400" u="none" strike="noStrike" dirty="0">
                          <a:effectLst/>
                          <a:latin typeface="Arial" panose="020B0604020202020204" pitchFamily="34" charset="0"/>
                          <a:cs typeface="Arial" panose="020B0604020202020204" pitchFamily="34" charset="0"/>
                        </a:rPr>
                        <a:t>Material lists prepared from drawings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4"/>
                  </a:ext>
                </a:extLst>
              </a:tr>
              <a:tr h="218593">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(Level 2)</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1.3</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Material Ordered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dirty="0">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5"/>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1.5</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4">
                  <a:txBody>
                    <a:bodyPr/>
                    <a:lstStyle/>
                    <a:p>
                      <a:pPr algn="l" fontAlgn="b"/>
                      <a:r>
                        <a:rPr lang="en-US" sz="1400" u="none" strike="noStrike" dirty="0">
                          <a:effectLst/>
                          <a:latin typeface="Arial" panose="020B0604020202020204" pitchFamily="34" charset="0"/>
                          <a:cs typeface="Arial" panose="020B0604020202020204" pitchFamily="34" charset="0"/>
                        </a:rPr>
                        <a:t>Material inspected upon delivery</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6"/>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1.7</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4">
                  <a:txBody>
                    <a:bodyPr/>
                    <a:lstStyle/>
                    <a:p>
                      <a:pPr algn="l" fontAlgn="b"/>
                      <a:r>
                        <a:rPr lang="en-US" sz="1400" u="none" strike="noStrike" dirty="0">
                          <a:effectLst/>
                          <a:latin typeface="Arial" panose="020B0604020202020204" pitchFamily="34" charset="0"/>
                          <a:cs typeface="Arial" panose="020B0604020202020204" pitchFamily="34" charset="0"/>
                        </a:rPr>
                        <a:t>Prepare material for fabrication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7"/>
                  </a:ext>
                </a:extLst>
              </a:tr>
              <a:tr h="218593">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(Level 3)</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1.7.1</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gridSpan="4">
                  <a:txBody>
                    <a:bodyPr/>
                    <a:lstStyle/>
                    <a:p>
                      <a:pPr algn="l" fontAlgn="b"/>
                      <a:r>
                        <a:rPr lang="en-US" sz="1400" u="none" strike="noStrike" dirty="0">
                          <a:effectLst/>
                          <a:latin typeface="Arial" panose="020B0604020202020204" pitchFamily="34" charset="0"/>
                          <a:cs typeface="Arial" panose="020B0604020202020204" pitchFamily="34" charset="0"/>
                        </a:rPr>
                        <a:t>Stock squared for base plates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dirty="0">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8"/>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1.7.3</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gridSpan="4">
                  <a:txBody>
                    <a:bodyPr/>
                    <a:lstStyle/>
                    <a:p>
                      <a:pPr algn="l" fontAlgn="b"/>
                      <a:r>
                        <a:rPr lang="en-US" sz="1400" u="none" strike="noStrike" dirty="0">
                          <a:effectLst/>
                          <a:latin typeface="Arial" panose="020B0604020202020204" pitchFamily="34" charset="0"/>
                          <a:cs typeface="Arial" panose="020B0604020202020204" pitchFamily="34" charset="0"/>
                        </a:rPr>
                        <a:t>Round stock sized for turning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09"/>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Equipment</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10"/>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3.1</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5">
                  <a:txBody>
                    <a:bodyPr/>
                    <a:lstStyle/>
                    <a:p>
                      <a:pPr algn="l" fontAlgn="b"/>
                      <a:r>
                        <a:rPr lang="en-US" sz="1400" u="none" strike="noStrike" dirty="0">
                          <a:effectLst/>
                          <a:latin typeface="Arial" panose="020B0604020202020204" pitchFamily="34" charset="0"/>
                          <a:cs typeface="Arial" panose="020B0604020202020204" pitchFamily="34" charset="0"/>
                        </a:rPr>
                        <a:t>CNC 1 and 2 booked for required fabrication time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11"/>
                  </a:ext>
                </a:extLst>
              </a:tr>
              <a:tr h="383252">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3.3</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5">
                  <a:txBody>
                    <a:bodyPr/>
                    <a:lstStyle/>
                    <a:p>
                      <a:pPr algn="l" fontAlgn="b"/>
                      <a:r>
                        <a:rPr lang="en-US" sz="1400" u="none" strike="noStrike" dirty="0">
                          <a:effectLst/>
                          <a:latin typeface="Arial" panose="020B0604020202020204" pitchFamily="34" charset="0"/>
                          <a:cs typeface="Arial" panose="020B0604020202020204" pitchFamily="34" charset="0"/>
                        </a:rPr>
                        <a:t>Lathes 1, 2 and 3 booked for required fabrication time</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l" fontAlgn="b"/>
                      <a:endParaRPr lang="en-US" sz="700" b="0" i="0" u="none" strike="noStrike" dirty="0">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12"/>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Manpower</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13"/>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5.1</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6">
                  <a:txBody>
                    <a:bodyPr/>
                    <a:lstStyle/>
                    <a:p>
                      <a:pPr algn="l" fontAlgn="b"/>
                      <a:r>
                        <a:rPr lang="en-US" sz="1400" u="none" strike="noStrike" dirty="0">
                          <a:effectLst/>
                          <a:latin typeface="Arial" panose="020B0604020202020204" pitchFamily="34" charset="0"/>
                          <a:cs typeface="Arial" panose="020B0604020202020204" pitchFamily="34" charset="0"/>
                        </a:rPr>
                        <a:t>Manpower availability with Fabrication Manager determined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4"/>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5.1.1</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15"/>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5.3</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6">
                  <a:txBody>
                    <a:bodyPr/>
                    <a:lstStyle/>
                    <a:p>
                      <a:pPr algn="l" fontAlgn="b"/>
                      <a:r>
                        <a:rPr lang="en-US" sz="1400" u="none" strike="noStrike" dirty="0">
                          <a:effectLst/>
                          <a:latin typeface="Arial" panose="020B0604020202020204" pitchFamily="34" charset="0"/>
                          <a:cs typeface="Arial" panose="020B0604020202020204" pitchFamily="34" charset="0"/>
                        </a:rPr>
                        <a:t>Manpower availability with Assembly Manager determined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6"/>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5.3.1</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gridSpan="5">
                  <a:txBody>
                    <a:bodyPr/>
                    <a:lstStyle/>
                    <a:p>
                      <a:pPr algn="l" fontAlgn="b"/>
                      <a:r>
                        <a:rPr lang="en-US" sz="1400" u="none" strike="noStrike" dirty="0">
                          <a:effectLst/>
                          <a:latin typeface="Arial" panose="020B0604020202020204" pitchFamily="34" charset="0"/>
                          <a:cs typeface="Arial" panose="020B0604020202020204" pitchFamily="34" charset="0"/>
                        </a:rPr>
                        <a:t>Created / Posted schedule  for assembly operators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7"/>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0070C0"/>
                          </a:solidFill>
                          <a:effectLst/>
                          <a:latin typeface="Arial" panose="020B0604020202020204" pitchFamily="34" charset="0"/>
                          <a:cs typeface="Arial" panose="020B0604020202020204" pitchFamily="34" charset="0"/>
                        </a:rPr>
                        <a:t>5.5</a:t>
                      </a:r>
                      <a:endParaRPr lang="en-US" sz="1400" b="0" i="0" u="none" strike="noStrike" dirty="0">
                        <a:solidFill>
                          <a:srgbClr val="0070C0"/>
                        </a:solidFill>
                        <a:effectLst/>
                        <a:latin typeface="Arial" panose="020B0604020202020204" pitchFamily="34" charset="0"/>
                        <a:cs typeface="Arial" panose="020B0604020202020204" pitchFamily="34" charset="0"/>
                      </a:endParaRPr>
                    </a:p>
                  </a:txBody>
                  <a:tcPr marL="6263" marR="6263" marT="6263" marB="0" anchor="b"/>
                </a:tc>
                <a:tc gridSpan="6">
                  <a:txBody>
                    <a:bodyPr/>
                    <a:lstStyle/>
                    <a:p>
                      <a:pPr algn="l" fontAlgn="b"/>
                      <a:r>
                        <a:rPr lang="en-US" sz="1400" u="none" strike="noStrike" dirty="0">
                          <a:effectLst/>
                          <a:latin typeface="Arial" panose="020B0604020202020204" pitchFamily="34" charset="0"/>
                          <a:cs typeface="Arial" panose="020B0604020202020204" pitchFamily="34" charset="0"/>
                        </a:rPr>
                        <a:t>Manpower availability with Quality Manager determined</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8"/>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solidFill>
                            <a:srgbClr val="FF0000"/>
                          </a:solidFill>
                          <a:effectLst/>
                          <a:latin typeface="Arial" panose="020B0604020202020204" pitchFamily="34" charset="0"/>
                          <a:cs typeface="Arial" panose="020B0604020202020204" pitchFamily="34" charset="0"/>
                        </a:rPr>
                        <a:t>5.5.1</a:t>
                      </a:r>
                      <a:endParaRPr lang="en-US" sz="1400" b="0" i="0" u="none" strike="noStrike" dirty="0">
                        <a:solidFill>
                          <a:srgbClr val="FF0000"/>
                        </a:solidFill>
                        <a:effectLst/>
                        <a:latin typeface="Arial" panose="020B0604020202020204" pitchFamily="34" charset="0"/>
                        <a:cs typeface="Arial" panose="020B0604020202020204" pitchFamily="34" charset="0"/>
                      </a:endParaRPr>
                    </a:p>
                  </a:txBody>
                  <a:tcPr marL="6263" marR="6263" marT="6263" marB="0" anchor="b"/>
                </a:tc>
                <a:tc gridSpan="5">
                  <a:txBody>
                    <a:bodyPr/>
                    <a:lstStyle/>
                    <a:p>
                      <a:pPr algn="l" fontAlgn="b"/>
                      <a:r>
                        <a:rPr lang="en-US" sz="1400" u="none" strike="noStrike" dirty="0">
                          <a:effectLst/>
                          <a:latin typeface="Arial" panose="020B0604020202020204" pitchFamily="34" charset="0"/>
                          <a:cs typeface="Arial" panose="020B0604020202020204" pitchFamily="34" charset="0"/>
                        </a:rPr>
                        <a:t>Created / Posted schedule  for Quality technician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9"/>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7</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Fabrication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0"/>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9</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Quality Inspections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1"/>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11</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Assembly</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2"/>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13</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Quality Inspections</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3"/>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15</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3">
                  <a:txBody>
                    <a:bodyPr/>
                    <a:lstStyle/>
                    <a:p>
                      <a:pPr algn="l" fontAlgn="b"/>
                      <a:r>
                        <a:rPr lang="en-US" sz="1400" u="none" strike="noStrike" dirty="0">
                          <a:effectLst/>
                          <a:latin typeface="Arial" panose="020B0604020202020204" pitchFamily="34" charset="0"/>
                          <a:cs typeface="Arial" panose="020B0604020202020204" pitchFamily="34" charset="0"/>
                        </a:rPr>
                        <a:t>Customer Inspection</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4"/>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5"/>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17</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gridSpan="2">
                  <a:txBody>
                    <a:bodyPr/>
                    <a:lstStyle/>
                    <a:p>
                      <a:pPr algn="l" fontAlgn="b"/>
                      <a:r>
                        <a:rPr lang="en-US" sz="1400" u="none" strike="noStrike" dirty="0">
                          <a:effectLst/>
                          <a:latin typeface="Arial" panose="020B0604020202020204" pitchFamily="34" charset="0"/>
                          <a:cs typeface="Arial" panose="020B0604020202020204" pitchFamily="34" charset="0"/>
                        </a:rPr>
                        <a:t>Packaging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hMerge="1">
                  <a:txBody>
                    <a:bodyPr/>
                    <a:lstStyle/>
                    <a:p>
                      <a:endParaRPr lang="en-US"/>
                    </a:p>
                  </a:txBody>
                  <a:tcPr/>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6"/>
                  </a:ext>
                </a:extLst>
              </a:tr>
              <a:tr h="218593">
                <a:tc>
                  <a:txBody>
                    <a:bodyPr/>
                    <a:lstStyle/>
                    <a:p>
                      <a:pPr algn="l" fontAlgn="b"/>
                      <a:endParaRPr lang="en-US" sz="1400" b="0" i="0" u="none" strike="noStrike">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r" fontAlgn="b"/>
                      <a:r>
                        <a:rPr lang="en-US" sz="1400" u="none" strike="noStrike" dirty="0">
                          <a:effectLst/>
                          <a:latin typeface="Arial" panose="020B0604020202020204" pitchFamily="34" charset="0"/>
                          <a:cs typeface="Arial" panose="020B0604020202020204" pitchFamily="34" charset="0"/>
                        </a:rPr>
                        <a:t>19</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r>
                        <a:rPr lang="en-US" sz="1400" u="none" strike="noStrike" dirty="0">
                          <a:effectLst/>
                          <a:latin typeface="Arial" panose="020B0604020202020204" pitchFamily="34" charset="0"/>
                          <a:cs typeface="Arial" panose="020B0604020202020204" pitchFamily="34" charset="0"/>
                        </a:rPr>
                        <a:t>Shipping</a:t>
                      </a:r>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4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263" marR="6263" marT="6263" marB="0" anchor="b"/>
                </a:tc>
                <a:tc>
                  <a:txBody>
                    <a:bodyPr/>
                    <a:lstStyle/>
                    <a:p>
                      <a:pPr algn="l" fontAlgn="b"/>
                      <a:endParaRPr lang="en-US" sz="1200" b="0" i="0" u="none" strike="noStrike" dirty="0">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a:solidFill>
                          <a:srgbClr val="000000"/>
                        </a:solidFill>
                        <a:effectLst/>
                        <a:latin typeface="Calibri" panose="020F0502020204030204" pitchFamily="34" charset="0"/>
                      </a:endParaRPr>
                    </a:p>
                  </a:txBody>
                  <a:tcPr marL="6263" marR="6263" marT="6263" marB="0" anchor="b"/>
                </a:tc>
                <a:tc>
                  <a:txBody>
                    <a:bodyPr/>
                    <a:lstStyle/>
                    <a:p>
                      <a:pPr algn="l" fontAlgn="b"/>
                      <a:endParaRPr lang="en-US" sz="700" b="0" i="0" u="none" strike="noStrike" dirty="0">
                        <a:solidFill>
                          <a:srgbClr val="000000"/>
                        </a:solidFill>
                        <a:effectLst/>
                        <a:latin typeface="Calibri" panose="020F0502020204030204" pitchFamily="34" charset="0"/>
                      </a:endParaRPr>
                    </a:p>
                  </a:txBody>
                  <a:tcPr marL="6263" marR="6263" marT="6263" marB="0" anchor="b"/>
                </a:tc>
                <a:extLst>
                  <a:ext uri="{0D108BD9-81ED-4DB2-BD59-A6C34878D82A}">
                    <a16:rowId xmlns:a16="http://schemas.microsoft.com/office/drawing/2014/main" val="10027"/>
                  </a:ext>
                </a:extLst>
              </a:tr>
            </a:tbl>
          </a:graphicData>
        </a:graphic>
      </p:graphicFrame>
      <p:sp>
        <p:nvSpPr>
          <p:cNvPr id="2" name="TextBox 1"/>
          <p:cNvSpPr txBox="1"/>
          <p:nvPr/>
        </p:nvSpPr>
        <p:spPr>
          <a:xfrm>
            <a:off x="4214567" y="3777734"/>
            <a:ext cx="3995394" cy="307777"/>
          </a:xfrm>
          <a:prstGeom prst="rect">
            <a:avLst/>
          </a:prstGeom>
          <a:noFill/>
        </p:spPr>
        <p:txBody>
          <a:bodyPr wrap="square" rtlCol="0">
            <a:spAutoFit/>
          </a:bodyPr>
          <a:lstStyle/>
          <a:p>
            <a:r>
              <a:rPr lang="en-US" sz="1400" dirty="0">
                <a:solidFill>
                  <a:schemeClr val="bg1"/>
                </a:solidFill>
              </a:rPr>
              <a:t>Create / Post schedule for Fabrication operators</a:t>
            </a:r>
          </a:p>
        </p:txBody>
      </p:sp>
      <p:sp>
        <p:nvSpPr>
          <p:cNvPr id="3" name="Slide Number Placeholder 2"/>
          <p:cNvSpPr>
            <a:spLocks noGrp="1"/>
          </p:cNvSpPr>
          <p:nvPr>
            <p:ph type="sldNum" sz="quarter" idx="12"/>
          </p:nvPr>
        </p:nvSpPr>
        <p:spPr>
          <a:xfrm>
            <a:off x="6484620" y="6551612"/>
            <a:ext cx="2057400" cy="365125"/>
          </a:xfrm>
        </p:spPr>
        <p:txBody>
          <a:bodyPr/>
          <a:lstStyle/>
          <a:p>
            <a:pPr>
              <a:defRPr/>
            </a:pPr>
            <a:fld id="{A2BAAAC1-70E3-4FA4-9D23-397B2827E273}" type="slidenum">
              <a:rPr lang="en-US" altLang="en-US" smtClean="0"/>
              <a:pPr>
                <a:defRPr/>
              </a:pPr>
              <a:t>5</a:t>
            </a:fld>
            <a:endParaRPr lang="en-US" altLang="en-US" dirty="0"/>
          </a:p>
        </p:txBody>
      </p:sp>
      <p:sp>
        <p:nvSpPr>
          <p:cNvPr id="7" name="Date Placeholder 6">
            <a:extLst>
              <a:ext uri="{FF2B5EF4-FFF2-40B4-BE49-F238E27FC236}">
                <a16:creationId xmlns:a16="http://schemas.microsoft.com/office/drawing/2014/main" id="{B14B4ECF-2BF4-4911-9A71-0846B55C089E}"/>
              </a:ext>
            </a:extLst>
          </p:cNvPr>
          <p:cNvSpPr>
            <a:spLocks noGrp="1"/>
          </p:cNvSpPr>
          <p:nvPr>
            <p:ph type="dt" sz="half" idx="10"/>
          </p:nvPr>
        </p:nvSpPr>
        <p:spPr>
          <a:xfrm>
            <a:off x="628650" y="6551614"/>
            <a:ext cx="2057400" cy="365125"/>
          </a:xfrm>
        </p:spPr>
        <p:txBody>
          <a:bodyPr/>
          <a:lstStyle/>
          <a:p>
            <a:pPr>
              <a:defRPr/>
            </a:pPr>
            <a:r>
              <a:rPr lang="en-US"/>
              <a:t>G.R. Labbé</a:t>
            </a:r>
            <a:endParaRPr lang="en-US" dirty="0"/>
          </a:p>
        </p:txBody>
      </p:sp>
    </p:spTree>
    <p:extLst>
      <p:ext uri="{BB962C8B-B14F-4D97-AF65-F5344CB8AC3E}">
        <p14:creationId xmlns:p14="http://schemas.microsoft.com/office/powerpoint/2010/main" val="3313249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normAutofit/>
          </a:bodyPr>
          <a:lstStyle/>
          <a:p>
            <a:r>
              <a:rPr lang="en-US" sz="2800" dirty="0">
                <a:latin typeface="+mn-lt"/>
              </a:rPr>
              <a:t>WBS Example</a:t>
            </a:r>
          </a:p>
        </p:txBody>
      </p:sp>
      <p:pic>
        <p:nvPicPr>
          <p:cNvPr id="5122" name="Picture 2" descr="https://s-media-cache-ak0.pinimg.com/736x/30/90/64/309064b2812c57c6d674d79713399bc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2724" y="946151"/>
            <a:ext cx="8358552" cy="5410200"/>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pPr>
              <a:defRPr/>
            </a:pPr>
            <a:fld id="{CDB69897-AA48-4E6E-B5FC-972F283D53F3}" type="slidenum">
              <a:rPr lang="en-US" altLang="en-US" smtClean="0"/>
              <a:pPr>
                <a:defRPr/>
              </a:pPr>
              <a:t>6</a:t>
            </a:fld>
            <a:endParaRPr lang="en-US" altLang="en-US"/>
          </a:p>
        </p:txBody>
      </p:sp>
      <p:sp>
        <p:nvSpPr>
          <p:cNvPr id="6" name="Date Placeholder 5">
            <a:extLst>
              <a:ext uri="{FF2B5EF4-FFF2-40B4-BE49-F238E27FC236}">
                <a16:creationId xmlns:a16="http://schemas.microsoft.com/office/drawing/2014/main" id="{7BB16CE3-150E-4756-8C96-3E64AF1764C8}"/>
              </a:ext>
            </a:extLst>
          </p:cNvPr>
          <p:cNvSpPr>
            <a:spLocks noGrp="1"/>
          </p:cNvSpPr>
          <p:nvPr>
            <p:ph type="dt" sz="half" idx="10"/>
          </p:nvPr>
        </p:nvSpPr>
        <p:spPr/>
        <p:txBody>
          <a:bodyPr/>
          <a:lstStyle/>
          <a:p>
            <a:pPr>
              <a:defRPr/>
            </a:pPr>
            <a:r>
              <a:rPr lang="en-US"/>
              <a:t>G.R. Labbé</a:t>
            </a:r>
          </a:p>
        </p:txBody>
      </p:sp>
    </p:spTree>
    <p:extLst>
      <p:ext uri="{BB962C8B-B14F-4D97-AF65-F5344CB8AC3E}">
        <p14:creationId xmlns:p14="http://schemas.microsoft.com/office/powerpoint/2010/main" val="20994153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628650" y="365127"/>
            <a:ext cx="7886700" cy="549274"/>
          </a:xfrm>
        </p:spPr>
        <p:txBody>
          <a:bodyPr>
            <a:normAutofit/>
          </a:bodyPr>
          <a:lstStyle/>
          <a:p>
            <a:r>
              <a:rPr lang="en-US" sz="2800" dirty="0">
                <a:latin typeface="+mn-lt"/>
              </a:rPr>
              <a:t>The Rules for creating </a:t>
            </a:r>
            <a:r>
              <a:rPr lang="en-US" sz="2800" dirty="0">
                <a:solidFill>
                  <a:srgbClr val="7030A0"/>
                </a:solidFill>
                <a:latin typeface="+mn-lt"/>
              </a:rPr>
              <a:t>Network Activity Diagrams</a:t>
            </a:r>
          </a:p>
        </p:txBody>
      </p:sp>
      <p:sp>
        <p:nvSpPr>
          <p:cNvPr id="7171" name="Rectangle 4"/>
          <p:cNvSpPr>
            <a:spLocks noChangeArrowheads="1"/>
          </p:cNvSpPr>
          <p:nvPr/>
        </p:nvSpPr>
        <p:spPr bwMode="auto">
          <a:xfrm>
            <a:off x="989806" y="1120547"/>
            <a:ext cx="7164387" cy="4708981"/>
          </a:xfrm>
          <a:prstGeom prst="rect">
            <a:avLst/>
          </a:prstGeom>
          <a:noFill/>
          <a:ln w="9525">
            <a:noFill/>
            <a:miter lim="800000"/>
            <a:headEnd/>
            <a:tailEnd/>
          </a:ln>
        </p:spPr>
        <p:txBody>
          <a:bodyPr anchor="ctr">
            <a:spAutoFit/>
          </a:bodyPr>
          <a:lstStyle/>
          <a:p>
            <a:pPr marL="342900" indent="-342900">
              <a:buFontTx/>
              <a:buAutoNum type="arabicPeriod"/>
              <a:tabLst>
                <a:tab pos="457200" algn="l"/>
              </a:tabLst>
            </a:pPr>
            <a:r>
              <a:rPr lang="en-US" sz="2000" dirty="0"/>
              <a:t>Some determination of </a:t>
            </a:r>
            <a:r>
              <a:rPr lang="en-US" sz="2000" dirty="0">
                <a:solidFill>
                  <a:srgbClr val="00B050"/>
                </a:solidFill>
              </a:rPr>
              <a:t>activity precedence ordering </a:t>
            </a:r>
            <a:r>
              <a:rPr lang="en-US" sz="2000" dirty="0"/>
              <a:t>must be done prior to creating the network.  </a:t>
            </a:r>
          </a:p>
          <a:p>
            <a:pPr marL="342900" indent="-342900">
              <a:buFontTx/>
              <a:buAutoNum type="arabicPeriod"/>
              <a:tabLst>
                <a:tab pos="457200" algn="l"/>
              </a:tabLst>
            </a:pPr>
            <a:r>
              <a:rPr lang="en-US" sz="2000" dirty="0"/>
              <a:t>Network diagrams usually flow from </a:t>
            </a:r>
            <a:r>
              <a:rPr lang="en-US" sz="2000" dirty="0">
                <a:solidFill>
                  <a:srgbClr val="7030A0"/>
                </a:solidFill>
              </a:rPr>
              <a:t>left to right</a:t>
            </a:r>
            <a:r>
              <a:rPr lang="en-US" sz="2000" dirty="0"/>
              <a:t>.</a:t>
            </a:r>
          </a:p>
          <a:p>
            <a:pPr marL="342900" indent="-342900">
              <a:buFontTx/>
              <a:buAutoNum type="arabicPeriod"/>
              <a:tabLst>
                <a:tab pos="457200" algn="l"/>
              </a:tabLst>
            </a:pPr>
            <a:r>
              <a:rPr lang="en-US" sz="2000" dirty="0"/>
              <a:t>An activity cannot begin until all preceding </a:t>
            </a:r>
            <a:r>
              <a:rPr lang="en-US" sz="2000" dirty="0">
                <a:solidFill>
                  <a:srgbClr val="00B050"/>
                </a:solidFill>
              </a:rPr>
              <a:t>connected</a:t>
            </a:r>
            <a:r>
              <a:rPr lang="en-US" sz="2000" dirty="0"/>
              <a:t> </a:t>
            </a:r>
            <a:r>
              <a:rPr lang="en-US" sz="2000" dirty="0">
                <a:solidFill>
                  <a:srgbClr val="00B050"/>
                </a:solidFill>
              </a:rPr>
              <a:t>activities</a:t>
            </a:r>
            <a:r>
              <a:rPr lang="en-US" sz="2000" dirty="0"/>
              <a:t> have been completed.</a:t>
            </a:r>
          </a:p>
          <a:p>
            <a:pPr marL="342900" indent="-342900">
              <a:buFontTx/>
              <a:buAutoNum type="arabicPeriod"/>
              <a:tabLst>
                <a:tab pos="457200" algn="l"/>
              </a:tabLst>
            </a:pPr>
            <a:r>
              <a:rPr lang="en-US" sz="2000" dirty="0">
                <a:solidFill>
                  <a:srgbClr val="7030A0"/>
                </a:solidFill>
              </a:rPr>
              <a:t>Arrows</a:t>
            </a:r>
            <a:r>
              <a:rPr lang="en-US" sz="2000" dirty="0"/>
              <a:t> on networks indicate </a:t>
            </a:r>
            <a:r>
              <a:rPr lang="en-US" sz="2000" dirty="0">
                <a:solidFill>
                  <a:srgbClr val="7030A0"/>
                </a:solidFill>
              </a:rPr>
              <a:t>precedence</a:t>
            </a:r>
            <a:r>
              <a:rPr lang="en-US" sz="2000" dirty="0"/>
              <a:t> and </a:t>
            </a:r>
            <a:r>
              <a:rPr lang="en-US" sz="2000" dirty="0">
                <a:solidFill>
                  <a:srgbClr val="7030A0"/>
                </a:solidFill>
              </a:rPr>
              <a:t>logical flow</a:t>
            </a:r>
            <a:r>
              <a:rPr lang="en-US" sz="2000" dirty="0"/>
              <a:t>.  Arrows can cross over each other, although it is helpful for clarity’s sake to limit this effect when possible.</a:t>
            </a:r>
          </a:p>
          <a:p>
            <a:pPr marL="342900" indent="-342900">
              <a:buFontTx/>
              <a:buAutoNum type="arabicPeriod"/>
              <a:tabLst>
                <a:tab pos="457200" algn="l"/>
              </a:tabLst>
            </a:pPr>
            <a:r>
              <a:rPr lang="en-US" sz="2000" dirty="0"/>
              <a:t>Each activity should have a </a:t>
            </a:r>
            <a:r>
              <a:rPr lang="en-US" sz="2000" b="1" dirty="0">
                <a:solidFill>
                  <a:srgbClr val="7030A0"/>
                </a:solidFill>
              </a:rPr>
              <a:t>unique identifier </a:t>
            </a:r>
            <a:r>
              <a:rPr lang="en-US" sz="2000" dirty="0"/>
              <a:t>associated with it (number, letter, code, etc.).  </a:t>
            </a:r>
          </a:p>
          <a:p>
            <a:pPr marL="342900" indent="-342900">
              <a:buFontTx/>
              <a:buAutoNum type="arabicPeriod"/>
              <a:tabLst>
                <a:tab pos="457200" algn="l"/>
              </a:tabLst>
            </a:pPr>
            <a:r>
              <a:rPr lang="en-US" sz="2000" dirty="0"/>
              <a:t>Looping, or recycling through activities, is </a:t>
            </a:r>
            <a:r>
              <a:rPr lang="en-US" sz="2000" b="1" dirty="0"/>
              <a:t>not permitted</a:t>
            </a:r>
            <a:r>
              <a:rPr lang="en-US" sz="2000" dirty="0"/>
              <a:t>.</a:t>
            </a:r>
          </a:p>
          <a:p>
            <a:pPr marL="342900" indent="-342900">
              <a:buFontTx/>
              <a:buAutoNum type="arabicPeriod"/>
              <a:tabLst>
                <a:tab pos="457200" algn="l"/>
              </a:tabLst>
            </a:pPr>
            <a:r>
              <a:rPr lang="en-US" sz="2000" dirty="0"/>
              <a:t>Although not required, it is </a:t>
            </a:r>
            <a:r>
              <a:rPr lang="en-US" sz="2000" b="1" dirty="0"/>
              <a:t>common</a:t>
            </a:r>
            <a:r>
              <a:rPr lang="en-US" sz="2000" dirty="0"/>
              <a:t> to start a project from a </a:t>
            </a:r>
            <a:r>
              <a:rPr lang="en-US" sz="2000" dirty="0">
                <a:solidFill>
                  <a:srgbClr val="00B050"/>
                </a:solidFill>
              </a:rPr>
              <a:t>single beginning node</a:t>
            </a:r>
            <a:r>
              <a:rPr lang="en-US" sz="2000" dirty="0"/>
              <a:t>.  </a:t>
            </a:r>
          </a:p>
          <a:p>
            <a:pPr marL="342900" indent="-342900">
              <a:buFontTx/>
              <a:buAutoNum type="arabicPeriod"/>
              <a:tabLst>
                <a:tab pos="457200" algn="l"/>
              </a:tabLst>
            </a:pPr>
            <a:r>
              <a:rPr lang="en-US" sz="2000" dirty="0"/>
              <a:t>A single node point also is typically used as a </a:t>
            </a:r>
            <a:r>
              <a:rPr lang="en-US" sz="2000" dirty="0">
                <a:solidFill>
                  <a:srgbClr val="00B050"/>
                </a:solidFill>
              </a:rPr>
              <a:t>project end indicator</a:t>
            </a:r>
            <a:r>
              <a:rPr lang="en-US" sz="2000" dirty="0"/>
              <a:t>.</a:t>
            </a:r>
          </a:p>
        </p:txBody>
      </p:sp>
      <p:sp>
        <p:nvSpPr>
          <p:cNvPr id="23555"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7</a:t>
            </a:fld>
            <a:endParaRPr lang="en-US" altLang="en-US"/>
          </a:p>
        </p:txBody>
      </p:sp>
      <p:sp>
        <p:nvSpPr>
          <p:cNvPr id="5" name="Date Placeholder 4">
            <a:extLst>
              <a:ext uri="{FF2B5EF4-FFF2-40B4-BE49-F238E27FC236}">
                <a16:creationId xmlns:a16="http://schemas.microsoft.com/office/drawing/2014/main" id="{BADB71A8-7C3D-4C50-A8FC-EC51B0F6CADD}"/>
              </a:ext>
            </a:extLst>
          </p:cNvPr>
          <p:cNvSpPr>
            <a:spLocks noGrp="1"/>
          </p:cNvSpPr>
          <p:nvPr>
            <p:ph type="dt" sz="half" idx="10"/>
          </p:nvPr>
        </p:nvSpPr>
        <p:spPr/>
        <p:txBody>
          <a:bodyPr/>
          <a:lstStyle/>
          <a:p>
            <a:pPr>
              <a:defRPr/>
            </a:pPr>
            <a:r>
              <a:rPr lang="en-US"/>
              <a:t>G.R. Labbé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2" end="2"/>
                                            </p:txEl>
                                          </p:spTgt>
                                        </p:tgtEl>
                                        <p:attrNameLst>
                                          <p:attrName>style.visibility</p:attrName>
                                        </p:attrNameLst>
                                      </p:cBhvr>
                                      <p:to>
                                        <p:strVal val="visible"/>
                                      </p:to>
                                    </p:set>
                                    <p:anim calcmode="lin" valueType="num">
                                      <p:cBhvr additive="base">
                                        <p:cTn id="19"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71">
                                            <p:txEl>
                                              <p:pRg st="3" end="3"/>
                                            </p:txEl>
                                          </p:spTgt>
                                        </p:tgtEl>
                                        <p:attrNameLst>
                                          <p:attrName>style.visibility</p:attrName>
                                        </p:attrNameLst>
                                      </p:cBhvr>
                                      <p:to>
                                        <p:strVal val="visible"/>
                                      </p:to>
                                    </p:set>
                                    <p:anim calcmode="lin" valueType="num">
                                      <p:cBhvr additive="base">
                                        <p:cTn id="25"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71">
                                            <p:txEl>
                                              <p:pRg st="4" end="4"/>
                                            </p:txEl>
                                          </p:spTgt>
                                        </p:tgtEl>
                                        <p:attrNameLst>
                                          <p:attrName>style.visibility</p:attrName>
                                        </p:attrNameLst>
                                      </p:cBhvr>
                                      <p:to>
                                        <p:strVal val="visible"/>
                                      </p:to>
                                    </p:set>
                                    <p:anim calcmode="lin" valueType="num">
                                      <p:cBhvr additive="base">
                                        <p:cTn id="31"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7171">
                                            <p:txEl>
                                              <p:pRg st="5" end="5"/>
                                            </p:txEl>
                                          </p:spTgt>
                                        </p:tgtEl>
                                        <p:attrNameLst>
                                          <p:attrName>style.visibility</p:attrName>
                                        </p:attrNameLst>
                                      </p:cBhvr>
                                      <p:to>
                                        <p:strVal val="visible"/>
                                      </p:to>
                                    </p:set>
                                    <p:anim calcmode="lin" valueType="num">
                                      <p:cBhvr additive="base">
                                        <p:cTn id="37"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171">
                                            <p:txEl>
                                              <p:pRg st="6" end="6"/>
                                            </p:txEl>
                                          </p:spTgt>
                                        </p:tgtEl>
                                        <p:attrNameLst>
                                          <p:attrName>style.visibility</p:attrName>
                                        </p:attrNameLst>
                                      </p:cBhvr>
                                      <p:to>
                                        <p:strVal val="visible"/>
                                      </p:to>
                                    </p:set>
                                    <p:anim calcmode="lin" valueType="num">
                                      <p:cBhvr additive="base">
                                        <p:cTn id="43"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7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7171">
                                            <p:txEl>
                                              <p:pRg st="7" end="7"/>
                                            </p:txEl>
                                          </p:spTgt>
                                        </p:tgtEl>
                                        <p:attrNameLst>
                                          <p:attrName>style.visibility</p:attrName>
                                        </p:attrNameLst>
                                      </p:cBhvr>
                                      <p:to>
                                        <p:strVal val="visible"/>
                                      </p:to>
                                    </p:set>
                                    <p:anim calcmode="lin" valueType="num">
                                      <p:cBhvr additive="base">
                                        <p:cTn id="49" dur="500" fill="hold"/>
                                        <p:tgtEl>
                                          <p:spTgt spid="717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1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noChangeArrowheads="1"/>
          </p:cNvSpPr>
          <p:nvPr>
            <p:ph type="title"/>
          </p:nvPr>
        </p:nvSpPr>
        <p:spPr>
          <a:xfrm>
            <a:off x="685332" y="233059"/>
            <a:ext cx="7773338" cy="600682"/>
          </a:xfrm>
        </p:spPr>
        <p:txBody>
          <a:bodyPr>
            <a:normAutofit/>
          </a:bodyPr>
          <a:lstStyle/>
          <a:p>
            <a:r>
              <a:rPr lang="en-US" sz="2800" dirty="0">
                <a:latin typeface="+mn-lt"/>
              </a:rPr>
              <a:t>Key Scheduling Terminology - simplified</a:t>
            </a:r>
          </a:p>
        </p:txBody>
      </p:sp>
      <p:sp>
        <p:nvSpPr>
          <p:cNvPr id="8195" name="Rectangle 3"/>
          <p:cNvSpPr>
            <a:spLocks noGrp="1" noChangeArrowheads="1"/>
          </p:cNvSpPr>
          <p:nvPr>
            <p:ph idx="1"/>
          </p:nvPr>
        </p:nvSpPr>
        <p:spPr>
          <a:xfrm>
            <a:off x="460664" y="990599"/>
            <a:ext cx="8382000" cy="5192713"/>
          </a:xfrm>
        </p:spPr>
        <p:txBody>
          <a:bodyPr>
            <a:noAutofit/>
          </a:bodyPr>
          <a:lstStyle/>
          <a:p>
            <a:pPr>
              <a:lnSpc>
                <a:spcPct val="100000"/>
              </a:lnSpc>
            </a:pPr>
            <a:r>
              <a:rPr lang="en-US" sz="1800" b="1" i="1" dirty="0">
                <a:solidFill>
                  <a:srgbClr val="7030A0"/>
                </a:solidFill>
                <a:latin typeface="Arial" panose="020B0604020202020204" pitchFamily="34" charset="0"/>
                <a:cs typeface="Arial" panose="020B0604020202020204" pitchFamily="34" charset="0"/>
              </a:rPr>
              <a:t>Activity:</a:t>
            </a:r>
          </a:p>
          <a:p>
            <a:pPr>
              <a:lnSpc>
                <a:spcPct val="100000"/>
              </a:lnSpc>
            </a:pPr>
            <a:r>
              <a:rPr lang="en-US" sz="1800" b="1" i="1" dirty="0">
                <a:solidFill>
                  <a:srgbClr val="7030A0"/>
                </a:solidFill>
                <a:latin typeface="Arial" panose="020B0604020202020204" pitchFamily="34" charset="0"/>
                <a:cs typeface="Arial" panose="020B0604020202020204" pitchFamily="34" charset="0"/>
              </a:rPr>
              <a:t>Scope:</a:t>
            </a:r>
            <a:r>
              <a:rPr lang="en-US" sz="1800" b="1" i="1"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work content and products of a project.  </a:t>
            </a:r>
          </a:p>
          <a:p>
            <a:pPr>
              <a:lnSpc>
                <a:spcPct val="100000"/>
              </a:lnSpc>
            </a:pPr>
            <a:r>
              <a:rPr lang="en-US" sz="1800" b="1" i="1" dirty="0">
                <a:solidFill>
                  <a:srgbClr val="7030A0"/>
                </a:solidFill>
                <a:latin typeface="Arial" panose="020B0604020202020204" pitchFamily="34" charset="0"/>
                <a:cs typeface="Arial" panose="020B0604020202020204" pitchFamily="34" charset="0"/>
              </a:rPr>
              <a:t>Work Breakdown Structure (WBS)</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 task-oriented grouping of activities 						that organizes, defines, and graphically 						displays the total work to be 							accomplished in order to achieve the 						final objectives (deliverables) of the 						project.</a:t>
            </a:r>
          </a:p>
          <a:p>
            <a:pPr>
              <a:lnSpc>
                <a:spcPct val="100000"/>
              </a:lnSpc>
            </a:pPr>
            <a:r>
              <a:rPr lang="en-US" sz="1800" b="1" i="1" dirty="0">
                <a:solidFill>
                  <a:srgbClr val="7030A0"/>
                </a:solidFill>
                <a:latin typeface="Arial" panose="020B0604020202020204" pitchFamily="34" charset="0"/>
                <a:cs typeface="Arial" panose="020B0604020202020204" pitchFamily="34" charset="0"/>
              </a:rPr>
              <a:t>Work Package</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 deliverable at the lowest level of the work breakdown 			structure.</a:t>
            </a:r>
          </a:p>
          <a:p>
            <a:pPr>
              <a:lnSpc>
                <a:spcPct val="100000"/>
              </a:lnSpc>
            </a:pPr>
            <a:r>
              <a:rPr lang="en-US" sz="1800" b="1" i="1" dirty="0">
                <a:solidFill>
                  <a:srgbClr val="7030A0"/>
                </a:solidFill>
                <a:latin typeface="Arial" panose="020B0604020202020204" pitchFamily="34" charset="0"/>
                <a:cs typeface="Arial" panose="020B0604020202020204" pitchFamily="34" charset="0"/>
              </a:rPr>
              <a:t>Project Network Diagram</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Any schematic display of the logical 						relationships of project activities.</a:t>
            </a:r>
          </a:p>
          <a:p>
            <a:pPr>
              <a:lnSpc>
                <a:spcPct val="100000"/>
              </a:lnSpc>
            </a:pPr>
            <a:r>
              <a:rPr lang="en-US" sz="1800" b="1" i="1" dirty="0">
                <a:solidFill>
                  <a:srgbClr val="7030A0"/>
                </a:solidFill>
                <a:latin typeface="Arial" panose="020B0604020202020204" pitchFamily="34" charset="0"/>
                <a:cs typeface="Arial" panose="020B0604020202020204" pitchFamily="34" charset="0"/>
              </a:rPr>
              <a:t>Path:</a:t>
            </a:r>
            <a:r>
              <a:rPr lang="en-US" sz="1800" dirty="0">
                <a:latin typeface="Arial" panose="020B0604020202020204" pitchFamily="34" charset="0"/>
                <a:cs typeface="Arial" panose="020B0604020202020204" pitchFamily="34" charset="0"/>
              </a:rPr>
              <a:t>	A sequence of activities defined by the project network logic.</a:t>
            </a:r>
          </a:p>
          <a:p>
            <a:pPr>
              <a:lnSpc>
                <a:spcPct val="100000"/>
              </a:lnSpc>
            </a:pPr>
            <a:r>
              <a:rPr lang="en-US" sz="1800" b="1" i="1" dirty="0">
                <a:solidFill>
                  <a:srgbClr val="7030A0"/>
                </a:solidFill>
                <a:latin typeface="Arial" panose="020B0604020202020204" pitchFamily="34" charset="0"/>
                <a:cs typeface="Arial" panose="020B0604020202020204" pitchFamily="34" charset="0"/>
              </a:rPr>
              <a:t>Early Start Date (ES)</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earliest possible date on which the uncompleted 				portions of an activity can be started.</a:t>
            </a:r>
          </a:p>
          <a:p>
            <a:pPr>
              <a:lnSpc>
                <a:spcPct val="100000"/>
              </a:lnSpc>
            </a:pPr>
            <a:r>
              <a:rPr lang="en-US" sz="1800" b="1" i="1" dirty="0">
                <a:solidFill>
                  <a:srgbClr val="7030A0"/>
                </a:solidFill>
                <a:latin typeface="Arial" panose="020B0604020202020204" pitchFamily="34" charset="0"/>
                <a:cs typeface="Arial" panose="020B0604020202020204" pitchFamily="34" charset="0"/>
              </a:rPr>
              <a:t>Late Start Date (LS)</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latest possible date that an activity may begin 				without delaying a specified </a:t>
            </a:r>
            <a:r>
              <a:rPr lang="en-US" sz="1800" dirty="0">
                <a:solidFill>
                  <a:srgbClr val="00B050"/>
                </a:solidFill>
                <a:latin typeface="Arial" panose="020B0604020202020204" pitchFamily="34" charset="0"/>
                <a:cs typeface="Arial" panose="020B0604020202020204" pitchFamily="34" charset="0"/>
              </a:rPr>
              <a:t>milestone</a:t>
            </a:r>
            <a:r>
              <a:rPr lang="en-US" sz="1800" dirty="0">
                <a:latin typeface="Arial" panose="020B0604020202020204" pitchFamily="34" charset="0"/>
                <a:cs typeface="Arial" panose="020B0604020202020204" pitchFamily="34" charset="0"/>
              </a:rPr>
              <a:t>.</a:t>
            </a:r>
          </a:p>
        </p:txBody>
      </p:sp>
      <p:sp>
        <p:nvSpPr>
          <p:cNvPr id="24579"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8</a:t>
            </a:fld>
            <a:endParaRPr lang="en-US" altLang="en-US"/>
          </a:p>
        </p:txBody>
      </p:sp>
      <p:sp>
        <p:nvSpPr>
          <p:cNvPr id="5" name="Date Placeholder 4">
            <a:extLst>
              <a:ext uri="{FF2B5EF4-FFF2-40B4-BE49-F238E27FC236}">
                <a16:creationId xmlns:a16="http://schemas.microsoft.com/office/drawing/2014/main" id="{FB9D24FE-BD55-400C-BA26-B9DE8856B827}"/>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85332" y="618519"/>
            <a:ext cx="7773338" cy="600682"/>
          </a:xfrm>
        </p:spPr>
        <p:txBody>
          <a:bodyPr>
            <a:normAutofit/>
          </a:bodyPr>
          <a:lstStyle/>
          <a:p>
            <a:r>
              <a:rPr lang="en-US" sz="2800" dirty="0">
                <a:latin typeface="+mn-lt"/>
              </a:rPr>
              <a:t>Key Scheduling Terminology – simplified (cont.)</a:t>
            </a:r>
          </a:p>
        </p:txBody>
      </p:sp>
      <p:sp>
        <p:nvSpPr>
          <p:cNvPr id="9219" name="Rectangle 3"/>
          <p:cNvSpPr>
            <a:spLocks noGrp="1" noChangeArrowheads="1"/>
          </p:cNvSpPr>
          <p:nvPr>
            <p:ph idx="1"/>
          </p:nvPr>
        </p:nvSpPr>
        <p:spPr>
          <a:xfrm>
            <a:off x="228601" y="1562823"/>
            <a:ext cx="8686800" cy="4627417"/>
          </a:xfrm>
        </p:spPr>
        <p:txBody>
          <a:bodyPr>
            <a:noAutofit/>
          </a:bodyPr>
          <a:lstStyle/>
          <a:p>
            <a:pPr>
              <a:lnSpc>
                <a:spcPct val="100000"/>
              </a:lnSpc>
            </a:pPr>
            <a:r>
              <a:rPr lang="en-US" sz="1800" b="1" i="1" dirty="0">
                <a:solidFill>
                  <a:srgbClr val="7030A0"/>
                </a:solidFill>
                <a:latin typeface="Arial" panose="020B0604020202020204" pitchFamily="34" charset="0"/>
                <a:cs typeface="Arial" panose="020B0604020202020204" pitchFamily="34" charset="0"/>
              </a:rPr>
              <a:t>Early Finish</a:t>
            </a:r>
          </a:p>
          <a:p>
            <a:pPr>
              <a:lnSpc>
                <a:spcPct val="100000"/>
              </a:lnSpc>
            </a:pPr>
            <a:r>
              <a:rPr lang="en-US" sz="1800" b="1" i="1" dirty="0">
                <a:solidFill>
                  <a:srgbClr val="7030A0"/>
                </a:solidFill>
                <a:latin typeface="Arial" panose="020B0604020202020204" pitchFamily="34" charset="0"/>
                <a:cs typeface="Arial" panose="020B0604020202020204" pitchFamily="34" charset="0"/>
              </a:rPr>
              <a:t>Late Finish</a:t>
            </a:r>
          </a:p>
          <a:p>
            <a:pPr>
              <a:lnSpc>
                <a:spcPct val="100000"/>
              </a:lnSpc>
            </a:pPr>
            <a:r>
              <a:rPr lang="en-US" sz="1800" b="1" i="1" dirty="0">
                <a:solidFill>
                  <a:srgbClr val="7030A0"/>
                </a:solidFill>
                <a:latin typeface="Arial" panose="020B0604020202020204" pitchFamily="34" charset="0"/>
                <a:cs typeface="Arial" panose="020B0604020202020204" pitchFamily="34" charset="0"/>
              </a:rPr>
              <a:t>Forward Pass</a:t>
            </a:r>
            <a:r>
              <a:rPr lang="en-US" sz="1800" dirty="0">
                <a:solidFill>
                  <a:srgbClr val="7030A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Network calculations that determine the </a:t>
            </a:r>
            <a:r>
              <a:rPr lang="en-US" sz="1800" dirty="0">
                <a:solidFill>
                  <a:srgbClr val="00B050"/>
                </a:solidFill>
                <a:latin typeface="Arial" panose="020B0604020202020204" pitchFamily="34" charset="0"/>
                <a:cs typeface="Arial" panose="020B0604020202020204" pitchFamily="34" charset="0"/>
              </a:rPr>
              <a:t>earliest</a:t>
            </a:r>
            <a:r>
              <a:rPr lang="en-US" sz="1800" dirty="0">
                <a:latin typeface="Arial" panose="020B0604020202020204" pitchFamily="34" charset="0"/>
                <a:cs typeface="Arial" panose="020B0604020202020204" pitchFamily="34" charset="0"/>
              </a:rPr>
              <a:t> start/finish time for each activity.</a:t>
            </a:r>
          </a:p>
          <a:p>
            <a:pPr>
              <a:lnSpc>
                <a:spcPct val="100000"/>
              </a:lnSpc>
            </a:pPr>
            <a:r>
              <a:rPr lang="en-US" sz="1800" b="1" i="1" dirty="0">
                <a:solidFill>
                  <a:srgbClr val="7030A0"/>
                </a:solidFill>
                <a:latin typeface="Arial" panose="020B0604020202020204" pitchFamily="34" charset="0"/>
                <a:cs typeface="Arial" panose="020B0604020202020204" pitchFamily="34" charset="0"/>
              </a:rPr>
              <a:t>Backward Pass</a:t>
            </a:r>
            <a:r>
              <a:rPr lang="en-US" sz="1800" dirty="0">
                <a:solidFill>
                  <a:srgbClr val="7030A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Calculation of </a:t>
            </a:r>
            <a:r>
              <a:rPr lang="en-US" sz="1800" dirty="0">
                <a:solidFill>
                  <a:srgbClr val="00B050"/>
                </a:solidFill>
                <a:latin typeface="Arial" panose="020B0604020202020204" pitchFamily="34" charset="0"/>
                <a:cs typeface="Arial" panose="020B0604020202020204" pitchFamily="34" charset="0"/>
              </a:rPr>
              <a:t>late start </a:t>
            </a:r>
            <a:r>
              <a:rPr lang="en-US" sz="1800" dirty="0">
                <a:latin typeface="Arial" panose="020B0604020202020204" pitchFamily="34" charset="0"/>
                <a:cs typeface="Arial" panose="020B0604020202020204" pitchFamily="34" charset="0"/>
              </a:rPr>
              <a:t>and</a:t>
            </a:r>
            <a:r>
              <a:rPr lang="en-US" sz="1800" dirty="0">
                <a:solidFill>
                  <a:srgbClr val="00B050"/>
                </a:solidFill>
                <a:latin typeface="Arial" panose="020B0604020202020204" pitchFamily="34" charset="0"/>
                <a:cs typeface="Arial" panose="020B0604020202020204" pitchFamily="34" charset="0"/>
              </a:rPr>
              <a:t> late finish times </a:t>
            </a:r>
            <a:r>
              <a:rPr lang="en-US" sz="1800" dirty="0">
                <a:latin typeface="Arial" panose="020B0604020202020204" pitchFamily="34" charset="0"/>
                <a:cs typeface="Arial" panose="020B0604020202020204" pitchFamily="34" charset="0"/>
              </a:rPr>
              <a:t>for all uncompleted network activities.</a:t>
            </a:r>
          </a:p>
          <a:p>
            <a:pPr>
              <a:lnSpc>
                <a:spcPct val="100000"/>
              </a:lnSpc>
            </a:pPr>
            <a:r>
              <a:rPr lang="en-US" sz="1800" b="1" i="1" dirty="0">
                <a:solidFill>
                  <a:srgbClr val="7030A0"/>
                </a:solidFill>
                <a:latin typeface="Arial" panose="020B0604020202020204" pitchFamily="34" charset="0"/>
                <a:cs typeface="Arial" panose="020B0604020202020204" pitchFamily="34" charset="0"/>
              </a:rPr>
              <a:t>Event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A point in time when an activity is either </a:t>
            </a:r>
            <a:r>
              <a:rPr lang="en-US" sz="1800" dirty="0">
                <a:solidFill>
                  <a:srgbClr val="00B050"/>
                </a:solidFill>
                <a:latin typeface="Arial" panose="020B0604020202020204" pitchFamily="34" charset="0"/>
                <a:cs typeface="Arial" panose="020B0604020202020204" pitchFamily="34" charset="0"/>
              </a:rPr>
              <a:t>started</a:t>
            </a:r>
            <a:r>
              <a:rPr lang="en-US" sz="1800" dirty="0">
                <a:latin typeface="Arial" panose="020B0604020202020204" pitchFamily="34" charset="0"/>
                <a:cs typeface="Arial" panose="020B0604020202020204" pitchFamily="34" charset="0"/>
              </a:rPr>
              <a:t> or </a:t>
            </a:r>
            <a:r>
              <a:rPr lang="en-US" sz="1800" dirty="0">
                <a:solidFill>
                  <a:srgbClr val="00B050"/>
                </a:solidFill>
                <a:latin typeface="Arial" panose="020B0604020202020204" pitchFamily="34" charset="0"/>
                <a:cs typeface="Arial" panose="020B0604020202020204" pitchFamily="34" charset="0"/>
              </a:rPr>
              <a:t>completed</a:t>
            </a:r>
            <a:r>
              <a:rPr lang="en-US" sz="1800" dirty="0">
                <a:latin typeface="Arial" panose="020B0604020202020204" pitchFamily="34" charset="0"/>
                <a:cs typeface="Arial" panose="020B0604020202020204" pitchFamily="34" charset="0"/>
              </a:rPr>
              <a:t>.</a:t>
            </a:r>
          </a:p>
          <a:p>
            <a:pPr>
              <a:lnSpc>
                <a:spcPct val="100000"/>
              </a:lnSpc>
            </a:pPr>
            <a:r>
              <a:rPr lang="en-US" sz="1800" b="1" i="1" dirty="0">
                <a:solidFill>
                  <a:srgbClr val="7030A0"/>
                </a:solidFill>
                <a:latin typeface="Arial" panose="020B0604020202020204" pitchFamily="34" charset="0"/>
                <a:cs typeface="Arial" panose="020B0604020202020204" pitchFamily="34" charset="0"/>
              </a:rPr>
              <a:t>Node</a:t>
            </a:r>
            <a:r>
              <a:rPr lang="en-US" sz="1800" dirty="0">
                <a:latin typeface="Arial" panose="020B0604020202020204" pitchFamily="34" charset="0"/>
                <a:cs typeface="Arial" panose="020B0604020202020204" pitchFamily="34" charset="0"/>
              </a:rPr>
              <a:t> – One or more defining points of a network.</a:t>
            </a:r>
          </a:p>
          <a:p>
            <a:pPr>
              <a:lnSpc>
                <a:spcPct val="100000"/>
              </a:lnSpc>
            </a:pPr>
            <a:r>
              <a:rPr lang="en-US" sz="1800" b="1" i="1" dirty="0">
                <a:solidFill>
                  <a:srgbClr val="7030A0"/>
                </a:solidFill>
                <a:latin typeface="Arial" panose="020B0604020202020204" pitchFamily="34" charset="0"/>
                <a:cs typeface="Arial" panose="020B0604020202020204" pitchFamily="34" charset="0"/>
              </a:rPr>
              <a:t>Predecessors</a:t>
            </a:r>
            <a:r>
              <a:rPr lang="en-US" sz="1800" b="1" i="1"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Those activities that must be completed </a:t>
            </a:r>
            <a:r>
              <a:rPr lang="en-US" sz="1800" b="1" dirty="0">
                <a:latin typeface="Arial" panose="020B0604020202020204" pitchFamily="34" charset="0"/>
                <a:cs typeface="Arial" panose="020B0604020202020204" pitchFamily="34" charset="0"/>
              </a:rPr>
              <a:t>prior</a:t>
            </a:r>
            <a:r>
              <a:rPr lang="en-US" sz="1800" dirty="0">
                <a:latin typeface="Arial" panose="020B0604020202020204" pitchFamily="34" charset="0"/>
                <a:cs typeface="Arial" panose="020B0604020202020204" pitchFamily="34" charset="0"/>
              </a:rPr>
              <a:t> to an activity in the network.</a:t>
            </a:r>
          </a:p>
          <a:p>
            <a:pPr>
              <a:lnSpc>
                <a:spcPct val="100000"/>
              </a:lnSpc>
            </a:pPr>
            <a:r>
              <a:rPr lang="en-US" sz="1800" b="1" i="1" dirty="0">
                <a:solidFill>
                  <a:srgbClr val="7030A0"/>
                </a:solidFill>
                <a:latin typeface="Arial" panose="020B0604020202020204" pitchFamily="34" charset="0"/>
                <a:cs typeface="Arial" panose="020B0604020202020204" pitchFamily="34" charset="0"/>
              </a:rPr>
              <a:t>Successors</a:t>
            </a:r>
            <a:r>
              <a:rPr lang="en-US" sz="1800" dirty="0">
                <a:latin typeface="Arial" panose="020B0604020202020204" pitchFamily="34" charset="0"/>
                <a:cs typeface="Arial" panose="020B0604020202020204" pitchFamily="34" charset="0"/>
              </a:rPr>
              <a:t> – Activities that </a:t>
            </a:r>
            <a:r>
              <a:rPr lang="en-US" sz="1800" b="1" dirty="0">
                <a:latin typeface="Arial" panose="020B0604020202020204" pitchFamily="34" charset="0"/>
                <a:cs typeface="Arial" panose="020B0604020202020204" pitchFamily="34" charset="0"/>
              </a:rPr>
              <a:t>cannot be started </a:t>
            </a:r>
            <a:r>
              <a:rPr lang="en-US" sz="1800" dirty="0">
                <a:latin typeface="Arial" panose="020B0604020202020204" pitchFamily="34" charset="0"/>
                <a:cs typeface="Arial" panose="020B0604020202020204" pitchFamily="34" charset="0"/>
              </a:rPr>
              <a:t>until previous activities have been completed.</a:t>
            </a:r>
          </a:p>
          <a:p>
            <a:pPr>
              <a:lnSpc>
                <a:spcPct val="100000"/>
              </a:lnSpc>
            </a:pPr>
            <a:r>
              <a:rPr lang="en-US" sz="1800" b="1" i="1" dirty="0">
                <a:solidFill>
                  <a:srgbClr val="7030A0"/>
                </a:solidFill>
                <a:latin typeface="Arial" panose="020B0604020202020204" pitchFamily="34" charset="0"/>
                <a:cs typeface="Arial" panose="020B0604020202020204" pitchFamily="34" charset="0"/>
              </a:rPr>
              <a:t>Merge Activity</a:t>
            </a:r>
            <a:r>
              <a:rPr lang="en-US" sz="1800" dirty="0">
                <a:solidFill>
                  <a:srgbClr val="7030A0"/>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An activity with </a:t>
            </a:r>
            <a:r>
              <a:rPr lang="en-US" sz="1800" dirty="0">
                <a:solidFill>
                  <a:srgbClr val="00B050"/>
                </a:solidFill>
                <a:latin typeface="Arial" panose="020B0604020202020204" pitchFamily="34" charset="0"/>
                <a:cs typeface="Arial" panose="020B0604020202020204" pitchFamily="34" charset="0"/>
              </a:rPr>
              <a:t>2 or more immediate predecessor activities </a:t>
            </a:r>
            <a:r>
              <a:rPr lang="en-US" sz="1800" dirty="0">
                <a:latin typeface="Arial" panose="020B0604020202020204" pitchFamily="34" charset="0"/>
                <a:cs typeface="Arial" panose="020B0604020202020204" pitchFamily="34" charset="0"/>
              </a:rPr>
              <a:t>flowing into it.</a:t>
            </a:r>
          </a:p>
        </p:txBody>
      </p:sp>
      <p:sp>
        <p:nvSpPr>
          <p:cNvPr id="25603"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9</a:t>
            </a:fld>
            <a:endParaRPr lang="en-US" altLang="en-US"/>
          </a:p>
        </p:txBody>
      </p:sp>
      <p:sp>
        <p:nvSpPr>
          <p:cNvPr id="5" name="Date Placeholder 4">
            <a:extLst>
              <a:ext uri="{FF2B5EF4-FFF2-40B4-BE49-F238E27FC236}">
                <a16:creationId xmlns:a16="http://schemas.microsoft.com/office/drawing/2014/main" id="{4504CB77-EBD6-4241-A9F4-C9FAFD44CF8C}"/>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a:xfrm>
            <a:off x="685332" y="618519"/>
            <a:ext cx="7773338" cy="600682"/>
          </a:xfrm>
        </p:spPr>
        <p:txBody>
          <a:bodyPr>
            <a:normAutofit/>
          </a:bodyPr>
          <a:lstStyle/>
          <a:p>
            <a:r>
              <a:rPr lang="en-US" sz="2800" dirty="0">
                <a:latin typeface="+mn-lt"/>
              </a:rPr>
              <a:t>Key Scheduling Terminology – simplified (cont.)</a:t>
            </a:r>
          </a:p>
        </p:txBody>
      </p:sp>
      <p:sp>
        <p:nvSpPr>
          <p:cNvPr id="10243" name="Rectangle 3"/>
          <p:cNvSpPr>
            <a:spLocks noGrp="1" noChangeArrowheads="1"/>
          </p:cNvSpPr>
          <p:nvPr>
            <p:ph idx="1"/>
          </p:nvPr>
        </p:nvSpPr>
        <p:spPr>
          <a:xfrm>
            <a:off x="457200" y="1676400"/>
            <a:ext cx="8382000" cy="4419600"/>
          </a:xfrm>
        </p:spPr>
        <p:txBody>
          <a:bodyPr>
            <a:noAutofit/>
          </a:bodyPr>
          <a:lstStyle/>
          <a:p>
            <a:pPr>
              <a:lnSpc>
                <a:spcPct val="100000"/>
              </a:lnSpc>
            </a:pPr>
            <a:r>
              <a:rPr lang="en-US" sz="1800" b="1" dirty="0">
                <a:solidFill>
                  <a:srgbClr val="7030A0"/>
                </a:solidFill>
                <a:latin typeface="Arial" panose="020B0604020202020204" pitchFamily="34" charset="0"/>
                <a:cs typeface="Arial" panose="020B0604020202020204" pitchFamily="34" charset="0"/>
              </a:rPr>
              <a:t>Burst Activity</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 activity with </a:t>
            </a:r>
            <a:r>
              <a:rPr lang="en-US" sz="1800" dirty="0">
                <a:solidFill>
                  <a:srgbClr val="00B050"/>
                </a:solidFill>
                <a:latin typeface="Arial" panose="020B0604020202020204" pitchFamily="34" charset="0"/>
                <a:cs typeface="Arial" panose="020B0604020202020204" pitchFamily="34" charset="0"/>
              </a:rPr>
              <a:t>2 or more immediate successor 				activities </a:t>
            </a:r>
            <a:r>
              <a:rPr lang="en-US" sz="1800" dirty="0">
                <a:latin typeface="Arial" panose="020B0604020202020204" pitchFamily="34" charset="0"/>
                <a:cs typeface="Arial" panose="020B0604020202020204" pitchFamily="34" charset="0"/>
              </a:rPr>
              <a:t>flowing out from it.</a:t>
            </a:r>
          </a:p>
          <a:p>
            <a:pPr>
              <a:lnSpc>
                <a:spcPct val="100000"/>
              </a:lnSpc>
            </a:pPr>
            <a:r>
              <a:rPr lang="en-US" sz="1800" b="1" i="1" dirty="0">
                <a:solidFill>
                  <a:srgbClr val="7030A0"/>
                </a:solidFill>
                <a:latin typeface="Arial" panose="020B0604020202020204" pitchFamily="34" charset="0"/>
                <a:cs typeface="Arial" panose="020B0604020202020204" pitchFamily="34" charset="0"/>
              </a:rPr>
              <a:t>Float</a:t>
            </a:r>
            <a:r>
              <a:rPr lang="en-US" sz="1800" dirty="0">
                <a:solidFill>
                  <a:srgbClr val="7030A0"/>
                </a:solidFill>
                <a:latin typeface="Arial" panose="020B0604020202020204" pitchFamily="34" charset="0"/>
                <a:cs typeface="Arial" panose="020B0604020202020204" pitchFamily="34" charset="0"/>
              </a:rPr>
              <a:t> </a:t>
            </a:r>
            <a:r>
              <a:rPr lang="en-US" sz="1800" b="1" dirty="0">
                <a:solidFill>
                  <a:srgbClr val="7030A0"/>
                </a:solidFill>
                <a:latin typeface="Arial" panose="020B0604020202020204" pitchFamily="34" charset="0"/>
                <a:cs typeface="Arial" panose="020B0604020202020204" pitchFamily="34" charset="0"/>
              </a:rPr>
              <a:t>(Slack)</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a:t>
            </a:r>
            <a:r>
              <a:rPr lang="en-US" sz="1800" b="1" dirty="0">
                <a:latin typeface="Arial" panose="020B0604020202020204" pitchFamily="34" charset="0"/>
                <a:cs typeface="Arial" panose="020B0604020202020204" pitchFamily="34" charset="0"/>
              </a:rPr>
              <a:t>amount of time </a:t>
            </a:r>
            <a:r>
              <a:rPr lang="en-US" sz="1800" dirty="0">
                <a:latin typeface="Arial" panose="020B0604020202020204" pitchFamily="34" charset="0"/>
                <a:cs typeface="Arial" panose="020B0604020202020204" pitchFamily="34" charset="0"/>
              </a:rPr>
              <a:t>an activity </a:t>
            </a:r>
            <a:r>
              <a:rPr lang="en-US" sz="1800" dirty="0">
                <a:solidFill>
                  <a:srgbClr val="00B050"/>
                </a:solidFill>
                <a:latin typeface="Arial" panose="020B0604020202020204" pitchFamily="34" charset="0"/>
                <a:cs typeface="Arial" panose="020B0604020202020204" pitchFamily="34" charset="0"/>
              </a:rPr>
              <a:t>may be delayed </a:t>
            </a:r>
            <a:r>
              <a:rPr lang="en-US" sz="1800" dirty="0">
                <a:latin typeface="Arial" panose="020B0604020202020204" pitchFamily="34" charset="0"/>
                <a:cs typeface="Arial" panose="020B0604020202020204" pitchFamily="34" charset="0"/>
              </a:rPr>
              <a:t>from 				its </a:t>
            </a:r>
            <a:r>
              <a:rPr lang="en-US" sz="1800" dirty="0">
                <a:solidFill>
                  <a:srgbClr val="00B050"/>
                </a:solidFill>
                <a:latin typeface="Arial" panose="020B0604020202020204" pitchFamily="34" charset="0"/>
                <a:cs typeface="Arial" panose="020B0604020202020204" pitchFamily="34" charset="0"/>
              </a:rPr>
              <a:t>early</a:t>
            </a:r>
            <a:r>
              <a:rPr lang="en-US" sz="1800" dirty="0">
                <a:latin typeface="Arial" panose="020B0604020202020204" pitchFamily="34" charset="0"/>
                <a:cs typeface="Arial" panose="020B0604020202020204" pitchFamily="34" charset="0"/>
              </a:rPr>
              <a:t> </a:t>
            </a:r>
            <a:r>
              <a:rPr lang="en-US" sz="1800" dirty="0">
                <a:solidFill>
                  <a:srgbClr val="00B050"/>
                </a:solidFill>
                <a:latin typeface="Arial" panose="020B0604020202020204" pitchFamily="34" charset="0"/>
                <a:cs typeface="Arial" panose="020B0604020202020204" pitchFamily="34" charset="0"/>
              </a:rPr>
              <a:t>start</a:t>
            </a:r>
            <a:r>
              <a:rPr lang="en-US" sz="1800" dirty="0">
                <a:latin typeface="Arial" panose="020B0604020202020204" pitchFamily="34" charset="0"/>
                <a:cs typeface="Arial" panose="020B0604020202020204" pitchFamily="34" charset="0"/>
              </a:rPr>
              <a:t> without delaying the finish of the project.</a:t>
            </a:r>
          </a:p>
          <a:p>
            <a:pPr>
              <a:lnSpc>
                <a:spcPct val="100000"/>
              </a:lnSpc>
            </a:pPr>
            <a:r>
              <a:rPr lang="en-US" sz="1800" b="1" i="1" dirty="0">
                <a:solidFill>
                  <a:srgbClr val="7030A0"/>
                </a:solidFill>
                <a:latin typeface="Arial" panose="020B0604020202020204" pitchFamily="34" charset="0"/>
                <a:cs typeface="Arial" panose="020B0604020202020204" pitchFamily="34" charset="0"/>
              </a:rPr>
              <a:t>Critical Path</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 path through the project network with the longest 				duration. </a:t>
            </a:r>
          </a:p>
          <a:p>
            <a:pPr>
              <a:lnSpc>
                <a:spcPct val="100000"/>
              </a:lnSpc>
            </a:pPr>
            <a:r>
              <a:rPr lang="en-US" sz="1800" b="1" i="1" dirty="0">
                <a:solidFill>
                  <a:srgbClr val="7030A0"/>
                </a:solidFill>
                <a:latin typeface="Arial" panose="020B0604020202020204" pitchFamily="34" charset="0"/>
                <a:cs typeface="Arial" panose="020B0604020202020204" pitchFamily="34" charset="0"/>
              </a:rPr>
              <a:t>Critical Path Method</a:t>
            </a:r>
            <a:r>
              <a:rPr lang="en-US" sz="1800" dirty="0">
                <a:solidFill>
                  <a:srgbClr val="7030A0"/>
                </a:solidFill>
                <a:latin typeface="Arial" panose="020B0604020202020204" pitchFamily="34" charset="0"/>
                <a:cs typeface="Arial" panose="020B0604020202020204" pitchFamily="34" charset="0"/>
              </a:rPr>
              <a:t>:</a:t>
            </a:r>
            <a:r>
              <a:rPr lang="en-US" sz="1800" dirty="0">
                <a:solidFill>
                  <a:schemeClr val="bg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 network analysis technique used to determine 				which sequence of activities (which path) has the 				least amount of scheduling flexibility and therefore will 				most likely determine when the project can be 					completed.</a:t>
            </a:r>
          </a:p>
        </p:txBody>
      </p:sp>
      <p:sp>
        <p:nvSpPr>
          <p:cNvPr id="26627"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10</a:t>
            </a:fld>
            <a:endParaRPr lang="en-US" altLang="en-US"/>
          </a:p>
        </p:txBody>
      </p:sp>
      <p:sp>
        <p:nvSpPr>
          <p:cNvPr id="5" name="Date Placeholder 4">
            <a:extLst>
              <a:ext uri="{FF2B5EF4-FFF2-40B4-BE49-F238E27FC236}">
                <a16:creationId xmlns:a16="http://schemas.microsoft.com/office/drawing/2014/main" id="{B7646635-9FE2-4251-AD7B-FB6095C6E58C}"/>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618519"/>
            <a:ext cx="7773338" cy="600682"/>
          </a:xfrm>
        </p:spPr>
        <p:txBody>
          <a:bodyPr>
            <a:normAutofit/>
          </a:bodyPr>
          <a:lstStyle/>
          <a:p>
            <a:r>
              <a:rPr lang="en-US" sz="2800" dirty="0">
                <a:latin typeface="+mn-lt"/>
              </a:rPr>
              <a:t>Key Scheduling Terminology – simplified (cont.)</a:t>
            </a:r>
          </a:p>
        </p:txBody>
      </p:sp>
      <p:sp>
        <p:nvSpPr>
          <p:cNvPr id="3" name="Content Placeholder 2"/>
          <p:cNvSpPr>
            <a:spLocks noGrp="1"/>
          </p:cNvSpPr>
          <p:nvPr>
            <p:ph idx="1"/>
          </p:nvPr>
        </p:nvSpPr>
        <p:spPr/>
        <p:txBody>
          <a:bodyPr/>
          <a:lstStyle/>
          <a:p>
            <a:pPr>
              <a:lnSpc>
                <a:spcPct val="100000"/>
              </a:lnSpc>
            </a:pPr>
            <a:r>
              <a:rPr lang="en-US" b="1" i="1" dirty="0">
                <a:solidFill>
                  <a:srgbClr val="7030A0"/>
                </a:solidFill>
                <a:latin typeface="Arial" panose="020B0604020202020204" pitchFamily="34" charset="0"/>
                <a:cs typeface="Arial" panose="020B0604020202020204" pitchFamily="34" charset="0"/>
              </a:rPr>
              <a:t>Resource Limited Schedule</a:t>
            </a:r>
            <a:r>
              <a:rPr lang="en-US" dirty="0">
                <a:solidFill>
                  <a:srgbClr val="7030A0"/>
                </a:solidFill>
                <a:latin typeface="Arial" panose="020B0604020202020204" pitchFamily="34" charset="0"/>
                <a:cs typeface="Arial" panose="020B0604020202020204" pitchFamily="34" charset="0"/>
              </a:rPr>
              <a:t>:</a:t>
            </a:r>
            <a:r>
              <a:rPr lang="en-US" dirty="0">
                <a:solidFill>
                  <a:schemeClr val="bg1"/>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 project schedule whose 							start and finish dates reflect 							</a:t>
            </a:r>
            <a:r>
              <a:rPr lang="en-US" dirty="0">
                <a:solidFill>
                  <a:srgbClr val="00B050"/>
                </a:solidFill>
                <a:latin typeface="Arial" panose="020B0604020202020204" pitchFamily="34" charset="0"/>
                <a:cs typeface="Arial" panose="020B0604020202020204" pitchFamily="34" charset="0"/>
              </a:rPr>
              <a:t>expected resource availability</a:t>
            </a:r>
            <a:r>
              <a:rPr lang="en-US" dirty="0">
                <a:latin typeface="Arial" panose="020B0604020202020204" pitchFamily="34" charset="0"/>
                <a:cs typeface="Arial" panose="020B0604020202020204" pitchFamily="34" charset="0"/>
              </a:rPr>
              <a:t>.</a:t>
            </a:r>
          </a:p>
          <a:p>
            <a:pPr marL="0" indent="0">
              <a:lnSpc>
                <a:spcPct val="100000"/>
              </a:lnSpc>
              <a:buNone/>
            </a:pPr>
            <a:endParaRPr lang="en-US" dirty="0">
              <a:latin typeface="Arial" panose="020B0604020202020204" pitchFamily="34" charset="0"/>
              <a:cs typeface="Arial" panose="020B0604020202020204" pitchFamily="34" charset="0"/>
            </a:endParaRPr>
          </a:p>
          <a:p>
            <a:pPr>
              <a:lnSpc>
                <a:spcPct val="100000"/>
              </a:lnSpc>
            </a:pPr>
            <a:r>
              <a:rPr lang="en-US" b="1" i="1" dirty="0">
                <a:solidFill>
                  <a:srgbClr val="7030A0"/>
                </a:solidFill>
                <a:latin typeface="Arial" panose="020B0604020202020204" pitchFamily="34" charset="0"/>
                <a:cs typeface="Arial" panose="020B0604020202020204" pitchFamily="34" charset="0"/>
              </a:rPr>
              <a:t>Program Evaluation and Review Tool (PERT)</a:t>
            </a:r>
            <a:r>
              <a:rPr lang="en-US" dirty="0">
                <a:solidFill>
                  <a:srgbClr val="7030A0"/>
                </a:solidFill>
                <a:latin typeface="Arial" panose="020B0604020202020204" pitchFamily="34" charset="0"/>
                <a:cs typeface="Arial" panose="020B0604020202020204" pitchFamily="34" charset="0"/>
              </a:rPr>
              <a:t>:</a:t>
            </a:r>
            <a:r>
              <a:rPr lang="en-US" dirty="0">
                <a:solidFill>
                  <a:schemeClr val="bg1"/>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An event and probability-based network analysis system 	generally used in projects where activities and their 	durations are difficult to define.</a:t>
            </a:r>
          </a:p>
          <a:p>
            <a:pPr marL="0" indent="0">
              <a:buNone/>
            </a:pPr>
            <a:endParaRPr lang="en-US" dirty="0"/>
          </a:p>
        </p:txBody>
      </p:sp>
      <p:sp>
        <p:nvSpPr>
          <p:cNvPr id="4"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5" name="Slide Number Placeholder 4"/>
          <p:cNvSpPr>
            <a:spLocks noGrp="1"/>
          </p:cNvSpPr>
          <p:nvPr>
            <p:ph type="sldNum" sz="quarter" idx="12"/>
          </p:nvPr>
        </p:nvSpPr>
        <p:spPr/>
        <p:txBody>
          <a:bodyPr/>
          <a:lstStyle/>
          <a:p>
            <a:pPr>
              <a:defRPr/>
            </a:pPr>
            <a:fld id="{B9783C55-CC08-4E09-BF3D-925249F2761C}" type="slidenum">
              <a:rPr lang="en-US" altLang="en-US" smtClean="0"/>
              <a:pPr>
                <a:defRPr/>
              </a:pPr>
              <a:t>11</a:t>
            </a:fld>
            <a:endParaRPr lang="en-US" altLang="en-US"/>
          </a:p>
        </p:txBody>
      </p:sp>
      <p:sp>
        <p:nvSpPr>
          <p:cNvPr id="8" name="Date Placeholder 7">
            <a:extLst>
              <a:ext uri="{FF2B5EF4-FFF2-40B4-BE49-F238E27FC236}">
                <a16:creationId xmlns:a16="http://schemas.microsoft.com/office/drawing/2014/main" id="{D7A761F4-50AD-4F13-B54B-CDEEE0D489C6}"/>
              </a:ext>
            </a:extLst>
          </p:cNvPr>
          <p:cNvSpPr>
            <a:spLocks noGrp="1"/>
          </p:cNvSpPr>
          <p:nvPr>
            <p:ph type="dt" sz="half" idx="10"/>
          </p:nvPr>
        </p:nvSpPr>
        <p:spPr/>
        <p:txBody>
          <a:bodyPr/>
          <a:lstStyle/>
          <a:p>
            <a:pPr>
              <a:defRPr/>
            </a:pPr>
            <a:r>
              <a:rPr lang="en-US"/>
              <a:t>G.R. Labbé</a:t>
            </a:r>
          </a:p>
        </p:txBody>
      </p:sp>
    </p:spTree>
    <p:extLst>
      <p:ext uri="{BB962C8B-B14F-4D97-AF65-F5344CB8AC3E}">
        <p14:creationId xmlns:p14="http://schemas.microsoft.com/office/powerpoint/2010/main" val="1046807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Rectangle 2"/>
          <p:cNvSpPr>
            <a:spLocks noGrp="1" noChangeArrowheads="1"/>
          </p:cNvSpPr>
          <p:nvPr>
            <p:ph type="title"/>
          </p:nvPr>
        </p:nvSpPr>
        <p:spPr>
          <a:xfrm>
            <a:off x="457200" y="609600"/>
            <a:ext cx="7772400" cy="515938"/>
          </a:xfrm>
        </p:spPr>
        <p:txBody>
          <a:bodyPr>
            <a:normAutofit/>
          </a:bodyPr>
          <a:lstStyle/>
          <a:p>
            <a:r>
              <a:rPr lang="en-US" sz="2800" dirty="0">
                <a:latin typeface="+mn-lt"/>
              </a:rPr>
              <a:t>Labels for Activity Nodes</a:t>
            </a:r>
          </a:p>
        </p:txBody>
      </p:sp>
      <p:sp>
        <p:nvSpPr>
          <p:cNvPr id="1036"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1037" name="Picture 2" descr="http://2.bp.blogspot.com/-AUO16t3WAlA/UV0j8bNa5EI/AAAAAAAABlw/ES1WpmmxpfA/s1600/NetworkDiagram1.png"/>
          <p:cNvPicPr>
            <a:picLocks noChangeAspect="1" noChangeArrowheads="1"/>
          </p:cNvPicPr>
          <p:nvPr/>
        </p:nvPicPr>
        <p:blipFill>
          <a:blip r:embed="rId3" cstate="print"/>
          <a:srcRect/>
          <a:stretch>
            <a:fillRect/>
          </a:stretch>
        </p:blipFill>
        <p:spPr bwMode="auto">
          <a:xfrm>
            <a:off x="1547813" y="1295400"/>
            <a:ext cx="5334000" cy="2200275"/>
          </a:xfrm>
          <a:prstGeom prst="rect">
            <a:avLst/>
          </a:prstGeom>
          <a:noFill/>
          <a:ln w="9525">
            <a:noFill/>
            <a:miter lim="800000"/>
            <a:headEnd/>
            <a:tailEnd/>
          </a:ln>
        </p:spPr>
      </p:pic>
      <p:graphicFrame>
        <p:nvGraphicFramePr>
          <p:cNvPr id="2" name="Table 1"/>
          <p:cNvGraphicFramePr>
            <a:graphicFrameLocks noGrp="1"/>
          </p:cNvGraphicFramePr>
          <p:nvPr/>
        </p:nvGraphicFramePr>
        <p:xfrm>
          <a:off x="1606550" y="5083175"/>
          <a:ext cx="5472608" cy="1342852"/>
        </p:xfrm>
        <a:graphic>
          <a:graphicData uri="http://schemas.openxmlformats.org/drawingml/2006/table">
            <a:tbl>
              <a:tblPr/>
              <a:tblGrid>
                <a:gridCol w="383722">
                  <a:extLst>
                    <a:ext uri="{9D8B030D-6E8A-4147-A177-3AD203B41FA5}">
                      <a16:colId xmlns:a16="http://schemas.microsoft.com/office/drawing/2014/main" val="20000"/>
                    </a:ext>
                  </a:extLst>
                </a:gridCol>
                <a:gridCol w="1192280">
                  <a:extLst>
                    <a:ext uri="{9D8B030D-6E8A-4147-A177-3AD203B41FA5}">
                      <a16:colId xmlns:a16="http://schemas.microsoft.com/office/drawing/2014/main" val="20001"/>
                    </a:ext>
                  </a:extLst>
                </a:gridCol>
                <a:gridCol w="621265">
                  <a:extLst>
                    <a:ext uri="{9D8B030D-6E8A-4147-A177-3AD203B41FA5}">
                      <a16:colId xmlns:a16="http://schemas.microsoft.com/office/drawing/2014/main" val="20002"/>
                    </a:ext>
                  </a:extLst>
                </a:gridCol>
                <a:gridCol w="877079">
                  <a:extLst>
                    <a:ext uri="{9D8B030D-6E8A-4147-A177-3AD203B41FA5}">
                      <a16:colId xmlns:a16="http://schemas.microsoft.com/office/drawing/2014/main" val="20003"/>
                    </a:ext>
                  </a:extLst>
                </a:gridCol>
                <a:gridCol w="548174">
                  <a:extLst>
                    <a:ext uri="{9D8B030D-6E8A-4147-A177-3AD203B41FA5}">
                      <a16:colId xmlns:a16="http://schemas.microsoft.com/office/drawing/2014/main" val="20004"/>
                    </a:ext>
                  </a:extLst>
                </a:gridCol>
                <a:gridCol w="534470">
                  <a:extLst>
                    <a:ext uri="{9D8B030D-6E8A-4147-A177-3AD203B41FA5}">
                      <a16:colId xmlns:a16="http://schemas.microsoft.com/office/drawing/2014/main" val="20005"/>
                    </a:ext>
                  </a:extLst>
                </a:gridCol>
                <a:gridCol w="438539">
                  <a:extLst>
                    <a:ext uri="{9D8B030D-6E8A-4147-A177-3AD203B41FA5}">
                      <a16:colId xmlns:a16="http://schemas.microsoft.com/office/drawing/2014/main" val="20006"/>
                    </a:ext>
                  </a:extLst>
                </a:gridCol>
                <a:gridCol w="877079">
                  <a:extLst>
                    <a:ext uri="{9D8B030D-6E8A-4147-A177-3AD203B41FA5}">
                      <a16:colId xmlns:a16="http://schemas.microsoft.com/office/drawing/2014/main" val="20007"/>
                    </a:ext>
                  </a:extLst>
                </a:gridCol>
              </a:tblGrid>
              <a:tr h="343901">
                <a:tc>
                  <a:txBody>
                    <a:bodyPr/>
                    <a:lstStyle/>
                    <a:p>
                      <a:pPr algn="ctr" fontAlgn="b"/>
                      <a:r>
                        <a:rPr lang="en-US" sz="1600" b="1" i="0" u="none" strike="noStrike" dirty="0">
                          <a:solidFill>
                            <a:schemeClr val="tx1"/>
                          </a:solidFill>
                          <a:effectLst/>
                          <a:latin typeface="Calibri" panose="020F0502020204030204" pitchFamily="34" charset="0"/>
                        </a:rPr>
                        <a:t>ES</a:t>
                      </a:r>
                    </a:p>
                  </a:txBody>
                  <a:tcPr marL="9525" marR="9525" marT="9525" marB="0" anchor="b">
                    <a:lnL>
                      <a:noFill/>
                    </a:lnL>
                    <a:lnR>
                      <a:noFill/>
                    </a:lnR>
                    <a:lnT>
                      <a:noFill/>
                    </a:lnT>
                    <a:lnB>
                      <a:noFill/>
                    </a:lnB>
                  </a:tcPr>
                </a:tc>
                <a:tc>
                  <a:txBody>
                    <a:bodyPr/>
                    <a:lstStyle/>
                    <a:p>
                      <a:pPr algn="l" fontAlgn="b"/>
                      <a:r>
                        <a:rPr lang="en-US" sz="1600" b="1" i="0" u="none" strike="noStrike" dirty="0">
                          <a:solidFill>
                            <a:schemeClr val="tx1"/>
                          </a:solidFill>
                          <a:effectLst/>
                          <a:latin typeface="Calibri" panose="020F0502020204030204" pitchFamily="34" charset="0"/>
                        </a:rPr>
                        <a:t>Earliest Start</a:t>
                      </a: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US" sz="1600" b="1" i="0" u="none" strike="noStrike">
                          <a:solidFill>
                            <a:schemeClr val="tx1"/>
                          </a:solidFill>
                          <a:effectLst/>
                          <a:latin typeface="Calibri" panose="020F0502020204030204" pitchFamily="34" charset="0"/>
                        </a:rPr>
                        <a:t>DUR</a:t>
                      </a:r>
                    </a:p>
                  </a:txBody>
                  <a:tcPr marL="9525" marR="9525" marT="9525" marB="0" anchor="b">
                    <a:lnL>
                      <a:noFill/>
                    </a:lnL>
                    <a:lnR>
                      <a:noFill/>
                    </a:lnR>
                    <a:lnT>
                      <a:noFill/>
                    </a:lnT>
                    <a:lnB>
                      <a:noFill/>
                    </a:lnB>
                  </a:tcPr>
                </a:tc>
                <a:tc gridSpan="4">
                  <a:txBody>
                    <a:bodyPr/>
                    <a:lstStyle/>
                    <a:p>
                      <a:pPr algn="l" fontAlgn="b"/>
                      <a:r>
                        <a:rPr lang="en-US" sz="1600" b="1" i="0" u="none" strike="noStrike" dirty="0">
                          <a:solidFill>
                            <a:schemeClr val="tx1"/>
                          </a:solidFill>
                          <a:effectLst/>
                          <a:latin typeface="Calibri" panose="020F0502020204030204" pitchFamily="34" charset="0"/>
                        </a:rPr>
                        <a:t>Duration of Activity </a:t>
                      </a:r>
                    </a:p>
                  </a:txBody>
                  <a:tcPr marL="9525" marR="9525" marT="9525" marB="0" anchor="b">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27525">
                <a:tc>
                  <a:txBody>
                    <a:bodyPr/>
                    <a:lstStyle/>
                    <a:p>
                      <a:pPr algn="ctr" fontAlgn="b"/>
                      <a:r>
                        <a:rPr lang="en-US" sz="1600" b="1" i="0" u="none" strike="noStrike" dirty="0">
                          <a:solidFill>
                            <a:schemeClr val="tx1"/>
                          </a:solidFill>
                          <a:effectLst/>
                          <a:latin typeface="Calibri" panose="020F0502020204030204" pitchFamily="34" charset="0"/>
                        </a:rPr>
                        <a:t>EF</a:t>
                      </a:r>
                    </a:p>
                  </a:txBody>
                  <a:tcPr marL="9525" marR="9525" marT="9525" marB="0" anchor="b">
                    <a:lnL>
                      <a:noFill/>
                    </a:lnL>
                    <a:lnR>
                      <a:noFill/>
                    </a:lnR>
                    <a:lnT>
                      <a:noFill/>
                    </a:lnT>
                    <a:lnB>
                      <a:noFill/>
                    </a:lnB>
                  </a:tcPr>
                </a:tc>
                <a:tc gridSpan="2">
                  <a:txBody>
                    <a:bodyPr/>
                    <a:lstStyle/>
                    <a:p>
                      <a:pPr algn="l" fontAlgn="b"/>
                      <a:r>
                        <a:rPr lang="en-US" sz="1600" b="1" i="0" u="none" strike="noStrike" dirty="0">
                          <a:solidFill>
                            <a:schemeClr val="tx1"/>
                          </a:solidFill>
                          <a:effectLst/>
                          <a:latin typeface="Calibri" panose="020F0502020204030204" pitchFamily="34" charset="0"/>
                        </a:rPr>
                        <a:t>Earliest Finish</a:t>
                      </a:r>
                    </a:p>
                  </a:txBody>
                  <a:tcPr marL="9525" marR="9525" marT="9525" marB="0" anchor="b">
                    <a:lnL>
                      <a:noFill/>
                    </a:lnL>
                    <a:lnR>
                      <a:noFill/>
                    </a:lnR>
                    <a:lnT>
                      <a:noFill/>
                    </a:lnT>
                    <a:lnB>
                      <a:noFill/>
                    </a:lnB>
                  </a:tcPr>
                </a:tc>
                <a:tc hMerge="1">
                  <a:txBody>
                    <a:bodyPr/>
                    <a:lstStyle/>
                    <a:p>
                      <a:endParaRPr lang="en-US"/>
                    </a:p>
                  </a:txBody>
                  <a:tcPr/>
                </a:tc>
                <a:tc>
                  <a:txBody>
                    <a:bodyPr/>
                    <a:lstStyle/>
                    <a:p>
                      <a:pPr algn="ctr" fontAlgn="b"/>
                      <a:r>
                        <a:rPr lang="en-US" sz="1600" b="1" i="0" u="none" strike="noStrike" dirty="0">
                          <a:solidFill>
                            <a:schemeClr val="tx1"/>
                          </a:solidFill>
                          <a:effectLst/>
                          <a:latin typeface="Calibri" panose="020F0502020204030204" pitchFamily="34" charset="0"/>
                        </a:rPr>
                        <a:t>FLT</a:t>
                      </a:r>
                    </a:p>
                  </a:txBody>
                  <a:tcPr marL="9525" marR="9525" marT="9525" marB="0" anchor="b">
                    <a:lnL>
                      <a:noFill/>
                    </a:lnL>
                    <a:lnR>
                      <a:noFill/>
                    </a:lnR>
                    <a:lnT>
                      <a:noFill/>
                    </a:lnT>
                    <a:lnB>
                      <a:noFill/>
                    </a:lnB>
                  </a:tcPr>
                </a:tc>
                <a:tc>
                  <a:txBody>
                    <a:bodyPr/>
                    <a:lstStyle/>
                    <a:p>
                      <a:pPr algn="l" fontAlgn="b"/>
                      <a:r>
                        <a:rPr lang="en-US" sz="1600" b="1" i="0" u="none" strike="noStrike" dirty="0">
                          <a:solidFill>
                            <a:schemeClr val="tx1"/>
                          </a:solidFill>
                          <a:effectLst/>
                          <a:latin typeface="Calibri" panose="020F0502020204030204" pitchFamily="34" charset="0"/>
                        </a:rPr>
                        <a:t>Float</a:t>
                      </a: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1"/>
                  </a:ext>
                </a:extLst>
              </a:tr>
              <a:tr h="327525">
                <a:tc>
                  <a:txBody>
                    <a:bodyPr/>
                    <a:lstStyle/>
                    <a:p>
                      <a:pPr algn="ctr" fontAlgn="b"/>
                      <a:r>
                        <a:rPr lang="en-US" sz="1600" b="1" i="0" u="none" strike="noStrike">
                          <a:solidFill>
                            <a:schemeClr val="tx1"/>
                          </a:solidFill>
                          <a:effectLst/>
                          <a:latin typeface="Calibri" panose="020F0502020204030204" pitchFamily="34" charset="0"/>
                        </a:rPr>
                        <a:t>LS</a:t>
                      </a:r>
                    </a:p>
                  </a:txBody>
                  <a:tcPr marL="9525" marR="9525" marT="9525" marB="0" anchor="b">
                    <a:lnL>
                      <a:noFill/>
                    </a:lnL>
                    <a:lnR>
                      <a:noFill/>
                    </a:lnR>
                    <a:lnT>
                      <a:noFill/>
                    </a:lnT>
                    <a:lnB>
                      <a:noFill/>
                    </a:lnB>
                  </a:tcPr>
                </a:tc>
                <a:tc>
                  <a:txBody>
                    <a:bodyPr/>
                    <a:lstStyle/>
                    <a:p>
                      <a:pPr algn="l" fontAlgn="b"/>
                      <a:r>
                        <a:rPr lang="en-US" sz="1600" b="1" i="0" u="none" strike="noStrike" dirty="0">
                          <a:solidFill>
                            <a:schemeClr val="tx1"/>
                          </a:solidFill>
                          <a:effectLst/>
                          <a:latin typeface="Calibri" panose="020F0502020204030204" pitchFamily="34" charset="0"/>
                        </a:rPr>
                        <a:t>Latest Start</a:t>
                      </a: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2"/>
                  </a:ext>
                </a:extLst>
              </a:tr>
              <a:tr h="343901">
                <a:tc>
                  <a:txBody>
                    <a:bodyPr/>
                    <a:lstStyle/>
                    <a:p>
                      <a:pPr algn="ctr" fontAlgn="b"/>
                      <a:r>
                        <a:rPr lang="en-US" sz="1600" b="1" i="0" u="none" strike="noStrike">
                          <a:solidFill>
                            <a:schemeClr val="tx1"/>
                          </a:solidFill>
                          <a:effectLst/>
                          <a:latin typeface="Calibri" panose="020F0502020204030204" pitchFamily="34" charset="0"/>
                        </a:rPr>
                        <a:t>LF</a:t>
                      </a:r>
                    </a:p>
                  </a:txBody>
                  <a:tcPr marL="9525" marR="9525" marT="9525" marB="0" anchor="b">
                    <a:lnL>
                      <a:noFill/>
                    </a:lnL>
                    <a:lnR>
                      <a:noFill/>
                    </a:lnR>
                    <a:lnT>
                      <a:noFill/>
                    </a:lnT>
                    <a:lnB>
                      <a:noFill/>
                    </a:lnB>
                  </a:tcPr>
                </a:tc>
                <a:tc>
                  <a:txBody>
                    <a:bodyPr/>
                    <a:lstStyle/>
                    <a:p>
                      <a:pPr algn="l" fontAlgn="b"/>
                      <a:r>
                        <a:rPr lang="en-US" sz="1600" b="1" i="0" u="none" strike="noStrike" dirty="0">
                          <a:solidFill>
                            <a:schemeClr val="tx1"/>
                          </a:solidFill>
                          <a:effectLst/>
                          <a:latin typeface="Calibri" panose="020F0502020204030204" pitchFamily="34" charset="0"/>
                        </a:rPr>
                        <a:t>Latest Finish</a:t>
                      </a: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chemeClr val="tx1"/>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US" sz="1600" b="1"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0003"/>
                  </a:ext>
                </a:extLst>
              </a:tr>
            </a:tbl>
          </a:graphicData>
        </a:graphic>
      </p:graphicFrame>
      <p:graphicFrame>
        <p:nvGraphicFramePr>
          <p:cNvPr id="3" name="Object 10"/>
          <p:cNvGraphicFramePr>
            <a:graphicFrameLocks noChangeAspect="1"/>
          </p:cNvGraphicFramePr>
          <p:nvPr>
            <p:extLst>
              <p:ext uri="{D42A27DB-BD31-4B8C-83A1-F6EECF244321}">
                <p14:modId xmlns:p14="http://schemas.microsoft.com/office/powerpoint/2010/main" val="1673016052"/>
              </p:ext>
            </p:extLst>
          </p:nvPr>
        </p:nvGraphicFramePr>
        <p:xfrm>
          <a:off x="2961421" y="3665537"/>
          <a:ext cx="2409825" cy="1309688"/>
        </p:xfrm>
        <a:graphic>
          <a:graphicData uri="http://schemas.openxmlformats.org/presentationml/2006/ole">
            <mc:AlternateContent xmlns:mc="http://schemas.openxmlformats.org/markup-compatibility/2006">
              <mc:Choice xmlns:v="urn:schemas-microsoft-com:vml" Requires="v">
                <p:oleObj name="Worksheet" r:id="rId4" imgW="1085951" imgH="590620" progId="Excel.Sheet.12">
                  <p:embed/>
                </p:oleObj>
              </mc:Choice>
              <mc:Fallback>
                <p:oleObj name="Worksheet" r:id="rId4" imgW="1085951" imgH="590620" progId="Excel.Sheet.12">
                  <p:embed/>
                  <p:pic>
                    <p:nvPicPr>
                      <p:cNvPr id="3"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1421" y="3665537"/>
                        <a:ext cx="2409825" cy="1309688"/>
                      </a:xfrm>
                      <a:prstGeom prst="rect">
                        <a:avLst/>
                      </a:prstGeom>
                      <a:solidFill>
                        <a:schemeClr val="bg1"/>
                      </a:solidFill>
                    </p:spPr>
                  </p:pic>
                </p:oleObj>
              </mc:Fallback>
            </mc:AlternateContent>
          </a:graphicData>
        </a:graphic>
      </p:graphicFrame>
      <p:sp>
        <p:nvSpPr>
          <p:cNvPr id="4" name="Slide Number Placeholder 3"/>
          <p:cNvSpPr>
            <a:spLocks noGrp="1"/>
          </p:cNvSpPr>
          <p:nvPr>
            <p:ph type="sldNum" sz="quarter" idx="12"/>
          </p:nvPr>
        </p:nvSpPr>
        <p:spPr/>
        <p:txBody>
          <a:bodyPr/>
          <a:lstStyle/>
          <a:p>
            <a:pPr>
              <a:defRPr/>
            </a:pPr>
            <a:fld id="{B9783C55-CC08-4E09-BF3D-925249F2761C}" type="slidenum">
              <a:rPr lang="en-US" altLang="en-US" smtClean="0"/>
              <a:pPr>
                <a:defRPr/>
              </a:pPr>
              <a:t>12</a:t>
            </a:fld>
            <a:endParaRPr lang="en-US" altLang="en-US"/>
          </a:p>
        </p:txBody>
      </p:sp>
      <p:sp>
        <p:nvSpPr>
          <p:cNvPr id="7" name="Date Placeholder 6">
            <a:extLst>
              <a:ext uri="{FF2B5EF4-FFF2-40B4-BE49-F238E27FC236}">
                <a16:creationId xmlns:a16="http://schemas.microsoft.com/office/drawing/2014/main" id="{1616884E-F6D5-4DA0-B119-41AE0D1A834E}"/>
              </a:ext>
            </a:extLst>
          </p:cNvPr>
          <p:cNvSpPr>
            <a:spLocks noGrp="1"/>
          </p:cNvSpPr>
          <p:nvPr>
            <p:ph type="dt" sz="half" idx="10"/>
          </p:nvPr>
        </p:nvSpPr>
        <p:spPr/>
        <p:txBody>
          <a:bodyPr/>
          <a:lstStyle/>
          <a:p>
            <a:pPr>
              <a:defRPr/>
            </a:pPr>
            <a:r>
              <a:rPr lang="en-US"/>
              <a:t>G.R. Labbé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6875" y="693738"/>
            <a:ext cx="6896100" cy="468312"/>
          </a:xfrm>
        </p:spPr>
        <p:txBody>
          <a:bodyPr rtlCol="0">
            <a:noAutofit/>
          </a:bodyPr>
          <a:lstStyle/>
          <a:p>
            <a:pPr fontAlgn="auto">
              <a:spcAft>
                <a:spcPts val="0"/>
              </a:spcAft>
              <a:defRPr/>
            </a:pPr>
            <a:r>
              <a:rPr lang="en-US" sz="2800" dirty="0">
                <a:latin typeface="+mn-lt"/>
              </a:rPr>
              <a:t>Defining the numbers</a:t>
            </a:r>
          </a:p>
        </p:txBody>
      </p:sp>
      <p:graphicFrame>
        <p:nvGraphicFramePr>
          <p:cNvPr id="2060" name="Object 12"/>
          <p:cNvGraphicFramePr>
            <a:graphicFrameLocks noChangeAspect="1"/>
          </p:cNvGraphicFramePr>
          <p:nvPr>
            <p:extLst>
              <p:ext uri="{D42A27DB-BD31-4B8C-83A1-F6EECF244321}">
                <p14:modId xmlns:p14="http://schemas.microsoft.com/office/powerpoint/2010/main" val="2934806931"/>
              </p:ext>
            </p:extLst>
          </p:nvPr>
        </p:nvGraphicFramePr>
        <p:xfrm>
          <a:off x="514350" y="2147888"/>
          <a:ext cx="8208963" cy="2794000"/>
        </p:xfrm>
        <a:graphic>
          <a:graphicData uri="http://schemas.openxmlformats.org/presentationml/2006/ole">
            <mc:AlternateContent xmlns:mc="http://schemas.openxmlformats.org/markup-compatibility/2006">
              <mc:Choice xmlns:v="urn:schemas-microsoft-com:vml" Requires="v">
                <p:oleObj name="Worksheet" r:id="rId3" imgW="7058143" imgH="2562144" progId="Excel.Sheet.12">
                  <p:embed/>
                </p:oleObj>
              </mc:Choice>
              <mc:Fallback>
                <p:oleObj name="Worksheet" r:id="rId3" imgW="7058143" imgH="2562144" progId="Excel.Sheet.12">
                  <p:embed/>
                  <p:pic>
                    <p:nvPicPr>
                      <p:cNvPr id="206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350" y="2147888"/>
                        <a:ext cx="8208963" cy="2794000"/>
                      </a:xfrm>
                      <a:prstGeom prst="rect">
                        <a:avLst/>
                      </a:prstGeom>
                      <a:solidFill>
                        <a:schemeClr val="bg1"/>
                      </a:solidFill>
                    </p:spPr>
                  </p:pic>
                </p:oleObj>
              </mc:Fallback>
            </mc:AlternateContent>
          </a:graphicData>
        </a:graphic>
      </p:graphicFrame>
      <p:sp>
        <p:nvSpPr>
          <p:cNvPr id="5" name="Rectangle 4"/>
          <p:cNvSpPr/>
          <p:nvPr/>
        </p:nvSpPr>
        <p:spPr>
          <a:xfrm>
            <a:off x="1979613" y="234950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2843213" y="234950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a:xfrm>
            <a:off x="1979613" y="27701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2843213" y="2759075"/>
            <a:ext cx="288925" cy="2317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2409825" y="2770188"/>
            <a:ext cx="287338"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4356100" y="2349500"/>
            <a:ext cx="287338"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219700" y="234950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Rectangle 11"/>
          <p:cNvSpPr/>
          <p:nvPr/>
        </p:nvSpPr>
        <p:spPr>
          <a:xfrm>
            <a:off x="4356100" y="2770188"/>
            <a:ext cx="287338"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 name="Rectangle 12"/>
          <p:cNvSpPr/>
          <p:nvPr/>
        </p:nvSpPr>
        <p:spPr>
          <a:xfrm>
            <a:off x="5218113" y="2781300"/>
            <a:ext cx="287337"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4751388" y="278130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5" name="Rectangle 14"/>
          <p:cNvSpPr/>
          <p:nvPr/>
        </p:nvSpPr>
        <p:spPr>
          <a:xfrm>
            <a:off x="1987550" y="32019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6" name="Rectangle 15"/>
          <p:cNvSpPr/>
          <p:nvPr/>
        </p:nvSpPr>
        <p:spPr>
          <a:xfrm>
            <a:off x="2843213" y="3216275"/>
            <a:ext cx="288925" cy="2317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Rectangle 16"/>
          <p:cNvSpPr/>
          <p:nvPr/>
        </p:nvSpPr>
        <p:spPr>
          <a:xfrm>
            <a:off x="1987550" y="3630613"/>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2843213" y="363855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9" name="Rectangle 18"/>
          <p:cNvSpPr/>
          <p:nvPr/>
        </p:nvSpPr>
        <p:spPr>
          <a:xfrm>
            <a:off x="1987550" y="40528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ectangle 19"/>
          <p:cNvSpPr/>
          <p:nvPr/>
        </p:nvSpPr>
        <p:spPr>
          <a:xfrm>
            <a:off x="1987550" y="44973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2843213" y="4068763"/>
            <a:ext cx="288925" cy="2317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Rectangle 21"/>
          <p:cNvSpPr/>
          <p:nvPr/>
        </p:nvSpPr>
        <p:spPr>
          <a:xfrm>
            <a:off x="2843213" y="4505325"/>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Rectangle 22"/>
          <p:cNvSpPr/>
          <p:nvPr/>
        </p:nvSpPr>
        <p:spPr>
          <a:xfrm>
            <a:off x="2420938" y="4497388"/>
            <a:ext cx="287337"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ectangle 23"/>
          <p:cNvSpPr/>
          <p:nvPr/>
        </p:nvSpPr>
        <p:spPr>
          <a:xfrm>
            <a:off x="4356100" y="3214688"/>
            <a:ext cx="287338" cy="2317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 name="Rectangle 24"/>
          <p:cNvSpPr/>
          <p:nvPr/>
        </p:nvSpPr>
        <p:spPr>
          <a:xfrm>
            <a:off x="4356100" y="3630613"/>
            <a:ext cx="287338"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ectangle 25"/>
          <p:cNvSpPr/>
          <p:nvPr/>
        </p:nvSpPr>
        <p:spPr>
          <a:xfrm>
            <a:off x="5211763" y="3211513"/>
            <a:ext cx="287337" cy="231775"/>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ectangle 26"/>
          <p:cNvSpPr/>
          <p:nvPr/>
        </p:nvSpPr>
        <p:spPr>
          <a:xfrm>
            <a:off x="5219700" y="36337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ectangle 27"/>
          <p:cNvSpPr/>
          <p:nvPr/>
        </p:nvSpPr>
        <p:spPr>
          <a:xfrm>
            <a:off x="4751388" y="3633788"/>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ectangle 28"/>
          <p:cNvSpPr/>
          <p:nvPr/>
        </p:nvSpPr>
        <p:spPr>
          <a:xfrm>
            <a:off x="6835775" y="321945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0" name="Rectangle 29"/>
          <p:cNvSpPr/>
          <p:nvPr/>
        </p:nvSpPr>
        <p:spPr>
          <a:xfrm>
            <a:off x="7691438" y="3219450"/>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ectangle 30"/>
          <p:cNvSpPr/>
          <p:nvPr/>
        </p:nvSpPr>
        <p:spPr>
          <a:xfrm>
            <a:off x="6835775" y="3630613"/>
            <a:ext cx="288925" cy="230187"/>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ectangle 31"/>
          <p:cNvSpPr/>
          <p:nvPr/>
        </p:nvSpPr>
        <p:spPr>
          <a:xfrm>
            <a:off x="7699375" y="3635375"/>
            <a:ext cx="288925"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p:cNvSpPr/>
          <p:nvPr/>
        </p:nvSpPr>
        <p:spPr>
          <a:xfrm>
            <a:off x="7304088" y="3638550"/>
            <a:ext cx="287337" cy="2301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ectangle 33"/>
          <p:cNvSpPr/>
          <p:nvPr/>
        </p:nvSpPr>
        <p:spPr>
          <a:xfrm>
            <a:off x="2409825" y="3644900"/>
            <a:ext cx="287338" cy="217488"/>
          </a:xfrm>
          <a:prstGeom prst="rect">
            <a:avLst/>
          </a:prstGeom>
          <a:solidFill>
            <a:schemeClr val="bg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92" name="TextBox 34"/>
          <p:cNvSpPr txBox="1">
            <a:spLocks noChangeArrowheads="1"/>
          </p:cNvSpPr>
          <p:nvPr/>
        </p:nvSpPr>
        <p:spPr bwMode="auto">
          <a:xfrm>
            <a:off x="900113" y="1412875"/>
            <a:ext cx="5688012" cy="369888"/>
          </a:xfrm>
          <a:prstGeom prst="rect">
            <a:avLst/>
          </a:prstGeom>
          <a:noFill/>
          <a:ln w="9525">
            <a:noFill/>
            <a:miter lim="800000"/>
            <a:headEnd/>
            <a:tailEnd/>
          </a:ln>
        </p:spPr>
        <p:txBody>
          <a:bodyPr>
            <a:spAutoFit/>
          </a:bodyPr>
          <a:lstStyle/>
          <a:p>
            <a:r>
              <a:rPr lang="en-US"/>
              <a:t>1) Do the Forward Pass first to determine ES and EF</a:t>
            </a:r>
          </a:p>
        </p:txBody>
      </p:sp>
      <p:sp>
        <p:nvSpPr>
          <p:cNvPr id="2093" name="TextBox 35"/>
          <p:cNvSpPr txBox="1">
            <a:spLocks noChangeArrowheads="1"/>
          </p:cNvSpPr>
          <p:nvPr/>
        </p:nvSpPr>
        <p:spPr bwMode="auto">
          <a:xfrm>
            <a:off x="1042988" y="5373688"/>
            <a:ext cx="5792787" cy="368300"/>
          </a:xfrm>
          <a:prstGeom prst="rect">
            <a:avLst/>
          </a:prstGeom>
          <a:noFill/>
          <a:ln w="9525">
            <a:noFill/>
            <a:miter lim="800000"/>
            <a:headEnd/>
            <a:tailEnd/>
          </a:ln>
        </p:spPr>
        <p:txBody>
          <a:bodyPr>
            <a:spAutoFit/>
          </a:bodyPr>
          <a:lstStyle/>
          <a:p>
            <a:r>
              <a:rPr lang="en-US"/>
              <a:t>2) Do a Backwards Pass next to determine LF and LS</a:t>
            </a:r>
          </a:p>
        </p:txBody>
      </p:sp>
      <p:sp>
        <p:nvSpPr>
          <p:cNvPr id="2094" name="TextBox 36"/>
          <p:cNvSpPr txBox="1">
            <a:spLocks noChangeArrowheads="1"/>
          </p:cNvSpPr>
          <p:nvPr/>
        </p:nvSpPr>
        <p:spPr bwMode="auto">
          <a:xfrm>
            <a:off x="1042988" y="5775325"/>
            <a:ext cx="5792787" cy="368300"/>
          </a:xfrm>
          <a:prstGeom prst="rect">
            <a:avLst/>
          </a:prstGeom>
          <a:noFill/>
          <a:ln w="9525">
            <a:noFill/>
            <a:miter lim="800000"/>
            <a:headEnd/>
            <a:tailEnd/>
          </a:ln>
        </p:spPr>
        <p:txBody>
          <a:bodyPr>
            <a:spAutoFit/>
          </a:bodyPr>
          <a:lstStyle/>
          <a:p>
            <a:r>
              <a:rPr lang="en-US"/>
              <a:t>3) Subtract ES from LS to determine FLOAT</a:t>
            </a:r>
          </a:p>
        </p:txBody>
      </p:sp>
      <p:sp>
        <p:nvSpPr>
          <p:cNvPr id="2095"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3" name="Slide Number Placeholder 2"/>
          <p:cNvSpPr>
            <a:spLocks noGrp="1"/>
          </p:cNvSpPr>
          <p:nvPr>
            <p:ph type="sldNum" sz="quarter" idx="12"/>
          </p:nvPr>
        </p:nvSpPr>
        <p:spPr/>
        <p:txBody>
          <a:bodyPr/>
          <a:lstStyle/>
          <a:p>
            <a:pPr>
              <a:defRPr/>
            </a:pPr>
            <a:fld id="{B9783C55-CC08-4E09-BF3D-925249F2761C}" type="slidenum">
              <a:rPr lang="en-US" altLang="en-US" smtClean="0"/>
              <a:pPr>
                <a:defRPr/>
              </a:pPr>
              <a:t>13</a:t>
            </a:fld>
            <a:endParaRPr lang="en-US" altLang="en-US"/>
          </a:p>
        </p:txBody>
      </p:sp>
      <p:sp>
        <p:nvSpPr>
          <p:cNvPr id="2049" name="Date Placeholder 2048">
            <a:extLst>
              <a:ext uri="{FF2B5EF4-FFF2-40B4-BE49-F238E27FC236}">
                <a16:creationId xmlns:a16="http://schemas.microsoft.com/office/drawing/2014/main" id="{59FAA226-5B63-43EF-B6D9-40F66982DD93}"/>
              </a:ext>
            </a:extLst>
          </p:cNvPr>
          <p:cNvSpPr>
            <a:spLocks noGrp="1"/>
          </p:cNvSpPr>
          <p:nvPr>
            <p:ph type="dt" sz="half" idx="10"/>
          </p:nvPr>
        </p:nvSpPr>
        <p:spPr/>
        <p:txBody>
          <a:bodyPr/>
          <a:lstStyle/>
          <a:p>
            <a:pPr>
              <a:defRPr/>
            </a:pPr>
            <a:r>
              <a:rPr lang="en-US"/>
              <a:t>G.R. Labbé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15"/>
                                        </p:tgtEl>
                                        <p:attrNameLst>
                                          <p:attrName>ppt_x</p:attrName>
                                        </p:attrNameLst>
                                      </p:cBhvr>
                                      <p:tavLst>
                                        <p:tav tm="0">
                                          <p:val>
                                            <p:strVal val="ppt_x"/>
                                          </p:val>
                                        </p:tav>
                                        <p:tav tm="100000">
                                          <p:val>
                                            <p:strVal val="ppt_x"/>
                                          </p:val>
                                        </p:tav>
                                      </p:tavLst>
                                    </p:anim>
                                    <p:anim calcmode="lin" valueType="num">
                                      <p:cBhvr additive="base">
                                        <p:cTn id="13" dur="500"/>
                                        <p:tgtEl>
                                          <p:spTgt spid="15"/>
                                        </p:tgtEl>
                                        <p:attrNameLst>
                                          <p:attrName>ppt_y</p:attrName>
                                        </p:attrNameLst>
                                      </p:cBhvr>
                                      <p:tavLst>
                                        <p:tav tm="0">
                                          <p:val>
                                            <p:strVal val="ppt_y"/>
                                          </p:val>
                                        </p:tav>
                                        <p:tav tm="100000">
                                          <p:val>
                                            <p:strVal val="1+ppt_h/2"/>
                                          </p:val>
                                        </p:tav>
                                      </p:tavLst>
                                    </p:anim>
                                    <p:set>
                                      <p:cBhvr>
                                        <p:cTn id="14" dur="1" fill="hold">
                                          <p:stCondLst>
                                            <p:cond delay="499"/>
                                          </p:stCondLst>
                                        </p:cTn>
                                        <p:tgtEl>
                                          <p:spTgt spid="15"/>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19"/>
                                        </p:tgtEl>
                                        <p:attrNameLst>
                                          <p:attrName>ppt_x</p:attrName>
                                        </p:attrNameLst>
                                      </p:cBhvr>
                                      <p:tavLst>
                                        <p:tav tm="0">
                                          <p:val>
                                            <p:strVal val="ppt_x"/>
                                          </p:val>
                                        </p:tav>
                                        <p:tav tm="100000">
                                          <p:val>
                                            <p:strVal val="ppt_x"/>
                                          </p:val>
                                        </p:tav>
                                      </p:tavLst>
                                    </p:anim>
                                    <p:anim calcmode="lin" valueType="num">
                                      <p:cBhvr additive="base">
                                        <p:cTn id="19" dur="500"/>
                                        <p:tgtEl>
                                          <p:spTgt spid="19"/>
                                        </p:tgtEl>
                                        <p:attrNameLst>
                                          <p:attrName>ppt_y</p:attrName>
                                        </p:attrNameLst>
                                      </p:cBhvr>
                                      <p:tavLst>
                                        <p:tav tm="0">
                                          <p:val>
                                            <p:strVal val="ppt_y"/>
                                          </p:val>
                                        </p:tav>
                                        <p:tav tm="100000">
                                          <p:val>
                                            <p:strVal val="1+ppt_h/2"/>
                                          </p:val>
                                        </p:tav>
                                      </p:tavLst>
                                    </p:anim>
                                    <p:set>
                                      <p:cBhvr>
                                        <p:cTn id="20" dur="1" fill="hold">
                                          <p:stCondLst>
                                            <p:cond delay="499"/>
                                          </p:stCondLst>
                                        </p:cTn>
                                        <p:tgtEl>
                                          <p:spTgt spid="1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1+ppt_h/2"/>
                                          </p:val>
                                        </p:tav>
                                      </p:tavLst>
                                    </p:anim>
                                    <p:set>
                                      <p:cBhvr>
                                        <p:cTn id="26" dur="1" fill="hold">
                                          <p:stCondLst>
                                            <p:cond delay="499"/>
                                          </p:stCondLst>
                                        </p:cTn>
                                        <p:tgtEl>
                                          <p:spTgt spid="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16"/>
                                        </p:tgtEl>
                                        <p:attrNameLst>
                                          <p:attrName>ppt_x</p:attrName>
                                        </p:attrNameLst>
                                      </p:cBhvr>
                                      <p:tavLst>
                                        <p:tav tm="0">
                                          <p:val>
                                            <p:strVal val="ppt_x"/>
                                          </p:val>
                                        </p:tav>
                                        <p:tav tm="100000">
                                          <p:val>
                                            <p:strVal val="ppt_x"/>
                                          </p:val>
                                        </p:tav>
                                      </p:tavLst>
                                    </p:anim>
                                    <p:anim calcmode="lin" valueType="num">
                                      <p:cBhvr additive="base">
                                        <p:cTn id="31" dur="500"/>
                                        <p:tgtEl>
                                          <p:spTgt spid="16"/>
                                        </p:tgtEl>
                                        <p:attrNameLst>
                                          <p:attrName>ppt_y</p:attrName>
                                        </p:attrNameLst>
                                      </p:cBhvr>
                                      <p:tavLst>
                                        <p:tav tm="0">
                                          <p:val>
                                            <p:strVal val="ppt_y"/>
                                          </p:val>
                                        </p:tav>
                                        <p:tav tm="100000">
                                          <p:val>
                                            <p:strVal val="1+ppt_h/2"/>
                                          </p:val>
                                        </p:tav>
                                      </p:tavLst>
                                    </p:anim>
                                    <p:set>
                                      <p:cBhvr>
                                        <p:cTn id="32" dur="1" fill="hold">
                                          <p:stCondLst>
                                            <p:cond delay="499"/>
                                          </p:stCondLst>
                                        </p:cTn>
                                        <p:tgtEl>
                                          <p:spTgt spid="1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grpId="0" nodeType="clickEffect">
                                  <p:stCondLst>
                                    <p:cond delay="0"/>
                                  </p:stCondLst>
                                  <p:childTnLst>
                                    <p:anim calcmode="lin" valueType="num">
                                      <p:cBhvr additive="base">
                                        <p:cTn id="36" dur="500"/>
                                        <p:tgtEl>
                                          <p:spTgt spid="21"/>
                                        </p:tgtEl>
                                        <p:attrNameLst>
                                          <p:attrName>ppt_x</p:attrName>
                                        </p:attrNameLst>
                                      </p:cBhvr>
                                      <p:tavLst>
                                        <p:tav tm="0">
                                          <p:val>
                                            <p:strVal val="ppt_x"/>
                                          </p:val>
                                        </p:tav>
                                        <p:tav tm="100000">
                                          <p:val>
                                            <p:strVal val="ppt_x"/>
                                          </p:val>
                                        </p:tav>
                                      </p:tavLst>
                                    </p:anim>
                                    <p:anim calcmode="lin" valueType="num">
                                      <p:cBhvr additive="base">
                                        <p:cTn id="37" dur="500"/>
                                        <p:tgtEl>
                                          <p:spTgt spid="21"/>
                                        </p:tgtEl>
                                        <p:attrNameLst>
                                          <p:attrName>ppt_y</p:attrName>
                                        </p:attrNameLst>
                                      </p:cBhvr>
                                      <p:tavLst>
                                        <p:tav tm="0">
                                          <p:val>
                                            <p:strVal val="ppt_y"/>
                                          </p:val>
                                        </p:tav>
                                        <p:tav tm="100000">
                                          <p:val>
                                            <p:strVal val="1+ppt_h/2"/>
                                          </p:val>
                                        </p:tav>
                                      </p:tavLst>
                                    </p:anim>
                                    <p:set>
                                      <p:cBhvr>
                                        <p:cTn id="38" dur="1" fill="hold">
                                          <p:stCondLst>
                                            <p:cond delay="499"/>
                                          </p:stCondLst>
                                        </p:cTn>
                                        <p:tgtEl>
                                          <p:spTgt spid="2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grpId="0" nodeType="clickEffect">
                                  <p:stCondLst>
                                    <p:cond delay="0"/>
                                  </p:stCondLst>
                                  <p:childTnLst>
                                    <p:anim calcmode="lin" valueType="num">
                                      <p:cBhvr additive="base">
                                        <p:cTn id="42" dur="500"/>
                                        <p:tgtEl>
                                          <p:spTgt spid="10"/>
                                        </p:tgtEl>
                                        <p:attrNameLst>
                                          <p:attrName>ppt_x</p:attrName>
                                        </p:attrNameLst>
                                      </p:cBhvr>
                                      <p:tavLst>
                                        <p:tav tm="0">
                                          <p:val>
                                            <p:strVal val="ppt_x"/>
                                          </p:val>
                                        </p:tav>
                                        <p:tav tm="100000">
                                          <p:val>
                                            <p:strVal val="ppt_x"/>
                                          </p:val>
                                        </p:tav>
                                      </p:tavLst>
                                    </p:anim>
                                    <p:anim calcmode="lin" valueType="num">
                                      <p:cBhvr additive="base">
                                        <p:cTn id="43" dur="500"/>
                                        <p:tgtEl>
                                          <p:spTgt spid="10"/>
                                        </p:tgtEl>
                                        <p:attrNameLst>
                                          <p:attrName>ppt_y</p:attrName>
                                        </p:attrNameLst>
                                      </p:cBhvr>
                                      <p:tavLst>
                                        <p:tav tm="0">
                                          <p:val>
                                            <p:strVal val="ppt_y"/>
                                          </p:val>
                                        </p:tav>
                                        <p:tav tm="100000">
                                          <p:val>
                                            <p:strVal val="1+ppt_h/2"/>
                                          </p:val>
                                        </p:tav>
                                      </p:tavLst>
                                    </p:anim>
                                    <p:set>
                                      <p:cBhvr>
                                        <p:cTn id="44" dur="1" fill="hold">
                                          <p:stCondLst>
                                            <p:cond delay="499"/>
                                          </p:stCondLst>
                                        </p:cTn>
                                        <p:tgtEl>
                                          <p:spTgt spid="10"/>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2" presetClass="exit" presetSubtype="4" fill="hold" grpId="0" nodeType="clickEffect">
                                  <p:stCondLst>
                                    <p:cond delay="0"/>
                                  </p:stCondLst>
                                  <p:childTnLst>
                                    <p:anim calcmode="lin" valueType="num">
                                      <p:cBhvr additive="base">
                                        <p:cTn id="48" dur="500"/>
                                        <p:tgtEl>
                                          <p:spTgt spid="24"/>
                                        </p:tgtEl>
                                        <p:attrNameLst>
                                          <p:attrName>ppt_x</p:attrName>
                                        </p:attrNameLst>
                                      </p:cBhvr>
                                      <p:tavLst>
                                        <p:tav tm="0">
                                          <p:val>
                                            <p:strVal val="ppt_x"/>
                                          </p:val>
                                        </p:tav>
                                        <p:tav tm="100000">
                                          <p:val>
                                            <p:strVal val="ppt_x"/>
                                          </p:val>
                                        </p:tav>
                                      </p:tavLst>
                                    </p:anim>
                                    <p:anim calcmode="lin" valueType="num">
                                      <p:cBhvr additive="base">
                                        <p:cTn id="49" dur="500"/>
                                        <p:tgtEl>
                                          <p:spTgt spid="24"/>
                                        </p:tgtEl>
                                        <p:attrNameLst>
                                          <p:attrName>ppt_y</p:attrName>
                                        </p:attrNameLst>
                                      </p:cBhvr>
                                      <p:tavLst>
                                        <p:tav tm="0">
                                          <p:val>
                                            <p:strVal val="ppt_y"/>
                                          </p:val>
                                        </p:tav>
                                        <p:tav tm="100000">
                                          <p:val>
                                            <p:strVal val="1+ppt_h/2"/>
                                          </p:val>
                                        </p:tav>
                                      </p:tavLst>
                                    </p:anim>
                                    <p:set>
                                      <p:cBhvr>
                                        <p:cTn id="50" dur="1" fill="hold">
                                          <p:stCondLst>
                                            <p:cond delay="499"/>
                                          </p:stCondLst>
                                        </p:cTn>
                                        <p:tgtEl>
                                          <p:spTgt spid="2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2" presetClass="exit" presetSubtype="4" fill="hold" grpId="0" nodeType="clickEffect">
                                  <p:stCondLst>
                                    <p:cond delay="0"/>
                                  </p:stCondLst>
                                  <p:childTnLst>
                                    <p:anim calcmode="lin" valueType="num">
                                      <p:cBhvr additive="base">
                                        <p:cTn id="54" dur="500"/>
                                        <p:tgtEl>
                                          <p:spTgt spid="11"/>
                                        </p:tgtEl>
                                        <p:attrNameLst>
                                          <p:attrName>ppt_x</p:attrName>
                                        </p:attrNameLst>
                                      </p:cBhvr>
                                      <p:tavLst>
                                        <p:tav tm="0">
                                          <p:val>
                                            <p:strVal val="ppt_x"/>
                                          </p:val>
                                        </p:tav>
                                        <p:tav tm="100000">
                                          <p:val>
                                            <p:strVal val="ppt_x"/>
                                          </p:val>
                                        </p:tav>
                                      </p:tavLst>
                                    </p:anim>
                                    <p:anim calcmode="lin" valueType="num">
                                      <p:cBhvr additive="base">
                                        <p:cTn id="55" dur="500"/>
                                        <p:tgtEl>
                                          <p:spTgt spid="11"/>
                                        </p:tgtEl>
                                        <p:attrNameLst>
                                          <p:attrName>ppt_y</p:attrName>
                                        </p:attrNameLst>
                                      </p:cBhvr>
                                      <p:tavLst>
                                        <p:tav tm="0">
                                          <p:val>
                                            <p:strVal val="ppt_y"/>
                                          </p:val>
                                        </p:tav>
                                        <p:tav tm="100000">
                                          <p:val>
                                            <p:strVal val="1+ppt_h/2"/>
                                          </p:val>
                                        </p:tav>
                                      </p:tavLst>
                                    </p:anim>
                                    <p:set>
                                      <p:cBhvr>
                                        <p:cTn id="56" dur="1" fill="hold">
                                          <p:stCondLst>
                                            <p:cond delay="499"/>
                                          </p:stCondLst>
                                        </p:cTn>
                                        <p:tgtEl>
                                          <p:spTgt spid="11"/>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2" presetClass="exit" presetSubtype="4" fill="hold" grpId="0" nodeType="clickEffect">
                                  <p:stCondLst>
                                    <p:cond delay="0"/>
                                  </p:stCondLst>
                                  <p:childTnLst>
                                    <p:anim calcmode="lin" valueType="num">
                                      <p:cBhvr additive="base">
                                        <p:cTn id="60" dur="500"/>
                                        <p:tgtEl>
                                          <p:spTgt spid="26"/>
                                        </p:tgtEl>
                                        <p:attrNameLst>
                                          <p:attrName>ppt_x</p:attrName>
                                        </p:attrNameLst>
                                      </p:cBhvr>
                                      <p:tavLst>
                                        <p:tav tm="0">
                                          <p:val>
                                            <p:strVal val="ppt_x"/>
                                          </p:val>
                                        </p:tav>
                                        <p:tav tm="100000">
                                          <p:val>
                                            <p:strVal val="ppt_x"/>
                                          </p:val>
                                        </p:tav>
                                      </p:tavLst>
                                    </p:anim>
                                    <p:anim calcmode="lin" valueType="num">
                                      <p:cBhvr additive="base">
                                        <p:cTn id="61" dur="500"/>
                                        <p:tgtEl>
                                          <p:spTgt spid="26"/>
                                        </p:tgtEl>
                                        <p:attrNameLst>
                                          <p:attrName>ppt_y</p:attrName>
                                        </p:attrNameLst>
                                      </p:cBhvr>
                                      <p:tavLst>
                                        <p:tav tm="0">
                                          <p:val>
                                            <p:strVal val="ppt_y"/>
                                          </p:val>
                                        </p:tav>
                                        <p:tav tm="100000">
                                          <p:val>
                                            <p:strVal val="1+ppt_h/2"/>
                                          </p:val>
                                        </p:tav>
                                      </p:tavLst>
                                    </p:anim>
                                    <p:set>
                                      <p:cBhvr>
                                        <p:cTn id="62" dur="1" fill="hold">
                                          <p:stCondLst>
                                            <p:cond delay="499"/>
                                          </p:stCondLst>
                                        </p:cTn>
                                        <p:tgtEl>
                                          <p:spTgt spid="26"/>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2" presetClass="exit" presetSubtype="4" fill="hold" grpId="0" nodeType="clickEffect">
                                  <p:stCondLst>
                                    <p:cond delay="0"/>
                                  </p:stCondLst>
                                  <p:childTnLst>
                                    <p:anim calcmode="lin" valueType="num">
                                      <p:cBhvr additive="base">
                                        <p:cTn id="66" dur="500"/>
                                        <p:tgtEl>
                                          <p:spTgt spid="29"/>
                                        </p:tgtEl>
                                        <p:attrNameLst>
                                          <p:attrName>ppt_x</p:attrName>
                                        </p:attrNameLst>
                                      </p:cBhvr>
                                      <p:tavLst>
                                        <p:tav tm="0">
                                          <p:val>
                                            <p:strVal val="ppt_x"/>
                                          </p:val>
                                        </p:tav>
                                        <p:tav tm="100000">
                                          <p:val>
                                            <p:strVal val="ppt_x"/>
                                          </p:val>
                                        </p:tav>
                                      </p:tavLst>
                                    </p:anim>
                                    <p:anim calcmode="lin" valueType="num">
                                      <p:cBhvr additive="base">
                                        <p:cTn id="67" dur="500"/>
                                        <p:tgtEl>
                                          <p:spTgt spid="29"/>
                                        </p:tgtEl>
                                        <p:attrNameLst>
                                          <p:attrName>ppt_y</p:attrName>
                                        </p:attrNameLst>
                                      </p:cBhvr>
                                      <p:tavLst>
                                        <p:tav tm="0">
                                          <p:val>
                                            <p:strVal val="ppt_y"/>
                                          </p:val>
                                        </p:tav>
                                        <p:tav tm="100000">
                                          <p:val>
                                            <p:strVal val="1+ppt_h/2"/>
                                          </p:val>
                                        </p:tav>
                                      </p:tavLst>
                                    </p:anim>
                                    <p:set>
                                      <p:cBhvr>
                                        <p:cTn id="68" dur="1" fill="hold">
                                          <p:stCondLst>
                                            <p:cond delay="499"/>
                                          </p:stCondLst>
                                        </p:cTn>
                                        <p:tgtEl>
                                          <p:spTgt spid="29"/>
                                        </p:tgtEl>
                                        <p:attrNameLst>
                                          <p:attrName>style.visibility</p:attrName>
                                        </p:attrNameLst>
                                      </p:cBhvr>
                                      <p:to>
                                        <p:strVal val="hidden"/>
                                      </p:to>
                                    </p:set>
                                  </p:childTnLst>
                                </p:cTn>
                              </p:par>
                            </p:childTnLst>
                          </p:cTn>
                        </p:par>
                      </p:childTnLst>
                    </p:cTn>
                  </p:par>
                  <p:par>
                    <p:cTn id="69" fill="hold">
                      <p:stCondLst>
                        <p:cond delay="indefinite"/>
                      </p:stCondLst>
                      <p:childTnLst>
                        <p:par>
                          <p:cTn id="70" fill="hold">
                            <p:stCondLst>
                              <p:cond delay="0"/>
                            </p:stCondLst>
                            <p:childTnLst>
                              <p:par>
                                <p:cTn id="71" presetID="2" presetClass="exit" presetSubtype="4" fill="hold" grpId="0" nodeType="clickEffect">
                                  <p:stCondLst>
                                    <p:cond delay="0"/>
                                  </p:stCondLst>
                                  <p:childTnLst>
                                    <p:anim calcmode="lin" valueType="num">
                                      <p:cBhvr additive="base">
                                        <p:cTn id="72" dur="500"/>
                                        <p:tgtEl>
                                          <p:spTgt spid="30"/>
                                        </p:tgtEl>
                                        <p:attrNameLst>
                                          <p:attrName>ppt_x</p:attrName>
                                        </p:attrNameLst>
                                      </p:cBhvr>
                                      <p:tavLst>
                                        <p:tav tm="0">
                                          <p:val>
                                            <p:strVal val="ppt_x"/>
                                          </p:val>
                                        </p:tav>
                                        <p:tav tm="100000">
                                          <p:val>
                                            <p:strVal val="ppt_x"/>
                                          </p:val>
                                        </p:tav>
                                      </p:tavLst>
                                    </p:anim>
                                    <p:anim calcmode="lin" valueType="num">
                                      <p:cBhvr additive="base">
                                        <p:cTn id="73" dur="500"/>
                                        <p:tgtEl>
                                          <p:spTgt spid="30"/>
                                        </p:tgtEl>
                                        <p:attrNameLst>
                                          <p:attrName>ppt_y</p:attrName>
                                        </p:attrNameLst>
                                      </p:cBhvr>
                                      <p:tavLst>
                                        <p:tav tm="0">
                                          <p:val>
                                            <p:strVal val="ppt_y"/>
                                          </p:val>
                                        </p:tav>
                                        <p:tav tm="100000">
                                          <p:val>
                                            <p:strVal val="1+ppt_h/2"/>
                                          </p:val>
                                        </p:tav>
                                      </p:tavLst>
                                    </p:anim>
                                    <p:set>
                                      <p:cBhvr>
                                        <p:cTn id="74" dur="1" fill="hold">
                                          <p:stCondLst>
                                            <p:cond delay="499"/>
                                          </p:stCondLst>
                                        </p:cTn>
                                        <p:tgtEl>
                                          <p:spTgt spid="3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 presetClass="exit" presetSubtype="4" fill="hold" grpId="0" nodeType="clickEffect">
                                  <p:stCondLst>
                                    <p:cond delay="0"/>
                                  </p:stCondLst>
                                  <p:childTnLst>
                                    <p:anim calcmode="lin" valueType="num">
                                      <p:cBhvr additive="base">
                                        <p:cTn id="78" dur="500"/>
                                        <p:tgtEl>
                                          <p:spTgt spid="32"/>
                                        </p:tgtEl>
                                        <p:attrNameLst>
                                          <p:attrName>ppt_x</p:attrName>
                                        </p:attrNameLst>
                                      </p:cBhvr>
                                      <p:tavLst>
                                        <p:tav tm="0">
                                          <p:val>
                                            <p:strVal val="ppt_x"/>
                                          </p:val>
                                        </p:tav>
                                        <p:tav tm="100000">
                                          <p:val>
                                            <p:strVal val="ppt_x"/>
                                          </p:val>
                                        </p:tav>
                                      </p:tavLst>
                                    </p:anim>
                                    <p:anim calcmode="lin" valueType="num">
                                      <p:cBhvr additive="base">
                                        <p:cTn id="79" dur="500"/>
                                        <p:tgtEl>
                                          <p:spTgt spid="32"/>
                                        </p:tgtEl>
                                        <p:attrNameLst>
                                          <p:attrName>ppt_y</p:attrName>
                                        </p:attrNameLst>
                                      </p:cBhvr>
                                      <p:tavLst>
                                        <p:tav tm="0">
                                          <p:val>
                                            <p:strVal val="ppt_y"/>
                                          </p:val>
                                        </p:tav>
                                        <p:tav tm="100000">
                                          <p:val>
                                            <p:strVal val="1+ppt_h/2"/>
                                          </p:val>
                                        </p:tav>
                                      </p:tavLst>
                                    </p:anim>
                                    <p:set>
                                      <p:cBhvr>
                                        <p:cTn id="80" dur="1" fill="hold">
                                          <p:stCondLst>
                                            <p:cond delay="499"/>
                                          </p:stCondLst>
                                        </p:cTn>
                                        <p:tgtEl>
                                          <p:spTgt spid="3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2" presetClass="exit" presetSubtype="4" fill="hold" grpId="0" nodeType="clickEffect">
                                  <p:stCondLst>
                                    <p:cond delay="0"/>
                                  </p:stCondLst>
                                  <p:childTnLst>
                                    <p:anim calcmode="lin" valueType="num">
                                      <p:cBhvr additive="base">
                                        <p:cTn id="84" dur="500"/>
                                        <p:tgtEl>
                                          <p:spTgt spid="31"/>
                                        </p:tgtEl>
                                        <p:attrNameLst>
                                          <p:attrName>ppt_x</p:attrName>
                                        </p:attrNameLst>
                                      </p:cBhvr>
                                      <p:tavLst>
                                        <p:tav tm="0">
                                          <p:val>
                                            <p:strVal val="ppt_x"/>
                                          </p:val>
                                        </p:tav>
                                        <p:tav tm="100000">
                                          <p:val>
                                            <p:strVal val="ppt_x"/>
                                          </p:val>
                                        </p:tav>
                                      </p:tavLst>
                                    </p:anim>
                                    <p:anim calcmode="lin" valueType="num">
                                      <p:cBhvr additive="base">
                                        <p:cTn id="85" dur="500"/>
                                        <p:tgtEl>
                                          <p:spTgt spid="31"/>
                                        </p:tgtEl>
                                        <p:attrNameLst>
                                          <p:attrName>ppt_y</p:attrName>
                                        </p:attrNameLst>
                                      </p:cBhvr>
                                      <p:tavLst>
                                        <p:tav tm="0">
                                          <p:val>
                                            <p:strVal val="ppt_y"/>
                                          </p:val>
                                        </p:tav>
                                        <p:tav tm="100000">
                                          <p:val>
                                            <p:strVal val="1+ppt_h/2"/>
                                          </p:val>
                                        </p:tav>
                                      </p:tavLst>
                                    </p:anim>
                                    <p:set>
                                      <p:cBhvr>
                                        <p:cTn id="86" dur="1" fill="hold">
                                          <p:stCondLst>
                                            <p:cond delay="499"/>
                                          </p:stCondLst>
                                        </p:cTn>
                                        <p:tgtEl>
                                          <p:spTgt spid="31"/>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2" presetClass="exit" presetSubtype="4" fill="hold" grpId="0" nodeType="clickEffect">
                                  <p:stCondLst>
                                    <p:cond delay="0"/>
                                  </p:stCondLst>
                                  <p:childTnLst>
                                    <p:anim calcmode="lin" valueType="num">
                                      <p:cBhvr additive="base">
                                        <p:cTn id="90" dur="500"/>
                                        <p:tgtEl>
                                          <p:spTgt spid="27"/>
                                        </p:tgtEl>
                                        <p:attrNameLst>
                                          <p:attrName>ppt_x</p:attrName>
                                        </p:attrNameLst>
                                      </p:cBhvr>
                                      <p:tavLst>
                                        <p:tav tm="0">
                                          <p:val>
                                            <p:strVal val="ppt_x"/>
                                          </p:val>
                                        </p:tav>
                                        <p:tav tm="100000">
                                          <p:val>
                                            <p:strVal val="ppt_x"/>
                                          </p:val>
                                        </p:tav>
                                      </p:tavLst>
                                    </p:anim>
                                    <p:anim calcmode="lin" valueType="num">
                                      <p:cBhvr additive="base">
                                        <p:cTn id="91" dur="500"/>
                                        <p:tgtEl>
                                          <p:spTgt spid="27"/>
                                        </p:tgtEl>
                                        <p:attrNameLst>
                                          <p:attrName>ppt_y</p:attrName>
                                        </p:attrNameLst>
                                      </p:cBhvr>
                                      <p:tavLst>
                                        <p:tav tm="0">
                                          <p:val>
                                            <p:strVal val="ppt_y"/>
                                          </p:val>
                                        </p:tav>
                                        <p:tav tm="100000">
                                          <p:val>
                                            <p:strVal val="1+ppt_h/2"/>
                                          </p:val>
                                        </p:tav>
                                      </p:tavLst>
                                    </p:anim>
                                    <p:set>
                                      <p:cBhvr>
                                        <p:cTn id="92" dur="1" fill="hold">
                                          <p:stCondLst>
                                            <p:cond delay="499"/>
                                          </p:stCondLst>
                                        </p:cTn>
                                        <p:tgtEl>
                                          <p:spTgt spid="27"/>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2" presetClass="exit" presetSubtype="4" fill="hold" grpId="0" nodeType="clickEffect">
                                  <p:stCondLst>
                                    <p:cond delay="0"/>
                                  </p:stCondLst>
                                  <p:childTnLst>
                                    <p:anim calcmode="lin" valueType="num">
                                      <p:cBhvr additive="base">
                                        <p:cTn id="96" dur="500"/>
                                        <p:tgtEl>
                                          <p:spTgt spid="13"/>
                                        </p:tgtEl>
                                        <p:attrNameLst>
                                          <p:attrName>ppt_x</p:attrName>
                                        </p:attrNameLst>
                                      </p:cBhvr>
                                      <p:tavLst>
                                        <p:tav tm="0">
                                          <p:val>
                                            <p:strVal val="ppt_x"/>
                                          </p:val>
                                        </p:tav>
                                        <p:tav tm="100000">
                                          <p:val>
                                            <p:strVal val="ppt_x"/>
                                          </p:val>
                                        </p:tav>
                                      </p:tavLst>
                                    </p:anim>
                                    <p:anim calcmode="lin" valueType="num">
                                      <p:cBhvr additive="base">
                                        <p:cTn id="97" dur="500"/>
                                        <p:tgtEl>
                                          <p:spTgt spid="13"/>
                                        </p:tgtEl>
                                        <p:attrNameLst>
                                          <p:attrName>ppt_y</p:attrName>
                                        </p:attrNameLst>
                                      </p:cBhvr>
                                      <p:tavLst>
                                        <p:tav tm="0">
                                          <p:val>
                                            <p:strVal val="ppt_y"/>
                                          </p:val>
                                        </p:tav>
                                        <p:tav tm="100000">
                                          <p:val>
                                            <p:strVal val="1+ppt_h/2"/>
                                          </p:val>
                                        </p:tav>
                                      </p:tavLst>
                                    </p:anim>
                                    <p:set>
                                      <p:cBhvr>
                                        <p:cTn id="98" dur="1" fill="hold">
                                          <p:stCondLst>
                                            <p:cond delay="499"/>
                                          </p:stCondLst>
                                        </p:cTn>
                                        <p:tgtEl>
                                          <p:spTgt spid="13"/>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 presetClass="exit" presetSubtype="4" fill="hold" grpId="0" nodeType="clickEffect">
                                  <p:stCondLst>
                                    <p:cond delay="0"/>
                                  </p:stCondLst>
                                  <p:childTnLst>
                                    <p:anim calcmode="lin" valueType="num">
                                      <p:cBhvr additive="base">
                                        <p:cTn id="102" dur="500"/>
                                        <p:tgtEl>
                                          <p:spTgt spid="25"/>
                                        </p:tgtEl>
                                        <p:attrNameLst>
                                          <p:attrName>ppt_x</p:attrName>
                                        </p:attrNameLst>
                                      </p:cBhvr>
                                      <p:tavLst>
                                        <p:tav tm="0">
                                          <p:val>
                                            <p:strVal val="ppt_x"/>
                                          </p:val>
                                        </p:tav>
                                        <p:tav tm="100000">
                                          <p:val>
                                            <p:strVal val="ppt_x"/>
                                          </p:val>
                                        </p:tav>
                                      </p:tavLst>
                                    </p:anim>
                                    <p:anim calcmode="lin" valueType="num">
                                      <p:cBhvr additive="base">
                                        <p:cTn id="103" dur="500"/>
                                        <p:tgtEl>
                                          <p:spTgt spid="25"/>
                                        </p:tgtEl>
                                        <p:attrNameLst>
                                          <p:attrName>ppt_y</p:attrName>
                                        </p:attrNameLst>
                                      </p:cBhvr>
                                      <p:tavLst>
                                        <p:tav tm="0">
                                          <p:val>
                                            <p:strVal val="ppt_y"/>
                                          </p:val>
                                        </p:tav>
                                        <p:tav tm="100000">
                                          <p:val>
                                            <p:strVal val="1+ppt_h/2"/>
                                          </p:val>
                                        </p:tav>
                                      </p:tavLst>
                                    </p:anim>
                                    <p:set>
                                      <p:cBhvr>
                                        <p:cTn id="104" dur="1" fill="hold">
                                          <p:stCondLst>
                                            <p:cond delay="499"/>
                                          </p:stCondLst>
                                        </p:cTn>
                                        <p:tgtEl>
                                          <p:spTgt spid="25"/>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 presetClass="exit" presetSubtype="4" fill="hold" grpId="0" nodeType="clickEffect">
                                  <p:stCondLst>
                                    <p:cond delay="0"/>
                                  </p:stCondLst>
                                  <p:childTnLst>
                                    <p:anim calcmode="lin" valueType="num">
                                      <p:cBhvr additive="base">
                                        <p:cTn id="108" dur="500"/>
                                        <p:tgtEl>
                                          <p:spTgt spid="12"/>
                                        </p:tgtEl>
                                        <p:attrNameLst>
                                          <p:attrName>ppt_x</p:attrName>
                                        </p:attrNameLst>
                                      </p:cBhvr>
                                      <p:tavLst>
                                        <p:tav tm="0">
                                          <p:val>
                                            <p:strVal val="ppt_x"/>
                                          </p:val>
                                        </p:tav>
                                        <p:tav tm="100000">
                                          <p:val>
                                            <p:strVal val="ppt_x"/>
                                          </p:val>
                                        </p:tav>
                                      </p:tavLst>
                                    </p:anim>
                                    <p:anim calcmode="lin" valueType="num">
                                      <p:cBhvr additive="base">
                                        <p:cTn id="109" dur="500"/>
                                        <p:tgtEl>
                                          <p:spTgt spid="12"/>
                                        </p:tgtEl>
                                        <p:attrNameLst>
                                          <p:attrName>ppt_y</p:attrName>
                                        </p:attrNameLst>
                                      </p:cBhvr>
                                      <p:tavLst>
                                        <p:tav tm="0">
                                          <p:val>
                                            <p:strVal val="ppt_y"/>
                                          </p:val>
                                        </p:tav>
                                        <p:tav tm="100000">
                                          <p:val>
                                            <p:strVal val="1+ppt_h/2"/>
                                          </p:val>
                                        </p:tav>
                                      </p:tavLst>
                                    </p:anim>
                                    <p:set>
                                      <p:cBhvr>
                                        <p:cTn id="110" dur="1" fill="hold">
                                          <p:stCondLst>
                                            <p:cond delay="499"/>
                                          </p:stCondLst>
                                        </p:cTn>
                                        <p:tgtEl>
                                          <p:spTgt spid="12"/>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2" presetClass="exit" presetSubtype="4" fill="hold" grpId="0" nodeType="clickEffect">
                                  <p:stCondLst>
                                    <p:cond delay="0"/>
                                  </p:stCondLst>
                                  <p:childTnLst>
                                    <p:anim calcmode="lin" valueType="num">
                                      <p:cBhvr additive="base">
                                        <p:cTn id="114" dur="500"/>
                                        <p:tgtEl>
                                          <p:spTgt spid="8"/>
                                        </p:tgtEl>
                                        <p:attrNameLst>
                                          <p:attrName>ppt_x</p:attrName>
                                        </p:attrNameLst>
                                      </p:cBhvr>
                                      <p:tavLst>
                                        <p:tav tm="0">
                                          <p:val>
                                            <p:strVal val="ppt_x"/>
                                          </p:val>
                                        </p:tav>
                                        <p:tav tm="100000">
                                          <p:val>
                                            <p:strVal val="ppt_x"/>
                                          </p:val>
                                        </p:tav>
                                      </p:tavLst>
                                    </p:anim>
                                    <p:anim calcmode="lin" valueType="num">
                                      <p:cBhvr additive="base">
                                        <p:cTn id="115" dur="500"/>
                                        <p:tgtEl>
                                          <p:spTgt spid="8"/>
                                        </p:tgtEl>
                                        <p:attrNameLst>
                                          <p:attrName>ppt_y</p:attrName>
                                        </p:attrNameLst>
                                      </p:cBhvr>
                                      <p:tavLst>
                                        <p:tav tm="0">
                                          <p:val>
                                            <p:strVal val="ppt_y"/>
                                          </p:val>
                                        </p:tav>
                                        <p:tav tm="100000">
                                          <p:val>
                                            <p:strVal val="1+ppt_h/2"/>
                                          </p:val>
                                        </p:tav>
                                      </p:tavLst>
                                    </p:anim>
                                    <p:set>
                                      <p:cBhvr>
                                        <p:cTn id="116" dur="1" fill="hold">
                                          <p:stCondLst>
                                            <p:cond delay="499"/>
                                          </p:stCondLst>
                                        </p:cTn>
                                        <p:tgtEl>
                                          <p:spTgt spid="8"/>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2" presetClass="exit" presetSubtype="4" fill="hold" grpId="0" nodeType="clickEffect">
                                  <p:stCondLst>
                                    <p:cond delay="0"/>
                                  </p:stCondLst>
                                  <p:childTnLst>
                                    <p:anim calcmode="lin" valueType="num">
                                      <p:cBhvr additive="base">
                                        <p:cTn id="120" dur="500"/>
                                        <p:tgtEl>
                                          <p:spTgt spid="22"/>
                                        </p:tgtEl>
                                        <p:attrNameLst>
                                          <p:attrName>ppt_x</p:attrName>
                                        </p:attrNameLst>
                                      </p:cBhvr>
                                      <p:tavLst>
                                        <p:tav tm="0">
                                          <p:val>
                                            <p:strVal val="ppt_x"/>
                                          </p:val>
                                        </p:tav>
                                        <p:tav tm="100000">
                                          <p:val>
                                            <p:strVal val="ppt_x"/>
                                          </p:val>
                                        </p:tav>
                                      </p:tavLst>
                                    </p:anim>
                                    <p:anim calcmode="lin" valueType="num">
                                      <p:cBhvr additive="base">
                                        <p:cTn id="121" dur="500"/>
                                        <p:tgtEl>
                                          <p:spTgt spid="22"/>
                                        </p:tgtEl>
                                        <p:attrNameLst>
                                          <p:attrName>ppt_y</p:attrName>
                                        </p:attrNameLst>
                                      </p:cBhvr>
                                      <p:tavLst>
                                        <p:tav tm="0">
                                          <p:val>
                                            <p:strVal val="ppt_y"/>
                                          </p:val>
                                        </p:tav>
                                        <p:tav tm="100000">
                                          <p:val>
                                            <p:strVal val="1+ppt_h/2"/>
                                          </p:val>
                                        </p:tav>
                                      </p:tavLst>
                                    </p:anim>
                                    <p:set>
                                      <p:cBhvr>
                                        <p:cTn id="122" dur="1" fill="hold">
                                          <p:stCondLst>
                                            <p:cond delay="499"/>
                                          </p:stCondLst>
                                        </p:cTn>
                                        <p:tgtEl>
                                          <p:spTgt spid="2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 presetClass="exit" presetSubtype="4" fill="hold" grpId="0" nodeType="clickEffect">
                                  <p:stCondLst>
                                    <p:cond delay="0"/>
                                  </p:stCondLst>
                                  <p:childTnLst>
                                    <p:anim calcmode="lin" valueType="num">
                                      <p:cBhvr additive="base">
                                        <p:cTn id="126" dur="500"/>
                                        <p:tgtEl>
                                          <p:spTgt spid="18"/>
                                        </p:tgtEl>
                                        <p:attrNameLst>
                                          <p:attrName>ppt_x</p:attrName>
                                        </p:attrNameLst>
                                      </p:cBhvr>
                                      <p:tavLst>
                                        <p:tav tm="0">
                                          <p:val>
                                            <p:strVal val="ppt_x"/>
                                          </p:val>
                                        </p:tav>
                                        <p:tav tm="100000">
                                          <p:val>
                                            <p:strVal val="ppt_x"/>
                                          </p:val>
                                        </p:tav>
                                      </p:tavLst>
                                    </p:anim>
                                    <p:anim calcmode="lin" valueType="num">
                                      <p:cBhvr additive="base">
                                        <p:cTn id="127" dur="500"/>
                                        <p:tgtEl>
                                          <p:spTgt spid="18"/>
                                        </p:tgtEl>
                                        <p:attrNameLst>
                                          <p:attrName>ppt_y</p:attrName>
                                        </p:attrNameLst>
                                      </p:cBhvr>
                                      <p:tavLst>
                                        <p:tav tm="0">
                                          <p:val>
                                            <p:strVal val="ppt_y"/>
                                          </p:val>
                                        </p:tav>
                                        <p:tav tm="100000">
                                          <p:val>
                                            <p:strVal val="1+ppt_h/2"/>
                                          </p:val>
                                        </p:tav>
                                      </p:tavLst>
                                    </p:anim>
                                    <p:set>
                                      <p:cBhvr>
                                        <p:cTn id="128" dur="1" fill="hold">
                                          <p:stCondLst>
                                            <p:cond delay="499"/>
                                          </p:stCondLst>
                                        </p:cTn>
                                        <p:tgtEl>
                                          <p:spTgt spid="18"/>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2" presetClass="exit" presetSubtype="4" fill="hold" grpId="0" nodeType="clickEffect">
                                  <p:stCondLst>
                                    <p:cond delay="0"/>
                                  </p:stCondLst>
                                  <p:childTnLst>
                                    <p:anim calcmode="lin" valueType="num">
                                      <p:cBhvr additive="base">
                                        <p:cTn id="132" dur="500"/>
                                        <p:tgtEl>
                                          <p:spTgt spid="17"/>
                                        </p:tgtEl>
                                        <p:attrNameLst>
                                          <p:attrName>ppt_x</p:attrName>
                                        </p:attrNameLst>
                                      </p:cBhvr>
                                      <p:tavLst>
                                        <p:tav tm="0">
                                          <p:val>
                                            <p:strVal val="ppt_x"/>
                                          </p:val>
                                        </p:tav>
                                        <p:tav tm="100000">
                                          <p:val>
                                            <p:strVal val="ppt_x"/>
                                          </p:val>
                                        </p:tav>
                                      </p:tavLst>
                                    </p:anim>
                                    <p:anim calcmode="lin" valueType="num">
                                      <p:cBhvr additive="base">
                                        <p:cTn id="133" dur="500"/>
                                        <p:tgtEl>
                                          <p:spTgt spid="17"/>
                                        </p:tgtEl>
                                        <p:attrNameLst>
                                          <p:attrName>ppt_y</p:attrName>
                                        </p:attrNameLst>
                                      </p:cBhvr>
                                      <p:tavLst>
                                        <p:tav tm="0">
                                          <p:val>
                                            <p:strVal val="ppt_y"/>
                                          </p:val>
                                        </p:tav>
                                        <p:tav tm="100000">
                                          <p:val>
                                            <p:strVal val="1+ppt_h/2"/>
                                          </p:val>
                                        </p:tav>
                                      </p:tavLst>
                                    </p:anim>
                                    <p:set>
                                      <p:cBhvr>
                                        <p:cTn id="134" dur="1" fill="hold">
                                          <p:stCondLst>
                                            <p:cond delay="499"/>
                                          </p:stCondLst>
                                        </p:cTn>
                                        <p:tgtEl>
                                          <p:spTgt spid="17"/>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2" presetClass="exit" presetSubtype="4" fill="hold" grpId="0" nodeType="clickEffect">
                                  <p:stCondLst>
                                    <p:cond delay="0"/>
                                  </p:stCondLst>
                                  <p:childTnLst>
                                    <p:anim calcmode="lin" valueType="num">
                                      <p:cBhvr additive="base">
                                        <p:cTn id="138" dur="500"/>
                                        <p:tgtEl>
                                          <p:spTgt spid="20"/>
                                        </p:tgtEl>
                                        <p:attrNameLst>
                                          <p:attrName>ppt_x</p:attrName>
                                        </p:attrNameLst>
                                      </p:cBhvr>
                                      <p:tavLst>
                                        <p:tav tm="0">
                                          <p:val>
                                            <p:strVal val="ppt_x"/>
                                          </p:val>
                                        </p:tav>
                                        <p:tav tm="100000">
                                          <p:val>
                                            <p:strVal val="ppt_x"/>
                                          </p:val>
                                        </p:tav>
                                      </p:tavLst>
                                    </p:anim>
                                    <p:anim calcmode="lin" valueType="num">
                                      <p:cBhvr additive="base">
                                        <p:cTn id="139" dur="500"/>
                                        <p:tgtEl>
                                          <p:spTgt spid="20"/>
                                        </p:tgtEl>
                                        <p:attrNameLst>
                                          <p:attrName>ppt_y</p:attrName>
                                        </p:attrNameLst>
                                      </p:cBhvr>
                                      <p:tavLst>
                                        <p:tav tm="0">
                                          <p:val>
                                            <p:strVal val="ppt_y"/>
                                          </p:val>
                                        </p:tav>
                                        <p:tav tm="100000">
                                          <p:val>
                                            <p:strVal val="1+ppt_h/2"/>
                                          </p:val>
                                        </p:tav>
                                      </p:tavLst>
                                    </p:anim>
                                    <p:set>
                                      <p:cBhvr>
                                        <p:cTn id="140" dur="1" fill="hold">
                                          <p:stCondLst>
                                            <p:cond delay="499"/>
                                          </p:stCondLst>
                                        </p:cTn>
                                        <p:tgtEl>
                                          <p:spTgt spid="20"/>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2" presetClass="exit" presetSubtype="4" fill="hold" grpId="0" nodeType="clickEffect">
                                  <p:stCondLst>
                                    <p:cond delay="0"/>
                                  </p:stCondLst>
                                  <p:childTnLst>
                                    <p:anim calcmode="lin" valueType="num">
                                      <p:cBhvr additive="base">
                                        <p:cTn id="144" dur="500"/>
                                        <p:tgtEl>
                                          <p:spTgt spid="7"/>
                                        </p:tgtEl>
                                        <p:attrNameLst>
                                          <p:attrName>ppt_x</p:attrName>
                                        </p:attrNameLst>
                                      </p:cBhvr>
                                      <p:tavLst>
                                        <p:tav tm="0">
                                          <p:val>
                                            <p:strVal val="ppt_x"/>
                                          </p:val>
                                        </p:tav>
                                        <p:tav tm="100000">
                                          <p:val>
                                            <p:strVal val="ppt_x"/>
                                          </p:val>
                                        </p:tav>
                                      </p:tavLst>
                                    </p:anim>
                                    <p:anim calcmode="lin" valueType="num">
                                      <p:cBhvr additive="base">
                                        <p:cTn id="145" dur="500"/>
                                        <p:tgtEl>
                                          <p:spTgt spid="7"/>
                                        </p:tgtEl>
                                        <p:attrNameLst>
                                          <p:attrName>ppt_y</p:attrName>
                                        </p:attrNameLst>
                                      </p:cBhvr>
                                      <p:tavLst>
                                        <p:tav tm="0">
                                          <p:val>
                                            <p:strVal val="ppt_y"/>
                                          </p:val>
                                        </p:tav>
                                        <p:tav tm="100000">
                                          <p:val>
                                            <p:strVal val="1+ppt_h/2"/>
                                          </p:val>
                                        </p:tav>
                                      </p:tavLst>
                                    </p:anim>
                                    <p:set>
                                      <p:cBhvr>
                                        <p:cTn id="146" dur="1" fill="hold">
                                          <p:stCondLst>
                                            <p:cond delay="499"/>
                                          </p:stCondLst>
                                        </p:cTn>
                                        <p:tgtEl>
                                          <p:spTgt spid="7"/>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26" presetClass="exit" presetSubtype="0" fill="hold" grpId="0" nodeType="clickEffect">
                                  <p:stCondLst>
                                    <p:cond delay="0"/>
                                  </p:stCondLst>
                                  <p:childTnLst>
                                    <p:animEffect transition="out" filter="wipe(down)">
                                      <p:cBhvr>
                                        <p:cTn id="150" dur="180" accel="50000">
                                          <p:stCondLst>
                                            <p:cond delay="1820"/>
                                          </p:stCondLst>
                                        </p:cTn>
                                        <p:tgtEl>
                                          <p:spTgt spid="9"/>
                                        </p:tgtEl>
                                      </p:cBhvr>
                                    </p:animEffect>
                                    <p:anim calcmode="lin" valueType="num">
                                      <p:cBhvr>
                                        <p:cTn id="151" dur="1822" tmFilter="0,0; 0.14,0.31; 0.43,0.73; 0.71,0.91; 1.0,1.0">
                                          <p:stCondLst>
                                            <p:cond delay="0"/>
                                          </p:stCondLst>
                                        </p:cTn>
                                        <p:tgtEl>
                                          <p:spTgt spid="9"/>
                                        </p:tgtEl>
                                        <p:attrNameLst>
                                          <p:attrName>ppt_x</p:attrName>
                                        </p:attrNameLst>
                                      </p:cBhvr>
                                      <p:tavLst>
                                        <p:tav tm="0">
                                          <p:val>
                                            <p:strVal val="ppt_x"/>
                                          </p:val>
                                        </p:tav>
                                        <p:tav tm="100000">
                                          <p:val>
                                            <p:strVal val="#ppt_x+0.25"/>
                                          </p:val>
                                        </p:tav>
                                      </p:tavLst>
                                    </p:anim>
                                    <p:anim calcmode="lin" valueType="num">
                                      <p:cBhvr>
                                        <p:cTn id="152" dur="178">
                                          <p:stCondLst>
                                            <p:cond delay="1822"/>
                                          </p:stCondLst>
                                        </p:cTn>
                                        <p:tgtEl>
                                          <p:spTgt spid="9"/>
                                        </p:tgtEl>
                                        <p:attrNameLst>
                                          <p:attrName>ppt_x</p:attrName>
                                        </p:attrNameLst>
                                      </p:cBhvr>
                                      <p:tavLst>
                                        <p:tav tm="0">
                                          <p:val>
                                            <p:strVal val="ppt_x"/>
                                          </p:val>
                                        </p:tav>
                                        <p:tav tm="100000">
                                          <p:val>
                                            <p:strVal val="ppt_x"/>
                                          </p:val>
                                        </p:tav>
                                      </p:tavLst>
                                    </p:anim>
                                    <p:anim calcmode="lin" valueType="num">
                                      <p:cBhvr>
                                        <p:cTn id="153" dur="664" tmFilter="0.0,0.0;0.25,0.07;0.50,0.2;0.75,0.467;1.0,1.0">
                                          <p:stCondLst>
                                            <p:cond delay="0"/>
                                          </p:stCondLst>
                                        </p:cTn>
                                        <p:tgtEl>
                                          <p:spTgt spid="9"/>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54" dur="664" tmFilter="0, 0; 0.125,0.2665; 0.25,0.4; 0.375,0.465; 0.5,0.5;  0.625,0.535; 0.75,0.6; 0.875,0.7335; 1,1">
                                          <p:stCondLst>
                                            <p:cond delay="664"/>
                                          </p:stCondLst>
                                        </p:cTn>
                                        <p:tgtEl>
                                          <p:spTgt spid="9"/>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55" dur="332" tmFilter="0, 0; 0.125,0.2665; 0.25,0.4; 0.375,0.465; 0.5,0.5;  0.625,0.535; 0.75,0.6; 0.875,0.7335; 1,1">
                                          <p:stCondLst>
                                            <p:cond delay="1324"/>
                                          </p:stCondLst>
                                        </p:cTn>
                                        <p:tgtEl>
                                          <p:spTgt spid="9"/>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56" dur="164" tmFilter="0, 0; 0.125,0.2665; 0.25,0.4; 0.375,0.465; 0.5,0.5;  0.625,0.535; 0.75,0.6; 0.875,0.7335; 1,1">
                                          <p:stCondLst>
                                            <p:cond delay="1656"/>
                                          </p:stCondLst>
                                        </p:cTn>
                                        <p:tgtEl>
                                          <p:spTgt spid="9"/>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57" dur="180" accel="50000">
                                          <p:stCondLst>
                                            <p:cond delay="1820"/>
                                          </p:stCondLst>
                                        </p:cTn>
                                        <p:tgtEl>
                                          <p:spTgt spid="9"/>
                                        </p:tgtEl>
                                        <p:attrNameLst>
                                          <p:attrName>ppt_y</p:attrName>
                                        </p:attrNameLst>
                                      </p:cBhvr>
                                      <p:tavLst>
                                        <p:tav tm="0">
                                          <p:val>
                                            <p:strVal val="ppt_y"/>
                                          </p:val>
                                        </p:tav>
                                        <p:tav tm="100000">
                                          <p:val>
                                            <p:strVal val="ppt_y+ppt_h"/>
                                          </p:val>
                                        </p:tav>
                                      </p:tavLst>
                                    </p:anim>
                                    <p:animScale>
                                      <p:cBhvr>
                                        <p:cTn id="158" dur="26">
                                          <p:stCondLst>
                                            <p:cond delay="620"/>
                                          </p:stCondLst>
                                        </p:cTn>
                                        <p:tgtEl>
                                          <p:spTgt spid="9"/>
                                        </p:tgtEl>
                                      </p:cBhvr>
                                      <p:to x="100000" y="60000"/>
                                    </p:animScale>
                                    <p:animScale>
                                      <p:cBhvr>
                                        <p:cTn id="159" dur="166" decel="50000">
                                          <p:stCondLst>
                                            <p:cond delay="646"/>
                                          </p:stCondLst>
                                        </p:cTn>
                                        <p:tgtEl>
                                          <p:spTgt spid="9"/>
                                        </p:tgtEl>
                                      </p:cBhvr>
                                      <p:to x="100000" y="100000"/>
                                    </p:animScale>
                                    <p:animScale>
                                      <p:cBhvr>
                                        <p:cTn id="160" dur="26">
                                          <p:stCondLst>
                                            <p:cond delay="1312"/>
                                          </p:stCondLst>
                                        </p:cTn>
                                        <p:tgtEl>
                                          <p:spTgt spid="9"/>
                                        </p:tgtEl>
                                      </p:cBhvr>
                                      <p:to x="100000" y="80000"/>
                                    </p:animScale>
                                    <p:animScale>
                                      <p:cBhvr>
                                        <p:cTn id="161" dur="166" decel="50000">
                                          <p:stCondLst>
                                            <p:cond delay="1338"/>
                                          </p:stCondLst>
                                        </p:cTn>
                                        <p:tgtEl>
                                          <p:spTgt spid="9"/>
                                        </p:tgtEl>
                                      </p:cBhvr>
                                      <p:to x="100000" y="100000"/>
                                    </p:animScale>
                                    <p:animScale>
                                      <p:cBhvr>
                                        <p:cTn id="162" dur="26">
                                          <p:stCondLst>
                                            <p:cond delay="1642"/>
                                          </p:stCondLst>
                                        </p:cTn>
                                        <p:tgtEl>
                                          <p:spTgt spid="9"/>
                                        </p:tgtEl>
                                      </p:cBhvr>
                                      <p:to x="100000" y="90000"/>
                                    </p:animScale>
                                    <p:animScale>
                                      <p:cBhvr>
                                        <p:cTn id="163" dur="166" decel="50000">
                                          <p:stCondLst>
                                            <p:cond delay="1668"/>
                                          </p:stCondLst>
                                        </p:cTn>
                                        <p:tgtEl>
                                          <p:spTgt spid="9"/>
                                        </p:tgtEl>
                                      </p:cBhvr>
                                      <p:to x="100000" y="100000"/>
                                    </p:animScale>
                                    <p:animScale>
                                      <p:cBhvr>
                                        <p:cTn id="164" dur="26">
                                          <p:stCondLst>
                                            <p:cond delay="1808"/>
                                          </p:stCondLst>
                                        </p:cTn>
                                        <p:tgtEl>
                                          <p:spTgt spid="9"/>
                                        </p:tgtEl>
                                      </p:cBhvr>
                                      <p:to x="100000" y="95000"/>
                                    </p:animScale>
                                    <p:animScale>
                                      <p:cBhvr>
                                        <p:cTn id="165" dur="166" decel="50000">
                                          <p:stCondLst>
                                            <p:cond delay="1834"/>
                                          </p:stCondLst>
                                        </p:cTn>
                                        <p:tgtEl>
                                          <p:spTgt spid="9"/>
                                        </p:tgtEl>
                                      </p:cBhvr>
                                      <p:to x="100000" y="100000"/>
                                    </p:animScale>
                                    <p:set>
                                      <p:cBhvr>
                                        <p:cTn id="166" dur="1" fill="hold">
                                          <p:stCondLst>
                                            <p:cond delay="1999"/>
                                          </p:stCondLst>
                                        </p:cTn>
                                        <p:tgtEl>
                                          <p:spTgt spid="9"/>
                                        </p:tgtEl>
                                        <p:attrNameLst>
                                          <p:attrName>style.visibility</p:attrName>
                                        </p:attrNameLst>
                                      </p:cBhvr>
                                      <p:to>
                                        <p:strVal val="hidden"/>
                                      </p:to>
                                    </p:set>
                                  </p:childTnLst>
                                </p:cTn>
                              </p:par>
                            </p:childTnLst>
                          </p:cTn>
                        </p:par>
                      </p:childTnLst>
                    </p:cTn>
                  </p:par>
                  <p:par>
                    <p:cTn id="167" fill="hold">
                      <p:stCondLst>
                        <p:cond delay="indefinite"/>
                      </p:stCondLst>
                      <p:childTnLst>
                        <p:par>
                          <p:cTn id="168" fill="hold">
                            <p:stCondLst>
                              <p:cond delay="0"/>
                            </p:stCondLst>
                            <p:childTnLst>
                              <p:par>
                                <p:cTn id="169" presetID="26" presetClass="exit" presetSubtype="0" fill="hold" grpId="0" nodeType="clickEffect">
                                  <p:stCondLst>
                                    <p:cond delay="0"/>
                                  </p:stCondLst>
                                  <p:childTnLst>
                                    <p:animEffect transition="out" filter="wipe(down)">
                                      <p:cBhvr>
                                        <p:cTn id="170" dur="180" accel="50000">
                                          <p:stCondLst>
                                            <p:cond delay="1820"/>
                                          </p:stCondLst>
                                        </p:cTn>
                                        <p:tgtEl>
                                          <p:spTgt spid="23"/>
                                        </p:tgtEl>
                                      </p:cBhvr>
                                    </p:animEffect>
                                    <p:anim calcmode="lin" valueType="num">
                                      <p:cBhvr>
                                        <p:cTn id="171" dur="1822" tmFilter="0,0; 0.14,0.31; 0.43,0.73; 0.71,0.91; 1.0,1.0">
                                          <p:stCondLst>
                                            <p:cond delay="0"/>
                                          </p:stCondLst>
                                        </p:cTn>
                                        <p:tgtEl>
                                          <p:spTgt spid="23"/>
                                        </p:tgtEl>
                                        <p:attrNameLst>
                                          <p:attrName>ppt_x</p:attrName>
                                        </p:attrNameLst>
                                      </p:cBhvr>
                                      <p:tavLst>
                                        <p:tav tm="0">
                                          <p:val>
                                            <p:strVal val="ppt_x"/>
                                          </p:val>
                                        </p:tav>
                                        <p:tav tm="100000">
                                          <p:val>
                                            <p:strVal val="#ppt_x+0.25"/>
                                          </p:val>
                                        </p:tav>
                                      </p:tavLst>
                                    </p:anim>
                                    <p:anim calcmode="lin" valueType="num">
                                      <p:cBhvr>
                                        <p:cTn id="172" dur="178">
                                          <p:stCondLst>
                                            <p:cond delay="1822"/>
                                          </p:stCondLst>
                                        </p:cTn>
                                        <p:tgtEl>
                                          <p:spTgt spid="23"/>
                                        </p:tgtEl>
                                        <p:attrNameLst>
                                          <p:attrName>ppt_x</p:attrName>
                                        </p:attrNameLst>
                                      </p:cBhvr>
                                      <p:tavLst>
                                        <p:tav tm="0">
                                          <p:val>
                                            <p:strVal val="ppt_x"/>
                                          </p:val>
                                        </p:tav>
                                        <p:tav tm="100000">
                                          <p:val>
                                            <p:strVal val="ppt_x"/>
                                          </p:val>
                                        </p:tav>
                                      </p:tavLst>
                                    </p:anim>
                                    <p:anim calcmode="lin" valueType="num">
                                      <p:cBhvr>
                                        <p:cTn id="173" dur="664" tmFilter="0.0,0.0;0.25,0.07;0.50,0.2;0.75,0.467;1.0,1.0">
                                          <p:stCondLst>
                                            <p:cond delay="0"/>
                                          </p:stCondLst>
                                        </p:cTn>
                                        <p:tgtEl>
                                          <p:spTgt spid="2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74" dur="664" tmFilter="0, 0; 0.125,0.2665; 0.25,0.4; 0.375,0.465; 0.5,0.5;  0.625,0.535; 0.75,0.6; 0.875,0.7335; 1,1">
                                          <p:stCondLst>
                                            <p:cond delay="664"/>
                                          </p:stCondLst>
                                        </p:cTn>
                                        <p:tgtEl>
                                          <p:spTgt spid="2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75" dur="332" tmFilter="0, 0; 0.125,0.2665; 0.25,0.4; 0.375,0.465; 0.5,0.5;  0.625,0.535; 0.75,0.6; 0.875,0.7335; 1,1">
                                          <p:stCondLst>
                                            <p:cond delay="1324"/>
                                          </p:stCondLst>
                                        </p:cTn>
                                        <p:tgtEl>
                                          <p:spTgt spid="2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76" dur="164" tmFilter="0, 0; 0.125,0.2665; 0.25,0.4; 0.375,0.465; 0.5,0.5;  0.625,0.535; 0.75,0.6; 0.875,0.7335; 1,1">
                                          <p:stCondLst>
                                            <p:cond delay="1656"/>
                                          </p:stCondLst>
                                        </p:cTn>
                                        <p:tgtEl>
                                          <p:spTgt spid="2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77" dur="180" accel="50000">
                                          <p:stCondLst>
                                            <p:cond delay="1820"/>
                                          </p:stCondLst>
                                        </p:cTn>
                                        <p:tgtEl>
                                          <p:spTgt spid="23"/>
                                        </p:tgtEl>
                                        <p:attrNameLst>
                                          <p:attrName>ppt_y</p:attrName>
                                        </p:attrNameLst>
                                      </p:cBhvr>
                                      <p:tavLst>
                                        <p:tav tm="0">
                                          <p:val>
                                            <p:strVal val="ppt_y"/>
                                          </p:val>
                                        </p:tav>
                                        <p:tav tm="100000">
                                          <p:val>
                                            <p:strVal val="ppt_y+ppt_h"/>
                                          </p:val>
                                        </p:tav>
                                      </p:tavLst>
                                    </p:anim>
                                    <p:animScale>
                                      <p:cBhvr>
                                        <p:cTn id="178" dur="26">
                                          <p:stCondLst>
                                            <p:cond delay="620"/>
                                          </p:stCondLst>
                                        </p:cTn>
                                        <p:tgtEl>
                                          <p:spTgt spid="23"/>
                                        </p:tgtEl>
                                      </p:cBhvr>
                                      <p:to x="100000" y="60000"/>
                                    </p:animScale>
                                    <p:animScale>
                                      <p:cBhvr>
                                        <p:cTn id="179" dur="166" decel="50000">
                                          <p:stCondLst>
                                            <p:cond delay="646"/>
                                          </p:stCondLst>
                                        </p:cTn>
                                        <p:tgtEl>
                                          <p:spTgt spid="23"/>
                                        </p:tgtEl>
                                      </p:cBhvr>
                                      <p:to x="100000" y="100000"/>
                                    </p:animScale>
                                    <p:animScale>
                                      <p:cBhvr>
                                        <p:cTn id="180" dur="26">
                                          <p:stCondLst>
                                            <p:cond delay="1312"/>
                                          </p:stCondLst>
                                        </p:cTn>
                                        <p:tgtEl>
                                          <p:spTgt spid="23"/>
                                        </p:tgtEl>
                                      </p:cBhvr>
                                      <p:to x="100000" y="80000"/>
                                    </p:animScale>
                                    <p:animScale>
                                      <p:cBhvr>
                                        <p:cTn id="181" dur="166" decel="50000">
                                          <p:stCondLst>
                                            <p:cond delay="1338"/>
                                          </p:stCondLst>
                                        </p:cTn>
                                        <p:tgtEl>
                                          <p:spTgt spid="23"/>
                                        </p:tgtEl>
                                      </p:cBhvr>
                                      <p:to x="100000" y="100000"/>
                                    </p:animScale>
                                    <p:animScale>
                                      <p:cBhvr>
                                        <p:cTn id="182" dur="26">
                                          <p:stCondLst>
                                            <p:cond delay="1642"/>
                                          </p:stCondLst>
                                        </p:cTn>
                                        <p:tgtEl>
                                          <p:spTgt spid="23"/>
                                        </p:tgtEl>
                                      </p:cBhvr>
                                      <p:to x="100000" y="90000"/>
                                    </p:animScale>
                                    <p:animScale>
                                      <p:cBhvr>
                                        <p:cTn id="183" dur="166" decel="50000">
                                          <p:stCondLst>
                                            <p:cond delay="1668"/>
                                          </p:stCondLst>
                                        </p:cTn>
                                        <p:tgtEl>
                                          <p:spTgt spid="23"/>
                                        </p:tgtEl>
                                      </p:cBhvr>
                                      <p:to x="100000" y="100000"/>
                                    </p:animScale>
                                    <p:animScale>
                                      <p:cBhvr>
                                        <p:cTn id="184" dur="26">
                                          <p:stCondLst>
                                            <p:cond delay="1808"/>
                                          </p:stCondLst>
                                        </p:cTn>
                                        <p:tgtEl>
                                          <p:spTgt spid="23"/>
                                        </p:tgtEl>
                                      </p:cBhvr>
                                      <p:to x="100000" y="95000"/>
                                    </p:animScale>
                                    <p:animScale>
                                      <p:cBhvr>
                                        <p:cTn id="185" dur="166" decel="50000">
                                          <p:stCondLst>
                                            <p:cond delay="1834"/>
                                          </p:stCondLst>
                                        </p:cTn>
                                        <p:tgtEl>
                                          <p:spTgt spid="23"/>
                                        </p:tgtEl>
                                      </p:cBhvr>
                                      <p:to x="100000" y="100000"/>
                                    </p:animScale>
                                    <p:set>
                                      <p:cBhvr>
                                        <p:cTn id="186" dur="1" fill="hold">
                                          <p:stCondLst>
                                            <p:cond delay="1999"/>
                                          </p:stCondLst>
                                        </p:cTn>
                                        <p:tgtEl>
                                          <p:spTgt spid="23"/>
                                        </p:tgtEl>
                                        <p:attrNameLst>
                                          <p:attrName>style.visibility</p:attrName>
                                        </p:attrNameLst>
                                      </p:cBhvr>
                                      <p:to>
                                        <p:strVal val="hidden"/>
                                      </p:to>
                                    </p:set>
                                  </p:childTnLst>
                                </p:cTn>
                              </p:par>
                            </p:childTnLst>
                          </p:cTn>
                        </p:par>
                      </p:childTnLst>
                    </p:cTn>
                  </p:par>
                  <p:par>
                    <p:cTn id="187" fill="hold">
                      <p:stCondLst>
                        <p:cond delay="indefinite"/>
                      </p:stCondLst>
                      <p:childTnLst>
                        <p:par>
                          <p:cTn id="188" fill="hold">
                            <p:stCondLst>
                              <p:cond delay="0"/>
                            </p:stCondLst>
                            <p:childTnLst>
                              <p:par>
                                <p:cTn id="189" presetID="26" presetClass="exit" presetSubtype="0" fill="hold" grpId="0" nodeType="clickEffect">
                                  <p:stCondLst>
                                    <p:cond delay="0"/>
                                  </p:stCondLst>
                                  <p:childTnLst>
                                    <p:animEffect transition="out" filter="wipe(down)">
                                      <p:cBhvr>
                                        <p:cTn id="190" dur="180" accel="50000">
                                          <p:stCondLst>
                                            <p:cond delay="1820"/>
                                          </p:stCondLst>
                                        </p:cTn>
                                        <p:tgtEl>
                                          <p:spTgt spid="34"/>
                                        </p:tgtEl>
                                      </p:cBhvr>
                                    </p:animEffect>
                                    <p:anim calcmode="lin" valueType="num">
                                      <p:cBhvr>
                                        <p:cTn id="191" dur="1822" tmFilter="0,0; 0.14,0.31; 0.43,0.73; 0.71,0.91; 1.0,1.0">
                                          <p:stCondLst>
                                            <p:cond delay="0"/>
                                          </p:stCondLst>
                                        </p:cTn>
                                        <p:tgtEl>
                                          <p:spTgt spid="34"/>
                                        </p:tgtEl>
                                        <p:attrNameLst>
                                          <p:attrName>ppt_x</p:attrName>
                                        </p:attrNameLst>
                                      </p:cBhvr>
                                      <p:tavLst>
                                        <p:tav tm="0">
                                          <p:val>
                                            <p:strVal val="ppt_x"/>
                                          </p:val>
                                        </p:tav>
                                        <p:tav tm="100000">
                                          <p:val>
                                            <p:strVal val="#ppt_x+0.25"/>
                                          </p:val>
                                        </p:tav>
                                      </p:tavLst>
                                    </p:anim>
                                    <p:anim calcmode="lin" valueType="num">
                                      <p:cBhvr>
                                        <p:cTn id="192" dur="178">
                                          <p:stCondLst>
                                            <p:cond delay="1822"/>
                                          </p:stCondLst>
                                        </p:cTn>
                                        <p:tgtEl>
                                          <p:spTgt spid="34"/>
                                        </p:tgtEl>
                                        <p:attrNameLst>
                                          <p:attrName>ppt_x</p:attrName>
                                        </p:attrNameLst>
                                      </p:cBhvr>
                                      <p:tavLst>
                                        <p:tav tm="0">
                                          <p:val>
                                            <p:strVal val="ppt_x"/>
                                          </p:val>
                                        </p:tav>
                                        <p:tav tm="100000">
                                          <p:val>
                                            <p:strVal val="ppt_x"/>
                                          </p:val>
                                        </p:tav>
                                      </p:tavLst>
                                    </p:anim>
                                    <p:anim calcmode="lin" valueType="num">
                                      <p:cBhvr>
                                        <p:cTn id="193" dur="664" tmFilter="0.0,0.0;0.25,0.07;0.50,0.2;0.75,0.467;1.0,1.0">
                                          <p:stCondLst>
                                            <p:cond delay="0"/>
                                          </p:stCondLst>
                                        </p:cTn>
                                        <p:tgtEl>
                                          <p:spTgt spid="3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94" dur="664" tmFilter="0, 0; 0.125,0.2665; 0.25,0.4; 0.375,0.465; 0.5,0.5;  0.625,0.535; 0.75,0.6; 0.875,0.7335; 1,1">
                                          <p:stCondLst>
                                            <p:cond delay="664"/>
                                          </p:stCondLst>
                                        </p:cTn>
                                        <p:tgtEl>
                                          <p:spTgt spid="3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95" dur="332" tmFilter="0, 0; 0.125,0.2665; 0.25,0.4; 0.375,0.465; 0.5,0.5;  0.625,0.535; 0.75,0.6; 0.875,0.7335; 1,1">
                                          <p:stCondLst>
                                            <p:cond delay="1324"/>
                                          </p:stCondLst>
                                        </p:cTn>
                                        <p:tgtEl>
                                          <p:spTgt spid="3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96" dur="164" tmFilter="0, 0; 0.125,0.2665; 0.25,0.4; 0.375,0.465; 0.5,0.5;  0.625,0.535; 0.75,0.6; 0.875,0.7335; 1,1">
                                          <p:stCondLst>
                                            <p:cond delay="1656"/>
                                          </p:stCondLst>
                                        </p:cTn>
                                        <p:tgtEl>
                                          <p:spTgt spid="3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97" dur="180" accel="50000">
                                          <p:stCondLst>
                                            <p:cond delay="1820"/>
                                          </p:stCondLst>
                                        </p:cTn>
                                        <p:tgtEl>
                                          <p:spTgt spid="34"/>
                                        </p:tgtEl>
                                        <p:attrNameLst>
                                          <p:attrName>ppt_y</p:attrName>
                                        </p:attrNameLst>
                                      </p:cBhvr>
                                      <p:tavLst>
                                        <p:tav tm="0">
                                          <p:val>
                                            <p:strVal val="ppt_y"/>
                                          </p:val>
                                        </p:tav>
                                        <p:tav tm="100000">
                                          <p:val>
                                            <p:strVal val="ppt_y+ppt_h"/>
                                          </p:val>
                                        </p:tav>
                                      </p:tavLst>
                                    </p:anim>
                                    <p:animScale>
                                      <p:cBhvr>
                                        <p:cTn id="198" dur="26">
                                          <p:stCondLst>
                                            <p:cond delay="620"/>
                                          </p:stCondLst>
                                        </p:cTn>
                                        <p:tgtEl>
                                          <p:spTgt spid="34"/>
                                        </p:tgtEl>
                                      </p:cBhvr>
                                      <p:to x="100000" y="60000"/>
                                    </p:animScale>
                                    <p:animScale>
                                      <p:cBhvr>
                                        <p:cTn id="199" dur="166" decel="50000">
                                          <p:stCondLst>
                                            <p:cond delay="646"/>
                                          </p:stCondLst>
                                        </p:cTn>
                                        <p:tgtEl>
                                          <p:spTgt spid="34"/>
                                        </p:tgtEl>
                                      </p:cBhvr>
                                      <p:to x="100000" y="100000"/>
                                    </p:animScale>
                                    <p:animScale>
                                      <p:cBhvr>
                                        <p:cTn id="200" dur="26">
                                          <p:stCondLst>
                                            <p:cond delay="1312"/>
                                          </p:stCondLst>
                                        </p:cTn>
                                        <p:tgtEl>
                                          <p:spTgt spid="34"/>
                                        </p:tgtEl>
                                      </p:cBhvr>
                                      <p:to x="100000" y="80000"/>
                                    </p:animScale>
                                    <p:animScale>
                                      <p:cBhvr>
                                        <p:cTn id="201" dur="166" decel="50000">
                                          <p:stCondLst>
                                            <p:cond delay="1338"/>
                                          </p:stCondLst>
                                        </p:cTn>
                                        <p:tgtEl>
                                          <p:spTgt spid="34"/>
                                        </p:tgtEl>
                                      </p:cBhvr>
                                      <p:to x="100000" y="100000"/>
                                    </p:animScale>
                                    <p:animScale>
                                      <p:cBhvr>
                                        <p:cTn id="202" dur="26">
                                          <p:stCondLst>
                                            <p:cond delay="1642"/>
                                          </p:stCondLst>
                                        </p:cTn>
                                        <p:tgtEl>
                                          <p:spTgt spid="34"/>
                                        </p:tgtEl>
                                      </p:cBhvr>
                                      <p:to x="100000" y="90000"/>
                                    </p:animScale>
                                    <p:animScale>
                                      <p:cBhvr>
                                        <p:cTn id="203" dur="166" decel="50000">
                                          <p:stCondLst>
                                            <p:cond delay="1668"/>
                                          </p:stCondLst>
                                        </p:cTn>
                                        <p:tgtEl>
                                          <p:spTgt spid="34"/>
                                        </p:tgtEl>
                                      </p:cBhvr>
                                      <p:to x="100000" y="100000"/>
                                    </p:animScale>
                                    <p:animScale>
                                      <p:cBhvr>
                                        <p:cTn id="204" dur="26">
                                          <p:stCondLst>
                                            <p:cond delay="1808"/>
                                          </p:stCondLst>
                                        </p:cTn>
                                        <p:tgtEl>
                                          <p:spTgt spid="34"/>
                                        </p:tgtEl>
                                      </p:cBhvr>
                                      <p:to x="100000" y="95000"/>
                                    </p:animScale>
                                    <p:animScale>
                                      <p:cBhvr>
                                        <p:cTn id="205" dur="166" decel="50000">
                                          <p:stCondLst>
                                            <p:cond delay="1834"/>
                                          </p:stCondLst>
                                        </p:cTn>
                                        <p:tgtEl>
                                          <p:spTgt spid="34"/>
                                        </p:tgtEl>
                                      </p:cBhvr>
                                      <p:to x="100000" y="100000"/>
                                    </p:animScale>
                                    <p:set>
                                      <p:cBhvr>
                                        <p:cTn id="206" dur="1" fill="hold">
                                          <p:stCondLst>
                                            <p:cond delay="1999"/>
                                          </p:stCondLst>
                                        </p:cTn>
                                        <p:tgtEl>
                                          <p:spTgt spid="34"/>
                                        </p:tgtEl>
                                        <p:attrNameLst>
                                          <p:attrName>style.visibility</p:attrName>
                                        </p:attrNameLst>
                                      </p:cBhvr>
                                      <p:to>
                                        <p:strVal val="hidden"/>
                                      </p:to>
                                    </p:set>
                                  </p:childTnLst>
                                </p:cTn>
                              </p:par>
                            </p:childTnLst>
                          </p:cTn>
                        </p:par>
                      </p:childTnLst>
                    </p:cTn>
                  </p:par>
                  <p:par>
                    <p:cTn id="207" fill="hold">
                      <p:stCondLst>
                        <p:cond delay="indefinite"/>
                      </p:stCondLst>
                      <p:childTnLst>
                        <p:par>
                          <p:cTn id="208" fill="hold">
                            <p:stCondLst>
                              <p:cond delay="0"/>
                            </p:stCondLst>
                            <p:childTnLst>
                              <p:par>
                                <p:cTn id="209" presetID="26" presetClass="exit" presetSubtype="0" fill="hold" grpId="0" nodeType="clickEffect">
                                  <p:stCondLst>
                                    <p:cond delay="0"/>
                                  </p:stCondLst>
                                  <p:childTnLst>
                                    <p:animEffect transition="out" filter="wipe(down)">
                                      <p:cBhvr>
                                        <p:cTn id="210" dur="180" accel="50000">
                                          <p:stCondLst>
                                            <p:cond delay="1820"/>
                                          </p:stCondLst>
                                        </p:cTn>
                                        <p:tgtEl>
                                          <p:spTgt spid="14"/>
                                        </p:tgtEl>
                                      </p:cBhvr>
                                    </p:animEffect>
                                    <p:anim calcmode="lin" valueType="num">
                                      <p:cBhvr>
                                        <p:cTn id="211" dur="1822" tmFilter="0,0; 0.14,0.31; 0.43,0.73; 0.71,0.91; 1.0,1.0">
                                          <p:stCondLst>
                                            <p:cond delay="0"/>
                                          </p:stCondLst>
                                        </p:cTn>
                                        <p:tgtEl>
                                          <p:spTgt spid="14"/>
                                        </p:tgtEl>
                                        <p:attrNameLst>
                                          <p:attrName>ppt_x</p:attrName>
                                        </p:attrNameLst>
                                      </p:cBhvr>
                                      <p:tavLst>
                                        <p:tav tm="0">
                                          <p:val>
                                            <p:strVal val="ppt_x"/>
                                          </p:val>
                                        </p:tav>
                                        <p:tav tm="100000">
                                          <p:val>
                                            <p:strVal val="#ppt_x+0.25"/>
                                          </p:val>
                                        </p:tav>
                                      </p:tavLst>
                                    </p:anim>
                                    <p:anim calcmode="lin" valueType="num">
                                      <p:cBhvr>
                                        <p:cTn id="212" dur="178">
                                          <p:stCondLst>
                                            <p:cond delay="1822"/>
                                          </p:stCondLst>
                                        </p:cTn>
                                        <p:tgtEl>
                                          <p:spTgt spid="14"/>
                                        </p:tgtEl>
                                        <p:attrNameLst>
                                          <p:attrName>ppt_x</p:attrName>
                                        </p:attrNameLst>
                                      </p:cBhvr>
                                      <p:tavLst>
                                        <p:tav tm="0">
                                          <p:val>
                                            <p:strVal val="ppt_x"/>
                                          </p:val>
                                        </p:tav>
                                        <p:tav tm="100000">
                                          <p:val>
                                            <p:strVal val="ppt_x"/>
                                          </p:val>
                                        </p:tav>
                                      </p:tavLst>
                                    </p:anim>
                                    <p:anim calcmode="lin" valueType="num">
                                      <p:cBhvr>
                                        <p:cTn id="213" dur="664" tmFilter="0.0,0.0;0.25,0.07;0.50,0.2;0.75,0.467;1.0,1.0">
                                          <p:stCondLst>
                                            <p:cond delay="0"/>
                                          </p:stCondLst>
                                        </p:cTn>
                                        <p:tgtEl>
                                          <p:spTgt spid="14"/>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14" dur="664" tmFilter="0, 0; 0.125,0.2665; 0.25,0.4; 0.375,0.465; 0.5,0.5;  0.625,0.535; 0.75,0.6; 0.875,0.7335; 1,1">
                                          <p:stCondLst>
                                            <p:cond delay="664"/>
                                          </p:stCondLst>
                                        </p:cTn>
                                        <p:tgtEl>
                                          <p:spTgt spid="14"/>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15" dur="332" tmFilter="0, 0; 0.125,0.2665; 0.25,0.4; 0.375,0.465; 0.5,0.5;  0.625,0.535; 0.75,0.6; 0.875,0.7335; 1,1">
                                          <p:stCondLst>
                                            <p:cond delay="1324"/>
                                          </p:stCondLst>
                                        </p:cTn>
                                        <p:tgtEl>
                                          <p:spTgt spid="14"/>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16" dur="164" tmFilter="0, 0; 0.125,0.2665; 0.25,0.4; 0.375,0.465; 0.5,0.5;  0.625,0.535; 0.75,0.6; 0.875,0.7335; 1,1">
                                          <p:stCondLst>
                                            <p:cond delay="1656"/>
                                          </p:stCondLst>
                                        </p:cTn>
                                        <p:tgtEl>
                                          <p:spTgt spid="14"/>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17" dur="180" accel="50000">
                                          <p:stCondLst>
                                            <p:cond delay="1820"/>
                                          </p:stCondLst>
                                        </p:cTn>
                                        <p:tgtEl>
                                          <p:spTgt spid="14"/>
                                        </p:tgtEl>
                                        <p:attrNameLst>
                                          <p:attrName>ppt_y</p:attrName>
                                        </p:attrNameLst>
                                      </p:cBhvr>
                                      <p:tavLst>
                                        <p:tav tm="0">
                                          <p:val>
                                            <p:strVal val="ppt_y"/>
                                          </p:val>
                                        </p:tav>
                                        <p:tav tm="100000">
                                          <p:val>
                                            <p:strVal val="ppt_y+ppt_h"/>
                                          </p:val>
                                        </p:tav>
                                      </p:tavLst>
                                    </p:anim>
                                    <p:animScale>
                                      <p:cBhvr>
                                        <p:cTn id="218" dur="26">
                                          <p:stCondLst>
                                            <p:cond delay="620"/>
                                          </p:stCondLst>
                                        </p:cTn>
                                        <p:tgtEl>
                                          <p:spTgt spid="14"/>
                                        </p:tgtEl>
                                      </p:cBhvr>
                                      <p:to x="100000" y="60000"/>
                                    </p:animScale>
                                    <p:animScale>
                                      <p:cBhvr>
                                        <p:cTn id="219" dur="166" decel="50000">
                                          <p:stCondLst>
                                            <p:cond delay="646"/>
                                          </p:stCondLst>
                                        </p:cTn>
                                        <p:tgtEl>
                                          <p:spTgt spid="14"/>
                                        </p:tgtEl>
                                      </p:cBhvr>
                                      <p:to x="100000" y="100000"/>
                                    </p:animScale>
                                    <p:animScale>
                                      <p:cBhvr>
                                        <p:cTn id="220" dur="26">
                                          <p:stCondLst>
                                            <p:cond delay="1312"/>
                                          </p:stCondLst>
                                        </p:cTn>
                                        <p:tgtEl>
                                          <p:spTgt spid="14"/>
                                        </p:tgtEl>
                                      </p:cBhvr>
                                      <p:to x="100000" y="80000"/>
                                    </p:animScale>
                                    <p:animScale>
                                      <p:cBhvr>
                                        <p:cTn id="221" dur="166" decel="50000">
                                          <p:stCondLst>
                                            <p:cond delay="1338"/>
                                          </p:stCondLst>
                                        </p:cTn>
                                        <p:tgtEl>
                                          <p:spTgt spid="14"/>
                                        </p:tgtEl>
                                      </p:cBhvr>
                                      <p:to x="100000" y="100000"/>
                                    </p:animScale>
                                    <p:animScale>
                                      <p:cBhvr>
                                        <p:cTn id="222" dur="26">
                                          <p:stCondLst>
                                            <p:cond delay="1642"/>
                                          </p:stCondLst>
                                        </p:cTn>
                                        <p:tgtEl>
                                          <p:spTgt spid="14"/>
                                        </p:tgtEl>
                                      </p:cBhvr>
                                      <p:to x="100000" y="90000"/>
                                    </p:animScale>
                                    <p:animScale>
                                      <p:cBhvr>
                                        <p:cTn id="223" dur="166" decel="50000">
                                          <p:stCondLst>
                                            <p:cond delay="1668"/>
                                          </p:stCondLst>
                                        </p:cTn>
                                        <p:tgtEl>
                                          <p:spTgt spid="14"/>
                                        </p:tgtEl>
                                      </p:cBhvr>
                                      <p:to x="100000" y="100000"/>
                                    </p:animScale>
                                    <p:animScale>
                                      <p:cBhvr>
                                        <p:cTn id="224" dur="26">
                                          <p:stCondLst>
                                            <p:cond delay="1808"/>
                                          </p:stCondLst>
                                        </p:cTn>
                                        <p:tgtEl>
                                          <p:spTgt spid="14"/>
                                        </p:tgtEl>
                                      </p:cBhvr>
                                      <p:to x="100000" y="95000"/>
                                    </p:animScale>
                                    <p:animScale>
                                      <p:cBhvr>
                                        <p:cTn id="225" dur="166" decel="50000">
                                          <p:stCondLst>
                                            <p:cond delay="1834"/>
                                          </p:stCondLst>
                                        </p:cTn>
                                        <p:tgtEl>
                                          <p:spTgt spid="14"/>
                                        </p:tgtEl>
                                      </p:cBhvr>
                                      <p:to x="100000" y="100000"/>
                                    </p:animScale>
                                    <p:set>
                                      <p:cBhvr>
                                        <p:cTn id="226" dur="1" fill="hold">
                                          <p:stCondLst>
                                            <p:cond delay="1999"/>
                                          </p:stCondLst>
                                        </p:cTn>
                                        <p:tgtEl>
                                          <p:spTgt spid="14"/>
                                        </p:tgtEl>
                                        <p:attrNameLst>
                                          <p:attrName>style.visibility</p:attrName>
                                        </p:attrNameLst>
                                      </p:cBhvr>
                                      <p:to>
                                        <p:strVal val="hidden"/>
                                      </p:to>
                                    </p:set>
                                  </p:childTnLst>
                                </p:cTn>
                              </p:par>
                            </p:childTnLst>
                          </p:cTn>
                        </p:par>
                      </p:childTnLst>
                    </p:cTn>
                  </p:par>
                  <p:par>
                    <p:cTn id="227" fill="hold">
                      <p:stCondLst>
                        <p:cond delay="indefinite"/>
                      </p:stCondLst>
                      <p:childTnLst>
                        <p:par>
                          <p:cTn id="228" fill="hold">
                            <p:stCondLst>
                              <p:cond delay="0"/>
                            </p:stCondLst>
                            <p:childTnLst>
                              <p:par>
                                <p:cTn id="229" presetID="26" presetClass="exit" presetSubtype="0" fill="hold" grpId="0" nodeType="clickEffect">
                                  <p:stCondLst>
                                    <p:cond delay="0"/>
                                  </p:stCondLst>
                                  <p:childTnLst>
                                    <p:animEffect transition="out" filter="wipe(down)">
                                      <p:cBhvr>
                                        <p:cTn id="230" dur="180" accel="50000">
                                          <p:stCondLst>
                                            <p:cond delay="1820"/>
                                          </p:stCondLst>
                                        </p:cTn>
                                        <p:tgtEl>
                                          <p:spTgt spid="28"/>
                                        </p:tgtEl>
                                      </p:cBhvr>
                                    </p:animEffect>
                                    <p:anim calcmode="lin" valueType="num">
                                      <p:cBhvr>
                                        <p:cTn id="231" dur="1822" tmFilter="0,0; 0.14,0.31; 0.43,0.73; 0.71,0.91; 1.0,1.0">
                                          <p:stCondLst>
                                            <p:cond delay="0"/>
                                          </p:stCondLst>
                                        </p:cTn>
                                        <p:tgtEl>
                                          <p:spTgt spid="28"/>
                                        </p:tgtEl>
                                        <p:attrNameLst>
                                          <p:attrName>ppt_x</p:attrName>
                                        </p:attrNameLst>
                                      </p:cBhvr>
                                      <p:tavLst>
                                        <p:tav tm="0">
                                          <p:val>
                                            <p:strVal val="ppt_x"/>
                                          </p:val>
                                        </p:tav>
                                        <p:tav tm="100000">
                                          <p:val>
                                            <p:strVal val="#ppt_x+0.25"/>
                                          </p:val>
                                        </p:tav>
                                      </p:tavLst>
                                    </p:anim>
                                    <p:anim calcmode="lin" valueType="num">
                                      <p:cBhvr>
                                        <p:cTn id="232" dur="178">
                                          <p:stCondLst>
                                            <p:cond delay="1822"/>
                                          </p:stCondLst>
                                        </p:cTn>
                                        <p:tgtEl>
                                          <p:spTgt spid="28"/>
                                        </p:tgtEl>
                                        <p:attrNameLst>
                                          <p:attrName>ppt_x</p:attrName>
                                        </p:attrNameLst>
                                      </p:cBhvr>
                                      <p:tavLst>
                                        <p:tav tm="0">
                                          <p:val>
                                            <p:strVal val="ppt_x"/>
                                          </p:val>
                                        </p:tav>
                                        <p:tav tm="100000">
                                          <p:val>
                                            <p:strVal val="ppt_x"/>
                                          </p:val>
                                        </p:tav>
                                      </p:tavLst>
                                    </p:anim>
                                    <p:anim calcmode="lin" valueType="num">
                                      <p:cBhvr>
                                        <p:cTn id="233" dur="664" tmFilter="0.0,0.0;0.25,0.07;0.50,0.2;0.75,0.467;1.0,1.0">
                                          <p:stCondLst>
                                            <p:cond delay="0"/>
                                          </p:stCondLst>
                                        </p:cTn>
                                        <p:tgtEl>
                                          <p:spTgt spid="28"/>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34" dur="664" tmFilter="0, 0; 0.125,0.2665; 0.25,0.4; 0.375,0.465; 0.5,0.5;  0.625,0.535; 0.75,0.6; 0.875,0.7335; 1,1">
                                          <p:stCondLst>
                                            <p:cond delay="664"/>
                                          </p:stCondLst>
                                        </p:cTn>
                                        <p:tgtEl>
                                          <p:spTgt spid="28"/>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35" dur="332" tmFilter="0, 0; 0.125,0.2665; 0.25,0.4; 0.375,0.465; 0.5,0.5;  0.625,0.535; 0.75,0.6; 0.875,0.7335; 1,1">
                                          <p:stCondLst>
                                            <p:cond delay="1324"/>
                                          </p:stCondLst>
                                        </p:cTn>
                                        <p:tgtEl>
                                          <p:spTgt spid="28"/>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36" dur="164" tmFilter="0, 0; 0.125,0.2665; 0.25,0.4; 0.375,0.465; 0.5,0.5;  0.625,0.535; 0.75,0.6; 0.875,0.7335; 1,1">
                                          <p:stCondLst>
                                            <p:cond delay="1656"/>
                                          </p:stCondLst>
                                        </p:cTn>
                                        <p:tgtEl>
                                          <p:spTgt spid="28"/>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37" dur="180" accel="50000">
                                          <p:stCondLst>
                                            <p:cond delay="1820"/>
                                          </p:stCondLst>
                                        </p:cTn>
                                        <p:tgtEl>
                                          <p:spTgt spid="28"/>
                                        </p:tgtEl>
                                        <p:attrNameLst>
                                          <p:attrName>ppt_y</p:attrName>
                                        </p:attrNameLst>
                                      </p:cBhvr>
                                      <p:tavLst>
                                        <p:tav tm="0">
                                          <p:val>
                                            <p:strVal val="ppt_y"/>
                                          </p:val>
                                        </p:tav>
                                        <p:tav tm="100000">
                                          <p:val>
                                            <p:strVal val="ppt_y+ppt_h"/>
                                          </p:val>
                                        </p:tav>
                                      </p:tavLst>
                                    </p:anim>
                                    <p:animScale>
                                      <p:cBhvr>
                                        <p:cTn id="238" dur="26">
                                          <p:stCondLst>
                                            <p:cond delay="620"/>
                                          </p:stCondLst>
                                        </p:cTn>
                                        <p:tgtEl>
                                          <p:spTgt spid="28"/>
                                        </p:tgtEl>
                                      </p:cBhvr>
                                      <p:to x="100000" y="60000"/>
                                    </p:animScale>
                                    <p:animScale>
                                      <p:cBhvr>
                                        <p:cTn id="239" dur="166" decel="50000">
                                          <p:stCondLst>
                                            <p:cond delay="646"/>
                                          </p:stCondLst>
                                        </p:cTn>
                                        <p:tgtEl>
                                          <p:spTgt spid="28"/>
                                        </p:tgtEl>
                                      </p:cBhvr>
                                      <p:to x="100000" y="100000"/>
                                    </p:animScale>
                                    <p:animScale>
                                      <p:cBhvr>
                                        <p:cTn id="240" dur="26">
                                          <p:stCondLst>
                                            <p:cond delay="1312"/>
                                          </p:stCondLst>
                                        </p:cTn>
                                        <p:tgtEl>
                                          <p:spTgt spid="28"/>
                                        </p:tgtEl>
                                      </p:cBhvr>
                                      <p:to x="100000" y="80000"/>
                                    </p:animScale>
                                    <p:animScale>
                                      <p:cBhvr>
                                        <p:cTn id="241" dur="166" decel="50000">
                                          <p:stCondLst>
                                            <p:cond delay="1338"/>
                                          </p:stCondLst>
                                        </p:cTn>
                                        <p:tgtEl>
                                          <p:spTgt spid="28"/>
                                        </p:tgtEl>
                                      </p:cBhvr>
                                      <p:to x="100000" y="100000"/>
                                    </p:animScale>
                                    <p:animScale>
                                      <p:cBhvr>
                                        <p:cTn id="242" dur="26">
                                          <p:stCondLst>
                                            <p:cond delay="1642"/>
                                          </p:stCondLst>
                                        </p:cTn>
                                        <p:tgtEl>
                                          <p:spTgt spid="28"/>
                                        </p:tgtEl>
                                      </p:cBhvr>
                                      <p:to x="100000" y="90000"/>
                                    </p:animScale>
                                    <p:animScale>
                                      <p:cBhvr>
                                        <p:cTn id="243" dur="166" decel="50000">
                                          <p:stCondLst>
                                            <p:cond delay="1668"/>
                                          </p:stCondLst>
                                        </p:cTn>
                                        <p:tgtEl>
                                          <p:spTgt spid="28"/>
                                        </p:tgtEl>
                                      </p:cBhvr>
                                      <p:to x="100000" y="100000"/>
                                    </p:animScale>
                                    <p:animScale>
                                      <p:cBhvr>
                                        <p:cTn id="244" dur="26">
                                          <p:stCondLst>
                                            <p:cond delay="1808"/>
                                          </p:stCondLst>
                                        </p:cTn>
                                        <p:tgtEl>
                                          <p:spTgt spid="28"/>
                                        </p:tgtEl>
                                      </p:cBhvr>
                                      <p:to x="100000" y="95000"/>
                                    </p:animScale>
                                    <p:animScale>
                                      <p:cBhvr>
                                        <p:cTn id="245" dur="166" decel="50000">
                                          <p:stCondLst>
                                            <p:cond delay="1834"/>
                                          </p:stCondLst>
                                        </p:cTn>
                                        <p:tgtEl>
                                          <p:spTgt spid="28"/>
                                        </p:tgtEl>
                                      </p:cBhvr>
                                      <p:to x="100000" y="100000"/>
                                    </p:animScale>
                                    <p:set>
                                      <p:cBhvr>
                                        <p:cTn id="246" dur="1" fill="hold">
                                          <p:stCondLst>
                                            <p:cond delay="1999"/>
                                          </p:stCondLst>
                                        </p:cTn>
                                        <p:tgtEl>
                                          <p:spTgt spid="28"/>
                                        </p:tgtEl>
                                        <p:attrNameLst>
                                          <p:attrName>style.visibility</p:attrName>
                                        </p:attrNameLst>
                                      </p:cBhvr>
                                      <p:to>
                                        <p:strVal val="hidden"/>
                                      </p:to>
                                    </p:set>
                                  </p:childTnLst>
                                </p:cTn>
                              </p:par>
                            </p:childTnLst>
                          </p:cTn>
                        </p:par>
                      </p:childTnLst>
                    </p:cTn>
                  </p:par>
                  <p:par>
                    <p:cTn id="247" fill="hold">
                      <p:stCondLst>
                        <p:cond delay="indefinite"/>
                      </p:stCondLst>
                      <p:childTnLst>
                        <p:par>
                          <p:cTn id="248" fill="hold">
                            <p:stCondLst>
                              <p:cond delay="0"/>
                            </p:stCondLst>
                            <p:childTnLst>
                              <p:par>
                                <p:cTn id="249" presetID="26" presetClass="exit" presetSubtype="0" fill="hold" grpId="0" nodeType="clickEffect">
                                  <p:stCondLst>
                                    <p:cond delay="0"/>
                                  </p:stCondLst>
                                  <p:childTnLst>
                                    <p:animEffect transition="out" filter="wipe(down)">
                                      <p:cBhvr>
                                        <p:cTn id="250" dur="180" accel="50000">
                                          <p:stCondLst>
                                            <p:cond delay="1820"/>
                                          </p:stCondLst>
                                        </p:cTn>
                                        <p:tgtEl>
                                          <p:spTgt spid="33"/>
                                        </p:tgtEl>
                                      </p:cBhvr>
                                    </p:animEffect>
                                    <p:anim calcmode="lin" valueType="num">
                                      <p:cBhvr>
                                        <p:cTn id="251" dur="1822" tmFilter="0,0; 0.14,0.31; 0.43,0.73; 0.71,0.91; 1.0,1.0">
                                          <p:stCondLst>
                                            <p:cond delay="0"/>
                                          </p:stCondLst>
                                        </p:cTn>
                                        <p:tgtEl>
                                          <p:spTgt spid="33"/>
                                        </p:tgtEl>
                                        <p:attrNameLst>
                                          <p:attrName>ppt_x</p:attrName>
                                        </p:attrNameLst>
                                      </p:cBhvr>
                                      <p:tavLst>
                                        <p:tav tm="0">
                                          <p:val>
                                            <p:strVal val="ppt_x"/>
                                          </p:val>
                                        </p:tav>
                                        <p:tav tm="100000">
                                          <p:val>
                                            <p:strVal val="#ppt_x+0.25"/>
                                          </p:val>
                                        </p:tav>
                                      </p:tavLst>
                                    </p:anim>
                                    <p:anim calcmode="lin" valueType="num">
                                      <p:cBhvr>
                                        <p:cTn id="252" dur="178">
                                          <p:stCondLst>
                                            <p:cond delay="1822"/>
                                          </p:stCondLst>
                                        </p:cTn>
                                        <p:tgtEl>
                                          <p:spTgt spid="33"/>
                                        </p:tgtEl>
                                        <p:attrNameLst>
                                          <p:attrName>ppt_x</p:attrName>
                                        </p:attrNameLst>
                                      </p:cBhvr>
                                      <p:tavLst>
                                        <p:tav tm="0">
                                          <p:val>
                                            <p:strVal val="ppt_x"/>
                                          </p:val>
                                        </p:tav>
                                        <p:tav tm="100000">
                                          <p:val>
                                            <p:strVal val="ppt_x"/>
                                          </p:val>
                                        </p:tav>
                                      </p:tavLst>
                                    </p:anim>
                                    <p:anim calcmode="lin" valueType="num">
                                      <p:cBhvr>
                                        <p:cTn id="253" dur="664" tmFilter="0.0,0.0;0.25,0.07;0.50,0.2;0.75,0.467;1.0,1.0">
                                          <p:stCondLst>
                                            <p:cond delay="0"/>
                                          </p:stCondLst>
                                        </p:cTn>
                                        <p:tgtEl>
                                          <p:spTgt spid="3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254" dur="664" tmFilter="0, 0; 0.125,0.2665; 0.25,0.4; 0.375,0.465; 0.5,0.5;  0.625,0.535; 0.75,0.6; 0.875,0.7335; 1,1">
                                          <p:stCondLst>
                                            <p:cond delay="664"/>
                                          </p:stCondLst>
                                        </p:cTn>
                                        <p:tgtEl>
                                          <p:spTgt spid="3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255" dur="332" tmFilter="0, 0; 0.125,0.2665; 0.25,0.4; 0.375,0.465; 0.5,0.5;  0.625,0.535; 0.75,0.6; 0.875,0.7335; 1,1">
                                          <p:stCondLst>
                                            <p:cond delay="1324"/>
                                          </p:stCondLst>
                                        </p:cTn>
                                        <p:tgtEl>
                                          <p:spTgt spid="3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256" dur="164" tmFilter="0, 0; 0.125,0.2665; 0.25,0.4; 0.375,0.465; 0.5,0.5;  0.625,0.535; 0.75,0.6; 0.875,0.7335; 1,1">
                                          <p:stCondLst>
                                            <p:cond delay="1656"/>
                                          </p:stCondLst>
                                        </p:cTn>
                                        <p:tgtEl>
                                          <p:spTgt spid="3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257" dur="180" accel="50000">
                                          <p:stCondLst>
                                            <p:cond delay="1820"/>
                                          </p:stCondLst>
                                        </p:cTn>
                                        <p:tgtEl>
                                          <p:spTgt spid="33"/>
                                        </p:tgtEl>
                                        <p:attrNameLst>
                                          <p:attrName>ppt_y</p:attrName>
                                        </p:attrNameLst>
                                      </p:cBhvr>
                                      <p:tavLst>
                                        <p:tav tm="0">
                                          <p:val>
                                            <p:strVal val="ppt_y"/>
                                          </p:val>
                                        </p:tav>
                                        <p:tav tm="100000">
                                          <p:val>
                                            <p:strVal val="ppt_y+ppt_h"/>
                                          </p:val>
                                        </p:tav>
                                      </p:tavLst>
                                    </p:anim>
                                    <p:animScale>
                                      <p:cBhvr>
                                        <p:cTn id="258" dur="26">
                                          <p:stCondLst>
                                            <p:cond delay="620"/>
                                          </p:stCondLst>
                                        </p:cTn>
                                        <p:tgtEl>
                                          <p:spTgt spid="33"/>
                                        </p:tgtEl>
                                      </p:cBhvr>
                                      <p:to x="100000" y="60000"/>
                                    </p:animScale>
                                    <p:animScale>
                                      <p:cBhvr>
                                        <p:cTn id="259" dur="166" decel="50000">
                                          <p:stCondLst>
                                            <p:cond delay="646"/>
                                          </p:stCondLst>
                                        </p:cTn>
                                        <p:tgtEl>
                                          <p:spTgt spid="33"/>
                                        </p:tgtEl>
                                      </p:cBhvr>
                                      <p:to x="100000" y="100000"/>
                                    </p:animScale>
                                    <p:animScale>
                                      <p:cBhvr>
                                        <p:cTn id="260" dur="26">
                                          <p:stCondLst>
                                            <p:cond delay="1312"/>
                                          </p:stCondLst>
                                        </p:cTn>
                                        <p:tgtEl>
                                          <p:spTgt spid="33"/>
                                        </p:tgtEl>
                                      </p:cBhvr>
                                      <p:to x="100000" y="80000"/>
                                    </p:animScale>
                                    <p:animScale>
                                      <p:cBhvr>
                                        <p:cTn id="261" dur="166" decel="50000">
                                          <p:stCondLst>
                                            <p:cond delay="1338"/>
                                          </p:stCondLst>
                                        </p:cTn>
                                        <p:tgtEl>
                                          <p:spTgt spid="33"/>
                                        </p:tgtEl>
                                      </p:cBhvr>
                                      <p:to x="100000" y="100000"/>
                                    </p:animScale>
                                    <p:animScale>
                                      <p:cBhvr>
                                        <p:cTn id="262" dur="26">
                                          <p:stCondLst>
                                            <p:cond delay="1642"/>
                                          </p:stCondLst>
                                        </p:cTn>
                                        <p:tgtEl>
                                          <p:spTgt spid="33"/>
                                        </p:tgtEl>
                                      </p:cBhvr>
                                      <p:to x="100000" y="90000"/>
                                    </p:animScale>
                                    <p:animScale>
                                      <p:cBhvr>
                                        <p:cTn id="263" dur="166" decel="50000">
                                          <p:stCondLst>
                                            <p:cond delay="1668"/>
                                          </p:stCondLst>
                                        </p:cTn>
                                        <p:tgtEl>
                                          <p:spTgt spid="33"/>
                                        </p:tgtEl>
                                      </p:cBhvr>
                                      <p:to x="100000" y="100000"/>
                                    </p:animScale>
                                    <p:animScale>
                                      <p:cBhvr>
                                        <p:cTn id="264" dur="26">
                                          <p:stCondLst>
                                            <p:cond delay="1808"/>
                                          </p:stCondLst>
                                        </p:cTn>
                                        <p:tgtEl>
                                          <p:spTgt spid="33"/>
                                        </p:tgtEl>
                                      </p:cBhvr>
                                      <p:to x="100000" y="95000"/>
                                    </p:animScale>
                                    <p:animScale>
                                      <p:cBhvr>
                                        <p:cTn id="265" dur="166" decel="50000">
                                          <p:stCondLst>
                                            <p:cond delay="1834"/>
                                          </p:stCondLst>
                                        </p:cTn>
                                        <p:tgtEl>
                                          <p:spTgt spid="33"/>
                                        </p:tgtEl>
                                      </p:cBhvr>
                                      <p:to x="100000" y="100000"/>
                                    </p:animScale>
                                    <p:set>
                                      <p:cBhvr>
                                        <p:cTn id="266" dur="1" fill="hold">
                                          <p:stCondLst>
                                            <p:cond delay="19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p:txBody>
          <a:bodyPr>
            <a:normAutofit/>
          </a:bodyPr>
          <a:lstStyle/>
          <a:p>
            <a:r>
              <a:rPr lang="en-US" sz="2800" dirty="0">
                <a:latin typeface="+mn-lt"/>
              </a:rPr>
              <a:t>Series/Parallel Activities</a:t>
            </a:r>
          </a:p>
        </p:txBody>
      </p:sp>
      <p:pic>
        <p:nvPicPr>
          <p:cNvPr id="31746" name="Picture 4"/>
          <p:cNvPicPr>
            <a:picLocks noChangeAspect="1" noChangeArrowheads="1"/>
          </p:cNvPicPr>
          <p:nvPr/>
        </p:nvPicPr>
        <p:blipFill>
          <a:blip r:embed="rId3" cstate="print"/>
          <a:srcRect/>
          <a:stretch>
            <a:fillRect/>
          </a:stretch>
        </p:blipFill>
        <p:spPr bwMode="auto">
          <a:xfrm>
            <a:off x="2257425" y="2195513"/>
            <a:ext cx="4629150" cy="885825"/>
          </a:xfrm>
          <a:prstGeom prst="rect">
            <a:avLst/>
          </a:prstGeom>
          <a:noFill/>
          <a:ln w="9525">
            <a:noFill/>
            <a:miter lim="800000"/>
            <a:headEnd/>
            <a:tailEnd/>
          </a:ln>
        </p:spPr>
      </p:pic>
      <p:pic>
        <p:nvPicPr>
          <p:cNvPr id="9221" name="Picture 5"/>
          <p:cNvPicPr>
            <a:picLocks noChangeAspect="1" noChangeArrowheads="1"/>
          </p:cNvPicPr>
          <p:nvPr/>
        </p:nvPicPr>
        <p:blipFill>
          <a:blip r:embed="rId4" cstate="print"/>
          <a:srcRect/>
          <a:stretch>
            <a:fillRect/>
          </a:stretch>
        </p:blipFill>
        <p:spPr bwMode="auto">
          <a:xfrm>
            <a:off x="1790700" y="3824899"/>
            <a:ext cx="5562600" cy="2286000"/>
          </a:xfrm>
          <a:prstGeom prst="rect">
            <a:avLst/>
          </a:prstGeom>
          <a:noFill/>
          <a:ln w="9525">
            <a:noFill/>
            <a:miter lim="800000"/>
            <a:headEnd/>
            <a:tailEnd/>
          </a:ln>
        </p:spPr>
      </p:pic>
      <p:sp>
        <p:nvSpPr>
          <p:cNvPr id="31748" name="TextBox 1"/>
          <p:cNvSpPr txBox="1">
            <a:spLocks noChangeArrowheads="1"/>
          </p:cNvSpPr>
          <p:nvPr/>
        </p:nvSpPr>
        <p:spPr bwMode="auto">
          <a:xfrm>
            <a:off x="1403350" y="1781970"/>
            <a:ext cx="1439863" cy="369887"/>
          </a:xfrm>
          <a:prstGeom prst="rect">
            <a:avLst/>
          </a:prstGeom>
          <a:noFill/>
          <a:ln w="9525">
            <a:noFill/>
            <a:miter lim="800000"/>
            <a:headEnd/>
            <a:tailEnd/>
          </a:ln>
        </p:spPr>
        <p:txBody>
          <a:bodyPr>
            <a:spAutoFit/>
          </a:bodyPr>
          <a:lstStyle/>
          <a:p>
            <a:r>
              <a:rPr lang="en-US" dirty="0"/>
              <a:t>Series</a:t>
            </a:r>
          </a:p>
        </p:txBody>
      </p:sp>
      <p:sp>
        <p:nvSpPr>
          <p:cNvPr id="31749" name="TextBox 2"/>
          <p:cNvSpPr txBox="1">
            <a:spLocks noChangeArrowheads="1"/>
          </p:cNvSpPr>
          <p:nvPr/>
        </p:nvSpPr>
        <p:spPr bwMode="auto">
          <a:xfrm>
            <a:off x="1115218" y="3455012"/>
            <a:ext cx="2016125" cy="369887"/>
          </a:xfrm>
          <a:prstGeom prst="rect">
            <a:avLst/>
          </a:prstGeom>
          <a:noFill/>
          <a:ln w="9525">
            <a:noFill/>
            <a:miter lim="800000"/>
            <a:headEnd/>
            <a:tailEnd/>
          </a:ln>
        </p:spPr>
        <p:txBody>
          <a:bodyPr>
            <a:spAutoFit/>
          </a:bodyPr>
          <a:lstStyle/>
          <a:p>
            <a:r>
              <a:rPr lang="en-US" dirty="0"/>
              <a:t>Parallel</a:t>
            </a:r>
          </a:p>
        </p:txBody>
      </p:sp>
      <p:sp>
        <p:nvSpPr>
          <p:cNvPr id="31750"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14</a:t>
            </a:fld>
            <a:endParaRPr lang="en-US" altLang="en-US"/>
          </a:p>
        </p:txBody>
      </p:sp>
      <p:sp>
        <p:nvSpPr>
          <p:cNvPr id="5" name="Date Placeholder 4">
            <a:extLst>
              <a:ext uri="{FF2B5EF4-FFF2-40B4-BE49-F238E27FC236}">
                <a16:creationId xmlns:a16="http://schemas.microsoft.com/office/drawing/2014/main" id="{39F91057-07BF-4C9A-9FA0-57FA08443A72}"/>
              </a:ext>
            </a:extLst>
          </p:cNvPr>
          <p:cNvSpPr>
            <a:spLocks noGrp="1"/>
          </p:cNvSpPr>
          <p:nvPr>
            <p:ph type="dt" sz="half" idx="10"/>
          </p:nvPr>
        </p:nvSpPr>
        <p:spPr/>
        <p:txBody>
          <a:bodyPr/>
          <a:lstStyle/>
          <a:p>
            <a:pPr>
              <a:defRPr/>
            </a:pPr>
            <a:r>
              <a:rPr lang="en-US"/>
              <a:t>G.R. Labbé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 calcmode="lin" valueType="num">
                                      <p:cBhvr additive="base">
                                        <p:cTn id="7" dur="500" fill="hold"/>
                                        <p:tgtEl>
                                          <p:spTgt spid="9221"/>
                                        </p:tgtEl>
                                        <p:attrNameLst>
                                          <p:attrName>ppt_x</p:attrName>
                                        </p:attrNameLst>
                                      </p:cBhvr>
                                      <p:tavLst>
                                        <p:tav tm="0">
                                          <p:val>
                                            <p:strVal val="#ppt_x"/>
                                          </p:val>
                                        </p:tav>
                                        <p:tav tm="100000">
                                          <p:val>
                                            <p:strVal val="#ppt_x"/>
                                          </p:val>
                                        </p:tav>
                                      </p:tavLst>
                                    </p:anim>
                                    <p:anim calcmode="lin" valueType="num">
                                      <p:cBhvr additive="base">
                                        <p:cTn id="8"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normAutofit/>
          </a:bodyPr>
          <a:lstStyle/>
          <a:p>
            <a:r>
              <a:rPr lang="en-US" sz="2800" dirty="0">
                <a:latin typeface="+mn-lt"/>
              </a:rPr>
              <a:t>Activities Merge / Burst</a:t>
            </a:r>
          </a:p>
        </p:txBody>
      </p:sp>
      <p:pic>
        <p:nvPicPr>
          <p:cNvPr id="32770" name="Picture 4"/>
          <p:cNvPicPr>
            <a:picLocks noChangeAspect="1" noChangeArrowheads="1"/>
          </p:cNvPicPr>
          <p:nvPr/>
        </p:nvPicPr>
        <p:blipFill>
          <a:blip r:embed="rId3" cstate="print"/>
          <a:srcRect/>
          <a:stretch>
            <a:fillRect/>
          </a:stretch>
        </p:blipFill>
        <p:spPr bwMode="auto">
          <a:xfrm>
            <a:off x="323850" y="2708275"/>
            <a:ext cx="4724400" cy="3228975"/>
          </a:xfrm>
          <a:prstGeom prst="rect">
            <a:avLst/>
          </a:prstGeom>
          <a:noFill/>
          <a:ln w="9525">
            <a:noFill/>
            <a:miter lim="800000"/>
            <a:headEnd/>
            <a:tailEnd/>
          </a:ln>
        </p:spPr>
      </p:pic>
      <p:pic>
        <p:nvPicPr>
          <p:cNvPr id="32771" name="Picture 5"/>
          <p:cNvPicPr>
            <a:picLocks noChangeAspect="1" noChangeArrowheads="1"/>
          </p:cNvPicPr>
          <p:nvPr/>
        </p:nvPicPr>
        <p:blipFill>
          <a:blip r:embed="rId4" cstate="print"/>
          <a:srcRect/>
          <a:stretch>
            <a:fillRect/>
          </a:stretch>
        </p:blipFill>
        <p:spPr bwMode="auto">
          <a:xfrm>
            <a:off x="5400675" y="2708275"/>
            <a:ext cx="3286125" cy="3228975"/>
          </a:xfrm>
          <a:prstGeom prst="rect">
            <a:avLst/>
          </a:prstGeom>
          <a:noFill/>
          <a:ln w="9525">
            <a:noFill/>
            <a:miter lim="800000"/>
            <a:headEnd/>
            <a:tailEnd/>
          </a:ln>
        </p:spPr>
      </p:pic>
      <p:sp>
        <p:nvSpPr>
          <p:cNvPr id="32772" name="Rectangle 1"/>
          <p:cNvSpPr>
            <a:spLocks noChangeArrowheads="1"/>
          </p:cNvSpPr>
          <p:nvPr/>
        </p:nvSpPr>
        <p:spPr bwMode="auto">
          <a:xfrm>
            <a:off x="328613" y="2206625"/>
            <a:ext cx="838200" cy="369888"/>
          </a:xfrm>
          <a:prstGeom prst="rect">
            <a:avLst/>
          </a:prstGeom>
          <a:noFill/>
          <a:ln w="9525">
            <a:noFill/>
            <a:miter lim="800000"/>
            <a:headEnd/>
            <a:tailEnd/>
          </a:ln>
        </p:spPr>
        <p:txBody>
          <a:bodyPr wrap="none">
            <a:spAutoFit/>
          </a:bodyPr>
          <a:lstStyle/>
          <a:p>
            <a:r>
              <a:rPr lang="en-US"/>
              <a:t>Merge</a:t>
            </a:r>
          </a:p>
        </p:txBody>
      </p:sp>
      <p:sp>
        <p:nvSpPr>
          <p:cNvPr id="3" name="Rectangle 2"/>
          <p:cNvSpPr/>
          <p:nvPr/>
        </p:nvSpPr>
        <p:spPr>
          <a:xfrm>
            <a:off x="5400675" y="2222500"/>
            <a:ext cx="723900" cy="369888"/>
          </a:xfrm>
          <a:prstGeom prst="rect">
            <a:avLst/>
          </a:prstGeom>
        </p:spPr>
        <p:txBody>
          <a:bodyPr wrap="none">
            <a:spAutoFit/>
          </a:bodyPr>
          <a:lstStyle/>
          <a:p>
            <a:pPr>
              <a:defRPr/>
            </a:pPr>
            <a:r>
              <a:rPr lang="en-US" dirty="0">
                <a:solidFill>
                  <a:schemeClr val="tx2">
                    <a:satMod val="130000"/>
                  </a:schemeClr>
                </a:solidFill>
              </a:rPr>
              <a:t>Burst</a:t>
            </a:r>
          </a:p>
        </p:txBody>
      </p:sp>
      <p:sp>
        <p:nvSpPr>
          <p:cNvPr id="32774"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15</a:t>
            </a:fld>
            <a:endParaRPr lang="en-US" altLang="en-US"/>
          </a:p>
        </p:txBody>
      </p:sp>
      <p:sp>
        <p:nvSpPr>
          <p:cNvPr id="6" name="Date Placeholder 5">
            <a:extLst>
              <a:ext uri="{FF2B5EF4-FFF2-40B4-BE49-F238E27FC236}">
                <a16:creationId xmlns:a16="http://schemas.microsoft.com/office/drawing/2014/main" id="{ABDD844D-B806-47E0-BD27-51FE012C7A2F}"/>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315119" y="296068"/>
            <a:ext cx="8513762" cy="792163"/>
          </a:xfrm>
        </p:spPr>
        <p:txBody>
          <a:bodyPr>
            <a:normAutofit/>
          </a:bodyPr>
          <a:lstStyle/>
          <a:p>
            <a:r>
              <a:rPr lang="en-US" sz="2800" dirty="0">
                <a:latin typeface="+mn-lt"/>
              </a:rPr>
              <a:t>Creating a Project Network Activity Diagram - Example</a:t>
            </a:r>
          </a:p>
        </p:txBody>
      </p:sp>
      <p:pic>
        <p:nvPicPr>
          <p:cNvPr id="33794" name="Picture 5"/>
          <p:cNvPicPr>
            <a:picLocks noChangeAspect="1" noChangeArrowheads="1"/>
          </p:cNvPicPr>
          <p:nvPr/>
        </p:nvPicPr>
        <p:blipFill>
          <a:blip r:embed="rId3" cstate="print"/>
          <a:srcRect/>
          <a:stretch>
            <a:fillRect/>
          </a:stretch>
        </p:blipFill>
        <p:spPr bwMode="auto">
          <a:xfrm>
            <a:off x="2509838" y="1487915"/>
            <a:ext cx="3687762" cy="4725988"/>
          </a:xfrm>
          <a:prstGeom prst="rect">
            <a:avLst/>
          </a:prstGeom>
          <a:noFill/>
          <a:ln w="9525">
            <a:noFill/>
            <a:miter lim="800000"/>
            <a:headEnd/>
            <a:tailEnd/>
          </a:ln>
        </p:spPr>
      </p:pic>
      <p:sp>
        <p:nvSpPr>
          <p:cNvPr id="33795"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16</a:t>
            </a:fld>
            <a:endParaRPr lang="en-US" altLang="en-US"/>
          </a:p>
        </p:txBody>
      </p:sp>
      <p:sp>
        <p:nvSpPr>
          <p:cNvPr id="5" name="Date Placeholder 4">
            <a:extLst>
              <a:ext uri="{FF2B5EF4-FFF2-40B4-BE49-F238E27FC236}">
                <a16:creationId xmlns:a16="http://schemas.microsoft.com/office/drawing/2014/main" id="{4A2A0229-0219-4342-9B70-04D32FCCD029}"/>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ChangeArrowheads="1"/>
          </p:cNvSpPr>
          <p:nvPr>
            <p:ph type="title"/>
          </p:nvPr>
        </p:nvSpPr>
        <p:spPr>
          <a:xfrm>
            <a:off x="628650" y="365127"/>
            <a:ext cx="7886700" cy="701674"/>
          </a:xfrm>
        </p:spPr>
        <p:txBody>
          <a:bodyPr>
            <a:normAutofit/>
          </a:bodyPr>
          <a:lstStyle/>
          <a:p>
            <a:r>
              <a:rPr lang="en-US" sz="2800" dirty="0">
                <a:latin typeface="+mn-lt"/>
              </a:rPr>
              <a:t>Activity on Node Network</a:t>
            </a:r>
          </a:p>
        </p:txBody>
      </p:sp>
      <p:pic>
        <p:nvPicPr>
          <p:cNvPr id="34818" name="Picture 34"/>
          <p:cNvPicPr>
            <a:picLocks noChangeAspect="1"/>
          </p:cNvPicPr>
          <p:nvPr/>
        </p:nvPicPr>
        <p:blipFill>
          <a:blip r:embed="rId3" cstate="print"/>
          <a:srcRect/>
          <a:stretch>
            <a:fillRect/>
          </a:stretch>
        </p:blipFill>
        <p:spPr bwMode="auto">
          <a:xfrm>
            <a:off x="417512" y="3621874"/>
            <a:ext cx="8308975" cy="3184525"/>
          </a:xfrm>
          <a:prstGeom prst="rect">
            <a:avLst/>
          </a:prstGeom>
          <a:solidFill>
            <a:schemeClr val="bg1"/>
          </a:solidFill>
          <a:ln w="9525">
            <a:noFill/>
            <a:miter lim="800000"/>
            <a:headEnd/>
            <a:tailEnd/>
          </a:ln>
        </p:spPr>
      </p:pic>
      <p:cxnSp>
        <p:nvCxnSpPr>
          <p:cNvPr id="55" name="Straight Arrow Connector 54"/>
          <p:cNvCxnSpPr/>
          <p:nvPr/>
        </p:nvCxnSpPr>
        <p:spPr>
          <a:xfrm>
            <a:off x="6457950" y="5244348"/>
            <a:ext cx="5746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17</a:t>
            </a:fld>
            <a:endParaRPr lang="en-US" altLang="en-US"/>
          </a:p>
        </p:txBody>
      </p:sp>
      <p:sp>
        <p:nvSpPr>
          <p:cNvPr id="5" name="Date Placeholder 4">
            <a:extLst>
              <a:ext uri="{FF2B5EF4-FFF2-40B4-BE49-F238E27FC236}">
                <a16:creationId xmlns:a16="http://schemas.microsoft.com/office/drawing/2014/main" id="{6F251D25-21B0-4442-8413-1929E8C5C94D}"/>
              </a:ext>
            </a:extLst>
          </p:cNvPr>
          <p:cNvSpPr>
            <a:spLocks noGrp="1"/>
          </p:cNvSpPr>
          <p:nvPr>
            <p:ph type="dt" sz="half" idx="10"/>
          </p:nvPr>
        </p:nvSpPr>
        <p:spPr/>
        <p:txBody>
          <a:bodyPr/>
          <a:lstStyle/>
          <a:p>
            <a:pPr>
              <a:defRPr/>
            </a:pPr>
            <a:r>
              <a:rPr lang="en-US"/>
              <a:t>G.R. Labbé</a:t>
            </a:r>
          </a:p>
        </p:txBody>
      </p:sp>
      <p:pic>
        <p:nvPicPr>
          <p:cNvPr id="7" name="Picture 5">
            <a:extLst>
              <a:ext uri="{FF2B5EF4-FFF2-40B4-BE49-F238E27FC236}">
                <a16:creationId xmlns:a16="http://schemas.microsoft.com/office/drawing/2014/main" id="{D9027030-0B45-4AAC-9B33-EB0DEC2F943E}"/>
              </a:ext>
            </a:extLst>
          </p:cNvPr>
          <p:cNvPicPr>
            <a:picLocks noChangeAspect="1" noChangeArrowheads="1"/>
          </p:cNvPicPr>
          <p:nvPr/>
        </p:nvPicPr>
        <p:blipFill>
          <a:blip r:embed="rId4" cstate="print"/>
          <a:srcRect/>
          <a:stretch>
            <a:fillRect/>
          </a:stretch>
        </p:blipFill>
        <p:spPr bwMode="auto">
          <a:xfrm>
            <a:off x="6241553" y="155378"/>
            <a:ext cx="2484934" cy="3184525"/>
          </a:xfrm>
          <a:prstGeom prst="rect">
            <a:avLst/>
          </a:prstGeom>
          <a:noFill/>
          <a:ln w="9525">
            <a:noFill/>
            <a:miter lim="800000"/>
            <a:headEnd/>
            <a:tailEnd/>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1870868" y="494506"/>
            <a:ext cx="4691063" cy="534988"/>
          </a:xfrm>
        </p:spPr>
        <p:txBody>
          <a:bodyPr>
            <a:normAutofit/>
          </a:bodyPr>
          <a:lstStyle/>
          <a:p>
            <a:r>
              <a:rPr lang="en-US" sz="2800" dirty="0">
                <a:latin typeface="+mn-lt"/>
              </a:rPr>
              <a:t>Constructing the Critical Path</a:t>
            </a:r>
          </a:p>
        </p:txBody>
      </p:sp>
      <p:pic>
        <p:nvPicPr>
          <p:cNvPr id="35842" name="Picture 5"/>
          <p:cNvPicPr>
            <a:picLocks noChangeAspect="1" noChangeArrowheads="1"/>
          </p:cNvPicPr>
          <p:nvPr/>
        </p:nvPicPr>
        <p:blipFill>
          <a:blip r:embed="rId3" cstate="print"/>
          <a:srcRect/>
          <a:stretch>
            <a:fillRect/>
          </a:stretch>
        </p:blipFill>
        <p:spPr bwMode="auto">
          <a:xfrm>
            <a:off x="1981199" y="1353417"/>
            <a:ext cx="4470400" cy="4843462"/>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18</a:t>
            </a:fld>
            <a:endParaRPr lang="en-US" altLang="en-US"/>
          </a:p>
        </p:txBody>
      </p:sp>
      <p:sp>
        <p:nvSpPr>
          <p:cNvPr id="5" name="Date Placeholder 4">
            <a:extLst>
              <a:ext uri="{FF2B5EF4-FFF2-40B4-BE49-F238E27FC236}">
                <a16:creationId xmlns:a16="http://schemas.microsoft.com/office/drawing/2014/main" id="{BF36BD7F-198E-4895-87A8-D8DF293E0865}"/>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518106" y="768570"/>
            <a:ext cx="4171950" cy="603250"/>
          </a:xfrm>
        </p:spPr>
        <p:txBody>
          <a:bodyPr>
            <a:normAutofit fontScale="90000"/>
          </a:bodyPr>
          <a:lstStyle/>
          <a:p>
            <a:r>
              <a:rPr lang="en-US" sz="2800" dirty="0">
                <a:latin typeface="+mn-lt"/>
              </a:rPr>
              <a:t>Project Activity Network Showing Project Durations</a:t>
            </a:r>
          </a:p>
        </p:txBody>
      </p:sp>
      <p:pic>
        <p:nvPicPr>
          <p:cNvPr id="36866" name="Picture 1"/>
          <p:cNvPicPr>
            <a:picLocks noChangeAspect="1"/>
          </p:cNvPicPr>
          <p:nvPr/>
        </p:nvPicPr>
        <p:blipFill>
          <a:blip r:embed="rId3" cstate="print"/>
          <a:srcRect/>
          <a:stretch>
            <a:fillRect/>
          </a:stretch>
        </p:blipFill>
        <p:spPr bwMode="auto">
          <a:xfrm>
            <a:off x="457200" y="2832247"/>
            <a:ext cx="8424862" cy="3862520"/>
          </a:xfrm>
          <a:prstGeom prst="rect">
            <a:avLst/>
          </a:prstGeom>
          <a:solidFill>
            <a:schemeClr val="bg1"/>
          </a:solidFill>
          <a:ln w="9525">
            <a:noFill/>
            <a:miter lim="800000"/>
            <a:headEnd/>
            <a:tailEnd/>
          </a:ln>
        </p:spPr>
      </p:pic>
      <p:cxnSp>
        <p:nvCxnSpPr>
          <p:cNvPr id="6" name="Straight Arrow Connector 5"/>
          <p:cNvCxnSpPr/>
          <p:nvPr/>
        </p:nvCxnSpPr>
        <p:spPr>
          <a:xfrm>
            <a:off x="6911975" y="4801214"/>
            <a:ext cx="57467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19</a:t>
            </a:fld>
            <a:endParaRPr lang="en-US" altLang="en-US"/>
          </a:p>
        </p:txBody>
      </p:sp>
      <p:sp>
        <p:nvSpPr>
          <p:cNvPr id="5" name="Date Placeholder 4">
            <a:extLst>
              <a:ext uri="{FF2B5EF4-FFF2-40B4-BE49-F238E27FC236}">
                <a16:creationId xmlns:a16="http://schemas.microsoft.com/office/drawing/2014/main" id="{33936C0D-0BCB-485A-8C88-42F2D71636BC}"/>
              </a:ext>
            </a:extLst>
          </p:cNvPr>
          <p:cNvSpPr>
            <a:spLocks noGrp="1"/>
          </p:cNvSpPr>
          <p:nvPr>
            <p:ph type="dt" sz="half" idx="10"/>
          </p:nvPr>
        </p:nvSpPr>
        <p:spPr/>
        <p:txBody>
          <a:bodyPr/>
          <a:lstStyle/>
          <a:p>
            <a:pPr>
              <a:defRPr/>
            </a:pPr>
            <a:r>
              <a:rPr lang="en-US"/>
              <a:t>G.R. Labbé</a:t>
            </a:r>
          </a:p>
        </p:txBody>
      </p:sp>
      <p:pic>
        <p:nvPicPr>
          <p:cNvPr id="7" name="Picture 5">
            <a:extLst>
              <a:ext uri="{FF2B5EF4-FFF2-40B4-BE49-F238E27FC236}">
                <a16:creationId xmlns:a16="http://schemas.microsoft.com/office/drawing/2014/main" id="{E39BACE4-9278-4707-9F10-24EBA3F06F23}"/>
              </a:ext>
            </a:extLst>
          </p:cNvPr>
          <p:cNvPicPr>
            <a:picLocks noChangeAspect="1" noChangeArrowheads="1"/>
          </p:cNvPicPr>
          <p:nvPr/>
        </p:nvPicPr>
        <p:blipFill>
          <a:blip r:embed="rId4" cstate="print"/>
          <a:srcRect/>
          <a:stretch>
            <a:fillRect/>
          </a:stretch>
        </p:blipFill>
        <p:spPr bwMode="auto">
          <a:xfrm>
            <a:off x="6240527" y="21706"/>
            <a:ext cx="2492245" cy="2700227"/>
          </a:xfrm>
          <a:prstGeom prst="rect">
            <a:avLst/>
          </a:prstGeom>
          <a:noFill/>
          <a:ln w="9525">
            <a:noFill/>
            <a:miter lim="800000"/>
            <a:headEnd/>
            <a:tailEnd/>
          </a:ln>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p:txBody>
          <a:bodyPr>
            <a:normAutofit/>
          </a:bodyPr>
          <a:lstStyle/>
          <a:p>
            <a:r>
              <a:rPr lang="en-US" sz="2800" dirty="0">
                <a:latin typeface="+mn-lt"/>
              </a:rPr>
              <a:t>Rules when using the </a:t>
            </a:r>
            <a:r>
              <a:rPr lang="en-US" sz="2800" dirty="0">
                <a:solidFill>
                  <a:srgbClr val="7030A0"/>
                </a:solidFill>
                <a:latin typeface="+mn-lt"/>
              </a:rPr>
              <a:t>Forward Pass</a:t>
            </a:r>
          </a:p>
        </p:txBody>
      </p:sp>
      <p:sp>
        <p:nvSpPr>
          <p:cNvPr id="37890"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37891" name="TextBox 1"/>
          <p:cNvSpPr txBox="1">
            <a:spLocks noChangeArrowheads="1"/>
          </p:cNvSpPr>
          <p:nvPr/>
        </p:nvSpPr>
        <p:spPr bwMode="auto">
          <a:xfrm>
            <a:off x="641713" y="1828800"/>
            <a:ext cx="7416800" cy="3785652"/>
          </a:xfrm>
          <a:prstGeom prst="rect">
            <a:avLst/>
          </a:prstGeom>
          <a:noFill/>
          <a:ln w="9525">
            <a:noFill/>
            <a:miter lim="800000"/>
            <a:headEnd/>
            <a:tailEnd/>
          </a:ln>
        </p:spPr>
        <p:txBody>
          <a:bodyPr>
            <a:spAutoFit/>
          </a:bodyPr>
          <a:lstStyle/>
          <a:p>
            <a:pPr marL="342900" indent="-342900">
              <a:buFontTx/>
              <a:buAutoNum type="arabicPeriod"/>
            </a:pPr>
            <a:r>
              <a:rPr lang="en-US" sz="2400" dirty="0"/>
              <a:t>Add all activity times along each path as we move through the network (ES + Duration = EF)</a:t>
            </a:r>
          </a:p>
          <a:p>
            <a:pPr marL="342900" indent="-342900">
              <a:buFontTx/>
              <a:buAutoNum type="arabicPeriod"/>
            </a:pPr>
            <a:endParaRPr lang="en-US" sz="2400" dirty="0"/>
          </a:p>
          <a:p>
            <a:pPr marL="342900" indent="-342900">
              <a:buFontTx/>
              <a:buAutoNum type="arabicPeriod"/>
            </a:pPr>
            <a:r>
              <a:rPr lang="en-US" sz="2400" dirty="0"/>
              <a:t>Carry the EF time to the activity nodes immediately ahead of the previous completed node. That EF </a:t>
            </a:r>
            <a:r>
              <a:rPr lang="en-US" sz="2400" dirty="0">
                <a:solidFill>
                  <a:srgbClr val="00B050"/>
                </a:solidFill>
              </a:rPr>
              <a:t>becomes the </a:t>
            </a:r>
            <a:r>
              <a:rPr lang="en-US" sz="2400" b="1" dirty="0">
                <a:solidFill>
                  <a:srgbClr val="00B050"/>
                </a:solidFill>
              </a:rPr>
              <a:t>ES</a:t>
            </a:r>
            <a:r>
              <a:rPr lang="en-US" sz="2400" dirty="0">
                <a:solidFill>
                  <a:srgbClr val="00B050"/>
                </a:solidFill>
              </a:rPr>
              <a:t> </a:t>
            </a:r>
            <a:r>
              <a:rPr lang="en-US" sz="2400" dirty="0"/>
              <a:t>of the next node, unless the next node is a merge point.</a:t>
            </a:r>
          </a:p>
          <a:p>
            <a:pPr marL="342900" indent="-342900">
              <a:buFontTx/>
              <a:buAutoNum type="arabicPeriod"/>
            </a:pPr>
            <a:endParaRPr lang="en-US" sz="2400" dirty="0"/>
          </a:p>
          <a:p>
            <a:pPr marL="342900" indent="-342900">
              <a:buFontTx/>
              <a:buAutoNum type="arabicPeriod"/>
            </a:pPr>
            <a:r>
              <a:rPr lang="en-US" sz="2400" dirty="0"/>
              <a:t>At a merge point, the </a:t>
            </a:r>
            <a:r>
              <a:rPr lang="en-US" sz="2400" dirty="0">
                <a:solidFill>
                  <a:srgbClr val="00B050"/>
                </a:solidFill>
              </a:rPr>
              <a:t>largest</a:t>
            </a:r>
            <a:r>
              <a:rPr lang="en-US" sz="2400" dirty="0"/>
              <a:t> previous EF becomes the ES for that node</a:t>
            </a:r>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20</a:t>
            </a:fld>
            <a:endParaRPr lang="en-US" altLang="en-US"/>
          </a:p>
        </p:txBody>
      </p:sp>
      <p:sp>
        <p:nvSpPr>
          <p:cNvPr id="5" name="Date Placeholder 4">
            <a:extLst>
              <a:ext uri="{FF2B5EF4-FFF2-40B4-BE49-F238E27FC236}">
                <a16:creationId xmlns:a16="http://schemas.microsoft.com/office/drawing/2014/main" id="{78061D7F-8504-46D1-B1AD-F36FE2C009C8}"/>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3" name="Picture 1"/>
          <p:cNvPicPr>
            <a:picLocks noChangeAspect="1"/>
          </p:cNvPicPr>
          <p:nvPr/>
        </p:nvPicPr>
        <p:blipFill>
          <a:blip r:embed="rId3" cstate="print"/>
          <a:srcRect/>
          <a:stretch>
            <a:fillRect/>
          </a:stretch>
        </p:blipFill>
        <p:spPr bwMode="auto">
          <a:xfrm>
            <a:off x="128010" y="2112963"/>
            <a:ext cx="8863589" cy="3578225"/>
          </a:xfrm>
          <a:prstGeom prst="rect">
            <a:avLst/>
          </a:prstGeom>
          <a:solidFill>
            <a:schemeClr val="bg1"/>
          </a:solidFill>
          <a:ln w="9525">
            <a:noFill/>
            <a:miter lim="800000"/>
            <a:headEnd/>
            <a:tailEnd/>
          </a:ln>
        </p:spPr>
      </p:pic>
      <p:sp>
        <p:nvSpPr>
          <p:cNvPr id="38914" name="Rectangle 2"/>
          <p:cNvSpPr>
            <a:spLocks noGrp="1" noChangeArrowheads="1"/>
          </p:cNvSpPr>
          <p:nvPr>
            <p:ph type="title"/>
          </p:nvPr>
        </p:nvSpPr>
        <p:spPr/>
        <p:txBody>
          <a:bodyPr>
            <a:normAutofit/>
          </a:bodyPr>
          <a:lstStyle/>
          <a:p>
            <a:r>
              <a:rPr lang="en-US" sz="2800" dirty="0">
                <a:latin typeface="+mn-lt"/>
              </a:rPr>
              <a:t>Activity Network with Forward Pass</a:t>
            </a:r>
          </a:p>
        </p:txBody>
      </p:sp>
      <p:sp>
        <p:nvSpPr>
          <p:cNvPr id="38921"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cxnSp>
        <p:nvCxnSpPr>
          <p:cNvPr id="12" name="Straight Arrow Connector 11"/>
          <p:cNvCxnSpPr/>
          <p:nvPr/>
        </p:nvCxnSpPr>
        <p:spPr>
          <a:xfrm>
            <a:off x="6851650" y="4076700"/>
            <a:ext cx="57626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21</a:t>
            </a:fld>
            <a:endParaRPr lang="en-US" altLang="en-US"/>
          </a:p>
        </p:txBody>
      </p:sp>
      <p:sp>
        <p:nvSpPr>
          <p:cNvPr id="11" name="Date Placeholder 10">
            <a:extLst>
              <a:ext uri="{FF2B5EF4-FFF2-40B4-BE49-F238E27FC236}">
                <a16:creationId xmlns:a16="http://schemas.microsoft.com/office/drawing/2014/main" id="{47DF0F41-F43C-4732-9E20-4B15AB2CB37B}"/>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p:txBody>
          <a:bodyPr>
            <a:normAutofit/>
          </a:bodyPr>
          <a:lstStyle/>
          <a:p>
            <a:r>
              <a:rPr lang="en-US" sz="2800" dirty="0">
                <a:latin typeface="+mn-lt"/>
              </a:rPr>
              <a:t>Rules when using the </a:t>
            </a:r>
            <a:r>
              <a:rPr lang="en-US" sz="2800" dirty="0">
                <a:solidFill>
                  <a:srgbClr val="7030A0"/>
                </a:solidFill>
                <a:latin typeface="+mn-lt"/>
              </a:rPr>
              <a:t>Backward Pass</a:t>
            </a:r>
          </a:p>
        </p:txBody>
      </p:sp>
      <p:sp>
        <p:nvSpPr>
          <p:cNvPr id="39938"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39939" name="TextBox 1"/>
          <p:cNvSpPr txBox="1">
            <a:spLocks noChangeArrowheads="1"/>
          </p:cNvSpPr>
          <p:nvPr/>
        </p:nvSpPr>
        <p:spPr bwMode="auto">
          <a:xfrm>
            <a:off x="457200" y="1828800"/>
            <a:ext cx="7632700" cy="3785652"/>
          </a:xfrm>
          <a:prstGeom prst="rect">
            <a:avLst/>
          </a:prstGeom>
          <a:noFill/>
          <a:ln w="9525">
            <a:noFill/>
            <a:miter lim="800000"/>
            <a:headEnd/>
            <a:tailEnd/>
          </a:ln>
        </p:spPr>
        <p:txBody>
          <a:bodyPr>
            <a:spAutoFit/>
          </a:bodyPr>
          <a:lstStyle/>
          <a:p>
            <a:pPr marL="342900" indent="-342900">
              <a:buFontTx/>
              <a:buAutoNum type="arabicPeriod"/>
            </a:pPr>
            <a:r>
              <a:rPr lang="en-US" sz="2400" dirty="0"/>
              <a:t>Subtract activity times along each path as you move through the network (LF – Dur = LS)</a:t>
            </a:r>
          </a:p>
          <a:p>
            <a:pPr marL="342900" indent="-342900">
              <a:buFontTx/>
              <a:buAutoNum type="arabicPeriod"/>
            </a:pPr>
            <a:endParaRPr lang="en-US" sz="2400" dirty="0"/>
          </a:p>
          <a:p>
            <a:pPr marL="342900" indent="-342900">
              <a:buFontTx/>
              <a:buAutoNum type="arabicPeriod"/>
            </a:pPr>
            <a:r>
              <a:rPr lang="en-US" sz="2400" dirty="0"/>
              <a:t>Carry back the LS time to the activity nodes immediately before the next node. That </a:t>
            </a:r>
            <a:r>
              <a:rPr lang="en-US" sz="2400" dirty="0">
                <a:solidFill>
                  <a:srgbClr val="00B050"/>
                </a:solidFill>
              </a:rPr>
              <a:t>LS becomes the LF of the previous node</a:t>
            </a:r>
            <a:r>
              <a:rPr lang="en-US" sz="2400" dirty="0"/>
              <a:t>, unless the previous node is a burst point.</a:t>
            </a:r>
          </a:p>
          <a:p>
            <a:pPr marL="342900" indent="-342900">
              <a:buFontTx/>
              <a:buAutoNum type="arabicPeriod"/>
            </a:pPr>
            <a:endParaRPr lang="en-US" sz="2400" dirty="0"/>
          </a:p>
          <a:p>
            <a:pPr marL="342900" indent="-342900">
              <a:buFontTx/>
              <a:buAutoNum type="arabicPeriod"/>
            </a:pPr>
            <a:r>
              <a:rPr lang="en-US" sz="2400" dirty="0"/>
              <a:t>In the case of a burst point, the </a:t>
            </a:r>
            <a:r>
              <a:rPr lang="en-US" sz="2400" dirty="0">
                <a:solidFill>
                  <a:srgbClr val="00B050"/>
                </a:solidFill>
              </a:rPr>
              <a:t>smallest</a:t>
            </a:r>
            <a:r>
              <a:rPr lang="en-US" sz="2400" dirty="0"/>
              <a:t> following LS becomes the LF for that node.</a:t>
            </a:r>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22</a:t>
            </a:fld>
            <a:endParaRPr lang="en-US" altLang="en-US"/>
          </a:p>
        </p:txBody>
      </p:sp>
      <p:sp>
        <p:nvSpPr>
          <p:cNvPr id="5" name="Date Placeholder 4">
            <a:extLst>
              <a:ext uri="{FF2B5EF4-FFF2-40B4-BE49-F238E27FC236}">
                <a16:creationId xmlns:a16="http://schemas.microsoft.com/office/drawing/2014/main" id="{21C62D94-DB5F-45CB-AD91-C0A6D76C8947}"/>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1" name="Picture 2"/>
          <p:cNvPicPr>
            <a:picLocks noChangeAspect="1"/>
          </p:cNvPicPr>
          <p:nvPr/>
        </p:nvPicPr>
        <p:blipFill>
          <a:blip r:embed="rId3" cstate="print"/>
          <a:srcRect/>
          <a:stretch>
            <a:fillRect/>
          </a:stretch>
        </p:blipFill>
        <p:spPr bwMode="auto">
          <a:xfrm>
            <a:off x="261938" y="2095500"/>
            <a:ext cx="8639175" cy="3578225"/>
          </a:xfrm>
          <a:prstGeom prst="rect">
            <a:avLst/>
          </a:prstGeom>
          <a:solidFill>
            <a:schemeClr val="bg1"/>
          </a:solidFill>
          <a:ln w="9525">
            <a:noFill/>
            <a:miter lim="800000"/>
            <a:headEnd/>
            <a:tailEnd/>
          </a:ln>
        </p:spPr>
      </p:pic>
      <p:sp>
        <p:nvSpPr>
          <p:cNvPr id="40962" name="Rectangle 2"/>
          <p:cNvSpPr>
            <a:spLocks noGrp="1" noChangeArrowheads="1"/>
          </p:cNvSpPr>
          <p:nvPr>
            <p:ph type="title"/>
          </p:nvPr>
        </p:nvSpPr>
        <p:spPr>
          <a:xfrm>
            <a:off x="463550" y="887413"/>
            <a:ext cx="5548313" cy="706437"/>
          </a:xfrm>
        </p:spPr>
        <p:txBody>
          <a:bodyPr>
            <a:normAutofit/>
          </a:bodyPr>
          <a:lstStyle/>
          <a:p>
            <a:r>
              <a:rPr lang="en-US" sz="2800" dirty="0">
                <a:latin typeface="+mn-lt"/>
              </a:rPr>
              <a:t>Activity Network with Backward Pass</a:t>
            </a:r>
          </a:p>
        </p:txBody>
      </p:sp>
      <p:sp>
        <p:nvSpPr>
          <p:cNvPr id="40967" name="AutoShape 2" descr="data:image/jpeg;base64,/9j/4AAQSkZJRgABAQAAAQABAAD/2wCEAAkGBxIQEBUQEBASFRAVFRQQEBAQFA8PFBIUFBQXFhQSFBcYHCggGBslGxUVITEhJSkrLi4wGB81ODMuNygtLisBCgoKDg0OGxAQGy0iHyUwLDcvLy8sLCwsLC8tLCwsLC8sLCs3Kyw2LC0sLCwsLCwsNy0sLCwtLCwrLDUsLCwsLP/AABEIAOEA4QMBIgACEQEDEQH/xAAcAAEAAgMBAQEAAAAAAAAAAAAABQYBAwQHAgj/xABEEAACAQIBCAcEBwcBCQAAAAAAAQIDEQQFBhIhMUFRYRMicYGRobEHMlLBFCMkQmJygkNjkqKy0eHwFTM0U4Ojs8LD/8QAGgEBAAMBAQEAAAAAAAAAAAAAAAMEBQYCAf/EACsRAQACAQMCBQMEAwAAAAAAAAABAgMEETEFEhMhMkFhUZGhInHB4TOB0f/aAAwDAQACEQMRAD8A9xAAAAAAAAAAAAAAAAAAAAAAAAAAAAAAAAAAAAAAAAAAAAAACJziy9TwVPSn1qkrqlSTs5tekVvfzsj5MxEby9Upa9orWN5d+NxlOjB1Ks4wgtspOy5JcXyKZlX2grXHC0r8Kla6XaoLW12tFPyrlSriqnSVpXf3YrVCC4QW7t2s4zPy6uZ8qN/TdJpWN8vnP09kvis6MZU97ETivhpKNJLscVpeLOCWUKz216z7atV/M5wVpyXnmZadcGKvFY+0OullTEQ1xxFdf9Wp6XJXBZ6Yyn71SNVcKsI7OUoWfjcr5g+xkvXiXy+mw39VY+z0rJOflCpaNeLoy+JvTp/xJXXercy105qSUotNPWmmmmuKZ4USuQM4a2Dl1HpUr3lRk3ovi4/C+a70y1i1c8XZWp6RG3dh+0/xP/XsQODI2VqWLpKrSerZKL1ShL4ZI7y9ExMbwwrVms7TyAA+vgAAAAAAAAAAAAAAAAAAAB81JqKcm7JK7b3JbWBxZbyrDCUZVam7VGK2zluijyLKOOqYmrKtVd5y3LZGO6EeS/zvJHOvLLxeIdn9VTvGEee99u7xIYzdVl7p7Y4h0nTNJGOniW5n8R/ZYWAKjUYsDEppWWtt6oxScpSfBJa2YrQqxV3CMV+8mk/CKfqe647W4hFl1GPF652ZMHHPGTjtjBrlKS9UfVLKEG7O8X+K1vFHq2G9eYeMesw3natnUYMswyJad+Q8rVMJWVWnrWypC9lUj8L58Hu8T2HAYyFelGrTd4TWlF+qfBp3TXI8PLj7Oss9HVeFm+pUvKl+Goldx/Ul4rmXNLl2ntnhkdU0kXp4teY5+Y/p6OADRc4AAAAAAAAAAAAAAAAAAAVbP7K3Q0Oji+vP0vZeLt4MtJ5Rn1jelxbjfVF6K7IKz/mbI8tu2kyn02LxMta/KBgrKxkGUjGdjwH1RozqTjTpx0qk2oU47Lt8XuSSbb3JM+owLr7N8mJupi5Le6FHsi/rZrtktH9D4k2HH322VdXqfBxzb39v3TubebNLBwvZTryX1teSV3+GHwwW5Lvu9ZNyppqzSa4NJo+ga0RERtDk73te3dad5V3LWZeDxKd6Spz3VKNqbvxaXVl3o8hzszarYCpo1OtTlfoq0V1Z8n8MuXqfoAjsv5Ip4zDzw9RapLqy3wmvdmuafzW8TD7W2zwPJmNs1Tk+rsi/hf8AYlmivYzCyo1J0pq04SlCS5xdnbwJrBVdOmm9q6r7thm6jHEfqh0fTtRNo7Lf6bj6o1ZQlGcHacWpxfCUXdPxR8Mw2VmnMRMbS9xybjFXo060dk4Rmlwur27th0lU9m2K08FoP9nUnBdkrVF/W13FrNqlu6sS4vNj8PJan0kB8VKsY7X3bzWsSuD8j0ibwa4Vk+3gzYAAAAAAAAAAAAAADxzK+SsV0sqsqEldyfXUltk3e6TXmexg83pFo2lLiy2xW7q8vCX0i20pfpcZ+juYWKgvevH88ZR9T3GvhKdT36cJfmjGXqR1fNvCz/Ypflco+SditOkp7NCvVsseqIl5P9KhouSknZN2T22R6/m/gfo+Fo0d8acVLnNq833ybfeRtLMrBKWlKipu91p67eFr95YiTDh8OZ80Gr1njxEbbbAAJ1EAAHh/tQwyhlKo19+FOp3uOi/6CIyM+rNc4v1Jb2lYpVco1dHWqahRvziry8HJruIzJkLU2/iersRS1PDb6ZE98T8OqUrHDWxvBd7GPq/d72Rs5lOIbdrPWfZDXcqWIT3Tg/GL/si8Y7FdGtXvPVFerKN7GaX2WvU+Ktor9NOL/wDYsWPr6VeS3RtFeF36mph9EOT1s757T8uuir63rb2tnSjipVDd0pKqvuob8JX0uq9q80cM6pqo17VIvml46gJwAAAAAAAAAAAAAAAAAAAAAAAAgM8M444Gjqadeaaow26/jl+Feew2Z0Zx08DTu7SrSX1VK+t/ilwiuJ47jsXVxVaVSpLSnLXKT2RW5JbuSPF7xWN5T4MNstoiIcSpOrNttttuVSb1u7d2+1nfaysti1JGYQUVaOz15s+ZGXkyTeXUafTxgpt7+6Kx76z/ANbiPqSJPKdP7y7H/ckvZ/m68di46Ufs9JqpWe52d4U/1NeCZ6pXunaHnPljHWbT7PW8wMlvC5Oo05K05RdWot6lUenZ80ml3HFlKehiaie9qS7HFf5LcV3O7ASlFV6avKCtNLa4bb92vubNSI2jZylrTaZmfdop4g2fSCtU8pLibv8AaK4n15Tc8Qa8NU06sIrfJeCd35JkLPHcyxZp4KT+0TWpq1JPet8/ku8CygAAAAAAAAAAAAAAAAAAAABB515xwwNK7tKtK6pU+L+KXCKO/LOU4YWhOvUfVitm+TfuxXNs8MyrlKrjK7q1Hec3qW6Ed0VySPF7RWEuHFOS20M4vF1cVVlUqTcpy1zm9kVuSW7kjfCKitGOz15sxSpqEdFd74viZbMvLkm8uq0umrhr8sSZrkz6kz4tKUowhFyqSajThHXKcnsS/wBatp5iE17REby5folXFVoYWgr1Ju3JcZSe6KWtnuWa+QaeAw0aFPW/eqVHqdSb96T9EtySI7MjNWOApuc7SxVRXrVFsitvRQ/CvN6+CVnNLDi7I3nlzGt1fjW2r6Y/IYlJJXbSS2t6kjFSoopybslrbKplbFzrSsk2t0N0VxfMnUWnKuSo6U/olKOlW6rnJro6cfvTS3XvsW2xEdBQwX1cYuviErSnUvoxfJbvN8y30qqUVr3ENlnH0ZtQTcqierQs0vzMDizbyXSqS6TE1YJ6Taw6vCO3Vdytdcl/g9Aja2q1t1tlisUaEVG7SN2GxUY+5K3JbPACxA5sJjFU1fe4cew6QAAAAAAAAAAAAAAAAAAA8p9q2WHOvHCxfUpJTmuNSa1X7ItfxMqmAp2jpb36GvLeKdfE1at/fqza7HK0fKx2JWVuGooaq/s3+l4Y3m30/lk+WzLZ8NlNszLGttJJyk2oxjFXlKTdlGK3ts9RzKzSWEXT1kpYuas7a40Yv9nDnxlv7ERvs3zfWj9OqrrSusMn92Gx1e2WtL8P5mX40dPh7Y7p5c51HWTktOOvEc/IAC0ykPlrFK6pXtZKUvkvK/gQWNylClF60S+cuQ54i1ShNRqpaLUrqM1tV2tjV3rsU3Kub06c6UKtTSm1KdSMb6CV0oJX1vZK71btQGulKriW3pSjTeyK1XJrJuSo09dtfE6MBh1FJJEjFIDViIaUHFatRUK8MTh9KpKLnRUnF1IXejqT663LXt2ai5TZF5WxOjQq009dWVKHc5PT8YqwGjI2Nq1LTirRWvSeq/YXynK6T4pMqmBodWNNfeaj3b34XLaAAAAAAAAAAAAAAAAANOMno05y4RlLwTZuObKSvQqL93P+lgfnjDrrR7USzZFYb349vyJNszNR6nT9N/xT+42fLg5dVbZNQXbJ6K82Gzdk7XXor9/Q/wDLEirHnC5kttSZ+HumGoxpwjTirRjFQiuCirJeRsANhxgAABUc4ZXxT5QjH1fzLcUzL/8AxU3+VfyoD6o1bG/piH+kWPqOLXECV6QiMvx6sJ392cX49X5nVTrXOLOCX2apyi5eGv5AWjN6kpPTve0Vor821+Vu9k6ec5pZdkqfU0ZT93RnLRW1a2egYOv0kIzta6vb5rkBuAAAAAAAAAAAAAAAAMSimmmrp6muKZkAUDLHs0pymqmEq9Fru6dROpD9Lvddjv3HJH2a13txtKPZh5z/APqiwZ4Z6UsB9XGPSYhq/R3tGCexzfy29hRJe0nG6V3KnFX9yNNW7Fe7fiQ3pjmd5hcxZ9RSu1J8ljpezP48a3+SjGHrOR24L2c0ac4VHicRJwnGol9RGLcJKST6l7XXE58je0inKyxVKpTf/MjTqOPa42uvMuuCxtOvBVKNSM4PZKDUl2cnyFaYp42MubVRH65mPw6AATKYAABTqz6SpOfGTt2bF5JFqx1XQpTlvUZNdttXmVSirRAhstQ0U2ivZKr1ZynK31cJQhKX4pqTivCD8uJOZxVLRZ2YfJP0fJEHJWqVasMRPj19UE+yGj33A+8MtR04eKlVpxaTTnBNPWmtJXTOfD7Dryar4imvxp+GsCw0c3sJCTlHDUVJ676EfJbu4lAAAAAAAAAAAAAAAAAABz5RxSo0alaWynCdRrioRcn6HQceV8L02Hq0VtqU500+DlFpPzA/PeKxE69SVSb0qlSTlJ8XJ+h2Uqahs97fLf2LgaOgdOrozTUk2mnua3G9sz88zvs6LQVr2d/uy2SGQMt1MFWVaDehddNT3VIb9XxJa0+PJsjbnxJkVZmJ3hbyRF6zW3Ev0LSqKUVKLvGSUotb01dM+yJzWvHA4ZS95UKKlfj0cST0zVhycxtOz7B86Y0g+I3OSpo4eXNxX8yK3GurE5ndL7P+uPzKjKWoDXLC/SsTTofdlLr/AJI9afkmu8uOecPscrfdlSf/AHIr0ZCZi0NLEVar+5BQXbN3flDzLLnNT0sHWXCnKX8PW+QFOoS1bTvyHrxNP9T/AJJEHQlqRNZqq+KXKMn8vmBdwAAAAAAAAAAAAAAAAD4lIBJmuUzXUq2OOvi7bgK5nrmssSnWoJLELraOpKpbdyb4nmV9qaaabUotNOLW1NbmesY3KM1siU/LmGWInpzp2qbOkh1ZPhpbpd5Dlw9/nHK7pNZOHynzhVmyUzbyLLGVlC31MWnXnuUdugvxS2cr3NuGyGr9bpJLg2kv5UmW7JcJwioQhowWyMVZc328yOmn2neyzn6jE12pC4RrJals3I+umIajGe86YplpkpHpjPTHBc11K9vRAa86KmlRjFbXNeSkVXE9Vay04ij0iu3s2bCByko6LUkr8VqAmsyoaGG0ntqTlPuXVj/TfvJrHS06VSHxQnHxi0VXI2U0qMI391OPg3byOytlXquz12aS521AVfCO8F2FizNX105cIW8ZL+x84HJPVV7bNmt/M7cDTVGo7K2krPnZ3/uBZlMzcj6da50wkB0A+Ys+gAAAAAAAAAAAwz4lA2ADmnSNM8Mmd5iwEVPAxe41SybH4V4EzomNACGWT0tyNkcLYlejMdGBHKiHSJDojDpARdSkyv5ZjXg4yhTc4q91FxT170ntLk6JrlhgKLHLko6pUa6fDoqkvRM4MY6+IdqdOcI76lSOi/0xeu/aeiywa4Hx9CXACjYPJEqcbXb3tt3bZpxWnRmpyhNwT1uKcrc7Iv8A9CXAw8EuAFPp50UUv97Fcm9F+Z9U8txrTjGlLSle/U61lze4tbyZB7YrwRupYKMdkUuxJAcuDk7ayTpHzGibowA+0ZMJGQAAAAAAAAAAAAAAAAAAAAAAAAAAAGLGQBiwsZAGLCxkAAAAAAAAAAAAAAAAAAAAAAAAAAAAAAAAAAAAAAAAAAAAAAAAAAAB/9k="/>
          <p:cNvSpPr>
            <a:spLocks noChangeAspect="1" noChangeArrowheads="1"/>
          </p:cNvSpPr>
          <p:nvPr/>
        </p:nvSpPr>
        <p:spPr bwMode="auto">
          <a:xfrm>
            <a:off x="109538" y="-144463"/>
            <a:ext cx="304800" cy="304801"/>
          </a:xfrm>
          <a:prstGeom prst="rect">
            <a:avLst/>
          </a:prstGeom>
          <a:noFill/>
          <a:ln w="9525">
            <a:noFill/>
            <a:miter lim="800000"/>
            <a:headEnd/>
            <a:tailEnd/>
          </a:ln>
        </p:spPr>
        <p:txBody>
          <a:bodyPr/>
          <a:lstStyle/>
          <a:p>
            <a:endParaRPr lang="en-CA"/>
          </a:p>
        </p:txBody>
      </p:sp>
      <p:sp>
        <p:nvSpPr>
          <p:cNvPr id="40968"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cxnSp>
        <p:nvCxnSpPr>
          <p:cNvPr id="30" name="Straight Arrow Connector 29"/>
          <p:cNvCxnSpPr/>
          <p:nvPr/>
        </p:nvCxnSpPr>
        <p:spPr>
          <a:xfrm>
            <a:off x="6948488" y="4005263"/>
            <a:ext cx="57626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23</a:t>
            </a:fld>
            <a:endParaRPr lang="en-US" altLang="en-US"/>
          </a:p>
        </p:txBody>
      </p:sp>
      <p:sp>
        <p:nvSpPr>
          <p:cNvPr id="9" name="Date Placeholder 8">
            <a:extLst>
              <a:ext uri="{FF2B5EF4-FFF2-40B4-BE49-F238E27FC236}">
                <a16:creationId xmlns:a16="http://schemas.microsoft.com/office/drawing/2014/main" id="{ECE3F186-F8D0-4CDA-B2BB-C0091923BEA2}"/>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3" name="Picture 2"/>
          <p:cNvPicPr>
            <a:picLocks noChangeAspect="1"/>
          </p:cNvPicPr>
          <p:nvPr/>
        </p:nvPicPr>
        <p:blipFill>
          <a:blip r:embed="rId3" cstate="print"/>
          <a:srcRect/>
          <a:stretch>
            <a:fillRect/>
          </a:stretch>
        </p:blipFill>
        <p:spPr bwMode="auto">
          <a:xfrm>
            <a:off x="233218" y="2282031"/>
            <a:ext cx="8655050" cy="3579813"/>
          </a:xfrm>
          <a:prstGeom prst="rect">
            <a:avLst/>
          </a:prstGeom>
          <a:solidFill>
            <a:schemeClr val="bg1"/>
          </a:solidFill>
          <a:ln w="9525">
            <a:noFill/>
            <a:miter lim="800000"/>
            <a:headEnd/>
            <a:tailEnd/>
          </a:ln>
        </p:spPr>
      </p:pic>
      <p:sp>
        <p:nvSpPr>
          <p:cNvPr id="44034" name="Rectangle 2"/>
          <p:cNvSpPr>
            <a:spLocks noGrp="1" noChangeArrowheads="1"/>
          </p:cNvSpPr>
          <p:nvPr>
            <p:ph type="title"/>
          </p:nvPr>
        </p:nvSpPr>
        <p:spPr>
          <a:xfrm>
            <a:off x="231320" y="292127"/>
            <a:ext cx="8686800" cy="838200"/>
          </a:xfrm>
        </p:spPr>
        <p:txBody>
          <a:bodyPr>
            <a:noAutofit/>
          </a:bodyPr>
          <a:lstStyle/>
          <a:p>
            <a:r>
              <a:rPr lang="en-US" sz="2800" dirty="0">
                <a:latin typeface="+mn-lt"/>
              </a:rPr>
              <a:t>Completed Network Activity Diagram</a:t>
            </a:r>
            <a:br>
              <a:rPr lang="en-US" sz="2800" dirty="0">
                <a:latin typeface="+mn-lt"/>
              </a:rPr>
            </a:br>
            <a:r>
              <a:rPr lang="en-US" sz="2800" dirty="0">
                <a:latin typeface="+mn-lt"/>
              </a:rPr>
              <a:t> with Critical Path and Slack Times Calculated</a:t>
            </a:r>
          </a:p>
        </p:txBody>
      </p:sp>
      <p:sp>
        <p:nvSpPr>
          <p:cNvPr id="44035" name="Text Box 5"/>
          <p:cNvSpPr txBox="1">
            <a:spLocks noChangeArrowheads="1"/>
          </p:cNvSpPr>
          <p:nvPr/>
        </p:nvSpPr>
        <p:spPr bwMode="auto">
          <a:xfrm>
            <a:off x="217343" y="5500381"/>
            <a:ext cx="2565400" cy="396875"/>
          </a:xfrm>
          <a:prstGeom prst="rect">
            <a:avLst/>
          </a:prstGeom>
          <a:noFill/>
          <a:ln w="9525">
            <a:noFill/>
            <a:miter lim="800000"/>
            <a:headEnd/>
            <a:tailEnd/>
          </a:ln>
        </p:spPr>
        <p:txBody>
          <a:bodyPr wrap="none">
            <a:spAutoFit/>
          </a:bodyPr>
          <a:lstStyle/>
          <a:p>
            <a:r>
              <a:rPr lang="en-US" sz="2000" b="1" dirty="0"/>
              <a:t>Critical Path in bold</a:t>
            </a:r>
          </a:p>
        </p:txBody>
      </p:sp>
      <p:sp>
        <p:nvSpPr>
          <p:cNvPr id="44036"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6" name="Left Arrow 5"/>
          <p:cNvSpPr/>
          <p:nvPr/>
        </p:nvSpPr>
        <p:spPr>
          <a:xfrm rot="10800000">
            <a:off x="5092700" y="4035425"/>
            <a:ext cx="733425" cy="282575"/>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7" name="Left Arrow 6"/>
          <p:cNvSpPr/>
          <p:nvPr/>
        </p:nvSpPr>
        <p:spPr>
          <a:xfrm rot="10800000">
            <a:off x="6948488" y="4071938"/>
            <a:ext cx="635000" cy="228600"/>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8" name="Left Arrow 7"/>
          <p:cNvSpPr/>
          <p:nvPr/>
        </p:nvSpPr>
        <p:spPr>
          <a:xfrm rot="7145126">
            <a:off x="3175000" y="4572000"/>
            <a:ext cx="1068388" cy="230188"/>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9" name="Left Arrow 8"/>
          <p:cNvSpPr/>
          <p:nvPr/>
        </p:nvSpPr>
        <p:spPr>
          <a:xfrm rot="14386840">
            <a:off x="1432719" y="4601369"/>
            <a:ext cx="1084263" cy="282575"/>
          </a:xfrm>
          <a:prstGeom prst="lef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CA"/>
          </a:p>
        </p:txBody>
      </p:sp>
      <p:sp>
        <p:nvSpPr>
          <p:cNvPr id="2" name="TextBox 1"/>
          <p:cNvSpPr txBox="1"/>
          <p:nvPr/>
        </p:nvSpPr>
        <p:spPr>
          <a:xfrm>
            <a:off x="218914" y="1371728"/>
            <a:ext cx="8608002" cy="646331"/>
          </a:xfrm>
          <a:prstGeom prst="rect">
            <a:avLst/>
          </a:prstGeom>
          <a:noFill/>
        </p:spPr>
        <p:txBody>
          <a:bodyPr wrap="square" rtlCol="0">
            <a:spAutoFit/>
          </a:bodyPr>
          <a:lstStyle/>
          <a:p>
            <a:r>
              <a:rPr lang="en-US" dirty="0"/>
              <a:t>LS – ES or LF – EF = the Float. Activities that have a zero float cannot be delayed without delaying the entire project. These tasks together form the critical path.</a:t>
            </a:r>
          </a:p>
        </p:txBody>
      </p:sp>
      <p:sp>
        <p:nvSpPr>
          <p:cNvPr id="3" name="Slide Number Placeholder 2"/>
          <p:cNvSpPr>
            <a:spLocks noGrp="1"/>
          </p:cNvSpPr>
          <p:nvPr>
            <p:ph type="sldNum" sz="quarter" idx="12"/>
          </p:nvPr>
        </p:nvSpPr>
        <p:spPr/>
        <p:txBody>
          <a:bodyPr/>
          <a:lstStyle/>
          <a:p>
            <a:pPr>
              <a:defRPr/>
            </a:pPr>
            <a:fld id="{B9783C55-CC08-4E09-BF3D-925249F2761C}" type="slidenum">
              <a:rPr lang="en-US" altLang="en-US" smtClean="0"/>
              <a:pPr>
                <a:defRPr/>
              </a:pPr>
              <a:t>24</a:t>
            </a:fld>
            <a:endParaRPr lang="en-US" altLang="en-US"/>
          </a:p>
        </p:txBody>
      </p:sp>
      <p:sp>
        <p:nvSpPr>
          <p:cNvPr id="10" name="Date Placeholder 9">
            <a:extLst>
              <a:ext uri="{FF2B5EF4-FFF2-40B4-BE49-F238E27FC236}">
                <a16:creationId xmlns:a16="http://schemas.microsoft.com/office/drawing/2014/main" id="{8FB65057-0210-4705-A883-193A82F08343}"/>
              </a:ext>
            </a:extLst>
          </p:cNvPr>
          <p:cNvSpPr>
            <a:spLocks noGrp="1"/>
          </p:cNvSpPr>
          <p:nvPr>
            <p:ph type="dt" sz="half" idx="10"/>
          </p:nvPr>
        </p:nvSpPr>
        <p:spPr/>
        <p:txBody>
          <a:bodyPr/>
          <a:lstStyle/>
          <a:p>
            <a:pPr>
              <a:defRPr/>
            </a:pPr>
            <a:r>
              <a:rPr lang="en-US"/>
              <a:t>G.R. Labbé</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2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685332" y="618519"/>
            <a:ext cx="7773338" cy="905482"/>
          </a:xfrm>
        </p:spPr>
        <p:txBody>
          <a:bodyPr>
            <a:normAutofit/>
          </a:bodyPr>
          <a:lstStyle/>
          <a:p>
            <a:r>
              <a:rPr lang="en-US" sz="2800" dirty="0">
                <a:latin typeface="+mn-lt"/>
              </a:rPr>
              <a:t>Network Activity Diagram example that Illustrates Laddering technique</a:t>
            </a:r>
          </a:p>
        </p:txBody>
      </p:sp>
      <p:sp>
        <p:nvSpPr>
          <p:cNvPr id="45060"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52" y="1752600"/>
            <a:ext cx="8233398" cy="2744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800100" y="4969213"/>
            <a:ext cx="7543800" cy="830997"/>
          </a:xfrm>
          <a:prstGeom prst="rect">
            <a:avLst/>
          </a:prstGeom>
          <a:noFill/>
        </p:spPr>
        <p:txBody>
          <a:bodyPr wrap="square" rtlCol="0">
            <a:spAutoFit/>
          </a:bodyPr>
          <a:lstStyle/>
          <a:p>
            <a:r>
              <a:rPr lang="en-US" sz="2400" dirty="0"/>
              <a:t>If Tasks A1,B1 and C1 </a:t>
            </a:r>
            <a:r>
              <a:rPr lang="en-US" sz="2400" dirty="0">
                <a:solidFill>
                  <a:srgbClr val="00B050"/>
                </a:solidFill>
              </a:rPr>
              <a:t>do not need the </a:t>
            </a:r>
            <a:r>
              <a:rPr lang="en-US" sz="2400" b="1" dirty="0">
                <a:solidFill>
                  <a:srgbClr val="00B050"/>
                </a:solidFill>
              </a:rPr>
              <a:t>same resources </a:t>
            </a:r>
            <a:r>
              <a:rPr lang="en-US" sz="2400" dirty="0"/>
              <a:t>then they could run simultaneously.</a:t>
            </a:r>
          </a:p>
        </p:txBody>
      </p:sp>
      <p:sp>
        <p:nvSpPr>
          <p:cNvPr id="3" name="Slide Number Placeholder 2"/>
          <p:cNvSpPr>
            <a:spLocks noGrp="1"/>
          </p:cNvSpPr>
          <p:nvPr>
            <p:ph type="sldNum" sz="quarter" idx="12"/>
          </p:nvPr>
        </p:nvSpPr>
        <p:spPr/>
        <p:txBody>
          <a:bodyPr/>
          <a:lstStyle/>
          <a:p>
            <a:pPr>
              <a:defRPr/>
            </a:pPr>
            <a:fld id="{B9783C55-CC08-4E09-BF3D-925249F2761C}" type="slidenum">
              <a:rPr lang="en-US" altLang="en-US" smtClean="0"/>
              <a:pPr>
                <a:defRPr/>
              </a:pPr>
              <a:t>25</a:t>
            </a:fld>
            <a:endParaRPr lang="en-US" altLang="en-US"/>
          </a:p>
        </p:txBody>
      </p:sp>
      <p:sp>
        <p:nvSpPr>
          <p:cNvPr id="6" name="Date Placeholder 5">
            <a:extLst>
              <a:ext uri="{FF2B5EF4-FFF2-40B4-BE49-F238E27FC236}">
                <a16:creationId xmlns:a16="http://schemas.microsoft.com/office/drawing/2014/main" id="{53E8D545-C263-4265-8894-A1D5A2E65280}"/>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1295400"/>
            <a:ext cx="7773338" cy="905482"/>
          </a:xfrm>
        </p:spPr>
        <p:txBody>
          <a:bodyPr>
            <a:normAutofit/>
          </a:bodyPr>
          <a:lstStyle/>
          <a:p>
            <a:r>
              <a:rPr lang="en-US" sz="2800" dirty="0">
                <a:latin typeface="+mn-lt"/>
              </a:rPr>
              <a:t>Network Activity Diagram example that Illustrates Laddering technique</a:t>
            </a: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2927" y="2352914"/>
            <a:ext cx="8368718" cy="17978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800100" y="4446952"/>
            <a:ext cx="7543800" cy="1569660"/>
          </a:xfrm>
          <a:prstGeom prst="rect">
            <a:avLst/>
          </a:prstGeom>
          <a:noFill/>
        </p:spPr>
        <p:txBody>
          <a:bodyPr wrap="square" rtlCol="0">
            <a:spAutoFit/>
          </a:bodyPr>
          <a:lstStyle/>
          <a:p>
            <a:r>
              <a:rPr lang="en-US" sz="2400" dirty="0"/>
              <a:t>If Tasks A1, B1 and C1 need the </a:t>
            </a:r>
            <a:r>
              <a:rPr lang="en-US" sz="2400" b="1" dirty="0">
                <a:solidFill>
                  <a:srgbClr val="00B050"/>
                </a:solidFill>
              </a:rPr>
              <a:t>same resources </a:t>
            </a:r>
            <a:r>
              <a:rPr lang="en-US" sz="2400" dirty="0"/>
              <a:t>then they could run in a </a:t>
            </a:r>
            <a:r>
              <a:rPr lang="en-US" sz="2400" dirty="0">
                <a:solidFill>
                  <a:srgbClr val="00B050"/>
                </a:solidFill>
              </a:rPr>
              <a:t>laddered start</a:t>
            </a:r>
            <a:r>
              <a:rPr lang="en-US" sz="2400" dirty="0"/>
              <a:t>. That way once Task A1 was completed with the resource, Task B1 could then use it and then Task C1. </a:t>
            </a:r>
          </a:p>
        </p:txBody>
      </p:sp>
      <p:sp>
        <p:nvSpPr>
          <p:cNvPr id="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3" name="Slide Number Placeholder 2"/>
          <p:cNvSpPr>
            <a:spLocks noGrp="1"/>
          </p:cNvSpPr>
          <p:nvPr>
            <p:ph type="sldNum" sz="quarter" idx="12"/>
          </p:nvPr>
        </p:nvSpPr>
        <p:spPr/>
        <p:txBody>
          <a:bodyPr/>
          <a:lstStyle/>
          <a:p>
            <a:pPr>
              <a:defRPr/>
            </a:pPr>
            <a:fld id="{B9783C55-CC08-4E09-BF3D-925249F2761C}" type="slidenum">
              <a:rPr lang="en-US" altLang="en-US" smtClean="0"/>
              <a:pPr>
                <a:defRPr/>
              </a:pPr>
              <a:t>26</a:t>
            </a:fld>
            <a:endParaRPr lang="en-US" altLang="en-US"/>
          </a:p>
        </p:txBody>
      </p:sp>
      <p:sp>
        <p:nvSpPr>
          <p:cNvPr id="9" name="Date Placeholder 8">
            <a:extLst>
              <a:ext uri="{FF2B5EF4-FFF2-40B4-BE49-F238E27FC236}">
                <a16:creationId xmlns:a16="http://schemas.microsoft.com/office/drawing/2014/main" id="{DBB9CEAB-30D4-4876-9693-FF7992B86ECE}"/>
              </a:ext>
            </a:extLst>
          </p:cNvPr>
          <p:cNvSpPr>
            <a:spLocks noGrp="1"/>
          </p:cNvSpPr>
          <p:nvPr>
            <p:ph type="dt" sz="half" idx="10"/>
          </p:nvPr>
        </p:nvSpPr>
        <p:spPr/>
        <p:txBody>
          <a:bodyPr/>
          <a:lstStyle/>
          <a:p>
            <a:pPr>
              <a:defRPr/>
            </a:pPr>
            <a:r>
              <a:rPr lang="en-US"/>
              <a:t>G.R. Labbé</a:t>
            </a:r>
          </a:p>
        </p:txBody>
      </p:sp>
    </p:spTree>
    <p:extLst>
      <p:ext uri="{BB962C8B-B14F-4D97-AF65-F5344CB8AC3E}">
        <p14:creationId xmlns:p14="http://schemas.microsoft.com/office/powerpoint/2010/main" val="2000754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107950" y="735013"/>
            <a:ext cx="8229600" cy="922337"/>
          </a:xfrm>
        </p:spPr>
        <p:txBody>
          <a:bodyPr>
            <a:normAutofit/>
          </a:bodyPr>
          <a:lstStyle/>
          <a:p>
            <a:r>
              <a:rPr lang="en-US" sz="2800" dirty="0">
                <a:latin typeface="+mn-lt"/>
              </a:rPr>
              <a:t>Network Activity Diagram example that Illustrates </a:t>
            </a:r>
            <a:r>
              <a:rPr lang="en-US" sz="2800" dirty="0">
                <a:solidFill>
                  <a:srgbClr val="7030A0"/>
                </a:solidFill>
                <a:latin typeface="+mn-lt"/>
              </a:rPr>
              <a:t>Hammocking technique</a:t>
            </a:r>
          </a:p>
        </p:txBody>
      </p:sp>
      <p:pic>
        <p:nvPicPr>
          <p:cNvPr id="46082" name="Picture 4"/>
          <p:cNvPicPr>
            <a:picLocks noChangeAspect="1" noChangeArrowheads="1"/>
          </p:cNvPicPr>
          <p:nvPr/>
        </p:nvPicPr>
        <p:blipFill>
          <a:blip r:embed="rId3" cstate="print"/>
          <a:srcRect/>
          <a:stretch>
            <a:fillRect/>
          </a:stretch>
        </p:blipFill>
        <p:spPr bwMode="auto">
          <a:xfrm>
            <a:off x="684213" y="2016125"/>
            <a:ext cx="7704137" cy="3562350"/>
          </a:xfrm>
          <a:prstGeom prst="rect">
            <a:avLst/>
          </a:prstGeom>
          <a:noFill/>
          <a:ln w="9525">
            <a:noFill/>
            <a:miter lim="800000"/>
            <a:headEnd/>
            <a:tailEnd/>
          </a:ln>
        </p:spPr>
      </p:pic>
      <p:sp>
        <p:nvSpPr>
          <p:cNvPr id="46083" name="Text Box 5"/>
          <p:cNvSpPr txBox="1">
            <a:spLocks noChangeArrowheads="1"/>
          </p:cNvSpPr>
          <p:nvPr/>
        </p:nvSpPr>
        <p:spPr bwMode="auto">
          <a:xfrm>
            <a:off x="582613" y="5562600"/>
            <a:ext cx="8166100" cy="646331"/>
          </a:xfrm>
          <a:prstGeom prst="rect">
            <a:avLst/>
          </a:prstGeom>
          <a:noFill/>
          <a:ln w="9525">
            <a:noFill/>
            <a:miter lim="800000"/>
            <a:headEnd/>
            <a:tailEnd/>
          </a:ln>
        </p:spPr>
        <p:txBody>
          <a:bodyPr>
            <a:spAutoFit/>
          </a:bodyPr>
          <a:lstStyle/>
          <a:p>
            <a:r>
              <a:rPr lang="en-US" dirty="0"/>
              <a:t>Hammocking activities can be used as </a:t>
            </a:r>
            <a:r>
              <a:rPr lang="en-US" dirty="0">
                <a:solidFill>
                  <a:srgbClr val="00B050"/>
                </a:solidFill>
              </a:rPr>
              <a:t>summaries for diagram segments </a:t>
            </a:r>
            <a:r>
              <a:rPr lang="en-US" dirty="0"/>
              <a:t>of series activities. This allows for a smaller diagram that is less confusing.</a:t>
            </a:r>
          </a:p>
        </p:txBody>
      </p:sp>
      <p:sp>
        <p:nvSpPr>
          <p:cNvPr id="46084"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27</a:t>
            </a:fld>
            <a:endParaRPr lang="en-US" altLang="en-US"/>
          </a:p>
        </p:txBody>
      </p:sp>
      <p:sp>
        <p:nvSpPr>
          <p:cNvPr id="5" name="Date Placeholder 4">
            <a:extLst>
              <a:ext uri="{FF2B5EF4-FFF2-40B4-BE49-F238E27FC236}">
                <a16:creationId xmlns:a16="http://schemas.microsoft.com/office/drawing/2014/main" id="{B60CF7C1-A89E-4253-BF83-5FB61CEB0FFA}"/>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1795462" y="579437"/>
            <a:ext cx="5408612" cy="803275"/>
          </a:xfrm>
        </p:spPr>
        <p:txBody>
          <a:bodyPr>
            <a:normAutofit/>
          </a:bodyPr>
          <a:lstStyle/>
          <a:p>
            <a:r>
              <a:rPr lang="en-US" sz="2800" dirty="0">
                <a:latin typeface="+mn-lt"/>
              </a:rPr>
              <a:t>Steps to Reduce the Critical Path</a:t>
            </a:r>
          </a:p>
        </p:txBody>
      </p:sp>
      <p:sp>
        <p:nvSpPr>
          <p:cNvPr id="47106" name="Oval 5"/>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7107" name="TextBox 1"/>
          <p:cNvSpPr txBox="1">
            <a:spLocks noChangeArrowheads="1"/>
          </p:cNvSpPr>
          <p:nvPr/>
        </p:nvSpPr>
        <p:spPr bwMode="auto">
          <a:xfrm>
            <a:off x="1295399" y="1784350"/>
            <a:ext cx="6408737" cy="4248150"/>
          </a:xfrm>
          <a:prstGeom prst="rect">
            <a:avLst/>
          </a:prstGeom>
          <a:noFill/>
          <a:ln w="9525">
            <a:noFill/>
            <a:miter lim="800000"/>
            <a:headEnd/>
            <a:tailEnd/>
          </a:ln>
        </p:spPr>
        <p:txBody>
          <a:bodyPr>
            <a:spAutoFit/>
          </a:bodyPr>
          <a:lstStyle/>
          <a:p>
            <a:pPr marL="342900" indent="-342900">
              <a:buFontTx/>
              <a:buAutoNum type="arabicPeriod"/>
            </a:pPr>
            <a:r>
              <a:rPr lang="en-US" dirty="0"/>
              <a:t>Eliminate tasks on the Critical Path</a:t>
            </a:r>
          </a:p>
          <a:p>
            <a:pPr marL="342900" indent="-342900">
              <a:buFontTx/>
              <a:buAutoNum type="arabicPeriod"/>
            </a:pPr>
            <a:endParaRPr lang="en-US" dirty="0"/>
          </a:p>
          <a:p>
            <a:pPr marL="342900" indent="-342900">
              <a:buFontTx/>
              <a:buAutoNum type="arabicPeriod"/>
            </a:pPr>
            <a:r>
              <a:rPr lang="en-US" dirty="0"/>
              <a:t>Re-plan </a:t>
            </a:r>
            <a:r>
              <a:rPr lang="en-US" dirty="0">
                <a:solidFill>
                  <a:srgbClr val="00B050"/>
                </a:solidFill>
              </a:rPr>
              <a:t>series</a:t>
            </a:r>
            <a:r>
              <a:rPr lang="en-US" dirty="0"/>
              <a:t> paths to be </a:t>
            </a:r>
            <a:r>
              <a:rPr lang="en-US" dirty="0">
                <a:solidFill>
                  <a:srgbClr val="00B050"/>
                </a:solidFill>
              </a:rPr>
              <a:t>parallel</a:t>
            </a:r>
          </a:p>
          <a:p>
            <a:pPr marL="342900" indent="-342900">
              <a:buFontTx/>
              <a:buAutoNum type="arabicPeriod"/>
            </a:pPr>
            <a:endParaRPr lang="en-US" dirty="0"/>
          </a:p>
          <a:p>
            <a:pPr marL="342900" indent="-342900">
              <a:buFontTx/>
              <a:buAutoNum type="arabicPeriod"/>
            </a:pPr>
            <a:r>
              <a:rPr lang="en-US" dirty="0"/>
              <a:t>Overlap sequential tasks</a:t>
            </a:r>
          </a:p>
          <a:p>
            <a:pPr marL="342900" indent="-342900">
              <a:buFontTx/>
              <a:buAutoNum type="arabicPeriod"/>
            </a:pPr>
            <a:endParaRPr lang="en-US" dirty="0"/>
          </a:p>
          <a:p>
            <a:pPr marL="342900" indent="-342900">
              <a:buFontTx/>
              <a:buAutoNum type="arabicPeriod"/>
            </a:pPr>
            <a:r>
              <a:rPr lang="en-US" dirty="0"/>
              <a:t>Shorten the duration on critical path activities</a:t>
            </a:r>
          </a:p>
          <a:p>
            <a:pPr marL="342900" indent="-342900">
              <a:buFontTx/>
              <a:buAutoNum type="arabicPeriod"/>
            </a:pPr>
            <a:endParaRPr lang="en-US" dirty="0"/>
          </a:p>
          <a:p>
            <a:pPr marL="800100" lvl="1" indent="-342900">
              <a:buFont typeface="+mj-lt"/>
              <a:buAutoNum type="alphaLcParenR"/>
            </a:pPr>
            <a:r>
              <a:rPr lang="en-US" dirty="0"/>
              <a:t>Shorten earlier starting tasks</a:t>
            </a:r>
          </a:p>
          <a:p>
            <a:pPr marL="800100" lvl="1" indent="-342900">
              <a:buFont typeface="+mj-lt"/>
              <a:buAutoNum type="alphaLcParenR"/>
            </a:pPr>
            <a:endParaRPr lang="en-US" dirty="0"/>
          </a:p>
          <a:p>
            <a:pPr marL="800100" lvl="1" indent="-342900">
              <a:buFont typeface="+mj-lt"/>
              <a:buAutoNum type="alphaLcParenR"/>
            </a:pPr>
            <a:r>
              <a:rPr lang="en-US" dirty="0"/>
              <a:t>Shorten longest tasks</a:t>
            </a:r>
          </a:p>
          <a:p>
            <a:pPr marL="800100" lvl="1" indent="-342900">
              <a:buFont typeface="+mj-lt"/>
              <a:buAutoNum type="alphaLcParenR"/>
            </a:pPr>
            <a:endParaRPr lang="en-US" dirty="0"/>
          </a:p>
          <a:p>
            <a:pPr marL="800100" lvl="1" indent="-342900">
              <a:buFont typeface="+mj-lt"/>
              <a:buAutoNum type="alphaLcParenR"/>
            </a:pPr>
            <a:r>
              <a:rPr lang="en-US" dirty="0"/>
              <a:t>Shorten easiest tasks</a:t>
            </a:r>
          </a:p>
          <a:p>
            <a:pPr marL="800100" lvl="1" indent="-342900">
              <a:buFont typeface="+mj-lt"/>
              <a:buAutoNum type="alphaLcParenR"/>
            </a:pPr>
            <a:endParaRPr lang="en-US" dirty="0"/>
          </a:p>
          <a:p>
            <a:pPr marL="800100" lvl="1" indent="-342900">
              <a:buFont typeface="+mj-lt"/>
              <a:buAutoNum type="alphaLcParenR"/>
            </a:pPr>
            <a:r>
              <a:rPr lang="en-US" dirty="0"/>
              <a:t>Shorten tasks that cost the least to speed up.</a:t>
            </a:r>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28</a:t>
            </a:fld>
            <a:endParaRPr lang="en-US" altLang="en-US"/>
          </a:p>
        </p:txBody>
      </p:sp>
      <p:sp>
        <p:nvSpPr>
          <p:cNvPr id="5" name="Date Placeholder 4">
            <a:extLst>
              <a:ext uri="{FF2B5EF4-FFF2-40B4-BE49-F238E27FC236}">
                <a16:creationId xmlns:a16="http://schemas.microsoft.com/office/drawing/2014/main" id="{47BA9112-E02D-410E-913A-1BC9C9FBF390}"/>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4"/>
          <p:cNvSpPr>
            <a:spLocks noGrp="1" noChangeArrowheads="1"/>
          </p:cNvSpPr>
          <p:nvPr>
            <p:ph type="title"/>
          </p:nvPr>
        </p:nvSpPr>
        <p:spPr>
          <a:xfrm>
            <a:off x="2443956" y="304800"/>
            <a:ext cx="4256087" cy="587375"/>
          </a:xfrm>
        </p:spPr>
        <p:txBody>
          <a:bodyPr>
            <a:normAutofit/>
          </a:bodyPr>
          <a:lstStyle/>
          <a:p>
            <a:r>
              <a:rPr lang="en-US" sz="2800" dirty="0">
                <a:latin typeface="+mn-lt"/>
              </a:rPr>
              <a:t>Activity Duration Estimating</a:t>
            </a:r>
          </a:p>
        </p:txBody>
      </p:sp>
      <p:sp>
        <p:nvSpPr>
          <p:cNvPr id="26627" name="Rectangle 5"/>
          <p:cNvSpPr>
            <a:spLocks noGrp="1" noChangeArrowheads="1"/>
          </p:cNvSpPr>
          <p:nvPr>
            <p:ph idx="1"/>
          </p:nvPr>
        </p:nvSpPr>
        <p:spPr>
          <a:xfrm>
            <a:off x="328611" y="1127125"/>
            <a:ext cx="8486776" cy="4648200"/>
          </a:xfrm>
        </p:spPr>
        <p:txBody>
          <a:bodyPr>
            <a:normAutofit lnSpcReduction="10000"/>
          </a:bodyPr>
          <a:lstStyle/>
          <a:p>
            <a:pPr>
              <a:lnSpc>
                <a:spcPct val="80000"/>
              </a:lnSpc>
            </a:pPr>
            <a:r>
              <a:rPr lang="en-US" sz="2000" dirty="0"/>
              <a:t>There are several methods:</a:t>
            </a:r>
          </a:p>
          <a:p>
            <a:pPr>
              <a:lnSpc>
                <a:spcPct val="80000"/>
              </a:lnSpc>
            </a:pPr>
            <a:endParaRPr lang="en-US" sz="2000" dirty="0"/>
          </a:p>
          <a:p>
            <a:pPr>
              <a:lnSpc>
                <a:spcPct val="80000"/>
              </a:lnSpc>
            </a:pPr>
            <a:r>
              <a:rPr lang="en-US" sz="2000" b="1" dirty="0">
                <a:solidFill>
                  <a:srgbClr val="7030A0"/>
                </a:solidFill>
              </a:rPr>
              <a:t>Expert judgment</a:t>
            </a:r>
            <a:r>
              <a:rPr lang="en-US" sz="2000" dirty="0">
                <a:solidFill>
                  <a:srgbClr val="7030A0"/>
                </a:solidFill>
              </a:rPr>
              <a:t> estimating:</a:t>
            </a:r>
            <a:r>
              <a:rPr lang="en-US" sz="2000" dirty="0">
                <a:solidFill>
                  <a:schemeClr val="bg1"/>
                </a:solidFill>
              </a:rPr>
              <a:t>	</a:t>
            </a:r>
            <a:r>
              <a:rPr lang="en-US" sz="2000" dirty="0"/>
              <a:t>Guided by </a:t>
            </a:r>
            <a:r>
              <a:rPr lang="en-US" sz="2000" dirty="0">
                <a:solidFill>
                  <a:srgbClr val="00B050"/>
                </a:solidFill>
              </a:rPr>
              <a:t>historical information </a:t>
            </a:r>
            <a:r>
              <a:rPr lang="en-US" sz="2000" dirty="0"/>
              <a:t>this can be 						used whenever possible.</a:t>
            </a:r>
          </a:p>
          <a:p>
            <a:pPr>
              <a:lnSpc>
                <a:spcPct val="80000"/>
              </a:lnSpc>
            </a:pPr>
            <a:r>
              <a:rPr lang="en-US" sz="2000" b="1" dirty="0">
                <a:solidFill>
                  <a:srgbClr val="7030A0"/>
                </a:solidFill>
              </a:rPr>
              <a:t>Analogous</a:t>
            </a:r>
            <a:r>
              <a:rPr lang="en-US" sz="2000" dirty="0">
                <a:solidFill>
                  <a:srgbClr val="7030A0"/>
                </a:solidFill>
              </a:rPr>
              <a:t> estimating:</a:t>
            </a:r>
            <a:r>
              <a:rPr lang="en-US" sz="2000" dirty="0">
                <a:solidFill>
                  <a:schemeClr val="bg1"/>
                </a:solidFill>
              </a:rPr>
              <a:t>		</a:t>
            </a:r>
            <a:r>
              <a:rPr lang="en-US" sz="2000" dirty="0"/>
              <a:t>A method of estimating that employs using a 						</a:t>
            </a:r>
            <a:r>
              <a:rPr lang="en-US" sz="2000" dirty="0">
                <a:solidFill>
                  <a:srgbClr val="00B050"/>
                </a:solidFill>
              </a:rPr>
              <a:t>similar activity </a:t>
            </a:r>
            <a:r>
              <a:rPr lang="en-US" sz="2000" dirty="0"/>
              <a:t>from a previous project as the 						basis for establishing the likely duration of a 						future schedule activity.</a:t>
            </a:r>
          </a:p>
          <a:p>
            <a:pPr>
              <a:lnSpc>
                <a:spcPct val="80000"/>
              </a:lnSpc>
            </a:pPr>
            <a:r>
              <a:rPr lang="en-US" sz="2000" b="1" dirty="0">
                <a:solidFill>
                  <a:srgbClr val="7030A0"/>
                </a:solidFill>
              </a:rPr>
              <a:t>Parametric</a:t>
            </a:r>
            <a:r>
              <a:rPr lang="en-US" sz="2000" dirty="0">
                <a:solidFill>
                  <a:srgbClr val="7030A0"/>
                </a:solidFill>
              </a:rPr>
              <a:t> estimating:</a:t>
            </a:r>
            <a:r>
              <a:rPr lang="en-US" sz="2000" dirty="0">
                <a:solidFill>
                  <a:schemeClr val="bg1"/>
                </a:solidFill>
              </a:rPr>
              <a:t>		</a:t>
            </a:r>
            <a:r>
              <a:rPr lang="en-US" sz="2000" dirty="0"/>
              <a:t>The quantity of work divided by the 							</a:t>
            </a:r>
            <a:r>
              <a:rPr lang="en-US" sz="2000" dirty="0">
                <a:solidFill>
                  <a:srgbClr val="00B050"/>
                </a:solidFill>
              </a:rPr>
              <a:t>productivity rate</a:t>
            </a:r>
            <a:r>
              <a:rPr lang="en-US" sz="2000" dirty="0"/>
              <a:t>.  For example, total labor 						hours divided by man hours per day, or cable 						installation in meters of cable divided by 						meters per hour.</a:t>
            </a:r>
          </a:p>
          <a:p>
            <a:pPr>
              <a:lnSpc>
                <a:spcPct val="80000"/>
              </a:lnSpc>
            </a:pPr>
            <a:r>
              <a:rPr lang="en-US" sz="2000" b="1" dirty="0">
                <a:solidFill>
                  <a:srgbClr val="7030A0"/>
                </a:solidFill>
              </a:rPr>
              <a:t>Reserve analysis </a:t>
            </a:r>
            <a:r>
              <a:rPr lang="en-US" sz="2000" dirty="0">
                <a:solidFill>
                  <a:srgbClr val="7030A0"/>
                </a:solidFill>
              </a:rPr>
              <a:t>estimating:</a:t>
            </a:r>
            <a:r>
              <a:rPr lang="en-US" sz="2000" dirty="0">
                <a:solidFill>
                  <a:schemeClr val="bg1"/>
                </a:solidFill>
              </a:rPr>
              <a:t>	</a:t>
            </a:r>
            <a:r>
              <a:rPr lang="en-US" sz="2000" dirty="0"/>
              <a:t>An output of risk analysis, it can be 							employed to add empty buffers in project 						timing to deal with risk as part of a 							contingency plan.</a:t>
            </a:r>
          </a:p>
          <a:p>
            <a:pPr>
              <a:lnSpc>
                <a:spcPct val="80000"/>
              </a:lnSpc>
            </a:pPr>
            <a:r>
              <a:rPr lang="en-US" sz="2000" b="1" dirty="0">
                <a:solidFill>
                  <a:srgbClr val="7030A0"/>
                </a:solidFill>
              </a:rPr>
              <a:t>Three point Method:</a:t>
            </a:r>
            <a:r>
              <a:rPr lang="en-US" sz="2000" b="1" dirty="0">
                <a:solidFill>
                  <a:schemeClr val="bg1"/>
                </a:solidFill>
              </a:rPr>
              <a:t>		</a:t>
            </a:r>
            <a:r>
              <a:rPr lang="en-US" sz="2000" b="1" dirty="0">
                <a:solidFill>
                  <a:srgbClr val="FF0000"/>
                </a:solidFill>
              </a:rPr>
              <a:t>PERT (Program Evaluation Review Technique)</a:t>
            </a:r>
          </a:p>
          <a:p>
            <a:pPr>
              <a:lnSpc>
                <a:spcPct val="80000"/>
              </a:lnSpc>
            </a:pPr>
            <a:endParaRPr lang="en-US" sz="1800" dirty="0"/>
          </a:p>
          <a:p>
            <a:pPr marL="0" indent="0">
              <a:lnSpc>
                <a:spcPct val="80000"/>
              </a:lnSpc>
              <a:buNone/>
            </a:pPr>
            <a:endParaRPr lang="en-US" sz="1800" dirty="0"/>
          </a:p>
        </p:txBody>
      </p:sp>
      <p:sp>
        <p:nvSpPr>
          <p:cNvPr id="48131" name="Oval 6"/>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29</a:t>
            </a:fld>
            <a:endParaRPr lang="en-US" altLang="en-US"/>
          </a:p>
        </p:txBody>
      </p:sp>
      <p:sp>
        <p:nvSpPr>
          <p:cNvPr id="5" name="Date Placeholder 4">
            <a:extLst>
              <a:ext uri="{FF2B5EF4-FFF2-40B4-BE49-F238E27FC236}">
                <a16:creationId xmlns:a16="http://schemas.microsoft.com/office/drawing/2014/main" id="{354D9881-5696-482E-8949-6A25A16A6115}"/>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1180017" y="770227"/>
            <a:ext cx="6780212" cy="576263"/>
          </a:xfrm>
        </p:spPr>
        <p:txBody>
          <a:bodyPr>
            <a:noAutofit/>
          </a:bodyPr>
          <a:lstStyle/>
          <a:p>
            <a:r>
              <a:rPr lang="en-US" sz="2800" dirty="0">
                <a:latin typeface="+mn-lt"/>
              </a:rPr>
              <a:t>Activity Duration Estimate – </a:t>
            </a:r>
            <a:r>
              <a:rPr lang="en-US" sz="2800" b="1" dirty="0">
                <a:solidFill>
                  <a:srgbClr val="FF0000"/>
                </a:solidFill>
                <a:latin typeface="+mn-lt"/>
              </a:rPr>
              <a:t>PERT Estimate</a:t>
            </a:r>
          </a:p>
        </p:txBody>
      </p:sp>
      <p:pic>
        <p:nvPicPr>
          <p:cNvPr id="49154" name="Picture 3"/>
          <p:cNvPicPr>
            <a:picLocks noChangeAspect="1" noChangeArrowheads="1"/>
          </p:cNvPicPr>
          <p:nvPr/>
        </p:nvPicPr>
        <p:blipFill>
          <a:blip r:embed="rId3" cstate="print"/>
          <a:srcRect/>
          <a:stretch>
            <a:fillRect/>
          </a:stretch>
        </p:blipFill>
        <p:spPr bwMode="auto">
          <a:xfrm>
            <a:off x="1407823" y="1558060"/>
            <a:ext cx="6324600" cy="4614862"/>
          </a:xfrm>
          <a:prstGeom prst="rect">
            <a:avLst/>
          </a:prstGeom>
          <a:noFill/>
          <a:ln w="9525">
            <a:noFill/>
            <a:miter lim="800000"/>
            <a:headEnd/>
            <a:tailEnd/>
          </a:ln>
        </p:spPr>
      </p:pic>
      <p:sp>
        <p:nvSpPr>
          <p:cNvPr id="49155"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2" name="Slide Number Placeholder 1"/>
          <p:cNvSpPr>
            <a:spLocks noGrp="1"/>
          </p:cNvSpPr>
          <p:nvPr>
            <p:ph type="sldNum" sz="quarter" idx="12"/>
          </p:nvPr>
        </p:nvSpPr>
        <p:spPr/>
        <p:txBody>
          <a:bodyPr/>
          <a:lstStyle/>
          <a:p>
            <a:pPr>
              <a:defRPr/>
            </a:pPr>
            <a:fld id="{B9783C55-CC08-4E09-BF3D-925249F2761C}" type="slidenum">
              <a:rPr lang="en-US" altLang="en-US" smtClean="0"/>
              <a:pPr>
                <a:defRPr/>
              </a:pPr>
              <a:t>30</a:t>
            </a:fld>
            <a:endParaRPr lang="en-US" altLang="en-US"/>
          </a:p>
        </p:txBody>
      </p:sp>
      <p:sp>
        <p:nvSpPr>
          <p:cNvPr id="5" name="Date Placeholder 4">
            <a:extLst>
              <a:ext uri="{FF2B5EF4-FFF2-40B4-BE49-F238E27FC236}">
                <a16:creationId xmlns:a16="http://schemas.microsoft.com/office/drawing/2014/main" id="{76D1A713-D6CE-49F7-8820-937890657847}"/>
              </a:ext>
            </a:extLst>
          </p:cNvPr>
          <p:cNvSpPr>
            <a:spLocks noGrp="1"/>
          </p:cNvSpPr>
          <p:nvPr>
            <p:ph type="dt" sz="half" idx="10"/>
          </p:nvPr>
        </p:nvSpPr>
        <p:spPr/>
        <p:txBody>
          <a:bodyPr/>
          <a:lstStyle/>
          <a:p>
            <a:pPr>
              <a:defRPr/>
            </a:pPr>
            <a:r>
              <a:rPr lang="en-US"/>
              <a:t>G.R. Labbé</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618519"/>
            <a:ext cx="2362668" cy="600682"/>
          </a:xfrm>
        </p:spPr>
        <p:txBody>
          <a:bodyPr>
            <a:normAutofit/>
          </a:bodyPr>
          <a:lstStyle/>
          <a:p>
            <a:r>
              <a:rPr lang="en-US" sz="2800" dirty="0">
                <a:latin typeface="+mn-lt"/>
              </a:rPr>
              <a:t>Pert Example</a:t>
            </a:r>
          </a:p>
        </p:txBody>
      </p:sp>
      <p:sp>
        <p:nvSpPr>
          <p:cNvPr id="3" name="Content Placeholder 2"/>
          <p:cNvSpPr>
            <a:spLocks noGrp="1"/>
          </p:cNvSpPr>
          <p:nvPr>
            <p:ph idx="1"/>
          </p:nvPr>
        </p:nvSpPr>
        <p:spPr/>
        <p:txBody>
          <a:bodyPr/>
          <a:lstStyle/>
          <a:p>
            <a:r>
              <a:rPr lang="en-US" dirty="0"/>
              <a:t>Calculate the estimated time to complete each of the following tasks.</a:t>
            </a:r>
          </a:p>
          <a:p>
            <a:endParaRPr lang="en-US" dirty="0"/>
          </a:p>
        </p:txBody>
      </p:sp>
      <p:graphicFrame>
        <p:nvGraphicFramePr>
          <p:cNvPr id="5" name="Object 4"/>
          <p:cNvGraphicFramePr>
            <a:graphicFrameLocks noChangeAspect="1"/>
          </p:cNvGraphicFramePr>
          <p:nvPr/>
        </p:nvGraphicFramePr>
        <p:xfrm>
          <a:off x="1295400" y="3352800"/>
          <a:ext cx="6601810" cy="1905000"/>
        </p:xfrm>
        <a:graphic>
          <a:graphicData uri="http://schemas.openxmlformats.org/presentationml/2006/ole">
            <mc:AlternateContent xmlns:mc="http://schemas.openxmlformats.org/markup-compatibility/2006">
              <mc:Choice xmlns:v="urn:schemas-microsoft-com:vml" Requires="v">
                <p:oleObj name="Worksheet" r:id="rId2" imgW="3829151" imgH="1104778" progId="Excel.Sheet.12">
                  <p:embed/>
                </p:oleObj>
              </mc:Choice>
              <mc:Fallback>
                <p:oleObj name="Worksheet" r:id="rId2" imgW="3829151" imgH="1104778" progId="Excel.Sheet.12">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352800"/>
                        <a:ext cx="6601810" cy="1905000"/>
                      </a:xfrm>
                      <a:prstGeom prst="rect">
                        <a:avLst/>
                      </a:prstGeom>
                      <a:solidFill>
                        <a:schemeClr val="bg1"/>
                      </a:solidFill>
                    </p:spPr>
                  </p:pic>
                </p:oleObj>
              </mc:Fallback>
            </mc:AlternateContent>
          </a:graphicData>
        </a:graphic>
      </p:graphicFrame>
      <p:sp>
        <p:nvSpPr>
          <p:cNvPr id="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11" name="Slide Number Placeholder 10"/>
          <p:cNvSpPr>
            <a:spLocks noGrp="1"/>
          </p:cNvSpPr>
          <p:nvPr>
            <p:ph type="sldNum" sz="quarter" idx="12"/>
          </p:nvPr>
        </p:nvSpPr>
        <p:spPr/>
        <p:txBody>
          <a:bodyPr/>
          <a:lstStyle/>
          <a:p>
            <a:pPr>
              <a:defRPr/>
            </a:pPr>
            <a:fld id="{B9783C55-CC08-4E09-BF3D-925249F2761C}" type="slidenum">
              <a:rPr lang="en-US" altLang="en-US" smtClean="0"/>
              <a:pPr>
                <a:defRPr/>
              </a:pPr>
              <a:t>31</a:t>
            </a:fld>
            <a:endParaRPr lang="en-US" altLang="en-US"/>
          </a:p>
        </p:txBody>
      </p:sp>
      <p:sp>
        <p:nvSpPr>
          <p:cNvPr id="14" name="Date Placeholder 13">
            <a:extLst>
              <a:ext uri="{FF2B5EF4-FFF2-40B4-BE49-F238E27FC236}">
                <a16:creationId xmlns:a16="http://schemas.microsoft.com/office/drawing/2014/main" id="{0C21DE84-CE05-4D96-B929-024DCFFC57F5}"/>
              </a:ext>
            </a:extLst>
          </p:cNvPr>
          <p:cNvSpPr>
            <a:spLocks noGrp="1"/>
          </p:cNvSpPr>
          <p:nvPr>
            <p:ph type="dt" sz="half" idx="10"/>
          </p:nvPr>
        </p:nvSpPr>
        <p:spPr/>
        <p:txBody>
          <a:bodyPr/>
          <a:lstStyle/>
          <a:p>
            <a:pPr>
              <a:defRPr/>
            </a:pPr>
            <a:r>
              <a:rPr lang="en-US" dirty="0"/>
              <a:t>Lecture 6</a:t>
            </a:r>
          </a:p>
        </p:txBody>
      </p:sp>
      <p:sp>
        <p:nvSpPr>
          <p:cNvPr id="12" name="Footer Placeholder 11">
            <a:extLst>
              <a:ext uri="{FF2B5EF4-FFF2-40B4-BE49-F238E27FC236}">
                <a16:creationId xmlns:a16="http://schemas.microsoft.com/office/drawing/2014/main" id="{B6E51DAF-92FC-49D6-80F0-3147C2737C2C}"/>
              </a:ext>
            </a:extLst>
          </p:cNvPr>
          <p:cNvSpPr>
            <a:spLocks noGrp="1"/>
          </p:cNvSpPr>
          <p:nvPr>
            <p:ph type="ftr" sz="quarter" idx="11"/>
          </p:nvPr>
        </p:nvSpPr>
        <p:spPr/>
        <p:txBody>
          <a:bodyPr/>
          <a:lstStyle/>
          <a:p>
            <a:pPr>
              <a:defRPr/>
            </a:pPr>
            <a:r>
              <a:rPr lang="en-US"/>
              <a:t>G.R. Labbé                                          </a:t>
            </a:r>
          </a:p>
        </p:txBody>
      </p:sp>
    </p:spTree>
    <p:extLst>
      <p:ext uri="{BB962C8B-B14F-4D97-AF65-F5344CB8AC3E}">
        <p14:creationId xmlns:p14="http://schemas.microsoft.com/office/powerpoint/2010/main" val="16329371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332" y="618519"/>
            <a:ext cx="2362668" cy="600682"/>
          </a:xfrm>
        </p:spPr>
        <p:txBody>
          <a:bodyPr>
            <a:normAutofit/>
          </a:bodyPr>
          <a:lstStyle/>
          <a:p>
            <a:r>
              <a:rPr lang="en-US" sz="2800" dirty="0">
                <a:latin typeface="+mn-lt"/>
              </a:rPr>
              <a:t>Pert Example</a:t>
            </a:r>
          </a:p>
        </p:txBody>
      </p:sp>
      <p:sp>
        <p:nvSpPr>
          <p:cNvPr id="3" name="Content Placeholder 2"/>
          <p:cNvSpPr>
            <a:spLocks noGrp="1"/>
          </p:cNvSpPr>
          <p:nvPr>
            <p:ph idx="1"/>
          </p:nvPr>
        </p:nvSpPr>
        <p:spPr/>
        <p:txBody>
          <a:bodyPr/>
          <a:lstStyle/>
          <a:p>
            <a:r>
              <a:rPr lang="en-US" dirty="0"/>
              <a:t>Calculate the estimated time to complete each of the following tasks.</a:t>
            </a:r>
          </a:p>
          <a:p>
            <a:endParaRPr lang="en-US" dirty="0"/>
          </a:p>
        </p:txBody>
      </p:sp>
      <p:graphicFrame>
        <p:nvGraphicFramePr>
          <p:cNvPr id="5" name="Object 4"/>
          <p:cNvGraphicFramePr>
            <a:graphicFrameLocks noChangeAspect="1"/>
          </p:cNvGraphicFramePr>
          <p:nvPr/>
        </p:nvGraphicFramePr>
        <p:xfrm>
          <a:off x="1295400" y="3352800"/>
          <a:ext cx="6601810" cy="1905000"/>
        </p:xfrm>
        <a:graphic>
          <a:graphicData uri="http://schemas.openxmlformats.org/presentationml/2006/ole">
            <mc:AlternateContent xmlns:mc="http://schemas.openxmlformats.org/markup-compatibility/2006">
              <mc:Choice xmlns:v="urn:schemas-microsoft-com:vml" Requires="v">
                <p:oleObj name="Worksheet" r:id="rId2" imgW="3829151" imgH="1104778" progId="Excel.Sheet.12">
                  <p:embed/>
                </p:oleObj>
              </mc:Choice>
              <mc:Fallback>
                <p:oleObj name="Worksheet" r:id="rId2" imgW="3829151" imgH="1104778" progId="Excel.Sheet.12">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3352800"/>
                        <a:ext cx="6601810" cy="1905000"/>
                      </a:xfrm>
                      <a:prstGeom prst="rect">
                        <a:avLst/>
                      </a:prstGeom>
                      <a:solidFill>
                        <a:schemeClr val="bg1"/>
                      </a:solidFill>
                    </p:spPr>
                  </p:pic>
                </p:oleObj>
              </mc:Fallback>
            </mc:AlternateContent>
          </a:graphicData>
        </a:graphic>
      </p:graphicFrame>
      <p:sp>
        <p:nvSpPr>
          <p:cNvPr id="6" name="Oval 4"/>
          <p:cNvSpPr>
            <a:spLocks noChangeArrowheads="1"/>
          </p:cNvSpPr>
          <p:nvPr/>
        </p:nvSpPr>
        <p:spPr bwMode="auto">
          <a:xfrm>
            <a:off x="96838" y="6183313"/>
            <a:ext cx="485775" cy="525462"/>
          </a:xfrm>
          <a:prstGeom prst="ellipse">
            <a:avLst/>
          </a:prstGeom>
          <a:solidFill>
            <a:srgbClr val="FF0000"/>
          </a:solidFill>
          <a:ln w="9525">
            <a:solidFill>
              <a:schemeClr val="tx1"/>
            </a:solidFill>
            <a:round/>
            <a:headEnd/>
            <a:tailEnd/>
          </a:ln>
        </p:spPr>
        <p:txBody>
          <a:bodyPr wrap="none" anchor="ctr"/>
          <a:lstStyle/>
          <a:p>
            <a:endParaRPr lang="en-US"/>
          </a:p>
        </p:txBody>
      </p:sp>
      <p:sp>
        <p:nvSpPr>
          <p:cNvPr id="4" name="TextBox 3"/>
          <p:cNvSpPr txBox="1"/>
          <p:nvPr/>
        </p:nvSpPr>
        <p:spPr>
          <a:xfrm>
            <a:off x="6467475" y="4912361"/>
            <a:ext cx="781049" cy="338554"/>
          </a:xfrm>
          <a:prstGeom prst="rect">
            <a:avLst/>
          </a:prstGeom>
          <a:noFill/>
        </p:spPr>
        <p:txBody>
          <a:bodyPr wrap="square" rtlCol="0">
            <a:spAutoFit/>
          </a:bodyPr>
          <a:lstStyle/>
          <a:p>
            <a:pPr algn="ctr"/>
            <a:r>
              <a:rPr lang="en-US" sz="1600" dirty="0"/>
              <a:t>26.33</a:t>
            </a:r>
          </a:p>
        </p:txBody>
      </p:sp>
      <p:sp>
        <p:nvSpPr>
          <p:cNvPr id="7" name="TextBox 6"/>
          <p:cNvSpPr txBox="1"/>
          <p:nvPr/>
        </p:nvSpPr>
        <p:spPr>
          <a:xfrm>
            <a:off x="6381749" y="4591921"/>
            <a:ext cx="933450" cy="338554"/>
          </a:xfrm>
          <a:prstGeom prst="rect">
            <a:avLst/>
          </a:prstGeom>
          <a:noFill/>
        </p:spPr>
        <p:txBody>
          <a:bodyPr wrap="square" rtlCol="0">
            <a:spAutoFit/>
          </a:bodyPr>
          <a:lstStyle/>
          <a:p>
            <a:pPr algn="ctr"/>
            <a:r>
              <a:rPr lang="en-US" sz="1600" dirty="0"/>
              <a:t>12.83</a:t>
            </a:r>
          </a:p>
        </p:txBody>
      </p:sp>
      <p:sp>
        <p:nvSpPr>
          <p:cNvPr id="8" name="TextBox 7"/>
          <p:cNvSpPr txBox="1"/>
          <p:nvPr/>
        </p:nvSpPr>
        <p:spPr>
          <a:xfrm>
            <a:off x="6457950" y="4307142"/>
            <a:ext cx="781049" cy="338554"/>
          </a:xfrm>
          <a:prstGeom prst="rect">
            <a:avLst/>
          </a:prstGeom>
          <a:noFill/>
        </p:spPr>
        <p:txBody>
          <a:bodyPr wrap="square" rtlCol="0">
            <a:spAutoFit/>
          </a:bodyPr>
          <a:lstStyle/>
          <a:p>
            <a:pPr algn="ctr"/>
            <a:r>
              <a:rPr lang="en-US" sz="1600" dirty="0"/>
              <a:t>19</a:t>
            </a:r>
          </a:p>
        </p:txBody>
      </p:sp>
      <p:sp>
        <p:nvSpPr>
          <p:cNvPr id="9" name="TextBox 8"/>
          <p:cNvSpPr txBox="1"/>
          <p:nvPr/>
        </p:nvSpPr>
        <p:spPr>
          <a:xfrm>
            <a:off x="6467475" y="3987835"/>
            <a:ext cx="781050" cy="338554"/>
          </a:xfrm>
          <a:prstGeom prst="rect">
            <a:avLst/>
          </a:prstGeom>
          <a:noFill/>
        </p:spPr>
        <p:txBody>
          <a:bodyPr wrap="square" rtlCol="0">
            <a:spAutoFit/>
          </a:bodyPr>
          <a:lstStyle/>
          <a:p>
            <a:pPr algn="ctr"/>
            <a:r>
              <a:rPr lang="en-US" sz="1600" dirty="0"/>
              <a:t>10</a:t>
            </a:r>
          </a:p>
        </p:txBody>
      </p:sp>
      <p:sp>
        <p:nvSpPr>
          <p:cNvPr id="10" name="TextBox 9"/>
          <p:cNvSpPr txBox="1"/>
          <p:nvPr/>
        </p:nvSpPr>
        <p:spPr>
          <a:xfrm>
            <a:off x="6324600" y="3668528"/>
            <a:ext cx="1066800" cy="338554"/>
          </a:xfrm>
          <a:prstGeom prst="rect">
            <a:avLst/>
          </a:prstGeom>
          <a:noFill/>
        </p:spPr>
        <p:txBody>
          <a:bodyPr wrap="square" rtlCol="0">
            <a:spAutoFit/>
          </a:bodyPr>
          <a:lstStyle/>
          <a:p>
            <a:pPr algn="ctr"/>
            <a:r>
              <a:rPr lang="en-US" sz="1600" dirty="0"/>
              <a:t>14.83</a:t>
            </a:r>
          </a:p>
        </p:txBody>
      </p:sp>
      <p:sp>
        <p:nvSpPr>
          <p:cNvPr id="11" name="Slide Number Placeholder 10"/>
          <p:cNvSpPr>
            <a:spLocks noGrp="1"/>
          </p:cNvSpPr>
          <p:nvPr>
            <p:ph type="sldNum" sz="quarter" idx="12"/>
          </p:nvPr>
        </p:nvSpPr>
        <p:spPr/>
        <p:txBody>
          <a:bodyPr/>
          <a:lstStyle/>
          <a:p>
            <a:pPr>
              <a:defRPr/>
            </a:pPr>
            <a:fld id="{B9783C55-CC08-4E09-BF3D-925249F2761C}" type="slidenum">
              <a:rPr lang="en-US" altLang="en-US" smtClean="0"/>
              <a:pPr>
                <a:defRPr/>
              </a:pPr>
              <a:t>32</a:t>
            </a:fld>
            <a:endParaRPr lang="en-US" altLang="en-US"/>
          </a:p>
        </p:txBody>
      </p:sp>
      <p:sp>
        <p:nvSpPr>
          <p:cNvPr id="14" name="Date Placeholder 13">
            <a:extLst>
              <a:ext uri="{FF2B5EF4-FFF2-40B4-BE49-F238E27FC236}">
                <a16:creationId xmlns:a16="http://schemas.microsoft.com/office/drawing/2014/main" id="{0C21DE84-CE05-4D96-B929-024DCFFC57F5}"/>
              </a:ext>
            </a:extLst>
          </p:cNvPr>
          <p:cNvSpPr>
            <a:spLocks noGrp="1"/>
          </p:cNvSpPr>
          <p:nvPr>
            <p:ph type="dt" sz="half" idx="10"/>
          </p:nvPr>
        </p:nvSpPr>
        <p:spPr/>
        <p:txBody>
          <a:bodyPr/>
          <a:lstStyle/>
          <a:p>
            <a:pPr>
              <a:defRPr/>
            </a:pPr>
            <a:r>
              <a:rPr lang="en-US" dirty="0"/>
              <a:t>Lecture 6</a:t>
            </a:r>
          </a:p>
        </p:txBody>
      </p:sp>
      <p:sp>
        <p:nvSpPr>
          <p:cNvPr id="12" name="Footer Placeholder 11">
            <a:extLst>
              <a:ext uri="{FF2B5EF4-FFF2-40B4-BE49-F238E27FC236}">
                <a16:creationId xmlns:a16="http://schemas.microsoft.com/office/drawing/2014/main" id="{B6E51DAF-92FC-49D6-80F0-3147C2737C2C}"/>
              </a:ext>
            </a:extLst>
          </p:cNvPr>
          <p:cNvSpPr>
            <a:spLocks noGrp="1"/>
          </p:cNvSpPr>
          <p:nvPr>
            <p:ph type="ftr" sz="quarter" idx="11"/>
          </p:nvPr>
        </p:nvSpPr>
        <p:spPr/>
        <p:txBody>
          <a:bodyPr/>
          <a:lstStyle/>
          <a:p>
            <a:pPr>
              <a:defRPr/>
            </a:pPr>
            <a:r>
              <a:rPr lang="en-US"/>
              <a:t>G.R. Labbé                                          </a:t>
            </a:r>
          </a:p>
        </p:txBody>
      </p:sp>
    </p:spTree>
    <p:extLst>
      <p:ext uri="{BB962C8B-B14F-4D97-AF65-F5344CB8AC3E}">
        <p14:creationId xmlns:p14="http://schemas.microsoft.com/office/powerpoint/2010/main" val="2593956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401C-35AB-1D8D-F191-81450B7A8BAD}"/>
              </a:ext>
            </a:extLst>
          </p:cNvPr>
          <p:cNvSpPr>
            <a:spLocks noGrp="1"/>
          </p:cNvSpPr>
          <p:nvPr>
            <p:ph type="title"/>
          </p:nvPr>
        </p:nvSpPr>
        <p:spPr/>
        <p:txBody>
          <a:bodyPr/>
          <a:lstStyle/>
          <a:p>
            <a:r>
              <a:rPr lang="en-US" dirty="0"/>
              <a:t>AON Example 1</a:t>
            </a:r>
            <a:endParaRPr lang="en-CA" dirty="0"/>
          </a:p>
        </p:txBody>
      </p:sp>
      <p:graphicFrame>
        <p:nvGraphicFramePr>
          <p:cNvPr id="7" name="Content Placeholder 6">
            <a:extLst>
              <a:ext uri="{FF2B5EF4-FFF2-40B4-BE49-F238E27FC236}">
                <a16:creationId xmlns:a16="http://schemas.microsoft.com/office/drawing/2014/main" id="{B2887D22-FB48-0202-7479-B8270EF60C8C}"/>
              </a:ext>
            </a:extLst>
          </p:cNvPr>
          <p:cNvGraphicFramePr>
            <a:graphicFrameLocks noGrp="1"/>
          </p:cNvGraphicFramePr>
          <p:nvPr>
            <p:ph idx="1"/>
          </p:nvPr>
        </p:nvGraphicFramePr>
        <p:xfrm>
          <a:off x="2124075" y="1447800"/>
          <a:ext cx="4895850" cy="4505516"/>
        </p:xfrm>
        <a:graphic>
          <a:graphicData uri="http://schemas.openxmlformats.org/drawingml/2006/table">
            <a:tbl>
              <a:tblPr firstRow="1" firstCol="1" bandRow="1">
                <a:tableStyleId>{5C22544A-7EE6-4342-B048-85BDC9FD1C3A}</a:tableStyleId>
              </a:tblPr>
              <a:tblGrid>
                <a:gridCol w="1351918">
                  <a:extLst>
                    <a:ext uri="{9D8B030D-6E8A-4147-A177-3AD203B41FA5}">
                      <a16:colId xmlns:a16="http://schemas.microsoft.com/office/drawing/2014/main" val="3255726250"/>
                    </a:ext>
                  </a:extLst>
                </a:gridCol>
                <a:gridCol w="1933053">
                  <a:extLst>
                    <a:ext uri="{9D8B030D-6E8A-4147-A177-3AD203B41FA5}">
                      <a16:colId xmlns:a16="http://schemas.microsoft.com/office/drawing/2014/main" val="2108695012"/>
                    </a:ext>
                  </a:extLst>
                </a:gridCol>
                <a:gridCol w="1610879">
                  <a:extLst>
                    <a:ext uri="{9D8B030D-6E8A-4147-A177-3AD203B41FA5}">
                      <a16:colId xmlns:a16="http://schemas.microsoft.com/office/drawing/2014/main" val="940495095"/>
                    </a:ext>
                  </a:extLst>
                </a:gridCol>
              </a:tblGrid>
              <a:tr h="0">
                <a:tc>
                  <a:txBody>
                    <a:bodyPr/>
                    <a:lstStyle/>
                    <a:p>
                      <a:pPr>
                        <a:lnSpc>
                          <a:spcPct val="107000"/>
                        </a:lnSpc>
                        <a:spcAft>
                          <a:spcPts val="800"/>
                        </a:spcAft>
                      </a:pPr>
                      <a:r>
                        <a:rPr lang="en-CA" sz="2400" dirty="0">
                          <a:effectLst/>
                        </a:rPr>
                        <a:t>Activity</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Predecessors</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Duration (days)</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2530823"/>
                  </a:ext>
                </a:extLst>
              </a:tr>
              <a:tr h="0">
                <a:tc>
                  <a:txBody>
                    <a:bodyPr/>
                    <a:lstStyle/>
                    <a:p>
                      <a:pPr>
                        <a:lnSpc>
                          <a:spcPct val="107000"/>
                        </a:lnSpc>
                        <a:spcAft>
                          <a:spcPts val="800"/>
                        </a:spcAft>
                      </a:pPr>
                      <a:r>
                        <a:rPr lang="en-CA" sz="2400">
                          <a:effectLst/>
                        </a:rPr>
                        <a:t>A</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None</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5</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33412607"/>
                  </a:ext>
                </a:extLst>
              </a:tr>
              <a:tr h="0">
                <a:tc>
                  <a:txBody>
                    <a:bodyPr/>
                    <a:lstStyle/>
                    <a:p>
                      <a:pPr>
                        <a:lnSpc>
                          <a:spcPct val="107000"/>
                        </a:lnSpc>
                        <a:spcAft>
                          <a:spcPts val="800"/>
                        </a:spcAft>
                      </a:pPr>
                      <a:r>
                        <a:rPr lang="en-CA" sz="2400">
                          <a:effectLst/>
                        </a:rPr>
                        <a:t>B</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A</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8</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0303297"/>
                  </a:ext>
                </a:extLst>
              </a:tr>
              <a:tr h="0">
                <a:tc>
                  <a:txBody>
                    <a:bodyPr/>
                    <a:lstStyle/>
                    <a:p>
                      <a:pPr>
                        <a:lnSpc>
                          <a:spcPct val="107000"/>
                        </a:lnSpc>
                        <a:spcAft>
                          <a:spcPts val="800"/>
                        </a:spcAft>
                      </a:pPr>
                      <a:r>
                        <a:rPr lang="en-CA" sz="2400">
                          <a:effectLst/>
                        </a:rPr>
                        <a:t>C</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B</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3</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8421904"/>
                  </a:ext>
                </a:extLst>
              </a:tr>
              <a:tr h="0">
                <a:tc>
                  <a:txBody>
                    <a:bodyPr/>
                    <a:lstStyle/>
                    <a:p>
                      <a:pPr>
                        <a:lnSpc>
                          <a:spcPct val="107000"/>
                        </a:lnSpc>
                        <a:spcAft>
                          <a:spcPts val="800"/>
                        </a:spcAft>
                      </a:pPr>
                      <a:r>
                        <a:rPr lang="en-CA" sz="2400">
                          <a:effectLst/>
                        </a:rPr>
                        <a:t>D</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A</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4</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75828212"/>
                  </a:ext>
                </a:extLst>
              </a:tr>
              <a:tr h="0">
                <a:tc>
                  <a:txBody>
                    <a:bodyPr/>
                    <a:lstStyle/>
                    <a:p>
                      <a:pPr>
                        <a:lnSpc>
                          <a:spcPct val="107000"/>
                        </a:lnSpc>
                        <a:spcAft>
                          <a:spcPts val="800"/>
                        </a:spcAft>
                      </a:pPr>
                      <a:r>
                        <a:rPr lang="en-CA" sz="2400">
                          <a:effectLst/>
                        </a:rPr>
                        <a:t>E</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C</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5</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33086155"/>
                  </a:ext>
                </a:extLst>
              </a:tr>
              <a:tr h="0">
                <a:tc>
                  <a:txBody>
                    <a:bodyPr/>
                    <a:lstStyle/>
                    <a:p>
                      <a:pPr>
                        <a:lnSpc>
                          <a:spcPct val="107000"/>
                        </a:lnSpc>
                        <a:spcAft>
                          <a:spcPts val="800"/>
                        </a:spcAft>
                      </a:pPr>
                      <a:r>
                        <a:rPr lang="en-CA" sz="2400">
                          <a:effectLst/>
                        </a:rPr>
                        <a:t>F</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C</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7</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9734976"/>
                  </a:ext>
                </a:extLst>
              </a:tr>
              <a:tr h="0">
                <a:tc>
                  <a:txBody>
                    <a:bodyPr/>
                    <a:lstStyle/>
                    <a:p>
                      <a:pPr>
                        <a:lnSpc>
                          <a:spcPct val="107000"/>
                        </a:lnSpc>
                        <a:spcAft>
                          <a:spcPts val="800"/>
                        </a:spcAft>
                      </a:pPr>
                      <a:r>
                        <a:rPr lang="en-CA" sz="2400">
                          <a:effectLst/>
                        </a:rPr>
                        <a:t>G</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D, E</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6</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8889404"/>
                  </a:ext>
                </a:extLst>
              </a:tr>
              <a:tr h="0">
                <a:tc>
                  <a:txBody>
                    <a:bodyPr/>
                    <a:lstStyle/>
                    <a:p>
                      <a:pPr>
                        <a:lnSpc>
                          <a:spcPct val="107000"/>
                        </a:lnSpc>
                        <a:spcAft>
                          <a:spcPts val="800"/>
                        </a:spcAft>
                      </a:pPr>
                      <a:r>
                        <a:rPr lang="en-CA" sz="2400">
                          <a:effectLst/>
                        </a:rPr>
                        <a:t>H</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F</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8</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0823842"/>
                  </a:ext>
                </a:extLst>
              </a:tr>
              <a:tr h="0">
                <a:tc>
                  <a:txBody>
                    <a:bodyPr/>
                    <a:lstStyle/>
                    <a:p>
                      <a:pPr>
                        <a:lnSpc>
                          <a:spcPct val="107000"/>
                        </a:lnSpc>
                        <a:spcAft>
                          <a:spcPts val="800"/>
                        </a:spcAft>
                      </a:pPr>
                      <a:r>
                        <a:rPr lang="en-CA" sz="2400">
                          <a:effectLst/>
                        </a:rPr>
                        <a:t>I</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G</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6</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55803145"/>
                  </a:ext>
                </a:extLst>
              </a:tr>
              <a:tr h="0">
                <a:tc>
                  <a:txBody>
                    <a:bodyPr/>
                    <a:lstStyle/>
                    <a:p>
                      <a:pPr>
                        <a:lnSpc>
                          <a:spcPct val="107000"/>
                        </a:lnSpc>
                        <a:spcAft>
                          <a:spcPts val="800"/>
                        </a:spcAft>
                      </a:pPr>
                      <a:r>
                        <a:rPr lang="en-CA" sz="2400">
                          <a:effectLst/>
                        </a:rPr>
                        <a:t>J</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a:effectLst/>
                        </a:rPr>
                        <a:t>H, I</a:t>
                      </a:r>
                      <a:endParaRPr lang="en-CA"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CA" sz="2400" dirty="0">
                          <a:effectLst/>
                        </a:rPr>
                        <a:t>5</a:t>
                      </a:r>
                      <a:endParaRPr lang="en-CA"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59370076"/>
                  </a:ext>
                </a:extLst>
              </a:tr>
            </a:tbl>
          </a:graphicData>
        </a:graphic>
      </p:graphicFrame>
      <p:sp>
        <p:nvSpPr>
          <p:cNvPr id="4" name="Date Placeholder 3">
            <a:extLst>
              <a:ext uri="{FF2B5EF4-FFF2-40B4-BE49-F238E27FC236}">
                <a16:creationId xmlns:a16="http://schemas.microsoft.com/office/drawing/2014/main" id="{C2C739CD-BEF4-ABD5-763F-51711C615DC5}"/>
              </a:ext>
            </a:extLst>
          </p:cNvPr>
          <p:cNvSpPr>
            <a:spLocks noGrp="1"/>
          </p:cNvSpPr>
          <p:nvPr>
            <p:ph type="dt" sz="half" idx="10"/>
          </p:nvPr>
        </p:nvSpPr>
        <p:spPr/>
        <p:txBody>
          <a:bodyPr/>
          <a:lstStyle/>
          <a:p>
            <a:pPr>
              <a:defRPr/>
            </a:pPr>
            <a:r>
              <a:rPr lang="en-US" dirty="0"/>
              <a:t>Lecture 6</a:t>
            </a:r>
          </a:p>
        </p:txBody>
      </p:sp>
      <p:sp>
        <p:nvSpPr>
          <p:cNvPr id="5" name="Footer Placeholder 4">
            <a:extLst>
              <a:ext uri="{FF2B5EF4-FFF2-40B4-BE49-F238E27FC236}">
                <a16:creationId xmlns:a16="http://schemas.microsoft.com/office/drawing/2014/main" id="{084780FD-C6B8-AD1F-96DE-E2CD6DC74D23}"/>
              </a:ext>
            </a:extLst>
          </p:cNvPr>
          <p:cNvSpPr>
            <a:spLocks noGrp="1"/>
          </p:cNvSpPr>
          <p:nvPr>
            <p:ph type="ftr" sz="quarter" idx="11"/>
          </p:nvPr>
        </p:nvSpPr>
        <p:spPr/>
        <p:txBody>
          <a:bodyPr/>
          <a:lstStyle/>
          <a:p>
            <a:pPr>
              <a:defRPr/>
            </a:pPr>
            <a:r>
              <a:rPr lang="en-US"/>
              <a:t>G.R. Labbé                                          </a:t>
            </a:r>
          </a:p>
        </p:txBody>
      </p:sp>
      <p:sp>
        <p:nvSpPr>
          <p:cNvPr id="6" name="Slide Number Placeholder 5">
            <a:extLst>
              <a:ext uri="{FF2B5EF4-FFF2-40B4-BE49-F238E27FC236}">
                <a16:creationId xmlns:a16="http://schemas.microsoft.com/office/drawing/2014/main" id="{A163D7C0-09F9-1C7B-ACFC-D89B83DFD1AF}"/>
              </a:ext>
            </a:extLst>
          </p:cNvPr>
          <p:cNvSpPr>
            <a:spLocks noGrp="1"/>
          </p:cNvSpPr>
          <p:nvPr>
            <p:ph type="sldNum" sz="quarter" idx="12"/>
          </p:nvPr>
        </p:nvSpPr>
        <p:spPr/>
        <p:txBody>
          <a:bodyPr/>
          <a:lstStyle/>
          <a:p>
            <a:pPr>
              <a:defRPr/>
            </a:pPr>
            <a:fld id="{B9783C55-CC08-4E09-BF3D-925249F2761C}" type="slidenum">
              <a:rPr lang="en-US" altLang="en-US" smtClean="0"/>
              <a:pPr>
                <a:defRPr/>
              </a:pPr>
              <a:t>33</a:t>
            </a:fld>
            <a:endParaRPr lang="en-US" altLang="en-US"/>
          </a:p>
        </p:txBody>
      </p:sp>
    </p:spTree>
    <p:extLst>
      <p:ext uri="{BB962C8B-B14F-4D97-AF65-F5344CB8AC3E}">
        <p14:creationId xmlns:p14="http://schemas.microsoft.com/office/powerpoint/2010/main" val="21116949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401C-35AB-1D8D-F191-81450B7A8BAD}"/>
              </a:ext>
            </a:extLst>
          </p:cNvPr>
          <p:cNvSpPr>
            <a:spLocks noGrp="1"/>
          </p:cNvSpPr>
          <p:nvPr>
            <p:ph type="title"/>
          </p:nvPr>
        </p:nvSpPr>
        <p:spPr/>
        <p:txBody>
          <a:bodyPr/>
          <a:lstStyle/>
          <a:p>
            <a:r>
              <a:rPr lang="en-US" dirty="0"/>
              <a:t>AON Example 1</a:t>
            </a:r>
            <a:endParaRPr lang="en-CA" dirty="0"/>
          </a:p>
        </p:txBody>
      </p:sp>
      <p:graphicFrame>
        <p:nvGraphicFramePr>
          <p:cNvPr id="7" name="Content Placeholder 6">
            <a:extLst>
              <a:ext uri="{FF2B5EF4-FFF2-40B4-BE49-F238E27FC236}">
                <a16:creationId xmlns:a16="http://schemas.microsoft.com/office/drawing/2014/main" id="{B2887D22-FB48-0202-7479-B8270EF60C8C}"/>
              </a:ext>
            </a:extLst>
          </p:cNvPr>
          <p:cNvGraphicFramePr>
            <a:graphicFrameLocks noGrp="1"/>
          </p:cNvGraphicFramePr>
          <p:nvPr>
            <p:ph idx="1"/>
          </p:nvPr>
        </p:nvGraphicFramePr>
        <p:xfrm>
          <a:off x="6019800" y="459124"/>
          <a:ext cx="2676526" cy="2463130"/>
        </p:xfrm>
        <a:graphic>
          <a:graphicData uri="http://schemas.openxmlformats.org/drawingml/2006/table">
            <a:tbl>
              <a:tblPr firstRow="1" firstCol="1" bandRow="1">
                <a:tableStyleId>{5C22544A-7EE6-4342-B048-85BDC9FD1C3A}</a:tableStyleId>
              </a:tblPr>
              <a:tblGrid>
                <a:gridCol w="739084">
                  <a:extLst>
                    <a:ext uri="{9D8B030D-6E8A-4147-A177-3AD203B41FA5}">
                      <a16:colId xmlns:a16="http://schemas.microsoft.com/office/drawing/2014/main" val="3255726250"/>
                    </a:ext>
                  </a:extLst>
                </a:gridCol>
                <a:gridCol w="1056786">
                  <a:extLst>
                    <a:ext uri="{9D8B030D-6E8A-4147-A177-3AD203B41FA5}">
                      <a16:colId xmlns:a16="http://schemas.microsoft.com/office/drawing/2014/main" val="2108695012"/>
                    </a:ext>
                  </a:extLst>
                </a:gridCol>
                <a:gridCol w="880656">
                  <a:extLst>
                    <a:ext uri="{9D8B030D-6E8A-4147-A177-3AD203B41FA5}">
                      <a16:colId xmlns:a16="http://schemas.microsoft.com/office/drawing/2014/main" val="940495095"/>
                    </a:ext>
                  </a:extLst>
                </a:gridCol>
              </a:tblGrid>
              <a:tr h="418420">
                <a:tc>
                  <a:txBody>
                    <a:bodyPr/>
                    <a:lstStyle/>
                    <a:p>
                      <a:pPr>
                        <a:lnSpc>
                          <a:spcPct val="107000"/>
                        </a:lnSpc>
                        <a:spcAft>
                          <a:spcPts val="800"/>
                        </a:spcAft>
                      </a:pPr>
                      <a:r>
                        <a:rPr lang="en-CA" sz="1300" dirty="0">
                          <a:effectLst/>
                        </a:rPr>
                        <a:t>Activity</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Predecessors</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Duration (days)</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1432530823"/>
                  </a:ext>
                </a:extLst>
              </a:tr>
              <a:tr h="204471">
                <a:tc>
                  <a:txBody>
                    <a:bodyPr/>
                    <a:lstStyle/>
                    <a:p>
                      <a:pPr>
                        <a:lnSpc>
                          <a:spcPct val="107000"/>
                        </a:lnSpc>
                        <a:spcAft>
                          <a:spcPts val="800"/>
                        </a:spcAft>
                      </a:pPr>
                      <a:r>
                        <a:rPr lang="en-CA" sz="1300">
                          <a:effectLst/>
                        </a:rPr>
                        <a:t>A</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None</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5</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533412607"/>
                  </a:ext>
                </a:extLst>
              </a:tr>
              <a:tr h="204471">
                <a:tc>
                  <a:txBody>
                    <a:bodyPr/>
                    <a:lstStyle/>
                    <a:p>
                      <a:pPr>
                        <a:lnSpc>
                          <a:spcPct val="107000"/>
                        </a:lnSpc>
                        <a:spcAft>
                          <a:spcPts val="800"/>
                        </a:spcAft>
                      </a:pPr>
                      <a:r>
                        <a:rPr lang="en-CA" sz="1300">
                          <a:effectLst/>
                        </a:rPr>
                        <a:t>B</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A</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8</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2760303297"/>
                  </a:ext>
                </a:extLst>
              </a:tr>
              <a:tr h="204471">
                <a:tc>
                  <a:txBody>
                    <a:bodyPr/>
                    <a:lstStyle/>
                    <a:p>
                      <a:pPr>
                        <a:lnSpc>
                          <a:spcPct val="107000"/>
                        </a:lnSpc>
                        <a:spcAft>
                          <a:spcPts val="800"/>
                        </a:spcAft>
                      </a:pPr>
                      <a:r>
                        <a:rPr lang="en-CA" sz="1300">
                          <a:effectLst/>
                        </a:rPr>
                        <a:t>C</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B</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3</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1758421904"/>
                  </a:ext>
                </a:extLst>
              </a:tr>
              <a:tr h="204471">
                <a:tc>
                  <a:txBody>
                    <a:bodyPr/>
                    <a:lstStyle/>
                    <a:p>
                      <a:pPr>
                        <a:lnSpc>
                          <a:spcPct val="107000"/>
                        </a:lnSpc>
                        <a:spcAft>
                          <a:spcPts val="800"/>
                        </a:spcAft>
                      </a:pPr>
                      <a:r>
                        <a:rPr lang="en-CA" sz="1300">
                          <a:effectLst/>
                        </a:rPr>
                        <a:t>D</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A</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4</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3875828212"/>
                  </a:ext>
                </a:extLst>
              </a:tr>
              <a:tr h="204471">
                <a:tc>
                  <a:txBody>
                    <a:bodyPr/>
                    <a:lstStyle/>
                    <a:p>
                      <a:pPr>
                        <a:lnSpc>
                          <a:spcPct val="107000"/>
                        </a:lnSpc>
                        <a:spcAft>
                          <a:spcPts val="800"/>
                        </a:spcAft>
                      </a:pPr>
                      <a:r>
                        <a:rPr lang="en-CA" sz="1300">
                          <a:effectLst/>
                        </a:rPr>
                        <a:t>E</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C</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5</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833086155"/>
                  </a:ext>
                </a:extLst>
              </a:tr>
              <a:tr h="204471">
                <a:tc>
                  <a:txBody>
                    <a:bodyPr/>
                    <a:lstStyle/>
                    <a:p>
                      <a:pPr>
                        <a:lnSpc>
                          <a:spcPct val="107000"/>
                        </a:lnSpc>
                        <a:spcAft>
                          <a:spcPts val="800"/>
                        </a:spcAft>
                      </a:pPr>
                      <a:r>
                        <a:rPr lang="en-CA" sz="1300">
                          <a:effectLst/>
                        </a:rPr>
                        <a:t>F</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C</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7</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2319734976"/>
                  </a:ext>
                </a:extLst>
              </a:tr>
              <a:tr h="204471">
                <a:tc>
                  <a:txBody>
                    <a:bodyPr/>
                    <a:lstStyle/>
                    <a:p>
                      <a:pPr>
                        <a:lnSpc>
                          <a:spcPct val="107000"/>
                        </a:lnSpc>
                        <a:spcAft>
                          <a:spcPts val="800"/>
                        </a:spcAft>
                      </a:pPr>
                      <a:r>
                        <a:rPr lang="en-CA" sz="1300">
                          <a:effectLst/>
                        </a:rPr>
                        <a:t>G</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D, E</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6</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1758889404"/>
                  </a:ext>
                </a:extLst>
              </a:tr>
              <a:tr h="204471">
                <a:tc>
                  <a:txBody>
                    <a:bodyPr/>
                    <a:lstStyle/>
                    <a:p>
                      <a:pPr>
                        <a:lnSpc>
                          <a:spcPct val="107000"/>
                        </a:lnSpc>
                        <a:spcAft>
                          <a:spcPts val="800"/>
                        </a:spcAft>
                      </a:pPr>
                      <a:r>
                        <a:rPr lang="en-CA" sz="1300">
                          <a:effectLst/>
                        </a:rPr>
                        <a:t>H</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F</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8</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3580823842"/>
                  </a:ext>
                </a:extLst>
              </a:tr>
              <a:tr h="204471">
                <a:tc>
                  <a:txBody>
                    <a:bodyPr/>
                    <a:lstStyle/>
                    <a:p>
                      <a:pPr>
                        <a:lnSpc>
                          <a:spcPct val="107000"/>
                        </a:lnSpc>
                        <a:spcAft>
                          <a:spcPts val="800"/>
                        </a:spcAft>
                      </a:pPr>
                      <a:r>
                        <a:rPr lang="en-CA" sz="1300">
                          <a:effectLst/>
                        </a:rPr>
                        <a:t>I</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G</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6</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3755803145"/>
                  </a:ext>
                </a:extLst>
              </a:tr>
              <a:tr h="204471">
                <a:tc>
                  <a:txBody>
                    <a:bodyPr/>
                    <a:lstStyle/>
                    <a:p>
                      <a:pPr>
                        <a:lnSpc>
                          <a:spcPct val="107000"/>
                        </a:lnSpc>
                        <a:spcAft>
                          <a:spcPts val="800"/>
                        </a:spcAft>
                      </a:pPr>
                      <a:r>
                        <a:rPr lang="en-CA" sz="1300">
                          <a:effectLst/>
                        </a:rPr>
                        <a:t>J</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a:effectLst/>
                        </a:rPr>
                        <a:t>H, I</a:t>
                      </a:r>
                      <a:endParaRPr lang="en-CA" sz="130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tc>
                  <a:txBody>
                    <a:bodyPr/>
                    <a:lstStyle/>
                    <a:p>
                      <a:pPr>
                        <a:lnSpc>
                          <a:spcPct val="107000"/>
                        </a:lnSpc>
                        <a:spcAft>
                          <a:spcPts val="800"/>
                        </a:spcAft>
                      </a:pPr>
                      <a:r>
                        <a:rPr lang="en-CA" sz="1300" dirty="0">
                          <a:effectLst/>
                        </a:rPr>
                        <a:t>5</a:t>
                      </a:r>
                      <a:endParaRPr lang="en-CA"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37492" marR="37492" marT="0" marB="0"/>
                </a:tc>
                <a:extLst>
                  <a:ext uri="{0D108BD9-81ED-4DB2-BD59-A6C34878D82A}">
                    <a16:rowId xmlns:a16="http://schemas.microsoft.com/office/drawing/2014/main" val="1459370076"/>
                  </a:ext>
                </a:extLst>
              </a:tr>
            </a:tbl>
          </a:graphicData>
        </a:graphic>
      </p:graphicFrame>
      <p:sp>
        <p:nvSpPr>
          <p:cNvPr id="4" name="Date Placeholder 3">
            <a:extLst>
              <a:ext uri="{FF2B5EF4-FFF2-40B4-BE49-F238E27FC236}">
                <a16:creationId xmlns:a16="http://schemas.microsoft.com/office/drawing/2014/main" id="{C2C739CD-BEF4-ABD5-763F-51711C615DC5}"/>
              </a:ext>
            </a:extLst>
          </p:cNvPr>
          <p:cNvSpPr>
            <a:spLocks noGrp="1"/>
          </p:cNvSpPr>
          <p:nvPr>
            <p:ph type="dt" sz="half" idx="10"/>
          </p:nvPr>
        </p:nvSpPr>
        <p:spPr/>
        <p:txBody>
          <a:bodyPr/>
          <a:lstStyle/>
          <a:p>
            <a:pPr>
              <a:defRPr/>
            </a:pPr>
            <a:r>
              <a:rPr lang="en-US" dirty="0"/>
              <a:t>Lecture 6</a:t>
            </a:r>
          </a:p>
        </p:txBody>
      </p:sp>
      <p:sp>
        <p:nvSpPr>
          <p:cNvPr id="5" name="Footer Placeholder 4">
            <a:extLst>
              <a:ext uri="{FF2B5EF4-FFF2-40B4-BE49-F238E27FC236}">
                <a16:creationId xmlns:a16="http://schemas.microsoft.com/office/drawing/2014/main" id="{084780FD-C6B8-AD1F-96DE-E2CD6DC74D23}"/>
              </a:ext>
            </a:extLst>
          </p:cNvPr>
          <p:cNvSpPr>
            <a:spLocks noGrp="1"/>
          </p:cNvSpPr>
          <p:nvPr>
            <p:ph type="ftr" sz="quarter" idx="11"/>
          </p:nvPr>
        </p:nvSpPr>
        <p:spPr>
          <a:xfrm>
            <a:off x="2935601" y="6289496"/>
            <a:ext cx="3086100" cy="365125"/>
          </a:xfrm>
        </p:spPr>
        <p:txBody>
          <a:bodyPr/>
          <a:lstStyle/>
          <a:p>
            <a:pPr>
              <a:defRPr/>
            </a:pPr>
            <a:r>
              <a:rPr lang="en-US"/>
              <a:t>G.R. Labbé                                          </a:t>
            </a:r>
          </a:p>
        </p:txBody>
      </p:sp>
      <p:sp>
        <p:nvSpPr>
          <p:cNvPr id="6" name="Slide Number Placeholder 5">
            <a:extLst>
              <a:ext uri="{FF2B5EF4-FFF2-40B4-BE49-F238E27FC236}">
                <a16:creationId xmlns:a16="http://schemas.microsoft.com/office/drawing/2014/main" id="{A163D7C0-09F9-1C7B-ACFC-D89B83DFD1AF}"/>
              </a:ext>
            </a:extLst>
          </p:cNvPr>
          <p:cNvSpPr>
            <a:spLocks noGrp="1"/>
          </p:cNvSpPr>
          <p:nvPr>
            <p:ph type="sldNum" sz="quarter" idx="12"/>
          </p:nvPr>
        </p:nvSpPr>
        <p:spPr/>
        <p:txBody>
          <a:bodyPr/>
          <a:lstStyle/>
          <a:p>
            <a:pPr>
              <a:defRPr/>
            </a:pPr>
            <a:fld id="{B9783C55-CC08-4E09-BF3D-925249F2761C}" type="slidenum">
              <a:rPr lang="en-US" altLang="en-US" smtClean="0"/>
              <a:pPr>
                <a:defRPr/>
              </a:pPr>
              <a:t>34</a:t>
            </a:fld>
            <a:endParaRPr lang="en-US" altLang="en-US"/>
          </a:p>
        </p:txBody>
      </p:sp>
      <p:sp>
        <p:nvSpPr>
          <p:cNvPr id="83" name="Rectangle 82">
            <a:extLst>
              <a:ext uri="{FF2B5EF4-FFF2-40B4-BE49-F238E27FC236}">
                <a16:creationId xmlns:a16="http://schemas.microsoft.com/office/drawing/2014/main" id="{A12EE477-53FD-D38D-5B7A-52EB54E40833}"/>
              </a:ext>
            </a:extLst>
          </p:cNvPr>
          <p:cNvSpPr/>
          <p:nvPr/>
        </p:nvSpPr>
        <p:spPr>
          <a:xfrm>
            <a:off x="417077" y="4534817"/>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8" name="Straight Connector 7">
            <a:extLst>
              <a:ext uri="{FF2B5EF4-FFF2-40B4-BE49-F238E27FC236}">
                <a16:creationId xmlns:a16="http://schemas.microsoft.com/office/drawing/2014/main" id="{E0ED2405-46E0-4F67-9C55-B47869564526}"/>
              </a:ext>
            </a:extLst>
          </p:cNvPr>
          <p:cNvCxnSpPr>
            <a:cxnSpLocks/>
          </p:cNvCxnSpPr>
          <p:nvPr/>
        </p:nvCxnSpPr>
        <p:spPr>
          <a:xfrm>
            <a:off x="417077" y="4724400"/>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41AF0764-DC3C-451B-AD54-1F126FD73AED}"/>
              </a:ext>
            </a:extLst>
          </p:cNvPr>
          <p:cNvCxnSpPr/>
          <p:nvPr/>
        </p:nvCxnSpPr>
        <p:spPr>
          <a:xfrm>
            <a:off x="762000" y="4534817"/>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959E2405-3CBC-4888-ADCA-45D9BE13677F}"/>
              </a:ext>
            </a:extLst>
          </p:cNvPr>
          <p:cNvCxnSpPr>
            <a:cxnSpLocks/>
          </p:cNvCxnSpPr>
          <p:nvPr/>
        </p:nvCxnSpPr>
        <p:spPr>
          <a:xfrm>
            <a:off x="1219200" y="4514453"/>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C529DFDF-B3B1-4A84-B716-A2E1C3902BFE}"/>
              </a:ext>
            </a:extLst>
          </p:cNvPr>
          <p:cNvCxnSpPr>
            <a:cxnSpLocks/>
          </p:cNvCxnSpPr>
          <p:nvPr/>
        </p:nvCxnSpPr>
        <p:spPr>
          <a:xfrm>
            <a:off x="417077" y="4953000"/>
            <a:ext cx="1143000" cy="0"/>
          </a:xfrm>
          <a:prstGeom prst="line">
            <a:avLst/>
          </a:prstGeom>
        </p:spPr>
        <p:style>
          <a:lnRef idx="1">
            <a:schemeClr val="dk1"/>
          </a:lnRef>
          <a:fillRef idx="0">
            <a:schemeClr val="dk1"/>
          </a:fillRef>
          <a:effectRef idx="0">
            <a:schemeClr val="dk1"/>
          </a:effectRef>
          <a:fontRef idx="minor">
            <a:schemeClr val="tx1"/>
          </a:fontRef>
        </p:style>
      </p:cxnSp>
      <p:sp>
        <p:nvSpPr>
          <p:cNvPr id="66" name="Rectangle 65">
            <a:extLst>
              <a:ext uri="{FF2B5EF4-FFF2-40B4-BE49-F238E27FC236}">
                <a16:creationId xmlns:a16="http://schemas.microsoft.com/office/drawing/2014/main" id="{13FAB6E4-4E75-4775-9A27-37D16D6D9229}"/>
              </a:ext>
            </a:extLst>
          </p:cNvPr>
          <p:cNvSpPr/>
          <p:nvPr/>
        </p:nvSpPr>
        <p:spPr>
          <a:xfrm>
            <a:off x="1860812" y="4534817"/>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67" name="Straight Connector 66">
            <a:extLst>
              <a:ext uri="{FF2B5EF4-FFF2-40B4-BE49-F238E27FC236}">
                <a16:creationId xmlns:a16="http://schemas.microsoft.com/office/drawing/2014/main" id="{A452C2AB-0FD2-4618-AFB2-AFF6F9DC50FC}"/>
              </a:ext>
            </a:extLst>
          </p:cNvPr>
          <p:cNvCxnSpPr>
            <a:cxnSpLocks/>
          </p:cNvCxnSpPr>
          <p:nvPr/>
        </p:nvCxnSpPr>
        <p:spPr>
          <a:xfrm>
            <a:off x="1860812" y="4724400"/>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940D1CBC-E2C6-4BE0-BE49-0777F7A3E0F3}"/>
              </a:ext>
            </a:extLst>
          </p:cNvPr>
          <p:cNvCxnSpPr/>
          <p:nvPr/>
        </p:nvCxnSpPr>
        <p:spPr>
          <a:xfrm>
            <a:off x="2205735" y="4534817"/>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BCA12810-3130-4192-8944-BF2772AB298A}"/>
              </a:ext>
            </a:extLst>
          </p:cNvPr>
          <p:cNvCxnSpPr>
            <a:cxnSpLocks/>
          </p:cNvCxnSpPr>
          <p:nvPr/>
        </p:nvCxnSpPr>
        <p:spPr>
          <a:xfrm>
            <a:off x="2662935" y="4514453"/>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9A11FD22-C493-4084-B4E4-410A221B5D5E}"/>
              </a:ext>
            </a:extLst>
          </p:cNvPr>
          <p:cNvCxnSpPr>
            <a:cxnSpLocks/>
          </p:cNvCxnSpPr>
          <p:nvPr/>
        </p:nvCxnSpPr>
        <p:spPr>
          <a:xfrm>
            <a:off x="1860812" y="4953000"/>
            <a:ext cx="1143000" cy="0"/>
          </a:xfrm>
          <a:prstGeom prst="line">
            <a:avLst/>
          </a:prstGeom>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422B5580-C7BB-494C-8405-B1FBC7A8ADBA}"/>
              </a:ext>
            </a:extLst>
          </p:cNvPr>
          <p:cNvSpPr/>
          <p:nvPr/>
        </p:nvSpPr>
        <p:spPr>
          <a:xfrm>
            <a:off x="1854976" y="5440241"/>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72" name="Straight Connector 71">
            <a:extLst>
              <a:ext uri="{FF2B5EF4-FFF2-40B4-BE49-F238E27FC236}">
                <a16:creationId xmlns:a16="http://schemas.microsoft.com/office/drawing/2014/main" id="{6A82E740-6CB2-49F7-AC4E-D80F77777C81}"/>
              </a:ext>
            </a:extLst>
          </p:cNvPr>
          <p:cNvCxnSpPr>
            <a:cxnSpLocks/>
          </p:cNvCxnSpPr>
          <p:nvPr/>
        </p:nvCxnSpPr>
        <p:spPr>
          <a:xfrm>
            <a:off x="1854976" y="5629824"/>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29F6D510-840C-4E97-BABB-AD813D65DED4}"/>
              </a:ext>
            </a:extLst>
          </p:cNvPr>
          <p:cNvCxnSpPr/>
          <p:nvPr/>
        </p:nvCxnSpPr>
        <p:spPr>
          <a:xfrm>
            <a:off x="2199899" y="5440241"/>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74" name="Straight Connector 73">
            <a:extLst>
              <a:ext uri="{FF2B5EF4-FFF2-40B4-BE49-F238E27FC236}">
                <a16:creationId xmlns:a16="http://schemas.microsoft.com/office/drawing/2014/main" id="{BB70543F-9B2E-4BB2-AF34-DB1AC9E5ADBF}"/>
              </a:ext>
            </a:extLst>
          </p:cNvPr>
          <p:cNvCxnSpPr>
            <a:cxnSpLocks/>
          </p:cNvCxnSpPr>
          <p:nvPr/>
        </p:nvCxnSpPr>
        <p:spPr>
          <a:xfrm>
            <a:off x="2657099" y="5419877"/>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75" name="Straight Connector 74">
            <a:extLst>
              <a:ext uri="{FF2B5EF4-FFF2-40B4-BE49-F238E27FC236}">
                <a16:creationId xmlns:a16="http://schemas.microsoft.com/office/drawing/2014/main" id="{73F52100-8188-4605-B94E-97A51B11E7D0}"/>
              </a:ext>
            </a:extLst>
          </p:cNvPr>
          <p:cNvCxnSpPr>
            <a:cxnSpLocks/>
          </p:cNvCxnSpPr>
          <p:nvPr/>
        </p:nvCxnSpPr>
        <p:spPr>
          <a:xfrm>
            <a:off x="1854976" y="5858424"/>
            <a:ext cx="1143000" cy="0"/>
          </a:xfrm>
          <a:prstGeom prst="line">
            <a:avLst/>
          </a:prstGeom>
        </p:spPr>
        <p:style>
          <a:lnRef idx="1">
            <a:schemeClr val="dk1"/>
          </a:lnRef>
          <a:fillRef idx="0">
            <a:schemeClr val="dk1"/>
          </a:fillRef>
          <a:effectRef idx="0">
            <a:schemeClr val="dk1"/>
          </a:effectRef>
          <a:fontRef idx="minor">
            <a:schemeClr val="tx1"/>
          </a:fontRef>
        </p:style>
      </p:cxnSp>
      <p:sp>
        <p:nvSpPr>
          <p:cNvPr id="76" name="Rectangle 75">
            <a:extLst>
              <a:ext uri="{FF2B5EF4-FFF2-40B4-BE49-F238E27FC236}">
                <a16:creationId xmlns:a16="http://schemas.microsoft.com/office/drawing/2014/main" id="{F3C621A3-D1CC-4308-88FF-B52B640D1E87}"/>
              </a:ext>
            </a:extLst>
          </p:cNvPr>
          <p:cNvSpPr/>
          <p:nvPr/>
        </p:nvSpPr>
        <p:spPr>
          <a:xfrm>
            <a:off x="3343985" y="4523095"/>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77" name="Straight Connector 76">
            <a:extLst>
              <a:ext uri="{FF2B5EF4-FFF2-40B4-BE49-F238E27FC236}">
                <a16:creationId xmlns:a16="http://schemas.microsoft.com/office/drawing/2014/main" id="{05A88300-60E9-4E7C-A7B9-2CA46AE9A2A4}"/>
              </a:ext>
            </a:extLst>
          </p:cNvPr>
          <p:cNvCxnSpPr>
            <a:cxnSpLocks/>
          </p:cNvCxnSpPr>
          <p:nvPr/>
        </p:nvCxnSpPr>
        <p:spPr>
          <a:xfrm>
            <a:off x="3343985" y="4712678"/>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78" name="Straight Connector 77">
            <a:extLst>
              <a:ext uri="{FF2B5EF4-FFF2-40B4-BE49-F238E27FC236}">
                <a16:creationId xmlns:a16="http://schemas.microsoft.com/office/drawing/2014/main" id="{C7CCCC90-7C34-4D39-A037-B47196376829}"/>
              </a:ext>
            </a:extLst>
          </p:cNvPr>
          <p:cNvCxnSpPr/>
          <p:nvPr/>
        </p:nvCxnSpPr>
        <p:spPr>
          <a:xfrm>
            <a:off x="3688908" y="4523095"/>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79" name="Straight Connector 78">
            <a:extLst>
              <a:ext uri="{FF2B5EF4-FFF2-40B4-BE49-F238E27FC236}">
                <a16:creationId xmlns:a16="http://schemas.microsoft.com/office/drawing/2014/main" id="{B39462F8-36E1-4BA7-80E9-AE7D1A57D9F0}"/>
              </a:ext>
            </a:extLst>
          </p:cNvPr>
          <p:cNvCxnSpPr>
            <a:cxnSpLocks/>
          </p:cNvCxnSpPr>
          <p:nvPr/>
        </p:nvCxnSpPr>
        <p:spPr>
          <a:xfrm>
            <a:off x="4146108" y="4502731"/>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9C5494F9-F335-4B9A-B1BC-9DB272EB3725}"/>
              </a:ext>
            </a:extLst>
          </p:cNvPr>
          <p:cNvCxnSpPr>
            <a:cxnSpLocks/>
          </p:cNvCxnSpPr>
          <p:nvPr/>
        </p:nvCxnSpPr>
        <p:spPr>
          <a:xfrm>
            <a:off x="3343985" y="4941278"/>
            <a:ext cx="1143000" cy="0"/>
          </a:xfrm>
          <a:prstGeom prst="line">
            <a:avLst/>
          </a:prstGeom>
        </p:spPr>
        <p:style>
          <a:lnRef idx="1">
            <a:schemeClr val="dk1"/>
          </a:lnRef>
          <a:fillRef idx="0">
            <a:schemeClr val="dk1"/>
          </a:fillRef>
          <a:effectRef idx="0">
            <a:schemeClr val="dk1"/>
          </a:effectRef>
          <a:fontRef idx="minor">
            <a:schemeClr val="tx1"/>
          </a:fontRef>
        </p:style>
      </p:cxnSp>
      <p:sp>
        <p:nvSpPr>
          <p:cNvPr id="81" name="Rectangle 80">
            <a:extLst>
              <a:ext uri="{FF2B5EF4-FFF2-40B4-BE49-F238E27FC236}">
                <a16:creationId xmlns:a16="http://schemas.microsoft.com/office/drawing/2014/main" id="{3A373FFE-1090-4365-AEDB-4538BF49214C}"/>
              </a:ext>
            </a:extLst>
          </p:cNvPr>
          <p:cNvSpPr/>
          <p:nvPr/>
        </p:nvSpPr>
        <p:spPr>
          <a:xfrm>
            <a:off x="4787720" y="4478709"/>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82" name="Straight Connector 81">
            <a:extLst>
              <a:ext uri="{FF2B5EF4-FFF2-40B4-BE49-F238E27FC236}">
                <a16:creationId xmlns:a16="http://schemas.microsoft.com/office/drawing/2014/main" id="{03E08CCD-BFFD-4A11-9048-E3A5961363EE}"/>
              </a:ext>
            </a:extLst>
          </p:cNvPr>
          <p:cNvCxnSpPr>
            <a:cxnSpLocks/>
          </p:cNvCxnSpPr>
          <p:nvPr/>
        </p:nvCxnSpPr>
        <p:spPr>
          <a:xfrm>
            <a:off x="4787720" y="4668292"/>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40946970-C28B-477E-837A-4F3CF7B481F5}"/>
              </a:ext>
            </a:extLst>
          </p:cNvPr>
          <p:cNvCxnSpPr/>
          <p:nvPr/>
        </p:nvCxnSpPr>
        <p:spPr>
          <a:xfrm>
            <a:off x="5132643" y="4478709"/>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94" name="Straight Connector 93">
            <a:extLst>
              <a:ext uri="{FF2B5EF4-FFF2-40B4-BE49-F238E27FC236}">
                <a16:creationId xmlns:a16="http://schemas.microsoft.com/office/drawing/2014/main" id="{9B6F37CF-3163-457B-B284-47BD0F3585A4}"/>
              </a:ext>
            </a:extLst>
          </p:cNvPr>
          <p:cNvCxnSpPr>
            <a:cxnSpLocks/>
          </p:cNvCxnSpPr>
          <p:nvPr/>
        </p:nvCxnSpPr>
        <p:spPr>
          <a:xfrm>
            <a:off x="5589843" y="4458345"/>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95" name="Straight Connector 94">
            <a:extLst>
              <a:ext uri="{FF2B5EF4-FFF2-40B4-BE49-F238E27FC236}">
                <a16:creationId xmlns:a16="http://schemas.microsoft.com/office/drawing/2014/main" id="{8D046180-46E9-473D-B06D-EAEA8EE4A283}"/>
              </a:ext>
            </a:extLst>
          </p:cNvPr>
          <p:cNvCxnSpPr>
            <a:cxnSpLocks/>
          </p:cNvCxnSpPr>
          <p:nvPr/>
        </p:nvCxnSpPr>
        <p:spPr>
          <a:xfrm>
            <a:off x="4787720" y="4896892"/>
            <a:ext cx="1143000" cy="0"/>
          </a:xfrm>
          <a:prstGeom prst="line">
            <a:avLst/>
          </a:prstGeom>
        </p:spPr>
        <p:style>
          <a:lnRef idx="1">
            <a:schemeClr val="dk1"/>
          </a:lnRef>
          <a:fillRef idx="0">
            <a:schemeClr val="dk1"/>
          </a:fillRef>
          <a:effectRef idx="0">
            <a:schemeClr val="dk1"/>
          </a:effectRef>
          <a:fontRef idx="minor">
            <a:schemeClr val="tx1"/>
          </a:fontRef>
        </p:style>
      </p:cxnSp>
      <p:sp>
        <p:nvSpPr>
          <p:cNvPr id="96" name="Rectangle 95">
            <a:extLst>
              <a:ext uri="{FF2B5EF4-FFF2-40B4-BE49-F238E27FC236}">
                <a16:creationId xmlns:a16="http://schemas.microsoft.com/office/drawing/2014/main" id="{3CE8C74B-524E-437C-AD80-8983242FDBB5}"/>
              </a:ext>
            </a:extLst>
          </p:cNvPr>
          <p:cNvSpPr/>
          <p:nvPr/>
        </p:nvSpPr>
        <p:spPr>
          <a:xfrm>
            <a:off x="5018343" y="3459259"/>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97" name="Straight Connector 96">
            <a:extLst>
              <a:ext uri="{FF2B5EF4-FFF2-40B4-BE49-F238E27FC236}">
                <a16:creationId xmlns:a16="http://schemas.microsoft.com/office/drawing/2014/main" id="{6BC7B6AB-91C5-4BFE-A465-CAA82A16EC4E}"/>
              </a:ext>
            </a:extLst>
          </p:cNvPr>
          <p:cNvCxnSpPr>
            <a:cxnSpLocks/>
          </p:cNvCxnSpPr>
          <p:nvPr/>
        </p:nvCxnSpPr>
        <p:spPr>
          <a:xfrm>
            <a:off x="5018343" y="3648842"/>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98" name="Straight Connector 97">
            <a:extLst>
              <a:ext uri="{FF2B5EF4-FFF2-40B4-BE49-F238E27FC236}">
                <a16:creationId xmlns:a16="http://schemas.microsoft.com/office/drawing/2014/main" id="{F2428081-0E4A-49C7-BD44-8B9B23E0E37C}"/>
              </a:ext>
            </a:extLst>
          </p:cNvPr>
          <p:cNvCxnSpPr/>
          <p:nvPr/>
        </p:nvCxnSpPr>
        <p:spPr>
          <a:xfrm>
            <a:off x="5363266" y="3459259"/>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69BC8E06-47B5-4EB6-B347-4C2A4FD6B270}"/>
              </a:ext>
            </a:extLst>
          </p:cNvPr>
          <p:cNvCxnSpPr>
            <a:cxnSpLocks/>
          </p:cNvCxnSpPr>
          <p:nvPr/>
        </p:nvCxnSpPr>
        <p:spPr>
          <a:xfrm>
            <a:off x="5820466" y="3438895"/>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1421B7B3-3B52-4CEA-B993-981EE83213A2}"/>
              </a:ext>
            </a:extLst>
          </p:cNvPr>
          <p:cNvCxnSpPr>
            <a:cxnSpLocks/>
          </p:cNvCxnSpPr>
          <p:nvPr/>
        </p:nvCxnSpPr>
        <p:spPr>
          <a:xfrm>
            <a:off x="5018343" y="3877442"/>
            <a:ext cx="1143000" cy="0"/>
          </a:xfrm>
          <a:prstGeom prst="line">
            <a:avLst/>
          </a:prstGeom>
        </p:spPr>
        <p:style>
          <a:lnRef idx="1">
            <a:schemeClr val="dk1"/>
          </a:lnRef>
          <a:fillRef idx="0">
            <a:schemeClr val="dk1"/>
          </a:fillRef>
          <a:effectRef idx="0">
            <a:schemeClr val="dk1"/>
          </a:effectRef>
          <a:fontRef idx="minor">
            <a:schemeClr val="tx1"/>
          </a:fontRef>
        </p:style>
      </p:cxnSp>
      <p:sp>
        <p:nvSpPr>
          <p:cNvPr id="101" name="Rectangle 100">
            <a:extLst>
              <a:ext uri="{FF2B5EF4-FFF2-40B4-BE49-F238E27FC236}">
                <a16:creationId xmlns:a16="http://schemas.microsoft.com/office/drawing/2014/main" id="{B13A233D-7CD0-4B76-A15A-039DE2A33942}"/>
              </a:ext>
            </a:extLst>
          </p:cNvPr>
          <p:cNvSpPr/>
          <p:nvPr/>
        </p:nvSpPr>
        <p:spPr>
          <a:xfrm>
            <a:off x="6618542" y="3473261"/>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102" name="Straight Connector 101">
            <a:extLst>
              <a:ext uri="{FF2B5EF4-FFF2-40B4-BE49-F238E27FC236}">
                <a16:creationId xmlns:a16="http://schemas.microsoft.com/office/drawing/2014/main" id="{D2558087-CABD-4301-8DEC-5A0F0E7BD269}"/>
              </a:ext>
            </a:extLst>
          </p:cNvPr>
          <p:cNvCxnSpPr>
            <a:cxnSpLocks/>
          </p:cNvCxnSpPr>
          <p:nvPr/>
        </p:nvCxnSpPr>
        <p:spPr>
          <a:xfrm>
            <a:off x="6618542" y="3662844"/>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103" name="Straight Connector 102">
            <a:extLst>
              <a:ext uri="{FF2B5EF4-FFF2-40B4-BE49-F238E27FC236}">
                <a16:creationId xmlns:a16="http://schemas.microsoft.com/office/drawing/2014/main" id="{1ACD982F-6F2E-4A9A-9F9C-6FB69F5E90FD}"/>
              </a:ext>
            </a:extLst>
          </p:cNvPr>
          <p:cNvCxnSpPr/>
          <p:nvPr/>
        </p:nvCxnSpPr>
        <p:spPr>
          <a:xfrm>
            <a:off x="6963465" y="3473261"/>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104" name="Straight Connector 103">
            <a:extLst>
              <a:ext uri="{FF2B5EF4-FFF2-40B4-BE49-F238E27FC236}">
                <a16:creationId xmlns:a16="http://schemas.microsoft.com/office/drawing/2014/main" id="{CE3BC6A6-0A62-4B64-B9E3-28002D435D16}"/>
              </a:ext>
            </a:extLst>
          </p:cNvPr>
          <p:cNvCxnSpPr>
            <a:cxnSpLocks/>
          </p:cNvCxnSpPr>
          <p:nvPr/>
        </p:nvCxnSpPr>
        <p:spPr>
          <a:xfrm>
            <a:off x="7420665" y="3452897"/>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105" name="Straight Connector 104">
            <a:extLst>
              <a:ext uri="{FF2B5EF4-FFF2-40B4-BE49-F238E27FC236}">
                <a16:creationId xmlns:a16="http://schemas.microsoft.com/office/drawing/2014/main" id="{7932D276-CA48-4D17-AE2C-C0D503124B03}"/>
              </a:ext>
            </a:extLst>
          </p:cNvPr>
          <p:cNvCxnSpPr>
            <a:cxnSpLocks/>
          </p:cNvCxnSpPr>
          <p:nvPr/>
        </p:nvCxnSpPr>
        <p:spPr>
          <a:xfrm>
            <a:off x="6618542" y="3891444"/>
            <a:ext cx="1143000" cy="0"/>
          </a:xfrm>
          <a:prstGeom prst="line">
            <a:avLst/>
          </a:prstGeom>
        </p:spPr>
        <p:style>
          <a:lnRef idx="1">
            <a:schemeClr val="dk1"/>
          </a:lnRef>
          <a:fillRef idx="0">
            <a:schemeClr val="dk1"/>
          </a:fillRef>
          <a:effectRef idx="0">
            <a:schemeClr val="dk1"/>
          </a:effectRef>
          <a:fontRef idx="minor">
            <a:schemeClr val="tx1"/>
          </a:fontRef>
        </p:style>
      </p:cxnSp>
      <p:sp>
        <p:nvSpPr>
          <p:cNvPr id="106" name="Rectangle 105">
            <a:extLst>
              <a:ext uri="{FF2B5EF4-FFF2-40B4-BE49-F238E27FC236}">
                <a16:creationId xmlns:a16="http://schemas.microsoft.com/office/drawing/2014/main" id="{39CAF786-982B-4CD4-AFA3-1B21231EECE1}"/>
              </a:ext>
            </a:extLst>
          </p:cNvPr>
          <p:cNvSpPr/>
          <p:nvPr/>
        </p:nvSpPr>
        <p:spPr>
          <a:xfrm>
            <a:off x="6154470" y="5374728"/>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107" name="Straight Connector 106">
            <a:extLst>
              <a:ext uri="{FF2B5EF4-FFF2-40B4-BE49-F238E27FC236}">
                <a16:creationId xmlns:a16="http://schemas.microsoft.com/office/drawing/2014/main" id="{4FF0E358-AA86-4C4B-8671-73183FD2B703}"/>
              </a:ext>
            </a:extLst>
          </p:cNvPr>
          <p:cNvCxnSpPr>
            <a:cxnSpLocks/>
          </p:cNvCxnSpPr>
          <p:nvPr/>
        </p:nvCxnSpPr>
        <p:spPr>
          <a:xfrm>
            <a:off x="6154470" y="5564311"/>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108" name="Straight Connector 107">
            <a:extLst>
              <a:ext uri="{FF2B5EF4-FFF2-40B4-BE49-F238E27FC236}">
                <a16:creationId xmlns:a16="http://schemas.microsoft.com/office/drawing/2014/main" id="{C9163D2F-97EA-4C4F-8050-040519D87873}"/>
              </a:ext>
            </a:extLst>
          </p:cNvPr>
          <p:cNvCxnSpPr/>
          <p:nvPr/>
        </p:nvCxnSpPr>
        <p:spPr>
          <a:xfrm>
            <a:off x="6499393" y="5374728"/>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FEF8CD5D-8E5B-4062-891F-EBCA1655692B}"/>
              </a:ext>
            </a:extLst>
          </p:cNvPr>
          <p:cNvCxnSpPr>
            <a:cxnSpLocks/>
          </p:cNvCxnSpPr>
          <p:nvPr/>
        </p:nvCxnSpPr>
        <p:spPr>
          <a:xfrm>
            <a:off x="6956593" y="5354364"/>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110" name="Straight Connector 109">
            <a:extLst>
              <a:ext uri="{FF2B5EF4-FFF2-40B4-BE49-F238E27FC236}">
                <a16:creationId xmlns:a16="http://schemas.microsoft.com/office/drawing/2014/main" id="{1DB5CA0C-4797-482A-B84B-722E9E165173}"/>
              </a:ext>
            </a:extLst>
          </p:cNvPr>
          <p:cNvCxnSpPr>
            <a:cxnSpLocks/>
          </p:cNvCxnSpPr>
          <p:nvPr/>
        </p:nvCxnSpPr>
        <p:spPr>
          <a:xfrm>
            <a:off x="6154470" y="5792911"/>
            <a:ext cx="1143000" cy="0"/>
          </a:xfrm>
          <a:prstGeom prst="line">
            <a:avLst/>
          </a:prstGeom>
        </p:spPr>
        <p:style>
          <a:lnRef idx="1">
            <a:schemeClr val="dk1"/>
          </a:lnRef>
          <a:fillRef idx="0">
            <a:schemeClr val="dk1"/>
          </a:fillRef>
          <a:effectRef idx="0">
            <a:schemeClr val="dk1"/>
          </a:effectRef>
          <a:fontRef idx="minor">
            <a:schemeClr val="tx1"/>
          </a:fontRef>
        </p:style>
      </p:cxnSp>
      <p:sp>
        <p:nvSpPr>
          <p:cNvPr id="111" name="Rectangle 110">
            <a:extLst>
              <a:ext uri="{FF2B5EF4-FFF2-40B4-BE49-F238E27FC236}">
                <a16:creationId xmlns:a16="http://schemas.microsoft.com/office/drawing/2014/main" id="{B39E7F00-1F73-44F2-9EEE-499D4FA02008}"/>
              </a:ext>
            </a:extLst>
          </p:cNvPr>
          <p:cNvSpPr/>
          <p:nvPr/>
        </p:nvSpPr>
        <p:spPr>
          <a:xfrm>
            <a:off x="7630755" y="5407484"/>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112" name="Straight Connector 111">
            <a:extLst>
              <a:ext uri="{FF2B5EF4-FFF2-40B4-BE49-F238E27FC236}">
                <a16:creationId xmlns:a16="http://schemas.microsoft.com/office/drawing/2014/main" id="{A21709EF-0F8F-4B5B-8818-3210527CD225}"/>
              </a:ext>
            </a:extLst>
          </p:cNvPr>
          <p:cNvCxnSpPr>
            <a:cxnSpLocks/>
          </p:cNvCxnSpPr>
          <p:nvPr/>
        </p:nvCxnSpPr>
        <p:spPr>
          <a:xfrm>
            <a:off x="7630755" y="5597067"/>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113" name="Straight Connector 112">
            <a:extLst>
              <a:ext uri="{FF2B5EF4-FFF2-40B4-BE49-F238E27FC236}">
                <a16:creationId xmlns:a16="http://schemas.microsoft.com/office/drawing/2014/main" id="{43123661-2172-42A0-AB69-E6417D25C8B4}"/>
              </a:ext>
            </a:extLst>
          </p:cNvPr>
          <p:cNvCxnSpPr/>
          <p:nvPr/>
        </p:nvCxnSpPr>
        <p:spPr>
          <a:xfrm>
            <a:off x="7975678" y="5407484"/>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5A6FBA6B-6782-4092-947B-9114C9017BAD}"/>
              </a:ext>
            </a:extLst>
          </p:cNvPr>
          <p:cNvCxnSpPr>
            <a:cxnSpLocks/>
          </p:cNvCxnSpPr>
          <p:nvPr/>
        </p:nvCxnSpPr>
        <p:spPr>
          <a:xfrm>
            <a:off x="8432878" y="5387120"/>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4CD5C1DC-197B-4DE5-B3FB-8CE6E74FA970}"/>
              </a:ext>
            </a:extLst>
          </p:cNvPr>
          <p:cNvCxnSpPr>
            <a:cxnSpLocks/>
          </p:cNvCxnSpPr>
          <p:nvPr/>
        </p:nvCxnSpPr>
        <p:spPr>
          <a:xfrm>
            <a:off x="7630755" y="5825667"/>
            <a:ext cx="1143000" cy="0"/>
          </a:xfrm>
          <a:prstGeom prst="line">
            <a:avLst/>
          </a:prstGeom>
        </p:spPr>
        <p:style>
          <a:lnRef idx="1">
            <a:schemeClr val="dk1"/>
          </a:lnRef>
          <a:fillRef idx="0">
            <a:schemeClr val="dk1"/>
          </a:fillRef>
          <a:effectRef idx="0">
            <a:schemeClr val="dk1"/>
          </a:effectRef>
          <a:fontRef idx="minor">
            <a:schemeClr val="tx1"/>
          </a:fontRef>
        </p:style>
      </p:cxnSp>
      <p:sp>
        <p:nvSpPr>
          <p:cNvPr id="116" name="Rectangle 115">
            <a:extLst>
              <a:ext uri="{FF2B5EF4-FFF2-40B4-BE49-F238E27FC236}">
                <a16:creationId xmlns:a16="http://schemas.microsoft.com/office/drawing/2014/main" id="{E55CE278-F03A-4303-B5B8-8DCFDE868DA7}"/>
              </a:ext>
            </a:extLst>
          </p:cNvPr>
          <p:cNvSpPr/>
          <p:nvPr/>
        </p:nvSpPr>
        <p:spPr>
          <a:xfrm>
            <a:off x="7760709" y="4391536"/>
            <a:ext cx="1143000" cy="6671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cxnSp>
        <p:nvCxnSpPr>
          <p:cNvPr id="117" name="Straight Connector 116">
            <a:extLst>
              <a:ext uri="{FF2B5EF4-FFF2-40B4-BE49-F238E27FC236}">
                <a16:creationId xmlns:a16="http://schemas.microsoft.com/office/drawing/2014/main" id="{E1E42353-3C47-4D29-AC22-AF6E5668EDEF}"/>
              </a:ext>
            </a:extLst>
          </p:cNvPr>
          <p:cNvCxnSpPr>
            <a:cxnSpLocks/>
          </p:cNvCxnSpPr>
          <p:nvPr/>
        </p:nvCxnSpPr>
        <p:spPr>
          <a:xfrm>
            <a:off x="7760709" y="4581119"/>
            <a:ext cx="1143000" cy="0"/>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a:extLst>
              <a:ext uri="{FF2B5EF4-FFF2-40B4-BE49-F238E27FC236}">
                <a16:creationId xmlns:a16="http://schemas.microsoft.com/office/drawing/2014/main" id="{077CED7D-28F5-4AD7-AA61-7ECEF3A0A5A3}"/>
              </a:ext>
            </a:extLst>
          </p:cNvPr>
          <p:cNvCxnSpPr/>
          <p:nvPr/>
        </p:nvCxnSpPr>
        <p:spPr>
          <a:xfrm>
            <a:off x="8105632" y="4391536"/>
            <a:ext cx="0" cy="667147"/>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a:extLst>
              <a:ext uri="{FF2B5EF4-FFF2-40B4-BE49-F238E27FC236}">
                <a16:creationId xmlns:a16="http://schemas.microsoft.com/office/drawing/2014/main" id="{E40C11EC-C9D6-449F-B830-3DA5CF1A2E18}"/>
              </a:ext>
            </a:extLst>
          </p:cNvPr>
          <p:cNvCxnSpPr>
            <a:cxnSpLocks/>
          </p:cNvCxnSpPr>
          <p:nvPr/>
        </p:nvCxnSpPr>
        <p:spPr>
          <a:xfrm>
            <a:off x="8562832" y="4371172"/>
            <a:ext cx="0" cy="687511"/>
          </a:xfrm>
          <a:prstGeom prst="line">
            <a:avLst/>
          </a:prstGeom>
        </p:spPr>
        <p:style>
          <a:lnRef idx="1">
            <a:schemeClr val="dk1"/>
          </a:lnRef>
          <a:fillRef idx="0">
            <a:schemeClr val="dk1"/>
          </a:fillRef>
          <a:effectRef idx="0">
            <a:schemeClr val="dk1"/>
          </a:effectRef>
          <a:fontRef idx="minor">
            <a:schemeClr val="tx1"/>
          </a:fontRef>
        </p:style>
      </p:cxnSp>
      <p:cxnSp>
        <p:nvCxnSpPr>
          <p:cNvPr id="120" name="Straight Connector 119">
            <a:extLst>
              <a:ext uri="{FF2B5EF4-FFF2-40B4-BE49-F238E27FC236}">
                <a16:creationId xmlns:a16="http://schemas.microsoft.com/office/drawing/2014/main" id="{E3FCB9F9-883C-40CE-838E-046EADA9BEB0}"/>
              </a:ext>
            </a:extLst>
          </p:cNvPr>
          <p:cNvCxnSpPr>
            <a:cxnSpLocks/>
          </p:cNvCxnSpPr>
          <p:nvPr/>
        </p:nvCxnSpPr>
        <p:spPr>
          <a:xfrm>
            <a:off x="7760709" y="4809719"/>
            <a:ext cx="1143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21720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8401C-35AB-1D8D-F191-81450B7A8BAD}"/>
              </a:ext>
            </a:extLst>
          </p:cNvPr>
          <p:cNvSpPr>
            <a:spLocks noGrp="1"/>
          </p:cNvSpPr>
          <p:nvPr>
            <p:ph type="title"/>
          </p:nvPr>
        </p:nvSpPr>
        <p:spPr>
          <a:xfrm>
            <a:off x="762000" y="228600"/>
            <a:ext cx="7886700" cy="1325563"/>
          </a:xfrm>
        </p:spPr>
        <p:txBody>
          <a:bodyPr/>
          <a:lstStyle/>
          <a:p>
            <a:r>
              <a:rPr lang="en-US" dirty="0"/>
              <a:t>AON Example 2</a:t>
            </a:r>
            <a:endParaRPr lang="en-CA" dirty="0"/>
          </a:p>
        </p:txBody>
      </p:sp>
      <p:graphicFrame>
        <p:nvGraphicFramePr>
          <p:cNvPr id="7" name="Content Placeholder 6">
            <a:extLst>
              <a:ext uri="{FF2B5EF4-FFF2-40B4-BE49-F238E27FC236}">
                <a16:creationId xmlns:a16="http://schemas.microsoft.com/office/drawing/2014/main" id="{B2887D22-FB48-0202-7479-B8270EF60C8C}"/>
              </a:ext>
            </a:extLst>
          </p:cNvPr>
          <p:cNvGraphicFramePr>
            <a:graphicFrameLocks noGrp="1"/>
          </p:cNvGraphicFramePr>
          <p:nvPr>
            <p:ph idx="1"/>
          </p:nvPr>
        </p:nvGraphicFramePr>
        <p:xfrm>
          <a:off x="2124075" y="1447800"/>
          <a:ext cx="4895850" cy="4131501"/>
        </p:xfrm>
        <a:graphic>
          <a:graphicData uri="http://schemas.openxmlformats.org/drawingml/2006/table">
            <a:tbl>
              <a:tblPr firstRow="1" firstCol="1" bandRow="1">
                <a:tableStyleId>{5C22544A-7EE6-4342-B048-85BDC9FD1C3A}</a:tableStyleId>
              </a:tblPr>
              <a:tblGrid>
                <a:gridCol w="1351918">
                  <a:extLst>
                    <a:ext uri="{9D8B030D-6E8A-4147-A177-3AD203B41FA5}">
                      <a16:colId xmlns:a16="http://schemas.microsoft.com/office/drawing/2014/main" val="3255726250"/>
                    </a:ext>
                  </a:extLst>
                </a:gridCol>
                <a:gridCol w="1933053">
                  <a:extLst>
                    <a:ext uri="{9D8B030D-6E8A-4147-A177-3AD203B41FA5}">
                      <a16:colId xmlns:a16="http://schemas.microsoft.com/office/drawing/2014/main" val="2108695012"/>
                    </a:ext>
                  </a:extLst>
                </a:gridCol>
                <a:gridCol w="1610879">
                  <a:extLst>
                    <a:ext uri="{9D8B030D-6E8A-4147-A177-3AD203B41FA5}">
                      <a16:colId xmlns:a16="http://schemas.microsoft.com/office/drawing/2014/main" val="940495095"/>
                    </a:ext>
                  </a:extLst>
                </a:gridCol>
              </a:tblGrid>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Activity</a:t>
                      </a:r>
                    </a:p>
                  </a:txBody>
                  <a:tcPr marL="68580" marR="68580" marT="0" marB="0"/>
                </a:tc>
                <a:tc>
                  <a:txBody>
                    <a:bodyPr/>
                    <a:lstStyle/>
                    <a:p>
                      <a:pPr>
                        <a:lnSpc>
                          <a:spcPct val="107000"/>
                        </a:lnSpc>
                        <a:spcAft>
                          <a:spcPts val="800"/>
                        </a:spcAft>
                      </a:pPr>
                      <a:r>
                        <a:rPr lang="en-CA" sz="2400" dirty="0">
                          <a:effectLst/>
                          <a:latin typeface="Calibri" panose="020F0502020204030204" pitchFamily="34" charset="0"/>
                          <a:ea typeface="Calibri" panose="020F0502020204030204" pitchFamily="34" charset="0"/>
                          <a:cs typeface="Times New Roman" panose="02020603050405020304" pitchFamily="18" charset="0"/>
                        </a:rPr>
                        <a:t>Predecessors</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Duration (days)</a:t>
                      </a:r>
                    </a:p>
                  </a:txBody>
                  <a:tcPr marL="68580" marR="68580" marT="0" marB="0"/>
                </a:tc>
                <a:extLst>
                  <a:ext uri="{0D108BD9-81ED-4DB2-BD59-A6C34878D82A}">
                    <a16:rowId xmlns:a16="http://schemas.microsoft.com/office/drawing/2014/main" val="1432530823"/>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None</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tc>
                <a:extLst>
                  <a:ext uri="{0D108BD9-81ED-4DB2-BD59-A6C34878D82A}">
                    <a16:rowId xmlns:a16="http://schemas.microsoft.com/office/drawing/2014/main" val="533412607"/>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extLst>
                  <a:ext uri="{0D108BD9-81ED-4DB2-BD59-A6C34878D82A}">
                    <a16:rowId xmlns:a16="http://schemas.microsoft.com/office/drawing/2014/main" val="2760303297"/>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C</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A</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tc>
                <a:extLst>
                  <a:ext uri="{0D108BD9-81ED-4DB2-BD59-A6C34878D82A}">
                    <a16:rowId xmlns:a16="http://schemas.microsoft.com/office/drawing/2014/main" val="1758421904"/>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D</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B</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5</a:t>
                      </a:r>
                    </a:p>
                  </a:txBody>
                  <a:tcPr marL="68580" marR="68580" marT="0" marB="0"/>
                </a:tc>
                <a:extLst>
                  <a:ext uri="{0D108BD9-81ED-4DB2-BD59-A6C34878D82A}">
                    <a16:rowId xmlns:a16="http://schemas.microsoft.com/office/drawing/2014/main" val="3875828212"/>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E</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C</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tc>
                <a:extLst>
                  <a:ext uri="{0D108BD9-81ED-4DB2-BD59-A6C34878D82A}">
                    <a16:rowId xmlns:a16="http://schemas.microsoft.com/office/drawing/2014/main" val="833086155"/>
                  </a:ext>
                </a:extLst>
              </a:tr>
              <a:tr h="0">
                <a:tc>
                  <a:txBody>
                    <a:bodyPr/>
                    <a:lstStyle/>
                    <a:p>
                      <a:pPr>
                        <a:lnSpc>
                          <a:spcPct val="107000"/>
                        </a:lnSpc>
                        <a:spcAft>
                          <a:spcPts val="800"/>
                        </a:spcAft>
                      </a:pPr>
                      <a:r>
                        <a:rPr lang="en-CA" sz="2400" dirty="0">
                          <a:effectLst/>
                          <a:latin typeface="Calibri" panose="020F0502020204030204" pitchFamily="34" charset="0"/>
                          <a:ea typeface="Calibri" panose="020F0502020204030204" pitchFamily="34" charset="0"/>
                          <a:cs typeface="Times New Roman" panose="02020603050405020304" pitchFamily="18" charset="0"/>
                        </a:rPr>
                        <a:t>F</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E</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tc>
                <a:extLst>
                  <a:ext uri="{0D108BD9-81ED-4DB2-BD59-A6C34878D82A}">
                    <a16:rowId xmlns:a16="http://schemas.microsoft.com/office/drawing/2014/main" val="2319734976"/>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G</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D, E</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extLst>
                  <a:ext uri="{0D108BD9-81ED-4DB2-BD59-A6C34878D82A}">
                    <a16:rowId xmlns:a16="http://schemas.microsoft.com/office/drawing/2014/main" val="1758889404"/>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F, G</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tc>
                <a:extLst>
                  <a:ext uri="{0D108BD9-81ED-4DB2-BD59-A6C34878D82A}">
                    <a16:rowId xmlns:a16="http://schemas.microsoft.com/office/drawing/2014/main" val="3580823842"/>
                  </a:ext>
                </a:extLst>
              </a:tr>
              <a:tr h="0">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I</a:t>
                      </a:r>
                    </a:p>
                  </a:txBody>
                  <a:tcPr marL="68580" marR="68580" marT="0" marB="0"/>
                </a:tc>
                <a:tc>
                  <a:txBody>
                    <a:bodyPr/>
                    <a:lstStyle/>
                    <a:p>
                      <a:pPr>
                        <a:lnSpc>
                          <a:spcPct val="107000"/>
                        </a:lnSpc>
                        <a:spcAft>
                          <a:spcPts val="800"/>
                        </a:spcAft>
                      </a:pPr>
                      <a:r>
                        <a:rPr lang="en-CA" sz="2400">
                          <a:effectLst/>
                          <a:latin typeface="Calibri" panose="020F0502020204030204" pitchFamily="34" charset="0"/>
                          <a:ea typeface="Calibri" panose="020F0502020204030204" pitchFamily="34" charset="0"/>
                          <a:cs typeface="Times New Roman" panose="02020603050405020304" pitchFamily="18" charset="0"/>
                        </a:rPr>
                        <a:t>H</a:t>
                      </a:r>
                    </a:p>
                  </a:txBody>
                  <a:tcPr marL="68580" marR="68580" marT="0" marB="0"/>
                </a:tc>
                <a:tc>
                  <a:txBody>
                    <a:bodyPr/>
                    <a:lstStyle/>
                    <a:p>
                      <a:pPr>
                        <a:lnSpc>
                          <a:spcPct val="107000"/>
                        </a:lnSpc>
                        <a:spcAft>
                          <a:spcPts val="800"/>
                        </a:spcAft>
                      </a:pPr>
                      <a:r>
                        <a:rPr lang="en-CA" sz="2400" dirty="0">
                          <a:effectLst/>
                          <a:latin typeface="Calibri" panose="020F0502020204030204" pitchFamily="34" charset="0"/>
                          <a:ea typeface="Calibri" panose="020F0502020204030204" pitchFamily="34" charset="0"/>
                          <a:cs typeface="Times New Roman" panose="02020603050405020304" pitchFamily="18" charset="0"/>
                        </a:rPr>
                        <a:t>6</a:t>
                      </a:r>
                    </a:p>
                  </a:txBody>
                  <a:tcPr marL="68580" marR="68580" marT="0" marB="0"/>
                </a:tc>
                <a:extLst>
                  <a:ext uri="{0D108BD9-81ED-4DB2-BD59-A6C34878D82A}">
                    <a16:rowId xmlns:a16="http://schemas.microsoft.com/office/drawing/2014/main" val="3755803145"/>
                  </a:ext>
                </a:extLst>
              </a:tr>
            </a:tbl>
          </a:graphicData>
        </a:graphic>
      </p:graphicFrame>
      <p:sp>
        <p:nvSpPr>
          <p:cNvPr id="4" name="Date Placeholder 3">
            <a:extLst>
              <a:ext uri="{FF2B5EF4-FFF2-40B4-BE49-F238E27FC236}">
                <a16:creationId xmlns:a16="http://schemas.microsoft.com/office/drawing/2014/main" id="{C2C739CD-BEF4-ABD5-763F-51711C615DC5}"/>
              </a:ext>
            </a:extLst>
          </p:cNvPr>
          <p:cNvSpPr>
            <a:spLocks noGrp="1"/>
          </p:cNvSpPr>
          <p:nvPr>
            <p:ph type="dt" sz="half" idx="10"/>
          </p:nvPr>
        </p:nvSpPr>
        <p:spPr/>
        <p:txBody>
          <a:bodyPr/>
          <a:lstStyle/>
          <a:p>
            <a:pPr>
              <a:defRPr/>
            </a:pPr>
            <a:r>
              <a:rPr lang="en-US" dirty="0"/>
              <a:t>Lecture 6</a:t>
            </a:r>
          </a:p>
        </p:txBody>
      </p:sp>
      <p:sp>
        <p:nvSpPr>
          <p:cNvPr id="5" name="Footer Placeholder 4">
            <a:extLst>
              <a:ext uri="{FF2B5EF4-FFF2-40B4-BE49-F238E27FC236}">
                <a16:creationId xmlns:a16="http://schemas.microsoft.com/office/drawing/2014/main" id="{084780FD-C6B8-AD1F-96DE-E2CD6DC74D23}"/>
              </a:ext>
            </a:extLst>
          </p:cNvPr>
          <p:cNvSpPr>
            <a:spLocks noGrp="1"/>
          </p:cNvSpPr>
          <p:nvPr>
            <p:ph type="ftr" sz="quarter" idx="11"/>
          </p:nvPr>
        </p:nvSpPr>
        <p:spPr/>
        <p:txBody>
          <a:bodyPr/>
          <a:lstStyle/>
          <a:p>
            <a:pPr>
              <a:defRPr/>
            </a:pPr>
            <a:r>
              <a:rPr lang="en-US"/>
              <a:t>G.R. Labbé                                          </a:t>
            </a:r>
          </a:p>
        </p:txBody>
      </p:sp>
      <p:sp>
        <p:nvSpPr>
          <p:cNvPr id="6" name="Slide Number Placeholder 5">
            <a:extLst>
              <a:ext uri="{FF2B5EF4-FFF2-40B4-BE49-F238E27FC236}">
                <a16:creationId xmlns:a16="http://schemas.microsoft.com/office/drawing/2014/main" id="{A163D7C0-09F9-1C7B-ACFC-D89B83DFD1AF}"/>
              </a:ext>
            </a:extLst>
          </p:cNvPr>
          <p:cNvSpPr>
            <a:spLocks noGrp="1"/>
          </p:cNvSpPr>
          <p:nvPr>
            <p:ph type="sldNum" sz="quarter" idx="12"/>
          </p:nvPr>
        </p:nvSpPr>
        <p:spPr/>
        <p:txBody>
          <a:bodyPr/>
          <a:lstStyle/>
          <a:p>
            <a:pPr>
              <a:defRPr/>
            </a:pPr>
            <a:fld id="{B9783C55-CC08-4E09-BF3D-925249F2761C}" type="slidenum">
              <a:rPr lang="en-US" altLang="en-US" smtClean="0"/>
              <a:pPr>
                <a:defRPr/>
              </a:pPr>
              <a:t>35</a:t>
            </a:fld>
            <a:endParaRPr lang="en-US" altLang="en-US"/>
          </a:p>
        </p:txBody>
      </p:sp>
    </p:spTree>
    <p:extLst>
      <p:ext uri="{BB962C8B-B14F-4D97-AF65-F5344CB8AC3E}">
        <p14:creationId xmlns:p14="http://schemas.microsoft.com/office/powerpoint/2010/main" val="2958398751"/>
      </p:ext>
    </p:extLst>
  </p:cSld>
  <p:clrMapOvr>
    <a:masterClrMapping/>
  </p:clrMapOvr>
</p:sld>
</file>

<file path=ppt/theme/theme1.xml><?xml version="1.0" encoding="utf-8"?>
<a:theme xmlns:a="http://schemas.openxmlformats.org/drawingml/2006/main" name="Office Theme">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9422</TotalTime>
  <Words>2200</Words>
  <Application>Microsoft Office PowerPoint</Application>
  <PresentationFormat>On-screen Show (4:3)</PresentationFormat>
  <Paragraphs>399</Paragraphs>
  <Slides>35</Slides>
  <Notes>27</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1" baseType="lpstr">
      <vt:lpstr>Arial</vt:lpstr>
      <vt:lpstr>Calibri</vt:lpstr>
      <vt:lpstr>Calibri Light</vt:lpstr>
      <vt:lpstr>Wingdings</vt:lpstr>
      <vt:lpstr>Office Theme</vt:lpstr>
      <vt:lpstr>Worksheet</vt:lpstr>
      <vt:lpstr>Network Diagrams and Activity on Node Analysis (AON)</vt:lpstr>
      <vt:lpstr>Project Time Management</vt:lpstr>
      <vt:lpstr>Define Activities Process</vt:lpstr>
      <vt:lpstr>WBS Review  What is the definition of WBS?</vt:lpstr>
      <vt:lpstr>PowerPoint Presentation</vt:lpstr>
      <vt:lpstr>WBS Example</vt:lpstr>
      <vt:lpstr>The Rules for creating Network Activity Diagrams</vt:lpstr>
      <vt:lpstr>Key Scheduling Terminology - simplified</vt:lpstr>
      <vt:lpstr>Key Scheduling Terminology – simplified (cont.)</vt:lpstr>
      <vt:lpstr>Key Scheduling Terminology – simplified (cont.)</vt:lpstr>
      <vt:lpstr>Key Scheduling Terminology – simplified (cont.)</vt:lpstr>
      <vt:lpstr>Labels for Activity Nodes</vt:lpstr>
      <vt:lpstr>Defining the numbers</vt:lpstr>
      <vt:lpstr>Series/Parallel Activities</vt:lpstr>
      <vt:lpstr>Activities Merge / Burst</vt:lpstr>
      <vt:lpstr>Creating a Project Network Activity Diagram - Example</vt:lpstr>
      <vt:lpstr>Activity on Node Network</vt:lpstr>
      <vt:lpstr>Constructing the Critical Path</vt:lpstr>
      <vt:lpstr>Project Activity Network Showing Project Durations</vt:lpstr>
      <vt:lpstr>Rules when using the Forward Pass</vt:lpstr>
      <vt:lpstr>Activity Network with Forward Pass</vt:lpstr>
      <vt:lpstr>Rules when using the Backward Pass</vt:lpstr>
      <vt:lpstr>Activity Network with Backward Pass</vt:lpstr>
      <vt:lpstr>Completed Network Activity Diagram  with Critical Path and Slack Times Calculated</vt:lpstr>
      <vt:lpstr>Network Activity Diagram example that Illustrates Laddering technique</vt:lpstr>
      <vt:lpstr>Network Activity Diagram example that Illustrates Laddering technique</vt:lpstr>
      <vt:lpstr>Network Activity Diagram example that Illustrates Hammocking technique</vt:lpstr>
      <vt:lpstr>Steps to Reduce the Critical Path</vt:lpstr>
      <vt:lpstr>Activity Duration Estimating</vt:lpstr>
      <vt:lpstr>Activity Duration Estimate – PERT Estimate</vt:lpstr>
      <vt:lpstr>Pert Example</vt:lpstr>
      <vt:lpstr>Pert Example</vt:lpstr>
      <vt:lpstr>AON Example 1</vt:lpstr>
      <vt:lpstr>AON Example 1</vt:lpstr>
      <vt:lpstr>AON Example 2</vt:lpstr>
    </vt:vector>
  </TitlesOfParts>
  <Company>Siemens VDO Automotive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Lecture 1</dc:title>
  <dc:creator>uid90235</dc:creator>
  <cp:lastModifiedBy>Ozlu, Sinan</cp:lastModifiedBy>
  <cp:revision>146</cp:revision>
  <cp:lastPrinted>2025-10-01T14:58:38Z</cp:lastPrinted>
  <dcterms:created xsi:type="dcterms:W3CDTF">2007-12-03T23:39:24Z</dcterms:created>
  <dcterms:modified xsi:type="dcterms:W3CDTF">2025-10-08T03:44:02Z</dcterms:modified>
</cp:coreProperties>
</file>