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44" r:id="rId1"/>
  </p:sldMasterIdLst>
  <p:notesMasterIdLst>
    <p:notesMasterId r:id="rId11"/>
  </p:notesMasterIdLst>
  <p:sldIdLst>
    <p:sldId id="256" r:id="rId2"/>
    <p:sldId id="394" r:id="rId3"/>
    <p:sldId id="395" r:id="rId4"/>
    <p:sldId id="320" r:id="rId5"/>
    <p:sldId id="321" r:id="rId6"/>
    <p:sldId id="324" r:id="rId7"/>
    <p:sldId id="325" r:id="rId8"/>
    <p:sldId id="326" r:id="rId9"/>
    <p:sldId id="328"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638" autoAdjust="0"/>
  </p:normalViewPr>
  <p:slideViewPr>
    <p:cSldViewPr>
      <p:cViewPr varScale="1">
        <p:scale>
          <a:sx n="79" d="100"/>
          <a:sy n="79" d="100"/>
        </p:scale>
        <p:origin x="202"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8153D3-06B5-44E5-88C3-E6631DC6C436}" type="datetimeFigureOut">
              <a:rPr lang="en-US" smtClean="0"/>
              <a:pPr/>
              <a:t>8/28/2025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6DEB0E-5C39-4F0C-ABDC-38727B0D2112}" type="slidenum">
              <a:rPr lang="en-US" smtClean="0"/>
              <a:pPr/>
              <a:t>‹#›</a:t>
            </a:fld>
            <a:endParaRPr lang="en-US"/>
          </a:p>
        </p:txBody>
      </p:sp>
    </p:spTree>
    <p:extLst>
      <p:ext uri="{BB962C8B-B14F-4D97-AF65-F5344CB8AC3E}">
        <p14:creationId xmlns:p14="http://schemas.microsoft.com/office/powerpoint/2010/main" val="958344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724AE2A-1C0A-4CB8-A192-FD47E86925EA}" type="datetime1">
              <a:rPr lang="en-US" smtClean="0"/>
              <a:pPr/>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455F4-70B1-4ED0-9F38-CD5B55CACC9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D37184-FB8F-4D97-BFBE-C8C3F091FBBF}" type="datetime1">
              <a:rPr lang="en-US" smtClean="0"/>
              <a:pPr/>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455F4-70B1-4ED0-9F38-CD5B55CACC9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73EC9D-6596-48AC-9659-BC8BF5477A07}" type="datetime1">
              <a:rPr lang="en-US" smtClean="0"/>
              <a:pPr/>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455F4-70B1-4ED0-9F38-CD5B55CACC9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6751885-3F17-4212-9E5B-69131481E1C1}" type="datetime1">
              <a:rPr lang="en-US" smtClean="0"/>
              <a:pPr/>
              <a:t>8/28/2025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6455F4-70B1-4ED0-9F38-CD5B55CACC9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138D5F-69A5-422F-A49C-898439C588A6}" type="datetime1">
              <a:rPr lang="en-US" smtClean="0"/>
              <a:pPr/>
              <a:t>8/28/2025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6455F4-70B1-4ED0-9F38-CD5B55CACC9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BDC42D-6EF8-4A30-82A0-C59E4A7DED59}" type="datetime1">
              <a:rPr lang="en-US" smtClean="0"/>
              <a:pPr/>
              <a:t>8/28/2025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6455F4-70B1-4ED0-9F38-CD5B55CACC9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33FC19-3E8D-4AB1-9390-C15ED6ADC833}" type="datetime1">
              <a:rPr lang="en-US" smtClean="0"/>
              <a:pPr/>
              <a:t>8/28/2025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6455F4-70B1-4ED0-9F38-CD5B55CACC9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C0A13A-89AC-4401-8CF4-0290F1D939BF}" type="datetime1">
              <a:rPr lang="en-US" smtClean="0"/>
              <a:pPr/>
              <a:t>8/28/2025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6455F4-70B1-4ED0-9F38-CD5B55CACC9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1EB01A-500E-4B35-AD0F-966442D1AF07}" type="datetime1">
              <a:rPr lang="en-US" smtClean="0"/>
              <a:pPr/>
              <a:t>8/28/2025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6455F4-70B1-4ED0-9F38-CD5B55CACC9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32D8BD-4653-40D7-AAB6-EB1FBCF757EA}" type="datetime1">
              <a:rPr lang="en-US" smtClean="0"/>
              <a:pPr/>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455F4-70B1-4ED0-9F38-CD5B55CACC9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E7483A-143C-4DC2-8430-B06775B30454}" type="datetime1">
              <a:rPr lang="en-US" smtClean="0"/>
              <a:pPr/>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455F4-70B1-4ED0-9F38-CD5B55CACC9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1303E4-E0EE-4FFA-8F5E-D5CCE4D434FC}" type="datetime1">
              <a:rPr lang="en-US" smtClean="0"/>
              <a:pPr/>
              <a:t>8/28/2025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6455F4-70B1-4ED0-9F38-CD5B55CACC9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5300" y="187420"/>
            <a:ext cx="8153400" cy="685799"/>
          </a:xfrm>
        </p:spPr>
        <p:txBody>
          <a:bodyPr>
            <a:normAutofit fontScale="90000"/>
          </a:bodyPr>
          <a:lstStyle/>
          <a:p>
            <a:r>
              <a:rPr lang="en-US" sz="3600" dirty="0"/>
              <a:t>MGMT-3105 – Sustainability and </a:t>
            </a:r>
            <a:br>
              <a:rPr lang="en-US" sz="3600" dirty="0"/>
            </a:br>
            <a:r>
              <a:rPr lang="en-US" sz="3600" dirty="0"/>
              <a:t>Business Practices</a:t>
            </a:r>
          </a:p>
        </p:txBody>
      </p:sp>
      <p:sp>
        <p:nvSpPr>
          <p:cNvPr id="7" name="Slide Number Placeholder 6"/>
          <p:cNvSpPr>
            <a:spLocks noGrp="1"/>
          </p:cNvSpPr>
          <p:nvPr>
            <p:ph type="sldNum" sz="quarter" idx="12"/>
          </p:nvPr>
        </p:nvSpPr>
        <p:spPr/>
        <p:txBody>
          <a:bodyPr/>
          <a:lstStyle/>
          <a:p>
            <a:fld id="{C86455F4-70B1-4ED0-9F38-CD5B55CACC9F}" type="slidenum">
              <a:rPr lang="en-US" smtClean="0"/>
              <a:pPr/>
              <a:t>1</a:t>
            </a:fld>
            <a:endParaRPr lang="en-US"/>
          </a:p>
        </p:txBody>
      </p:sp>
      <p:pic>
        <p:nvPicPr>
          <p:cNvPr id="6" name="Picture 5"/>
          <p:cNvPicPr>
            <a:picLocks noChangeAspect="1"/>
          </p:cNvPicPr>
          <p:nvPr/>
        </p:nvPicPr>
        <p:blipFill>
          <a:blip r:embed="rId2" cstate="print"/>
          <a:stretch>
            <a:fillRect/>
          </a:stretch>
        </p:blipFill>
        <p:spPr>
          <a:xfrm>
            <a:off x="152400" y="6213325"/>
            <a:ext cx="2005588" cy="606553"/>
          </a:xfrm>
          <a:prstGeom prst="rect">
            <a:avLst/>
          </a:prstGeom>
        </p:spPr>
      </p:pic>
      <p:sp>
        <p:nvSpPr>
          <p:cNvPr id="9" name="Rectangle 8"/>
          <p:cNvSpPr/>
          <p:nvPr/>
        </p:nvSpPr>
        <p:spPr>
          <a:xfrm>
            <a:off x="5486400" y="6387909"/>
            <a:ext cx="2843151" cy="307777"/>
          </a:xfrm>
          <a:prstGeom prst="rect">
            <a:avLst/>
          </a:prstGeom>
        </p:spPr>
        <p:txBody>
          <a:bodyPr wrap="none">
            <a:spAutoFit/>
          </a:bodyPr>
          <a:lstStyle/>
          <a:p>
            <a:r>
              <a:rPr lang="en-US" sz="1400" i="1" dirty="0"/>
              <a:t>MGMT-3105 – Design 1 – Sinan Ozlu</a:t>
            </a:r>
          </a:p>
        </p:txBody>
      </p:sp>
      <p:sp>
        <p:nvSpPr>
          <p:cNvPr id="10" name="Rectangle 9"/>
          <p:cNvSpPr/>
          <p:nvPr/>
        </p:nvSpPr>
        <p:spPr>
          <a:xfrm>
            <a:off x="0" y="1097280"/>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0" y="6181578"/>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56501" y="1524000"/>
            <a:ext cx="8167364" cy="1754326"/>
          </a:xfrm>
          <a:prstGeom prst="rect">
            <a:avLst/>
          </a:prstGeom>
          <a:noFill/>
        </p:spPr>
        <p:txBody>
          <a:bodyPr wrap="none" rtlCol="0">
            <a:spAutoFit/>
          </a:bodyPr>
          <a:lstStyle/>
          <a:p>
            <a:pPr algn="ctr"/>
            <a:r>
              <a:rPr lang="en-US" sz="5400" dirty="0">
                <a:latin typeface="+mj-lt"/>
                <a:ea typeface="+mj-ea"/>
                <a:cs typeface="+mj-cs"/>
              </a:rPr>
              <a:t>Course Information</a:t>
            </a:r>
          </a:p>
          <a:p>
            <a:pPr algn="ctr"/>
            <a:r>
              <a:rPr lang="en-US" sz="5400" dirty="0">
                <a:latin typeface="+mj-lt"/>
                <a:ea typeface="+mj-ea"/>
                <a:cs typeface="+mj-cs"/>
              </a:rPr>
              <a:t>Introduction to MGMT-3105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88815" y="0"/>
            <a:ext cx="5742384" cy="1015663"/>
          </a:xfrm>
          <a:prstGeom prst="rect">
            <a:avLst/>
          </a:prstGeom>
        </p:spPr>
        <p:txBody>
          <a:bodyPr wrap="square">
            <a:spAutoFit/>
          </a:bodyPr>
          <a:lstStyle/>
          <a:p>
            <a:pPr algn="ctr"/>
            <a:r>
              <a:rPr lang="en-CA" sz="6000" b="1" dirty="0">
                <a:solidFill>
                  <a:srgbClr val="00B050"/>
                </a:solidFill>
                <a:latin typeface="Calibri" panose="020F0502020204030204" pitchFamily="34" charset="0"/>
              </a:rPr>
              <a:t>Course Map</a:t>
            </a:r>
            <a:endParaRPr lang="en-US" sz="6000" dirty="0">
              <a:solidFill>
                <a:srgbClr val="00B050"/>
              </a:solidFill>
            </a:endParaRPr>
          </a:p>
        </p:txBody>
      </p:sp>
      <p:sp>
        <p:nvSpPr>
          <p:cNvPr id="3" name="Rectangle 2">
            <a:extLst>
              <a:ext uri="{FF2B5EF4-FFF2-40B4-BE49-F238E27FC236}">
                <a16:creationId xmlns:a16="http://schemas.microsoft.com/office/drawing/2014/main" id="{703460AB-B8C3-4B77-91CE-0B10A54FBECA}"/>
              </a:ext>
            </a:extLst>
          </p:cNvPr>
          <p:cNvSpPr/>
          <p:nvPr/>
        </p:nvSpPr>
        <p:spPr>
          <a:xfrm>
            <a:off x="4773752" y="1015663"/>
            <a:ext cx="4067866" cy="83247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FF00"/>
                </a:solidFill>
                <a:latin typeface="Calibri" panose="020F0502020204030204" pitchFamily="34" charset="0"/>
              </a:rPr>
              <a:t>Lecture 2</a:t>
            </a:r>
          </a:p>
          <a:p>
            <a:pPr algn="ctr"/>
            <a:r>
              <a:rPr lang="en-CA" dirty="0">
                <a:solidFill>
                  <a:srgbClr val="FFFF00"/>
                </a:solidFill>
                <a:latin typeface="Calibri" panose="020F0502020204030204" pitchFamily="34" charset="0"/>
              </a:rPr>
              <a:t>Introduction to Project Management and Communication</a:t>
            </a:r>
          </a:p>
        </p:txBody>
      </p:sp>
      <p:sp>
        <p:nvSpPr>
          <p:cNvPr id="5" name="Rectangle 4"/>
          <p:cNvSpPr/>
          <p:nvPr/>
        </p:nvSpPr>
        <p:spPr>
          <a:xfrm>
            <a:off x="279587" y="2022155"/>
            <a:ext cx="1989348" cy="1046440"/>
          </a:xfrm>
          <a:prstGeom prst="rect">
            <a:avLst/>
          </a:prstGeom>
          <a:solidFill>
            <a:srgbClr val="0070C0"/>
          </a:solidFill>
          <a:ln>
            <a:solidFill>
              <a:srgbClr val="FFFF00"/>
            </a:solidFill>
          </a:ln>
        </p:spPr>
        <p:txBody>
          <a:bodyPr wrap="square">
            <a:spAutoFit/>
          </a:bodyPr>
          <a:lstStyle/>
          <a:p>
            <a:pPr algn="ctr"/>
            <a:r>
              <a:rPr lang="en-CA" sz="2000" b="1" dirty="0">
                <a:solidFill>
                  <a:srgbClr val="FFFF00"/>
                </a:solidFill>
                <a:latin typeface="Calibri" panose="020F0502020204030204" pitchFamily="34" charset="0"/>
              </a:rPr>
              <a:t>Lecture 3</a:t>
            </a:r>
          </a:p>
          <a:p>
            <a:pPr algn="ctr"/>
            <a:r>
              <a:rPr lang="en-CA" sz="1400" dirty="0">
                <a:solidFill>
                  <a:srgbClr val="FFFF00"/>
                </a:solidFill>
                <a:latin typeface="Calibri" panose="020F0502020204030204" pitchFamily="34" charset="0"/>
              </a:rPr>
              <a:t>Project Scope, Charter and Organizational Structure</a:t>
            </a:r>
          </a:p>
        </p:txBody>
      </p:sp>
      <p:sp>
        <p:nvSpPr>
          <p:cNvPr id="6" name="Rectangle 5"/>
          <p:cNvSpPr/>
          <p:nvPr/>
        </p:nvSpPr>
        <p:spPr>
          <a:xfrm>
            <a:off x="2523190" y="2022155"/>
            <a:ext cx="2000846" cy="1046440"/>
          </a:xfrm>
          <a:prstGeom prst="rect">
            <a:avLst/>
          </a:prstGeom>
          <a:solidFill>
            <a:srgbClr val="0070C0"/>
          </a:solidFill>
          <a:ln>
            <a:solidFill>
              <a:srgbClr val="FFFF00"/>
            </a:solidFill>
          </a:ln>
        </p:spPr>
        <p:txBody>
          <a:bodyPr wrap="square">
            <a:spAutoFit/>
          </a:bodyPr>
          <a:lstStyle/>
          <a:p>
            <a:pPr algn="ctr"/>
            <a:r>
              <a:rPr lang="en-CA" sz="2000" b="1" dirty="0">
                <a:solidFill>
                  <a:srgbClr val="FFFF00"/>
                </a:solidFill>
                <a:latin typeface="Calibri" panose="020F0502020204030204" pitchFamily="34" charset="0"/>
              </a:rPr>
              <a:t>Lecture 4</a:t>
            </a:r>
          </a:p>
          <a:p>
            <a:pPr algn="ctr"/>
            <a:r>
              <a:rPr lang="en-CA" sz="1400" dirty="0">
                <a:solidFill>
                  <a:srgbClr val="FFFF00"/>
                </a:solidFill>
                <a:latin typeface="Calibri" panose="020F0502020204030204" pitchFamily="34" charset="0"/>
              </a:rPr>
              <a:t>Leadership and the Project Manager</a:t>
            </a:r>
          </a:p>
          <a:p>
            <a:pPr algn="ctr"/>
            <a:endParaRPr lang="en-CA" sz="1400" dirty="0">
              <a:solidFill>
                <a:srgbClr val="FFFF00"/>
              </a:solidFill>
              <a:latin typeface="Calibri" panose="020F0502020204030204" pitchFamily="34" charset="0"/>
            </a:endParaRPr>
          </a:p>
        </p:txBody>
      </p:sp>
      <p:sp>
        <p:nvSpPr>
          <p:cNvPr id="7" name="Rectangle 6"/>
          <p:cNvSpPr/>
          <p:nvPr/>
        </p:nvSpPr>
        <p:spPr>
          <a:xfrm>
            <a:off x="4779482" y="2022155"/>
            <a:ext cx="1952679" cy="1046440"/>
          </a:xfrm>
          <a:prstGeom prst="rect">
            <a:avLst/>
          </a:prstGeom>
          <a:solidFill>
            <a:srgbClr val="0070C0"/>
          </a:solidFill>
          <a:ln>
            <a:solidFill>
              <a:srgbClr val="FFFF00"/>
            </a:solidFill>
          </a:ln>
        </p:spPr>
        <p:txBody>
          <a:bodyPr wrap="square">
            <a:spAutoFit/>
          </a:bodyPr>
          <a:lstStyle/>
          <a:p>
            <a:pPr algn="ctr"/>
            <a:r>
              <a:rPr lang="en-CA" sz="2000" b="1" dirty="0">
                <a:solidFill>
                  <a:srgbClr val="FFFF00"/>
                </a:solidFill>
                <a:latin typeface="Calibri" panose="020F0502020204030204" pitchFamily="34" charset="0"/>
              </a:rPr>
              <a:t>Lecture 5</a:t>
            </a:r>
            <a:endParaRPr lang="en-CA" sz="2000" dirty="0">
              <a:solidFill>
                <a:srgbClr val="FFFF00"/>
              </a:solidFill>
              <a:latin typeface="Calibri" panose="020F0502020204030204" pitchFamily="34" charset="0"/>
            </a:endParaRPr>
          </a:p>
          <a:p>
            <a:pPr algn="ctr"/>
            <a:r>
              <a:rPr lang="en-CA" sz="1400" dirty="0">
                <a:solidFill>
                  <a:srgbClr val="FFFF00"/>
                </a:solidFill>
                <a:latin typeface="Calibri" panose="020F0502020204030204" pitchFamily="34" charset="0"/>
              </a:rPr>
              <a:t>Work Breakdown Structures</a:t>
            </a:r>
          </a:p>
          <a:p>
            <a:pPr algn="ctr"/>
            <a:r>
              <a:rPr lang="en-CA" sz="1400" dirty="0">
                <a:solidFill>
                  <a:srgbClr val="FFFF00"/>
                </a:solidFill>
                <a:latin typeface="Calibri" panose="020F0502020204030204" pitchFamily="34" charset="0"/>
              </a:rPr>
              <a:t>(WBS)</a:t>
            </a:r>
          </a:p>
        </p:txBody>
      </p:sp>
      <p:sp>
        <p:nvSpPr>
          <p:cNvPr id="8" name="Rectangle 7"/>
          <p:cNvSpPr/>
          <p:nvPr/>
        </p:nvSpPr>
        <p:spPr>
          <a:xfrm>
            <a:off x="6933914" y="2022155"/>
            <a:ext cx="1907704" cy="1046440"/>
          </a:xfrm>
          <a:prstGeom prst="rect">
            <a:avLst/>
          </a:prstGeom>
          <a:solidFill>
            <a:srgbClr val="0070C0"/>
          </a:solidFill>
          <a:ln>
            <a:solidFill>
              <a:srgbClr val="FFFF00"/>
            </a:solidFill>
          </a:ln>
        </p:spPr>
        <p:txBody>
          <a:bodyPr wrap="square">
            <a:spAutoFit/>
          </a:bodyPr>
          <a:lstStyle/>
          <a:p>
            <a:pPr algn="ctr"/>
            <a:r>
              <a:rPr lang="en-CA" sz="2000" b="1" dirty="0">
                <a:solidFill>
                  <a:srgbClr val="FFFF00"/>
                </a:solidFill>
                <a:latin typeface="Calibri" panose="020F0502020204030204" pitchFamily="34" charset="0"/>
              </a:rPr>
              <a:t>Lecture 6</a:t>
            </a:r>
            <a:endParaRPr lang="en-CA" sz="2000" dirty="0">
              <a:solidFill>
                <a:srgbClr val="FFFF00"/>
              </a:solidFill>
              <a:latin typeface="Calibri" panose="020F0502020204030204" pitchFamily="34" charset="0"/>
            </a:endParaRPr>
          </a:p>
          <a:p>
            <a:pPr algn="ctr"/>
            <a:r>
              <a:rPr lang="en-CA" sz="1400" dirty="0">
                <a:solidFill>
                  <a:srgbClr val="FFFF00"/>
                </a:solidFill>
                <a:latin typeface="Calibri" panose="020F0502020204030204" pitchFamily="34" charset="0"/>
              </a:rPr>
              <a:t>Network Diagrams and Activity on Node</a:t>
            </a:r>
          </a:p>
          <a:p>
            <a:pPr algn="ctr"/>
            <a:r>
              <a:rPr lang="en-CA" sz="1400" dirty="0">
                <a:solidFill>
                  <a:srgbClr val="FFFF00"/>
                </a:solidFill>
                <a:latin typeface="Calibri" panose="020F0502020204030204" pitchFamily="34" charset="0"/>
              </a:rPr>
              <a:t>(AON)</a:t>
            </a:r>
          </a:p>
        </p:txBody>
      </p:sp>
      <p:sp>
        <p:nvSpPr>
          <p:cNvPr id="4" name="Rectangle 3"/>
          <p:cNvSpPr/>
          <p:nvPr/>
        </p:nvSpPr>
        <p:spPr>
          <a:xfrm>
            <a:off x="278396" y="3242611"/>
            <a:ext cx="1989348" cy="1046440"/>
          </a:xfrm>
          <a:prstGeom prst="rect">
            <a:avLst/>
          </a:prstGeom>
          <a:solidFill>
            <a:srgbClr val="0070C0"/>
          </a:solidFill>
          <a:ln>
            <a:solidFill>
              <a:srgbClr val="FFFF00"/>
            </a:solidFill>
          </a:ln>
        </p:spPr>
        <p:txBody>
          <a:bodyPr wrap="square">
            <a:spAutoFit/>
          </a:bodyPr>
          <a:lstStyle/>
          <a:p>
            <a:pPr algn="ctr"/>
            <a:r>
              <a:rPr lang="en-CA" sz="2000" b="1" dirty="0">
                <a:solidFill>
                  <a:srgbClr val="FFFF00"/>
                </a:solidFill>
                <a:latin typeface="Calibri" panose="020F0502020204030204" pitchFamily="34" charset="0"/>
              </a:rPr>
              <a:t>Lecture 7</a:t>
            </a:r>
            <a:endParaRPr lang="en-CA" sz="2000" dirty="0">
              <a:solidFill>
                <a:srgbClr val="FFFF00"/>
              </a:solidFill>
              <a:latin typeface="Calibri" panose="020F0502020204030204" pitchFamily="34" charset="0"/>
            </a:endParaRPr>
          </a:p>
          <a:p>
            <a:pPr algn="ctr"/>
            <a:r>
              <a:rPr lang="en-CA" sz="1400" dirty="0">
                <a:solidFill>
                  <a:srgbClr val="FFFF00"/>
                </a:solidFill>
                <a:latin typeface="Calibri" panose="020F0502020204030204" pitchFamily="34" charset="0"/>
              </a:rPr>
              <a:t>Risk Management</a:t>
            </a:r>
          </a:p>
          <a:p>
            <a:pPr algn="ctr"/>
            <a:endParaRPr lang="en-CA" sz="1400" dirty="0">
              <a:solidFill>
                <a:srgbClr val="FFFF00"/>
              </a:solidFill>
              <a:latin typeface="Calibri" panose="020F0502020204030204" pitchFamily="34" charset="0"/>
            </a:endParaRPr>
          </a:p>
          <a:p>
            <a:pPr algn="ctr"/>
            <a:endParaRPr lang="en-CA" sz="1400" dirty="0">
              <a:solidFill>
                <a:srgbClr val="FFFF00"/>
              </a:solidFill>
              <a:latin typeface="Calibri" panose="020F0502020204030204" pitchFamily="34" charset="0"/>
            </a:endParaRPr>
          </a:p>
        </p:txBody>
      </p:sp>
      <p:sp>
        <p:nvSpPr>
          <p:cNvPr id="9" name="Rectangle 8"/>
          <p:cNvSpPr/>
          <p:nvPr/>
        </p:nvSpPr>
        <p:spPr>
          <a:xfrm>
            <a:off x="2523190" y="3227728"/>
            <a:ext cx="2000846" cy="1046440"/>
          </a:xfrm>
          <a:prstGeom prst="rect">
            <a:avLst/>
          </a:prstGeom>
          <a:solidFill>
            <a:srgbClr val="0070C0"/>
          </a:solidFill>
          <a:ln>
            <a:solidFill>
              <a:srgbClr val="FFFF00"/>
            </a:solidFill>
          </a:ln>
        </p:spPr>
        <p:txBody>
          <a:bodyPr wrap="square">
            <a:spAutoFit/>
          </a:bodyPr>
          <a:lstStyle/>
          <a:p>
            <a:pPr algn="ctr"/>
            <a:r>
              <a:rPr lang="en-CA" sz="2000" b="1" dirty="0">
                <a:solidFill>
                  <a:srgbClr val="FFFF00"/>
                </a:solidFill>
                <a:latin typeface="Calibri" panose="020F0502020204030204" pitchFamily="34" charset="0"/>
              </a:rPr>
              <a:t>Lecture 8</a:t>
            </a:r>
            <a:endParaRPr lang="en-CA" sz="2000" dirty="0">
              <a:solidFill>
                <a:srgbClr val="FFFF00"/>
              </a:solidFill>
              <a:latin typeface="Calibri" panose="020F0502020204030204" pitchFamily="34" charset="0"/>
            </a:endParaRPr>
          </a:p>
          <a:p>
            <a:pPr algn="ctr"/>
            <a:r>
              <a:rPr lang="en-CA" sz="1400" dirty="0">
                <a:solidFill>
                  <a:srgbClr val="FFFF00"/>
                </a:solidFill>
                <a:latin typeface="Calibri" panose="020F0502020204030204" pitchFamily="34" charset="0"/>
              </a:rPr>
              <a:t>Project Scheduling</a:t>
            </a:r>
          </a:p>
          <a:p>
            <a:pPr algn="ctr"/>
            <a:endParaRPr lang="en-CA" sz="1400" dirty="0">
              <a:solidFill>
                <a:srgbClr val="FFFF00"/>
              </a:solidFill>
              <a:latin typeface="Calibri" panose="020F0502020204030204" pitchFamily="34" charset="0"/>
            </a:endParaRPr>
          </a:p>
          <a:p>
            <a:pPr algn="ctr"/>
            <a:endParaRPr lang="en-CA" sz="1400" dirty="0">
              <a:solidFill>
                <a:srgbClr val="FFFF00"/>
              </a:solidFill>
              <a:latin typeface="Calibri" panose="020F0502020204030204" pitchFamily="34" charset="0"/>
            </a:endParaRPr>
          </a:p>
        </p:txBody>
      </p:sp>
      <p:sp>
        <p:nvSpPr>
          <p:cNvPr id="10" name="Rectangle 9"/>
          <p:cNvSpPr/>
          <p:nvPr/>
        </p:nvSpPr>
        <p:spPr>
          <a:xfrm>
            <a:off x="4778345" y="3242611"/>
            <a:ext cx="1952679" cy="1046440"/>
          </a:xfrm>
          <a:prstGeom prst="rect">
            <a:avLst/>
          </a:prstGeom>
          <a:solidFill>
            <a:srgbClr val="0070C0"/>
          </a:solidFill>
          <a:ln>
            <a:solidFill>
              <a:srgbClr val="FFFF00"/>
            </a:solidFill>
          </a:ln>
        </p:spPr>
        <p:txBody>
          <a:bodyPr wrap="square">
            <a:spAutoFit/>
          </a:bodyPr>
          <a:lstStyle/>
          <a:p>
            <a:pPr algn="ctr"/>
            <a:r>
              <a:rPr lang="en-CA" sz="2000" b="1" dirty="0">
                <a:solidFill>
                  <a:srgbClr val="FFFF00"/>
                </a:solidFill>
                <a:latin typeface="Calibri" panose="020F0502020204030204" pitchFamily="34" charset="0"/>
              </a:rPr>
              <a:t>Lecture 9</a:t>
            </a:r>
            <a:endParaRPr lang="en-CA" sz="2000" dirty="0">
              <a:solidFill>
                <a:srgbClr val="FFFF00"/>
              </a:solidFill>
              <a:latin typeface="Calibri" panose="020F0502020204030204" pitchFamily="34" charset="0"/>
            </a:endParaRPr>
          </a:p>
          <a:p>
            <a:pPr algn="ctr"/>
            <a:r>
              <a:rPr lang="en-CA" sz="1400" dirty="0">
                <a:solidFill>
                  <a:srgbClr val="FFFF00"/>
                </a:solidFill>
                <a:latin typeface="Calibri" panose="020F0502020204030204" pitchFamily="34" charset="0"/>
              </a:rPr>
              <a:t>Costs Estimation</a:t>
            </a:r>
          </a:p>
          <a:p>
            <a:pPr algn="ctr"/>
            <a:r>
              <a:rPr lang="en-CA" sz="1400" dirty="0">
                <a:solidFill>
                  <a:srgbClr val="FFFF00"/>
                </a:solidFill>
                <a:latin typeface="Calibri" panose="020F0502020204030204" pitchFamily="34" charset="0"/>
              </a:rPr>
              <a:t>and Budgeting</a:t>
            </a:r>
          </a:p>
          <a:p>
            <a:pPr algn="ctr"/>
            <a:endParaRPr lang="en-CA" sz="1400" dirty="0">
              <a:solidFill>
                <a:srgbClr val="FFFF00"/>
              </a:solidFill>
              <a:latin typeface="Calibri" panose="020F0502020204030204" pitchFamily="34" charset="0"/>
            </a:endParaRPr>
          </a:p>
        </p:txBody>
      </p:sp>
      <p:sp>
        <p:nvSpPr>
          <p:cNvPr id="11" name="Rectangle 10"/>
          <p:cNvSpPr/>
          <p:nvPr/>
        </p:nvSpPr>
        <p:spPr>
          <a:xfrm>
            <a:off x="6933914" y="3229693"/>
            <a:ext cx="1901974" cy="1046440"/>
          </a:xfrm>
          <a:prstGeom prst="rect">
            <a:avLst/>
          </a:prstGeom>
          <a:solidFill>
            <a:srgbClr val="0070C0"/>
          </a:solidFill>
          <a:ln>
            <a:solidFill>
              <a:srgbClr val="FFFF00"/>
            </a:solidFill>
          </a:ln>
        </p:spPr>
        <p:txBody>
          <a:bodyPr wrap="square">
            <a:spAutoFit/>
          </a:bodyPr>
          <a:lstStyle/>
          <a:p>
            <a:pPr algn="ctr"/>
            <a:r>
              <a:rPr lang="en-CA" sz="2000" b="1" dirty="0">
                <a:solidFill>
                  <a:srgbClr val="FFFF00"/>
                </a:solidFill>
                <a:latin typeface="Calibri" panose="020F0502020204030204" pitchFamily="34" charset="0"/>
              </a:rPr>
              <a:t>Lecture 10</a:t>
            </a:r>
            <a:r>
              <a:rPr lang="en-CA" sz="2000" dirty="0">
                <a:solidFill>
                  <a:srgbClr val="FFFF00"/>
                </a:solidFill>
                <a:latin typeface="Calibri" panose="020F0502020204030204" pitchFamily="34" charset="0"/>
              </a:rPr>
              <a:t> </a:t>
            </a:r>
          </a:p>
          <a:p>
            <a:pPr algn="ctr"/>
            <a:r>
              <a:rPr lang="en-CA" sz="1400" dirty="0">
                <a:solidFill>
                  <a:srgbClr val="FFFF00"/>
                </a:solidFill>
                <a:latin typeface="Calibri" panose="020F0502020204030204" pitchFamily="34" charset="0"/>
              </a:rPr>
              <a:t>Negotiation and</a:t>
            </a:r>
          </a:p>
          <a:p>
            <a:pPr algn="ctr"/>
            <a:r>
              <a:rPr lang="en-CA" sz="1400" dirty="0">
                <a:solidFill>
                  <a:srgbClr val="FFFF00"/>
                </a:solidFill>
                <a:latin typeface="Calibri" panose="020F0502020204030204" pitchFamily="34" charset="0"/>
              </a:rPr>
              <a:t>Conflict Management</a:t>
            </a:r>
          </a:p>
          <a:p>
            <a:pPr algn="ctr"/>
            <a:endParaRPr lang="en-CA" sz="1400" dirty="0">
              <a:solidFill>
                <a:srgbClr val="FFFF00"/>
              </a:solidFill>
              <a:latin typeface="Calibri" panose="020F0502020204030204" pitchFamily="34" charset="0"/>
            </a:endParaRPr>
          </a:p>
        </p:txBody>
      </p:sp>
      <p:sp>
        <p:nvSpPr>
          <p:cNvPr id="12" name="Rectangle 11"/>
          <p:cNvSpPr/>
          <p:nvPr/>
        </p:nvSpPr>
        <p:spPr>
          <a:xfrm>
            <a:off x="278396" y="4466709"/>
            <a:ext cx="4245640" cy="1046440"/>
          </a:xfrm>
          <a:prstGeom prst="rect">
            <a:avLst/>
          </a:prstGeom>
          <a:solidFill>
            <a:srgbClr val="0070C0"/>
          </a:solidFill>
          <a:ln>
            <a:solidFill>
              <a:srgbClr val="FFFF00"/>
            </a:solidFill>
          </a:ln>
        </p:spPr>
        <p:txBody>
          <a:bodyPr wrap="square">
            <a:spAutoFit/>
          </a:bodyPr>
          <a:lstStyle/>
          <a:p>
            <a:pPr lvl="0" algn="ctr"/>
            <a:r>
              <a:rPr lang="en-CA" sz="2000" b="1" dirty="0">
                <a:solidFill>
                  <a:srgbClr val="FFFF00"/>
                </a:solidFill>
                <a:latin typeface="Calibri" panose="020F0502020204030204" pitchFamily="34" charset="0"/>
              </a:rPr>
              <a:t>Lecture 11</a:t>
            </a:r>
            <a:endParaRPr lang="en-CA" sz="2000" dirty="0">
              <a:solidFill>
                <a:srgbClr val="FFFF00"/>
              </a:solidFill>
              <a:latin typeface="Calibri" panose="020F0502020204030204" pitchFamily="34" charset="0"/>
            </a:endParaRPr>
          </a:p>
          <a:p>
            <a:pPr lvl="0" algn="ctr"/>
            <a:r>
              <a:rPr lang="en-CA" sz="1400" dirty="0">
                <a:solidFill>
                  <a:srgbClr val="FFFF00"/>
                </a:solidFill>
                <a:latin typeface="Calibri" panose="020F0502020204030204" pitchFamily="34" charset="0"/>
              </a:rPr>
              <a:t>Resource Management</a:t>
            </a:r>
          </a:p>
          <a:p>
            <a:pPr lvl="0" algn="ctr"/>
            <a:endParaRPr lang="en-CA" sz="1400" dirty="0">
              <a:solidFill>
                <a:srgbClr val="FFFF00"/>
              </a:solidFill>
              <a:latin typeface="Calibri" panose="020F0502020204030204" pitchFamily="34" charset="0"/>
            </a:endParaRPr>
          </a:p>
          <a:p>
            <a:pPr lvl="0" algn="ctr"/>
            <a:endParaRPr lang="en-CA" sz="1400" dirty="0">
              <a:solidFill>
                <a:srgbClr val="FFFF00"/>
              </a:solidFill>
              <a:latin typeface="Calibri" panose="020F0502020204030204" pitchFamily="34" charset="0"/>
            </a:endParaRPr>
          </a:p>
        </p:txBody>
      </p:sp>
      <p:sp>
        <p:nvSpPr>
          <p:cNvPr id="13" name="Rectangle 12"/>
          <p:cNvSpPr/>
          <p:nvPr/>
        </p:nvSpPr>
        <p:spPr>
          <a:xfrm>
            <a:off x="4773752" y="4466709"/>
            <a:ext cx="4062136" cy="1046440"/>
          </a:xfrm>
          <a:prstGeom prst="rect">
            <a:avLst/>
          </a:prstGeom>
          <a:solidFill>
            <a:srgbClr val="0070C0"/>
          </a:solidFill>
          <a:ln>
            <a:solidFill>
              <a:srgbClr val="FFFF00"/>
            </a:solidFill>
          </a:ln>
        </p:spPr>
        <p:txBody>
          <a:bodyPr wrap="square">
            <a:spAutoFit/>
          </a:bodyPr>
          <a:lstStyle/>
          <a:p>
            <a:pPr lvl="0" algn="ctr"/>
            <a:r>
              <a:rPr lang="en-CA" sz="2000" b="1" dirty="0">
                <a:solidFill>
                  <a:srgbClr val="FFFF00"/>
                </a:solidFill>
                <a:latin typeface="Calibri" panose="020F0502020204030204" pitchFamily="34" charset="0"/>
              </a:rPr>
              <a:t>Lecture 12</a:t>
            </a:r>
            <a:endParaRPr lang="en-CA" sz="2000" dirty="0">
              <a:solidFill>
                <a:srgbClr val="FFFF00"/>
              </a:solidFill>
              <a:latin typeface="Calibri" panose="020F0502020204030204" pitchFamily="34" charset="0"/>
            </a:endParaRPr>
          </a:p>
          <a:p>
            <a:pPr lvl="0" algn="ctr"/>
            <a:r>
              <a:rPr lang="en-CA" sz="1400" dirty="0">
                <a:solidFill>
                  <a:srgbClr val="FFFF00"/>
                </a:solidFill>
                <a:latin typeface="Calibri" panose="020F0502020204030204" pitchFamily="34" charset="0"/>
              </a:rPr>
              <a:t>Control Systems</a:t>
            </a:r>
          </a:p>
          <a:p>
            <a:pPr lvl="0" algn="ctr"/>
            <a:endParaRPr lang="en-CA" sz="1400" dirty="0">
              <a:solidFill>
                <a:srgbClr val="FFFF00"/>
              </a:solidFill>
              <a:latin typeface="Calibri" panose="020F0502020204030204" pitchFamily="34" charset="0"/>
            </a:endParaRPr>
          </a:p>
          <a:p>
            <a:pPr lvl="0" algn="ctr"/>
            <a:endParaRPr lang="en-CA" sz="1400" dirty="0">
              <a:solidFill>
                <a:srgbClr val="FFFF00"/>
              </a:solidFill>
              <a:latin typeface="Calibri" panose="020F0502020204030204" pitchFamily="34" charset="0"/>
            </a:endParaRPr>
          </a:p>
        </p:txBody>
      </p:sp>
      <p:sp>
        <p:nvSpPr>
          <p:cNvPr id="14" name="Rectangle 13"/>
          <p:cNvSpPr/>
          <p:nvPr/>
        </p:nvSpPr>
        <p:spPr>
          <a:xfrm>
            <a:off x="301985" y="5703725"/>
            <a:ext cx="8563222" cy="1046440"/>
          </a:xfrm>
          <a:prstGeom prst="rect">
            <a:avLst/>
          </a:prstGeom>
          <a:solidFill>
            <a:srgbClr val="0070C0"/>
          </a:solidFill>
          <a:ln>
            <a:solidFill>
              <a:srgbClr val="FFFF00"/>
            </a:solidFill>
          </a:ln>
        </p:spPr>
        <p:txBody>
          <a:bodyPr wrap="square">
            <a:spAutoFit/>
          </a:bodyPr>
          <a:lstStyle/>
          <a:p>
            <a:pPr algn="ctr"/>
            <a:r>
              <a:rPr lang="en-CA" sz="2000" b="1" dirty="0">
                <a:solidFill>
                  <a:srgbClr val="FFFF00"/>
                </a:solidFill>
                <a:latin typeface="Calibri" panose="020F0502020204030204" pitchFamily="34" charset="0"/>
              </a:rPr>
              <a:t>Lecture 13</a:t>
            </a:r>
          </a:p>
          <a:p>
            <a:pPr algn="ctr"/>
            <a:r>
              <a:rPr lang="en-CA" sz="1400" dirty="0">
                <a:solidFill>
                  <a:srgbClr val="FFFF00"/>
                </a:solidFill>
                <a:latin typeface="Calibri" panose="020F0502020204030204" pitchFamily="34" charset="0"/>
              </a:rPr>
              <a:t>Project Closeout and Termination</a:t>
            </a:r>
          </a:p>
          <a:p>
            <a:pPr algn="ctr"/>
            <a:endParaRPr lang="en-CA" sz="1400" dirty="0">
              <a:solidFill>
                <a:srgbClr val="FFFF00"/>
              </a:solidFill>
              <a:latin typeface="Calibri" panose="020F0502020204030204" pitchFamily="34" charset="0"/>
            </a:endParaRPr>
          </a:p>
          <a:p>
            <a:pPr algn="ctr"/>
            <a:endParaRPr lang="en-US" sz="1400" dirty="0">
              <a:solidFill>
                <a:srgbClr val="FFFF00"/>
              </a:solidFill>
            </a:endParaRPr>
          </a:p>
        </p:txBody>
      </p:sp>
      <p:sp>
        <p:nvSpPr>
          <p:cNvPr id="18" name="Slide Number Placeholder 17">
            <a:extLst>
              <a:ext uri="{FF2B5EF4-FFF2-40B4-BE49-F238E27FC236}">
                <a16:creationId xmlns:a16="http://schemas.microsoft.com/office/drawing/2014/main" id="{E11BD27F-0764-427E-9315-ACDE5F5094F1}"/>
              </a:ext>
            </a:extLst>
          </p:cNvPr>
          <p:cNvSpPr>
            <a:spLocks noGrp="1"/>
          </p:cNvSpPr>
          <p:nvPr>
            <p:ph type="sldNum" sz="quarter" idx="12"/>
          </p:nvPr>
        </p:nvSpPr>
        <p:spPr/>
        <p:txBody>
          <a:bodyPr/>
          <a:lstStyle/>
          <a:p>
            <a:fld id="{E31375A4-56A4-47D6-9801-1991572033F7}" type="slidenum">
              <a:rPr lang="en-US" smtClean="0">
                <a:solidFill>
                  <a:prstClr val="black"/>
                </a:solidFill>
              </a:rPr>
              <a:pPr/>
              <a:t>2</a:t>
            </a:fld>
            <a:endParaRPr lang="en-US">
              <a:solidFill>
                <a:prstClr val="black"/>
              </a:solidFill>
            </a:endParaRPr>
          </a:p>
        </p:txBody>
      </p:sp>
      <p:sp>
        <p:nvSpPr>
          <p:cNvPr id="15" name="Date Placeholder 14">
            <a:extLst>
              <a:ext uri="{FF2B5EF4-FFF2-40B4-BE49-F238E27FC236}">
                <a16:creationId xmlns:a16="http://schemas.microsoft.com/office/drawing/2014/main" id="{97B07EFA-C786-AD31-D213-39F69DD73AB0}"/>
              </a:ext>
            </a:extLst>
          </p:cNvPr>
          <p:cNvSpPr>
            <a:spLocks noGrp="1"/>
          </p:cNvSpPr>
          <p:nvPr>
            <p:ph type="dt" sz="half" idx="10"/>
          </p:nvPr>
        </p:nvSpPr>
        <p:spPr/>
        <p:txBody>
          <a:bodyPr/>
          <a:lstStyle/>
          <a:p>
            <a:r>
              <a:rPr lang="en-US">
                <a:solidFill>
                  <a:prstClr val="black"/>
                </a:solidFill>
              </a:rPr>
              <a:t>G.R. Labbé</a:t>
            </a:r>
          </a:p>
        </p:txBody>
      </p:sp>
      <p:sp>
        <p:nvSpPr>
          <p:cNvPr id="16" name="Rectangle 15">
            <a:extLst>
              <a:ext uri="{FF2B5EF4-FFF2-40B4-BE49-F238E27FC236}">
                <a16:creationId xmlns:a16="http://schemas.microsoft.com/office/drawing/2014/main" id="{4D2A234A-ADFA-E7C6-48EE-3B5DA1ABF5A9}"/>
              </a:ext>
            </a:extLst>
          </p:cNvPr>
          <p:cNvSpPr/>
          <p:nvPr/>
        </p:nvSpPr>
        <p:spPr>
          <a:xfrm>
            <a:off x="301985" y="1031290"/>
            <a:ext cx="4222051" cy="83247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FF00"/>
                </a:solidFill>
                <a:latin typeface="Calibri" panose="020F0502020204030204" pitchFamily="34" charset="0"/>
              </a:rPr>
              <a:t>Lecture 1</a:t>
            </a:r>
          </a:p>
          <a:p>
            <a:pPr algn="ctr"/>
            <a:r>
              <a:rPr lang="en-CA" dirty="0">
                <a:solidFill>
                  <a:srgbClr val="FFFF00"/>
                </a:solidFill>
                <a:latin typeface="Calibri" panose="020F0502020204030204" pitchFamily="34" charset="0"/>
              </a:rPr>
              <a:t>Sustainability</a:t>
            </a:r>
          </a:p>
        </p:txBody>
      </p:sp>
    </p:spTree>
    <p:extLst>
      <p:ext uri="{BB962C8B-B14F-4D97-AF65-F5344CB8AC3E}">
        <p14:creationId xmlns:p14="http://schemas.microsoft.com/office/powerpoint/2010/main" val="4220907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7790007-8ED7-1CFB-11BF-D04BFCFCEF8D}"/>
              </a:ext>
            </a:extLst>
          </p:cNvPr>
          <p:cNvSpPr>
            <a:spLocks noGrp="1"/>
          </p:cNvSpPr>
          <p:nvPr>
            <p:ph type="title"/>
          </p:nvPr>
        </p:nvSpPr>
        <p:spPr>
          <a:xfrm>
            <a:off x="971550" y="381000"/>
            <a:ext cx="7200900" cy="743744"/>
          </a:xfrm>
        </p:spPr>
        <p:txBody>
          <a:bodyPr>
            <a:normAutofit fontScale="90000"/>
          </a:bodyPr>
          <a:lstStyle/>
          <a:p>
            <a:r>
              <a:rPr lang="en-US" dirty="0"/>
              <a:t>MGMT-3105 Grades</a:t>
            </a:r>
            <a:endParaRPr lang="en-CA" dirty="0"/>
          </a:p>
        </p:txBody>
      </p:sp>
      <p:graphicFrame>
        <p:nvGraphicFramePr>
          <p:cNvPr id="5" name="Table 4">
            <a:extLst>
              <a:ext uri="{FF2B5EF4-FFF2-40B4-BE49-F238E27FC236}">
                <a16:creationId xmlns:a16="http://schemas.microsoft.com/office/drawing/2014/main" id="{A7EA5B67-5BF9-7CC9-5FBF-05E0702CC54C}"/>
              </a:ext>
            </a:extLst>
          </p:cNvPr>
          <p:cNvGraphicFramePr>
            <a:graphicFrameLocks noGrp="1"/>
          </p:cNvGraphicFramePr>
          <p:nvPr>
            <p:extLst>
              <p:ext uri="{D42A27DB-BD31-4B8C-83A1-F6EECF244321}">
                <p14:modId xmlns:p14="http://schemas.microsoft.com/office/powerpoint/2010/main" val="3908939773"/>
              </p:ext>
            </p:extLst>
          </p:nvPr>
        </p:nvGraphicFramePr>
        <p:xfrm>
          <a:off x="606396" y="1340768"/>
          <a:ext cx="7775604" cy="4123140"/>
        </p:xfrm>
        <a:graphic>
          <a:graphicData uri="http://schemas.openxmlformats.org/drawingml/2006/table">
            <a:tbl>
              <a:tblPr firstRow="1" firstCol="1" bandRow="1">
                <a:tableStyleId>{5C22544A-7EE6-4342-B048-85BDC9FD1C3A}</a:tableStyleId>
              </a:tblPr>
              <a:tblGrid>
                <a:gridCol w="4575204">
                  <a:extLst>
                    <a:ext uri="{9D8B030D-6E8A-4147-A177-3AD203B41FA5}">
                      <a16:colId xmlns:a16="http://schemas.microsoft.com/office/drawing/2014/main" val="142510106"/>
                    </a:ext>
                  </a:extLst>
                </a:gridCol>
                <a:gridCol w="1905000">
                  <a:extLst>
                    <a:ext uri="{9D8B030D-6E8A-4147-A177-3AD203B41FA5}">
                      <a16:colId xmlns:a16="http://schemas.microsoft.com/office/drawing/2014/main" val="1319753920"/>
                    </a:ext>
                  </a:extLst>
                </a:gridCol>
                <a:gridCol w="1295400">
                  <a:extLst>
                    <a:ext uri="{9D8B030D-6E8A-4147-A177-3AD203B41FA5}">
                      <a16:colId xmlns:a16="http://schemas.microsoft.com/office/drawing/2014/main" val="2956973302"/>
                    </a:ext>
                  </a:extLst>
                </a:gridCol>
              </a:tblGrid>
              <a:tr h="589020">
                <a:tc>
                  <a:txBody>
                    <a:bodyPr/>
                    <a:lstStyle/>
                    <a:p>
                      <a:pPr>
                        <a:lnSpc>
                          <a:spcPct val="107000"/>
                        </a:lnSpc>
                        <a:spcAft>
                          <a:spcPts val="800"/>
                        </a:spcAft>
                      </a:pPr>
                      <a:r>
                        <a:rPr lang="en-CA" sz="3200" dirty="0">
                          <a:effectLst/>
                        </a:rPr>
                        <a:t>Midterm</a:t>
                      </a:r>
                      <a:endParaRPr lang="en-CA"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R w="12700" cap="flat" cmpd="sng" algn="ctr">
                      <a:solidFill>
                        <a:schemeClr val="tx1"/>
                      </a:solidFill>
                      <a:prstDash val="solid"/>
                      <a:round/>
                      <a:headEnd type="none" w="med" len="med"/>
                      <a:tailEnd type="none" w="med" len="med"/>
                    </a:lnR>
                  </a:tcPr>
                </a:tc>
                <a:tc>
                  <a:txBody>
                    <a:bodyPr/>
                    <a:lstStyle/>
                    <a:p>
                      <a:pPr>
                        <a:lnSpc>
                          <a:spcPct val="107000"/>
                        </a:lnSpc>
                        <a:spcAft>
                          <a:spcPts val="800"/>
                        </a:spcAft>
                      </a:pPr>
                      <a:r>
                        <a:rPr lang="en-CA" sz="3200" b="0" dirty="0">
                          <a:solidFill>
                            <a:schemeClr val="tx1">
                              <a:lumMod val="85000"/>
                              <a:lumOff val="15000"/>
                            </a:schemeClr>
                          </a:solidFill>
                          <a:effectLst/>
                        </a:rPr>
                        <a:t>Week 7</a:t>
                      </a:r>
                      <a:endParaRPr lang="en-CA" sz="3200" b="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8EE"/>
                    </a:solidFill>
                  </a:tcPr>
                </a:tc>
                <a:tc>
                  <a:txBody>
                    <a:bodyPr/>
                    <a:lstStyle/>
                    <a:p>
                      <a:pPr>
                        <a:lnSpc>
                          <a:spcPct val="107000"/>
                        </a:lnSpc>
                        <a:spcAft>
                          <a:spcPts val="800"/>
                        </a:spcAft>
                      </a:pPr>
                      <a:r>
                        <a:rPr lang="en-CA" sz="3200" b="0" dirty="0">
                          <a:solidFill>
                            <a:schemeClr val="tx1">
                              <a:lumMod val="85000"/>
                              <a:lumOff val="15000"/>
                            </a:schemeClr>
                          </a:solidFill>
                          <a:effectLst/>
                        </a:rPr>
                        <a:t>25%</a:t>
                      </a:r>
                      <a:endParaRPr lang="en-CA" sz="3200" b="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8EE"/>
                    </a:solidFill>
                  </a:tcPr>
                </a:tc>
                <a:extLst>
                  <a:ext uri="{0D108BD9-81ED-4DB2-BD59-A6C34878D82A}">
                    <a16:rowId xmlns:a16="http://schemas.microsoft.com/office/drawing/2014/main" val="169353062"/>
                  </a:ext>
                </a:extLst>
              </a:tr>
              <a:tr h="589020">
                <a:tc>
                  <a:txBody>
                    <a:bodyPr/>
                    <a:lstStyle/>
                    <a:p>
                      <a:pPr>
                        <a:lnSpc>
                          <a:spcPct val="107000"/>
                        </a:lnSpc>
                        <a:spcAft>
                          <a:spcPts val="800"/>
                        </a:spcAft>
                      </a:pPr>
                      <a:r>
                        <a:rPr lang="en-CA" sz="3200">
                          <a:effectLst/>
                        </a:rPr>
                        <a:t>Final</a:t>
                      </a:r>
                      <a:endParaRPr lang="en-CA" sz="320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R w="12700" cap="flat" cmpd="sng" algn="ctr">
                      <a:solidFill>
                        <a:schemeClr val="tx1"/>
                      </a:solidFill>
                      <a:prstDash val="solid"/>
                      <a:round/>
                      <a:headEnd type="none" w="med" len="med"/>
                      <a:tailEnd type="none" w="med" len="med"/>
                    </a:lnR>
                  </a:tcPr>
                </a:tc>
                <a:tc>
                  <a:txBody>
                    <a:bodyPr/>
                    <a:lstStyle/>
                    <a:p>
                      <a:pPr>
                        <a:lnSpc>
                          <a:spcPct val="107000"/>
                        </a:lnSpc>
                        <a:spcAft>
                          <a:spcPts val="800"/>
                        </a:spcAft>
                      </a:pPr>
                      <a:r>
                        <a:rPr lang="en-CA" sz="3200" dirty="0">
                          <a:effectLst/>
                        </a:rPr>
                        <a:t>Week 14</a:t>
                      </a:r>
                      <a:endParaRPr lang="en-CA"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CA" sz="3200" dirty="0">
                          <a:effectLst/>
                        </a:rPr>
                        <a:t>25%</a:t>
                      </a:r>
                      <a:endParaRPr lang="en-CA"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1616528"/>
                  </a:ext>
                </a:extLst>
              </a:tr>
              <a:tr h="589020">
                <a:tc>
                  <a:txBody>
                    <a:bodyPr/>
                    <a:lstStyle/>
                    <a:p>
                      <a:pPr>
                        <a:lnSpc>
                          <a:spcPct val="107000"/>
                        </a:lnSpc>
                        <a:spcAft>
                          <a:spcPts val="800"/>
                        </a:spcAft>
                      </a:pPr>
                      <a:r>
                        <a:rPr lang="en-CA" sz="3200">
                          <a:effectLst/>
                        </a:rPr>
                        <a:t>Quizzes</a:t>
                      </a:r>
                      <a:endParaRPr lang="en-CA"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R w="12700" cap="flat" cmpd="sng" algn="ctr">
                      <a:solidFill>
                        <a:schemeClr val="tx1"/>
                      </a:solidFill>
                      <a:prstDash val="solid"/>
                      <a:round/>
                      <a:headEnd type="none" w="med" len="med"/>
                      <a:tailEnd type="none" w="med" len="med"/>
                    </a:lnR>
                  </a:tcPr>
                </a:tc>
                <a:tc>
                  <a:txBody>
                    <a:bodyPr/>
                    <a:lstStyle/>
                    <a:p>
                      <a:pPr>
                        <a:lnSpc>
                          <a:spcPct val="107000"/>
                        </a:lnSpc>
                        <a:spcAft>
                          <a:spcPts val="800"/>
                        </a:spcAft>
                      </a:pPr>
                      <a:r>
                        <a:rPr lang="en-CA" sz="3200" dirty="0">
                          <a:effectLst/>
                        </a:rPr>
                        <a:t>Weekly</a:t>
                      </a:r>
                      <a:endParaRPr lang="en-CA"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CA" sz="3200" dirty="0">
                          <a:effectLst/>
                        </a:rPr>
                        <a:t>12%</a:t>
                      </a:r>
                      <a:endParaRPr lang="en-CA"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90633"/>
                  </a:ext>
                </a:extLst>
              </a:tr>
              <a:tr h="589020">
                <a:tc>
                  <a:txBody>
                    <a:bodyPr/>
                    <a:lstStyle/>
                    <a:p>
                      <a:pPr>
                        <a:lnSpc>
                          <a:spcPct val="107000"/>
                        </a:lnSpc>
                        <a:spcAft>
                          <a:spcPts val="800"/>
                        </a:spcAft>
                      </a:pPr>
                      <a:r>
                        <a:rPr lang="en-CA" sz="3200" dirty="0">
                          <a:effectLst/>
                        </a:rPr>
                        <a:t>Case Studies</a:t>
                      </a:r>
                      <a:endParaRPr lang="en-CA"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R w="12700" cap="flat" cmpd="sng" algn="ctr">
                      <a:solidFill>
                        <a:schemeClr val="tx1"/>
                      </a:solidFill>
                      <a:prstDash val="solid"/>
                      <a:round/>
                      <a:headEnd type="none" w="med" len="med"/>
                      <a:tailEnd type="none" w="med" len="med"/>
                    </a:lnR>
                  </a:tcPr>
                </a:tc>
                <a:tc>
                  <a:txBody>
                    <a:bodyPr/>
                    <a:lstStyle/>
                    <a:p>
                      <a:pPr>
                        <a:lnSpc>
                          <a:spcPct val="107000"/>
                        </a:lnSpc>
                        <a:spcAft>
                          <a:spcPts val="800"/>
                        </a:spcAft>
                      </a:pPr>
                      <a:r>
                        <a:rPr lang="en-CA" sz="3200" dirty="0">
                          <a:effectLst/>
                          <a:latin typeface="Calibri" panose="020F0502020204030204" pitchFamily="34" charset="0"/>
                          <a:ea typeface="Calibri" panose="020F0502020204030204" pitchFamily="34" charset="0"/>
                          <a:cs typeface="Times New Roman" panose="02020603050405020304" pitchFamily="18" charset="0"/>
                        </a:rPr>
                        <a:t>Weekly</a:t>
                      </a:r>
                    </a:p>
                  </a:txBody>
                  <a:tcPr marL="77615" marR="7761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CA" sz="3200" dirty="0">
                          <a:effectLst/>
                        </a:rPr>
                        <a:t>12%</a:t>
                      </a:r>
                      <a:endParaRPr lang="en-CA"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7820360"/>
                  </a:ext>
                </a:extLst>
              </a:tr>
              <a:tr h="589020">
                <a:tc>
                  <a:txBody>
                    <a:bodyPr/>
                    <a:lstStyle/>
                    <a:p>
                      <a:pPr>
                        <a:lnSpc>
                          <a:spcPct val="107000"/>
                        </a:lnSpc>
                        <a:spcAft>
                          <a:spcPts val="800"/>
                        </a:spcAft>
                      </a:pPr>
                      <a:r>
                        <a:rPr lang="en-CA" sz="3200" dirty="0">
                          <a:effectLst/>
                        </a:rPr>
                        <a:t>Assignment Phase A </a:t>
                      </a:r>
                      <a:endParaRPr lang="en-CA"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R w="12700" cap="flat" cmpd="sng" algn="ctr">
                      <a:solidFill>
                        <a:schemeClr val="tx1"/>
                      </a:solidFill>
                      <a:prstDash val="solid"/>
                      <a:round/>
                      <a:headEnd type="none" w="med" len="med"/>
                      <a:tailEnd type="none" w="med" len="med"/>
                    </a:lnR>
                  </a:tcPr>
                </a:tc>
                <a:tc>
                  <a:txBody>
                    <a:bodyPr/>
                    <a:lstStyle/>
                    <a:p>
                      <a:pPr>
                        <a:lnSpc>
                          <a:spcPct val="107000"/>
                        </a:lnSpc>
                        <a:spcAft>
                          <a:spcPts val="800"/>
                        </a:spcAft>
                      </a:pPr>
                      <a:r>
                        <a:rPr lang="en-CA" sz="3200" dirty="0">
                          <a:effectLst/>
                        </a:rPr>
                        <a:t>Week 7</a:t>
                      </a:r>
                      <a:endParaRPr lang="en-CA"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CA" sz="3200" dirty="0">
                          <a:effectLst/>
                        </a:rPr>
                        <a:t>10%</a:t>
                      </a:r>
                      <a:endParaRPr lang="en-CA"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1362759"/>
                  </a:ext>
                </a:extLst>
              </a:tr>
              <a:tr h="589020">
                <a:tc>
                  <a:txBody>
                    <a:bodyPr/>
                    <a:lstStyle/>
                    <a:p>
                      <a:pPr>
                        <a:lnSpc>
                          <a:spcPct val="107000"/>
                        </a:lnSpc>
                        <a:spcAft>
                          <a:spcPts val="800"/>
                        </a:spcAft>
                      </a:pPr>
                      <a:r>
                        <a:rPr lang="en-CA" sz="3200" dirty="0">
                          <a:effectLst/>
                        </a:rPr>
                        <a:t>Assignment Phase B</a:t>
                      </a:r>
                      <a:endParaRPr lang="en-CA"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R w="12700" cap="flat" cmpd="sng" algn="ctr">
                      <a:solidFill>
                        <a:schemeClr val="tx1"/>
                      </a:solidFill>
                      <a:prstDash val="solid"/>
                      <a:round/>
                      <a:headEnd type="none" w="med" len="med"/>
                      <a:tailEnd type="none" w="med" len="med"/>
                    </a:lnR>
                  </a:tcPr>
                </a:tc>
                <a:tc>
                  <a:txBody>
                    <a:bodyPr/>
                    <a:lstStyle/>
                    <a:p>
                      <a:pPr>
                        <a:lnSpc>
                          <a:spcPct val="107000"/>
                        </a:lnSpc>
                        <a:spcAft>
                          <a:spcPts val="800"/>
                        </a:spcAft>
                      </a:pPr>
                      <a:r>
                        <a:rPr lang="en-CA" sz="3200" dirty="0">
                          <a:effectLst/>
                        </a:rPr>
                        <a:t>Week 11</a:t>
                      </a:r>
                      <a:endParaRPr lang="en-CA"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CA" sz="3200" dirty="0">
                          <a:effectLst/>
                        </a:rPr>
                        <a:t>10%</a:t>
                      </a:r>
                      <a:endParaRPr lang="en-CA"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5732665"/>
                  </a:ext>
                </a:extLst>
              </a:tr>
              <a:tr h="589020">
                <a:tc>
                  <a:txBody>
                    <a:bodyPr/>
                    <a:lstStyle/>
                    <a:p>
                      <a:pPr>
                        <a:lnSpc>
                          <a:spcPct val="107000"/>
                        </a:lnSpc>
                        <a:spcAft>
                          <a:spcPts val="800"/>
                        </a:spcAft>
                      </a:pPr>
                      <a:r>
                        <a:rPr lang="en-CA" sz="3200" dirty="0">
                          <a:effectLst/>
                        </a:rPr>
                        <a:t>Assignment Phase C</a:t>
                      </a:r>
                      <a:endParaRPr lang="en-CA"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R w="12700" cap="flat" cmpd="sng" algn="ctr">
                      <a:solidFill>
                        <a:schemeClr val="tx1"/>
                      </a:solidFill>
                      <a:prstDash val="solid"/>
                      <a:round/>
                      <a:headEnd type="none" w="med" len="med"/>
                      <a:tailEnd type="none" w="med" len="med"/>
                    </a:lnR>
                  </a:tcPr>
                </a:tc>
                <a:tc>
                  <a:txBody>
                    <a:bodyPr/>
                    <a:lstStyle/>
                    <a:p>
                      <a:pPr>
                        <a:lnSpc>
                          <a:spcPct val="107000"/>
                        </a:lnSpc>
                        <a:spcAft>
                          <a:spcPts val="800"/>
                        </a:spcAft>
                      </a:pPr>
                      <a:r>
                        <a:rPr lang="en-CA" sz="3200" dirty="0">
                          <a:effectLst/>
                        </a:rPr>
                        <a:t>Week 14</a:t>
                      </a:r>
                      <a:endParaRPr lang="en-CA"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CA" sz="3200" dirty="0">
                          <a:effectLst/>
                        </a:rPr>
                        <a:t>6%</a:t>
                      </a:r>
                      <a:endParaRPr lang="en-CA"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77615" marR="7761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134426"/>
                  </a:ext>
                </a:extLst>
              </a:tr>
            </a:tbl>
          </a:graphicData>
        </a:graphic>
      </p:graphicFrame>
    </p:spTree>
    <p:extLst>
      <p:ext uri="{BB962C8B-B14F-4D97-AF65-F5344CB8AC3E}">
        <p14:creationId xmlns:p14="http://schemas.microsoft.com/office/powerpoint/2010/main" val="235711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5300" y="187420"/>
            <a:ext cx="8153400" cy="685799"/>
          </a:xfrm>
        </p:spPr>
        <p:txBody>
          <a:bodyPr>
            <a:normAutofit/>
          </a:bodyPr>
          <a:lstStyle/>
          <a:p>
            <a:r>
              <a:rPr lang="en-US" sz="3600" dirty="0"/>
              <a:t>Course Description</a:t>
            </a:r>
          </a:p>
        </p:txBody>
      </p:sp>
      <p:sp>
        <p:nvSpPr>
          <p:cNvPr id="7" name="Slide Number Placeholder 6"/>
          <p:cNvSpPr>
            <a:spLocks noGrp="1"/>
          </p:cNvSpPr>
          <p:nvPr>
            <p:ph type="sldNum" sz="quarter" idx="12"/>
          </p:nvPr>
        </p:nvSpPr>
        <p:spPr/>
        <p:txBody>
          <a:bodyPr/>
          <a:lstStyle/>
          <a:p>
            <a:fld id="{C86455F4-70B1-4ED0-9F38-CD5B55CACC9F}" type="slidenum">
              <a:rPr lang="en-US" smtClean="0"/>
              <a:pPr/>
              <a:t>4</a:t>
            </a:fld>
            <a:endParaRPr lang="en-US"/>
          </a:p>
        </p:txBody>
      </p:sp>
      <p:pic>
        <p:nvPicPr>
          <p:cNvPr id="6" name="Picture 5"/>
          <p:cNvPicPr>
            <a:picLocks noChangeAspect="1"/>
          </p:cNvPicPr>
          <p:nvPr/>
        </p:nvPicPr>
        <p:blipFill>
          <a:blip r:embed="rId2" cstate="print"/>
          <a:stretch>
            <a:fillRect/>
          </a:stretch>
        </p:blipFill>
        <p:spPr>
          <a:xfrm>
            <a:off x="152400" y="6213325"/>
            <a:ext cx="2005588" cy="606553"/>
          </a:xfrm>
          <a:prstGeom prst="rect">
            <a:avLst/>
          </a:prstGeom>
        </p:spPr>
      </p:pic>
      <p:sp>
        <p:nvSpPr>
          <p:cNvPr id="10" name="Rectangle 9"/>
          <p:cNvSpPr/>
          <p:nvPr/>
        </p:nvSpPr>
        <p:spPr>
          <a:xfrm>
            <a:off x="0" y="1097280"/>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0" y="6181578"/>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
          <p:cNvSpPr>
            <a:spLocks noChangeArrowheads="1"/>
          </p:cNvSpPr>
          <p:nvPr/>
        </p:nvSpPr>
        <p:spPr bwMode="auto">
          <a:xfrm>
            <a:off x="152400" y="1720839"/>
            <a:ext cx="8839200" cy="34163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CA" sz="2400" dirty="0"/>
              <a:t>This course is an introduction to the philosophy of Sustainability and Project Management. It introduces the history and basic principles of project management. The course discusses the most important aspects of project management through the initiation, development, execution and closure phases of the project, going over historical examples, and discussing the evolution of project management to its present form. The implications on the organizational culture and best practices are discussed. Concepts of scheduling, budgeting, risk estimation and scope management are examined. </a:t>
            </a:r>
            <a:endParaRPr kumimoji="0" lang="en-US" sz="3600" b="0" i="0" u="none" strike="noStrike" cap="none" normalizeH="0" baseline="0" dirty="0">
              <a:ln>
                <a:noFill/>
              </a:ln>
              <a:solidFill>
                <a:schemeClr val="tx1"/>
              </a:solidFill>
              <a:effectLst/>
              <a:latin typeface="Arial" pitchFamily="34" charset="0"/>
              <a:cs typeface="Arial" pitchFamily="34" charset="0"/>
            </a:endParaRPr>
          </a:p>
        </p:txBody>
      </p:sp>
      <p:sp>
        <p:nvSpPr>
          <p:cNvPr id="12" name="Rectangle 11">
            <a:extLst>
              <a:ext uri="{FF2B5EF4-FFF2-40B4-BE49-F238E27FC236}">
                <a16:creationId xmlns:a16="http://schemas.microsoft.com/office/drawing/2014/main" id="{7A599445-BCE8-4CC9-BBCD-30164D537DCF}"/>
              </a:ext>
            </a:extLst>
          </p:cNvPr>
          <p:cNvSpPr/>
          <p:nvPr/>
        </p:nvSpPr>
        <p:spPr>
          <a:xfrm>
            <a:off x="5486400" y="6387909"/>
            <a:ext cx="2794035" cy="307777"/>
          </a:xfrm>
          <a:prstGeom prst="rect">
            <a:avLst/>
          </a:prstGeom>
        </p:spPr>
        <p:txBody>
          <a:bodyPr wrap="none">
            <a:spAutoFit/>
          </a:bodyPr>
          <a:lstStyle/>
          <a:p>
            <a:r>
              <a:rPr lang="en-US" sz="1400" i="1" dirty="0"/>
              <a:t>MACH-6001 – Design 1 – Sinan Ozlu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5300" y="187420"/>
            <a:ext cx="8153400" cy="685799"/>
          </a:xfrm>
        </p:spPr>
        <p:txBody>
          <a:bodyPr>
            <a:normAutofit/>
          </a:bodyPr>
          <a:lstStyle/>
          <a:p>
            <a:r>
              <a:rPr lang="en-US" sz="3600" dirty="0"/>
              <a:t>Course Learning Outcomes</a:t>
            </a:r>
          </a:p>
        </p:txBody>
      </p:sp>
      <p:sp>
        <p:nvSpPr>
          <p:cNvPr id="7" name="Slide Number Placeholder 6"/>
          <p:cNvSpPr>
            <a:spLocks noGrp="1"/>
          </p:cNvSpPr>
          <p:nvPr>
            <p:ph type="sldNum" sz="quarter" idx="12"/>
          </p:nvPr>
        </p:nvSpPr>
        <p:spPr/>
        <p:txBody>
          <a:bodyPr/>
          <a:lstStyle/>
          <a:p>
            <a:fld id="{C86455F4-70B1-4ED0-9F38-CD5B55CACC9F}" type="slidenum">
              <a:rPr lang="en-US" smtClean="0"/>
              <a:pPr/>
              <a:t>5</a:t>
            </a:fld>
            <a:endParaRPr lang="en-US"/>
          </a:p>
        </p:txBody>
      </p:sp>
      <p:pic>
        <p:nvPicPr>
          <p:cNvPr id="6" name="Picture 5"/>
          <p:cNvPicPr>
            <a:picLocks noChangeAspect="1"/>
          </p:cNvPicPr>
          <p:nvPr/>
        </p:nvPicPr>
        <p:blipFill>
          <a:blip r:embed="rId2" cstate="print"/>
          <a:stretch>
            <a:fillRect/>
          </a:stretch>
        </p:blipFill>
        <p:spPr>
          <a:xfrm>
            <a:off x="152400" y="6213325"/>
            <a:ext cx="2005588" cy="606553"/>
          </a:xfrm>
          <a:prstGeom prst="rect">
            <a:avLst/>
          </a:prstGeom>
        </p:spPr>
      </p:pic>
      <p:sp>
        <p:nvSpPr>
          <p:cNvPr id="10" name="Rectangle 9"/>
          <p:cNvSpPr/>
          <p:nvPr/>
        </p:nvSpPr>
        <p:spPr>
          <a:xfrm>
            <a:off x="0" y="1097280"/>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0" y="6181578"/>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092739"/>
            <a:ext cx="8839200" cy="1107996"/>
          </a:xfrm>
          <a:prstGeom prst="rect">
            <a:avLst/>
          </a:prstGeom>
        </p:spPr>
        <p:txBody>
          <a:bodyPr wrap="square">
            <a:spAutoFit/>
          </a:bodyPr>
          <a:lstStyle/>
          <a:p>
            <a:r>
              <a:rPr lang="en-CA" sz="2200" dirty="0"/>
              <a:t>Upon successful completion of this course, you will be able to reliably demonstrate the following Course Learning Outcomes which will be taught and evaluated:</a:t>
            </a:r>
          </a:p>
        </p:txBody>
      </p:sp>
      <p:sp>
        <p:nvSpPr>
          <p:cNvPr id="12" name="Rectangle 11"/>
          <p:cNvSpPr/>
          <p:nvPr/>
        </p:nvSpPr>
        <p:spPr>
          <a:xfrm>
            <a:off x="152400" y="2232294"/>
            <a:ext cx="8839200" cy="3804118"/>
          </a:xfrm>
          <a:prstGeom prst="rect">
            <a:avLst/>
          </a:prstGeom>
        </p:spPr>
        <p:txBody>
          <a:bodyPr wrap="square">
            <a:spAutoFit/>
          </a:bodyPr>
          <a:lstStyle/>
          <a:p>
            <a:r>
              <a:rPr lang="en-CA" sz="2010" dirty="0"/>
              <a:t>1.) Communicate understanding of the philosophy of project selection using the Net Present Value method</a:t>
            </a:r>
          </a:p>
          <a:p>
            <a:r>
              <a:rPr lang="en-CA" sz="2010" dirty="0"/>
              <a:t>2.) Communicate understanding of the theory of budgeting and scheduling </a:t>
            </a:r>
          </a:p>
          <a:p>
            <a:r>
              <a:rPr lang="en-CA" sz="2010" dirty="0"/>
              <a:t>3.) Communicate how the concepts of Project Management relate to real life examples </a:t>
            </a:r>
          </a:p>
          <a:p>
            <a:r>
              <a:rPr lang="en-CA" sz="2010" dirty="0"/>
              <a:t>4.) Identify the consequences to society of bad project planning </a:t>
            </a:r>
          </a:p>
          <a:p>
            <a:r>
              <a:rPr lang="en-CA" sz="2010" dirty="0"/>
              <a:t>5.) Communicate understanding of the theory of progress management </a:t>
            </a:r>
          </a:p>
          <a:p>
            <a:r>
              <a:rPr lang="en-CA" sz="2010" dirty="0"/>
              <a:t>6.) Discuss the problems of managing people and leveling other allocated resources </a:t>
            </a:r>
          </a:p>
          <a:p>
            <a:r>
              <a:rPr lang="en-CA" sz="2010" dirty="0"/>
              <a:t>7.) Communicate understanding of organizational implications of closing the project </a:t>
            </a:r>
          </a:p>
          <a:p>
            <a:r>
              <a:rPr lang="en-CA" sz="2010" dirty="0"/>
              <a:t>8.) Communicate understanding of negotiation theory </a:t>
            </a:r>
          </a:p>
          <a:p>
            <a:r>
              <a:rPr lang="en-CA" sz="2010" dirty="0"/>
              <a:t>9.) Communicate effectively in a global environment </a:t>
            </a:r>
          </a:p>
          <a:p>
            <a:r>
              <a:rPr lang="en-CA" sz="2010" dirty="0"/>
              <a:t>10.) Identify the use of sustainability in designs and project management</a:t>
            </a:r>
          </a:p>
        </p:txBody>
      </p:sp>
      <p:sp>
        <p:nvSpPr>
          <p:cNvPr id="13" name="Rectangle 12">
            <a:extLst>
              <a:ext uri="{FF2B5EF4-FFF2-40B4-BE49-F238E27FC236}">
                <a16:creationId xmlns:a16="http://schemas.microsoft.com/office/drawing/2014/main" id="{36D84491-29E4-4D78-B6AF-97540F1E9224}"/>
              </a:ext>
            </a:extLst>
          </p:cNvPr>
          <p:cNvSpPr/>
          <p:nvPr/>
        </p:nvSpPr>
        <p:spPr>
          <a:xfrm>
            <a:off x="5486400" y="6387909"/>
            <a:ext cx="2794035" cy="307777"/>
          </a:xfrm>
          <a:prstGeom prst="rect">
            <a:avLst/>
          </a:prstGeom>
        </p:spPr>
        <p:txBody>
          <a:bodyPr wrap="none">
            <a:spAutoFit/>
          </a:bodyPr>
          <a:lstStyle/>
          <a:p>
            <a:r>
              <a:rPr lang="en-US" sz="1400" i="1" dirty="0"/>
              <a:t>MACH-6001 – Design 1 – Sinan Ozlu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5300" y="187420"/>
            <a:ext cx="8153400" cy="685799"/>
          </a:xfrm>
        </p:spPr>
        <p:txBody>
          <a:bodyPr>
            <a:normAutofit/>
          </a:bodyPr>
          <a:lstStyle/>
          <a:p>
            <a:r>
              <a:rPr lang="en-US" sz="3600" dirty="0"/>
              <a:t>Academic Integrity</a:t>
            </a:r>
          </a:p>
        </p:txBody>
      </p:sp>
      <p:sp>
        <p:nvSpPr>
          <p:cNvPr id="7" name="Slide Number Placeholder 6"/>
          <p:cNvSpPr>
            <a:spLocks noGrp="1"/>
          </p:cNvSpPr>
          <p:nvPr>
            <p:ph type="sldNum" sz="quarter" idx="12"/>
          </p:nvPr>
        </p:nvSpPr>
        <p:spPr/>
        <p:txBody>
          <a:bodyPr/>
          <a:lstStyle/>
          <a:p>
            <a:fld id="{C86455F4-70B1-4ED0-9F38-CD5B55CACC9F}" type="slidenum">
              <a:rPr lang="en-US" smtClean="0"/>
              <a:pPr/>
              <a:t>6</a:t>
            </a:fld>
            <a:endParaRPr lang="en-US"/>
          </a:p>
        </p:txBody>
      </p:sp>
      <p:pic>
        <p:nvPicPr>
          <p:cNvPr id="6" name="Picture 5"/>
          <p:cNvPicPr>
            <a:picLocks noChangeAspect="1"/>
          </p:cNvPicPr>
          <p:nvPr/>
        </p:nvPicPr>
        <p:blipFill>
          <a:blip r:embed="rId2" cstate="print"/>
          <a:stretch>
            <a:fillRect/>
          </a:stretch>
        </p:blipFill>
        <p:spPr>
          <a:xfrm>
            <a:off x="152400" y="6213325"/>
            <a:ext cx="2005588" cy="606553"/>
          </a:xfrm>
          <a:prstGeom prst="rect">
            <a:avLst/>
          </a:prstGeom>
        </p:spPr>
      </p:pic>
      <p:sp>
        <p:nvSpPr>
          <p:cNvPr id="10" name="Rectangle 9"/>
          <p:cNvSpPr/>
          <p:nvPr/>
        </p:nvSpPr>
        <p:spPr>
          <a:xfrm>
            <a:off x="0" y="1097280"/>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0" y="6181578"/>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1143001"/>
            <a:ext cx="9144000" cy="5309146"/>
          </a:xfrm>
          <a:prstGeom prst="rect">
            <a:avLst/>
          </a:prstGeom>
        </p:spPr>
        <p:txBody>
          <a:bodyPr wrap="square">
            <a:spAutoFit/>
          </a:bodyPr>
          <a:lstStyle/>
          <a:p>
            <a:r>
              <a:rPr lang="en-CA" sz="1700" dirty="0"/>
              <a:t>Academic offences are very serious. Consequences range from assignment of a “0” grade all the way to expulsion from the College. </a:t>
            </a:r>
          </a:p>
          <a:p>
            <a:r>
              <a:rPr lang="en-CA" sz="1700" dirty="0"/>
              <a:t> </a:t>
            </a:r>
          </a:p>
          <a:p>
            <a:r>
              <a:rPr lang="en-CA" sz="1700" b="1" dirty="0"/>
              <a:t>What are common examples of academic offenses?</a:t>
            </a:r>
            <a:endParaRPr lang="en-CA" sz="1700" dirty="0"/>
          </a:p>
          <a:p>
            <a:pPr marL="449263" indent="-182563">
              <a:buFont typeface="Arial" panose="020B0604020202020204" pitchFamily="34" charset="0"/>
              <a:buChar char="•"/>
            </a:pPr>
            <a:r>
              <a:rPr lang="en-CA" sz="1700" dirty="0"/>
              <a:t>Submitting the writing, files, code or data of another without proper references</a:t>
            </a:r>
          </a:p>
          <a:p>
            <a:pPr marL="449263" indent="-182563">
              <a:buFont typeface="Arial" panose="020B0604020202020204" pitchFamily="34" charset="0"/>
              <a:buChar char="•"/>
            </a:pPr>
            <a:r>
              <a:rPr lang="en-CA" sz="1700" dirty="0"/>
              <a:t>Possessing unauthorized material or aids in a test or examination</a:t>
            </a:r>
          </a:p>
          <a:p>
            <a:pPr marL="449263" indent="-182563">
              <a:buFont typeface="Arial" panose="020B0604020202020204" pitchFamily="34" charset="0"/>
              <a:buChar char="•"/>
            </a:pPr>
            <a:r>
              <a:rPr lang="en-CA" sz="1700" dirty="0"/>
              <a:t>Using the same assignment for 2 courses</a:t>
            </a:r>
          </a:p>
          <a:p>
            <a:pPr marL="449263" indent="-182563">
              <a:buFont typeface="Arial" panose="020B0604020202020204" pitchFamily="34" charset="0"/>
              <a:buChar char="•"/>
            </a:pPr>
            <a:r>
              <a:rPr lang="en-CA" sz="1700" dirty="0"/>
              <a:t>Aiding and abetting anyone in an Academic Offence (letting someone see your work on a USB etc…) </a:t>
            </a:r>
          </a:p>
          <a:p>
            <a:pPr marL="449263" indent="-182563">
              <a:buFont typeface="Arial" panose="020B0604020202020204" pitchFamily="34" charset="0"/>
              <a:buChar char="•"/>
            </a:pPr>
            <a:r>
              <a:rPr lang="en-CA" sz="1700" dirty="0"/>
              <a:t>Any unauthorized communication during a test or exam </a:t>
            </a:r>
          </a:p>
          <a:p>
            <a:pPr marL="266700" indent="-266700">
              <a:buFont typeface="Arial" panose="020B0604020202020204" pitchFamily="34" charset="0"/>
              <a:buChar char="•"/>
            </a:pPr>
            <a:endParaRPr lang="en-CA" sz="1700" dirty="0"/>
          </a:p>
          <a:p>
            <a:r>
              <a:rPr lang="en-CA" sz="1700" b="1" dirty="0"/>
              <a:t>Who is penalized for an academic offense?</a:t>
            </a:r>
          </a:p>
          <a:p>
            <a:r>
              <a:rPr lang="en-CA" sz="1700" dirty="0"/>
              <a:t>There are typically two offenders for an academic offense.  The person who shared their information and the person who used that information.  By asking your classmates to share their work or communicate during a test you are jeopardizing their integrity, and therefore their grades.</a:t>
            </a:r>
          </a:p>
          <a:p>
            <a:endParaRPr lang="en-CA" sz="1700" dirty="0"/>
          </a:p>
          <a:p>
            <a:r>
              <a:rPr lang="en-CA" sz="1700" b="1" dirty="0"/>
              <a:t>The golden rule:  </a:t>
            </a:r>
            <a:r>
              <a:rPr lang="en-CA" sz="1700" dirty="0"/>
              <a:t>If you have any questions about the integrity of your work, or how to assign proper credit to shared work check with your professor BEFORE YOU SUBMIT.  By submitting your work, you are putting your name to the quality and integrity of what you have submitted.</a:t>
            </a:r>
          </a:p>
          <a:p>
            <a:endParaRPr lang="en-CA" sz="1600" dirty="0"/>
          </a:p>
        </p:txBody>
      </p:sp>
      <p:sp>
        <p:nvSpPr>
          <p:cNvPr id="12" name="Rectangle 11">
            <a:extLst>
              <a:ext uri="{FF2B5EF4-FFF2-40B4-BE49-F238E27FC236}">
                <a16:creationId xmlns:a16="http://schemas.microsoft.com/office/drawing/2014/main" id="{4E08BA1C-4D68-430D-965C-85F6165894CE}"/>
              </a:ext>
            </a:extLst>
          </p:cNvPr>
          <p:cNvSpPr/>
          <p:nvPr/>
        </p:nvSpPr>
        <p:spPr>
          <a:xfrm>
            <a:off x="5486400" y="6387909"/>
            <a:ext cx="2794035" cy="307777"/>
          </a:xfrm>
          <a:prstGeom prst="rect">
            <a:avLst/>
          </a:prstGeom>
        </p:spPr>
        <p:txBody>
          <a:bodyPr wrap="none">
            <a:spAutoFit/>
          </a:bodyPr>
          <a:lstStyle/>
          <a:p>
            <a:r>
              <a:rPr lang="en-US" sz="1400" i="1" dirty="0"/>
              <a:t>MACH-6001 – Design 1 – Sinan Ozlu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5300" y="187420"/>
            <a:ext cx="8153400" cy="685799"/>
          </a:xfrm>
        </p:spPr>
        <p:txBody>
          <a:bodyPr>
            <a:normAutofit/>
          </a:bodyPr>
          <a:lstStyle/>
          <a:p>
            <a:r>
              <a:rPr lang="en-US" sz="3600" dirty="0"/>
              <a:t>Overall Course Grading</a:t>
            </a:r>
          </a:p>
        </p:txBody>
      </p:sp>
      <p:sp>
        <p:nvSpPr>
          <p:cNvPr id="7" name="Slide Number Placeholder 6"/>
          <p:cNvSpPr>
            <a:spLocks noGrp="1"/>
          </p:cNvSpPr>
          <p:nvPr>
            <p:ph type="sldNum" sz="quarter" idx="12"/>
          </p:nvPr>
        </p:nvSpPr>
        <p:spPr/>
        <p:txBody>
          <a:bodyPr/>
          <a:lstStyle/>
          <a:p>
            <a:fld id="{C86455F4-70B1-4ED0-9F38-CD5B55CACC9F}" type="slidenum">
              <a:rPr lang="en-US" smtClean="0"/>
              <a:pPr/>
              <a:t>7</a:t>
            </a:fld>
            <a:endParaRPr lang="en-US" dirty="0"/>
          </a:p>
        </p:txBody>
      </p:sp>
      <p:pic>
        <p:nvPicPr>
          <p:cNvPr id="6" name="Picture 5"/>
          <p:cNvPicPr>
            <a:picLocks noChangeAspect="1"/>
          </p:cNvPicPr>
          <p:nvPr/>
        </p:nvPicPr>
        <p:blipFill>
          <a:blip r:embed="rId2" cstate="print"/>
          <a:stretch>
            <a:fillRect/>
          </a:stretch>
        </p:blipFill>
        <p:spPr>
          <a:xfrm>
            <a:off x="152400" y="6213325"/>
            <a:ext cx="2005588" cy="606553"/>
          </a:xfrm>
          <a:prstGeom prst="rect">
            <a:avLst/>
          </a:prstGeom>
        </p:spPr>
      </p:pic>
      <p:sp>
        <p:nvSpPr>
          <p:cNvPr id="10" name="Rectangle 9"/>
          <p:cNvSpPr/>
          <p:nvPr/>
        </p:nvSpPr>
        <p:spPr>
          <a:xfrm>
            <a:off x="0" y="1097280"/>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0" y="6181578"/>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p:cNvGraphicFramePr>
            <a:graphicFrameLocks noGrp="1"/>
          </p:cNvGraphicFramePr>
          <p:nvPr/>
        </p:nvGraphicFramePr>
        <p:xfrm>
          <a:off x="1447800" y="1752600"/>
          <a:ext cx="6096000" cy="3657600"/>
        </p:xfrm>
        <a:graphic>
          <a:graphicData uri="http://schemas.openxmlformats.org/drawingml/2006/table">
            <a:tbl>
              <a:tblPr/>
              <a:tblGrid>
                <a:gridCol w="14935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493520">
                  <a:extLst>
                    <a:ext uri="{9D8B030D-6E8A-4147-A177-3AD203B41FA5}">
                      <a16:colId xmlns:a16="http://schemas.microsoft.com/office/drawing/2014/main" val="20003"/>
                    </a:ext>
                  </a:extLst>
                </a:gridCol>
              </a:tblGrid>
              <a:tr h="243840">
                <a:tc>
                  <a:txBody>
                    <a:bodyPr/>
                    <a:lstStyle/>
                    <a:p>
                      <a:pPr marL="0" marR="0" algn="ctr">
                        <a:spcBef>
                          <a:spcPts val="0"/>
                        </a:spcBef>
                        <a:spcAft>
                          <a:spcPts val="0"/>
                        </a:spcAft>
                      </a:pPr>
                      <a:r>
                        <a:rPr lang="en-US" sz="1100" b="1" dirty="0">
                          <a:latin typeface="Arial"/>
                          <a:ea typeface="Times New Roman"/>
                          <a:cs typeface="Times New Roman"/>
                        </a:rPr>
                        <a:t>Grade</a:t>
                      </a:r>
                      <a:endParaRPr lang="en-US" sz="1100" dirty="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1100" b="1">
                          <a:latin typeface="Arial"/>
                          <a:ea typeface="Times New Roman"/>
                          <a:cs typeface="Times New Roman"/>
                        </a:rPr>
                        <a:t>Range</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1100" b="1">
                          <a:latin typeface="Arial"/>
                          <a:ea typeface="Times New Roman"/>
                          <a:cs typeface="Times New Roman"/>
                        </a:rPr>
                        <a:t>Comment</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1100" b="1">
                          <a:latin typeface="Arial"/>
                          <a:ea typeface="Times New Roman"/>
                          <a:cs typeface="Times New Roman"/>
                        </a:rPr>
                        <a:t>Grade Point</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243840">
                <a:tc>
                  <a:txBody>
                    <a:bodyPr/>
                    <a:lstStyle/>
                    <a:p>
                      <a:pPr marL="0" marR="0" algn="ctr">
                        <a:spcBef>
                          <a:spcPts val="0"/>
                        </a:spcBef>
                        <a:spcAft>
                          <a:spcPts val="0"/>
                        </a:spcAft>
                      </a:pPr>
                      <a:r>
                        <a:rPr lang="en-US" sz="1100">
                          <a:latin typeface="Arial"/>
                          <a:ea typeface="Times New Roman"/>
                          <a:cs typeface="Times New Roman"/>
                        </a:rPr>
                        <a:t>A+</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latin typeface="Arial"/>
                          <a:ea typeface="Times New Roman"/>
                          <a:cs typeface="Times New Roman"/>
                        </a:rPr>
                        <a:t>90 – 100</a:t>
                      </a:r>
                      <a:endParaRPr lang="en-US" sz="1100" dirty="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Distinguished</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4.2</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43840">
                <a:tc>
                  <a:txBody>
                    <a:bodyPr/>
                    <a:lstStyle/>
                    <a:p>
                      <a:pPr marL="0" marR="0" algn="ctr">
                        <a:spcBef>
                          <a:spcPts val="0"/>
                        </a:spcBef>
                        <a:spcAft>
                          <a:spcPts val="0"/>
                        </a:spcAft>
                      </a:pPr>
                      <a:r>
                        <a:rPr lang="en-US" sz="1100">
                          <a:latin typeface="Arial"/>
                          <a:ea typeface="Times New Roman"/>
                          <a:cs typeface="Times New Roman"/>
                        </a:rPr>
                        <a:t>A</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80 – 89</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1100">
                        <a:latin typeface="Arial"/>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4.0</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43840">
                <a:tc>
                  <a:txBody>
                    <a:bodyPr/>
                    <a:lstStyle/>
                    <a:p>
                      <a:pPr marL="0" marR="0" algn="ctr">
                        <a:spcBef>
                          <a:spcPts val="0"/>
                        </a:spcBef>
                        <a:spcAft>
                          <a:spcPts val="0"/>
                        </a:spcAft>
                      </a:pPr>
                      <a:r>
                        <a:rPr lang="en-US" sz="1100">
                          <a:latin typeface="Arial"/>
                          <a:ea typeface="Times New Roman"/>
                          <a:cs typeface="Times New Roman"/>
                        </a:rPr>
                        <a:t>B+</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75 – 79</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1100">
                        <a:latin typeface="Arial"/>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3.5</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43840">
                <a:tc>
                  <a:txBody>
                    <a:bodyPr/>
                    <a:lstStyle/>
                    <a:p>
                      <a:pPr marL="0" marR="0" algn="ctr">
                        <a:spcBef>
                          <a:spcPts val="0"/>
                        </a:spcBef>
                        <a:spcAft>
                          <a:spcPts val="0"/>
                        </a:spcAft>
                      </a:pPr>
                      <a:r>
                        <a:rPr lang="en-US" sz="1100">
                          <a:latin typeface="Arial"/>
                          <a:ea typeface="Times New Roman"/>
                          <a:cs typeface="Times New Roman"/>
                        </a:rPr>
                        <a:t>B</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70 – 74</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1100">
                        <a:latin typeface="Arial"/>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3.0</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43840">
                <a:tc>
                  <a:txBody>
                    <a:bodyPr/>
                    <a:lstStyle/>
                    <a:p>
                      <a:pPr marL="0" marR="0" algn="ctr">
                        <a:spcBef>
                          <a:spcPts val="0"/>
                        </a:spcBef>
                        <a:spcAft>
                          <a:spcPts val="0"/>
                        </a:spcAft>
                      </a:pPr>
                      <a:r>
                        <a:rPr lang="en-US" sz="1100">
                          <a:latin typeface="Arial"/>
                          <a:ea typeface="Times New Roman"/>
                          <a:cs typeface="Times New Roman"/>
                        </a:rPr>
                        <a:t>C+</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65 – 69</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1100">
                        <a:latin typeface="Arial"/>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2.5</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43840">
                <a:tc>
                  <a:txBody>
                    <a:bodyPr/>
                    <a:lstStyle/>
                    <a:p>
                      <a:pPr marL="0" marR="0" algn="ctr">
                        <a:spcBef>
                          <a:spcPts val="0"/>
                        </a:spcBef>
                        <a:spcAft>
                          <a:spcPts val="0"/>
                        </a:spcAft>
                      </a:pPr>
                      <a:r>
                        <a:rPr lang="en-US" sz="1100">
                          <a:latin typeface="Arial"/>
                          <a:ea typeface="Times New Roman"/>
                          <a:cs typeface="Times New Roman"/>
                        </a:rPr>
                        <a:t>C</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60 – 64</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1100">
                        <a:latin typeface="Arial"/>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2.0</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43840">
                <a:tc>
                  <a:txBody>
                    <a:bodyPr/>
                    <a:lstStyle/>
                    <a:p>
                      <a:pPr marL="0" marR="0" algn="ctr">
                        <a:spcBef>
                          <a:spcPts val="0"/>
                        </a:spcBef>
                        <a:spcAft>
                          <a:spcPts val="0"/>
                        </a:spcAft>
                      </a:pPr>
                      <a:r>
                        <a:rPr lang="en-US" sz="1100">
                          <a:latin typeface="Arial"/>
                          <a:ea typeface="Times New Roman"/>
                          <a:cs typeface="Times New Roman"/>
                        </a:rPr>
                        <a:t>D+</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55 – 59</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1100">
                        <a:latin typeface="Arial"/>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1.5</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43840">
                <a:tc>
                  <a:txBody>
                    <a:bodyPr/>
                    <a:lstStyle/>
                    <a:p>
                      <a:pPr marL="0" marR="0" algn="ctr">
                        <a:spcBef>
                          <a:spcPts val="0"/>
                        </a:spcBef>
                        <a:spcAft>
                          <a:spcPts val="0"/>
                        </a:spcAft>
                      </a:pPr>
                      <a:r>
                        <a:rPr lang="en-US" sz="1100">
                          <a:latin typeface="Arial"/>
                          <a:ea typeface="Times New Roman"/>
                          <a:cs typeface="Times New Roman"/>
                        </a:rPr>
                        <a:t>D</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50 – 54</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Marginal</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1.0</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43840">
                <a:tc>
                  <a:txBody>
                    <a:bodyPr/>
                    <a:lstStyle/>
                    <a:p>
                      <a:pPr marL="0" marR="0" algn="ctr">
                        <a:spcBef>
                          <a:spcPts val="0"/>
                        </a:spcBef>
                        <a:spcAft>
                          <a:spcPts val="0"/>
                        </a:spcAft>
                      </a:pPr>
                      <a:r>
                        <a:rPr lang="en-US" sz="1100">
                          <a:latin typeface="Arial"/>
                          <a:ea typeface="Times New Roman"/>
                          <a:cs typeface="Times New Roman"/>
                        </a:rPr>
                        <a:t>F</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0 – 49</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Unsatisfactory</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0</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43840">
                <a:tc>
                  <a:txBody>
                    <a:bodyPr/>
                    <a:lstStyle/>
                    <a:p>
                      <a:pPr marL="0" marR="0" algn="ctr">
                        <a:spcBef>
                          <a:spcPts val="0"/>
                        </a:spcBef>
                        <a:spcAft>
                          <a:spcPts val="0"/>
                        </a:spcAft>
                      </a:pPr>
                      <a:r>
                        <a:rPr lang="en-US" sz="1100">
                          <a:latin typeface="Arial"/>
                          <a:ea typeface="Times New Roman"/>
                          <a:cs typeface="Times New Roman"/>
                        </a:rPr>
                        <a:t>P</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Greater than 50</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Pass</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N/A</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43840">
                <a:tc>
                  <a:txBody>
                    <a:bodyPr/>
                    <a:lstStyle/>
                    <a:p>
                      <a:pPr marL="0" marR="0" algn="ctr">
                        <a:spcBef>
                          <a:spcPts val="0"/>
                        </a:spcBef>
                        <a:spcAft>
                          <a:spcPts val="0"/>
                        </a:spcAft>
                      </a:pPr>
                      <a:r>
                        <a:rPr lang="en-US" sz="1100">
                          <a:latin typeface="Arial"/>
                          <a:ea typeface="Times New Roman"/>
                          <a:cs typeface="Times New Roman"/>
                        </a:rPr>
                        <a:t>I</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N/A</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Incomplete</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N/A</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43840">
                <a:tc>
                  <a:txBody>
                    <a:bodyPr/>
                    <a:lstStyle/>
                    <a:p>
                      <a:pPr marL="0" marR="0" algn="ctr">
                        <a:spcBef>
                          <a:spcPts val="0"/>
                        </a:spcBef>
                        <a:spcAft>
                          <a:spcPts val="0"/>
                        </a:spcAft>
                      </a:pPr>
                      <a:r>
                        <a:rPr lang="en-US" sz="1100">
                          <a:latin typeface="Arial"/>
                          <a:ea typeface="Times New Roman"/>
                          <a:cs typeface="Times New Roman"/>
                        </a:rPr>
                        <a:t>N</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N/A</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No Credit Achieved</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N/A</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43840">
                <a:tc>
                  <a:txBody>
                    <a:bodyPr/>
                    <a:lstStyle/>
                    <a:p>
                      <a:pPr marL="0" marR="0" algn="ctr">
                        <a:spcBef>
                          <a:spcPts val="0"/>
                        </a:spcBef>
                        <a:spcAft>
                          <a:spcPts val="0"/>
                        </a:spcAft>
                      </a:pPr>
                      <a:r>
                        <a:rPr lang="en-US" sz="1100">
                          <a:latin typeface="Arial"/>
                          <a:ea typeface="Times New Roman"/>
                          <a:cs typeface="Times New Roman"/>
                        </a:rPr>
                        <a:t>W</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N/A</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Withdrawn</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N/A</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43840">
                <a:tc>
                  <a:txBody>
                    <a:bodyPr/>
                    <a:lstStyle/>
                    <a:p>
                      <a:pPr marL="0" marR="0" algn="ctr">
                        <a:spcBef>
                          <a:spcPts val="0"/>
                        </a:spcBef>
                        <a:spcAft>
                          <a:spcPts val="0"/>
                        </a:spcAft>
                      </a:pPr>
                      <a:r>
                        <a:rPr lang="en-US" sz="1100">
                          <a:latin typeface="Arial"/>
                          <a:ea typeface="Times New Roman"/>
                          <a:cs typeface="Times New Roman"/>
                        </a:rPr>
                        <a:t>X</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N/A</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a:latin typeface="Arial"/>
                          <a:ea typeface="Times New Roman"/>
                          <a:cs typeface="Times New Roman"/>
                        </a:rPr>
                        <a:t>Audit</a:t>
                      </a:r>
                      <a:endParaRPr lang="en-US" sz="110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latin typeface="Arial"/>
                          <a:ea typeface="Times New Roman"/>
                          <a:cs typeface="Times New Roman"/>
                        </a:rPr>
                        <a:t>N/A</a:t>
                      </a:r>
                      <a:endParaRPr lang="en-US" sz="1100" dirty="0">
                        <a:latin typeface="Cambria"/>
                        <a:ea typeface="Times New Roman"/>
                        <a:cs typeface="Times New Roman"/>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
        <p:nvSpPr>
          <p:cNvPr id="12" name="Rectangle 11">
            <a:extLst>
              <a:ext uri="{FF2B5EF4-FFF2-40B4-BE49-F238E27FC236}">
                <a16:creationId xmlns:a16="http://schemas.microsoft.com/office/drawing/2014/main" id="{EBBD9297-18F2-4C47-85AA-2DD3715DB7E4}"/>
              </a:ext>
            </a:extLst>
          </p:cNvPr>
          <p:cNvSpPr/>
          <p:nvPr/>
        </p:nvSpPr>
        <p:spPr>
          <a:xfrm>
            <a:off x="5486400" y="6387909"/>
            <a:ext cx="2794035" cy="307777"/>
          </a:xfrm>
          <a:prstGeom prst="rect">
            <a:avLst/>
          </a:prstGeom>
        </p:spPr>
        <p:txBody>
          <a:bodyPr wrap="none">
            <a:spAutoFit/>
          </a:bodyPr>
          <a:lstStyle/>
          <a:p>
            <a:r>
              <a:rPr lang="en-US" sz="1400" i="1" dirty="0"/>
              <a:t>MACH-6001 – Design 1 – Sinan Ozlu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5300" y="187420"/>
            <a:ext cx="8153400" cy="685799"/>
          </a:xfrm>
        </p:spPr>
        <p:txBody>
          <a:bodyPr>
            <a:normAutofit/>
          </a:bodyPr>
          <a:lstStyle/>
          <a:p>
            <a:r>
              <a:rPr lang="en-US" sz="3600" dirty="0"/>
              <a:t>Missed Tests – Late Assignments</a:t>
            </a:r>
          </a:p>
        </p:txBody>
      </p:sp>
      <p:sp>
        <p:nvSpPr>
          <p:cNvPr id="7" name="Slide Number Placeholder 6"/>
          <p:cNvSpPr>
            <a:spLocks noGrp="1"/>
          </p:cNvSpPr>
          <p:nvPr>
            <p:ph type="sldNum" sz="quarter" idx="12"/>
          </p:nvPr>
        </p:nvSpPr>
        <p:spPr/>
        <p:txBody>
          <a:bodyPr/>
          <a:lstStyle/>
          <a:p>
            <a:fld id="{C86455F4-70B1-4ED0-9F38-CD5B55CACC9F}" type="slidenum">
              <a:rPr lang="en-US" smtClean="0"/>
              <a:pPr/>
              <a:t>8</a:t>
            </a:fld>
            <a:endParaRPr lang="en-US"/>
          </a:p>
        </p:txBody>
      </p:sp>
      <p:pic>
        <p:nvPicPr>
          <p:cNvPr id="6" name="Picture 5"/>
          <p:cNvPicPr>
            <a:picLocks noChangeAspect="1"/>
          </p:cNvPicPr>
          <p:nvPr/>
        </p:nvPicPr>
        <p:blipFill>
          <a:blip r:embed="rId2" cstate="print"/>
          <a:stretch>
            <a:fillRect/>
          </a:stretch>
        </p:blipFill>
        <p:spPr>
          <a:xfrm>
            <a:off x="152400" y="6213325"/>
            <a:ext cx="2005588" cy="606553"/>
          </a:xfrm>
          <a:prstGeom prst="rect">
            <a:avLst/>
          </a:prstGeom>
        </p:spPr>
      </p:pic>
      <p:sp>
        <p:nvSpPr>
          <p:cNvPr id="10" name="Rectangle 9"/>
          <p:cNvSpPr/>
          <p:nvPr/>
        </p:nvSpPr>
        <p:spPr>
          <a:xfrm>
            <a:off x="0" y="1097280"/>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0" y="6181578"/>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
          <p:cNvSpPr>
            <a:spLocks noChangeArrowheads="1"/>
          </p:cNvSpPr>
          <p:nvPr/>
        </p:nvSpPr>
        <p:spPr bwMode="auto">
          <a:xfrm>
            <a:off x="533400" y="1692533"/>
            <a:ext cx="7772400" cy="35394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ea typeface="Times New Roman" pitchFamily="18" charset="0"/>
                <a:cs typeface="Arial" pitchFamily="34" charset="0"/>
              </a:rPr>
              <a:t>Missed Tests:</a:t>
            </a:r>
            <a:endParaRPr kumimoji="0" lang="en-US" sz="1200" b="0" i="0" u="none" strike="noStrike" cap="none" normalizeH="0" baseline="0" dirty="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ea typeface="Times New Roman" pitchFamily="18" charset="0"/>
                <a:cs typeface="Arial" pitchFamily="34" charset="0"/>
              </a:rPr>
              <a:t>Make-up</a:t>
            </a:r>
            <a:r>
              <a:rPr kumimoji="0" lang="en-US" sz="2800" b="0" i="0" u="none" strike="noStrike" cap="none" normalizeH="0" dirty="0">
                <a:ln>
                  <a:noFill/>
                </a:ln>
                <a:solidFill>
                  <a:schemeClr val="tx1"/>
                </a:solidFill>
                <a:effectLst/>
                <a:ea typeface="Times New Roman" pitchFamily="18" charset="0"/>
                <a:cs typeface="Arial" pitchFamily="34" charset="0"/>
              </a:rPr>
              <a:t> is possible with a doctors report. A valid excuse with further notice may result in a penalty or questions may be harder.</a:t>
            </a:r>
            <a:endParaRPr kumimoji="0" lang="en-US" sz="2800" b="0" i="0" u="none" strike="noStrike" cap="none" normalizeH="0" baseline="0" dirty="0">
              <a:ln>
                <a:noFill/>
              </a:ln>
              <a:solidFill>
                <a:schemeClr val="tx1"/>
              </a:solidFill>
              <a:effectLst/>
              <a:ea typeface="Times New Roman"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chemeClr val="tx1"/>
              </a:solidFill>
              <a:effectLst/>
              <a:ea typeface="Times New Roman"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2800" b="1" dirty="0">
                <a:cs typeface="Arial" pitchFamily="34" charset="0"/>
              </a:rPr>
              <a:t>Late Assignments: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cs typeface="Arial" pitchFamily="34" charset="0"/>
              </a:rPr>
              <a:t>There</a:t>
            </a:r>
            <a:r>
              <a:rPr kumimoji="0" lang="en-US" sz="2800" b="0" i="0" u="none" strike="noStrike" cap="none" normalizeH="0" dirty="0">
                <a:ln>
                  <a:noFill/>
                </a:ln>
                <a:solidFill>
                  <a:schemeClr val="tx1"/>
                </a:solidFill>
                <a:effectLst/>
                <a:cs typeface="Arial" pitchFamily="34" charset="0"/>
              </a:rPr>
              <a:t> will be a penalty for the late assignments without a reason or further notice.</a:t>
            </a:r>
            <a:endParaRPr kumimoji="0" lang="en-US" sz="4000" b="0" i="0" u="none" strike="noStrike" cap="none" normalizeH="0" baseline="0" dirty="0">
              <a:ln>
                <a:noFill/>
              </a:ln>
              <a:solidFill>
                <a:schemeClr val="tx1"/>
              </a:solidFill>
              <a:effectLst/>
              <a:cs typeface="Arial" pitchFamily="34" charset="0"/>
            </a:endParaRPr>
          </a:p>
        </p:txBody>
      </p:sp>
      <p:sp>
        <p:nvSpPr>
          <p:cNvPr id="12" name="Rectangle 11">
            <a:extLst>
              <a:ext uri="{FF2B5EF4-FFF2-40B4-BE49-F238E27FC236}">
                <a16:creationId xmlns:a16="http://schemas.microsoft.com/office/drawing/2014/main" id="{089D704A-D450-44FB-B019-60DCFF28CBC8}"/>
              </a:ext>
            </a:extLst>
          </p:cNvPr>
          <p:cNvSpPr/>
          <p:nvPr/>
        </p:nvSpPr>
        <p:spPr>
          <a:xfrm>
            <a:off x="5486400" y="6387909"/>
            <a:ext cx="2794035" cy="307777"/>
          </a:xfrm>
          <a:prstGeom prst="rect">
            <a:avLst/>
          </a:prstGeom>
        </p:spPr>
        <p:txBody>
          <a:bodyPr wrap="none">
            <a:spAutoFit/>
          </a:bodyPr>
          <a:lstStyle/>
          <a:p>
            <a:r>
              <a:rPr lang="en-US" sz="1400" i="1" dirty="0"/>
              <a:t>MACH-6001 – Design 1 – Sinan Ozlu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5300" y="187420"/>
            <a:ext cx="8153400" cy="685799"/>
          </a:xfrm>
        </p:spPr>
        <p:txBody>
          <a:bodyPr>
            <a:normAutofit/>
          </a:bodyPr>
          <a:lstStyle/>
          <a:p>
            <a:r>
              <a:rPr lang="en-US" sz="3600" dirty="0"/>
              <a:t>Questions?</a:t>
            </a:r>
          </a:p>
        </p:txBody>
      </p:sp>
      <p:sp>
        <p:nvSpPr>
          <p:cNvPr id="7" name="Slide Number Placeholder 6"/>
          <p:cNvSpPr>
            <a:spLocks noGrp="1"/>
          </p:cNvSpPr>
          <p:nvPr>
            <p:ph type="sldNum" sz="quarter" idx="12"/>
          </p:nvPr>
        </p:nvSpPr>
        <p:spPr/>
        <p:txBody>
          <a:bodyPr/>
          <a:lstStyle/>
          <a:p>
            <a:fld id="{C86455F4-70B1-4ED0-9F38-CD5B55CACC9F}" type="slidenum">
              <a:rPr lang="en-US" smtClean="0"/>
              <a:pPr/>
              <a:t>9</a:t>
            </a:fld>
            <a:endParaRPr lang="en-US"/>
          </a:p>
        </p:txBody>
      </p:sp>
      <p:pic>
        <p:nvPicPr>
          <p:cNvPr id="6" name="Picture 5"/>
          <p:cNvPicPr>
            <a:picLocks noChangeAspect="1"/>
          </p:cNvPicPr>
          <p:nvPr/>
        </p:nvPicPr>
        <p:blipFill>
          <a:blip r:embed="rId2" cstate="print"/>
          <a:stretch>
            <a:fillRect/>
          </a:stretch>
        </p:blipFill>
        <p:spPr>
          <a:xfrm>
            <a:off x="152400" y="6213325"/>
            <a:ext cx="2005588" cy="606553"/>
          </a:xfrm>
          <a:prstGeom prst="rect">
            <a:avLst/>
          </a:prstGeom>
        </p:spPr>
      </p:pic>
      <p:sp>
        <p:nvSpPr>
          <p:cNvPr id="10" name="Rectangle 9"/>
          <p:cNvSpPr/>
          <p:nvPr/>
        </p:nvSpPr>
        <p:spPr>
          <a:xfrm>
            <a:off x="0" y="1097280"/>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0" y="6181578"/>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oman, Thinking, Question, Mark, Doubt"/>
          <p:cNvPicPr>
            <a:picLocks noChangeAspect="1" noChangeArrowheads="1"/>
          </p:cNvPicPr>
          <p:nvPr/>
        </p:nvPicPr>
        <p:blipFill>
          <a:blip r:embed="rId3" cstate="print"/>
          <a:srcRect/>
          <a:stretch>
            <a:fillRect/>
          </a:stretch>
        </p:blipFill>
        <p:spPr bwMode="auto">
          <a:xfrm>
            <a:off x="2209800" y="1828800"/>
            <a:ext cx="4629150" cy="3238501"/>
          </a:xfrm>
          <a:prstGeom prst="rect">
            <a:avLst/>
          </a:prstGeom>
          <a:noFill/>
        </p:spPr>
      </p:pic>
      <p:sp>
        <p:nvSpPr>
          <p:cNvPr id="12" name="Rectangle 11">
            <a:extLst>
              <a:ext uri="{FF2B5EF4-FFF2-40B4-BE49-F238E27FC236}">
                <a16:creationId xmlns:a16="http://schemas.microsoft.com/office/drawing/2014/main" id="{94E4AB3F-8158-4670-9CDF-3642993A0CA8}"/>
              </a:ext>
            </a:extLst>
          </p:cNvPr>
          <p:cNvSpPr/>
          <p:nvPr/>
        </p:nvSpPr>
        <p:spPr>
          <a:xfrm>
            <a:off x="5486400" y="6387909"/>
            <a:ext cx="2794035" cy="307777"/>
          </a:xfrm>
          <a:prstGeom prst="rect">
            <a:avLst/>
          </a:prstGeom>
        </p:spPr>
        <p:txBody>
          <a:bodyPr wrap="none">
            <a:spAutoFit/>
          </a:bodyPr>
          <a:lstStyle/>
          <a:p>
            <a:r>
              <a:rPr lang="en-US" sz="1400" i="1" dirty="0"/>
              <a:t>MACH-6001 – Design 1 – Sinan Ozlu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3213</TotalTime>
  <Words>794</Words>
  <Application>Microsoft Office PowerPoint</Application>
  <PresentationFormat>On-screen Show (4:3)</PresentationFormat>
  <Paragraphs>162</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Times New Roman</vt:lpstr>
      <vt:lpstr>Office Theme</vt:lpstr>
      <vt:lpstr>MGMT-3105 – Sustainability and  Business Practices</vt:lpstr>
      <vt:lpstr>PowerPoint Presentation</vt:lpstr>
      <vt:lpstr>MGMT-3105 Grades</vt:lpstr>
      <vt:lpstr>Course Description</vt:lpstr>
      <vt:lpstr>Course Learning Outcomes</vt:lpstr>
      <vt:lpstr>Academic Integrity</vt:lpstr>
      <vt:lpstr>Overall Course Grading</vt:lpstr>
      <vt:lpstr>Missed Tests – Late Assignments</vt:lpstr>
      <vt:lpstr>Questions?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METH 6009 – SPC , METROLOGY &amp; GD&amp;T</dc:title>
  <dc:creator>Sinan</dc:creator>
  <cp:lastModifiedBy>Ozlu, Sinan</cp:lastModifiedBy>
  <cp:revision>76</cp:revision>
  <cp:lastPrinted>2023-05-02T03:12:28Z</cp:lastPrinted>
  <dcterms:created xsi:type="dcterms:W3CDTF">2016-12-25T03:45:35Z</dcterms:created>
  <dcterms:modified xsi:type="dcterms:W3CDTF">2025-08-29T04:33:56Z</dcterms:modified>
</cp:coreProperties>
</file>