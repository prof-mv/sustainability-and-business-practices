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5" r:id="rId1"/>
  </p:sldMasterIdLst>
  <p:notesMasterIdLst>
    <p:notesMasterId r:id="rId42"/>
  </p:notesMasterIdLst>
  <p:sldIdLst>
    <p:sldId id="256" r:id="rId2"/>
    <p:sldId id="257" r:id="rId3"/>
    <p:sldId id="301" r:id="rId4"/>
    <p:sldId id="258" r:id="rId5"/>
    <p:sldId id="306" r:id="rId6"/>
    <p:sldId id="260" r:id="rId7"/>
    <p:sldId id="307" r:id="rId8"/>
    <p:sldId id="302" r:id="rId9"/>
    <p:sldId id="308" r:id="rId10"/>
    <p:sldId id="259" r:id="rId11"/>
    <p:sldId id="309" r:id="rId12"/>
    <p:sldId id="264" r:id="rId13"/>
    <p:sldId id="265" r:id="rId14"/>
    <p:sldId id="274" r:id="rId15"/>
    <p:sldId id="275" r:id="rId16"/>
    <p:sldId id="266" r:id="rId17"/>
    <p:sldId id="276" r:id="rId18"/>
    <p:sldId id="277" r:id="rId19"/>
    <p:sldId id="278" r:id="rId20"/>
    <p:sldId id="280" r:id="rId21"/>
    <p:sldId id="310" r:id="rId22"/>
    <p:sldId id="281" r:id="rId23"/>
    <p:sldId id="313" r:id="rId24"/>
    <p:sldId id="282" r:id="rId25"/>
    <p:sldId id="284" r:id="rId26"/>
    <p:sldId id="283" r:id="rId27"/>
    <p:sldId id="314" r:id="rId28"/>
    <p:sldId id="285" r:id="rId29"/>
    <p:sldId id="286" r:id="rId30"/>
    <p:sldId id="287" r:id="rId31"/>
    <p:sldId id="311" r:id="rId32"/>
    <p:sldId id="288" r:id="rId33"/>
    <p:sldId id="304" r:id="rId34"/>
    <p:sldId id="290" r:id="rId35"/>
    <p:sldId id="268" r:id="rId36"/>
    <p:sldId id="291" r:id="rId37"/>
    <p:sldId id="292" r:id="rId38"/>
    <p:sldId id="293" r:id="rId39"/>
    <p:sldId id="294" r:id="rId40"/>
    <p:sldId id="303" r:id="rId4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98" autoAdjust="0"/>
    <p:restoredTop sz="94660"/>
  </p:normalViewPr>
  <p:slideViewPr>
    <p:cSldViewPr snapToObjects="1">
      <p:cViewPr>
        <p:scale>
          <a:sx n="70" d="100"/>
          <a:sy n="70" d="100"/>
        </p:scale>
        <p:origin x="1891" y="3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47E13-77D0-4FDA-B310-2DC572E10B05}" type="datetimeFigureOut">
              <a:rPr lang="en-US" smtClean="0"/>
              <a:t>11/10/2024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2C0DB4-006A-4943-A556-AFA69DEADD0A}" type="slidenum">
              <a:rPr lang="en-US" smtClean="0"/>
              <a:t>‹#›</a:t>
            </a:fld>
            <a:endParaRPr lang="en-US"/>
          </a:p>
        </p:txBody>
      </p:sp>
    </p:spTree>
    <p:extLst>
      <p:ext uri="{BB962C8B-B14F-4D97-AF65-F5344CB8AC3E}">
        <p14:creationId xmlns:p14="http://schemas.microsoft.com/office/powerpoint/2010/main" val="3779473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r>
              <a:rPr lang="en-US"/>
              <a:t>Lecture 8</a:t>
            </a:r>
          </a:p>
        </p:txBody>
      </p:sp>
      <p:sp>
        <p:nvSpPr>
          <p:cNvPr id="5" name="Footer Placeholder 4"/>
          <p:cNvSpPr>
            <a:spLocks noGrp="1"/>
          </p:cNvSpPr>
          <p:nvPr>
            <p:ph type="ftr" sz="quarter" idx="11"/>
          </p:nvPr>
        </p:nvSpPr>
        <p:spPr/>
        <p:txBody>
          <a:bodyPr/>
          <a:lstStyle/>
          <a:p>
            <a:pPr>
              <a:defRPr/>
            </a:pPr>
            <a:r>
              <a:rPr lang="en-US"/>
              <a:t>G.R. Labbé &amp; R.W. Schott</a:t>
            </a:r>
          </a:p>
        </p:txBody>
      </p:sp>
      <p:sp>
        <p:nvSpPr>
          <p:cNvPr id="6" name="Slide Number Placeholder 5"/>
          <p:cNvSpPr>
            <a:spLocks noGrp="1"/>
          </p:cNvSpPr>
          <p:nvPr>
            <p:ph type="sldNum" sz="quarter" idx="12"/>
          </p:nvPr>
        </p:nvSpPr>
        <p:spPr/>
        <p:txBody>
          <a:bodyPr/>
          <a:lstStyle/>
          <a:p>
            <a:pPr>
              <a:defRPr/>
            </a:pPr>
            <a:fld id="{D046C798-4403-44DA-9AC6-6EC60873EF0A}" type="slidenum">
              <a:rPr lang="en-US" smtClean="0"/>
              <a:pPr>
                <a:defRPr/>
              </a:pPr>
              <a:t>‹#›</a:t>
            </a:fld>
            <a:endParaRPr lang="en-US"/>
          </a:p>
        </p:txBody>
      </p:sp>
    </p:spTree>
    <p:extLst>
      <p:ext uri="{BB962C8B-B14F-4D97-AF65-F5344CB8AC3E}">
        <p14:creationId xmlns:p14="http://schemas.microsoft.com/office/powerpoint/2010/main" val="4225089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Lecture 8</a:t>
            </a:r>
          </a:p>
        </p:txBody>
      </p:sp>
      <p:sp>
        <p:nvSpPr>
          <p:cNvPr id="5" name="Footer Placeholder 4"/>
          <p:cNvSpPr>
            <a:spLocks noGrp="1"/>
          </p:cNvSpPr>
          <p:nvPr>
            <p:ph type="ftr" sz="quarter" idx="11"/>
          </p:nvPr>
        </p:nvSpPr>
        <p:spPr/>
        <p:txBody>
          <a:bodyPr/>
          <a:lstStyle/>
          <a:p>
            <a:pPr>
              <a:defRPr/>
            </a:pPr>
            <a:r>
              <a:rPr lang="en-US"/>
              <a:t>G.R. Labbé &amp; R.W. Schott</a:t>
            </a:r>
          </a:p>
        </p:txBody>
      </p:sp>
      <p:sp>
        <p:nvSpPr>
          <p:cNvPr id="6" name="Slide Number Placeholder 5"/>
          <p:cNvSpPr>
            <a:spLocks noGrp="1"/>
          </p:cNvSpPr>
          <p:nvPr>
            <p:ph type="sldNum" sz="quarter" idx="12"/>
          </p:nvPr>
        </p:nvSpPr>
        <p:spPr/>
        <p:txBody>
          <a:bodyPr/>
          <a:lstStyle/>
          <a:p>
            <a:pPr>
              <a:defRPr/>
            </a:pPr>
            <a:fld id="{AC7C6917-FFA3-44CF-9703-C7E047B1380F}" type="slidenum">
              <a:rPr lang="en-US" smtClean="0"/>
              <a:pPr>
                <a:defRPr/>
              </a:pPr>
              <a:t>‹#›</a:t>
            </a:fld>
            <a:endParaRPr lang="en-US"/>
          </a:p>
        </p:txBody>
      </p:sp>
    </p:spTree>
    <p:extLst>
      <p:ext uri="{BB962C8B-B14F-4D97-AF65-F5344CB8AC3E}">
        <p14:creationId xmlns:p14="http://schemas.microsoft.com/office/powerpoint/2010/main" val="1605515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Lecture 8</a:t>
            </a:r>
          </a:p>
        </p:txBody>
      </p:sp>
      <p:sp>
        <p:nvSpPr>
          <p:cNvPr id="5" name="Footer Placeholder 4"/>
          <p:cNvSpPr>
            <a:spLocks noGrp="1"/>
          </p:cNvSpPr>
          <p:nvPr>
            <p:ph type="ftr" sz="quarter" idx="11"/>
          </p:nvPr>
        </p:nvSpPr>
        <p:spPr/>
        <p:txBody>
          <a:bodyPr/>
          <a:lstStyle/>
          <a:p>
            <a:pPr>
              <a:defRPr/>
            </a:pPr>
            <a:r>
              <a:rPr lang="en-US"/>
              <a:t>G.R. Labbé &amp; R.W. Schott</a:t>
            </a:r>
          </a:p>
        </p:txBody>
      </p:sp>
      <p:sp>
        <p:nvSpPr>
          <p:cNvPr id="6" name="Slide Number Placeholder 5"/>
          <p:cNvSpPr>
            <a:spLocks noGrp="1"/>
          </p:cNvSpPr>
          <p:nvPr>
            <p:ph type="sldNum" sz="quarter" idx="12"/>
          </p:nvPr>
        </p:nvSpPr>
        <p:spPr/>
        <p:txBody>
          <a:bodyPr/>
          <a:lstStyle/>
          <a:p>
            <a:pPr>
              <a:defRPr/>
            </a:pPr>
            <a:fld id="{06786DB2-9127-45EA-99B0-63C31FDFD8E6}" type="slidenum">
              <a:rPr lang="en-US" smtClean="0"/>
              <a:pPr>
                <a:defRPr/>
              </a:pPr>
              <a:t>‹#›</a:t>
            </a:fld>
            <a:endParaRPr lang="en-US"/>
          </a:p>
        </p:txBody>
      </p:sp>
    </p:spTree>
    <p:extLst>
      <p:ext uri="{BB962C8B-B14F-4D97-AF65-F5344CB8AC3E}">
        <p14:creationId xmlns:p14="http://schemas.microsoft.com/office/powerpoint/2010/main" val="1833099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r>
              <a:rPr lang="en-US"/>
              <a:t>Lecture 8</a:t>
            </a:r>
          </a:p>
        </p:txBody>
      </p:sp>
      <p:sp>
        <p:nvSpPr>
          <p:cNvPr id="6" name="Footer Placeholder 5"/>
          <p:cNvSpPr>
            <a:spLocks noGrp="1"/>
          </p:cNvSpPr>
          <p:nvPr>
            <p:ph type="ftr" sz="quarter" idx="11"/>
          </p:nvPr>
        </p:nvSpPr>
        <p:spPr/>
        <p:txBody>
          <a:bodyPr/>
          <a:lstStyle/>
          <a:p>
            <a:pPr>
              <a:defRPr/>
            </a:pPr>
            <a:r>
              <a:rPr lang="en-US"/>
              <a:t>G.R. Labbé &amp; R.W. Schott</a:t>
            </a:r>
          </a:p>
        </p:txBody>
      </p:sp>
      <p:sp>
        <p:nvSpPr>
          <p:cNvPr id="7" name="Slide Number Placeholder 6"/>
          <p:cNvSpPr>
            <a:spLocks noGrp="1"/>
          </p:cNvSpPr>
          <p:nvPr>
            <p:ph type="sldNum" sz="quarter" idx="12"/>
          </p:nvPr>
        </p:nvSpPr>
        <p:spPr/>
        <p:txBody>
          <a:bodyPr/>
          <a:lstStyle/>
          <a:p>
            <a:pPr>
              <a:defRPr/>
            </a:pPr>
            <a:fld id="{72F024E7-8050-4411-BB1E-50C860E307F4}" type="slidenum">
              <a:rPr lang="en-US" smtClean="0"/>
              <a:pPr>
                <a:defRPr/>
              </a:pPr>
              <a:t>‹#›</a:t>
            </a:fld>
            <a:endParaRPr lang="en-US"/>
          </a:p>
        </p:txBody>
      </p:sp>
    </p:spTree>
    <p:extLst>
      <p:ext uri="{BB962C8B-B14F-4D97-AF65-F5344CB8AC3E}">
        <p14:creationId xmlns:p14="http://schemas.microsoft.com/office/powerpoint/2010/main" val="1555064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r>
              <a:rPr lang="en-US"/>
              <a:t>Lecture 8</a:t>
            </a:r>
          </a:p>
        </p:txBody>
      </p:sp>
      <p:sp>
        <p:nvSpPr>
          <p:cNvPr id="8" name="Footer Placeholder 7"/>
          <p:cNvSpPr>
            <a:spLocks noGrp="1"/>
          </p:cNvSpPr>
          <p:nvPr>
            <p:ph type="ftr" sz="quarter" idx="11"/>
          </p:nvPr>
        </p:nvSpPr>
        <p:spPr/>
        <p:txBody>
          <a:bodyPr/>
          <a:lstStyle/>
          <a:p>
            <a:pPr>
              <a:defRPr/>
            </a:pPr>
            <a:r>
              <a:rPr lang="en-US"/>
              <a:t>G.R. Labbé &amp; R.W. Schott</a:t>
            </a:r>
          </a:p>
        </p:txBody>
      </p:sp>
      <p:sp>
        <p:nvSpPr>
          <p:cNvPr id="9" name="Slide Number Placeholder 8"/>
          <p:cNvSpPr>
            <a:spLocks noGrp="1"/>
          </p:cNvSpPr>
          <p:nvPr>
            <p:ph type="sldNum" sz="quarter" idx="12"/>
          </p:nvPr>
        </p:nvSpPr>
        <p:spPr/>
        <p:txBody>
          <a:bodyPr/>
          <a:lstStyle/>
          <a:p>
            <a:pPr>
              <a:defRPr/>
            </a:pPr>
            <a:fld id="{5D479904-9384-4D54-9FCC-C1CF05E753A3}" type="slidenum">
              <a:rPr lang="en-US" smtClean="0"/>
              <a:pPr>
                <a:defRPr/>
              </a:pPr>
              <a:t>‹#›</a:t>
            </a:fld>
            <a:endParaRPr lang="en-US"/>
          </a:p>
        </p:txBody>
      </p:sp>
    </p:spTree>
    <p:extLst>
      <p:ext uri="{BB962C8B-B14F-4D97-AF65-F5344CB8AC3E}">
        <p14:creationId xmlns:p14="http://schemas.microsoft.com/office/powerpoint/2010/main" val="654862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a:defRPr/>
            </a:pPr>
            <a:r>
              <a:rPr lang="en-US"/>
              <a:t>Lecture 8</a:t>
            </a:r>
          </a:p>
        </p:txBody>
      </p:sp>
      <p:sp>
        <p:nvSpPr>
          <p:cNvPr id="5" name="Footer Placeholder 3"/>
          <p:cNvSpPr>
            <a:spLocks noGrp="1"/>
          </p:cNvSpPr>
          <p:nvPr>
            <p:ph type="ftr" sz="quarter" idx="11"/>
          </p:nvPr>
        </p:nvSpPr>
        <p:spPr/>
        <p:txBody>
          <a:bodyPr/>
          <a:lstStyle/>
          <a:p>
            <a:pPr>
              <a:defRPr/>
            </a:pPr>
            <a:r>
              <a:rPr lang="en-US"/>
              <a:t>G.R. Labbé &amp; R.W. Schott</a:t>
            </a:r>
          </a:p>
        </p:txBody>
      </p:sp>
      <p:sp>
        <p:nvSpPr>
          <p:cNvPr id="6" name="Slide Number Placeholder 4"/>
          <p:cNvSpPr>
            <a:spLocks noGrp="1"/>
          </p:cNvSpPr>
          <p:nvPr>
            <p:ph type="sldNum" sz="quarter" idx="12"/>
          </p:nvPr>
        </p:nvSpPr>
        <p:spPr/>
        <p:txBody>
          <a:bodyPr/>
          <a:lstStyle/>
          <a:p>
            <a:pPr>
              <a:defRPr/>
            </a:pPr>
            <a:fld id="{E178BF70-5BA0-4A22-89AB-FBCB89E583E5}" type="slidenum">
              <a:rPr lang="en-US" smtClean="0"/>
              <a:pPr>
                <a:defRPr/>
              </a:pPr>
              <a:t>‹#›</a:t>
            </a:fld>
            <a:endParaRPr lang="en-US"/>
          </a:p>
        </p:txBody>
      </p:sp>
    </p:spTree>
    <p:extLst>
      <p:ext uri="{BB962C8B-B14F-4D97-AF65-F5344CB8AC3E}">
        <p14:creationId xmlns:p14="http://schemas.microsoft.com/office/powerpoint/2010/main" val="2637624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a:defRPr/>
            </a:pPr>
            <a:r>
              <a:rPr lang="en-US"/>
              <a:t>Lecture 8</a:t>
            </a:r>
          </a:p>
        </p:txBody>
      </p:sp>
      <p:sp>
        <p:nvSpPr>
          <p:cNvPr id="5" name="Footer Placeholder 2"/>
          <p:cNvSpPr>
            <a:spLocks noGrp="1"/>
          </p:cNvSpPr>
          <p:nvPr>
            <p:ph type="ftr" sz="quarter" idx="11"/>
          </p:nvPr>
        </p:nvSpPr>
        <p:spPr/>
        <p:txBody>
          <a:bodyPr/>
          <a:lstStyle/>
          <a:p>
            <a:pPr>
              <a:defRPr/>
            </a:pPr>
            <a:r>
              <a:rPr lang="en-US"/>
              <a:t>G.R. Labbé &amp; R.W. Schott</a:t>
            </a:r>
          </a:p>
        </p:txBody>
      </p:sp>
      <p:sp>
        <p:nvSpPr>
          <p:cNvPr id="6" name="Slide Number Placeholder 3"/>
          <p:cNvSpPr>
            <a:spLocks noGrp="1"/>
          </p:cNvSpPr>
          <p:nvPr>
            <p:ph type="sldNum" sz="quarter" idx="12"/>
          </p:nvPr>
        </p:nvSpPr>
        <p:spPr/>
        <p:txBody>
          <a:bodyPr/>
          <a:lstStyle/>
          <a:p>
            <a:pPr>
              <a:defRPr/>
            </a:pPr>
            <a:fld id="{EEADF7BC-888F-4A62-8264-B28B1BF14F04}" type="slidenum">
              <a:rPr lang="en-US" smtClean="0"/>
              <a:pPr>
                <a:defRPr/>
              </a:pPr>
              <a:t>‹#›</a:t>
            </a:fld>
            <a:endParaRPr lang="en-US"/>
          </a:p>
        </p:txBody>
      </p:sp>
    </p:spTree>
    <p:extLst>
      <p:ext uri="{BB962C8B-B14F-4D97-AF65-F5344CB8AC3E}">
        <p14:creationId xmlns:p14="http://schemas.microsoft.com/office/powerpoint/2010/main" val="372796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pPr>
              <a:defRPr/>
            </a:pPr>
            <a:r>
              <a:rPr lang="en-US"/>
              <a:t>Lecture 8</a:t>
            </a:r>
          </a:p>
        </p:txBody>
      </p:sp>
      <p:sp>
        <p:nvSpPr>
          <p:cNvPr id="5" name="Footer Placeholder 5"/>
          <p:cNvSpPr>
            <a:spLocks noGrp="1"/>
          </p:cNvSpPr>
          <p:nvPr>
            <p:ph type="ftr" sz="quarter" idx="11"/>
          </p:nvPr>
        </p:nvSpPr>
        <p:spPr/>
        <p:txBody>
          <a:bodyPr/>
          <a:lstStyle/>
          <a:p>
            <a:pPr>
              <a:defRPr/>
            </a:pPr>
            <a:r>
              <a:rPr lang="en-US"/>
              <a:t>G.R. Labbé &amp; R.W. Schott</a:t>
            </a:r>
          </a:p>
        </p:txBody>
      </p:sp>
      <p:sp>
        <p:nvSpPr>
          <p:cNvPr id="6" name="Slide Number Placeholder 6"/>
          <p:cNvSpPr>
            <a:spLocks noGrp="1"/>
          </p:cNvSpPr>
          <p:nvPr>
            <p:ph type="sldNum" sz="quarter" idx="12"/>
          </p:nvPr>
        </p:nvSpPr>
        <p:spPr/>
        <p:txBody>
          <a:bodyPr/>
          <a:lstStyle/>
          <a:p>
            <a:pPr>
              <a:defRPr/>
            </a:pPr>
            <a:fld id="{DC7F4ECE-8F6E-43D4-8FCC-B10BD0449D36}" type="slidenum">
              <a:rPr lang="en-US" smtClean="0"/>
              <a:pPr>
                <a:defRPr/>
              </a:pPr>
              <a:t>‹#›</a:t>
            </a:fld>
            <a:endParaRPr lang="en-US"/>
          </a:p>
        </p:txBody>
      </p:sp>
    </p:spTree>
    <p:extLst>
      <p:ext uri="{BB962C8B-B14F-4D97-AF65-F5344CB8AC3E}">
        <p14:creationId xmlns:p14="http://schemas.microsoft.com/office/powerpoint/2010/main" val="1366685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Lecture 8</a:t>
            </a:r>
          </a:p>
        </p:txBody>
      </p:sp>
      <p:sp>
        <p:nvSpPr>
          <p:cNvPr id="6" name="Footer Placeholder 5"/>
          <p:cNvSpPr>
            <a:spLocks noGrp="1"/>
          </p:cNvSpPr>
          <p:nvPr>
            <p:ph type="ftr" sz="quarter" idx="11"/>
          </p:nvPr>
        </p:nvSpPr>
        <p:spPr/>
        <p:txBody>
          <a:bodyPr/>
          <a:lstStyle/>
          <a:p>
            <a:pPr>
              <a:defRPr/>
            </a:pPr>
            <a:r>
              <a:rPr lang="en-US"/>
              <a:t>G.R. Labbé &amp; R.W. Schott</a:t>
            </a:r>
          </a:p>
        </p:txBody>
      </p:sp>
      <p:sp>
        <p:nvSpPr>
          <p:cNvPr id="7" name="Slide Number Placeholder 6"/>
          <p:cNvSpPr>
            <a:spLocks noGrp="1"/>
          </p:cNvSpPr>
          <p:nvPr>
            <p:ph type="sldNum" sz="quarter" idx="12"/>
          </p:nvPr>
        </p:nvSpPr>
        <p:spPr/>
        <p:txBody>
          <a:bodyPr/>
          <a:lstStyle/>
          <a:p>
            <a:pPr>
              <a:defRPr/>
            </a:pPr>
            <a:fld id="{F3BB8371-1660-453D-A4B0-954DFD10D3AD}" type="slidenum">
              <a:rPr lang="en-US" smtClean="0"/>
              <a:pPr>
                <a:defRPr/>
              </a:pPr>
              <a:t>‹#›</a:t>
            </a:fld>
            <a:endParaRPr lang="en-US"/>
          </a:p>
        </p:txBody>
      </p:sp>
    </p:spTree>
    <p:extLst>
      <p:ext uri="{BB962C8B-B14F-4D97-AF65-F5344CB8AC3E}">
        <p14:creationId xmlns:p14="http://schemas.microsoft.com/office/powerpoint/2010/main" val="273687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Lecture 8</a:t>
            </a:r>
          </a:p>
        </p:txBody>
      </p:sp>
      <p:sp>
        <p:nvSpPr>
          <p:cNvPr id="6" name="Footer Placeholder 5"/>
          <p:cNvSpPr>
            <a:spLocks noGrp="1"/>
          </p:cNvSpPr>
          <p:nvPr>
            <p:ph type="ftr" sz="quarter" idx="11"/>
          </p:nvPr>
        </p:nvSpPr>
        <p:spPr/>
        <p:txBody>
          <a:bodyPr/>
          <a:lstStyle/>
          <a:p>
            <a:pPr>
              <a:defRPr/>
            </a:pPr>
            <a:r>
              <a:rPr lang="en-US"/>
              <a:t>G.R. Labbé &amp; R.W. Schott</a:t>
            </a:r>
          </a:p>
        </p:txBody>
      </p:sp>
      <p:sp>
        <p:nvSpPr>
          <p:cNvPr id="7" name="Slide Number Placeholder 6"/>
          <p:cNvSpPr>
            <a:spLocks noGrp="1"/>
          </p:cNvSpPr>
          <p:nvPr>
            <p:ph type="sldNum" sz="quarter" idx="12"/>
          </p:nvPr>
        </p:nvSpPr>
        <p:spPr/>
        <p:txBody>
          <a:bodyPr/>
          <a:lstStyle/>
          <a:p>
            <a:pPr>
              <a:defRPr/>
            </a:pPr>
            <a:fld id="{480A12CB-3A93-440A-BE63-33E6081D5E12}" type="slidenum">
              <a:rPr lang="en-US" smtClean="0"/>
              <a:pPr>
                <a:defRPr/>
              </a:pPr>
              <a:t>‹#›</a:t>
            </a:fld>
            <a:endParaRPr lang="en-US"/>
          </a:p>
        </p:txBody>
      </p:sp>
    </p:spTree>
    <p:extLst>
      <p:ext uri="{BB962C8B-B14F-4D97-AF65-F5344CB8AC3E}">
        <p14:creationId xmlns:p14="http://schemas.microsoft.com/office/powerpoint/2010/main" val="398600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Lecture 8</a:t>
            </a:r>
          </a:p>
        </p:txBody>
      </p:sp>
      <p:sp>
        <p:nvSpPr>
          <p:cNvPr id="5" name="Footer Placeholder 4"/>
          <p:cNvSpPr>
            <a:spLocks noGrp="1"/>
          </p:cNvSpPr>
          <p:nvPr>
            <p:ph type="ftr" sz="quarter" idx="11"/>
          </p:nvPr>
        </p:nvSpPr>
        <p:spPr/>
        <p:txBody>
          <a:bodyPr/>
          <a:lstStyle/>
          <a:p>
            <a:pPr>
              <a:defRPr/>
            </a:pPr>
            <a:r>
              <a:rPr lang="en-US"/>
              <a:t>G.R. Labbé &amp; R.W. Schott</a:t>
            </a:r>
          </a:p>
        </p:txBody>
      </p:sp>
      <p:sp>
        <p:nvSpPr>
          <p:cNvPr id="6" name="Slide Number Placeholder 5"/>
          <p:cNvSpPr>
            <a:spLocks noGrp="1"/>
          </p:cNvSpPr>
          <p:nvPr>
            <p:ph type="sldNum" sz="quarter" idx="12"/>
          </p:nvPr>
        </p:nvSpPr>
        <p:spPr/>
        <p:txBody>
          <a:bodyPr/>
          <a:lstStyle/>
          <a:p>
            <a:pPr>
              <a:defRPr/>
            </a:pPr>
            <a:fld id="{480A12CB-3A93-440A-BE63-33E6081D5E12}" type="slidenum">
              <a:rPr lang="en-US" smtClean="0"/>
              <a:pPr>
                <a:defRPr/>
              </a:pPr>
              <a:t>‹#›</a:t>
            </a:fld>
            <a:endParaRPr lang="en-US"/>
          </a:p>
        </p:txBody>
      </p:sp>
    </p:spTree>
    <p:extLst>
      <p:ext uri="{BB962C8B-B14F-4D97-AF65-F5344CB8AC3E}">
        <p14:creationId xmlns:p14="http://schemas.microsoft.com/office/powerpoint/2010/main" val="10017880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17649"/>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454530" y="3765449"/>
            <a:ext cx="5449871"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Lecture 8</a:t>
            </a:r>
          </a:p>
        </p:txBody>
      </p:sp>
      <p:sp>
        <p:nvSpPr>
          <p:cNvPr id="5" name="Footer Placeholder 4"/>
          <p:cNvSpPr>
            <a:spLocks noGrp="1"/>
          </p:cNvSpPr>
          <p:nvPr>
            <p:ph type="ftr" sz="quarter" idx="11"/>
          </p:nvPr>
        </p:nvSpPr>
        <p:spPr/>
        <p:txBody>
          <a:bodyPr/>
          <a:lstStyle/>
          <a:p>
            <a:pPr>
              <a:defRPr/>
            </a:pPr>
            <a:r>
              <a:rPr lang="en-US"/>
              <a:t>G.R. Labbé &amp; R.W. Schott</a:t>
            </a:r>
          </a:p>
        </p:txBody>
      </p:sp>
      <p:sp>
        <p:nvSpPr>
          <p:cNvPr id="6" name="Slide Number Placeholder 5"/>
          <p:cNvSpPr>
            <a:spLocks noGrp="1"/>
          </p:cNvSpPr>
          <p:nvPr>
            <p:ph type="sldNum" sz="quarter" idx="12"/>
          </p:nvPr>
        </p:nvSpPr>
        <p:spPr/>
        <p:txBody>
          <a:bodyPr/>
          <a:lstStyle/>
          <a:p>
            <a:pPr>
              <a:defRPr/>
            </a:pPr>
            <a:fld id="{480A12CB-3A93-440A-BE63-33E6081D5E12}" type="slidenum">
              <a:rPr lang="en-US" smtClean="0"/>
              <a:pPr>
                <a:defRPr/>
              </a:pPr>
              <a:t>‹#›</a:t>
            </a:fld>
            <a:endParaRPr lang="en-US"/>
          </a:p>
        </p:txBody>
      </p:sp>
      <p:sp>
        <p:nvSpPr>
          <p:cNvPr id="9" name="TextBox 8"/>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12200" dirty="0"/>
              <a:t>“</a:t>
            </a:r>
          </a:p>
        </p:txBody>
      </p:sp>
      <p:sp>
        <p:nvSpPr>
          <p:cNvPr id="13" name="TextBox 12"/>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836672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Lecture 8</a:t>
            </a:r>
          </a:p>
        </p:txBody>
      </p:sp>
      <p:sp>
        <p:nvSpPr>
          <p:cNvPr id="5" name="Footer Placeholder 4"/>
          <p:cNvSpPr>
            <a:spLocks noGrp="1"/>
          </p:cNvSpPr>
          <p:nvPr>
            <p:ph type="ftr" sz="quarter" idx="11"/>
          </p:nvPr>
        </p:nvSpPr>
        <p:spPr/>
        <p:txBody>
          <a:bodyPr/>
          <a:lstStyle/>
          <a:p>
            <a:pPr>
              <a:defRPr/>
            </a:pPr>
            <a:r>
              <a:rPr lang="en-US"/>
              <a:t>G.R. Labbé &amp; R.W. Schott</a:t>
            </a:r>
          </a:p>
        </p:txBody>
      </p:sp>
      <p:sp>
        <p:nvSpPr>
          <p:cNvPr id="6" name="Slide Number Placeholder 5"/>
          <p:cNvSpPr>
            <a:spLocks noGrp="1"/>
          </p:cNvSpPr>
          <p:nvPr>
            <p:ph type="sldNum" sz="quarter" idx="12"/>
          </p:nvPr>
        </p:nvSpPr>
        <p:spPr/>
        <p:txBody>
          <a:bodyPr/>
          <a:lstStyle/>
          <a:p>
            <a:pPr>
              <a:defRPr/>
            </a:pPr>
            <a:fld id="{480A12CB-3A93-440A-BE63-33E6081D5E12}" type="slidenum">
              <a:rPr lang="en-US" smtClean="0"/>
              <a:pPr>
                <a:defRPr/>
              </a:pPr>
              <a:t>‹#›</a:t>
            </a:fld>
            <a:endParaRPr lang="en-US"/>
          </a:p>
        </p:txBody>
      </p:sp>
    </p:spTree>
    <p:extLst>
      <p:ext uri="{BB962C8B-B14F-4D97-AF65-F5344CB8AC3E}">
        <p14:creationId xmlns:p14="http://schemas.microsoft.com/office/powerpoint/2010/main" val="41454704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r>
              <a:rPr lang="en-US"/>
              <a:t>Lecture 8</a:t>
            </a:r>
          </a:p>
        </p:txBody>
      </p:sp>
      <p:sp>
        <p:nvSpPr>
          <p:cNvPr id="4" name="Footer Placeholder 4"/>
          <p:cNvSpPr>
            <a:spLocks noGrp="1"/>
          </p:cNvSpPr>
          <p:nvPr>
            <p:ph type="ftr" sz="quarter" idx="11"/>
          </p:nvPr>
        </p:nvSpPr>
        <p:spPr/>
        <p:txBody>
          <a:bodyPr/>
          <a:lstStyle/>
          <a:p>
            <a:pPr>
              <a:defRPr/>
            </a:pPr>
            <a:r>
              <a:rPr lang="en-US"/>
              <a:t>G.R. Labbé &amp; R.W. Schott</a:t>
            </a:r>
          </a:p>
        </p:txBody>
      </p:sp>
      <p:sp>
        <p:nvSpPr>
          <p:cNvPr id="6" name="Slide Number Placeholder 5"/>
          <p:cNvSpPr>
            <a:spLocks noGrp="1"/>
          </p:cNvSpPr>
          <p:nvPr>
            <p:ph type="sldNum" sz="quarter" idx="12"/>
          </p:nvPr>
        </p:nvSpPr>
        <p:spPr/>
        <p:txBody>
          <a:bodyPr/>
          <a:lstStyle/>
          <a:p>
            <a:pPr>
              <a:defRPr/>
            </a:pPr>
            <a:fld id="{480A12CB-3A93-440A-BE63-33E6081D5E12}" type="slidenum">
              <a:rPr lang="en-US" smtClean="0"/>
              <a:pPr>
                <a:defRPr/>
              </a:pPr>
              <a:t>‹#›</a:t>
            </a:fld>
            <a:endParaRPr lang="en-US"/>
          </a:p>
        </p:txBody>
      </p:sp>
    </p:spTree>
    <p:extLst>
      <p:ext uri="{BB962C8B-B14F-4D97-AF65-F5344CB8AC3E}">
        <p14:creationId xmlns:p14="http://schemas.microsoft.com/office/powerpoint/2010/main" val="3612501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r>
              <a:rPr lang="en-US"/>
              <a:t>Lecture 8</a:t>
            </a:r>
          </a:p>
        </p:txBody>
      </p:sp>
      <p:sp>
        <p:nvSpPr>
          <p:cNvPr id="4" name="Footer Placeholder 4"/>
          <p:cNvSpPr>
            <a:spLocks noGrp="1"/>
          </p:cNvSpPr>
          <p:nvPr>
            <p:ph type="ftr" sz="quarter" idx="11"/>
          </p:nvPr>
        </p:nvSpPr>
        <p:spPr/>
        <p:txBody>
          <a:bodyPr/>
          <a:lstStyle/>
          <a:p>
            <a:pPr>
              <a:defRPr/>
            </a:pPr>
            <a:r>
              <a:rPr lang="en-US"/>
              <a:t>G.R. Labbé &amp; R.W. Schott</a:t>
            </a:r>
          </a:p>
        </p:txBody>
      </p:sp>
      <p:sp>
        <p:nvSpPr>
          <p:cNvPr id="6" name="Slide Number Placeholder 5"/>
          <p:cNvSpPr>
            <a:spLocks noGrp="1"/>
          </p:cNvSpPr>
          <p:nvPr>
            <p:ph type="sldNum" sz="quarter" idx="12"/>
          </p:nvPr>
        </p:nvSpPr>
        <p:spPr/>
        <p:txBody>
          <a:bodyPr/>
          <a:lstStyle/>
          <a:p>
            <a:pPr>
              <a:defRPr/>
            </a:pPr>
            <a:fld id="{480A12CB-3A93-440A-BE63-33E6081D5E12}" type="slidenum">
              <a:rPr lang="en-US" smtClean="0"/>
              <a:pPr>
                <a:defRPr/>
              </a:pPr>
              <a:t>‹#›</a:t>
            </a:fld>
            <a:endParaRPr lang="en-US"/>
          </a:p>
        </p:txBody>
      </p:sp>
    </p:spTree>
    <p:extLst>
      <p:ext uri="{BB962C8B-B14F-4D97-AF65-F5344CB8AC3E}">
        <p14:creationId xmlns:p14="http://schemas.microsoft.com/office/powerpoint/2010/main" val="34605608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Lecture 8</a:t>
            </a:r>
          </a:p>
        </p:txBody>
      </p:sp>
      <p:sp>
        <p:nvSpPr>
          <p:cNvPr id="5" name="Footer Placeholder 4"/>
          <p:cNvSpPr>
            <a:spLocks noGrp="1"/>
          </p:cNvSpPr>
          <p:nvPr>
            <p:ph type="ftr" sz="quarter" idx="11"/>
          </p:nvPr>
        </p:nvSpPr>
        <p:spPr/>
        <p:txBody>
          <a:bodyPr/>
          <a:lstStyle/>
          <a:p>
            <a:pPr>
              <a:defRPr/>
            </a:pPr>
            <a:r>
              <a:rPr lang="en-US"/>
              <a:t>G.R. Labbé &amp; R.W. Schott</a:t>
            </a:r>
          </a:p>
        </p:txBody>
      </p:sp>
      <p:sp>
        <p:nvSpPr>
          <p:cNvPr id="6" name="Slide Number Placeholder 5"/>
          <p:cNvSpPr>
            <a:spLocks noGrp="1"/>
          </p:cNvSpPr>
          <p:nvPr>
            <p:ph type="sldNum" sz="quarter" idx="12"/>
          </p:nvPr>
        </p:nvSpPr>
        <p:spPr/>
        <p:txBody>
          <a:bodyPr/>
          <a:lstStyle/>
          <a:p>
            <a:pPr>
              <a:defRPr/>
            </a:pPr>
            <a:fld id="{43909387-9750-47F8-8D47-5EDE218D1849}" type="slidenum">
              <a:rPr lang="en-US" smtClean="0"/>
              <a:pPr>
                <a:defRPr/>
              </a:pPr>
              <a:t>‹#›</a:t>
            </a:fld>
            <a:endParaRPr lang="en-US"/>
          </a:p>
        </p:txBody>
      </p:sp>
    </p:spTree>
    <p:extLst>
      <p:ext uri="{BB962C8B-B14F-4D97-AF65-F5344CB8AC3E}">
        <p14:creationId xmlns:p14="http://schemas.microsoft.com/office/powerpoint/2010/main" val="23389659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Lecture 8</a:t>
            </a:r>
          </a:p>
        </p:txBody>
      </p:sp>
      <p:sp>
        <p:nvSpPr>
          <p:cNvPr id="5" name="Footer Placeholder 4"/>
          <p:cNvSpPr>
            <a:spLocks noGrp="1"/>
          </p:cNvSpPr>
          <p:nvPr>
            <p:ph type="ftr" sz="quarter" idx="11"/>
          </p:nvPr>
        </p:nvSpPr>
        <p:spPr/>
        <p:txBody>
          <a:bodyPr/>
          <a:lstStyle/>
          <a:p>
            <a:pPr>
              <a:defRPr/>
            </a:pPr>
            <a:r>
              <a:rPr lang="en-US"/>
              <a:t>G.R. Labbé &amp; R.W. Schott</a:t>
            </a:r>
          </a:p>
        </p:txBody>
      </p:sp>
      <p:sp>
        <p:nvSpPr>
          <p:cNvPr id="6" name="Slide Number Placeholder 5"/>
          <p:cNvSpPr>
            <a:spLocks noGrp="1"/>
          </p:cNvSpPr>
          <p:nvPr>
            <p:ph type="sldNum" sz="quarter" idx="12"/>
          </p:nvPr>
        </p:nvSpPr>
        <p:spPr/>
        <p:txBody>
          <a:bodyPr/>
          <a:lstStyle/>
          <a:p>
            <a:pPr>
              <a:defRPr/>
            </a:pPr>
            <a:fld id="{B6A4753E-6B65-4EC7-AD15-22C903E0602A}" type="slidenum">
              <a:rPr lang="en-US" smtClean="0"/>
              <a:pPr>
                <a:defRPr/>
              </a:pPr>
              <a:t>‹#›</a:t>
            </a:fld>
            <a:endParaRPr lang="en-US"/>
          </a:p>
        </p:txBody>
      </p:sp>
    </p:spTree>
    <p:extLst>
      <p:ext uri="{BB962C8B-B14F-4D97-AF65-F5344CB8AC3E}">
        <p14:creationId xmlns:p14="http://schemas.microsoft.com/office/powerpoint/2010/main" val="1219526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en-US"/>
              <a:t>Lecture 8</a:t>
            </a:r>
          </a:p>
        </p:txBody>
      </p:sp>
      <p:sp>
        <p:nvSpPr>
          <p:cNvPr id="6" name="Footer Placeholder 2"/>
          <p:cNvSpPr>
            <a:spLocks noGrp="1"/>
          </p:cNvSpPr>
          <p:nvPr>
            <p:ph type="ftr" sz="quarter" idx="11"/>
          </p:nvPr>
        </p:nvSpPr>
        <p:spPr/>
        <p:txBody>
          <a:bodyPr/>
          <a:lstStyle>
            <a:lvl1pPr>
              <a:defRPr/>
            </a:lvl1pPr>
          </a:lstStyle>
          <a:p>
            <a:pPr>
              <a:defRPr/>
            </a:pPr>
            <a:r>
              <a:rPr lang="en-US"/>
              <a:t>G.R. Labbé &amp; R.W. Schott</a:t>
            </a:r>
          </a:p>
        </p:txBody>
      </p:sp>
      <p:sp>
        <p:nvSpPr>
          <p:cNvPr id="7" name="Slide Number Placeholder 22"/>
          <p:cNvSpPr>
            <a:spLocks noGrp="1"/>
          </p:cNvSpPr>
          <p:nvPr>
            <p:ph type="sldNum" sz="quarter" idx="12"/>
          </p:nvPr>
        </p:nvSpPr>
        <p:spPr/>
        <p:txBody>
          <a:bodyPr/>
          <a:lstStyle>
            <a:lvl1pPr>
              <a:defRPr/>
            </a:lvl1pPr>
          </a:lstStyle>
          <a:p>
            <a:pPr>
              <a:defRPr/>
            </a:pPr>
            <a:fld id="{907193AB-34A8-49DF-B36E-3A1A60FBCCB3}" type="slidenum">
              <a:rPr lang="en-US"/>
              <a:pPr>
                <a:defRPr/>
              </a:pPr>
              <a:t>‹#›</a:t>
            </a:fld>
            <a:endParaRPr lang="en-US"/>
          </a:p>
        </p:txBody>
      </p:sp>
    </p:spTree>
    <p:extLst>
      <p:ext uri="{BB962C8B-B14F-4D97-AF65-F5344CB8AC3E}">
        <p14:creationId xmlns:p14="http://schemas.microsoft.com/office/powerpoint/2010/main" val="409527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a:defRPr/>
            </a:pPr>
            <a:r>
              <a:rPr lang="en-US"/>
              <a:t>Lecture 8</a:t>
            </a:r>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defRPr/>
            </a:pPr>
            <a:r>
              <a:rPr lang="en-US"/>
              <a:t>G.R. Labbé &amp; R.W. Schott</a:t>
            </a:r>
          </a:p>
        </p:txBody>
      </p:sp>
      <p:sp>
        <p:nvSpPr>
          <p:cNvPr id="6" name="Slide Number Placeholder 5"/>
          <p:cNvSpPr>
            <a:spLocks noGrp="1"/>
          </p:cNvSpPr>
          <p:nvPr>
            <p:ph type="sldNum" sz="quarter" idx="4"/>
          </p:nvPr>
        </p:nvSpPr>
        <p:spPr>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pPr>
              <a:defRPr/>
            </a:pPr>
            <a:fld id="{480A12CB-3A93-440A-BE63-33E6081D5E12}" type="slidenum">
              <a:rPr lang="en-US" smtClean="0"/>
              <a:pPr>
                <a:defRPr/>
              </a:pPr>
              <a:t>‹#›</a:t>
            </a:fld>
            <a:endParaRPr lang="en-US"/>
          </a:p>
        </p:txBody>
      </p:sp>
    </p:spTree>
    <p:extLst>
      <p:ext uri="{BB962C8B-B14F-4D97-AF65-F5344CB8AC3E}">
        <p14:creationId xmlns:p14="http://schemas.microsoft.com/office/powerpoint/2010/main" val="2445681803"/>
      </p:ext>
    </p:extLst>
  </p:cSld>
  <p:clrMap bg1="dk1" tx1="lt1" bg2="dk2" tx2="lt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Lst>
  <p:hf hdr="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w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ctrTitle"/>
          </p:nvPr>
        </p:nvSpPr>
        <p:spPr>
          <a:xfrm>
            <a:off x="533400" y="6107084"/>
            <a:ext cx="2016125" cy="381000"/>
          </a:xfrm>
        </p:spPr>
        <p:txBody>
          <a:bodyPr>
            <a:noAutofit/>
          </a:bodyPr>
          <a:lstStyle/>
          <a:p>
            <a:pPr eaLnBrk="1" hangingPunct="1"/>
            <a:r>
              <a:rPr lang="en-US" sz="1800" b="1" cap="none" dirty="0">
                <a:latin typeface="Calibri" panose="020F0502020204030204" pitchFamily="34" charset="0"/>
              </a:rPr>
              <a:t>LECTURE 9</a:t>
            </a:r>
          </a:p>
        </p:txBody>
      </p:sp>
      <p:sp>
        <p:nvSpPr>
          <p:cNvPr id="16386" name="Rectangle 3"/>
          <p:cNvSpPr>
            <a:spLocks noGrp="1" noChangeArrowheads="1"/>
          </p:cNvSpPr>
          <p:nvPr>
            <p:ph type="subTitle" idx="1"/>
          </p:nvPr>
        </p:nvSpPr>
        <p:spPr>
          <a:xfrm>
            <a:off x="446763" y="1382482"/>
            <a:ext cx="8229600" cy="623888"/>
          </a:xfrm>
        </p:spPr>
        <p:txBody>
          <a:bodyPr>
            <a:noAutofit/>
          </a:bodyPr>
          <a:lstStyle/>
          <a:p>
            <a:pPr algn="ctr" eaLnBrk="1" hangingPunct="1"/>
            <a:r>
              <a:rPr lang="en-US" sz="4000" b="1" dirty="0">
                <a:latin typeface="Calibri" panose="020F0502020204030204" pitchFamily="34" charset="0"/>
              </a:rPr>
              <a:t>Cost Estimation and Budgeting</a:t>
            </a:r>
          </a:p>
        </p:txBody>
      </p:sp>
      <p:pic>
        <p:nvPicPr>
          <p:cNvPr id="16387" name="Picture 4" descr="C:\Users\schottn\Desktop\Budgeting-Matters.jpg"/>
          <p:cNvPicPr>
            <a:picLocks noChangeAspect="1" noChangeArrowheads="1"/>
          </p:cNvPicPr>
          <p:nvPr/>
        </p:nvPicPr>
        <p:blipFill>
          <a:blip r:embed="rId2" cstate="print"/>
          <a:srcRect/>
          <a:stretch>
            <a:fillRect/>
          </a:stretch>
        </p:blipFill>
        <p:spPr bwMode="auto">
          <a:xfrm>
            <a:off x="1244138" y="2590800"/>
            <a:ext cx="2816225" cy="3197225"/>
          </a:xfrm>
          <a:prstGeom prst="rect">
            <a:avLst/>
          </a:prstGeom>
          <a:noFill/>
          <a:ln w="9525">
            <a:noFill/>
            <a:miter lim="800000"/>
            <a:headEnd/>
            <a:tailEnd/>
          </a:ln>
        </p:spPr>
      </p:pic>
      <p:pic>
        <p:nvPicPr>
          <p:cNvPr id="16388" name="Picture 5" descr="C:\Users\schottn\Desktop\Start_C2_P4_Budgeting.jpg"/>
          <p:cNvPicPr>
            <a:picLocks noChangeAspect="1" noChangeArrowheads="1"/>
          </p:cNvPicPr>
          <p:nvPr/>
        </p:nvPicPr>
        <p:blipFill>
          <a:blip r:embed="rId3" cstate="print"/>
          <a:srcRect/>
          <a:stretch>
            <a:fillRect/>
          </a:stretch>
        </p:blipFill>
        <p:spPr bwMode="auto">
          <a:xfrm>
            <a:off x="4886227" y="2589415"/>
            <a:ext cx="2645426" cy="3180167"/>
          </a:xfrm>
          <a:prstGeom prst="rect">
            <a:avLst/>
          </a:prstGeom>
          <a:noFill/>
          <a:ln w="9525">
            <a:noFill/>
            <a:miter lim="800000"/>
            <a:headEnd/>
            <a:tailEnd/>
          </a:ln>
        </p:spPr>
      </p:pic>
      <p:sp>
        <p:nvSpPr>
          <p:cNvPr id="2" name="Rectangle 1"/>
          <p:cNvSpPr/>
          <p:nvPr/>
        </p:nvSpPr>
        <p:spPr>
          <a:xfrm>
            <a:off x="5410200" y="6107084"/>
            <a:ext cx="3266163" cy="276999"/>
          </a:xfrm>
          <a:prstGeom prst="rect">
            <a:avLst/>
          </a:prstGeom>
        </p:spPr>
        <p:txBody>
          <a:bodyPr wrap="square">
            <a:spAutoFit/>
          </a:bodyPr>
          <a:lstStyle/>
          <a:p>
            <a:pPr lvl="0" algn="r"/>
            <a:r>
              <a:rPr lang="en-US" sz="1200" dirty="0">
                <a:solidFill>
                  <a:prstClr val="white"/>
                </a:solidFill>
                <a:latin typeface="Calibri" panose="020F0502020204030204" pitchFamily="34" charset="0"/>
              </a:rPr>
              <a:t>G.R. Labbé &amp; R.W. Schott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a:xfrm>
            <a:off x="1477633" y="283269"/>
            <a:ext cx="5411787" cy="777875"/>
          </a:xfrm>
        </p:spPr>
        <p:txBody>
          <a:bodyPr/>
          <a:lstStyle/>
          <a:p>
            <a:pPr algn="ctr" eaLnBrk="1" hangingPunct="1"/>
            <a:r>
              <a:rPr lang="en-US" sz="3200" b="1" dirty="0">
                <a:latin typeface="Calibri" panose="020F0502020204030204" pitchFamily="34" charset="0"/>
              </a:rPr>
              <a:t>Cost Management</a:t>
            </a:r>
          </a:p>
        </p:txBody>
      </p:sp>
      <p:sp>
        <p:nvSpPr>
          <p:cNvPr id="18434" name="Rectangle 3"/>
          <p:cNvSpPr>
            <a:spLocks noGrp="1" noChangeArrowheads="1"/>
          </p:cNvSpPr>
          <p:nvPr>
            <p:ph idx="1"/>
          </p:nvPr>
        </p:nvSpPr>
        <p:spPr>
          <a:xfrm>
            <a:off x="827700" y="1143001"/>
            <a:ext cx="6711654" cy="5105406"/>
          </a:xfrm>
        </p:spPr>
        <p:txBody>
          <a:bodyPr>
            <a:normAutofit/>
          </a:bodyPr>
          <a:lstStyle/>
          <a:p>
            <a:pPr>
              <a:lnSpc>
                <a:spcPct val="80000"/>
              </a:lnSpc>
            </a:pPr>
            <a:r>
              <a:rPr lang="en-US" dirty="0">
                <a:solidFill>
                  <a:srgbClr val="C00000"/>
                </a:solidFill>
                <a:highlight>
                  <a:srgbClr val="FFFF00"/>
                </a:highlight>
                <a:latin typeface="Calibri" panose="020F0502020204030204" pitchFamily="34" charset="0"/>
              </a:rPr>
              <a:t>Cost Management</a:t>
            </a:r>
            <a:r>
              <a:rPr lang="en-US" dirty="0">
                <a:solidFill>
                  <a:srgbClr val="C00000"/>
                </a:solidFill>
                <a:latin typeface="Calibri" panose="020F0502020204030204" pitchFamily="34" charset="0"/>
              </a:rPr>
              <a:t> </a:t>
            </a:r>
            <a:r>
              <a:rPr lang="en-US" u="sng" dirty="0">
                <a:solidFill>
                  <a:srgbClr val="FFFF00"/>
                </a:solidFill>
                <a:latin typeface="Calibri" panose="020F0502020204030204" pitchFamily="34" charset="0"/>
              </a:rPr>
              <a:t>starts during the planning phase of a project</a:t>
            </a:r>
            <a:r>
              <a:rPr lang="en-US" dirty="0">
                <a:latin typeface="Calibri" panose="020F0502020204030204" pitchFamily="34" charset="0"/>
              </a:rPr>
              <a:t> when a reasonable budget is determined. Identify project resources </a:t>
            </a:r>
            <a:r>
              <a:rPr lang="en-US" i="1" dirty="0">
                <a:latin typeface="Calibri" panose="020F0502020204030204" pitchFamily="34" charset="0"/>
              </a:rPr>
              <a:t>(human and material)</a:t>
            </a:r>
            <a:r>
              <a:rPr lang="en-US" dirty="0">
                <a:latin typeface="Calibri" panose="020F0502020204030204" pitchFamily="34" charset="0"/>
              </a:rPr>
              <a:t> and a time-phased budget reflecting their involvement.</a:t>
            </a:r>
          </a:p>
          <a:p>
            <a:pPr>
              <a:lnSpc>
                <a:spcPct val="80000"/>
              </a:lnSpc>
            </a:pPr>
            <a:endParaRPr lang="en-US" dirty="0">
              <a:latin typeface="Calibri" panose="020F0502020204030204" pitchFamily="34" charset="0"/>
            </a:endParaRPr>
          </a:p>
          <a:p>
            <a:pPr eaLnBrk="1" hangingPunct="1">
              <a:lnSpc>
                <a:spcPct val="80000"/>
              </a:lnSpc>
              <a:buFontTx/>
              <a:buNone/>
            </a:pPr>
            <a:r>
              <a:rPr lang="en-US" dirty="0">
                <a:latin typeface="Calibri" panose="020F0502020204030204" pitchFamily="34" charset="0"/>
              </a:rPr>
              <a:t>Some of the more common sources for cost in a project are:</a:t>
            </a:r>
          </a:p>
          <a:p>
            <a:pPr eaLnBrk="1" hangingPunct="1">
              <a:lnSpc>
                <a:spcPct val="80000"/>
              </a:lnSpc>
            </a:pPr>
            <a:r>
              <a:rPr lang="en-US" dirty="0">
                <a:latin typeface="Calibri" panose="020F0502020204030204" pitchFamily="34" charset="0"/>
              </a:rPr>
              <a:t>Labor</a:t>
            </a:r>
          </a:p>
          <a:p>
            <a:pPr eaLnBrk="1" hangingPunct="1">
              <a:lnSpc>
                <a:spcPct val="80000"/>
              </a:lnSpc>
            </a:pPr>
            <a:r>
              <a:rPr lang="en-US" dirty="0">
                <a:latin typeface="Calibri" panose="020F0502020204030204" pitchFamily="34" charset="0"/>
              </a:rPr>
              <a:t>Materials</a:t>
            </a:r>
          </a:p>
          <a:p>
            <a:pPr eaLnBrk="1" hangingPunct="1">
              <a:lnSpc>
                <a:spcPct val="80000"/>
              </a:lnSpc>
            </a:pPr>
            <a:r>
              <a:rPr lang="en-US" dirty="0">
                <a:latin typeface="Calibri" panose="020F0502020204030204" pitchFamily="34" charset="0"/>
              </a:rPr>
              <a:t>Sub-contractors </a:t>
            </a:r>
            <a:r>
              <a:rPr lang="en-US" i="1" dirty="0">
                <a:latin typeface="Calibri" panose="020F0502020204030204" pitchFamily="34" charset="0"/>
              </a:rPr>
              <a:t>(external or internal support departments like the test or drafting department)</a:t>
            </a:r>
          </a:p>
          <a:p>
            <a:pPr eaLnBrk="1" hangingPunct="1">
              <a:lnSpc>
                <a:spcPct val="80000"/>
              </a:lnSpc>
            </a:pPr>
            <a:r>
              <a:rPr lang="en-US" dirty="0">
                <a:latin typeface="Calibri" panose="020F0502020204030204" pitchFamily="34" charset="0"/>
              </a:rPr>
              <a:t>Equipment and Facilities</a:t>
            </a:r>
          </a:p>
          <a:p>
            <a:pPr eaLnBrk="1" hangingPunct="1">
              <a:lnSpc>
                <a:spcPct val="80000"/>
              </a:lnSpc>
            </a:pPr>
            <a:r>
              <a:rPr lang="en-US" dirty="0">
                <a:latin typeface="Calibri" panose="020F0502020204030204" pitchFamily="34" charset="0"/>
              </a:rPr>
              <a:t>Travel</a:t>
            </a:r>
          </a:p>
          <a:p>
            <a:pPr eaLnBrk="1" hangingPunct="1">
              <a:lnSpc>
                <a:spcPct val="80000"/>
              </a:lnSpc>
            </a:pPr>
            <a:r>
              <a:rPr lang="en-US" dirty="0">
                <a:latin typeface="Calibri" panose="020F0502020204030204" pitchFamily="34" charset="0"/>
              </a:rPr>
              <a:t>Shipping</a:t>
            </a:r>
          </a:p>
        </p:txBody>
      </p:sp>
      <p:pic>
        <p:nvPicPr>
          <p:cNvPr id="18435" name="Picture 5" descr="http://www.definedlogic.com/wp-content/uploads/2013/05/shutterstock_80061256.jpg"/>
          <p:cNvPicPr>
            <a:picLocks noChangeAspect="1" noChangeArrowheads="1"/>
          </p:cNvPicPr>
          <p:nvPr/>
        </p:nvPicPr>
        <p:blipFill>
          <a:blip r:embed="rId2" cstate="print"/>
          <a:srcRect/>
          <a:stretch>
            <a:fillRect/>
          </a:stretch>
        </p:blipFill>
        <p:spPr bwMode="auto">
          <a:xfrm>
            <a:off x="4648200" y="4527557"/>
            <a:ext cx="3810000" cy="1720850"/>
          </a:xfrm>
          <a:prstGeom prst="rect">
            <a:avLst/>
          </a:prstGeom>
          <a:noFill/>
          <a:ln w="9525">
            <a:noFill/>
            <a:miter lim="800000"/>
            <a:headEnd/>
            <a:tailEnd/>
          </a:ln>
        </p:spPr>
      </p:pic>
      <p:sp>
        <p:nvSpPr>
          <p:cNvPr id="5"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7" name="Slide Number Placeholder 6">
            <a:extLst>
              <a:ext uri="{FF2B5EF4-FFF2-40B4-BE49-F238E27FC236}">
                <a16:creationId xmlns:a16="http://schemas.microsoft.com/office/drawing/2014/main" id="{F578B8F5-060E-44EC-8E77-65B32EF824B3}"/>
              </a:ext>
            </a:extLst>
          </p:cNvPr>
          <p:cNvSpPr>
            <a:spLocks noGrp="1"/>
          </p:cNvSpPr>
          <p:nvPr>
            <p:ph type="sldNum" sz="quarter" idx="12"/>
          </p:nvPr>
        </p:nvSpPr>
        <p:spPr/>
        <p:txBody>
          <a:bodyPr/>
          <a:lstStyle/>
          <a:p>
            <a:pPr>
              <a:defRPr/>
            </a:pPr>
            <a:fld id="{AC7C6917-FFA3-44CF-9703-C7E047B1380F}" type="slidenum">
              <a:rPr lang="en-US" smtClean="0"/>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type="title"/>
          </p:nvPr>
        </p:nvSpPr>
        <p:spPr>
          <a:xfrm>
            <a:off x="1717674" y="698385"/>
            <a:ext cx="5943601" cy="609600"/>
          </a:xfrm>
        </p:spPr>
        <p:txBody>
          <a:bodyPr/>
          <a:lstStyle/>
          <a:p>
            <a:pPr algn="ctr" eaLnBrk="1" hangingPunct="1"/>
            <a:r>
              <a:rPr lang="en-US" sz="3200" b="1" dirty="0">
                <a:latin typeface="Calibri" panose="020F0502020204030204" pitchFamily="34" charset="0"/>
              </a:rPr>
              <a:t>Cost Estimation</a:t>
            </a:r>
          </a:p>
        </p:txBody>
      </p:sp>
      <p:sp>
        <p:nvSpPr>
          <p:cNvPr id="19458" name="Rectangle 3"/>
          <p:cNvSpPr>
            <a:spLocks noGrp="1"/>
          </p:cNvSpPr>
          <p:nvPr>
            <p:ph idx="1"/>
          </p:nvPr>
        </p:nvSpPr>
        <p:spPr>
          <a:xfrm>
            <a:off x="612775" y="1828800"/>
            <a:ext cx="8153400" cy="3200400"/>
          </a:xfrm>
        </p:spPr>
        <p:txBody>
          <a:bodyPr>
            <a:normAutofit/>
          </a:bodyPr>
          <a:lstStyle/>
          <a:p>
            <a:pPr eaLnBrk="1" hangingPunct="1"/>
            <a:r>
              <a:rPr lang="en-US" dirty="0">
                <a:latin typeface="Calibri" panose="020F0502020204030204" pitchFamily="34" charset="0"/>
              </a:rPr>
              <a:t>Cost estimation is the first step in developing a comprehensive budget for the project and determining if the project is feasible or not. </a:t>
            </a:r>
          </a:p>
          <a:p>
            <a:pPr eaLnBrk="1" hangingPunct="1"/>
            <a:r>
              <a:rPr lang="en-US" dirty="0">
                <a:latin typeface="Calibri" panose="020F0502020204030204" pitchFamily="34" charset="0"/>
              </a:rPr>
              <a:t>In order to develop this cost estimation it is critical to determine all the costs that might be associated with the project and categorize them into one or more of 8 types. </a:t>
            </a:r>
          </a:p>
          <a:p>
            <a:pPr eaLnBrk="1" hangingPunct="1"/>
            <a:r>
              <a:rPr lang="en-US" dirty="0">
                <a:solidFill>
                  <a:srgbClr val="C00000"/>
                </a:solidFill>
                <a:highlight>
                  <a:srgbClr val="FFFF00"/>
                </a:highlight>
                <a:latin typeface="Calibri" panose="020F0502020204030204" pitchFamily="34" charset="0"/>
              </a:rPr>
              <a:t>One thing to remember is that a cost can belong to more then one category of cost.</a:t>
            </a:r>
          </a:p>
        </p:txBody>
      </p:sp>
      <p:sp>
        <p:nvSpPr>
          <p:cNvPr id="13314" name="AutoShape 2" descr="https://www.actksa.com/Public/Uploaded/Cost-Estimation-&amp;-Budgeting.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CA"/>
          </a:p>
        </p:txBody>
      </p:sp>
      <p:sp>
        <p:nvSpPr>
          <p:cNvPr id="13316" name="AutoShape 4" descr="https://www.actksa.com/Public/Uploaded/Cost-Estimation-&amp;-Budgeting.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CA"/>
          </a:p>
        </p:txBody>
      </p:sp>
      <p:pic>
        <p:nvPicPr>
          <p:cNvPr id="13317" name="Picture 5" descr="C:\Users\Family New\Desktop\Cost-Estimation-&amp;-Budgeting.png"/>
          <p:cNvPicPr>
            <a:picLocks noChangeAspect="1" noChangeArrowheads="1"/>
          </p:cNvPicPr>
          <p:nvPr/>
        </p:nvPicPr>
        <p:blipFill>
          <a:blip r:embed="rId2" cstate="print"/>
          <a:srcRect/>
          <a:stretch>
            <a:fillRect/>
          </a:stretch>
        </p:blipFill>
        <p:spPr bwMode="auto">
          <a:xfrm>
            <a:off x="6553200" y="4267200"/>
            <a:ext cx="2066925" cy="2066925"/>
          </a:xfrm>
          <a:prstGeom prst="rect">
            <a:avLst/>
          </a:prstGeom>
          <a:noFill/>
        </p:spPr>
      </p:pic>
      <p:sp>
        <p:nvSpPr>
          <p:cNvPr id="7"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0A3F45D5-30BB-43C4-B715-ABC6C5325222}"/>
              </a:ext>
            </a:extLst>
          </p:cNvPr>
          <p:cNvSpPr>
            <a:spLocks noGrp="1"/>
          </p:cNvSpPr>
          <p:nvPr>
            <p:ph type="sldNum" sz="quarter" idx="12"/>
          </p:nvPr>
        </p:nvSpPr>
        <p:spPr/>
        <p:txBody>
          <a:bodyPr/>
          <a:lstStyle/>
          <a:p>
            <a:pPr>
              <a:defRPr/>
            </a:pPr>
            <a:fld id="{AC7C6917-FFA3-44CF-9703-C7E047B1380F}" type="slidenum">
              <a:rPr lang="en-US" smtClean="0"/>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750623" y="908229"/>
            <a:ext cx="7055380" cy="690282"/>
          </a:xfrm>
        </p:spPr>
        <p:txBody>
          <a:bodyPr/>
          <a:lstStyle/>
          <a:p>
            <a:pPr algn="ctr" eaLnBrk="1" hangingPunct="1"/>
            <a:r>
              <a:rPr lang="en-US" sz="3200" b="1" dirty="0">
                <a:latin typeface="Calibri" panose="020F0502020204030204" pitchFamily="34" charset="0"/>
              </a:rPr>
              <a:t>Direct vs. Indirect Cost</a:t>
            </a:r>
          </a:p>
        </p:txBody>
      </p:sp>
      <p:sp>
        <p:nvSpPr>
          <p:cNvPr id="20482" name="Rectangle 3"/>
          <p:cNvSpPr>
            <a:spLocks noGrp="1" noChangeArrowheads="1"/>
          </p:cNvSpPr>
          <p:nvPr>
            <p:ph idx="1"/>
          </p:nvPr>
        </p:nvSpPr>
        <p:spPr>
          <a:xfrm>
            <a:off x="534122" y="1981200"/>
            <a:ext cx="8078398" cy="2895600"/>
          </a:xfrm>
        </p:spPr>
        <p:txBody>
          <a:bodyPr>
            <a:normAutofit/>
          </a:bodyPr>
          <a:lstStyle/>
          <a:p>
            <a:pPr eaLnBrk="1" hangingPunct="1">
              <a:lnSpc>
                <a:spcPct val="80000"/>
              </a:lnSpc>
            </a:pPr>
            <a:r>
              <a:rPr lang="en-US" sz="2400" b="1" dirty="0">
                <a:latin typeface="Calibri" panose="020F0502020204030204" pitchFamily="34" charset="0"/>
              </a:rPr>
              <a:t>Direct costs</a:t>
            </a:r>
            <a:r>
              <a:rPr lang="en-US" sz="2400" dirty="0">
                <a:latin typeface="Calibri" panose="020F0502020204030204" pitchFamily="34" charset="0"/>
              </a:rPr>
              <a:t> are those clearly generated by the project. </a:t>
            </a:r>
          </a:p>
          <a:p>
            <a:pPr eaLnBrk="1" hangingPunct="1">
              <a:lnSpc>
                <a:spcPct val="80000"/>
              </a:lnSpc>
            </a:pPr>
            <a:r>
              <a:rPr lang="en-US" sz="2400" dirty="0">
                <a:latin typeface="Calibri" panose="020F0502020204030204" pitchFamily="34" charset="0"/>
              </a:rPr>
              <a:t>Labor and Materials are good examples of direct cost. For example, all PO's can be summarized and are allocated as a direct cost.</a:t>
            </a:r>
          </a:p>
          <a:p>
            <a:pPr eaLnBrk="1" hangingPunct="1">
              <a:lnSpc>
                <a:spcPct val="80000"/>
              </a:lnSpc>
            </a:pPr>
            <a:r>
              <a:rPr lang="en-US" sz="2400" dirty="0">
                <a:latin typeface="Calibri" panose="020F0502020204030204" pitchFamily="34" charset="0"/>
              </a:rPr>
              <a:t>The calculation of the total labor cost is straight forward:</a:t>
            </a:r>
          </a:p>
          <a:p>
            <a:pPr marL="0" indent="0" algn="ctr" eaLnBrk="1" hangingPunct="1">
              <a:lnSpc>
                <a:spcPct val="80000"/>
              </a:lnSpc>
              <a:buNone/>
            </a:pPr>
            <a:br>
              <a:rPr lang="en-US" sz="2400" dirty="0">
                <a:latin typeface="Calibri" panose="020F0502020204030204" pitchFamily="34" charset="0"/>
              </a:rPr>
            </a:br>
            <a:r>
              <a:rPr lang="en-US" sz="2400" dirty="0">
                <a:solidFill>
                  <a:srgbClr val="FFFF00"/>
                </a:solidFill>
                <a:latin typeface="Calibri" panose="020F0502020204030204" pitchFamily="34" charset="0"/>
              </a:rPr>
              <a:t>Direct Labor Rate x Hours Spent = Total Direct Labor Cost</a:t>
            </a:r>
          </a:p>
          <a:p>
            <a:pPr algn="ctr" eaLnBrk="1" hangingPunct="1">
              <a:lnSpc>
                <a:spcPct val="80000"/>
              </a:lnSpc>
            </a:pPr>
            <a:endParaRPr lang="en-US" sz="2400" dirty="0">
              <a:solidFill>
                <a:srgbClr val="FF0000"/>
              </a:solidFill>
              <a:latin typeface="Calibri" panose="020F0502020204030204" pitchFamily="34" charset="0"/>
            </a:endParaRPr>
          </a:p>
        </p:txBody>
      </p:sp>
      <p:sp>
        <p:nvSpPr>
          <p:cNvPr id="20483"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D5E7BE05-B2E2-4049-BB9A-1A942E5BDE0D}"/>
              </a:ext>
            </a:extLst>
          </p:cNvPr>
          <p:cNvSpPr>
            <a:spLocks noGrp="1"/>
          </p:cNvSpPr>
          <p:nvPr>
            <p:ph type="sldNum" sz="quarter" idx="12"/>
          </p:nvPr>
        </p:nvSpPr>
        <p:spPr/>
        <p:txBody>
          <a:bodyPr/>
          <a:lstStyle/>
          <a:p>
            <a:pPr>
              <a:defRPr/>
            </a:pPr>
            <a:fld id="{AC7C6917-FFA3-44CF-9703-C7E047B1380F}" type="slidenum">
              <a:rPr lang="en-US" smtClean="0"/>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1025457" y="679579"/>
            <a:ext cx="7055380" cy="690282"/>
          </a:xfrm>
        </p:spPr>
        <p:txBody>
          <a:bodyPr/>
          <a:lstStyle/>
          <a:p>
            <a:pPr algn="ctr" eaLnBrk="1" hangingPunct="1"/>
            <a:r>
              <a:rPr lang="en-US" sz="3200" b="1" dirty="0">
                <a:latin typeface="Calibri" panose="020F0502020204030204" pitchFamily="34" charset="0"/>
              </a:rPr>
              <a:t>Direct vs. Indirect Cost</a:t>
            </a:r>
          </a:p>
        </p:txBody>
      </p:sp>
      <p:sp>
        <p:nvSpPr>
          <p:cNvPr id="20482" name="Rectangle 3"/>
          <p:cNvSpPr>
            <a:spLocks noGrp="1" noChangeArrowheads="1"/>
          </p:cNvSpPr>
          <p:nvPr>
            <p:ph idx="1"/>
          </p:nvPr>
        </p:nvSpPr>
        <p:spPr>
          <a:xfrm>
            <a:off x="438347" y="1488141"/>
            <a:ext cx="8229600" cy="4804048"/>
          </a:xfrm>
        </p:spPr>
        <p:txBody>
          <a:bodyPr>
            <a:noAutofit/>
          </a:bodyPr>
          <a:lstStyle/>
          <a:p>
            <a:pPr eaLnBrk="1" hangingPunct="1">
              <a:lnSpc>
                <a:spcPct val="80000"/>
              </a:lnSpc>
            </a:pPr>
            <a:r>
              <a:rPr lang="en-US" sz="2400" b="1" dirty="0">
                <a:latin typeface="Calibri" panose="020F0502020204030204" pitchFamily="34" charset="0"/>
              </a:rPr>
              <a:t>Indirect costs</a:t>
            </a:r>
            <a:r>
              <a:rPr lang="en-US" sz="2400" dirty="0">
                <a:latin typeface="Calibri" panose="020F0502020204030204" pitchFamily="34" charset="0"/>
              </a:rPr>
              <a:t> are typically overhead cost. </a:t>
            </a:r>
          </a:p>
          <a:p>
            <a:pPr eaLnBrk="1" hangingPunct="1">
              <a:lnSpc>
                <a:spcPct val="80000"/>
              </a:lnSpc>
            </a:pPr>
            <a:r>
              <a:rPr lang="en-US" sz="2400" dirty="0">
                <a:latin typeface="Calibri" panose="020F0502020204030204" pitchFamily="34" charset="0"/>
              </a:rPr>
              <a:t>They come mostly from cost of sales, overhead, and general administration. Property tax, rent, health and benefit cost for the employees, depreciation of equipment, indirect materials, and utilities are some examples of indirect cost. </a:t>
            </a:r>
          </a:p>
          <a:p>
            <a:pPr eaLnBrk="1" hangingPunct="1">
              <a:lnSpc>
                <a:spcPct val="80000"/>
              </a:lnSpc>
            </a:pPr>
            <a:r>
              <a:rPr lang="en-US" sz="2400" dirty="0">
                <a:latin typeface="Calibri" panose="020F0502020204030204" pitchFamily="34" charset="0"/>
              </a:rPr>
              <a:t>Indirect cost is harder to identify, and many organizations choose a percentage approach. That means that the indirect cost are being expressed as percentage of direct cost. Usually in the 20% to 50% range. </a:t>
            </a:r>
          </a:p>
          <a:p>
            <a:pPr eaLnBrk="1" hangingPunct="1">
              <a:lnSpc>
                <a:spcPct val="80000"/>
              </a:lnSpc>
            </a:pPr>
            <a:r>
              <a:rPr lang="en-US" sz="2400" dirty="0">
                <a:latin typeface="Calibri" panose="020F0502020204030204" pitchFamily="34" charset="0"/>
              </a:rPr>
              <a:t>Other companies apply the indirect cost by a project-by-project base. </a:t>
            </a:r>
          </a:p>
          <a:p>
            <a:pPr>
              <a:lnSpc>
                <a:spcPct val="80000"/>
              </a:lnSpc>
            </a:pPr>
            <a:r>
              <a:rPr lang="en-US" sz="2400" dirty="0">
                <a:latin typeface="Calibri" panose="020F0502020204030204" pitchFamily="34" charset="0"/>
              </a:rPr>
              <a:t>Whichever is preferred by the company, all project estimates include both direct and indirect cost estimates.</a:t>
            </a:r>
          </a:p>
        </p:txBody>
      </p:sp>
      <p:sp>
        <p:nvSpPr>
          <p:cNvPr id="20483"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DE5E5819-DC20-4446-9FC9-4F0E1F536465}"/>
              </a:ext>
            </a:extLst>
          </p:cNvPr>
          <p:cNvSpPr>
            <a:spLocks noGrp="1"/>
          </p:cNvSpPr>
          <p:nvPr>
            <p:ph type="sldNum" sz="quarter" idx="12"/>
          </p:nvPr>
        </p:nvSpPr>
        <p:spPr/>
        <p:txBody>
          <a:bodyPr/>
          <a:lstStyle/>
          <a:p>
            <a:pPr>
              <a:defRPr/>
            </a:pPr>
            <a:fld id="{AC7C6917-FFA3-44CF-9703-C7E047B1380F}" type="slidenum">
              <a:rPr lang="en-US" smtClean="0"/>
              <a:pPr>
                <a:defRPr/>
              </a:pPr>
              <a:t>5</a:t>
            </a:fld>
            <a:endParaRPr lang="en-US"/>
          </a:p>
        </p:txBody>
      </p:sp>
    </p:spTree>
    <p:extLst>
      <p:ext uri="{BB962C8B-B14F-4D97-AF65-F5344CB8AC3E}">
        <p14:creationId xmlns:p14="http://schemas.microsoft.com/office/powerpoint/2010/main" val="121724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118518" y="745287"/>
            <a:ext cx="5338763" cy="704850"/>
          </a:xfrm>
        </p:spPr>
        <p:txBody>
          <a:bodyPr>
            <a:normAutofit/>
          </a:bodyPr>
          <a:lstStyle/>
          <a:p>
            <a:pPr algn="ctr" eaLnBrk="1" hangingPunct="1"/>
            <a:r>
              <a:rPr lang="en-US" sz="3200" b="1" dirty="0">
                <a:latin typeface="Calibri" panose="020F0502020204030204" pitchFamily="34" charset="0"/>
                <a:cs typeface="Arial" charset="0"/>
              </a:rPr>
              <a:t>Fixed vs. Variable Cost</a:t>
            </a:r>
          </a:p>
        </p:txBody>
      </p:sp>
      <p:sp>
        <p:nvSpPr>
          <p:cNvPr id="21506" name="Rectangle 3"/>
          <p:cNvSpPr>
            <a:spLocks noGrp="1" noChangeArrowheads="1"/>
          </p:cNvSpPr>
          <p:nvPr>
            <p:ph idx="1"/>
          </p:nvPr>
        </p:nvSpPr>
        <p:spPr>
          <a:xfrm>
            <a:off x="711199" y="1759527"/>
            <a:ext cx="8153400" cy="3200400"/>
          </a:xfrm>
        </p:spPr>
        <p:txBody>
          <a:bodyPr>
            <a:noAutofit/>
          </a:bodyPr>
          <a:lstStyle/>
          <a:p>
            <a:pPr eaLnBrk="1" hangingPunct="1">
              <a:buFont typeface="Wingdings" pitchFamily="2" charset="2"/>
              <a:buChar char="q"/>
            </a:pPr>
            <a:r>
              <a:rPr lang="en-US" sz="2400" dirty="0">
                <a:latin typeface="Calibri" panose="020F0502020204030204" pitchFamily="34" charset="0"/>
              </a:rPr>
              <a:t>Fixed cost don't vary with their usage. So they are  a fixed cost for the project. </a:t>
            </a:r>
          </a:p>
          <a:p>
            <a:pPr eaLnBrk="1" hangingPunct="1">
              <a:buFont typeface="Wingdings" pitchFamily="2" charset="2"/>
              <a:buChar char="q"/>
            </a:pPr>
            <a:r>
              <a:rPr lang="en-US" sz="2400" dirty="0">
                <a:latin typeface="Calibri" panose="020F0502020204030204" pitchFamily="34" charset="0"/>
              </a:rPr>
              <a:t>For example the cost of leasing certain pieces of equipment does not usually change with the amount of usage they get. They are leased for a certain period of time. </a:t>
            </a:r>
          </a:p>
          <a:p>
            <a:pPr eaLnBrk="1" hangingPunct="1">
              <a:buFont typeface="Wingdings" pitchFamily="2" charset="2"/>
              <a:buChar char="q"/>
            </a:pPr>
            <a:r>
              <a:rPr lang="en-US" sz="2400" dirty="0">
                <a:latin typeface="Calibri" panose="020F0502020204030204" pitchFamily="34" charset="0"/>
              </a:rPr>
              <a:t>This type of cost makes leasing expensive equipment a difficult decision for a Project Manager. They must decide if the amount of use the equipment will see justifies the costs.</a:t>
            </a:r>
          </a:p>
        </p:txBody>
      </p:sp>
      <p:sp>
        <p:nvSpPr>
          <p:cNvPr id="21507" name="Rectangle 7"/>
          <p:cNvSpPr>
            <a:spLocks noChangeArrowheads="1"/>
          </p:cNvSpPr>
          <p:nvPr/>
        </p:nvSpPr>
        <p:spPr bwMode="auto">
          <a:xfrm>
            <a:off x="673100" y="4249738"/>
            <a:ext cx="8229600" cy="1771650"/>
          </a:xfrm>
          <a:prstGeom prst="rect">
            <a:avLst/>
          </a:prstGeom>
          <a:noFill/>
          <a:ln w="9525">
            <a:noFill/>
            <a:miter lim="800000"/>
            <a:headEnd/>
            <a:tailEnd/>
          </a:ln>
        </p:spPr>
        <p:txBody>
          <a:bodyPr/>
          <a:lstStyle/>
          <a:p>
            <a:pPr marL="342900" indent="-342900">
              <a:spcBef>
                <a:spcPct val="20000"/>
              </a:spcBef>
              <a:buClr>
                <a:schemeClr val="accent2"/>
              </a:buClr>
              <a:buSzPct val="60000"/>
              <a:buFont typeface="Wingdings" pitchFamily="2" charset="2"/>
              <a:buChar char="q"/>
            </a:pPr>
            <a:endParaRPr lang="en-US" sz="2000"/>
          </a:p>
        </p:txBody>
      </p:sp>
      <p:sp>
        <p:nvSpPr>
          <p:cNvPr id="21508" name="Oval 8"/>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EDB1FD28-2F7F-403D-873C-DB24F04BDABA}"/>
              </a:ext>
            </a:extLst>
          </p:cNvPr>
          <p:cNvSpPr>
            <a:spLocks noGrp="1"/>
          </p:cNvSpPr>
          <p:nvPr>
            <p:ph type="sldNum" sz="quarter" idx="12"/>
          </p:nvPr>
        </p:nvSpPr>
        <p:spPr/>
        <p:txBody>
          <a:bodyPr/>
          <a:lstStyle/>
          <a:p>
            <a:pPr>
              <a:defRPr/>
            </a:pPr>
            <a:fld id="{AC7C6917-FFA3-44CF-9703-C7E047B1380F}" type="slidenum">
              <a:rPr lang="en-US" smtClean="0"/>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020093" y="710998"/>
            <a:ext cx="5338763" cy="704850"/>
          </a:xfrm>
        </p:spPr>
        <p:txBody>
          <a:bodyPr>
            <a:normAutofit/>
          </a:bodyPr>
          <a:lstStyle/>
          <a:p>
            <a:pPr algn="ctr" eaLnBrk="1" hangingPunct="1"/>
            <a:r>
              <a:rPr lang="en-US" sz="3200" b="1" dirty="0">
                <a:latin typeface="Calibri" panose="020F0502020204030204" pitchFamily="34" charset="0"/>
                <a:cs typeface="Arial" charset="0"/>
              </a:rPr>
              <a:t>Fixed vs. Variable Cost</a:t>
            </a:r>
          </a:p>
        </p:txBody>
      </p:sp>
      <p:sp>
        <p:nvSpPr>
          <p:cNvPr id="21506" name="Rectangle 3"/>
          <p:cNvSpPr>
            <a:spLocks noGrp="1" noChangeArrowheads="1"/>
          </p:cNvSpPr>
          <p:nvPr>
            <p:ph idx="1"/>
          </p:nvPr>
        </p:nvSpPr>
        <p:spPr>
          <a:xfrm>
            <a:off x="615864" y="1981200"/>
            <a:ext cx="8153400" cy="3886200"/>
          </a:xfrm>
        </p:spPr>
        <p:txBody>
          <a:bodyPr>
            <a:noAutofit/>
          </a:bodyPr>
          <a:lstStyle/>
          <a:p>
            <a:pPr eaLnBrk="1" hangingPunct="1">
              <a:buFont typeface="Wingdings" pitchFamily="2" charset="2"/>
              <a:buChar char="q"/>
            </a:pPr>
            <a:r>
              <a:rPr lang="en-US" sz="2400" dirty="0">
                <a:latin typeface="Calibri" panose="020F0502020204030204" pitchFamily="34" charset="0"/>
              </a:rPr>
              <a:t>Variable costs are calculated as the cost proportional to the amount of usage the resource gets. </a:t>
            </a:r>
          </a:p>
          <a:p>
            <a:pPr eaLnBrk="1" hangingPunct="1">
              <a:buFont typeface="Wingdings" pitchFamily="2" charset="2"/>
              <a:buChar char="q"/>
            </a:pPr>
            <a:r>
              <a:rPr lang="en-US" sz="2400" dirty="0">
                <a:latin typeface="Calibri" panose="020F0502020204030204" pitchFamily="34" charset="0"/>
              </a:rPr>
              <a:t>Rental equipment is often charged a rate based upon the amount it is used. </a:t>
            </a:r>
            <a:r>
              <a:rPr lang="en-US" sz="2400" i="1" dirty="0">
                <a:latin typeface="Calibri" panose="020F0502020204030204" pitchFamily="34" charset="0"/>
              </a:rPr>
              <a:t>(Rental Cars – Mileage)</a:t>
            </a:r>
            <a:r>
              <a:rPr lang="en-US" sz="2400" dirty="0">
                <a:latin typeface="Calibri" panose="020F0502020204030204" pitchFamily="34" charset="0"/>
              </a:rPr>
              <a:t>. The more a piece of equipment is used the more it depreciates in value, therefore the more it costs to use it. </a:t>
            </a:r>
          </a:p>
          <a:p>
            <a:pPr eaLnBrk="1" hangingPunct="1">
              <a:buFont typeface="Wingdings" pitchFamily="2" charset="2"/>
              <a:buChar char="q"/>
            </a:pPr>
            <a:r>
              <a:rPr lang="en-US" sz="2400" dirty="0">
                <a:latin typeface="Calibri" panose="020F0502020204030204" pitchFamily="34" charset="0"/>
              </a:rPr>
              <a:t>It is common for projects to have a mix of costs that are both fixed and variable. </a:t>
            </a:r>
          </a:p>
          <a:p>
            <a:pPr eaLnBrk="1" hangingPunct="1">
              <a:buFont typeface="Wingdings" pitchFamily="2" charset="2"/>
              <a:buChar char="q"/>
            </a:pPr>
            <a:r>
              <a:rPr lang="en-US" sz="2400" b="1" dirty="0">
                <a:solidFill>
                  <a:srgbClr val="FFFF00"/>
                </a:solidFill>
                <a:latin typeface="Calibri" panose="020F0502020204030204" pitchFamily="34" charset="0"/>
              </a:rPr>
              <a:t>What other examples can you think of?</a:t>
            </a:r>
          </a:p>
        </p:txBody>
      </p:sp>
      <p:sp>
        <p:nvSpPr>
          <p:cNvPr id="21507" name="Rectangle 7"/>
          <p:cNvSpPr>
            <a:spLocks noChangeArrowheads="1"/>
          </p:cNvSpPr>
          <p:nvPr/>
        </p:nvSpPr>
        <p:spPr bwMode="auto">
          <a:xfrm>
            <a:off x="673100" y="4249738"/>
            <a:ext cx="8229600" cy="1771650"/>
          </a:xfrm>
          <a:prstGeom prst="rect">
            <a:avLst/>
          </a:prstGeom>
          <a:noFill/>
          <a:ln w="9525">
            <a:noFill/>
            <a:miter lim="800000"/>
            <a:headEnd/>
            <a:tailEnd/>
          </a:ln>
        </p:spPr>
        <p:txBody>
          <a:bodyPr/>
          <a:lstStyle/>
          <a:p>
            <a:pPr marL="342900" indent="-342900">
              <a:spcBef>
                <a:spcPct val="20000"/>
              </a:spcBef>
              <a:buClr>
                <a:schemeClr val="accent2"/>
              </a:buClr>
              <a:buSzPct val="60000"/>
              <a:buFont typeface="Wingdings" pitchFamily="2" charset="2"/>
              <a:buChar char="q"/>
            </a:pPr>
            <a:endParaRPr lang="en-US" sz="2000"/>
          </a:p>
        </p:txBody>
      </p:sp>
      <p:sp>
        <p:nvSpPr>
          <p:cNvPr id="21508" name="Oval 8"/>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89639F70-8F15-41F3-9168-58007BF83487}"/>
              </a:ext>
            </a:extLst>
          </p:cNvPr>
          <p:cNvSpPr>
            <a:spLocks noGrp="1"/>
          </p:cNvSpPr>
          <p:nvPr>
            <p:ph type="sldNum" sz="quarter" idx="12"/>
          </p:nvPr>
        </p:nvSpPr>
        <p:spPr/>
        <p:txBody>
          <a:bodyPr/>
          <a:lstStyle/>
          <a:p>
            <a:pPr>
              <a:defRPr/>
            </a:pPr>
            <a:fld id="{AC7C6917-FFA3-44CF-9703-C7E047B1380F}" type="slidenum">
              <a:rPr lang="en-US" smtClean="0"/>
              <a:pPr>
                <a:defRPr/>
              </a:pPr>
              <a:t>7</a:t>
            </a:fld>
            <a:endParaRPr lang="en-US"/>
          </a:p>
        </p:txBody>
      </p:sp>
    </p:spTree>
    <p:extLst>
      <p:ext uri="{BB962C8B-B14F-4D97-AF65-F5344CB8AC3E}">
        <p14:creationId xmlns:p14="http://schemas.microsoft.com/office/powerpoint/2010/main" val="166103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type="title"/>
          </p:nvPr>
        </p:nvSpPr>
        <p:spPr>
          <a:xfrm>
            <a:off x="612775" y="762000"/>
            <a:ext cx="8153400" cy="609600"/>
          </a:xfrm>
        </p:spPr>
        <p:txBody>
          <a:bodyPr/>
          <a:lstStyle/>
          <a:p>
            <a:pPr algn="ctr" eaLnBrk="1" hangingPunct="1"/>
            <a:r>
              <a:rPr lang="en-US" sz="3200" b="1" dirty="0">
                <a:latin typeface="Calibri" panose="020F0502020204030204" pitchFamily="34" charset="0"/>
              </a:rPr>
              <a:t>Normal vs. Expedited Cost</a:t>
            </a:r>
          </a:p>
        </p:txBody>
      </p:sp>
      <p:sp>
        <p:nvSpPr>
          <p:cNvPr id="22530" name="Rectangle 3"/>
          <p:cNvSpPr>
            <a:spLocks noGrp="1"/>
          </p:cNvSpPr>
          <p:nvPr>
            <p:ph idx="1"/>
          </p:nvPr>
        </p:nvSpPr>
        <p:spPr>
          <a:xfrm>
            <a:off x="612775" y="1600201"/>
            <a:ext cx="8153400" cy="3276600"/>
          </a:xfrm>
        </p:spPr>
        <p:txBody>
          <a:bodyPr>
            <a:normAutofit/>
          </a:bodyPr>
          <a:lstStyle/>
          <a:p>
            <a:pPr eaLnBrk="1" hangingPunct="1"/>
            <a:r>
              <a:rPr lang="en-US" sz="2400" dirty="0">
                <a:latin typeface="Calibri" panose="020F0502020204030204" pitchFamily="34" charset="0"/>
              </a:rPr>
              <a:t>Normal cost  refers to the cost incurred during normal operation, during normal working hours. </a:t>
            </a:r>
          </a:p>
          <a:p>
            <a:pPr eaLnBrk="1" hangingPunct="1"/>
            <a:r>
              <a:rPr lang="en-US" sz="2400" dirty="0">
                <a:latin typeface="Calibri" panose="020F0502020204030204" pitchFamily="34" charset="0"/>
              </a:rPr>
              <a:t>These are costs are routine costs associated with completing the scheduled work agreed upon by the stakeholders at the start of the project. </a:t>
            </a:r>
          </a:p>
          <a:p>
            <a:pPr eaLnBrk="1" hangingPunct="1"/>
            <a:r>
              <a:rPr lang="en-US" sz="2400" dirty="0">
                <a:latin typeface="Calibri" panose="020F0502020204030204" pitchFamily="34" charset="0"/>
              </a:rPr>
              <a:t>They can include overtime costs as long as the hours were already scheduled.</a:t>
            </a:r>
          </a:p>
          <a:p>
            <a:pPr eaLnBrk="1" hangingPunct="1"/>
            <a:endParaRPr lang="en-US" sz="2400" dirty="0"/>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7" name="Slide Number Placeholder 6">
            <a:extLst>
              <a:ext uri="{FF2B5EF4-FFF2-40B4-BE49-F238E27FC236}">
                <a16:creationId xmlns:a16="http://schemas.microsoft.com/office/drawing/2014/main" id="{39EF4BCB-64C0-4359-8BB9-FE0040D8CA61}"/>
              </a:ext>
            </a:extLst>
          </p:cNvPr>
          <p:cNvSpPr>
            <a:spLocks noGrp="1"/>
          </p:cNvSpPr>
          <p:nvPr>
            <p:ph type="sldNum" sz="quarter" idx="12"/>
          </p:nvPr>
        </p:nvSpPr>
        <p:spPr/>
        <p:txBody>
          <a:bodyPr/>
          <a:lstStyle/>
          <a:p>
            <a:pPr>
              <a:defRPr/>
            </a:pPr>
            <a:fld id="{AC7C6917-FFA3-44CF-9703-C7E047B1380F}"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type="title"/>
          </p:nvPr>
        </p:nvSpPr>
        <p:spPr>
          <a:xfrm>
            <a:off x="1450975" y="914400"/>
            <a:ext cx="6477000" cy="609600"/>
          </a:xfrm>
        </p:spPr>
        <p:txBody>
          <a:bodyPr/>
          <a:lstStyle/>
          <a:p>
            <a:pPr algn="ctr" eaLnBrk="1" hangingPunct="1"/>
            <a:r>
              <a:rPr lang="en-US" sz="3200" b="1" dirty="0">
                <a:latin typeface="Calibri" panose="020F0502020204030204" pitchFamily="34" charset="0"/>
              </a:rPr>
              <a:t>Normal vs. Expedited Cost</a:t>
            </a:r>
          </a:p>
        </p:txBody>
      </p:sp>
      <p:sp>
        <p:nvSpPr>
          <p:cNvPr id="22530" name="Rectangle 3"/>
          <p:cNvSpPr>
            <a:spLocks noGrp="1"/>
          </p:cNvSpPr>
          <p:nvPr>
            <p:ph idx="1"/>
          </p:nvPr>
        </p:nvSpPr>
        <p:spPr>
          <a:xfrm>
            <a:off x="612775" y="1981200"/>
            <a:ext cx="8153400" cy="2971800"/>
          </a:xfrm>
        </p:spPr>
        <p:txBody>
          <a:bodyPr>
            <a:normAutofit/>
          </a:bodyPr>
          <a:lstStyle/>
          <a:p>
            <a:pPr eaLnBrk="1" hangingPunct="1"/>
            <a:r>
              <a:rPr lang="en-US" sz="2400" dirty="0">
                <a:latin typeface="Calibri" panose="020F0502020204030204" pitchFamily="34" charset="0"/>
              </a:rPr>
              <a:t>Expedited cost is the cost that is required for extra fast or even dedicated shipments or hiring extra people to get a task done quicker. </a:t>
            </a:r>
          </a:p>
          <a:p>
            <a:pPr eaLnBrk="1" hangingPunct="1"/>
            <a:r>
              <a:rPr lang="en-US" sz="2400" dirty="0">
                <a:latin typeface="Calibri" panose="020F0502020204030204" pitchFamily="34" charset="0"/>
              </a:rPr>
              <a:t>They are unplanned costs that are associated with steps taken to speed up the completion of a task or tasks to get back on schedule.</a:t>
            </a:r>
          </a:p>
          <a:p>
            <a:pPr eaLnBrk="1" hangingPunct="1"/>
            <a:endParaRPr lang="en-US" sz="2400" dirty="0">
              <a:latin typeface="Calibri" panose="020F0502020204030204" pitchFamily="34" charset="0"/>
            </a:endParaRP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7" name="Slide Number Placeholder 6">
            <a:extLst>
              <a:ext uri="{FF2B5EF4-FFF2-40B4-BE49-F238E27FC236}">
                <a16:creationId xmlns:a16="http://schemas.microsoft.com/office/drawing/2014/main" id="{682EFFFD-3D93-41B3-9A96-0243A3E88AD3}"/>
              </a:ext>
            </a:extLst>
          </p:cNvPr>
          <p:cNvSpPr>
            <a:spLocks noGrp="1"/>
          </p:cNvSpPr>
          <p:nvPr>
            <p:ph type="sldNum" sz="quarter" idx="12"/>
          </p:nvPr>
        </p:nvSpPr>
        <p:spPr/>
        <p:txBody>
          <a:bodyPr/>
          <a:lstStyle/>
          <a:p>
            <a:pPr>
              <a:defRPr/>
            </a:pPr>
            <a:fld id="{AC7C6917-FFA3-44CF-9703-C7E047B1380F}" type="slidenum">
              <a:rPr lang="en-US" smtClean="0"/>
              <a:pPr>
                <a:defRPr/>
              </a:pPr>
              <a:t>9</a:t>
            </a:fld>
            <a:endParaRPr lang="en-US"/>
          </a:p>
        </p:txBody>
      </p:sp>
    </p:spTree>
    <p:extLst>
      <p:ext uri="{BB962C8B-B14F-4D97-AF65-F5344CB8AC3E}">
        <p14:creationId xmlns:p14="http://schemas.microsoft.com/office/powerpoint/2010/main" val="3966394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269769" y="1080048"/>
            <a:ext cx="6553200" cy="685800"/>
          </a:xfrm>
        </p:spPr>
        <p:txBody>
          <a:bodyPr/>
          <a:lstStyle/>
          <a:p>
            <a:pPr algn="ctr" eaLnBrk="1" hangingPunct="1"/>
            <a:r>
              <a:rPr lang="en-US" sz="3200" b="1" dirty="0">
                <a:latin typeface="Calibri" panose="020F0502020204030204" pitchFamily="34" charset="0"/>
              </a:rPr>
              <a:t>Recurring vs. </a:t>
            </a:r>
            <a:r>
              <a:rPr lang="en-US" sz="3200" b="1" dirty="0">
                <a:latin typeface="Calibri" panose="020F0502020204030204" pitchFamily="34" charset="0"/>
                <a:cs typeface="Arial" charset="0"/>
              </a:rPr>
              <a:t>Nonrecurring</a:t>
            </a:r>
            <a:r>
              <a:rPr lang="en-US" sz="3200" b="1" dirty="0">
                <a:latin typeface="Calibri" panose="020F0502020204030204" pitchFamily="34" charset="0"/>
              </a:rPr>
              <a:t> Cost</a:t>
            </a:r>
          </a:p>
        </p:txBody>
      </p:sp>
      <p:sp>
        <p:nvSpPr>
          <p:cNvPr id="23554" name="Rectangle 3"/>
          <p:cNvSpPr>
            <a:spLocks noGrp="1" noChangeArrowheads="1"/>
          </p:cNvSpPr>
          <p:nvPr>
            <p:ph idx="1"/>
          </p:nvPr>
        </p:nvSpPr>
        <p:spPr>
          <a:xfrm>
            <a:off x="469669" y="2209800"/>
            <a:ext cx="8153400" cy="2743200"/>
          </a:xfrm>
        </p:spPr>
        <p:txBody>
          <a:bodyPr>
            <a:normAutofit/>
          </a:bodyPr>
          <a:lstStyle/>
          <a:p>
            <a:pPr marL="0" indent="0" eaLnBrk="1" hangingPunct="1"/>
            <a:r>
              <a:rPr lang="en-US" sz="3200" b="1" dirty="0">
                <a:latin typeface="Calibri" panose="020F0502020204030204" pitchFamily="34" charset="0"/>
              </a:rPr>
              <a:t> </a:t>
            </a:r>
            <a:r>
              <a:rPr lang="en-US" sz="2400" b="1" dirty="0">
                <a:latin typeface="Calibri" panose="020F0502020204030204" pitchFamily="34" charset="0"/>
              </a:rPr>
              <a:t>Nonrecurring cost</a:t>
            </a:r>
            <a:r>
              <a:rPr lang="en-US" sz="2400" dirty="0">
                <a:latin typeface="Calibri" panose="020F0502020204030204" pitchFamily="34" charset="0"/>
              </a:rPr>
              <a:t> </a:t>
            </a:r>
          </a:p>
          <a:p>
            <a:r>
              <a:rPr lang="en-US" sz="2400" dirty="0">
                <a:latin typeface="Calibri" panose="020F0502020204030204" pitchFamily="34" charset="0"/>
              </a:rPr>
              <a:t>Are typically costs charged either at the beginning or end of a project and can include items such as personnel training or preliminary market analysis. </a:t>
            </a:r>
          </a:p>
          <a:p>
            <a:r>
              <a:rPr lang="en-US" sz="2400" dirty="0">
                <a:latin typeface="Calibri" panose="020F0502020204030204" pitchFamily="34" charset="0"/>
              </a:rPr>
              <a:t>It is usually viewed as a one-time expense.</a:t>
            </a:r>
          </a:p>
          <a:p>
            <a:pPr marL="0" indent="0" eaLnBrk="1" hangingPunct="1">
              <a:buNone/>
            </a:pPr>
            <a:endParaRPr lang="en-US" sz="2200" dirty="0"/>
          </a:p>
        </p:txBody>
      </p:sp>
      <p:sp>
        <p:nvSpPr>
          <p:cNvPr id="23555" name="Oval 8"/>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001ADF00-E33D-4B53-8A8C-0DEA2C5EF87B}"/>
              </a:ext>
            </a:extLst>
          </p:cNvPr>
          <p:cNvSpPr>
            <a:spLocks noGrp="1"/>
          </p:cNvSpPr>
          <p:nvPr>
            <p:ph type="sldNum" sz="quarter" idx="12"/>
          </p:nvPr>
        </p:nvSpPr>
        <p:spPr/>
        <p:txBody>
          <a:bodyPr/>
          <a:lstStyle/>
          <a:p>
            <a:pPr>
              <a:defRPr/>
            </a:pPr>
            <a:fld id="{AC7C6917-FFA3-44CF-9703-C7E047B1380F}"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232693" y="679579"/>
            <a:ext cx="6602413" cy="685800"/>
          </a:xfrm>
        </p:spPr>
        <p:txBody>
          <a:bodyPr/>
          <a:lstStyle/>
          <a:p>
            <a:pPr algn="ctr" eaLnBrk="1" hangingPunct="1"/>
            <a:r>
              <a:rPr lang="en-US" sz="3200" b="1" dirty="0">
                <a:latin typeface="Calibri" panose="020F0502020204030204" pitchFamily="34" charset="0"/>
              </a:rPr>
              <a:t>Recurring vs. </a:t>
            </a:r>
            <a:r>
              <a:rPr lang="en-US" sz="3200" b="1" dirty="0">
                <a:latin typeface="Calibri" panose="020F0502020204030204" pitchFamily="34" charset="0"/>
                <a:cs typeface="Arial" charset="0"/>
              </a:rPr>
              <a:t>Nonrecurring</a:t>
            </a:r>
            <a:r>
              <a:rPr lang="en-US" sz="3200" b="1" dirty="0">
                <a:latin typeface="Calibri" panose="020F0502020204030204" pitchFamily="34" charset="0"/>
              </a:rPr>
              <a:t> Cost</a:t>
            </a:r>
          </a:p>
        </p:txBody>
      </p:sp>
      <p:sp>
        <p:nvSpPr>
          <p:cNvPr id="23554" name="Rectangle 3"/>
          <p:cNvSpPr>
            <a:spLocks noGrp="1" noChangeArrowheads="1"/>
          </p:cNvSpPr>
          <p:nvPr>
            <p:ph idx="1"/>
          </p:nvPr>
        </p:nvSpPr>
        <p:spPr>
          <a:xfrm>
            <a:off x="457200" y="1600200"/>
            <a:ext cx="8153400" cy="4525963"/>
          </a:xfrm>
        </p:spPr>
        <p:txBody>
          <a:bodyPr>
            <a:normAutofit/>
          </a:bodyPr>
          <a:lstStyle/>
          <a:p>
            <a:pPr marL="0" indent="0" eaLnBrk="1" hangingPunct="1"/>
            <a:r>
              <a:rPr lang="en-US" sz="2400" b="1" dirty="0">
                <a:latin typeface="Calibri" panose="020F0502020204030204" pitchFamily="34" charset="0"/>
              </a:rPr>
              <a:t>  Recurring cost</a:t>
            </a:r>
          </a:p>
          <a:p>
            <a:r>
              <a:rPr lang="en-US" sz="2400" dirty="0">
                <a:latin typeface="Calibri" panose="020F0502020204030204" pitchFamily="34" charset="0"/>
              </a:rPr>
              <a:t>Is usually associated with logistics cost, utilities, labor costs and the like. </a:t>
            </a:r>
          </a:p>
          <a:p>
            <a:r>
              <a:rPr lang="en-US" sz="2400" dirty="0">
                <a:latin typeface="Calibri" panose="020F0502020204030204" pitchFamily="34" charset="0"/>
              </a:rPr>
              <a:t>These are expenses that will occur again during the life of the project.</a:t>
            </a:r>
            <a:endParaRPr lang="en-US" sz="2400" b="1" dirty="0">
              <a:latin typeface="Calibri" panose="020F0502020204030204" pitchFamily="34" charset="0"/>
            </a:endParaRPr>
          </a:p>
          <a:p>
            <a:r>
              <a:rPr lang="en-US" sz="2400" dirty="0">
                <a:latin typeface="Calibri" panose="020F0502020204030204" pitchFamily="34" charset="0"/>
              </a:rPr>
              <a:t>During the budget management and cost estimation process it is very important to highlight which are recurring and which are nonrecurring costs. </a:t>
            </a:r>
          </a:p>
          <a:p>
            <a:r>
              <a:rPr lang="en-US" sz="2400" dirty="0">
                <a:latin typeface="Calibri" panose="020F0502020204030204" pitchFamily="34" charset="0"/>
              </a:rPr>
              <a:t>This is especially true when a time-phase budget is being worked on.</a:t>
            </a:r>
          </a:p>
          <a:p>
            <a:pPr marL="400050" lvl="1" indent="0" eaLnBrk="1" hangingPunct="1">
              <a:buFont typeface="Wingdings 2" pitchFamily="18" charset="2"/>
              <a:buNone/>
            </a:pPr>
            <a:endParaRPr lang="en-US" sz="2200" dirty="0"/>
          </a:p>
        </p:txBody>
      </p:sp>
      <p:sp>
        <p:nvSpPr>
          <p:cNvPr id="23555" name="Oval 8"/>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F3387038-D07E-4563-8063-99D215536D4E}"/>
              </a:ext>
            </a:extLst>
          </p:cNvPr>
          <p:cNvSpPr>
            <a:spLocks noGrp="1"/>
          </p:cNvSpPr>
          <p:nvPr>
            <p:ph type="sldNum" sz="quarter" idx="12"/>
          </p:nvPr>
        </p:nvSpPr>
        <p:spPr/>
        <p:txBody>
          <a:bodyPr/>
          <a:lstStyle/>
          <a:p>
            <a:pPr>
              <a:defRPr/>
            </a:pPr>
            <a:fld id="{AC7C6917-FFA3-44CF-9703-C7E047B1380F}" type="slidenum">
              <a:rPr lang="en-US" smtClean="0"/>
              <a:pPr>
                <a:defRPr/>
              </a:pPr>
              <a:t>11</a:t>
            </a:fld>
            <a:endParaRPr lang="en-US"/>
          </a:p>
        </p:txBody>
      </p:sp>
    </p:spTree>
    <p:extLst>
      <p:ext uri="{BB962C8B-B14F-4D97-AF65-F5344CB8AC3E}">
        <p14:creationId xmlns:p14="http://schemas.microsoft.com/office/powerpoint/2010/main" val="3536330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457200" y="838200"/>
            <a:ext cx="8229600" cy="777875"/>
          </a:xfrm>
        </p:spPr>
        <p:txBody>
          <a:bodyPr/>
          <a:lstStyle/>
          <a:p>
            <a:pPr algn="ctr" eaLnBrk="1" hangingPunct="1"/>
            <a:r>
              <a:rPr lang="en-US" sz="3200" b="1" dirty="0">
                <a:latin typeface="Calibri" panose="020F0502020204030204" pitchFamily="34" charset="0"/>
              </a:rPr>
              <a:t>Cost Estimation</a:t>
            </a:r>
          </a:p>
        </p:txBody>
      </p:sp>
      <p:sp>
        <p:nvSpPr>
          <p:cNvPr id="14339" name="Rectangle 3"/>
          <p:cNvSpPr>
            <a:spLocks noGrp="1" noChangeArrowheads="1"/>
          </p:cNvSpPr>
          <p:nvPr>
            <p:ph idx="1"/>
          </p:nvPr>
        </p:nvSpPr>
        <p:spPr>
          <a:xfrm>
            <a:off x="794850" y="1605887"/>
            <a:ext cx="7554300" cy="4724406"/>
          </a:xfrm>
        </p:spPr>
        <p:txBody>
          <a:bodyPr>
            <a:normAutofit/>
          </a:bodyPr>
          <a:lstStyle/>
          <a:p>
            <a:pPr marL="0" indent="0" eaLnBrk="1" hangingPunct="1">
              <a:lnSpc>
                <a:spcPct val="90000"/>
              </a:lnSpc>
              <a:buFontTx/>
              <a:buNone/>
            </a:pPr>
            <a:r>
              <a:rPr lang="en-US" sz="2400" dirty="0">
                <a:latin typeface="Calibri" panose="020F0502020204030204" pitchFamily="34" charset="0"/>
              </a:rPr>
              <a:t>Estimating the cost of a project, at the very beginning,  is a very challenging task. There are two important project principles that should be followed every time this is done.</a:t>
            </a:r>
          </a:p>
          <a:p>
            <a:pPr marL="0" indent="0" eaLnBrk="1" hangingPunct="1">
              <a:lnSpc>
                <a:spcPct val="90000"/>
              </a:lnSpc>
              <a:buFontTx/>
              <a:buNone/>
            </a:pPr>
            <a:endParaRPr lang="en-US" sz="2400" dirty="0">
              <a:latin typeface="Calibri" panose="020F0502020204030204" pitchFamily="34" charset="0"/>
            </a:endParaRPr>
          </a:p>
          <a:p>
            <a:pPr marL="857250" lvl="1" indent="-457200" eaLnBrk="1" hangingPunct="1">
              <a:lnSpc>
                <a:spcPct val="90000"/>
              </a:lnSpc>
              <a:buClr>
                <a:schemeClr val="accent2"/>
              </a:buClr>
              <a:buFont typeface="Wingdings" pitchFamily="2" charset="2"/>
              <a:buChar char="q"/>
            </a:pPr>
            <a:r>
              <a:rPr lang="en-US" sz="2400" dirty="0">
                <a:latin typeface="Calibri" panose="020F0502020204030204" pitchFamily="34" charset="0"/>
              </a:rPr>
              <a:t>First, the more clearly you define the various cost estimates upfront, the less likely it is to have budgeting errors.</a:t>
            </a:r>
          </a:p>
          <a:p>
            <a:pPr marL="857250" lvl="1" indent="-457200" eaLnBrk="1" hangingPunct="1">
              <a:lnSpc>
                <a:spcPct val="90000"/>
              </a:lnSpc>
              <a:buFont typeface="Wingdings" pitchFamily="2" charset="2"/>
              <a:buChar char="q"/>
            </a:pPr>
            <a:endParaRPr lang="en-US" sz="2400" dirty="0">
              <a:latin typeface="Calibri" panose="020F0502020204030204" pitchFamily="34" charset="0"/>
            </a:endParaRPr>
          </a:p>
          <a:p>
            <a:pPr marL="857250" lvl="1" indent="-457200" eaLnBrk="1" hangingPunct="1">
              <a:lnSpc>
                <a:spcPct val="90000"/>
              </a:lnSpc>
              <a:buClr>
                <a:schemeClr val="accent2"/>
              </a:buClr>
              <a:buFont typeface="Wingdings" pitchFamily="2" charset="2"/>
              <a:buChar char="q"/>
            </a:pPr>
            <a:r>
              <a:rPr lang="en-US" sz="2400" dirty="0">
                <a:latin typeface="Calibri" panose="020F0502020204030204" pitchFamily="34" charset="0"/>
              </a:rPr>
              <a:t>Second, the more accurate your initial cost estimate, the more likely it is to have a budget that reflects reality and the less likely it is to have budget overruns later.</a:t>
            </a:r>
          </a:p>
        </p:txBody>
      </p:sp>
      <p:sp>
        <p:nvSpPr>
          <p:cNvPr id="27651"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AutoShape 2" descr="data:image/png;base64,iVBORw0KGgoAAAANSUhEUgAAAfQAAAGTCAYAAADeJ+BoAAAgAElEQVR4nOzdeaxla3rf9dsdO912bOIB2wHsYEUWtoUHhQQTGzAowSQhdiAKCARJCGAlyIQI4YgEBKIRIoDi/IEwATkSJEHubt9b91adqjMPe57neZ7neR7P9OOP511rvWvtfU5VN3V7X3c/X+nRKZV91XbVkj79rOG9H3zA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HcRz3wZe+hM/n8/hCr4fvmkzwvb0F/sB4jH96NMIfbM/xA/0+vjufxxe+9CV8/tD/t3Icx3Hct3xmM75tOsX39Wf48cEEf2I4w68OZvhfRjP8w8EUbwYzmAZTeIczJAZTFPoT5PsThPoTWPpTHA2m+H/6I/yvvTH+em+KP9Wb4sd6PXzXl770JYae4ziO4z698LnRCL+/P8EfGU3wVwdT/MPBFL7hFLXBDIvhHA/DOaDOAhgt6Kf8+4MZTX8qZoLH7gjL7giV3him3gi/2RvjP+yO8bP9fv+78cEHnzv0/+ccx3Ec97u+yQTfO5zgl4YT/J3hFLb+DL3hjPAeCbRHS2CszGrPiP/ZaKn9M8M5MJhruPemQG8CdMdAd4T77hDtzhDXncHDf9sb3/1ieTz+nkP/WXAcx3Hc76ryeXyhN8YfHkzwt/pT2PsTzAYzQlgH+AqYrIDJWj/TjRjD78vIK7grG/xgBvQV3AXsnRHQGQLtweOk3X80twcPf60z2v50Pp//wqH/jDiO4zjuM1u/j+8eTfFv9Kf4R/0p2oMZHtXb5zLiRri3wOyZmW61/10j7iOxuRth7xlgbxPs9+3+Y7Pdv/9H7f79n+GtneM4juOkplN8X3+K/6A/xUl/gll/SrfDVchXGuQq4hsJ7Vtg/szocN/ocd8Hu+5WvIL6WEEdaA0e0eo9zNv9u+vW4PYvdjrzHzz0nyHHcRzHHazBAP9Uf4L/tD+GuTvBuj8lSJ+D/EnE74DFnpnf7cdd2dr3bezDhQb7U9t6awC0+g9odB82ze6duz24/c/6/eU/eeg/U47jOI77hjWZ4Hu7Y/yl3hi+3hh3PQVy+Rm5cmvdALmC917A74GlNIv7p3E3buyTNTBeP7OtC9i7E9rWNdgf0ew9oNm7v2t1b73t3u1frten33foP2OO4ziO+9Sq1+vf0R/hV7pDXHRGWPcmdFvbeHtd94xchvxWD/Ty/msbI+wzA+zytr6D+nz/S3Mq6v0HNHr3qHfuNo3O7U2ru/1zrVbrOw/9Z85xHMdx7y3gg891R9uf6Q7xD7pDTLtj2nb7s/2Y626vGyE3IL16eLdR/xl5Y9+zrU/2PFvfQV3Z1p9AvdG9Q6N7O2t2tr/d7K5+4cMPP/w9h/474DiO47j/X/X7/e/ujh7+SmeAXGdECPakZ+X7MJ89sZU/B/lamUf6qfzeU7A/h7r8wtzoiefq6qY+0V6Y023q3TvUO7eodTbNenv9PzSGqx8+9N8Fx3Ecx31ddUfbn+kMH77cGjyuOiPCb+8b7Ov9mL8NchXw50bC/mtB/V1uv8vP1Nv7br9371Dr3KLW3t7X22tPo7f6t8vl8hcP/ffCcRzHce9UIBD49vbw/t9p9R/S7cEjOiPaZntveV6+bzNXIb9/GvLNM2PEXf0vBMZb8DLqe75Zf1fUW8NHNAcPaPbvdahX21tUWptpvbX+rUZ/9s8c+u+I4ziO456tXp9+X7t/9983+w+jlsBc3swHAvPRvs38iVvsT23lOrxBsxU/n8T9XVFXbr8/g7oMencinqePHlXUG/171Ht3qHdvUetsFdQfq611rN5a/4V6vf4dh/774jiO47id2u31jza7t19u9h7uZMzlzXz4FOZP3GZXNvPnIN8+M0bcdbff7w2o3wrUn3ie/tx36tqW/mjY0hXQaUuvtjaoNNeoNNfzWnv5m63W+g8e+u+N4ziO49Q6ne1PNbt3l83e/aMRc/Vt9uXzL8AtnrjNrmD+tUC+M8o/Jz9TN4J+p4E+l269T9d0ZvxTt96Vg2f2gi629Jp+S0e5uUa5sXqoNFbOanPxS/wmPMdxHHfwGt3Vzze6t4FG7x6twSPaI8LtuU/TZNB1z8zv3o759nEX7Ns9sxd0gboKu4L63f4tfWa47T5evm1Lf0R79IDW8AHNwT0a/bsd0KvtDSqtNcrNNUqNFUqNRafSWPx6fjj8xw79d8lxHMd9i9bsrn6h3tlGG907NPsPaA8J86feaN/BfM+tdh3mDwbM34L4s7A/7tnUlf+8Oz3qT27pz/zLXLqTRwn0exV09bZ7d4tqRwFdbOnNFUqNJYq1xabcWPzfjQZ/3sZxHMd9g6t3Vv9CvbON1rt3aPQf0Bo+cav9Ld+aL6TtXLkNvt4D+teD+Q7sCupPbem3e0Bf74I+kkGfAr3JowD9Ae3RvQD9ToB+uwu6uqUL0OtLFGuLx3J9dlpuzX7i0H+3HMdx3LdItfbyn6+2NsFa5xZfy632qeFWu4y5cTvfPOy/zW6E+u6Z2UH9GdBX8m3350BfGM55nz4S6OMHdMb3BtBvCfSeAvpGgL6WQF+hVF+iWF+gUJ2jWJ05Go3xzx7675jjOI77Jq/em/5YtblyVdtb1MWt9p3tXHyitnc7N4C+fGI733lu/vi1Yb4D+iPN9hHYPkioy6Dfii1dAn22BqarXdCHOtAf0J3IoN+hObhDs3+LRv8W9d4Wte4Wtc4G1Q6BXm6tCHR1S1+gUJujUJ2hWJ16K63JP3fov2uO4zjum7R2e/4D1dbqo2prg1r3Fo3+PVqDB7RHj1/bdr7VXkDTYX7/xHb+dWC+g/o+0JX/zCdAnz8BunbL/XEv6O3hnUBdA71uAL3SWqHcWqHUXKqgK1t6vjJDoTrxVSqMOsdxHPeeK5fLX6y0Vn+30lw/VNtb1Hvadt5+12fnBtCf3M7F7MP8XSHfQf050O/2gL6RQF/vA/3RAPo9OuN7dEZ3BtC3aCigdzeodtYa6M3lLui1OfLVGXLlKXLlia/SHP/hQ//dcxzHcd9EVRvLv1purhYVaTtvvst2vpK28430Zruynd/t2c4lzGXQnwL7fs/soP4oof4c6Ns9oBs39PmjBPrDE6Dfojm4RbO/RaO/Rb23kUBfiVvuCugCcxn0yhTZ8gS50sRTrI9++tB//xzHcdw3QY3G7OfLjWW53Fyj2lG283u0hgT6W7fz9e52/q6g3z4+jfk+yN8Gurqh3wvQ775W0B8J9NkDBrMHAfq9AP1OgH4rQN8aQF9LoC/1oDcWKNbnO6BnS2Nky+ObanXyhw59HXAcx3G/iyt1Fz9Uri/OSo0V1O28d4fm4F5s5+8O+ly+3S49P1+/A+j7UH8Ocx3qhu18L+i3e0BfS6AvgfHyUYD+IIF+T6CP79Ad36EzulVBb6mgbzTQ2ysV9FJziVJTwlwGvTpFtjJBtjRBpjhCtjj8uFDo/OChrweO4zjud2Fms/nbKo35/1iqL+7V7Vz3MtyDCnpf+fecz+m29PgJ0BdG0O800FXMHyTM38eG/q6gbwXom32gP2K8MIJ+L0C/E6DfSqBvBegbNHob1Htr1DorAfoS5dYCpeZCbOdzCfSZCnquMkG2PEamOEK6MLzPFke/mUz2vuvQ1wXHcRz3u6xqY/bLhdpsUGosUWmtUetsUe/dojnQbrd3xo/67VwCXXl+PtvoQVdePls9Bfrj86A/B/kO6o8S6Mp/Wbg3gH77DOgrYLp6lEB/EKDfYzC9R396p4E+UkDfojXcojnYCNDXqHcV0JeotJYoNxXQ5xLoM+RrM+SrU7rlroBeGiNVGCKV769zhf7f4LPfOY7juHeu3B7/aLE28xRqC5SaK1TaG9S64vm5AL0zohPSdm63G0FfCyCfAX3zzIZ+9/h1gv4ogf6wB3RpO1dAX2wE6Gtgtn7EdPWI6fIRk+UDxosHjOb3GM3v94BOmHdGWwJdwby/FqCvUOss1e283Jyj1JyroBfqMwH6VGznMugjpItDJHMDJHLdbq7U/aVDXx8cx3Hc74LK5fIXi7Xp/5GvzlBsLFFurVFtb8TtdvH8fPiAzvhBBX3wzBvus83ToK9l0O810G+NoD9+/aAbMd8KzDfSdr7aGkF/xGxFM10+YLJ4wHhxL4F+h8H0ToB+i+54i85oi85wi/ZwowO93luh3l2h2lmi0l6I2+0K5jMUBeaFmgz6BNnyBBkZ9PwAiWwPiWz3plTq/tChrxOO4zjuM16pOvuVfHkyKdTmoJfh1qh2Nqj3CPTW4F48P38G9OXXB7ryjFtG/c4477iV3z0Cdw8S6Pd60NdG0DePWGwesVg/CtAfMF09CNDvVdCHszsB+i36k1sD6BsJdLGd91aod5cq6JXWnDb0xkwCfYpCbSpAn2jPz0sjFfRUYYBEro9Ypnufzvb+awCfO/S1wnEcx31GK3TmP5gvj825yhSF+gLl5gqV9lrcbhegD42gP+68EDdZ0stkulvumydAl1BXMX9qS3/cA/kjzXOY397v387XAvPV9lEC/QHz9QOBvrzHdHlPoM/vMJrfCdBvJdC3AvQNgT7YoDVYC9BX6u32amchNvTnQc8bQE+XhkbQEU+1KtlS++cOfb1wHMdxn8EAfK5QGf96pjS5y1dnKNYXKLdWqKrPz2/RHCig36MzpkNV+k+AbnyGvjCCfquBrm7o9xLoEuw7WBsQ3wH9Ccy3BszX20cV86WE+Xz1gNlKw3yyuJNAv8VweovBdIv+ZIveWAO9PdygPVgL0FcC9CWBrmznrTlKzZkEuoL5hDCvTpCtjHXPz1MC9GS+j3i2i2iqjUS69dutVus7D33dcBzHcZ+xCrXRT2VL42KuPEWhNhfPz1eodgj0Rl8B/Q7t0T26OtAfNdAXbwF9q4FuRH37BOr7QN87DwbMZdDv5O38UcV8tX3AcvOAxfoBi/U95qt7zFb3mC3vMV3eYbK4E6DfYjS7Fds5YU6gb9AdbQTohHmrvxKgLwXoi/2g16diO5/sgJ4p67fzpAp6D9F0G5FUa5rMdP7soa8bjuM47jMUgM/nS+PfyBTHoNvtc5SaS1QE6PUunXjWHNyiPbxDZ3SP7vhegP4gQH/cBX2155b7ds+GbtzS7w0oC6ifQ1yH+b022zsJ89tHbFTMH7DaEObL9T0WYgj0O8yWd5gu7jBZ3GI8v9VAn24F6Bv0xhsB+hqd4VqAviLQe0s0ukvUuwsD6DOUmjMUG9MnQB8bQB+o23ky30ci10Ms00Ek2UI02TqNVavfe+jrh+M4jvuMVKz1/2imMKxnSxMot9tLzSUq7RWqnTXqPQ301pCOOCXQ7w2gP2qgL/eAvtmzod9qm7NuS1dQlkF/Zm4NmG+fxPwBa4E5gX6vgj5f3WGuYL68xXRxi4nAfDzbYjTbYjjdYDDZoD/ZoD/eoDdaa6APVmgNtO1cD/ocldYM5eZMbOgK6BMV9Fx1jFxljGxlpIKekkBP5HqIZ7sEeqqFcKK+TWaa/9Ghrx+O4zjuM1AgEPj2TGHwf6YLI2TLE+Rr+0DfSKDf7gH9gUCf0wEs4+WjHvS1AfStHvS1dDv8KdCfQl3939mzlW/vHrG9e9zFfHuP1eZewvwOCxXzW8wUzBe3mMy3GM8J89Fso4E+XqM3JswJ9BWB3l+i2V8K0BeodxaodeZ60BvTPaCPBeijdwI9mmojnGggHG84+FhYjuM47oN8efjHUvl+J10cIVsRoDc00GsG0Nsq6HcC9HsCfUanqI0XdLLaZPlIoK/0oBtRXxu3dAVjGXV59txW38X8UcL8AZvbB4H5PdYC89XmHsv1HZYq5reYC8xniy2miy0mc5rxbKNiTqCvJdBX6A5XAvQlgd5boNFbiO18jlp7jmp7JkCfSqBPNNCrEujlETLloQS6drs9nhOgp9sIJ5sIxWvbGG/pHMdx39oB+Hy62P+7qfwAmZJ4fi5AL+8FfStAvxWg3wnQ7yXQNdSn4nCW2foR8/Ue0J9Affs21J/EXIN8KyAnzAny9UbB/E7C/BaL1S3myy1my60B8w3GM5rRdI3hdI3BZC1AX6E3WqE7WqEzXKIzWArQFwR6d4F6dy628xmqLT3oxcZEAn1MoFdGAvQhMiUj6D39hp5uI5JsIhSvIxSvXRWLxd9/6OuJ4ziOO1C5yuAnk7leMVUYEuhVCfSWEfTNE6DfYTCl41BH83sB+gMmywdMl9qJa/M1Hdqy2Gifia0E6iro+1AXo7+VbsD7Ccg3t/cS5ndYbe6wWt9hub7Fcn2rw1wH+nyDiZjxbI3RbE2gT1YYTFboj1cC9CW6wyU6wyXagwVa/YUE+hz1jgZ6pTVDpTUVoE800Gtj5CXQs7oNfSBeinsC9FQLoXgDwVhtHkvV/q1DX08cx3HcgUrle38zmes/pgpDZMoC9LoM+hK1zgr13loCfStAvyXQJ3QM6nCmR51Ap9PWZqsHzNca6groS/XTMXrzfH37SKiLZ96bu8fn8b57xPbuAdvbBz3k23tstvswvzVgvtUwX2wwW2wwXWwwna8xma8xnq0xngrMpysCfbxCf7xEb7TUQB8sVNCbvTkavbkAfYZaeyZAn6LSNII+lkAX23llSBu6AD1V7COpgt7dBT3RQCBaQzhW/bBer3/Hoa8pjuM47htcqdT9oUS2603m+kgXR8jqQJ+j3FpooHcV0DcC9C26o1v0xnRa2mB6h4E4EpVApwNZ6KQ1Ap1QV773Fp+LbR5U0PWo7xvCenv7oEN8KzZxdVTI7zTIN7cGzLcC8w3my81ezCezNcazFUZTGsJ8icF4ib6K+QLd4UICfU6gd+dodGcC9Cmq7anYzicoNycEen2MggJ6dbQLekkDPfUW0IOxGvzRyjCarP3Lh76uOI7juG9wqUL3z8WznVUyP9gBvdSYo9wk0KsdOr600Vuj2adzyjvDLbqjLXpjOstcQZ1Av8PYgPpsSYe1zFfaAS6LjYT65oG+C98+qG+ib27fNhrgNHfYbO9UyNcK5CrmWywF5LuYrzGdazOZrTCerTBWMV9iOBGYj5fojRboqZjP0e7TEOgzFXMV9NYUlRZhXm5MUGqM1e28UBOYV0fIqdv5ABnldrvY0BMq6B0d6OFkA8FYHf5IBaFY9X8+9HXFcRzHfQNLJpO/N5nt/L/xTBcy6Pk9G3q1s5RAXwvQN7Slj7cS6LcE+oyOSR3P6YS16ZKGQKdRDnFZbrRZbe4F6Pc7s9ka8dZDvlYhv8VaQny13hLkKuYbLJY08+UG88VawnyFyXwlYb7EaLrESMV8gcF4gf5ooYE+mKugt3ozNHszNLsK6FPU2lMB+gQVdTsfo1RXQB8hr4BeGWqglxTQ+wL0ngH0tgR6E8E4gR6IVALxUon/TWwcx3HfKmWzrZ+Ip9uVeLaHVGGAdEkPOm3oc1TaCwn0lQB9jfaQjjrtjuks8/5kK0Cn09SUk9WUY1OnSzqsZSa+9Z6v7ujb7zV9B66CLmYtjw73u90RiKuYC8hVzFcbLFcbFfP5co35Yq1iPpuvMJ2vMJ2tMJktMZ4uJcwXGE4WGKqYz9EbzdEbztEdztEZzNDpz9DuzwToUzS7UzQ6UxX0amuCSmuCSnOMcmOsbufF+khs50PkqxrmWWU7V0Av9ATo3SdAbxDo0Sp8ofIymqj+yqGvL47jOO4bVCrb+dVounO/C/oEhfoUpcZMB3qtuxSgrwj0wRqdIZ1hroI+2WI43e5BnQ5pmS7EN95LAbqKuvYJ2XKtPPPenbU6BsANiKuY6yBfY7FcS5ivMJuvBOZLTGbaEOgLA+Zz9Ec0hPkMXQnzdm+KloJ5d4p6Z4Jam6aqYK6CPkKxPkKxNkKhpmFOoA/E7fY+0qX+XtBjKuitHdC9oTIC4fLfA/D5Q19jHMdx3KdcPp//QiLT/jCa7iChgj4Uz9AnKNSmKCqgt+aothd60PsrATqdkNYb0xGotKUT6qPZFuMZnbA2kVEXB7fMl7eYr7TPxhYr7YU1ZVbKbJ4YA+Ay4kbIF0tCfL5YYWbAfKpgPl1gPF1gPCHMR5M5huM5BuM5BirmM/QUzAczdPpTHebN7gSNzkSAPkatNUa1NVZBLzVGKNVHYjsfolCVQR/oQS/2kSr2CPR8F4l8F/FcB7FsB1EV9CZCOtBL8AWL6XC6/KOHvs44juO4T7lstvUT0WSrEk13kMj1kHwC9FJzpoHeWaDepeNMCfQVOkMD6hM6EpVOUzOiToe1TBfiW++l8rmYAfXVLZYr5bn3rfr8ex/e2mx0kC9X672Qa5gvVcgJ84UB87mE+QyD0Qz90Qz94Qy94RTdAQ1hPkGrN0GrO1Exb3TGqEuYV5sjVJojlBsjsZ0PUawN1e08Xx2omGfLfWk7F5gXugS6crs921ZBD6ea9JZ7vI5AtApvuAxPIL8NRQv/3qGvM47jOO5TLplu/fvhROt2F/QRctUxCrUJivWpBPpcgL5Ao0fnlGuorwTodBQqnaJGqI9m2ilrdEiLgvoGswUd4DJfarNYam+gL58cI977EadZSZgvMZsvJcwXBLmK+RxjAfloPMNwPDNgPpUwn6DTn6DdnxDo3Qma3TGanbGGeXuMamskYT5EuTFEqT7UQK8OVMxzlT6y5b4GerEntnPCnEDvaM/PM7Sdh5MS6DEC3R0owB8q/O8APnfoa43jOI77lALw+Xim9fciyRZiGQX0PtKlITIC9LwCemOKcmsmQJ8T6N0Fmj06r1wDnY5A7UuoDyd0GMtoakR9g+l8I1AXo7xxLmaxFLfLpXk3wAnxhYS4DPlsvsB0ttAwn84J8j2YD0czDEZT9IdTCfOJinmnP0G7N0arN0arO0azS5gT6CPUWiNUWyNUmkNUmhrmpfoQxdoAhRphTqD3kVMx7yFd7IntvKuCnsh3BOht6fm5DHqNbrkL0N2BvCedbnz/oa83juM47lMqler/E9FkI/Yk6BUF9AmB3qQjSxXUCfSFAJ3OL9ejTiepDSYrCXVx4tpMHNgife89W2gzl2cv1ga45TEgPpcQlyGfCsgnEuTjyQyjiYB8PMNwNMVgNMVAwXwwQU/FfIxOf4x2j4YwH6HZGaHRHqmY11pDVJtDVBo05foApfoAxRpNodpHvtonzCsa5hroAvNCF0kZ82wbsUxLAr2BUKKOgAF0ly87DMUqP3/o643jOI77lIqn2/9qKFGfhgXo8VyXQC8OkCkPkauMkK+OUajTaWbl5lSAPhNb+hyNnoI6nY7WGdLxp3QUqhF17aS1sfi+ezKj772n8xWhPqdPxzTYFZy1N9Kfn6UB8oU2KuRzTAXkkykhrkBOW/kUw9FUYD7BYDhBfziRMB+j2x+j01MwH6HVHWmYd0aot4eot4Ya5s0BKo0Byg3CnEDvo1ClyauY95BVMe+qmKcUzA2gRzMtRNJNhFMNeiEuUUeATooj0IMFOH25R184/2uHvt44juO4T6losvHfhOJ16EDPC9BLQ2QrdGJZoTaWtvQpgd6eod6hY02bvTmB3qdjTzvDhYp6f7RUj0gdGlGfCtDFTGcK7Nqb5+o8hbaEtzK7iM91M1Exnxkwn+5g3heY9wcT9ATkXXUzH6mYt7ojNDtDNDpDNFTMB6g1B6iqmPdRrvdRqvdRrPUF6D3kKzS5ck+A3kVGwbzYRarQEZi3kci1Ec+1xe32FqLppm47D8ZrCMSqOtAd3izcgexv8edrHMdx34SVy+UvhhO1o6AAPaqC3kOq2EemNEC2PDSArmzpUwH6TAO9R0edtgeEencoTlAb0WlqGuo0owkd1jKeLjGe6b/9ns7Ey2pz+Zn3c7PYndkCMxlyAfhkOsNkokE+nkwxGmszHE0wVLfyMfrDMXqDsYT5CJ0eDWE+RKszJMzbCuYDA+Z9VCTMS7U+irWeAfMusuUuYV7qIl3sIF3sIFXoCNBlzFuEuQp6Ywd0X6QCb7gEd4BAd/oyznC4/D2Hvu44juO491wuV/1DgVi1SKA3EU23Ec92kcj3kCr0kVZAr9BxpMX6WIA+QaVF/4KRWkdBnY45bfXo2NPOgE5O6w7pSNS+ijrNUBzSMposMFI+ERMzmS4E7Ppn3VPDs29llA18ZtjCCfGZhrgK+ZRmLEM+0SAfTTAYjtEf0PQGY/T6I3TFEOZDtLs0hPkAzfYAjfZAwryParOPqg7zHkq1nop5odJFvtJFrkxDmHeQ0WHeVjFPKJgroKeb0u32OoKJGgLxKvyxKnyRMjwhDXSHO9MIBLI/cejrjuM4jnvPxdO1fz0QqS70oHeQyHeRKvSQLtGhJrnKEPkqHUtarNPpZpXmBNUWHWVa70zR6NCZ5c3eDC1xWlpnMEdXwN4baierDcThLMPxXEN9Qt9861BXh26PT/fcOlc2b/XndKZHfDLDZDLFREFcjIK4DPlwNMZgOJYwH6E3GGmY94boiHka8z7qrb6EeQ+VRg/lOk2p1kWxSqNgTqB3kC3REOZtpAttFXMCvYV4toV4tolYpolopilt53WEEjXd7XYCvQiXAN3mTi59wcyfOvR1x3Ecx73nIrHq3/RHqpBBj2U7SOS6SBZ6SCu33St04AmBPkKpQaecVVp0jKmKepdOR2v1xPGnfTo9rTuY7aI+klAfz9XDW0YT5U1z7ROyyc7M3j57EB8LwPWQj3WQE+YjwlWirAgAACAASURBVLyvYD7UMO8O0e4O0OrQaJj30ZAwrzV7KuYVCXMFdMK8g3ylY8C8jYwO8xaS+RYSuZYAnTCPyZin6hLoVfhjFfH8vCRAz8PhzcLqSsHpTf+Xh77uOI7juPdYIBD49mC08hV/pCKB3kIs0xbP0bviOXofWbGlF2pDFGt0VClt6XTyWa1NR5s2Ospxp3T0abtPp6cpqCvHpPaHdDjLQIz6ediY3jAfjekFtfEzM5not++9gE8mGI8neshHE4wE4sPRGMPhGIPhCIPhSINcxXxowHyAtphWZ4Bmu49muy9h3kOt2ZMw76JS76Jc76Jc66JU7aBY7aBQocmXO8iV28iV2siW2gbMW0jpMG9KmDcQTTcQSTcQMWAub+fecAnuYAEufx52bwZWZxIOT/L/4gNmOI7jvomKFjo/6AuXw75IBcF4DaFkA5GUAnqHQC/0kFZBH4gtfYhinY4tVUDXo05HnrZ6BtT7dKpabzAVqE/RH9JhLYMRHdwyHInPxcYz3Utq8ox30NZv4MYtfDQeYzQa6xEfjTEUiOsxH6LXHxogH6DTHWiYdwZodfoS5j00Wj3UBeS1RhfVRlfDvNZBSYyGeRv5ctuAeQuZYgvpAg1h3kQi11Qxj2caEuZ1wjxVRzhZk0CvwB8twxuh7dwdLMDpz8HuzcDiTMLqTB6Xy+UvHvr64ziO495TkWT1n/WFyi1fpIJArIZQooFIqoloRnmO3kGq0EW62FO39Hx1ILb0odjS6RhTAp2OOG10xmh0FdTpKNR2TztNrTuYEOoD7dS1/lAc3DLSPhcbjrTPx+Tn3W+fJwAXiKuQC8DV6SuYD9Dt0WiY99Hu9NES02z30BSQE+Zd1JpdDfN6B5V6B+VaRwW9WG2jWGmrmOdVzFvIqpg3kS40kco3kcw3kVQxbyCebSCWqSOapokIyPdhrmznyu12py8HmycNizMBiyPu4jfdOY7jvokKxSp/2hMsrTTQ6winxG33bBuJXAdJFfQesuW+2NLpmNJifYhSYyihPtKj3qHjT1vd8S7qKuw06nfeQ/pUbDCkN82Hz4xy61wePeAjFXDdNi4jrkI+0EHe7RHinW4fbRXzHloCcgXzeqtrwLyDqg7zNkrVtgHzFvLlFnKllsC8iUyxqcM8lW8gmWsgkWsgkW0gnqkjlqkjpmJeQySlYF5FMFFFMF6BP1aBL1qGL1KCJ0zbuSuQh8OXhc2ThtmRgNkRy3ii+R8+9PXHcRzHvacC0cqveYLFR1+4DH+simCijnCyIZ6jtxDPtZHUbek95Mp0mlmhSseVluoDlMVRptXmUBxxSsedNjojNHWo03R6dCBLtz9Gd6B93618IqZ89z0wjPLi2nCoPfs2bt47eAvAlZER7wvEe/0BeirkfRVy2sp7aHd6esxbXTQE5BrmHQPmbQPmLRQqLRR0mDdVzDMC83S+YcC8bsC8JmFeRShBE4xXpO28BG+4CE+IMFdut9vcKZgdcdzYo023O/6Th77+OI7juPdUIFL4DXegCG+4DH+0qj1HTzcJ9Gxb3HbvIF3sii29h1yFzhwv1GTUB6g0FdSHqLdl1GmUk9R2UO+P0O3vgV28oDYwAr1vBkPx66EOcA3xAfr9gR7xPgHe7fXR7dIQ5L0dyFvtrgo5Yd5BvdlBrUFTrXdQrbdRqbcNmLdUzPPlJvLlJnIlmmyxiUyhgUyhgXSBIE/l6kiKIcxriGVqiKVriArII8mqwLyCYLyiYR7TY+4O5tXt3O7NwOpOweSI48YWHbn8yZ879PXHcRzHvYfMZvO3+YKFr7gDBQG68mJcHZFUA9F0E7FsCwl1S+8gU+wS6OWe2NLp2NJSfYBynY41repQ105Na3ZGaMmod+mENeW0ta50aEuvr71hrqCun+FbZvAk4L1+Hz0F8Z6CeE8dBfJ2p4tWm6apYt5BQ0CuYd5WIa/U2ijXWihXWyiJKVZaKAjIVcyLDWSLDR3m6XxdxTyRrSORrekxT1cRSVUF5hWEEhUV9ECsjECsDH+0BF+kCG+4oNvOldvtVlcSJnsMV5bIwulN/vFDX4Mcx3HceygQaH2nJ5C/dAcK8IZKoOfoVfEcXYCeaSGeayGZb0tbOh1NmhNHlWqo0ylolcYA1QYddVpr0YlpGuo0rc4QLXEoS1s6qKXTo7fKuz16w7z3xPR18xTcGt7yaJBriHcE4MookCtbeVNATpi3UW+0URNDmLdQqbX0mFeaKFaaKJSbKJQbyJcayJUaKubZQgOZQp0gVzGvIZmrqZjHMzXE0lVEUwrmFQnzMoLxssC8JDA3buc5dTu3uVOwOBO4scVwZQ5vnM7Yv3noa5DjOI57D6XTje93+fN+lz8PT6gEX6SMQKyKYKKGsLKlZ5qIq1t6G+kCnWCWLdERpQR6D8UqHWWqoU5HndaadI55vTVAXZyi1mzTQSzKoSxt6bvuTle8Vd7Tv5ymTE8e6dm3Ee0dvHs9dLs9PeLdHjoS4u22DHkHzRaNtpW3UW/KkLdQFZBrmDdRqjYlzBsGzOvIFuvIFuoS5jWkBOTJrIJ5FfFMlTBPVxBNVVTMw4myhHlJwrwIb0SPudOfhcOXoe3cnYLZmcC1LYorc/DO6oj8u4e+BjmO47j3UDxe+BG3L5sl0IvwRvbddm8glmkikaPDTVL5NtLFDjLiRDNCvatDnY43lVGnUY5DbbT7hLoOdvoUTEVdNzLM7zDd3s5oiHf1iKuQd9RRIG+22mg0abStvIWagJwwb6JSa6JcpSHIGygKyDXM6wbMa0jnaQjzKpLZKhJZDfKYgJwwLyOcLEuYE+SBaBH+aFHDPFyAJ5SHO6hhbvemYfOkYHElYXLEcW2N4OImeG+xR/7ioa9BjuM47j3kj5Z+3OXNNpy+HNzBIrzhEvxR5ba7tqXHMg3EswrqdIJZptgWoNMQ6nScaanWVc8srzTotDTl5LS6gL2hwq6Niro8Xf0b5x3D8+5np9PdGQK8g7YEeKvdQUsA3my10WwaIW+h3mhJmDdRNUJebaBUaegxL9WRF5DninVkCzVkCjVk8jLmGuSJTBXxTAXxdEXCvEyYJwTm8ZLAvIhATMG8AF+kIJ6bE+augIK5sp0nYXYmcGOP4coSxoUp+Gi2hv6TQ1+DHMdx3HsoGCz9jNOT7Tp9ObgDBXjCJfii4rZ7vIpQsoZIqi629AYSuSaSOTq9zIh6XhxjqkedplLvoirBXhejHMjSbOun1RZvlnfkF9T2zS7YOrglvHcQb7XRUgAXiGuQt9BotjTI6y3U6k0d5IR5A2UD5MVyHYUyQU6Y15Ar1pAt0BDmVaRzVRXzZLaCRKYiYV5GNFXWME+WEE6U9JhHi/BHFcjz8IbzOszl7dzq1rbzG1sUl5Ywzm8CMNnDv3boa5DjOI57DwVjhT/i8KYHDm8WrgDddveJ2+6BuNjSU3VE0nVpS2/SrXdxNCmhTseX5ssK6nS8aalGZ5drqNPUGvTdtvINd0P6FKypTFv/Ypo87b3TeRrvdlsFfD/iBHijoSFOkDd1kFdrDVRqDVQE5IR5HcVKXYWctvIa8iUZ8ioyhSoy+aqEeQXJbEXCvIx4umzAnCAnzIsIxosIxooIRAsq5r63YG7zpNTt3OSI0e12cwhn137c2IJ/7dDXIMdxHPceCoXyP2/zZMZ2bxZOf1697U5begXBRBXhJH33HBWoJ7K0qafyTfW88UyRTjvLiaNMC5U2iirq2tGnlbr4VlscwFJrdATsHYK9KT4La3U02FvaM+2W8Ta5dLtc3bqfwltFvIWmArhAnCBv0gjEa3UCXBkd5JU6SmKKZYF5qYaCgDyvbuVVwjwvMM9VkBKjYV7WME+VEE2VEE2WJMyLEuYFwjyShy+SlzDPwRPMwR3MCtAzsPs0zC2uBG3n9iiurGGcm4I4u/I9mqzBv3Loa5DjOI57D/lCuV+0udIzuycDpz8Hd7AgtvQS/NEyAvEKQhLqsTSdWJbI0ilmhDqdcJZVUW9pqFfohLRSVTlopYOKDHtdO5Sl1tC+7a43tU/EGk3xlvk+nJ8bAbcO72YLjUZTnbo0NRXyhh7yah2Vah3lal0HealcQ1GMinmxipyYbKGKbL6KTL6CTL6iYZ4tI5ktI5kpE+bpMuLp0h7MiwLzAoKxgsA8L2GegzecgydEkBPmGTj9GTh8adi9GuZmZxw39hiubRFcWkI4vwng5NJ7f20O/oVDX4Mcx3Hce8gXKv4Jiyu5sHnScPjotrs7VJC29DKCAnXa0muIZeqIZ2XUG4R6kU49y5XoSNN8mU5GK1ZaKuoa7HQAS6VO33BX623U6trnYLUGvVFeb9BLaY2903q3eQLwusC7Vm+gVmvoIFcQlyEnzGsa5KUaCqUqCqUq8sWqhnmhgmyhgqwEeTpXRipXVjFPZEpIpEsq5LFUEdFUEdFkEREBeThekDDP72IeysITIsjdgV3MbR4Nc5MjhhsbbecX5iBOr/04vfTemmyhP3/oa5DjOI57D3mD+T9pdSVXVncadNt9d0sn0CsIJ/WoJ7J1JHMy6g2xqWvHmubLTRRk2Ct04Eq5St9sV6SpSp+C1erijXJp6s/OHrBVuBvq1OSp0VRrdXU0yGsC8pqKuLaRE+KFogR5obIDOWFOiKeyJSSzJSQzJQPmRcI8qWBeQDhREJjnVcgD0Tz80Tx8kZwB8wzcgYzAPK3D3OpOwOISmNuj2nZuCuL0yoeTS/fabI/88qGvQY7jOO495A3mftnsSKytrhTsXrrtTi/HFeANF+GPlsSWXlZRj6aqiKXpBDM6npSOKtVQbxDqAvZ8STkpjQ5aKVboW+1SVfvkq1xrCtibAnXxEpp4Ia1mmHpdf4tc+73G01NroFaroyYBXq3qEa9UaiiLIcirKJWrKCqjbuQVdVTM82Vk82Vk8mVkcmWBeYkwzwjM0yXE00XEBeSEeQGRZIEwF5DrMc/BH8kJzLOEeTAjYZ5+AvMEzM4YTA7CXNnOz278OLn04vjcPbM6Y7946GuQ4ziOew+5g+lfMdnjG4szCeW2uzOQgzuYhzdcgC+iRz2coNPKCPWqQJ2GUK8jXagL1OmI01yJDlbJl7SDVopl+sxrB/ZqE5Vqk15Aq9HP6jNTe2Lkrds4lWpNN2UV8SrKAnAV8pIyFRRKFRR0kJeRK5Q1yHNlZHIlpHMlpAXkKXUrLyKRLkqYFxBN0kQSBUQSeYQF5KFYHsFYDoFoTsM8nNUwDymYpwXmKTh8Kdi9Kdi9SdhUzOMwOaLqi3Dqdn7tw/GFB8fnnrbZGf2pQ1+DHMdx3HvI7c/+abMtvjY7E7C6lS09C1cgB09Ijzpt6WWEkwrqFYF6lUDP0olnqXwN6Twda5op0MlouWIduVJdwF7XYK8osGtTlj4Jq+yMfrvW/bqq/V6lWkPVALc6FWUTr6qjR7yijoI4QV5GXiAuQ57Nl3YhzxSRFJNIF5FIFxBPFRATE00WEE3kCXIF81gOoVgOQQF5IJKFP5KVMM8IzNOEuV/D3OFNEuaeBKzuuNjM9bfaaTsP4OTKizfnbpxcerNWX/xHDn0NchzHce8hbzDzx29s0YXJEYfFtbule0IFeCMF+KNFBGJ0qAmhXt6DOh2SksoR7Ok8HaKSEQeqKKelKQeuFEr03bby2VdRfoNcTNkwFeMt8regbYRb2cK1TbyCUrmiQ7yoIl5GoVjWQ54vIatMToG8iHSWJpUtapinCyrk8VQBsWQeUTERBfN4DuG4gDyWQzCaVSEnzDPwhTOEeTAtYZ4SmCd3MLe49Jgrt9rPTQGcXvtxfOnB6zMXzq68rnC4/D2HvgY5juO495AnkPyXrm2R6Y09BoszqW7pDrGla7fejaiXCPVUWaBOp5wlMhWBOk06XyXYC9pJabkifaedL9I32wVpimX9lMriWXZFvjW+b6pvgVvDexfwMoqlsgq4hngJ+UIJuUJJB3kmV1RHhTxTRCpTQDJDiCfSBSRSBcRTecRSeQ3zRA6RRA4RAXk4lkMolkUwmpUwz8CvQp6GN5SWME8R5r4kHD6C3O5J6DA3PjfXtnM/Tq7odvvrMxdOr32v8/n8Fw59DXIcx3HvIZcr+XM31ujoxhaD2ZmQtnRx6z2o3HrPS6gXEYrToSeRpHaqWSxdRjxNqCfEoSmpHJ2Kls5rh6tkC1XkCtr32sqb4nnxwpky6vNr6aW00pNT2Z2SNjLcxVIZxaIe8IIEuIw4QV5ENkeTyRWRySqQF5DKFFTIaSPPI5HOI56iiSXziCVzeyDPIiQmGM0iEM0iEMlImGuQe4IpgjyQgsuflDBPEObu+A7mN3Y95rSd+3B86cGbczden7lwbvL95qGvP47jOO495XbHf/LaGm5eW6Og2+7Ks3RC3RXIwh2kw0s01AsC9SJCCToEJZKkQ1EIdTr5jLb1ClJZOlAlnasgLX3SpZyilhNDsNMLZ8pz60KpIoDfvS3+/DyHdwmFYkkHuB7xIiGelxDPFZDJFpAWo0KezquTSNEQ5DkV8mgih0g8i0g8i3A8q2IejGYQjGYQiNAokPvUrTylYe5Paph7E7B7E7B54gLz2A7m17Ywrqwa5rSde9Xt/PWZE9emwF8/9PXHcRzHvac80fwP31gi6StLBDf2GMxO5Vk6oe7061H3RfIEepQOPAnFi+qJZirqKfrGOp6mk9CSGTpMJZWlw1XSuQoyOQl2McrnX7lCRfdZ2A7ye7br/VPSprALeL5QRC6vjbaJF5DNFVTEVcgzeaSkSYptPJHKIZ7KIZ6kIciziCayiCSMkGcQ0kGehj9MQ1t5Cl4BuSeQgjsgIPcn4fQlBOZx2DwEudUVg8UVhdkZ3cH80mLAXGznR6dOvDlzrm8swV859PXHcRzHvafC4fL3XFtC7ktzGNc22tLpjfckbN4UHD4Z9Sy8oRx8YTqxLBDNC9QLCMcV1OmAFPrGmmBPpJXvsJVDVugbbWUy4tvtrDS5vPY2uTL5ndmH9C7aysh4q4gLvI2AE+J5pDN5DfJ0Hsl0Tp1EioYQzyKWzKqQR+NZROIZROIZhGMZCfI0gpE0ApE0AuE0/OEUfCEawjwJTzAJdyAJt7qVJwTmcdg9T2Ee2cH8whzA+Y0fp9c+nFx68eaCbrUfnTrx5tzdsdmCP3Po64/jOI57T5nN5S/eWEInF6YQrqzylp6A1ZOEXYd6Bh4V9ZyEeh4hcUxpOEHfVUcl2OMp+v5ag72EVEb7TjstPvnKSJPN707uySlKP/dNAbl8QYe3HvE8Mtk8Aa5DPIeUBLiGeBbxVBZxgXgsQRNNZFTEI7EMwrE0wrE0QtG0HvJICv5wSo+5gNwTSIqtPAGXX0Dui0uYx2Bzx2B1RQXmEYF5eBdzk8BcudV+7sLRmRNHp04cn7sjHk/8hw59/XEcx3HvKQCfv7GFf+v8JohLi7KlE+pWdxI2CXVXgE4m8wQz8Iay8IXp9LJANIegCjt9Ux1RYde+vY6nlG+yaZTvtFPic6+0NPKb5Mpk5TE8596HtQ7ubB6ZXF7FW0U8k0c6k0M6kyPAjYinskhIE09qE0tkEE1kEI3TEORpHeQa5ikEIikEVMiT8IWS8AaTEuYJuAMEucsXh1NA7vDGYFcgdxPkFmdEYB5+EvOzGx9OpVvtynZ+dOLA2aXniN9w5ziO+ybLZAv/V+fXAVyYlS1doO6Kw+pO6FH3pw2oZ+GLZOFXYI/lEIoR6mHxrXU0QZ9sxZIK7NKnXWnxhnhGe9EsJb18Jk/mnWYX7d3tO6dHPK0gnqXZQTyjTSKDmBiCPI1IPG2APIVQNIVgNGWAPAm/gNwXVDBPqJC7/Qm4/AQ5YU6QE+ZRsZVHCHOHhvmNLYRrawhXliAuZcyvBeYXbtrOT514derA0YkD59ee3zj0dcdxHMe952zO6J8/vfJvtS1dQ92iQz0Jpy8lUE8L1DPi8BM6CCUQzSIYzamnnoXj9KmWHnb6Nlv5tCuRopfLkumCGP3LZ/KkjZM1/DSAvW/7TqWz6siIE+QZJJI0CuIxFfE0ook0onGaSEyBPIWwQDwkECfIkwiEkwbIE/CK8QQS8ATicPvjcPnj6lbu9MYE5lHY3FGBOUFOmIcF5iFc20K4sgYJc4se85MrCfMzwvzViQOvTpwPN+bArx76uuM4juPecw5H/I+eX/kGZ9d+saUT6iZHFGanHnWHinpKoJ6WUKfvqAMRcVBKLKuirsGufcqlfNoVT2lDn37ldJ+DaZNDKp0nlA3bte7X6V24dYCnskimMoS3MgbE44k0YtKoiMdTiMRShLgMeSSJoDSBsMA8lIBPjAZ5XIXc7Y/D5YvB6YupkDs8UQnziIq52RkmzO2hvZhfmP04lzA/vnTjjfTcnDB34PWZa2h2BP/Yoa87juM47j3n8UR/+Ozalzm98uH8JvAM6nHYPAmxqSfh9NNhJ+6gAjt9eqXBnlG/tQ7FMgjH6PMt5Zts9Y1w8VKZ8qa48oxaeQHNOMl3nMQTaBPcaZqENirg8TSi8ZQ6kZg24WgS4WgSoWhSIJ4gxMMJBMT4QwkBeRy+YBxeMRrkMbj9Mbh8NE5vDE5vVII8okHuCsPiDMPsCMHkCBHmtiCurUFcWQO4tAR2brPLmL8+c+JI3cwdeHlsx/GZK+h0Rn/w0Ncdx3Ec956LRqO/7/zad3Vy6cXZtR/npiAuLftQj0moJ+Dw0ffRrgAdfuIJptSjSn3i2+qAeLNbD7sY5UUyFXd6ySwmTzKjexGNRtumE2+dtIZ30oh3iiZOo0c8qY6CeDiaRCiSQCiSEJAnDJDH4Q/FVch9wTi8gTg8gRg8gZgB8iicXhqHNwqHJwK7gJwwF5A7Q4S5PYQbexDXtiCurQEJc//+zfzChdfnTsOtdgL99NL7DwD8nkNfdxzHcdx7DsDnL699f//4woOTKx/ObgK4kFC/sSuoRyXU44S6lz6tcvnpcytPIClgF59kibe6AwL3YITe+lbeAKcXyRTYxQtmce3N8R3gxbNseeKJ3U37ObiNeEclvJ9DXIU8HEdAGYG4P6ggHoM3GIM3QOPxK5BH4fZF9ZB7IgS5R4E8DKsrrGGubuVB2soVzC0BXFoI8guT7xnMHSrmL0/seEmoP17ceP/zQ19zHMdx3KfUpTnw62/O3Ti+8OBUQd1MqF/bFNQjEuoxQt0Tl1CncQcS8AS0T7J8oRT8IQV2eus7GKG3wEMy7lHtTXHlhTMFecI3LU3qa5gkTSy5i3eUJhxN6EaHeDiujg7xUAz+YAw+MYR4FB4/jYy4yxeByxuB0xuBw6tBbneHJchDsDhpzAJywjygbuVXFr/Yyn04N/lwfuPF2TOYE+Riju04OnGMbqzhXzj09cZxHMd9SpntoX/t9ZlzLv492Ti99uPcJFC3KqiHBeoRWFxRWF30bbTdE4PDG4fTS29pu/z0CRa9xa28DJZUv732h7WXxgKRpPpWeCiivSkeliemf46tze5m/exEE4gY4A5HaEKRuDq7gMcQCMUIcBnxQBReaQjyiIA8Qoj7CHGnNwKnJwKHJwy7J6xCbnOFJMiDMDuCOsg1zP24tPhxafbRVm7y4uwtmL8yYP7y2I43Z06315v+/kNfbxzHcdynlNUX/5E356700akLby48OLkyoG4J4soaEqiHCXUnfRttc0dh8yiwxwh1H32K5fYrL4Npb3n7gvTWt/LyGD2DJuCDYe1N8ZAyUW3Cukm820QSCEtgP4V3MBxT8VYRDyqAR2kCUQ1yv4S4TxuXV9nGw3B6wnCIsbvDsLtDsLlCKuRWCXKzPQCTGILcjyurX2zlPlyYfbgweQXmHpxee3By5d6DuX1nM1fm7NL3tw99rXEcx3GfYslk8veeXng+Ep814VigfnajoB7QULeFYLLTJ1Rm8W20ArvdQ29rE+ziBTB/jGAXuHsD9Na38uKYT72FLYAPJcQzanrpbO88AbQ64X1ox3Szg3coCn9QGz3gERp/BB5lfBG4fWG4fWG4vNroIHeHYBejQu4MwuoMwuIMwuIIwuwIqJjTVu4nzC0+XFp8YisnyM9vvgbMj+34RJqjE8fUZAr9iUNfaxzHcdyn3MWV52+8PLbj1akTr8/dOL5UUPfh3OQXqAdwZQ3i2kbfQpscBLvFGYbVpbzcJcMuXgLzReHyaW96e/z05jc9d9YD7w/G1TfG/SHlmXUMAfFrZeiWeGwHanVCu2gHQlF1dvAORuELROBT8NYBHobHR7OLeAhOD43DE4LDHdIgdwVhE6NBHoDFEdBBbrL5VcivrT7C3OzDhdlLmN94VMhPr9wCc9dbN/NPjm345A3N8bnLw7fbOY7jvgUymfz/4qtj++jlsR1HZ3rUT68V1P0S6kGxrdNLXBanAnsYNoG7XbzJ7fBE4PQqL4jRy2Ju8eKYRwDvDWjjC+6OXzdR+hkSvw7RGKHWT0QdBe5dwMOEtzIS4G5vCC5lPDLiQTjcNHZ30IB4QB2LQ0Bu98Mk5kaF3KdBbvHiUoHcRJCfXbtxeu3GyZULJ5cugbkTr88desyPbXh5bCPIlRGgn116+HY7x3Hct0L2WOx7X5867J+8seHViQNHZ068uZBR9+Lc5CPUzX5cWeiFrWtbEDf2oAR7SIJdPDvWwU6jvDRGz54V3LXx+vUvnXkD2i1w/ewCvQt2WP3p9etH275D8PhCcCvjDekQd3qC6ugRD8DuCsCmzA7ifpjt2phsPtzYfLgRiF9bfLiyeHGlQu7BhclDW7mA/FSC/PjCKWFuF5jb8PJkP+SfvLHh5YljaDL5/pVDX2Mcx3HcN6jjS+f/9PFrK/Sou3B86cbJlQen18oteAG7xY8rawDXtgBubOINbUdQhd3qpJe/bK4QbO6QeDGMni87lfFGxK1r/ctlynjk59b+MDz+iARyRMwu1Dq0BdbGUdAmuIPaSHg7PUE43AHd2F0S4k4/bE4/rGIsDm0IcR9MNm0IvOkh3AAAIABJREFUci+uBeJXZi8uzR4JcjfObtyE+ZVLbOVOHF9qkL8+UzAnyJ/aypV5c+Y8iUajv+/Q1xfHcRz3DerK5P2TH7+2LD5+bcUnxzb6t3OdOfH6XEbdg7MbZVunZ71XFnoj+1p8aqV8emV2iJe/xPNj5cUw5UUxh1s8d1ZuYYuXylxe/TNqt1e69a2Otk17DD+NWzZNUB0ZbmWcngCNAW+HSwHcD7vLrwKuIu7ww+Lw0dh9MCsjI27z4sbqlSD34MrsEZC7cWFyS5C7cHrlElu5ArkDb84d6lZ+dGrHK3Urt2rzxoqPJcjp1/bbC5P/Pz70tcVxHMd9AzP7kn/g1Rtb6KMjM1TUT+wq6vpt3YPzG3r7+sJMb2RfWZQXu+jZsMlOL36ZxfNjBXbCncbuEs+e3UH1hTKH9IxaGZdH2aJDhLD3ifE8PSraEt4a4H44XDR2eVTAfbA6fbA6aBTACXEvzHYvTDZtbqzaXFs8OsQvzW4d5Oc3Lglypwr5sQq5nSAXWzlhboRcHsL849dWHJ06olZr/EcOfW1xHMdx38AAfO7NmfN/++iVGTLqL0/sODpz4PW5cgvehZMrt9jWPYS6yYtLFXZ6PnyjwG6jl8D0uNNzZptTev7s0m5n210B8ZxavzE73UEVYhnlp0bFWhmX9lMHt8sHu9MHmzwOBXAvLA4vLHZtzHYvzDYaQtyDGyvNtUWbK7MbV2Y3Ls1uXJoUyF04v3FJkDsF5A4cXzoE5Ha8Prfj9ZkdR2c2gvxUD/nHbywGyMW8pvnkjQ3n157/7tDXFcdxHHeAzq+8f+ajI9Piw5cmfHRkxovXFhX1V6d62E8uXTi9oue9BLtHwC6eD6uw04tgdAtae0HMYqdnzVZlnPpb2jaXX3e7W55dkPf/nhHsHbQF3DYBtzIy3ha7F2abRx2TMlYPbqxugtzixrUYDXEXLk00Fzcy4k6cXTsF5A6cXNIcX9jx5pzm9ZkNR2c2HJ3a8OrEipdiPjm24JM3FoG5ZRf119ocHTvyJkf0xw99TXEcx3EHyGwO/OOfvLG6Pnxpgh51K16e2CTUHXhz4RTbugb7+Y1bfcHr0uzBlcD92kLPkOk2tPZ8WXnmbLH7tGfRDu3WNmFPt7t3IH7reAXYXtgkrI2jwe2Bxe7R4a0CbnXDZHUT4Ba3DvBrsxtXZheuJMAvTS5cmFy4uHHi/MaJc4H42bUDp1eOJyC34fUZzdGpFa9OFcgtBPmxEXIxry34+LUVL6T5+LUVpxeevwPgc4e+pjiO47gDdXLh+lsfvjThdz65IdRfmfDiNW2C9FzdhqNTO16f0TPe4wt65nsiXuZSYD8Xt5gvzQru9Cz52uKRcNc/ezbbvOozabN9d1NW5imcCWgPrHavOgrU+0aD2w2Tza3CreKtIu7CtTIC713Enbi4cRoQd9AIxE8v7TgRQ5DbJMitKuSvTix4eSxDbpaGIH/xWhnrzrw8cZRN9tDPHvpa4jiO4w7YlTXw0y9emWtf/fgav/PJDX7n5Q0+fGXCiyMzPla3dStendpwdEbPegl2h4DdKWDXbjMrL4Fdmuh58pXZreEuRnkGfWOl29nKrW3jxvzu494dK/3U4Hapc2PRRsabAHfSmGguxRDgDlzcOHB+48D5Nc3ZlQNnV3acXtkNiNtwfGGTILfiSIXcgpcq5GZ88obm4zdmfPzajBc7Y0TdghdHtJ2fXHj+Nm/nHMdx3+KZzeZve3Vi+/tf/fgaX/34Gl/95FpF/aMjE168pi1RD7sNr8802Ol2Mj0nVp4Za7jT6HAXcy3dylZubcubsumtowD9PNjaOHFtceLarB8Fbg1wByEu8L5Q8bbj/NqOsyttNMRtOBGAa4hb8frMKrZxC45OLXh1YhEbuVmF/OM3JjFmvHhtEvMc6Ba8OKJ5+caWM7sCP3Ho64jjOI77DHRx7fmlDz+5mXzlxRW+YoBdQ92MT95Y8PLYilcy7Oc2vDmnW8oK7spz47NruhV9fqPdnr4w6Z89X5n0t7SvjWPRz436k3DeQXoP2NdmJ67MDrF1O9S5NDlweePQwX1xY8eFgFseAtyG00tt9IhbcXxuxZtzK96cWfH6zILXZwLxUwtenZjx8sQsIDfhExVxEz5WERdzJEYG/ciCj440yF8cWfDxkRUnF+4v8XbOcRzHffDBBx984HBkvvuT15bTr7y4AqFOQ6hf48NXBtiP6VbxqxO6fXwkXu56c27Dmwsbji+0284a7jTKbeoLCflLZUz60bZmh+HX7zaX8tw4cHljx+WNndAWcCtzfm2jubLhzDAa4FacXNAogBPiFrwRgCuIHwnEXwnEXwrEP9EhfqOHXGD+kTpmw1h08+rYnjCbgz926OuH4ziO+wz15tz+l7764mr75RdX+PKLSxX2r358ha9+cmWA3SRgN+OluIX86tSCo1PtFvObc+3288mljXC/pFvU6i1rdQOm29kX19KWrA793j6QL6WfOqjfhvZevK04u7TiVJ4LGXALjs+10RA34/WpGUfKCMRfnZgIcRXyG3z8muaFMkc0H6ljMowRdIH6KwteHJnvTq88/8WhrxuO4zjuM5bNFvqBF69M1i9/dIkvf3SJL7/Q5isfX+KrnxDsH6qw3wjYTQT7Md1SfnWibaivz+j28xuxyR5f0C3qE4G8evt6z1Z8Lo8R4n1zJf00zNmVVT974Ca8LerIeGuAmwlwgThBbsKrEzHHhDht4zc6xJ+H/CnQ96D+iubVscPq8cR/6NDXDcdxHPcZ7PWZ8y9/5cXl5rc/ugTNBb780QW+/OJCgv0Sv/PyCh++usZHr64F7ATWJ29oI315bFJvN9PmSrei35wJGFXgtQ1YmVMjtoY5e8vs/jMWmguakz2jwW3GmzP9aHibcKTMiYz4DV4e36iAE+LX6rw40uYjZcSf20dHN/jolTYfvqKXEfVDgH8ozcdHlvGlyf9nD329cBzHcZ/RzOb/j733Do4ky+87Z3a59Estly5oT9JKCom6o44nKhiULqSLO+koBUXxuFzuitSK3Nkd3zPtLRoN71Hee5tZmZXlvQUKrj3aO3TDe98NdDfaN773R2ZZoMfs9kyveZ+IbxSAngGqMiviU7/3fu+9wV/1BLpzNJdCIZ5ieLGnysWel3teXOEu+CK83AMFufMJCYIPx3lR8tLkJV9ZEUeTJdJNbi/i8uRKHoUk+US3S5m4uxFJdCMcLw8v7y6EYl0I5iMIPBDtQiDSBX8kC38kWyHxDLyhDDyhDDzBymSLH4aCWUHipdkq9NJ4gjlEE8fVw8PDP/Oq3y8EAoFA+CEmEu/7hotL36PcKVBcChSXBMUlQXuKcXmTYLwpML4UL/YSuXuCGV7uJYLLV655EQajecHz0qwUaV6wldVyPtGydCOaKP1/PiJxPsW/1YVwvAuheFdB3AWBR7OFBKJZBCJ88gL3h7PwhTPwhTMFgRdEXiJwbkuy2+TjpC6IPZCDP9J7pbv7LNnilUAgEAgfzcDAwJe9ga4w5U6iLFwxtCB4V17uviRYXwqsPwW3Pw0ukAYXTMMTLBedL5wpCDEQyZYIXkhsq1hDMV644e8z5b8rW/LIZ4u4o3lxZ4oRxF1IKANvKA1vKA1PsDxcPoHSVEg9UCH0AL+hT3m6y8IFuuEN9txNZU/+j1f9HiEQCATCjwjx1MB/cXGpVSebgNNdHoorD80lQHsScHkTYApyT8LtT8EdSIELpMAFisLLizAvR38+kUyhCg6UyDX4KRPa9ueZQgLRDAKR8pSK2x9Ow5dPiI+3JPzrSBXCBfOvsfha83GXJVORbEU+VuibkfhxGRlqJxAIBMIn5tq1az/tDXbLnWwCjpLwgo+XheL40FwctKdU7omC3Fl/Em4/L/m8+PJC9JZKPp9wGv5wuij7gvA/ffyR/O/amlJp+0IpePMJ8ikVtyfAh3/+SSH8h5ZC/ELyEvdXCN1fInR/Bm5hnT/rLya//a7bXx5/uLc3lzv1O6/6vUEgEAiEHzGy2dP/jPGmrjiYOAphy+NkP0rufFzeOC93bwKsj4+7IPhkQY6eQLJMoN5giWBDKfgKSZd8/f2lKO0kvMEkPPkIz4OrjJ+P+yOTKgvr5/sLypPZJtmKdJXH1wVvsGcqkTn5f73q9wSBQCAQfkQJRnrecLDxDbsrDjsTh52JFeJgYnCwxTjZGJzuYih3DBTHh+ZioD0xuDxxuDxxMF4+rC9elLwvAbefD5dPIFGUfUH6W+N9wdeVoi4N/7uFlPxN9wuSf57l4UcfWH9+JCK1TV4sdaZC6oyw5S7r6yrEHehajyVPvkm2dyUQCATC983g4ODPu/1Znd0Vg60ivNijhTiYKBxseZxsFE43H8odBcVFeblzMbg85clLvih6Pu7S+MvD+eNlMi5P+b/zYq74HRW/n31htsqcEcIK0wpM4TFVkfQLkqlIdktYb9eTcHyg/tq1az/9qt8LBAKBQPgRJ5k9+R+dTPK+jY6iLK5i7K5omdztTAR2JgIHW4yTjcLJRopyF0JzJfFE4RLCeGJ8vOVh8/H9IIkXf483BtYbB+uNC38j/jFJFOPj+wTK4s1/XSn2SrmXC53fcpffS59/zG4GI732/v7Lv/yq3wMEAoFA+DEgkT71bZcn89RGRWGlIrBSUVjpSFlsrq2xuyIFsduZCBylYSO83IVQ7mJorjRRuCpTJv2KeF/wvTe65YMB44kJv6f0e/7rytEDl9ALkO8HcG2b5AuSKkl6mxRl7vIU4w/lgl1dF3/7Vd9/AoFAIPyYEEmdaHH5MrAzMVicET5UeaxUBFY6DCsd5oVOh2FzFWMvDVOMIx82DGdFSiVfJvwt0t8aVyElHwI+5sPBVonzoUulviWJbVJcn18qdLpE7LQ3v7Xu1rg8aXhCuXS2/+w/ftX3nkAgEAg/JgwMDX05GB9IMb4MnO4ErFQEFkcYZicfSz5UefJyL0i+QvBFyYdgZ4pxlEqe2Sr5ouy3y6eVf/QTJFaMJ/8Yr0jiBSndXS+1TQSJc+XxBLr6Mr0n/8WrvvcEAoFA+DEi0332L7yR3nXWnwHFxWFzRWB2hGCyh2ByhGDOx1keC1UeK701NjoEm6sYe2mYEBwviJMNvVD0L5b+9tV+MXzD3tbEtg3NFZfo8dm64U7pznrFpLbGXQzn7+qOZ0/9/qu+7wQCgUD4MQHA6129l/7vUOLEZW8oB7c/DdoTh52JwOwMwGjzw2gLwmQPFuSeT6Xczc4QLM4gLFR5rHR5bPlsJ/iPkXwhn0D0TjYMpztSFqrwGN0msfJwpd/HiykRu1MI/3VR6E73NmGTcLqTm1ygK5bMnfgnr/reEwgEAuHHhMuXL/9ytvfCrnDyxKQ/2gdvuAtcIAWXJw4HE4aFCsBo80Fv8cJgDcBoC8BoD5bF5Ngas7OYbQVPvUDwguS3CL5iuP7Fwufn6PMpij3yMSlfdscn9oLEK7J1y1ynOwGHOwGnOwkHmyzuwMcknnOBbjaTGfy9V33vCQQCgfBjwNDQ8pcvXJ78696T19PxzJlHwfgAAtEe+MJZcIEkGE8MTjYMGx2Aye6FzsJBZ/ZAb/HDYPXDYA3AYAvAaC+PybF9zM6AIPhAieADJYIP8JKnthF8meyD28u+rLIPC9KvaMYrS3kXfjFb19eXbqhTnsrd9BJlj3YmUZI4HEziqduftaVSx3/9Vd9/AoFAIPyIMz09/XNjk/f/0/WRFf/Zi5MbPSeuIdF1BqFEH4KxbvjDaXgCCTCeKCg2BBsdgNnhg8HKQWtmoTW5oTN7obP4inK35ROAweaH0b41WwRfkHwxFmdAkDwfayEfUc2XiP7Fc/Qv6ryPfEwq19tHi7vnscVd9PjEt8Tmihc25rFSUdioyKA3mPpjjkt+NR4/9Uscx33xVb8fCAQCgfAjxvDw8M9Mztz/f8ZmHrAjU/fu3Bi7g/PXZtB36hpS3acRjucQjGTgDyXg8cfAeCKg2BDsdAAWpw9Gmwd6ixtaEwONkYXW5IFWELvO4oPe6ofemn8slbx/W8mb7H6YHOUxO/wwO/1bJb+t6LcO25cLf2sjHp+tHfjlKQqd/3o7qUdhK5F55a56NlcMNjoGKx2DlY7CZA+hU2rBsUbpg4ZW9ahIbj6v1Ln6zDafieGS/zMeP/61wcHBL73q9wiBQCAQfogZHBz80sTM3T8Zn94wj81srI7PPcT43AMMT67h8tAsjp+9jnT3SYRiWfhDCXgDUXC+CBguBIoJwEb7YHF6YbJxMFjd0JsZaIwuqA0uqA1uaEweaE1eXu5lgt8ag60Yo90nyN33kZLfTvSWF4g+P4RvLU2Z7Lfrvg9vjSB26zYb6JTumJePla4IFYWFisLijEBn9qK5Q4uq2k4caxCjoVWBVpEWIoUZco0DWqPricXhH6HccZsvmP1GNnv6V171e4ZAIBAIP1y8Pjl/7/fH5h6IR2cfLIzPPcLEwiNMLjzC5MIDjEyv4erNWZwcvI509wkEI2l4/VFw3hBYTxAudwBOlw82yguz3QNjXugWFjqzCxojDZWegkrPQG3goDFygtz5yp2v3iti9UJv9W6Ru8HmgzEfe3leWMkXRP+ian5rI155SpbYFZbabV1TX0xkSyz5lGy6Y3ZGYHaGYbKHoNDSqG2SoaqmDccaRKhvlqK5XYE2sQadMgMkCjMUGhs0RhpGmwcWR+ihg4n3+IK5dxKJU3+Qy+V+9lW/iQgEAoHwCpmZefA7E3MbVeMzD0fG5x5tTiw8wuTiI0wtPsLkwkNMzm9gdPoOrt2axalz15HuPo5AOAm3NwTG7YeL9YFivHDQHlgdHEw2NwxWFnoLC72Zgc7sgtZEQ2NwQqlzQKmloNKzUBvcUBs5qAW556M1C7F4ygSvt26NwZZPaSX/yURfEL5z6/x8MS/qwA/BTG1dU8//PAwztXVDnfyGO2ZnGGZHGCYheosPbSI9DlU342BVI6pqWnGsvh11TSI0tsrQ0qFGu8QAsdIGpY6GzszBZPfDSoXhYGNwedNPuWD3fDDeb8/2nPk35OQ1AoFA+Aljbm7u5ydnHvz12MzG6fG5h88m5h9jcvExphYfY2rxEaYWH2JyYQMTc3cxOn0b127N4PS5a0h3H4c/lIDLHQDl8sBJc3BQbticbpjtLAxWBjozA63JxcdIQ2ukoDE4odY7oNTaIFfbINdQUOpYqPQsVAY31AauRPDcVsEXJJ/P9qI3WMslb9i2mv+o+fkXd99XLrUzFWTPr6k3OUIwVayzL12Hb3KEYLTzMVgDkGto1DSIsfdgDfYdqsGBI/U4dLQRh6ubcbSuE3XNCrSKDZCqHdCa3bA4A3CwEbg8CXCBNLzhLALRHAKxHgRifQgljo909Zz7SyJ1AoFA+Mng9fGZ+//72Mx95+jsg7vjc48wucCLfHrpMaaXymU+PruGkcllXLs5hVODV5HuGoAvGAfF+GB3umFzMLA6GFjsDExWF/RmFzRGCmoDJQyzO/noHFDp7FBqrZCrLZAoTBArrJCpKSh0DJQ6FkpB7iqDG2qju0LwfLTmfHjJ6yxb83GVfKnoy6W/fdc9n63L7oyOAIyOYDH59faO8rX3RnsQBls+Aaj1bjS1qXDgcD327D+KPQeqsWf/UezeX409B+tw8GgbapvkaBMbINc4YLBysLtCcHli4PxJeEMZBKJdCMVziCZ7EU31IZLsRyg+gHDy5FRX78X/91W/yQgEAoHwGTI3d/dXx2bv7x+bfjDGz5M/xtTiE0wtPRFk/hjTiw8xtbCByfl7GJ9dw+jUCm6OzePy9XGcPHsFqa4BeANxOGgvLHYGZisNk5WGyULBYKagNTqh0jug0Dog09ghU9sgU9sg11ghV/Myl6lMEMsNaJfo0CrSoUNmgVRNQa51Vci9KHiVMS95d5ngNRWC3170Lx62LzTi2Srn6rd232+fwItjDUBvDfDd/BY/NEYP2kQG7D/cgJ17DmP3virs2V+FnXsO44Pdh/Hh3hocONqGumY52qUGKHUOmOwcnGwIrDcGTzAFf1iQeawbkUQOsVQvYqk+RJJ9CCX6EUocRyx9+mLfqSt/8KrfbwQCgUB4yXAc98Xp+Yf/YWx2IzU2+/DpxDwv8uml0uSr8weYnL+Hidl1jE6t4ubYAq7dmsaFKyM4fvoSktkBeAJx2CkPjFYXDGYnH5MTOqMDar0dco0NEqUFnXIzOmQmdMpM6JSbIJIbIZIb0SnjZd7SqUFDqxK1TYrnnTJrr9bIpRVa+qFMQ0OucUGhZXjB67cKXm0sT5nkXyT6LdX81ka8fLbrvN8+/rLoLP5C977OzEdt4NAqMmLf4Ua89+EBfLDrIPbsr8LufVX4YNdBvPvBAezYXY0DR1tR1yxHh1QPlc4Os90N2h2E2xeHt0TmwVg3QvEcIokeRJM9iCZ7EU70IhTvQygxgHDyBJLdZ70XLlz4yqt+7xEIBALhJTE1tfFbE3MbDeOzD+aLIn+KmeWnmFl+gpnlSpnfx/jcOkanb+Pm2CKu3ZrBpWtjOHvxJvpPXkQi0w/OH4eN8sJgpqE1OqA12KE12KHR26DQWCFRmtAuNaBFpEdzp66Qlk4dWjq1aO7UoqldjfoWJepalA/axEaT3c79diCQ+4qVDn9HY2QHZBr6sVRNQaah+cpdkHup4IuSL5H9x4m+TPiej4m3PBYhlT8vjckLjRCljkVjqwYf7DmGN97ajbfe24udew5j38Fq7D1wFB/sOoi339uL93ZW4UBVK+qaZeiQ6KDS2WC2s6DZADh/DL4QL3N/JItApKtM6qF4DqFYDsFYD4LxXoQS/QgnjyOSOvU4239+L5lPJxAIhB8DJuc2/vXYzIPs+Nyj55MLpSIvFXq5zPkmuDu4Nb6E68OzuHR9HOcuDePU4HX0HD+PeGYAnD8BG+WF3kxDY3BArbdBrbNBqbVApjJDJDegVaxDY7sa9a0q1LWUp7ZFhZomJY41yNEuNrpCoYEvlz5vLh7/NYs9+I5Kx5yWqqjHUpUTebnnBZ8fni9Ez0Cpr6zmK2S/TWWvNrqhNnGFlIvf87FRGz2FuX61gY9cQ6O+WYm339uLv/rmd/A3f/cu3n5/H3bvP4qDR2px8Egtdu+rwtvv78XbOw5i35Fm1DaVyNzGgGZ94PxR+EJJ+MJp+MIZ+MLZQvzhLvgiXfCFu+CPdCEQzSEYKxX6ScSzpycGBq780at6/xEIBALhB2RwcPBLkzP3vjk283BoYv4RphafYmb5GWZWnmF25RlmVypkviBU5rOCzCeWcX14DpdvTOLc5RGcPncDA6evINd/DvHMADyBJOy0H3qzC2q9HUqtDUqNBXK1GVKlCSK5AW1ivgqva1HiWKMC1Q3yQo7Wy1BdL0N1gxytnfqLDi78j7Z7Ha5Q9jcs9sC3VQYmIlM5VyRKJyRKJ6QqqkzwpZLnRV8ue2WF7D9O+p80Sn0xCh0DkdyGmgYp3v/wIL71N3+H//b/fQvf+vbbeHvHfuw9WIOjNU2orm3CwSO12LHzIN56bz/2HGzEsUYJ2iU6qHU2WOwsXKwfHkHm3lAanmAaXCANLpCC259PGoyP/9obyvBSj+UQSvQhnBxAJHUc0dRJpLrPsdeuXfvFz/s9SCAQCIQfkKHl5S9PzGxUj888uD0x/1ioygWRrwrJCz3f0T6/gXGhMh+eWMH1kXlcHprC+StjOHPhJk6cvYa+k5fQ1TeIeOY4vKEMHEwQegvDN8Bp8s1uvNDFcgM6pDq0ijRobFehrkWBmiY5qhtkBZkfa1SgtkmJhlbNpkztMMXj8V960WtKpVK/4GSi/1Zn5DoUGnpQqnLeEysdECsdkCidkAgVvFRNQaamXyj6cukzHxO2JCU/1/KRaxnINS6IFXY0tmlxsKoV7+zYj79/41387bffwDe+9W389d98F997dx/2HKhBdW0rGpo6UFPfgn0Hj+GdHQfw4b5aHK0Xo1WkgUJjLVTmHl+kIHPGlxTOWC+e4OZgY7DR/B7zjDcGLpCCL5xFINqNULwX4WQfIskBRFInEM2cupcbuPitz/M9SCAQCIQfkJGFe78+PrOhGZt5+GhyQZD5yjPMrj7H3OpzzK0+w9zqU8ytPMHs8mNML/Ed7RPz9zA2s4bhyVUMjS7iys0ZXLg6jrMXh3Fy8Ab6T11BbuACsr1nEc8chz/SBcodgdHqhlrv3Cp0hREiGS/1NpEWzR1qNLQpUdeiQG2zAnXNStS3qFDfqkZDqwbNHYbHar2rleNyH1dJvu73p37d4gj+qcbk6VRoXWclKueaWOHYFCt4wZdKXqIqVvPlKZf+R0ZNF/4fqZqCROlEp8yK5nYtDle34L0PD+ONt/fgjbd24rtvf4jvvbUDf/edt/Ctv30Df//mLuzcdwxHa1vR3CZBS5sEx+pasHPvUby/6ygOH+tAY5sKUpUZRgsNmvHC4wvDF0zAF0qD8aZgcgSht3qhNXugNrqh0NGQaRxQ6Z0w2T2g2DBYXwLeUBr+SBeCsRxCiV6Ek/18lZ4+iWT32QxpkCMQCIQfEaanH/z22Mx999jsw+eTC0+EqpwX+fztfJ5hviD0R5heeoCphfsYn13HyNRt3BxbwtVbs7h4bQJnL43g1LkhDJy+ip4Tl9DVdw7p3BnEMscRiObg8sRgdnihMdJQaG2QqS2QqSyQKs2QKE0QywWpS3RoE2vR0qlBc4caTe0qNLWr0dSuRmO7Go3tGjR16NAuMT5S61yyaLT/lz/J662rq/sCx8V/zUaH/r3OzO1VG1i7Qkuflagc82Kl/aFY4dgUKewQKRwQKRwQ56N8UZwQC0P6xarf+USmpm8rdK4b7VLL7bpmFapqRThwpBEf7j6E7721A995axfefG8f3v1gP97/cB/eeX8XvvPdd/A/33gP7++qwuHqFjS3SSGSqNDWIUPVsWbs2F2FvYebUdcsR6fMAK2pdoYRAAAgAElEQVTRCSftAecNwR+MwxtKw+mOoVVkQFWtGIeOdeDg0TYcqGrF4Zp21LcqIFaYoDXSsFI+uLgIOD//ISAgSD2c6EUkNYBo+iRi2dN3ewYu/5fP+j1IIBAIhB+Qqanl3xqb2eDGZh9uTi48wfTyM0Hkm5i/vYmFO8/53H6G+dtPMbf6GLPLDzG9uIHJ+bsYmynOm1+6MYVzl0dx+vxNHD9zDb0nL6N74AIyPYNIdp9GLH0cwVgPWF8SVioAnZmBUmuHXG3lhZ6XusIkLFHTo12QeptYi1aRBq0iTVHwHRo0d2jRItKjTWx6qjIw1mAw9buf9hpwHPfFSCT3qw42+r/anKE/01u4D3RGt1SpY1il1pWTq+lLcjV9Q66mb8pUzhGpmh6VqqlRmco5KVVTowotfVmpc51Q6JiU2uA2G62eKrMt8E2KDf8bxhv7o2MNkmv7jjRj3+FG7D1Ygw927sOb7+zEOzsOYcfuI9i5twq79x7Gjg/34rtv7cDb7x/A/iNNqG+WQCzTQKbQobVDhoNVDfhwbw2O1kvQItJCobHCYmfAcgH4gnxHO+WO4ViDFN97dz/efO8g3v2wCjv2HMOu/fU4UNWCmkYpWsVayDU2GKxuOJgAGE8UXCAJX36derwHkWQ/L/TMaWR6zukBkCNYCQQC4YeVqanl3xqbvseNzTzYnFx4jJkSmS/c4bN45zkW7zzHwp1nWLj9BPOrjzG7/ADTi/cxMbeOkalVDI0t4MrNGZy/Oo4zF2/hxOAN9J26gtzxi8j2nUMqdwaJrlOIpo8jGO8FF0jDwYRhsLqh0juh0Nh4qautBamLFXyDXKdUjw4pL3Ze7jq0irSC2LVoEWnRKtKjTWxAh9S8qdDRWZqL/uuXcX1yudxP5XK5X/T7U7/OcZHfpnzx36F9sf+FYRL/kGES/5Bl419zcOF/5AplfyOXy31lcHDw5+vq6r5Q+jvEMtNfH6npeHjwaCsOHm3GgcO1+GDXfryzYx8+2HMMew7W4sDhWhw4dAw79xzAO+/vwa79dTjWIEKHWA2l2giF2oDmNin2HarD3kNNqG9VQiQ3QmdygnJ54fVH4A8nwXgTqG9R4I23d+Pv39yF77y1B2++dxA7dtdg94FG7K9qxdE6MRrbVBDJTVAbKH7zGSYobD6ThD+cRTCWE4R+AtH0KcQzZ6/3nrnyqT8oEQgEAuFzYHp6/aujU/foUUHm0xUyX1zbxNLaJpbWnmNx7RkW7zzFwu3HmFt5hJmlDUwt3MV4aXV+fRKDl0aEefOr6Dl+EV3955HuOYtk92nEsycRTR1HKN4HbygLmovB7PBBY6T5Kr1E6jKVBZKC1PnNZDplBnRI9eiQ6AtiL0aPNokB7RIjOmRmKLT0Dacr/Fe5XO6nXuU15jh8sblDbT5c04nDNe2oqmnFoSO12Ln7AD90fqgBh442oepYE45U12Pv/iP4YHcVDlW3oaldAZnKAK3eAqXagIYWCXYfqMXB6na0dGohV/ONcCwXgD8UhzeYRrvEgDff24vvvr0L33tnD777zh585609+N67B/DhnlrsO9yCw8c6UdMkQ4tIC6nKCq2RhsXpBeUO8ZvQhNIIxroRTvQhkjqOSOoEIqmTD7r6L/35q7yWBAKBQNiGa9eu/fTY1HrjyPT9pxPzjzG9/BRzq88FkQNL68DS+qaQ51hae4bFO0+wsPoIcysPMLN4H5Nz+d3gFnHl5jTOXRnFqfP8vHnviUvo7j+PTO8gUt18dR7LnEA0NYBQog/+SDdYXxI2Ogi9heWr9LzUNcVKPS/1vNhFMqMgdkHuUgPapfnvjXxkZnTKLZCpHCtme6DW78++snO/nU7fb9a1KC5V1YpwtK4T1XWtOFRVi117D2PPgXocqm5FdV07ahvacay2CfsPVWPvoQYca5SgQ6KFWmeFwWSHUmNCfbMEO/fV4EhNJ9rE/G5wNqcbnDeIQDgJyh3DnoN1+O7bu/Dmu3vw5nt78eZ7+/C9d/fhjbf34q33D2HnvjocqGrD0ToJ6ltVaJcaINfaobewsNN+MJ4oPMEkApEuhISNZkKJ4wglTiDZfa79VV1HAoFAILyA0en1/zEyeXdtfO4RppeKMl9aA5bXgeW7wPLdTSyvP8fy+jMsrT3F4u3HmF99iLnlDUwv3MXE7B2MTC7jxsgcLl6fwJmLt3D87PXCvHm2dxCp3Bkku/jqPJY+gUhqAOFkPwKxHnCBNJxsBEabh6/SdY4SqdsKlTrfKCeIvbD9a75qN5Ykv02sGSK5BSK5FVKV/YnOxEVdXOJPKofCPw/UOud/PtYku19dL8axBhFqGtpw+Ggd9hzgt2qtbhChvlmCphYR6hpacehIHQ5Vt6GhVQGJ0gi9yQGzlYJSa0ZtkwS799ehqk4kCN1RELo/nIQ31AWtiUNNowTv7zyMt9/fh7d3HMDbOw7gzff24833DuC9nUex52CjUKXL0dyphVhpgcZIweLwgHaHwQUS/DK2WA6BWC8CsX4EYgOIZU51DwwMffnjXzWBQCAQPhdGp9b+aHhyfXhs9kGJzPmqfPkusFLIJlbuCkK/8wQLtx9hfuUBZpbuYXJuDWPTq7g1voirN6dx/soYTg7eQN/Jy+ju52Wezp1Bsvs0EtmTfHWePl4QejDeC2+oCy5PHFbKD52ZKVTpfGxbqvV8s1yhWpcbIZKb+ChMEMnNfBRmiBQWiBRWiBQ2SJR2KHT0tNUZOpBMnvjq53mtRTLzvppGGWoapahrkqC+qQNHquux/3AdqurEqG+Ro6VDgbYOGRqbO3CkuglVdSK0dGqg0FhgslCw2GiotFZU14ux71ADjtR0oLlTC4WW30iG9QThDyUQjHXDF+kG7UlCprZj175jePfDQ3j3w0N454NDeHvHIby38yh2H6jHoeo2HGuQorFdjU6ZESq9A2Y7B4oNwu2PC5vNdMMX6YEv0gt/tA/h+PGJ3t4L//TzvH4EAoFAeAFDQ8tfHp5cY0enNzC1+ASz+co8L/N7wGohm1i5+wzL60+xeOcxFsqq89sYnVzG0Ci/I9yZi7fQd+oKuvrPI9MjVObdp5HoOoV4hq/Oo6mi0PPD7m5/Cg4mDKONK6vSFVo73yhXUq1LK6t1hQlihbkiFoiVFv5RYYVYaYVYyUtdrnE+MVg8QdaX/D8+r+vdITYqappkqG2Wo7FVhsaWTlTXNOHQ0SbUNMrQ3KFGh0SDTokSza1iVNW0oLpeglaRFkqtFWYrDaudgVpvx9E6Md7fVYWDVc1oaFVBorTAYGFAs354AzEEIhkEot3whbvABbKQqmzYubcaO3ZX4f1dR/DeziPYsbsauw824NCxNhxrlKKpXYVOmQFKnR0mm5sXui8OTzANTygLT6gb3nAO3nAP/NG+te6+s//u87p2BAKBQPgIhifufHd48t6DiflHmFl5Vpgz307mq/ee80Jfe4JFoTqfXbqHqXm+Oh8e5w9fuXB1HCcGb6B74EKhAS7ZdQqJrCDzzAnE0scLQo8k+xFO9CEQ64FHaI6zOH2FKl1ZqNLtW+bVS4fgy2OBRGXhH5UWSJTWQgpSV9khVTuhNrA3HWz0v8fj8Z/5LK81gNc7pAZdTZMc9S0KNLcr0NImRk19C44ca0VdswJtYi3Ech0kMg1aO6Q4WtvKV+giHRQaK4wWClYHA72ZRnOHGh/urcF7O4/g8LEOtEuNUBso2CgPGE8Y3mAS/sKe7V2gPUlU13di174afLj3GHbsrsaHe2uw91AjDte0o7ZJiuaOUqGzcDIBsN443IEU3IEMuGAWXLALXLAb3lDP3XT3mf/wWV4zAoFAIHwChqcWv3ZrYu3K2MwDTC89wdzt5+Uyvw/cLqRU6I+xeJuvzmcW+bnz0allDI3N48rNKQxeGkHfqStI5QYRywu8NOnjiArhhT6AcIIfdvdFusH6k3AwoUKVrtI7odTZy4bfFZVS/8hYC5Hko7RCorJBKkhdqXOtmR1+lS+a/cef5TVvlxrr8kJv6VCirUOG+qYOVNe1o65FiTaxDhKFAVKFDu0iBY7VtePg0VY0tmsgVVmgN1Gw2FmYrAykKjPqmmU4UNWMvYca0dCmhlRlg97CwuHyg/FGwQUS8Ab5/dk9wS50yozYd7gBuw/WY+e+WuzaX4d9h5txpLYDtc2yotC1NhitDByuAFxcFIw3CcaXBuvPgPVn4Q50gQv0rKZzp8lhLQQCgfCqGZ68UzM8eW9zcuERZoXqfGm9XOZ3NoTc38Tte8+xevdpidDvY3phHeMztzE8sYQbI3O4dGMSpy/cQvfARURSJxFK9COSHEA0NYBY+ngheaFHUwOFKj2Ur9KDmbIqXW2goNQ5+JRW6/kh+PzSNrVFiHXbSNXWMrlLVTY+al7qci29qTNz52g29hef1fI2hdr+jZpm+aO6FgVaOlToECvR3CZBbUMnapvkaBXpIFYYIVMa0ClRo65JhH2HG1BdL0WHzASV3gGTlYHJyg+7i+QGNHeocKxRgppGGdokxucKrRMGKwc7HQDNRcD64vxBLIEMZGobDle38B8CDjdi76Em7K9qwZHaTkHoanTKDFBobTBYGdhoP5xsBDQXh8vDS53xZcD4suCCufnu7jP/8rO4TgQCgUD4hExMrPyLW+Prt8ZmNjC99ATzt59jaW0TK3f5Ifa8zNeEVAp9YbV8uP2WMNx+8doETp4bQrrnHHzRXvgi/Lna4WQ/oile7NF0SYSfFaQe7y0sYbO7Kqv0j5C6xgq52loi963fb5V7UegytQMyjRNyDQW1nlm2UsHDmUzmH7zs626xBH+3sVV9qaZJzs9XS9Ro75SjsUWM2kYJGts16JAaIFEYIZbp0Nwm49eqC1W6RMmvEzdaGRjMNNR6O2QqMzplBrSIdJBrHD0KPX1GrqWgNbthdvrhYMKghcNY2iV6VNd3oqq2A4eOtePA0TYcrG5HVa0ItU1yQehGKISlaxanH3ZXGE53DBSXAO1JweVNg/Fm4Qnk5rLZU7//sq8RgUAgED4hAF6/OX679dbkXfDV+VMs3HmO5fXNrTJ/AKxtbApCf4bVu0+wvPaIF/riPUzO3cHo1AqGxhYK3e0nBm8g0XUWjD8LNpCFP5IrnNoVTfUXpZ4qT34uPRjrETaaicLi9EFvZqE2UFDlha5zQKmzl4jdVi52jbXQPFf2fUHotpLHfOyQaYpSV+hcj402nz0cTm17FOsPgkhm2VPTKHta36pEu0QDkVSN1g4ZGprFqGuWo7lTh06ZEWKFEZ1SLZraZKiua8exBjFaxQbINHbozC4YrSyMVgY6EwWV3gGp2gaVjspyXOJP2sTGwXaJCQodDZ3FA6PdD4WWQkOrHPXNMtQ28532R+slqKoV42i9BLXNCjS1a9AhNUKucUBrZmGy+2GlQ7AzUTjdcVBcErQnDZc3Cy6YW870nv3Dl319CAQCgfAJGR1d+qdDo3dujgrV+dzqMyytPS9U53fuF2W+Lgh9bWMTdyqEnp8/59eez+Py0DQGL4/i+NkbiGfPwMEmQHn49dCBWA9/wEel1NNbpR5KFKv0/Fy61uSCWu+ESucopLxa56VeGfkniExjg0xjh0xjh1zjgDwvdX4IfsDti/87AK+/rOtvt/t/paVDG6sRKmKxTIdOiQrN7VLUN4n4+XVB6iK5ER0SDZraZKhrEqGhVYF2qQlyrRM6MwOjjYXRxkJvYaA20NAYXaORzMDvSRSmP69ulK4ca5ShoU2FpnYNGloVaGhVoLFNiaZ2FRrb1WhoU6OuRYXaJiXqWlT8wTZSE6RqB9RGBnqrF2ZnEFY6AjsTg4NNgPakwfiy8ARJUxyBQCC8Um6NrRy9NbG+OTH/UKjOn2F5fRMrdzfLqvN1QejrG5tY23iOO/dLhZ5viOPnz6+P8AexDF7ihZ7oOgsLFYGdiYIL8muYQ/EehBN5ofcL8+pbxR5O8lW6J5QBzUVhpfzQW1hojBQvdb2DT2m1XqjYbVtTKnntR8neLkSQutYJuZaC2uAeo5jI377MeXWVnvnjhjb1rboWJdrFWohlWrSLlGhslaCuScRX6h1atEuFLW4lWrR2qtDSoUSrSIsOmRkyjQMaowsGqxsGqxs6MwudxXMrEsn8HoAviGTGfdWNkvvV9WLUNElR36JAY7sKzR0atIh0aBXp0SoyoEVkQHOnAU0dejR36NEmMUGstEGho6E1czDa/TA7Q7DS0YLQWX8XuGDP42Tm1F+9rGtCIBAIhE/BzemV374xdvv8yPQ9TC0+wtzqUywWhts3C9V5QeYPgPUHm1jfeI61+89wOy/0lQ3MLK4XhS7s3X720ggGztxAKncOVjoKKx2G25+GL1xyDGeyKPVYeqCQvNQjKWEZW7QbbqHj3WT38FW6YavUVaVSF8Remm0lXxb79lLXOgpSV+mZFRsd2ZnL5X72Zd0Lhdrx5/VtqsmGVhXaJTp0SrVo7VSisVWK2iYJaptkaGzXPGuXmB52SI1olxrQLtELMaJDZoFM7Xii0rs2tSYWOgsHKx2i4vHhn3nttddes1pzPytRmPfVNStWa5vkqG9VoqldjZZOLVrF/O9ol5oKW+N2yqzokFnRIbOgU26FROWAQueCxuSBweaHhQrDwcZLhf48ljn1xsu6HgQCgUD4FNwcWfn7G6N3nozNbmBm6THmbz8VhtsFoVdU53cfAHcrhL5SqNDzQl/E9eFZXLo+iTMXRzBw5jrSvedBcSlYqRBYfwq+cJY/4CPe80KhxwpVej8iyT4E4z3wllTpBgsLjZGG2uAUpO6skHqF2LeR+3YpWw4nCJ4PL3WF1gkFL/V7NipYk0pd+oWXcS8AvK7QO/+ssU1zvbFNjXaJDh0SLVo6VWhslaO2WYaWDu1lo937bbnGqZeo7KfFStuMSGm7LVba1hQa502rPbDLYPcc0ls9nJUKOryh7B+U/g29fvBLSoPzv7V06gbqW1WPG9vVaM4LXWpEp5zffEdS2hwoRKp28N3/GhoKHQONyQOTIwg7Ewfjy4AL5jZjyZNvvoxrQSAQCIRPwfT09M/dGF4O35pYBz/c/gQLt59hef25MNz+KYS+cp8X+sxqQegXr03gzMVhDJy5jkzfBXChHKx0GKwvCW+I37UsFO9BJNGLqCD1WHqr1Hmx9yOc6IU/0gW3r1il68wMNAaKl7qhROofVbELUQlRljxWSl+xJYLQdRQUOhoqveuhlQ42p1KplyL111577TWtifnDdrEh1NSufdwm5o+EbenUoKldDZnKJgLwOsdxX+S45Fddrsg/dzCxP3ZxkT9hA/GvcRz3xddee+21wcHBLw0ODn7pRX/D5Qr9hkrr+O8iucUskptOdshMI51y81Kn3PJYrLBAqrZBrnFAoXVAqXNCpaegNlDQGGloTS5oTQw0JgYaIwuNiYPJEYTLk36QzJz+s5d1HQgEAoHwCbk5tvivro+szBWH259g8Q4v9NV7vNDXNoD1jXKZ8+GFfufuE6ysPcTiarnQrw3PlAk9238RgfgAHGwUrC8hCL0LoXjuEwk9JjTI8R3vGbjyVbrVDa2JLpN6WbVeKfcSyRe/t2+bLRV9Qfq85JR5qRtcDy1UuP7EiRM/97LujYnjvirXON9ulxhPt0v0j9rEenTKzdetVPB/e1l/47XX+PPcA4HcVzgu83tONvJ3IoV1rLlDizaJHmKFGTK1HUqdE2oDBa2JhsHCwGx3w+r0wEb5YKP9MDt9MNn9cHmS6Vxu8Fdf5vMjEAgEwifgxsjShzfGbm+OzW5geukx5lefYnHtGVbuPt8yf353G6Gv33+KO/cEoa/cx8zCGiZmVnBrfIHf8vXaBM5cGEb/mevo6r+IcOokXJ4kWG8C3lC6IPRwogeRZC+iqb6C0ONCXlil+5NwsiGYHR7oLQy0xgqpC2JXV0q9Imoh5T+vkHpFRV/4IKB3QqmnoNTRUOvZDZsrdPCjquLvB5cr9BtqI/MttZ6uNdl8//5l/u48uVzup4x27hsiueVyc6dus6VTgw6pFjKlQTie1QmT1QWLnYXVwcFBe0ExflBsEBQbgoMJgeJiY9HUiX/7WTw/AoFAIHwE4+PjP3tteDl0c2INE3MPMLP8GAuF+fPnuH2PX2u+VlmdP+RlXhD63cdYWXuIhZV7mFlYw3ip0K+O4/SFYfSfvoau/ouIpk/zW4X6BKFHsgjFuhFO9CCaF3qqD/F0Py/0zFaxR5J9CMVyfJXuicFG+2G0uaEzu6AxUny2FbuzIO+yGLb/eUHsBbnbCkJX6+3Cf8cPRav0NJR6F9RG9x0nG307P+z9o0AqlfoFg8Wzv1NuXWkT82fIi+UGKNQmaPRWGMwOWO00HBQL2uWByx0AywXBekJgPBHQXAROLvYoGO1+/1W/FgKBQPiJZHh48WvXhpdHh6fuYnJBmD/PD7ff3dxW6PceAvcebuLeg+e4++BZUeh3HhSFPr2MW2Pz/KYyV8dw+vwt9J2+hmz/RUQzp8EFu7cKPZ4TKvRexIQqPZ7u54WeKRd6vkoPlFTpFocXBgvLD70LQs+nTOx5uVf+rPBvlWLn5c1L3QaVzga13g6N3g6NwQGNwQmNgR+OzktdY3Qvsp7YX7zq+/tJ8PmSv6k1sLpOhfVhp4w/nU6mMkGltUBrsMFodsBio2B3MqBoN1ysF6wnCM4XAeeLgvXGQHMxcMFMKJe78JVX/XoIBALhJ5Kh4aW/vja8+nh05j6mFh+Wz5/ffS40xJUKfZOX+YuEvnwX0/O3MTa1hJtjc7gyNIVzV0Zx6txN9J26imzfBcQyp+EJ9cDtS8IXSiEQySAY6+KFnujZKvR8pV5WpfcjmuxDKM5X6YwnBjsdgMnGQW9milIviD0v3a3RVKT4bw4+gtTzFbpab4NGb4PGYIfOaIfO6IDW6BQ+ONBQGVxQ6V3Qmb1XKrvLf9jguOQ/0RiYUKfc8lyssECmskCptUKjt0FvssNkccJqp2F3MnDSbrgYD1i3D25B6G5fHC5vHKw3NRNPnyRHphIIBMKr4vrIcvuNsdsYm72P6aVHmN+2IW6zsO48P9x+70Gp0J/gzt1HWL6zgfnl9YLQh0ZncfnGBM5dHsHJwRvoPXEFmd7ziKZPwRPqAetLwhfij/IMRrMIx7sRSeQQTeaF3lci9MqUVOnRLnD+JCh3GBanFwYrC53Zxc+nl0m9NFtF/uIUq3S1vih0rcEGndEOvckBndEJrfC3ilJnYLL7fblc7oeyamW88T9U6V29/JGx/Fa4Kp0NOqMDRosTZhsFm8MFB8XylTnjAeP2wu3xg/OFwPn5xkaXJ7npj/bUv8xd8wgEAoHwKbi0sPALV28tpW6Or2F8rnT9eWlDXF7om4VGuLIKfeMZ1u4/we31h1i+fR/zS+uYmlvF6OQCbgzP4NL1cZy9OIzjZ68jd/wS0j3nEEmfhCfUA8abFM7mTiMYzSIU6xKE3oOYUKXH81LPCCmR+pYq3RuD3RWA2c7xDXImulzqebFvkXyxMv80QtcZbNALQtebnNCaikJXG1xQGVzQGNnHDld03w+b7Fxc4v9U6lznJUobpGp+nb1ab4fe5ITJQsFid/FVOcWCcnFwsfnK3A/OG4THF4bbFwftSYD1ZU6les/87qt+TQQCgfATy/Dw4teu3loaHZ5cx8T8A8wWGuKeVTTE5YUOvjovE/rTgtCXVu9hbnENk7PLGJmYx/VbU7h4dQxnLtxE/+mr6B64iGT3WYRTJ+AJ5UBzCXgCcfiFYfdQrKukSuelzgu9ROqVQt+mSrdSPhit7kKVzocqF3vFcLz6I6XuKMhcpbNCrbdCq7dCZ7TCYLLDYHbAYHZCV5A6DY3RBbXRBbWBgc7ETXq9qT9+1fc7D+2O/qlK5xqSqOzCcjS+F8BgpmC20rDmZU67QW8r8xA4XxQuTxyUO/nQH+39+1f9mggEAuEnmqGRpf98dXh5Y2T6XklD3NMt8+elw+0FmT/kh9vvbjzF2r3HWF17gMWVu5hduIOJ6SXcGpvD1aFJnL8yglPnbqDv5GVk+84jnj2NUOI4uGA3HGwcbl8MvlASAaFKD8crq/QKqVcIPZbqRyTZW+h4Z7wxOFxBmB0eGCwMdCa6ROr0tkL/uDn1gtB1Nqh1Vqh1VmgNVugFoRsFoevNTuhMlDB/n5c6A7WBhcURYF/WTnLfLwBet7Ph/6rQ0WMSFb+VrVLHz/8bzBTMtrzMWV7mDMc3wLl9cHN+cJ4APL4QPL4IWC9/bCoXyLKnTp36pVf5uggEAuEnnqvDS4euj6xg24a40g1l8svV8t3tgtDvlcyfr9zZwMLyOqbnVzE2tYihkRlcvjGOwUu3cOLsNfQcv4R0zyBimZMIxPrhDnTB7orBxUXgDSbgD6cQjGQQimURiXcjmsghtl2VXirzdD9iqT5Ek70Ix3vgj2TB+ZOg3RG+Sre5oTe7CkPv20ldvV0HfGWDnL5c6Bq9FVqDpUzoRgsvRb2Z4j9EmPid1DRGBmojA43JfZ/iYn/7qu41gNcdbOjrCh09KRVkrqqUuYMpyJxycYU5c5bzw+0JgPMGwfnCcPuioLk4aC41GUsP/NGrek0EAoFAeI3fROTqzQXXjdHb4DeUeYT51e2G2wWhPyxZrlZSoa+XzZ+vYWp2BaOF4fZRnDk/hP7TV9DdfwHJ7jOIpI7DF+0F48/CSkfhZILwBGLwh5IIRNIIFar0bqFK70E8XSp1PrF0X1HoqT6EE70IxrrhDaYrqnShQc5UKnS6okIv312uPI6S9edWqHRWaHQW6ASh6wWhmyxOGC0UDBYaejMNndkFXcnWqGojC6PV3xeP9/3a532vAbxuc4W/KddSM3xl7qiozF1bZE4zHjCsFyxXrM45bwicLwLGEwPlTjz1hburAHzh8349BAKBQChheHj+164MLZ4rNMSVzZ+Xb/d6t0Lo98uE/hi31x8I84rYU7gAACAASURBVOd3MDGzhOGxOVwdmsD5y8M4OXgdvScvIdM7iHj2FEKJfnjCObi8aZidYdgoHzhfFL5gAoFwCsFoBuF8lZ4srdJ7y2UubD4TTfUhmuzjh93jOfjCWbj9CVDuCKyUX6jSGUGuFUIvlXlhm9iK7WJ1dii1Nii1Vii1Fqi0Fqh1Zmj1FugMVuiMNhgEoZssFIwWWpC6C3qzCzozI0idhdbkfuxkI5/roSUAXrc5w99UaOhZiYo/212p49fOb5G50ABHMx64WA8Yt6+8OveGwXqjoNxxuH2ZaDZ7+lc+z9dCIBAIhG24enPmX125tbhwK98Qt/K4uKFM5XavgszvPwTuPwIv9HxD3L3HWF3bwOLKXczMr2JsagFDI9O4fH0Mgxdv4viZq8gNXECq+wwiqRPwR3vhDnTB6U7AaA/AaHWD8YTgC8aFYfe0MOyer9JziKWKQ+95kfMy5zehiSZ7EUnwQg9EuuAJpsB4YnAw21fpeaGrBaEXJF44ma14Qht/TroVcrUFcrUZSo0JKq0JGp0ZGl1x4xWz1QmTlYLJSgtSd0FvcfEfJswstGYWGiMLg9V7Kpns+83P4x4DeN3ORP5SrqWmiw1wvMz1L6rMhSY4fqjdB7cnALcnCLc3BNYbAeWOgeIS06F4H1lzTiAQCD8MXLk19/WrN5cf8weyCPPn+er8HnBny1C7IPOC0PmGOH7+PD/cvoyRiTlcvzWJC1dGcOrcdfSdvIRs7yDimZMIxvvhCXWD8aVhZ2LQWXzQmVygGB88/vywewqhaKY47J7IlUk9n2iymEiiF5FED8LxHgSj3fCG+G1lKTZcmEvnK2VX2XD7djLnT1GzF85Cl6mtkKoskCpNkCqNkKsMUGqMUGpMUGrM0OitBaGbbbzQTVYXjFaXIHUGegvLS93EQmtkn1BM5K3P+v4C+ILNGf5mXubSTyJzxsPPmwuNcPnqnJd5GDQXhYONP/IGu/f8sC3DIxAIhJ9Yrg7NH7w2zDfETS89Kpx/zjfDVVTnj0pkXiJ0fv48P9x+GxPTi7g1OoMrN8YxeKmyOj8Of7QH7kAWFJeAhQpDbeSgMThhpzzgfJHisLtQpVdKPZrs2ZJIsoeXeaIHoXgOwVg3fGGhOY6Lwk4HYLZ7oLewZUIvq851TkHmfLMYL3Je5hKlBWKFCWK5AWK5HlKFDnKlHjKlEXJ1UegWGwWLjYbZRsNkc8FkZWC0MjBYGRgsbEHqGhMLo83fF4nkPrPTyPLD7HI1NStW8jJXaIsyN1m3kznfBOdivYWhdpbjq3PWE4bLE4WDjcHtzzoHBga+/Fk9dwKBQCB8CoC6L1wZWjDdGL2Nsfz8+Z1nWF7fxKpQna+9QOYbJUIvDrfz3e2jk/O4cWsKF6+O4PT5GxXVeR88oW64vCnYmSiM9gCUOgZKrQ0WOwvWG4Y3GIc/nG+Oy5RJPVKQOi/2SKKYcCKHcDxXELo/koUnkB92D8Hi9MFgzR/cQhfmzlV6p3D8aVHmMrUNUpUVEpUFYoUZIrkRHVI9OiRadEo0EEk1EMu0EMsNkKlM0OqtMFmKQrfYXDDbXDDbmBKpC0K3CFW6yf3Q6Y79zWdzb/G6gw59Xa6mZsUKG6QqfrRB/ZEyL1bmpTJnPcXDV5xsFDSXuJRKnfjnn8XzJhAIBML3waVLC79weWiha2j8jjB//gSLd54LzXDF6vzeI0Hoj4GNx7zMeaEL8+clw+2TM0sYHpvF1aFxnLt0CyfOXkVu4DxS3acRSQ7AF8mB9WfgdMdhoULQmj2QqSnI1WYYLRQYLghvIM4Pu+erdKFBLhzv4sUubDqTT17k4XgOoRgv80BUEHowDdYbh5MNC81xHHRmBhojLcg8L3R+mL1M5koLRHIzOmVGtEv0aBVp0NKpQmunEm2dCrSJ1OiU6iBTGaE1WGEWhG6107DYS4QupEzqwly62e6P5HK5X3yZ95WfMw/+pUxDTYkVNkhUNn55mt4BnekTVuZ5oRdkHgbljsLBxlf9od6vv8znSyAQCIQfkOHhmd+5MrQ0dGtyHZMLDzG3mh9u36Y6z8u8IPVNQejF3eFmF1YxPrWIoZFpXLo2WlKdn0UscwLBWC+4YBa0JwmbKwKDzQ+VnoVEaYNMaYDe5ADN+uHxx4Rhd75KD0YzhUo9FMsiHOsS5N6NcLwboXg3QjE+wWgXgtEuBCJd8IUFofv4bncbHYBJGHbXGF0l1flWmYsVFojkJnRIjWgT69DcoUFjmwINLTI0tEjQ2CpDc7sK7RIt5CojdNsInZc6U5C60crAaGWF5jy+SteZuTtuX/I/vsz7aqfC/1WupSbzMs83wWmNThgtNCz27StzF+vdtjpnPGHQXAQONvrYE+iqzuVyP/Uyny+BQCAQfkCGhub+6OrNxZWR6XuYXnyE+dvF4fa1DWD9IXA3P8QuiPyBkI1H+flzfrh9YXmdb4Ybn8O1oQmcu3wLJ85cRXf/eSS7TiGc6Ic33A3Gl4KDjcHkCEJr5iDTUBDLzZAp9dAabHC6vOB8UXiDcfhC/Fx6IJJGUBA7L/esIPcuhGJdCMa6iiKPdsEfycIXzsIXyhSETnNR2F1BmB1e6C1uaI0uqAwUlDrntjLvlJvQLjWiVaxHU4ca9S1yHGsQ40hNG47WtqOmUYzGNkWZ0E1mOyw2Jz/kvo3QeamzW6p0izOkf1lnpjvo6J8qNNRYUeY2KLQlW7raXLA5WTgod9nStFKZM24/GM4PhguC4UKg3WE4mCgYb4bOZAb/wct4ngQCgUB4idy4Nff1q7dWHo/O3C/On+eH2yur8yfAg3wKQheG22/f59eeTy/iplCdnzl/A30nLyLTcwbRtNAIVzLUrrf6oNQzECsdEMkMkCp0UOsssFEc3N4wPIFYQer+cLIgdl7uGT7RLILRLALRLAIRPv5wBr5wBl5B5lwgVSF0fh5dY3JBpad4mWsrZW7mZS7So7FdjdomGapqO7HvcCN27qvFgapmHK0ToaFVjnaxBnKVAVr9/8/ee0e3mV7nvpPkJHF6fO45KTfxTe49yYkTZ+W6xHacOHacOK5je2Y8XTMajXoZVUoUm0iwgQTRO0CA6L0SYO8SKVIsYO+9906KEsX2nD++DyBAgpJmPLbj5HvW2gukRHHNArDmh+fZ+92vCplKDbLU+pA+ukpzBNSDhuNkKtuwLbv0b37S11NnyvmqQGLsZQs04AiJ42kCqRZiuQ4ypR5KtRHqIHduNNkOOfN9oLthsmXDaPVCa86B0VbQkFN87y8/jvcdJUqUKFH6mNXZO3Wja3ARw1PB/fOgo2pBUfujA0Dfj9sfYW5hDRNTxGa4zt4RNLX1oaa+HeVVjSgofQBPfiUZtRdAbfRCoXVBrLCCJzGAyVeDxZOBw5dCKFFCrbXAbCeu5HS48wmoZxfA5SmEy1MEl5cot7eYBHwJXN4SuLzFcHqL4fAUw5FdDHt2EWzuIlhdhTA78mGw5kJr8pBAt4UAnSfWgivSgE32zAPOnCFBQgofUfEZuHqThlPnb+L85WjcuJ2MmAQmkug8MNhi8ARyiKVZkCs0UGRpiaNramKNapYmXC9936UT59Kt0Jlyon6S19Joy/mSQGpqOQrmCpUBKo0JGp2ZuAY1TN/8MMw90Jm90Jpzp115Fd/5uN53lChRokTpY1ZH76yoZ2gZI9P+/vn+dPvqUe48AHQibl9Y3sD03DJGJ+bQOzgR4s6LK+qRU0hG7Y4i6My5UOrckGbZIZCZwBZqweQqweKKweFLIRAroFSbYLJmw+rMgc2VRzh1dz4c2QVwZhfA6SkkqyikHJ4iOLKLYHcXweYuhNVVCIuzAGZHPkz2POitOdAYCYcuV9sgUZgglBnAl/hhrgaLn4UMrpKM2SWgpQoQncDEpWt3cOy9S3j35BVcuBqLiKgUxCZkIJHORTpTSHwYESsglatIqJMb4w5A3Q/0wNR7UOyu0DhrPuoRNrPZ8zmB1OhjCTRgCzXgirXg+2Gu0CNTFX5Hu/GQOydgbrZlw2T1QG/xQmPO2XC4Sq/QaNRqV0qUKFH6D6nh4eFPdPbO5faNrGJsJqh//qy4fWs/bl9ee4y5RWIz3ODINLpId15d346ySh/yS2rgzjsYtTsglJvBFevB5KuRwZGCxRGBzSOia4XKAIPZBYvdS0DdmUuCPR92dz4c7gI4sv1F3KNuzy6E3V1IgrwAVmcBLI58mB35MNrziOlssxdqYzaUWifkKisJdD14Yi04QjVYAhUyuEqkszORmiFFYpoIsYkcXImg4bW3TuO1t0/jxJnruHgtFhFRyYhJYICWygE9QwAmVwKeUA6RVEle1hIKdf+SGWUQ1IMn3qVKC8QK6yODLeflD/s6Gh05fymQmipZfA0OTrRLFXpkqowht6fpDBYYDsbtYWBusHihMXl3Lc5iYU1NzW/8NN6DlChRokTpY1DrwMwfdPTNtfSPrWF87glmlncxv4b9/vkRcfsGGbevPtwih+GIo2p9gxNo6xpEXVMX7tU0o6i8Dt6CStizS2G0EVF7psYJscICnsQAlkCDDI4CGWwRmBwRWFwxeEI55Eod9CYnzDYPAXVHDqzO3ADYba78QNndBbC5iCJAng+LMx9mRx5M9jwYbbkwWHOht+RAa/JAZXBDoXVAprJCnGmCQKoHV6wl+uY8JdI5maCzZEhOFyM+hY/bcQy8+/5lvPTqe3jr3fM4ee4GLl2LRURUEqLj05GQzEJKOg8MFuHS+aJMiKVK8kpVYre74iDU1aYgoJshVxErYcUKM5Rap87n8/3q876GNlvOnwhl5hwmXw0WX02cFgi3o11rhlZPRO0H3bnJcgDmNg+MVg+0Zi9MjqK8vIr6P/ppvg8pUaJEidJPqM7+6c909s1NEQNxW5hd2QvfP98Kdej+6fbltU3ML60Te9tHCXfe2NqL6ro2lN3zIa+4Gs6cCpidRdCac6DQuiBRWsGXGomonacCgyUBgyVABlsIJkcErkAGaaYWWoMdJmt2AOoWRw6sjlxYnbmwOvMOlcWZB4sjD2ZHHsz2PJjsuSTMc6C3eKEze6ExZkOld0GhcUCWZYUo0wi+VA+OSAMWXxU00S5FIl2IuEQOLl6Nxcuvn8Crb57COycu4fSFm7h0LRY3bici6k4a7iQykUQnXHoGRwyuQAaBOJO4tCWTuIEtLNRDXLqZjN3NkGRZxyyuor99ntfPZsv/n2K5Sc/kqfcyeCqwBGpwRRpyeYwOcqUhZAguPMwdMB3RNzdY8jvyiqs/+9N+H1KiRIkSpZ9QXX2z/945sLBBDMRtY/Yp/fONEHe+R7rzRwF37u+d1zV24W51EwrLHiA7/x6s7hLorXnI0mcH+uYckQ5MvhoMthxpGXykM/lgsAigc/hSSOQaaPQ2GC1umGwemGzEUhMzCXaLI/dQmR25MNtzSZDnhIBca/ZAY8yG2uAmB+LskCotEMmN4Et04AjVYPKyCHfOlCGJdOeRsel4+72LeOX19/HmO+dw/NQVnLl4C5euxeJ6JA2RsamIpTEIl57GQxpTACbXD3XFPtQV+1BXqEKh7j+XHojdM817KmP2zWe9dkVFRb8lyrQIMriqHQY3C0y+CmyhGjyxBiKZNui8+f4RteAFMofcudUNkzVoCM6Us+DylFPLYyhRokTpF0GdfbPne4aW94iBuB3MrQKLD4HlRyTQn4QCfeMJcR59jXTnc0sPid75KDHZ7mvpxf3aNpTcJQfhPGVE1B7SN9eBxdeAwVEiLUOItAweCXQBMtgisPlSiGVqqHVWGMwuGK1EP5cAu5cEe05Imew5MNlyYLTlwGj1wmD1kjD3QGvKDoK5CwqtA3KVDRKFGQKZAVyxFiwB4c7pLGKqnUYXIi6RiwuXY/DjN0/i9WNncOzERZw4cw1nL0Xi0rUYXLuVgJvRyYgmXTotlY2UdB7SmUKwuBJwBTIIw0LdAMWBfvr+cJwZ4kwz5Fm2u253xe8f9br5fL5flStsUQyO6nE6RwkGVwkmPwsckRoCqSbkvLladzhmP+jOTVZXAOZ6swdak/eJzVUSRS2PoUSJEqVfEHX3zTN7R1YxNruJ6SWif37UQNzGFgHz9cd7WH24jYWVR5ieW8XIxBx6B8bR0jGAB74OlFc1Ir+kBq7coKhd44Q40wKeRA+WQAMGV4U0pgR0Bhd0BhdpGfxA7M7mSSCSqqDSWqA3u2CwuGG0kFAPAru/jDYvjFZvEMg90Jk9AZirjW6oDC5k6V1Qah2EO8+yQJRpIuJ2oYZw5+QgXFIa4c5vxRDu/LW3T+Ot4+fx7snLOHnuRgDoV2/GIyIqCbdj6YhNYOBOEhOJqRykMoh+OptHDMntQ11Dxu9BLl0T7NKJXrpEYYZYbl7R2bz/etTrlpllO8HgZK2ksRRIZyuQwVWCLcgCT6yGSKaFLMidE33zw9vg/O6cgLkbRms29BYPNCYvzI5CdX5+7e/+LN+LlChRokTpI6q/v//XO/vns/vH1jE+t4WZ5b3QgbggoPtrfRNY29jF0toTzC0+xPj0EgZGptHRM4yG5h5U1rSgqLwWnvxKImq35EGpcxN9c/8QHFeFNJYcqelcpKZzSKDzkM4kgM4igZ6lNUNncsJgdsNgccNgyYbRQrjI4DJYPTBYPNCTpTNnk67cDbXBDZXehSydk4C5xg6ZygqJwgyhzACeWAeWQB3WnZ/7IBqvvnUab7xzDsdOXMJ7p6/i1PkInL0UiYtXY3AlIh7XIxNxKyYFUXfSEEtjID6Z6KenMnhgsEVg86QE1CVKSGQqyDI1kCt1QVA/7NKlSjOEchMyNQ5OuGtJM3WObzO5qrFUphx0VibSOQoweUpwhCoIJGpIMrWQZ+mRpT7iiJo5PMwNFg+0Jg/0toLKgoIHf/5zeEtSokSJEqWPoqGh2T/sHlxsHZzYwMT8NmaWiYG4JXJ/u3/l6/omEb2vbwJrj/awvL6N+eVHmJpbxfD4HLr7x9HU1o/qujaU3msIRO0GWz5UhmzIVHYIZMQQXAZPhXS2AqkMPlLTOYeAzmATcbVQmgWlxgyd0Qm92QV9ENSDSx8oAuQ6Uza0JjcJc9chmMtVNqJ37nfnIg2Y/APuPJmPmHjWw+Mnr6y++tYZvPnuBbzz/gc4ceYaTl2IwLkPbuPC1WhcvhGHa7cSEBGVhFsxqWGgzidaCDxi8l0kVUIiV0Om0CJTqTvUS1dq/MNxZojkRojkpjanM/9Pg18zld75eQYnqy2FIUNKhgx0lhwMTiZYfCW4IhWEUg1kCuJ3E73zMHG7xQEjCXSjxQUj+bxqTR7oTLkjrpyKr/683pOUKFGiROkjqGtg9qWuwcWHxEDcDjHhvh4KdD/U1x4TU+8rD3exsLKJmYWHGJ1cRN/QFFo7h1Dr60LFfTJqzymHyVEIjclL9s1N4ARgrkQqQ4SUNDZS08IAnRUKdK3RAZ3JFYB6aGVDb84OAbnW6IbG4CJh7kSWzhEKc/JomFBmBE+iA1ugBoOrBJ0lRzJDAloq4c7pDInuakR8xBvvnt8ggH6ZADrp0C9cicala7G4EhGPa7doJNRJp57AQHySf/KdgLr/OJtIGtxPDz8gJ88yQ5xpBF+i31RpnW/4Xy+DwfmnGRxFSSJdjKQ0MVIYUtBZMjC4mWALlOBLVBDLtZArdaQ7J+J2PXnmfL9/7oDR4oTR4oTB4oKBTDS0xpxVp7vsRLhUgBIlSpQo/QdVT8/877T3zHiJDXGbmFrcxewKCKCTQ3ErwbUBLD/cw8LqFmYWH2F8ZgUDo7Po7B2Dr6UPlQ9aUVReR0y1u4oDR9TECktgeUw6Rwl6hgQpaRwC6OkcpKZzQWfwyEl30qHzJBBKVVCqzdAaHNCZnNCZXEFFAF1ndkNnIsrvyoNhrtQ5oNDYg2BORO0iuTHInasOufM7SdwVvkjzb/n5+b9+/ko0463jH2wfe/8y3jt9DSfPReDMxUicvxyFi1dj8MH1OALqkUFQjyN66gnJQVDniMDh+yffVYF+uiJLD6U/elebyD46cU87T6KDWG7SV1RU/De32/37GexM7Z1k/l58igA0ugjJDAnSWDJkcDPBFWZBKFVDmqmFQkVcDKMJHoYz2mAw2WEw22EwO2AwO2EgPyQR7QnPtsVVlNLZ2flrP+/3JiVKlChR+hDq6Z/5UXv37HrfyBpGZ59ganEXc6sE0BcfEi49UA+BxfU9zK/uYGZxExOz6xgaX0T3wBSaO4ZQ09CJ0ns+5BTehz27lDyi5oY0ywa+1ACWgIQ5U4aUNC5S6OwjgU4MxUkhIoGuMdihNTrDQp0AuQtaowsa4z7I/c5cobUjU2ODXG2DLMsKCRm1C8jeOVugRkawO6cLEZfERRJdUKZWu3//hRdeeEEikXzy/JUozbETl/eOn7qK98/ewOkLt3D20m2cvxwdCvVbNNy4TUD9dhwdsQnpAaeeliEAkxN8nG2/nx7s0hVqEzJVJkgVRvClOnDFmmGjLe+zTK4iKYbG2YqOZyEuiYuEVAGSGWKksWVg8TLBE2VBLCN+n1JtIDfC7QNd7we6iQC63uyE3uSC1uiG2pANo63QkltV9cmf9/uSEiVKlCh9CPX3L/5uZ+9cbnvvHPrHHmJsdgtTS3uYXQHm1/ahvrhOfD23Csws72JqYQtjMxsYmlhBz9AcWrvHUNfch7vVLcgvfQBnTgVM9gKojZ79vrlAAwY3C3SmHClpfCTTWSFAJ6bcnw30QJEADy7ClRMgV+n8MTvpzNU2yFRWcq2qGUK5EXxJkDvnKJDKlJGT7QLE0Ti7GVzFpeDni8uV//GlqzHm46ev7Z44cx0nz0fg9MVbOPfBYahfvZmA67cTcTM6GbdjUxETDur+IbkD/XSF2giF2ohMlRFSpQFCmQ4sgWorg6O4H5vAXr0Zk4bIWAZiaGwkpPCRnC5COlsGNl8BgUQFSSYR4xP72g8DXW+yQ29yQG8iPiBpTS6oDG7ozLnVnsKKv/h5vR8pUaJEidJHVM/Q3Kut3TMbHX0LGJzYwPjcdgDoc2sE1OfXicfZFWB6aRfj89sYmX6M/rE1dA0uorV7Cg2tQ6iq60LxXR88BVWwkFF7psYJUaYZHJEWGdws0FmZSEkXIpnOIoCe9jSgE0NkIpk6PNCDQR4Ec3WQM1dq7VAEw5zcwBbizoVqZPCyyKtRCXd+J4mHO4ncWYnE+IWDzxmXK//jy9fuaN8/e33r/bM3cOr8TZy5GEk69ShcuBKDS9dicfnGHXL6nYaIqGRExqYiJj4I6sz9ne8hUPefT1cRQJcpDRDJdWALVKClChERRce1W8m4GZ2G6AQW4lN4SGaIwODIwBUoIJSqIFNooVQZyLh9H+g6P9CNBNB1JuJ5VOld0Bg8Q9QQHCVKlCj9AmpwcOn3OvpmC9u6Z9A1sIShyccYn9/GtB/oqyTQ10hnvgJMLe1hfG4bw1Ob6BtbR2f/Eho7plDtG0DZ/XbkldTB4S2HwZYfOKLGk+jB5KmQxlYghSFBMp1NAp2AeUrQhDs9IxToHL4MYpkGSo0f6I4DUHeSMHcGwdwRGIBTaOzIVNsgV1nJu8bNECtMhDuX6sERkYtk/O48XYyEFAFiaRzQUvj3bDbb74V77iQS4ydv3KIxTp27tfH+2QicOn+TjN8jce6DKJy/Eo2LV2PxwfU4XI6Ix7VbCbhxOwmRMSmIjk/DnaSMfafOlYR16plZxO51mVIPsVwHrkiNZIYEEVF0XImgISIqFVHxTMSncJHCECGDIwNPpIRYpg6J2zU6/6pXK3QGG3RGG3RGO3RGBzRGJ1R6F1QG96LDXfzWz/o9SIkSJUqUPgb19M+91tYzs9HaPYPuoRUMTz3GRBDQ/e58gXToc36XvryHyYVdjM1uYXjqMfpG19HRt4j6ljGUVrbB4b0LjSkHsiwiamcJ1MTxtAwZkunckKidKH//nAQ6MwjoAjkkci2UGgvUejs0BkcQyMnyw9yw78wPufMsImoPcecSHdhC4qhaGjuT3Nkuwp1kPmIS2KBnSJhPe/7kcvlv3o5Lv3Tm0u3J989G4CQJ9TMXI3H2g323ToD9Dq7eTMCN24m4FZ1M7n1/OtTlSh3kSuLucolcC55YjXS2HNHxLFy9lYQbUamIis9AfDIXqQwRmFwZ+GIlJHLiEpisI4Fuh9ZAPJfE8+V6YrLlx1Kb4ChRokTpF1A9PfO/09E3k9PeO4vW7ln0DK9iZHozcAY9MBTn76GTFYD7qj+C38PE/A7GZp8QcB9ZQ1PnFEor22GwFYEvNRK96QwZksm+eXDUfnggjgQ6ufqVK8iEJDMU6BqDM6SCYb7vzu1h3LkF4kzCnQukBnCD4nY6S47kdAkSyKNq0fHsrQyu4pmOlUaj/XJ8IvvfLl6NrT557ubuyXM3Cbd+MRJnLvnBHo0LV2Nw6ZrfrRNT8FFxdMTRGEhMZYOewQeTvF2OgDoxKCdTaCFT6CDJ1EIgUYPJU4BGFyIyNg0R0XREx2cgIYWL1AwRWDwZBBJiC53C3z8PArrWYIXWYIPGYIfaYIdK54BS69zTW/Ll9+/f/52fxfuOEiVKlCh9zOrun/lBW8/sWlvvLFq7Z9A7QgJ94QDQySn3ZbL80+4H4T6zvIepxV1MzG9jdOYJBic20N43j/L7nVAbc5HOkiEplRkG6JxDE+5pTAHSWULitjJhJqSZugNAd5Agd0CtJ0pFlh/mBNBth+P2zP24ndjbTpw9T2XKA2teY2gcxNA4cwKp9nPP+3yy2apPXYtM4p6+GLn8/jnCrZ+6cIsE+22c/SAqAPYPrsfhys143LidSFzokpCOxBQ26Aw+Of0uh1Cyf6RNmqmBJFMDkVQNrjAL6Ww5aHQ+IuPSEZPAREIKF/QMEdh8GYSSLMgyNVCoQoGu0Vug0Vuh0dug1tuRpbNDoXFAa/QUZhfd+9RP8732wgsvvFBTU/MbOiAD0AAAIABJREFUtpyyPzHair6Qpc3/rtaY+w2brfRvTJ7SP6yoqPgEdd6dEiVKlD6ChoeHP9HeM20hYD6N1u5ZEuiPMTG/RdyDfhDojw5UENgXg2J5/+AcAfZNDJBgL7nbDIXKgrQMXhDQOSEb4g4CncmRgC9SQKrQI0trhVpvJwBucARgHgzyUJgHHVPzD8Mpibg9tH+uRjpHgZQMGWh0EeKSeIiKZyEukdul1dr+5MM8rzab7dfiaKyXLl6NfXDy/M3dANjP39qP4gNH3IihueuRNNyKSUFMfBpoKSykMnjIIK+N9d/QJpGrIZGrIZapIZCowBFmgcmTIy6RhVgaC7RUHuhMEdh8eSjQ1cSGOLXODI3OArXeCrXOhizy+VEbsn3Z2aV/83G+tyoqKv5bSYnv92y2wr/IMuR/S67KvSBSutl8mSOPK7Z1sQSW+QyB+TFLYFlnCS2TPLG9VSB35kqVHqFCl3tNayn8kcVZ+fmcnJo/KWpt/S0ajfbLH+d/HyVKlCj9p1JPz9Tft3RPz7b3zaK5cxItpEMfnn6EifknmF7axtzKLhbIy1mWHhIAXzmwYCYc3PfBvoepxR2Mz29hZHoTA+MP0dozi/ySOoikmjBx+4GlMuSWOIE4CzKlIRToB1y5SudAls5+COb77jxc/5wAOpOvQho7E8kMIm6PTeTidhwTd5K4ZTab7bc/yvPLZos/dTMqOcnfW3//bAROnotAII6/sA92/4a5iKgkRN+hIyGZiZR0LjLYQnD4UgjE5JpYmQpimQoiqQpCqQoCSRaS0ni4k8RGIp2HNKbfoSshzVQjM4sYilNpTFBrzVDrLFDprMjSEs+LUuccsrtL/uUneR/l5/f/usdT+odac/7nFLrcV6RZ2VECmdPAl9irOSLLcIbAspHBM+0xeCakc41HFoNnAlNgBUds3+NL3ZuiTO+8XJPflWUoKdFayzONrqrbdk/Na96C5i8W3Wv/VEVn529ToKdEiRKlF154ob17Jrq1ZwYd/XNo7JhAc9c0eoaXMTT5EONzjzG1uIXZ5R3Mr+5icX0vAPRwUA+Be2DxDLAQFMVPLu5gfM4/QLeG+tZRWJxFYHIlJNQJmAdPuDNYQrB4UggkKsizjFDpbCEwVx+AeZbWfjhqPwD0wNnzQP+cPBfPkgc2w0UnsBEZywAtlW/+SYbEbDbbryTRuV+5fCPecvLczYfvnbmOE2du4MTZG3j/7A2cPEdMxp+5FInzV6LxwfU4XI+k4XZsCu4kMpCcxgGDJQSHLyHWxEqUEEmzIJJmQUzCPZ0pREIKF0lpJNB5UgjExFCdXEkcW8tSG5GlMSNLa4FSY0Wm2gqF2jljsRc8993mNBrtlysqKn7b6Sz7M5Up/+tylec9scKVxpPYPWyRtYUpMM8yeKYnfkCncYh6GsSDYZ7Bt4AlsoEjcYInc0OQ6YVImQupqgBybTEU+lKojHe3tLaqRZPrQa8lu7bcmdOgcuU2xnoLmt4qKG37SkVF95/X1vb/rs1m+5WP+ppRokSJ0i+UBgZm/qClc6q+rWcGHf2zaGgdQ1PnJLoGFzEwvorR6Q1MzG9ienELs8vbBNTXPiTUD/XY98geOwH2oclH6BpcQnlVG+RKEwHzA0fWGGzScUrVyFSZ9oF+sG9+AOiH3HkgbvdvhtuP2/0raA/G7bdi0kFLFUo/jr6uWGz77dj4jNcuXI2teP/M9a3jp67i+KmrOH76Gt47fR0nzt7ASfIc+4Ur0bgScQe3opMQR0tHMp0NBksANk8CPnn1qkiihFiaBYlMCSZHjKQ0HpLT+UhjCsmLX8jNcwoNuR/eSGycU5shV1kgV9mXzdb8M0c5XJ/P96u5uVWfNJmKPq3U5H5fkuW+LJA7JByRrYwttPQzeMY1Bte4k8Yx4MNXKOwZPDOYAivYIju4Ehf4smwIFTkQZ+VBqi4kYV6GLFMF1OZ70FrvQ2erht5RA4PjAQyOBzA6H2wbXbXLZnfdgDW77p4jp0HnzmtM8BS3vJNb2vrPZdXt/6uiovn3qQl+SpQo/adTR/fUt1s6JtfbemfQ0TeD2qZhNLSNo6N/Dn2jyxiaXMPYzAYm5x9jevEJZpe3ML+6g4W153PrfqgH3Ho4x76wjZGZTfSNrqGhbYxw6xzJoaUyHIEcYpkGCrUZKp39KQ7dEQJ0RZi4XXwgbvff9pbGViCZId2P2+8wcTM6HTS68KlH1j6sBALV/7wVk3z57KXbbe+evLJz7MRlHDtxGcfev4x3Tl4J7IY/eykSH1yPRcRtGmIT0pCUykI6kw8WVwyuQAq+SA6hOBMicSbYXDFS03lIIYHOIpfUiKRZ5NE3HeRKA2RKI6QKIyQKy7rO5L3mh1tFRcUnbLaKP9IYi74gU2W/Icp0x/GkdhNHZKnN4JvG0ziGx2kcwx6drcezyg9tOvv5wL4fszvAk+67comqADJNETJ1pVAay6Ey34PGWkWA3F4DvaMGescD6EmgG8ivQ/7M+QBGx4Mdo6t21eyuHbZl19XYvQ0mZ54v2VvQfCKnpPlfSqu6/3dNTed/9/l8v/pxvs6UKFGi9DNTW9dkenPnJNp7Z9DWO4379f2obR5GS/cUugbn0T+2jOHJNYzNPCShvonZ5S3MrWxjYXUHiwGw72E5GO7+8oN9I7T8cPf316eXdkm3voGO/gUUlfsgkmr3gU5OuEsytVCqzYf6508D+sH+uSQQt5vCxO2ZBNBThIihcRAZl4GI6DQkpvKTPu7nHsAvpXGlf34jMvH2yTPXu946fnH3jXfO4813L+Ct4xdx7MQHePfUFZw8dwMXrkTh+q14RMelICE5A3QGFxksAVhcETg8Mbh8MZhsAVLTuUhJ5wXd5EYM04mkKojlGojlOojkegikhm2NMVuhNxV+R6xwnxLI7SyO2JrLEpjaGFzjPJ1t2Kaz9Uhl6Z5Zzwa8AXSOIQT0gfL3zIVWcCRO8OUeiBS5kKjySZCXQGkoh8p0FxpLJbS2+9DZq0mQh8I8GOrhvj9UzgcwOGp3Te7aNYu7btSW3VBn9/qsrrymtOzC5tO5pW3fLKpo+3RFRe//oC6moUSJ0n9o9fTM/05L50Rpc9ck2nun0d47hcraHtxv6IevfQxtvdPoHvJDfRVjM+uYmNvA1MJjzCw9wdzyFuafB+zP6LH7d8IT0/BbGJ56hJ7hFVTX90Otd4HBEoHJEYMnUkKq0IccWTs43a565nR7MNCJ/jlHrCOPqxFAT0qXID5FgOgENm7FMhARRUdiKj/hp/U6APiltDTOX1y6Gh1/7MTFvlfeOLn38usn8eM3T+G1t8/ireMXcPzkZZy+EIEPrsfgVnQi4hLoSExhIjWdg7QMLtIzuKAzOOTWPTZS0rlIZwrA5BKXvvBECvDFWeCJVeAI1cjgabYYfOM4naNfTWVqd1NZOqQwtYF6HpA/P9BDQZ7ONSKdZ9qP2MWOQLy+D/LS8CAPuPLwzvxDA90Z7s9qYXDW7prcdQ8t2XUTNm+Dz+H1uV35jUxPYdP5/LKWbxWWd36munrgD/r7+3+dOmJHiRKln7s6O0c/09gxNtnSNRUA+t2aLlRUd+FB0xAaO8bR7of66BKGJlYwMrWG8dmHmJx7hOmFx5hZ3MTs8hPMrWxhfnUbi2u7WPowYD8A9ZnlXUwsbGNkhhiYa+qYhD27FDyREnyxMmTC/fmBftTudmPQdDvRP09lypGYJsYdciDuVky6H+i0n8FL8ktxyYy/PnXuGv3VN072v/jSsd3v/+ht/OCVd/Dyayfw+rEzOH7yA5y9GIErN2JwK5qG2DspiKfRkZCURlRiOhKSGKClMJFMZ4PO4IHBEiGDIwGDI0UaS4rUDAWSM9RkaZCcoUEKUxMC9ECxngJ3tv9Rj9RwIA9y4elcExh8AuAsoQ0csTMQrR/qkRuJHrnGWnUEyA9D/VDM/iyAO4+q2mCoh5TRWQujq3bP7K7bMLvrp2ye+mZHToPXldfEzy5svlRQ3Pa9gtL2v6uo7/yjmprx33jhhRco0FOiROlno9busbd8bWNbLd2EQ+/om8bdmk4U3W1FZV0vapuH0NQ5jrbeKXQPzqJvZAGD40sYnlzB6PQaxgOO/VEA7PMr21hY2wkL9nBQ9wM/9IjbbsjAXGf/IorvNiFLa4M8y/CMCff9I2tE/9wemHA/GLfv9881gf75wYG4m9FpuHE7FbRkXvrP6nWh0Wi/HB1N+9/H3jsX/+JLb3V989svb3/zO6/gOy++jh+8cgyvvXUSx09ewrmLEbh8LQo3bsXhVlQ8IqMTcDuGhqjYJMTcSUFcAh3xScTd6wkpbMQncxCfIgKNnglamhK0NCUS07OQmJ6FJIaKrGeA/ijAH3TjfhfODzPoFoD4/tQ60R+/C7WlMjDsFgD5U2Ee/FhzKH7XHwT600AfBuIBkD/lz42uWphcdXsmV+1jc3bdjM3T0GbPach35TWKvIXN13KLW3+Yf6/lc/fv9/zfPp/vN6kjdpQoUfrY1dI+xmpsH0NL1yTaeqfQ0T+Nytpu5Jb4UFrVgap6AuqNHaNo7ZlEZ/8Meobm0D+6gMGxJQxNLGNkiojiJ/1gX9oME8XvHtljD+6pL4Vcy7qHmeVdYmBu+jF6h1dQXd8HsyOfGIgzHDXhfnAgzr/u1bYft2eGHldjCTRg8IL650EDcRHRabgRmQJaKpf3s359APxScjLjr06c/iDpu99/deKrX/8OvvaN7+Gb334ZL/7oTbz65gm8c+I8Tp+7gvOXbuDSlZu4fC0SV65H4VpEDG7cisONyHjciEzA9Vs0RESl4fYdDqLjeYihCRCbKERckhh3kqW4kyxDfKocCfRMJNAVQbAnQB+APDMU8oHIPQjiGXwLmEIb2GIHuFIX+HIPOa2eH+TES6E0VkBlIiCusVaFgJyomn2g+6F+8Psj60M49kMO/ellPADzQ1+7/FUHk7tuz+yu37R6GuZsnvpOR46vyJXXKPMUNN/KKW55ubii/e8rKlr/lDpLT4kSpY+s8fHx32hsG8v3+YHeM4WOvik8aOyDp6AWBeVNKLvfgar6HtQ2D8LXPoKWrnG0906is38a3YOz6B2ex8DYIoYmljE6tYrx2XVMzm8QUfzSJuaWn2B+ZQsLq6RrXw8fx4cMywUNzPnBPr20i7HZJ+gfW4evbQzZuXehMToPbYgLtx1OEebe86fF7f7+uX8g7kYUHdcjU0BL4akA/FT/h2uz2X6DRmP86c3oO1++ePHq8RMnLya9feyE5bXXj/m+9+LLq1/7+r/hi1/6J3z+7/8RX/rKv+Dr//o9fOf7P8ZLPz6GN95+H++8dxbvnbqA9898gJNnL+PUuas4cfoDvHviPN57/yJOn7uBc5ciceFyDD64Fo+rN5MQEZ2OWBoPdKYcAqkeEoUZfIkBTL4WaWw1khlZSExXBjl6FZIy1ATM2XpyQt2MDIEVLJGdiNJlwVPqRE9criuBwlC2D3FzJTSWKmis96G1+auaAHoI1EMB7y/90+oZkXxY0IdE8eEhfiTUQyBOgPxpZSJAD7Or/ok1u37B5mnosef4ypx5TUpvYXNMXknL60XlnV8uud/5/9y/3/M71Fl6SpQoPVXtA5Ofamgd6SEc+gTaeibR0TeFpvYRZOfXwFNQi8KKJpTdb0dlbTdqGvtQ3zKExvYRNHeOobVnAh19U+gemAmAPRDFzxKOfXrhEWYWH2N2ab/HfhDsSw/xVLj7J+FnlvcwMb+NockNtHbPIL+kFlqTO8Shh133SrpzWYg7D51uD47b9/vnxPnzG7dTcD0yGQlJXLfNZvtYJp1tNtuvcNXq349LzvjLm1G0f71w6dal989c4b19/Ez+a6+/2/PDl95c+u73X97592+/iG/867fxz1/7Br7yj1/FF7/4ZXz2s5/DZz7zt/j0p/8af/3Xn8HfffYL+NI//DO+9i/fwr9/+4f47ouv4MUfvY4Xf/Qavvfiy/j3b38f3/r29/C9F1/CS6+8gTfffh+nz17Bzch4pKbzIJFrYDA74PbkIb+gBEUl5SgpvYvS8kqUlFWioPgevHnlcGSXwGDNh1LrhVjhAk9qB1tkA0tkB1vsBFfqBl/uhTDoqJlcVwKFvgxKQzmyTHehMt+D2lxJOHJLFTRWf92HNgTsh0v3nLB/OuCfs9cexr0bnwXzELCHh/jBR9MRoDe567csnoYlm9fXZ89pvOvKb9J4Clrickra3i4u7/inons9/y+1NIcSJUoBtXWPfKWhZWTJD/TWngm0906ivWcCeSUNsHkq4S2sQ0F5I0oqW1FR04mq+h48aOxHXfMgGlqH0NQxgtbucQLsg7PoH5kneux+xz6zjom5h5ia94N980iwLx+1TtY/NEceb5tcIKDe3jeH4opG6M2eIy5isT/l7PmBuJ3cDhey7vVOBm5G03E9MhnXI5MRR2Pd83g8H/oGMpvN9ms8nuIPaTTm30VEJr9y6Wp0zNkLN1Xvnbp8/+13z4++9ubp9ZdffW/vR6+8gx+89Ba+/8PX8Z3v/xjf+u5L+Oa3foBvfPN7+Po3voWvfu3f8I//9C/48j98FX//xa/g81/4Ej77ub/HZz/3BXz2c1/A57/wRXzxS1/Bl//hn/CVf/wqvvKPX8VXv/o1/Ns3v4WXX3kNZ85dRFx8EgQiGfRGKwHwwlIUl95F+d0q3Kuqwf2aOtTWNaKhsQXNrR1o7+hGV08/+gaGMTwyjtGxSYyNT2NkbAr9g+Po6B5GfVMP7la3Ib/EB0dODYyOSmgsFcgylkNpLEeWqYKAOQn08FUZUmpLcFWF1MEPAoEPA1bC4QfXPvzDOPvngXtgQO4pQ3JHxu5Pd+mhdcTPO2thdAYB3127bXbXr1g9vgFnjq/Kld9s8Ba2JOaUtB4vKmv7Wll1+/+qaB6mluZQovRfTU3to+/WNQ/v+NrH0Nw1jtbuCbT3TKKjbxL3atphcpTB7q2Ep/AB8kp9KLrbjNKqNlTUdKCyrgvVDb2obeonwT6Ktp4JdPZPoWdwFn0j+1H8yNQKxqbXMDH7EFPzG/tgDx6gI8G+/HB/cG71iEl4Yif8Nkamie1yFdUdMFhzie1wB65JzQwTtfuvSuVJdIHd7f7LWPzuPCaBhchYBm5EpeLarSRcj0xGbAKr3WbL+6Ojnk8Av2Sz2X5bJDL+GZ0p+8qdJO6JiOiMtKsRSc6zl2NbT569PXP81PXNYyeu4q3jl/Hmu5fwxjsX8fqx83j97XN47a2z+PGbp/HjN07hlddP4uXX3sdLr57Aj358HD965V384OV38OJLx/Dij97G93/01uH64Zt48aW38PKr7+Kd987iyrVIpNKZUKp0cLlzUFRSgYp71aiqrkX1gwY8qGtEva8FTc3taG3rQkdnL7p7BtDXP4SBoVEMj0xgdHwKE1OzmJqZx8zcIuYXlrG4tIrllXWsrm1g/eEjPNx4jIcbm1jfeIyVtQ3MLaxibHIBvYNT6OydQGfvBDp6iGrrHkdb9zhaO8fQ0jmG5vZRNLWPoLFtBL7WYdQ3D6G+eRC1jQN44BtAdX0f7tf1ofJBD+7W9KCiuhvl97tQVtWJkspOFN/tQFFFOwrK25Bf1oa80lbkFLcgp7gFnqJmZBc2wV3QBFd+I1x5jXDmNcKR64M91wd7jg82L1FWbwNRngZY/JXdAPMRZXI3wOSuD6mnw7o2CMp1MLnrYXbXw5JdD4unHlZvA+w5PjhyG+HKb0J2QTO8Ra3IK21HYUUnSqu6UVHTi6q6flTV9cOe00i6efL3uOt3LJ6GVZu3cdiZ21jjzm+yZBe2puYWtZ7KL+v81/L7PX9VV9f9f1FLcyhR+k+qxtahlLrmYfjaR9HcSQC9rWcCHb2T8LUOwuwsg9FRCpvnHtz51cgprkN+mQ9Fd5tQUtmCsvttuPegE/cbegiwtw2hqXM04Ni7BmbQOzyHgdEFDI0vYWRyBWMz+2CfDnLsC6vbWFzbwdL6LpYf7h05De8fmptf3cP00g7G5p6gb3QV9+v7YLIXhHXnxDE1E0SZRgjlBghkBvKqVH/cnhW4jIWWKkRcEhdR8Rm4FZOG65HJuHYrkQA6jT0hl5s+/cILRGRuNOZ+Ui43fZrJ1X4zhaG4kpAiFkfH80ojoln9V28xli9dT925eC0Z568k4txlGs5+kICzH8TjzKV4nLl4B6cvxuHUhVicuhCDk+ejw9apoMdTYf7+9MVYXLxGQ2QsA2lMKZRqC9zeIlTcq0FdQzOamtvR3NqJlrYutLZ3o72zF53d/ejuHURv/zD6B0cxODyG4VEC3uMTM5icmsP0zDxmZhcwO7+E+YVlLCyuYHFpFUvLa1heWcfK6kOsrm1gbX0Da+uPsP7wMR5uPMbGo008evwEjze3sPlkG0+ebOPJ1g62tnewtb2L7Z1d7OzuYWcX2N0jag9EhdMegL09YG9vD3t7e9jd3a+dHeL3bW/vYmt7B0+2drD5ZBubm9t4vLmFR4+fYOPRE+LDxsNNrK0/xuraY6ysPsLSygYWlzcwv/gQcwvrmJlfw/TcKqZmVjAxvYzxqWWMTixhZHwRQ2OLGBxdwMDIPPqH59A3NIfewTn0Ds6id3AWPQOz6O6f2a8B4rFnYAZ9Q7PoG5pF/9AsBobnMDgyh6HReYyML2B0YhHjU8uYml3F7Pw6FpYeYnnlEVbXHmFt/TEebjzBo8dbeLK1g+2dXezuEs/Bzs4eanyDMDpryQ8HoR8SzNlEkR9Idm0e37rN6xtz5DU2uPKb7Z7CFkZuadvZotL2fy+t7PybCl/v/6DO0lOi9Assm832K/XNQ/q65qEgoI+jrWcC7b0TaO8dR35JHdSmfBjsJbC4K+DIqUJ2QQ28RbXILalHQZkPxXebCLDXdqLaD/bWQTS2j6ClawztvRPo6p9G79As+oPBPh0O7E/2wf4wFOyrQY49NILfxcT8EwyMraO2aQgWZxGU5KrXwJ3nChPEmUYIZQYIpHrwpXrwJLqQu8/pLDmS0om7z2NpbNyOS0dEVAqu3UrE1Zs03IhMQdQdxno6KzMuJV0SE58s0sXQBA+i4vkTkXG8hzdjeXs3Y3mIIOtmUEXE8hAR4y8ubkRzcSOaE6jrUeyg77mIiOEiIpYb+u/J33Erjo/YRDHorCxIlXY43MUov1cLX1MHOrr60dM7iJ6+IfT0DaG3bwh9fmgPjWFoZBzDoxMYIWPz8YkZTEzNYnJqDlPT85ieXcDM3CJm55YwdwDki8sHYU4AfTUA9H2oP3y0GQD7o8dbeLy5hceb2yTgd0jA75KA38P2DgF4P+T39o4GPCVCE9OLMLvuw+CohtH1ACYXAXezuy4E6kSFpgtE+uDbtXl9GzZv46Qzt7HRnd/s9hS2sHNLWy/ml7V9t6ii62+rqwf+YHh4+BM/7/9XUaJE6RlqbZ35rbqmwdJ9oI+hpYuIQ9t7xtHRO4GGln7oLIXIMuRBZy2GyVkGa/ZdOHIq4cy9j+yCmoBrL77XjHK/Y68nBujqmgfgaxtGc2dQHD+032cfmVzG2PQqJmbXQ6J4/1T80vrOYag/Pgz2+VUigh+a3ICvbQw2d+m+O1eaCZjLSZhLdOBJdOCJteCKNGAJVGBwFUhlSpFIFyIuiYOouHTcjE4l3HlkMq7fpiMimoGbMSzcjOXs3Irl4GYsF7fieIi8I8DteCGiEsSIpkkQTZMiJlGGmCQZYpPk+5WcidjkTMT5K0WBuBQF7qQqcSdViXh6FuLpKiSkqZCQpg5UIkODNK4RArkDeksBcgvvo7q2BW0dfejrH8HA0BgGh8YCj4PD4xgaHsfwyARGRicxMjaF0fEpjE1MY3xyBhOTfoDPYWpmft+Jzy1idn4f5POLK4dgvrSyD/QA1NcJl04A/RHWN/ad+mGoE659M+DadwOunYD6Aef+DPf+X1lPtrZRUOaD1nqXgLrzAXkWvpaA+hFAtzyjrB7fns3je2TL8U07c5ta3PlNXm9RC99b1H45r7T9xfKqjv+/srLrj6mlOZQo/QdSZ+fwH9U2DrbVNQ/B1zaKps4xtHSNkS7dD/Vx5BXXQqZyQ6nLgdpUAL2tGEZHKcyu8gDc/XG837GXVrWioqYdlbVdqPH1Bly7f4Cus28KPYMzBNjHFjEcBuxzy5tYWN3C4toOlh/uYmWDAPna49BaJcG+sAbMLO1gZPoRmjon4fCUQx5w5wYIZXrwJVrw/CXWgiNUg8HJRFKaELE0Fm7HpeNWTBpuRqfjZkwGIuPYuB3PQ1SCEFEJIkTRRIimicmSICZRSoA7WR6A9B0S0gSgs0hAE5CmpatBS9cgkaFBIkOLpAwdUUw9kpl6JDMNoHNMYIvskKtzYHWVo7i8HvWNnejsHiTj8fFADQ2PE657ZALDo5MYGZ3E6NgUxsanCYBPzGBiMtiFkxCfXQhy4/sgn1tYPgzzpVCYL68eAHpI7B7k0jc2Sag/CQv1gFPf2gl16qRb333OSP6/sjp7RqG1lENvqwxA3e/UTYecehige44G+0FHb/X49qzehsd2b+OsM7ex3ZnXVJBd1Cr2FrVdLypte6mwsuvzZTW9f9La2vpb1Fl6SpR+xmptHfqrWl//OAH0ETR1BAG9ex/oDS39UBvzIFY6IddkQ6nPgdqUD62lEHpbMUzOUlizK+DIqUR2fjW8RbXIK61HYYXftbfi3oMO3K/vxoPGPtS3DKCxfRitXWPo6JtE9+AM+obnCLBPhIJ9dukx5leeYHF1G8vru1jZ2AtAfX2TqLVNwrUvbxADc36ot3RPw+GpgERhDMCcK1KBxVcgnS1DCkOEhGQuYhJYiLrDRNQdDqITeIhJFCI2SYK4FBnupGQiPlURqDup+476TqoS8SS4E+j7wE4MAjYBbQLcyQFo65HMMiCZZUAKy4h0ngU8qRNZ+nw4PPdQXtkIX3M3unqGMEACfCgI3kMjE/vaPSWcAAAgAElEQVQAHyMAPhoE8H0XftiJT88uYGaWhPjcIgHxMCBfWDoA8yOBvnF07H4I6E/CuvTw8Xso1KkIPrxW1zbg8N6H1nIXevt9GJw1B6BeHxbq4SP4p8A+zJBgsKO3en2bNq9v3pHb2OXMayrxFLXIc4pab+WXdr5acLfji/fuDXyqooJamkOJ0k9Nra3DX67xDSzVNQ+hoW0ETR1E7N7aPRYAenvPODp7x1Fc0QBRph1CuQ0SpRMydTYUOi+yDLnQmAugsxbB6CiFxV0Bu/cenLlVZBxfi/yyBhTdbURpZQsqqttRWUe49rrmATS2DaGlaxTtvRPoHphG3/AcBsYWMDyxhLHpVUzOrmNm8VHArS+t72BlYw9rj4D1IKivbxKQX3lEDMzNLu9gbHYTbb2zsLlLweBkIjldhIQUAe4k8RGXJEBckhB3kiWIT5UhgVyDmpiehUQGEXMTIA5y0YHvtUhikJURDGwC2iksPVJYhjBlRCrbCAbfAoHcBbWxENl5VaisbkFzWy96+kcIeJPQ9pcf3sP++NwfoY9PYywI4H4XPjlN9MMJiJNOPJwbDwZ5GFceFuYfI9CfPA3oB3rquxTQw2pvbw819V1Qm8qCXHoNEb0HDcs9D9QPQf4pEX24nzv0AcHjg8Xj27Ll+BYduU29zrzm8uzCZlVuYWtMfmn7GyUVXf9QVt31Z9RZekqUPgY1tgx/+4FvYKOWBHpjh7+PTkK9ZwztPWPo6B1He/cIHJ5ycMQm8KQWCDNtECsdkKpcIa5dZy2EwV5C9toryDj+PjyFD5BbUoeCch+K7zWFuPbapj40tA6iuWMEbT3j6OqfQu/wLAbGFjAyuYzxmbWAW19YCQ/1h0+Ohnpr9zTUxnzQ6HLQ0hRIZGQhKUNNri/VIoWlRypLj1S2AalsI1I5JtA5JtA5ZqK4xGMqx4RUtr+MR1To39M5JmQIrBAp3NCai+AtqEbVg1a0dvSjb2CUAPZocE0GovPD8A514KEADwfxxX2Ih3PjC8uYXySG3ghXvg/yQM/8KTBfORC3r4XA/OBg3FPcuT9yD+PQn3cS/r+yJqcXYbTfhc56DwYH6dJdodG7/1hdaF/96YNzH6bCOvpwP5NNgN7qbdi25jQuOXIbB5x5TffcBS26nJLWhPzStmPF5R3/VFrV9/9RZ+kpUfoQamgaeLO6vm+bAPowuf1tdB/o3X6gj6GrbwxN7f3QmnLB5OvAFhnBlZjBlxFwl2Q5IVO7odB5oTLmBbn2EphdZbB57sKZS/bai2qRX1qPogrStde0o6quCzWNvahvGUBT+zDaugmw9w3PYWh8EaNTK4RbX3iE+ZUnWFrbJqAeBPTDUN8jof4YrT0z0FnLQOcYQecYkcY1IY1nRjrPgnSeFel8Kxh8G1ECGxgCe0il823Ez/GsSOdZkMazII1LFAF8E1I5JqRxzWCJbJBkeWCwlaCgpBYP6tvR0TWA/sFRYsLcD+wAuMnY/AC8xyZmnhPg8yEu/KlOfPEgxEMd+ZEgXzkI8qf1zvdh7nfnz4T5zjPcOQX0I7W1tYOi8kZoLOXQ26sCQD/o0gNAdwdVWKB/NLgfOWjnORzrh/0wQILeluNbsec0DTnzmqrdBc0mT1FLcn5Jx/Hi8u6vV1R0/kVV2+gnqbP0lCgdUF3T4Pnqhj7UNg2ioZUAelPHKFo6R9HaFQr0ThLqdY1dkGU5kM5RI4OvBUugB0dkBE9qhkBuDXLtHij1OVAZ86C1FEBvK4LJUQqLuxx27z248qrgKahBbnEtCsoaUHx337VXN3Sjrrkfje1DaOseR/fANPpH5jE8sYTxmVVMz29gfnkTS+vbWCWh/vAZUB+ffYzWnlno7XeRIbAjQ2hHhtABptABpsgJpsgJlsh1qJgiF5giJzKEDqIEdjD4tgDgGXwruBIn5JpcWFzlKCqrR31jF7p7hzE4PBEC6xGy/OAeHZ8Odd7B8D4A8MmDAJ8hAR4cpc8thQy3HeqLh4N4MMAPQHwl2I0HH1MLgPwn7Js/xZnvUjD/UOruG4fWUg5dSOzun3qvOwT24Po4nXrYoTvPga8PlS/0+9DIngC9p2HH5vWtOXIbR5z5TQ/cBc1Wb1FbWl5Zx+mioKU5nZ2dH8taZkqUfuFU3zQYFQx0X7u/j34U0EfR3TeKBw3tUGhcoLOykMZRg8HTIIOvA1toAFdCgF2YaYc44No9ZK/dH8kXk659P5LPKXoQcO1lVS24W9MeAHtTxwg6eifQMzSLwfFFjE0fgPqjPayTUN84CPUNYHFtFzNL2xidIQbldLZ7YIldYEvcQZUNjjQbHAlZUqLYkmywxK4A9NliF/jybCj1BXDmVKGiqhnNbX3oGxjFyBh5NGzC77CDaybEcfsrGN4BgAe78JkwvfCQKH3p8IT6QYgHO/ClVSweAvhR/fFwEH8UFK8fcOUBmD9HzE72zJ853U7B/Lm0tv4IDm81tJYKwqUHHWPzH2ULBfvToP7RIB720RP6Z6Hw9h0AdzjQ+8L8XEjt2ryN646cxjFHXlODu6DF6S1oZuYVt58vrOj65r17XX9ZWNj532tqaqgjdpT+c6u2qT+tur4PD5oGUN8yBF/bMBo7/LH7KFq7R9HWM4r2nlF09hJFQH0EDU2dUOuzkczIRDIjE6lMJehs1b5zF+rBDuPcM7XZUOq9UAc7d2cJ0W8nnbu3sAZ5JXUoqvChrKoFlbWdeNDYi8a2IbT3TKBveA4jk8uYnFvHXMCp7wag/vAJ8bi+GXykbRczS1sYm3mE5s4p6Gz3wJFmgyvzkOUFjyyuzEv8mdQDfmYOpOp86K1l8BbWoqa+Ex3dQxgcmQysQ52amSdcdBCMg511uPK77X1gk9AmwX0Q3s8aaAt23wtHwXs5NEIPidEPOPCnAfwoiAe7cv8RNT/IA+fOgwfgnuXMQcH8ebW3t4eahm5ozGUhR9hCgH6ES3/WEpoP1UP3HDUgF/r1s8F9JMCfq6xe3541p/GhPadx1Jbja3bmNxV6i1r5eaVtlwrK275XWtnzd6W1Q39YMTz8CVDb8Sj9Z9ADX5/kfn0vHjQOoK5lKCh2HyFj91G0dRNA7/ADvXcEnb3DaO8awIP6FuhMHqRkZIJGlyIxTYYkRiZSMhRIDXLvLKEeHDEBd/8wnUztQqbWgyxDDtQmAu4GezHMgSNw95Cdfx85xbUoLPehtKoF92o7Udfcj5auUfQMzmBofJGE+mMsrW1jLcipPzww+U4sn9nF1MITjExtwNc+AY2lggC53F85ECrzkKkrgtlViYIyH+oae9DdN4rR8Rlil/nsPnADAP6wFQJsEtoHwU3C+yDAQ3vh4SL0UPd9eKDtKRBfPwDxoDh9feMoiG8GQXzfkfu3wh3tyneP7JdTzvz59fjxJubm5rCxsYGJqQUY7BXQ2UKH454G9I9tKC4MyA+C/tkgP+rvPr4iQO97bMtpmnHkNbW6CppzPYUtwtyS1msF5Z0/LLnX+bnKyq4/9vmmfhMU6Cn9ogjAL9fU9eru15FAJ29O87UPo6ljBM2dI2GB3k069PauAdT52lBSfh8qnQMJqWLE0PiISxYiPkUMGl2KpHQ5kjMUSGUpkRbk3LliE/gyC0QKYphOrvHH8gTcD8byztwqeIseIL+sAWVVrahu6EFj+zC6+qcwOLaIidk1zC09xvKB+H39gEtfXCP66RPzmxiaWEdt8yh5I1gJbJ77KLnbDF9zH3oHxjE+ORtYvDIzt7gP3dnFIAgvHKh9KAf+zdzRFYjM5w6AO1yEflSMvhwuQg8zkX5gmO0gvANb3o5w4cFDbuGc+EGIb5JLY54Vr1Ou/MNpb28Pjx49wtjYOGpqauD15qCysgpLS8vYfLKNvJKG/eG4A9vjwg7IfUwT7uEhHw7URwH7pwvy/V58WMjD6vXBltO4acttmnPkNne4C1oKPYWt0tyS1psF5e2vlFd1f4FYmjNDLc2h9B9PPp/vV6vrexxVdT2o8fWjtnkQ9a1E7H4Q6G3dI2jtGoavtQ9VD1qRX1IDs6MIEoUdDK4GiWlyxNCEiIzj4lYsC7fj2IiK5yImkY87ySIkpEpAS5MhOSMTqaz/w957R7d552e+M9lk9ybnbjbn5t67d3OzmZTdlJvMntyzN5Nkd2YyxWXGRZYty7ZsS7ZlWZJlWb1XSmLvvTcQvVcWEJUFJEiCvRMkKhvYeyef+8eL8gJ4wSLZo8zYv3O+By8KQVAC8Pk9z7e8+YhOIuCekM5AUqYb7rk8ZBZ4lDthyxcyFT7lLtJAIKuCpNyAMk0TdIYOGFsG0NHnhNk2Aef4PFwzK5hZcEOdDHT30JnpRWLu+8jUBmxjK+i3zaGpgyj2Gx6d8A5cGXdN+ytw1zTGXNMYHZ/G8NgMnKMzcIzMwj48C9vwLKxOImzDM7APT2NkzA1st8IOjEBo+ylvN7gD4R3SRt8F4GT7PDTAKeC9b4AHKPFQEN/coQT5t1Xs+1s7OztYXl6Gw+FEfb0REokUAqEQ1dU1GB4ZwebmpvexHd1WFLM17uI436AZf6h/teo80Frff3w9IOcGgJoK4OTHhnycW9HzZM3rPFnzpEDR0isub1VJK9pzFZUdN8s13UeVNd3/WFvb/Se67m+H5ny7nuNyOp2/W9fQV+4BekPrEBrbLGhqt6CxbQj1zWZUG3uhru6EQtUMrqQWubQyxKYwERaVh3tPMnEnLA23HqTg5v0kXL+bgKu343D5Zgwu3YjEpeuRuHIzGtfvxuHmg0TcDkvGvSdpeBiRiUcUcPfY8inZbKTlcpGRx0dWoXsynbsVroRbAZZQDZ5UD0m5AUp9C2oaetDSaUXf0Djso7MYnw6Gut8UudltDE9uwDq6igH7AroGptDVPwabcxJWB3E2rQHLJPotUxiwTMFsm8GQYw5DjnkMORYx5FzCkHOZiOEVbww6l2F2LGHAtoB+6yzM1mnYnFMYHZ8OqbaDq893ATdVDpyiJ3w/8F4MhHdAHjwQ4KFVuL8SX9/YplTjmyEg/q0qD722t7exuLQEu92OxqYmlJdXQCyWQKmsREdnJ2ZmZrG9vR30c9OzC+CKq0Hj6kEPCXSqCXIhoC51B+k6Gcrk+/1y6HtVsn/VQA8B5JAglwVGM3Ep9Rw3+90fvAFoBldu2uDJW2aEpa3uoTlthTJV+91yTdcxZVXn/9DV9/7pt0Nzvl2/kmU2m3+/1thXrTP0QFvbjcqqTpRp2iGpaAZP1gCWqA4lvBoUc6pQyNIht6QSaXlSRCfR8TAiG3fCUnDzfgKu3YnFlVvRuHQ9AheuPsH5y49w7tJDfH7hPs5+eR+fX7iP81ce4dL1CFy9HYMb9xIIuD9OxYOIDDyK9sA9D1GJhYhJLkZcaolbvTPd1jzfbc0TA2xonHIwBSrwpHrIlUZoatrQ0GpG18AwrMMzGJ9a8fape87QNrMMTC4Ao9PbsI+vY8C+hO7BGXT0TaKjbxJdA1PoNs+gZ3AWfZZ5DNgXMeggoG0ZWYV1dA22sTXYxtdhDwjb2Bpso2uwjKwScHeDvdcyh37LDIbs03COzmDMNYvxiVm4Jue8MTE1j4mpeUxNkwA+t4CZXYrX5nYpXtsN3OS8twfc/vCmBngoK51KjW/sQ41/C3Lqtbm5ifn5BdjtdrS0tEKn06OiQgm1WoOmJhMcDgeWV1awsxP6X2xrexu62nYUsTWg8ymK40Ja7ruo9MD8eCDQd1Xpu+XHQx1/RREIY5nnkgzs5n3Ebo8z+TYC7ufmyUybfFnLrLC0ZVBc2lYtqWgrkSrbw0o1nccr9N0/0hjMf/Ht0Jxv17Os79bW9v37Uk3L9+Tlph8KFU2f8mUNiTyJ0cUS1YHON4DGqwWNW4Nibg2KudUo5lShmKNHIUuLAqYKuSUVyCqUIzmLh8j4Qtx/nIYbd2Nx+UYELlwJwxeX7uPsl3dw+txNnDp7HZ+euYZPTl/Bx6cu46NTl3Hy9DWc/uI2zl16SIJ7PG4/TMLdRym4H56Oh5FkwOcjKrHQl3f3WPN5AmQXiZFPl6OYXQ6mQA2hogYVWhNqG3vR3uvAkGMKo5NLmJzbwMziDnGa1UXANQcMT25iaHgFvZY5dJmn0TM4gz7LHAZsVAAngO0Y34DDtQHnxKZfOFwb3iDATsDdOroKy8gKhpzLGHQuwexYwqBzCUPOJViGl2AdXoJ1ZJkUS7CNLGJ4fBETUwsUQ1zI8KauOl+kzHe7wb1KDe2V1Q2srIW20D0AD4b4dgDEQ6vxUNPevoU5sTY2NjA3Nwer1YbW1jbUGgyoqqpCTU0tTKZmDA4OYXp6BhskW32vNWgdBY2jQQmvyqfSdxs08xTWOxXM/VT6cwS6V1WTIhjKpgNC/WnD9/w8qWmLp2ieF5S2WImhOe0suarjSamm4+NyXedPdHXd/6Wm5tuhOd8u0tLpdL+tbuj9Q6Wy46+lFaZXBbKGy1xJQxZTWK8t4RnMJbzauWJOzXaxF95E0Hik4FajmKNHEVuHAqYa+XQlcmllyCqUIT1PiKQMFqITCvEwPA037sbg4tUwfP7lbZz6/Bo++ewSPvr0Sxz/+At88NHneP/EWRw7fgbvfXga7314GseOn8WJkxdx6vObOHfpIS5eC8eVW4Q1f+tBAu641fv98DQ8dCv48Lg8RCUUeCvmPdXyWYUi5JXIUMwuB0eshUxZD52hE82dVvRbJuAYX8D49Bom5jbhmtvCyNQmLKOr6LPOo2doDn3WeZjtSxQQ94DaA+8tDE/uFf6g9yh36+gqbGNrcLjWMTy5idHpLYzNbHtjZGoLzolN2F0bsI2twTKyDMfoIianF/0AHpzvDqG4QyptkuJeD4R2aPW9vrFNCXCyEvcpclAWulHlyb+pIN/Z2cH6+jpmZmZhtdnQ0dGJxsYmGI0NaGxsQlt7O8zmQbhcLqzsocZDraXlVYgUBtLkOFJx3NdV6U6y2gMt+P3Z608JdJn/JbWV/qsA9zOEtHmbL2te4Cua7cLSNqO4vI0rq+yMUKg6Tyqrun+mrun9y7q67v/tW9D/hq+6urrfrazt+yOFtuO/i8ubjglkjQ+40gYWS2xsogvqhkt4hhUarxb+8K4l1HhAlPBqUcKrQQmvBjRulRvoWhQy1chnEEDPLpIhI1+E1GweEtMZiEksxJPoTNwNS8DVW+E4f+kuPjt7FR9/+iU+/Ogsjn34Gd59/ySOvvcJjrzzEd46egJvvn0ch498iMNHjuPt907ig4/P49Oz1/H5xfv48upjXLoRgau3o3H9bixu3o/H7YeJuPc4xQv3iDgi7x6XUuLOuXORWSBEPl0OOk8JoaIGlfoWGFvM6Bkch3V4Ds7xJTjGVzDoWETP0Cx6PZa6MwTIAyA+MrXti+ntoOuj7iAgvYPRGeL68OQWnBMbsI0TYHdOrMM1t43pRaKVbm6FcA4m5oGxmR0MT27B4dqAdWQVluEljLiWMDO37IX44tIqFhZXMbewgpm5FUzPLmN6dhmz8ytYXlkPYZGHUtm72eZ7w3s/apwK4t9EkO/s7GBtfR3TMzOw2ezo6u5GS2sbWlpb0d7ege6eHgwODWFsbByLi0vY3Np65t/Z0NyHIm9xnCHkfPeveqY7lfXO/jqUeEiA/wqALqe+nScn7uORwnO7L1qC7qd8LuJymydvWRSWtjhEZa2NUmU7T67qiCrVdH9Soe/6qcbQ+RdGo/n3vy3G+zVbYWFhv2U0mn9fXdPx56XKjh+Ly5tP8+WmeI60sYwlNnYzhfWTdIFhs4RfhxK+ATSeASV8w67H5KC7o4Rf644a0HhEYQ0BdRXy6RXIpZUiu1CKjDwRUrK4SEyjIyapEBGx2QiLSMXdh3G4djscF67cw5kvruGTU1/igxOn8c6xT3Dk6HEcPvI+Dr35Hl5/4x28dugoXnn9bbzy+tt47Y138dbRj/D+iXP45PRVnD5/B19ceogLVx/j4vVwXL0VhRv34txwT8XDyAw8jsnxFtXFp9GRks1BVoEIhcxScMQ6lKmbUNc8gM7+UfRZptBlnkJn/xR6hmbRb1vEoHMZlpFVEsgD1Lgb2KPTOxid2cFYiCDu28b47A5ccwScJxeImJgHxmd3MDy1BevoKgadi7COLmFqbh0Ly5uYWdjA+Mw6XLObGJ/dxsgU8Ro86t4ysgrryDKGx5fgHFuAbWQe1uEFDDnnMeiYx6BjAYOOBZgd87CPzGNxeX1PazxUhAI2EcHQ3i03Hspe/yatnZ0drK0RStxud6C3tw+dnV3o7OxCT08vBgbMsNrsGB93YX5hARsbG0+lxkOtkTGiJ53GrfKdVpXCdv9KgR5gt5NVuz/QnxHqsgBbnZQX51DC/CsAuCcobvdBuuVrD76iFQJF65aoomNRoemxKqv7ayv1PTfKysr+3fPm1LeLYplMpt+prjb/HxXa7r+VqlpfFZeZrvLlplyOpKGKLTZaGCLjPF1Qv00X1IOIOviOg6OEX+d+TB1KBL5jTzCE9b4Q1IEuMIAhMIAuqAWdX4MSXpUb7BoUMCuRV1KOnGIFMgskSMvhIzmThfhUGqITCxAem4VHEam4/ygBt+5F4eqNR/jy8h2cOXcVH3/6Bd4/fgpH3/sIb779Pg4dfhevHXobr7z2Fn756pt4+ZXDePmVw/jla0dw6K0PcPTYKRw/eQGfnr2OM+fv4IvLD3Hpejiu3o7GjXvxuBOWjPtP0hAWmYknMTmISixEfBodqTlc5NKkYArUKFU3obZpAI3tDjR3jaGjfwo9Q3MYcNvs1tE1Ikfuzo8HgnxsZgfjs/CCOjBcc8D4LNxw34ZrbgdTC8QQG48C9xTjjUxtwexYRFvPGCyOSYy5ZmBxuNBvGcegfQpDzllYRhZgG1uBfXwNdte6H9gHHcsYdCzCMrIEx/gyhl3LcLqWYR9bhGV4Hn2WKVic01jf2PJrE9sttrYQUmVTgnsXeH+bH/cp8ZmZWTicTgwMmNHT24e+vn6YzYOwWKxwOJwYd7kwN7+AtfV1bH+FECev9V170ikmxkmI+CoGzATn0Q8AcYpqde/t3ny4D97BOfKvAOQUSjswuH6XB4Hy3o/nK1qJKCVCUNoGYVk7RBUdkKq6UarrR2XtECprh6DQdoMrNfbLVaY/ed7s+savujrn7+p07X9coWn7gbSy7UOxouUxX97E5kgbm1nihlGmyLjKFBl3GEKjG7rGA4QP1HRBvT+43Y/xVL6SK2B91+vBFNaBIfTBncbVo5ijRSFLjXx6BXJopcgqkCI9V4iULA4S0hiITSpCVHwunkRn4GF4Cu6FxePWvShcu/UYl67ew7kLN3DqzEWc+OQs3vvgExw5+gEOHX4Hr7z+Fn7xyht46Rev44WXXsULL72Gl3/5Bl574128/d5JfPjxeXx65jrOfnnXC/drd2Jw634C7j5KxoPwdDyOzkZUQgES0hnIKhSBKVCjXNuK2iYLmjpG0N43SQDdsUgAfSwY6F6Yk0A+tQBMLxFwnl0mLmfcfe0T88DY7A5Gpogc/cTcNmaXdrC4uoOldWBhjXjc2MwObGNr6DZPo63bjp6+ITS19qLe1IvG1gGYOobQ2uNAt3kcA/ZZWEaWYB8ncu/2cXdOftSj2ldgH12CY2wR9tE5WJzT6LO40N7rxOLy+tMBeg9Y7wXubyLAAY8SX8P09AwcDgcGBszo7e1Df/8ABoeGYLPZMTw8ApdrAvPz81hfX38mJb6zs4Pt7W1sbW1hY2MDa2trWFlZxtLSEhYWFjA7M4OJiQmMjI6hUtuEIraadMKWEO1rz6LQKcEdeNszWuskNe4P7q84Lx4Eagp1HgTkp1DmigBwB0YgxCu7Uarth7JmCOo6K1SGQZTqusFTNKKEX4VijtYiUzb82fPm2TdmhYWF/ZbJNPQfKnTd/6VM0/4zSUXzF6LS5mSevKmUK2nsY4uN0yyRcdMfsA17BPlx/scM93VK0Ac8d2jbrRFsSQPYkgawxEawPIAX1KKEX01S7SrklpQju0iBjHwJUnMESMpgIz6VjpikIkTG5+FJdCbC3Mr99v0Y3LgdjsvXH+DLS7dw5twVfHLqC3xw4hSOvnsch996F68d8sD9Nbzw0iv4+Yu/xIsvv4ZXXnsbR9752Jd3v3APX159hMs3I3D9TgxuP0zE/SepeBydjZjkYmQViiEpb4S+fgDGVgdae13oHpxBv30Bg84lWEZWYB1b9UJ9eHILo9P+qnxygQDy7Ar8TtW6uEbc5mmFc7jWMTS8hAH7HFzTK1hYXsfiyjZcs5twTvha3Kwjq+i3zqGjx4Hq+g5U6pugqjJBU9MCfV0HDE29aGq3oL13GL2WSQw5F2AfX4VzYgPDk5twkCx568gKLMOLGLRPo9s8isa2QUzPLmEH1AVp3pz2HlDeK77pa3t7G7Ozs+jq7IBaVQmpRAyJRASpVAyFQo6KinJUVlZCq9WiptaAxqZmtLV3obunD719A+jtG0B3dy86O7vR2dmF9vYOtLa2orm5GY2NjTAa61FnqEVNdRV0Og3UKiUqlWUoL5NDJhVBJOSBy2GCyaCBVpyP/Lxs5GRnIDMzDelpKUhNTUFaRg5yiwQoZqt97Wui/bSv7a/oza8H/VnALQsOcu936Jz4U9rkgffLmv3UuD+0yfe1+B0/rV3OU1CA3A1wQWkbBGXtEJV3QFLZBYWmDxXVg1DX2aCpt6Ciug8SZSs40jrQBdWg8XQoIgRWn7DM+MfPm3O/kctjmZerO/+borL9kLi89bZI0VzAl5uq2ZIGG1vUsMgSNexQQdr/pAmhjolg+lWrNoBJDj/I+28QvM9F/gAHfBipikuID2yjG/D1hHLn14LGrfZWw+fRlcgpLkNmoRzpeWKkZAuQlMFBfBoDsUnFiIzPR3hMFh5FpuH+4yTceRCLG3cicOVGGC5euYsvLtzA6c8v4eSpc/jwxCm88x4B+FdfO4yXXmMMK8sAACAASURBVH4VP3vhZfz0Zy/i5y++gldeO4K33/0YJ05ewGfnbuLcxfu4cO0xrtyKxM178bj/JA0xScXgS2uhrumBwWRFc9coOgcm0WuZRb9tHmbHIgaHCbDbxtfgnNzE6Iw7F77gy4VPLRDKfGF1B8tr21hZ38Hc8jZGZ7aIKvXJLVhH19A7NIvGdgd6zaNwTc7CPjqL7sFJ9FhmYHYsEr9njGhvswyvoGdwGvUmMyo0jZCV10CuNKBc0wCVvhk6QzsMTb0wdVjRbR7HkHMeDtcqRqc3MTrtq453uDZgG13FgH0OzZ0OTEwvANgbyN/C+WBrZ2cHCwsL6O3thUIuR2ZmBqKiIhAREY6oqCjExMYiLi4BCYnJSE7NQnpWEbILuCgokaGYVYESjhp0rhZ0ng50nhYlPC1KuFrQOBrQOGoUs1UoYlWiiKlEIaMcBYwy5NNLkV+iQB5NhtxiKXKKxMguFCG7QICsfAGy8vnIyuchK5+HzDwesvK4yMrnIbuAj9wiMQqZSgLmpPw5GeZ75s8p+s+pAX5AmMuoYR405OXryINTFbdRFq8FFrA9G8R3BXlZGwFxZRfkml6UV5mhNlihqbdCVWuGQtMJfmkjmOJalAiqQOPrQePpUMzVopCtQSFT1SGVGv/j82bfr/UC8F2TyfR7VVWd/7lM1f5Pssq246LSliihwsTjykzNbEnDOFvcuMYKAG9gqwhLQgI15QfL/TjxwSIQ+P6nSgwoViF/cEi2EPHG81lExA6W+AB77HmGsA4lHrBz9ChgaZHHUCG3RIns4jJkFiqQni9Fao4IyVl8JKSzEZfCQHRiESLi8vA4KgsPw1NxL4xQ79dvh+PKjYe4cPkOzn15HZ+dvYiPTp7BsQ8+xpGjx/D6G2/hF6+8hhde+gV+/sLLeOnlV/H6G+/gnfc/xUefXsRn527ii0sPcPlGBO4/TgWDp0GFrgNVRjOMbQ609Iyho38C3YPT6LHMoM86hwE7AVvHxAbGZnb8cuREa9kGRiZX4JpawvTMAsYmF9Bvm4XZsQT7+Lq7kG0DZscSmtqdqDf1YWDIAWOLGQbTIEydTnT0u9BnncXQ8LK7jW0D9vENWEZW0TUwCZ2hEyKFHnypBkK5DuLSKsiVBih1Taiq70RT+xB6BsdhG13A6NQ6xmeJivqRqW1vdbxlZBXO8RUsLG1ia/tbXH8Va2VlBRbLECqVSuTmZCM6Ogrh4U8QERGBqKhoxMTEIS4+CQlJGUhJL0BGLhu5RRIUMCpQzNaAxtWjhF/j7QdnCOv94OrdbItJm3vKz27gbU8bBzhl6i4T4g6cCw9U35RW+lecC6dQ67yA42CAP32BG98L7t0A7g9xsbITMnUPyvQDUNVaoKm3QV03hDJ9D0QVzWBL60AXVqOErweNR4CcgLmOSH+y1Shiq5tFIvUfPm8m/tosHo/3b3StrX+gre37q/LK9p9LK9rOi0qb04WK5nKetKmPI2maZUsaNoPA6i00efY2EA/cg4tX9t4AsIN+hvSB9LRJeEHueQO2ge+xgUqJY76ilbCeZM3gSE1gS5qIzYOIyNmXCAyg8WpQ5J4ul8/UII+uQm5JJbKLy5FZWIqMAjnS8qRI8QKeg7hUBmKSaIiML8CTmGyERaTh3qNEL+AvXyPs+bNfXMWp01/ixMen8d6xE3jzyDt49bU38NLLv8QLL76MX/zyEN546xiOfXgGn569hkvXw5FHk0Ne2Qx1TQ9qTUPuArkRtPaMoa1vHB0Dk+genMGAfQH28XUv0MdniTYy29gaBuwLaO8bR1efE4MWJ0ztFjS02dE9OI2h4WVvDt42to5+6wJaOuwwNnVBoWqAUtcKfV0PjC0WtHSPoGdoGkPDRH6c3Lc+6FhCY5sNYkU16BwFGNxSsAQV4ElUkJRVQaltRG1DN9q67RiwTcIxvoSx6U2Mz+54we6cJDYWtrE1jE6uYX5pE5tb34L9oGtjYwMjIyOorq5GcXER4mJjEP7kCcJJEI+NS0JCUjpS0vORkcNCTpEI+fQyFLHUKOYQZzwr4dcQFebutrHdYL4fAJO/U7xCIOg7Ifg4WCzsM1ceZKsfQJGHsNJDK/LmZwc5BbC5FPGVVqS7Ab5bLpyIVgjK2iAsb4e4ohNSVQ9R3FYzBE29DZp6K5Q1/ZCq2sCVG8EU1YAuqCJAzveB3AtzrtZjt6OIrTaoVKb/8Lw5+a9ydXd3/1tdY/f/parq/n9LVR1vSMvbbwtLm0v4imYDV9rkYEubltiSph0qSFLlkvxbN6h3utQ7YOpdsueDRTWlKRD+fpcBH0puIMjJMPe+CdshKCOCAHobeIpW8OSt4MpbwAkCe4Mb7ET7XDG3BkWcahSy9Shg6ZDP0CCPriYAT6tAVpFHwcuQlidBSrYQSZk8JKSxEJtMR1RCIcJjchAWkY77j5P8AH/+4k2cPXcZJ0+dwwfHT+Lto+/htdffwEsv/wIvvvQLvPr6W/jgxBkkpjEgUhhRrm2Hrq4PtaYh1Lfa0NBmR2OHE6bOEbT2jqN7aAaWkRUMT256+8+dE1uwja1jwLaA5s4RVNV3w9DQjjK1Cfr6Ppg6h9FrnYV1dNUP6mb7AupNgxDIqiBU1EBR2YDKqjbUNPajucuJ7sFJDA4vElB3/z6HaxPWkVV09LmgUBpRQBcjjyZEIUMCOlcBnlgFeUUNNDUtqDcRE/HM9mk4J1YwPrOF8dkdtxW/7XUMbGNrGJ4gwP6tYt99bW9vY3p6CiaTCRwOG4mJCYgID0d4eDgio6IQHR2L2LhEJCSmIzktD+nZDOQUeiCuAi0A4nQvxHcBuciXJqMEuIQ6nrnNLKCljCqeuTI9hI1OPbXtK7LQg2zzZ7fMvUVs3kI2fxs9SImXBitxcnGbQtsHZc0gNPU2aI02qAxmKLSdEJQ2giWu9ULcE9Qw9wG9gKVGMVut0+l0/+vzZufzXt81mUZ/T2Po+Z5K1/1DRWXnh9Ky1hhhWbOIL29u58pMkxxp01rQqQGp3uQhckLPVN15oNxU6A9mUCWqjBrm/ECYl7X7R6kb6qVuqCtawfUDezPYUhNYkiYwxY1giBrAEBrdrXPEaFkP4Is4VW7Ia90qnoB8jh/kpUjNFSM5W4DEDA7iUxmISSp22/SZePAkGXcexOL67Se4fO0+zl+8gdNnL+CjT07jvWMf4s03j+C11w/h5t1IsEVVkFY0QanvgNbQA72xH9UNA6hpNKPWNARjqx2tvePos87B7FiCdXQNTneB3MgUMfu93zqPOtMg5BU14Ii0KFWbUN04gNaeMfTb5v2gbh9bh9m+CEPTIPhSPdhCNYTyapSqGqGr60ZTuw1dZhfRPz6+SkDdnRO3ja2hzzoHdVU78oqFSM9hunOxQtA5CvAlBNjVVSbUN/eio8+JQcc0nK7lIMXu2SjYxwnFvrSyia+pS+rXdi0uLqK3twcyqRTp6WmIjIwgIB5JQDwmNgHxCalISslBWlYJsgsEyC9RoJBZiWKO1gdxAVmJh4L4biDfQ41TunP7APe+oR0qP34ASz3gO5Ara/Y7fmaQ76K8A297JpiT04yhwE0BcbIiF5KK27x58TortEZ/S50jrQPDbamHgrgf0EkKvZCtQT6jEkUsldhsNn9z+tB1Ot1v61qtf6DUdfx1ubbrZamq/XNxRWumsLSlki9vHuBKTXNcadNm8FQjn5oNPRN4t6DOGQVOMPL7cPgNS9hls7DPDYPf3+P5veQ3vcKtzL0gp4A5BdT5Co9ib/PBXUbAnU2CO5HPJwFeSPTOl/DrQPMDPQF5r1XvzcOXI6uIsOrT8yRIyREiKZOL+DQmYpJpiIzLx+OoTLeCj8a1m49w8fJtnDt/BZ9+9jmu3QxDIaMcPGktZMomlGtbUVnVAVV1J9Q13dDU9kBf3++FevfgDAadS3BMbLinwe3AObEJ6+gqegZnUKlrRRGzFHxZNZT6NtQ1W9DWN05AfWzV2/7mcG1g0LkEY4sVXLEWNHYpOCINZMp6qGvaYWwdQkf/OAbs87CNEVAfmdryQtgyvAJjixU0tgLJGTSkZtORVcBxg10OvkQFhbIGmppmr2IfdMxgZHIVrrltd/5/xzuxzuHagGN8DZMz69jYDD5L1zdpra+vw+FwQKvVID8/DzHuvHhkZCSio2MQE5uAuIQUJKVkIzWThqx8HvJochQwlSjy5sWrA+x0D8RDAHzX/Pj+QE5dY7N/y5zaPqcSDnsAPeA7KPR33FNUpgfkvIOu79NG31d/uCIA3nIyvPeAuIKkwknfm8LydoiVXb68uMECrdFtqVf3QVrZGmSpE6EDjU8NcX+FrkURR4NCthr5jMqNApayjc3TvPm8Gfu1rbIy878zGAb/T8Iy7zoiq+i4KS5vpQsULQaezOTgSZtWuFLTTiCwdyukCM7TtIAXuDMMeEPuNtZvt+BQfAACBypwgz5MzUH3BX/IAl8/lcVO7CzJQQV1T/DJ4YG7nAx3f8CzJR7IEyqeKWqgAL0H8h4lryOUPEONXHolcmgE4DM9gM8WIimDi7hUBqISCxEek42H4am4GxaHm3fCcfteBNJyeKBxVOBKqiEuN0JW2QS5ygSFuhllmlZU6Dugq+9HfYsdLT3j6LPOwzq25jf21TlBVLJ3DUxBVmEEnauEuKwO6pouGFut6Oh3wexYgMO17h0F65zYgNlBKPViVinyaGLQeRUQKaqh1LegvnnQDfU52MdXMTK16Z1ANzK1DYdrA10DkxApqpGcQUNCagFSs0qQmcdCPk0ABtdfsRtb+tEzOAbH+BJcs1uY9Bb2+cBuH1/HsGsVS8ub2N7e/sYo9q2tLUxNTaKxsREsJgMJCfGIiAgnituiYxATG4+4hGQkpmQhNbPYC/FCMsR51aDzayjs9ACIk9T3vpT4HhD/KoHuL1qe0loPJUKe1k4PMYFtN3gHg3wfapwC3P4K/GAqnKzE/fLitUPQGm3QGq3+lrqkFgxhNTXIPTAPAXUvyFkqFDJVszSOqoIt0J4Ulun++Dvf+c53nzd3n3kB+G5dnfN3q6o6/3O5vuOfFer2jyQV7RHislaxUNHSxlO0THDlpo3gHMvT9hPu9vjQ9wW9IQNyPZT379VD+bR2lQfo5N0nKdcjIMO8vMN93OENQVmHG+wdFOGDO8+r3NvctjzZnndb9CSbni1pIql5T/U8GfA1/oBnapDvVvA5xeXuNjkJUrIFSExnIzalBFEJBXgSk4WH4cmISSxEVqEERaxyMAUacKXVEMhrIVTUQVRaD0l5I8q17YRSb3Ogc2AKZucS7K4NjExvY2wWGJsFRtynXu0amIJC2Qi2UAO5shHa2i40tNnQZZ6EdXQZI1M+69vh2kC/bR6V+nak5bCRnstGAV0CnlTrhXpn/zjMjnk4XGvuiXM+EDsnNjFgX4BK34bkDBqi4rMQn5KHlMxiZOWzUFAiJMAuVaG00oAaYyc6+xywj85jYnYDU4tE650vx06odfvYCrp6hlBfX4+enm6MjAxjYWEBG5ubX+kI0ue5dnZ2sLS0hN7eXkilEqSlpfpb6gEV6pl5HOTRZChkKlHM0YLGq3Ir8Ro/JR5kpYt9IN9vhXnICAHwA8M8oG4nVG78QD3kVC4hhb0eKD6exlbf205/ylw4qRqd3MmzmxLnBylxcnEbkRcn+sWt0DZ4LPVuiCpM4EgNYIgIiNMFej9r3QN0XwRb7R6QF7BVm0VsVT+Dr07hSvU/lUpr//3zZvBTL3znO981mUy/pzH0fK9c1/kTuarjM5myLUVU1lomKG3p58tbZnky0xYZ2v5ViK0B/YChdmfUOze/fArVbi8w7/IMGwW/IQdy3wYkJPQDPwiyANcgUJXL/UcLet6g/jD3AL3D/5IqgoDvD3e+26YnQ57nV1xHysPL3EV2XrveMyinHnQhMZa2hF8LGo9okSv09r9XEv3vBTKk5YoISz6VgeiEQjyOysCDx0mIS6YhJZuLnGIpilhlKOFWgsHXgC3SgyOuhqjUSLS3NZhh6hpFr3UO1tFVDE9twTXnns2+4Jv41tozBnFpHTgiLeSVDdAaumHqdKDfNgPnxLp3tvvozDZsY4SyZwlUiIjLQmJaMXKKhOCKNVDqW1DXbEbXwDiGhhcwPLkO1+w20TY374P6oHMZ+roeJKUX43FUCqLiMxGfko+UTBoy81gopIvAFpRDXlGDamMH2nussA5PY2JmDTOLO8RJYOZ2SGd420CvZQbyCgPyiwUopHHAZPMgk8mh1+nQ2tIMi2UI09NTWF1dxdb2r49NH2Spx0Qjwg3xmBh3cZunQj2XhdwiMQoY5Shmq1HC1YPOr/bLiRMAr/cDeGhgB7aZ7Q/c+y+AO1h1uh/Qg2qAAs+EtkuefBeY7z4/nXR7KIGyh73ur8KfEuSk7/hdIU5S4WTn0lfc1glJZXdQXlxTb/Fa6jx5PWGpC6kg7g9w8nUfyH22eiGrcqaYqypnCrWnFYqaP+fxeP/mefP4mZah0fr36trBWLmmRymp6DALS9sW+IrW7d0sEX4pxe2Bj91lRxaYO/FcD7wMrHY8UDztLjOECxC4SfDvswzcvATnzL0g96jzgBCVd0LoDlF5J0QVpOsV/tc9sZuKJ8PeWz2vIOAeVEEvISt3D9hrvGAvYGqQRyf63jPypUjJ5iMhjYnohAKERaTgyvUHuP0gHk+icxCdWIjkTDYyC0TIpclRwChDEUsJllAPSXkjVNXdqG+xo71/AgOOBdhdaxifJYA4tUT0pw9PbmHAvoCaBjMYfBVYQjXklQ2oMvaio28M1tEljM0QG4HxOWB4aguWkRU0tTuQksnAvUcJiE3KR1YBD2yhCkpdM+pbzOg2u2AdWcTI1DpcczveXvhRt9IfdC5Bb+hGTGIu7j+Ox+OoFETGZSA+JR9p2XTk0wRuqFejytCC1k4zhuwuuKaXMbO4hZlFYGLeA3WiXa7XModSTScYQgNKeFUoZqtRwFAgv1iA/CI2imlMcLk8lJYqYKitRnd3J5xOO2ZnZ7C2tortfyWg397extTUFJqaGsFmMQlLPfwJIiMjEB0dg9i4BCQkpiE5LQ8ZOUzkFIlRwChDMVsNGldH2OmCWjCEhmAVLt4L4hSwPkCBW+iitwO2vX6Vlet7AH1/LWgHV+VkARP6+21/AN+zmC0EyIMg7hn6ou71y4trG6xQGQYg13SAX9oAlthnqftAHgju4ONgW129UcRSdTO46niutOrHvzEV7AB+S6HpyK2oHoC6zgplzRBKtf2QqXogUXZBVNHhg1BZO0lttvn/xwSE/y4sxEbga4x9OwC7bQKoNgV+j20Oup16SlGAzR4C5h5oE9G1rwgEPBHEc1KDntwaFwrsHjverda5VShia5HPVCGHVo7MQhlSc4RITGchJrEQjyJScOX6PZz78jqu3orE9buxuPc4BZHx+UhIZyI1h4eMPCHyaApwxNVQqJqhNw6gqXMYXeYpDA0vYXhq0zsGdmIeGJ3e8apuWUUD8mgSsAQqlGlMMLZa0Ged8bPPx+eITcDQ8DJ0hh6ERaTi2u0IhMdkICOPA5ZACaWuGcbWQfQMumAdJaDuUfnjs57xskS/uqqqHU+i03HrfpQb7KmIScxBapYH6mWQl1dBV9OE5vY+mC3DGJ2Yw8zCBmYWtzExv42x6S0MT27APr6Klp5x8BUm7xQxz9hfltgIhrAWNK4GhYxS5BUJkJ3HQE5uEQoKi8BkMiCTiqHXadDaaoJlyIwJ1zgWFxewsfFsM8v3szyWel9fL2QyKdLTUhEZGY6I8HCiXzw2HvEJKUhKzUF6Nh05hUIU0MtQ5IF4gBL3q0wPCfEQ4N4F0KFz4FTKO/D4gK1oX1X7WYhi3AMXvO0zP06VgqQE+m7fhweFeNB3oT/ExcpOyEh5cY3RBl2DDeq6QZTpuiAqJyx1pqjarcZDKfLg23y5cq8a3ylkV07QuGoRU6Q9IZfX/slv3GlRTSbT7/CkdTyurAEydQdUhkHoGuzQGO2orLWgTDcAmboHksouiCs6ISqnAnwA7HcB/W7wD9oAULkCVPft5hTs0yHYyz3Yr2Pgex3+b16/nHl5B0TlHQEA90FcXNEFsTIwuikjNOyDIe/Lz/u3x3HlLd78HKFAGsESEyeP8Sj1Ym4VClla5DMqkVNciox8CVKyeIhPKUF4TCZu3Q3Hmc8v4OSp8/jks8v4+NRlnL/0AHcfpSA8NhfRScVITGehkFEOgbwOSn0nak1DaO4eRY9lBtbRFYy4rXePah6Z2oZ1dBWmzhEUs8qQXSgEV6KDprYDLd3DGLDPwTlBqHvPzwxPbWHQuQR5hREXrjzAl1fu4WF4MjJy2WALK1Gpb0ZD6yB6BidgGVnE8CQJ6qScumV4Bfq6HkQnZOPqrce4dT8KYRFJiE7IRmpWiRvqpZCW6aDRG2Fs6kB33xCcI5OYnlvFzOIWJua2MDq1AYdrDYPORWgMA/52ssR/NCh59C9TaACdp0Mhsxy5hQJkZNOQmp6D1NR0ZKSnIS8vG0wGDVKJEDqtGiZTA/r7ejEy7MTM9DSWl5exubnx1OreY6nrtBrk5+ci1m2pR0VFeSe3JaZkIS2zGNkFfOSXKIheca8Srwmw03dT4A37UteUA10o7HL/YVMHbD/bxU4PnHFxoDnre9jp1LnxZ1Xiu9czhVTle32/7VOJhyxuU/ry4spqol9c12CDtt6CiupeSCpbwJPXgyWuAYMMccr8OLVKJ6vxIpZqtZitamHytRECSc0/8urqfvd5c/drWwB+my2uZdIFNWBJ6sBTNEBS2YaK6j5ojVboGh3Q1NsI5a7r98Fd2QlRRYcP8OX+Vdv+Vdz7U/X7V/x7bAR2C6qUQKjNwz4cAOo3sr+d5Jcz9yryQKC7YU4Bb0ml57LHG+LKbiIoQU88DzXgPeqdPMym1R/sUpMb6g1gioiZ8iX8Gp9SpyuRXVyKjHwxkjM5iEkqxMPwJFy+dhcfnzyNo+9+gNcOvY2Xf/kGjhw9gfOX7uPOwySERWYhJYsLBk8DaUUj1DXdMDRb0dIzhj7bHGzjaxid2fZT6iPT2xgaXka1sR8ZeTzkl0ggLq2Fvr4HbT0jMDvmMDK14f0Z1xwB5D7rHDLzuPjgo89x9subuP84EWk5LLCFlVBVtaChdQg9QxOwjixhZGoDrrkd71x5YjNBTLAztlgQl5yPC1fu4drtcDx4koio+CykZNKQT+ODxZNDLFdBqa5FtcGElvYeDFqG4Zqcx9TcGkanVuEYX4ZlZBEt3aMklW70gowtaQRb2uhTekFqrQkcSQNYojrQ+XoUsyqQVyxCRg4dKWk5SEhIRlxcHOJio5GYEIv0tCTk52WDxSyBRCyEWqVEfb0BnR3tsFiGMDo6gpmZaSwtLWF9fQ2bm0Q1/sbGBiZcLjQ0GMFiMpCYEI/IiHBERkYiJiaWgHhyJtIyi5CVz0N+iRxFrEp/iAfa6WLS3+rexBARDOHdIB2stptCAJtiVnrggKgQ8N6tYt0f2vuc6BaySr05yE7fN8ip6nv81HagpX7A4uRdQL5XnzjV97bnu88z9IWcF9c12KFrsEJVOwC5ph2C0gawJbVEgdu+Qa4PALkWxVwNClmq7SJW5SiNo+awxNp3Kiqq/9N3fhMq1fdaAH6LLaopoAuqwRTVgiU2gC2pA1duhLDcBIW2EyrDIPSNdugbHVDX2VBRPeiFu7SymxruQZBvCwY7FegD7wsF+TIy7APGp4ZQ/weO/cI+AORk50JAYbWTQS6u6KRU4pJKT/ggLlH1QKrqhVRFHPvd5xd7qXkS3L12fJv3Q8uVu6tppU3wnCiGKawDXVCLEh4B9QJmJXJpZcjIFyMpk43ohHzcfxSPS1fv4uSpszjy9rt46aWX8cMf/Qg//dkLePfYSXxx6QEehmcgq0AMtqgK8koTNLU9qGuxoq3PBbNjEc4JAq5TiyCKzBaA4alN9NvmIS6tQ2I6HUVMOSTlBlQZe9DeNwrLyBLGZ7cxteCrNrePr6O5awQ37kTi8NvHcfrcddx/nID0XBa4Eg00Ne1oareizzoNx/gKxme3ML1InGd9eslj+xPFdo1tdoRHZ+Ds+Ru4cuMR7j2KR2RcJpIzipBbyAGdLYFAUgFFhQ5qXR1q65vR1tEHi20U9pFpDDmm0W+dRFvPCKTKFjBF9QTk3Gfa86nzJgrLlaoK2Q15KQF5Br8KxexK5JdIkZXHQmpGARKT0hEbF4+oqEhERDxBRPhjREY8QUx0hBv6ycjLzUZJSTF4PA6kEjG4HDbSUlMQFRXhzYvHxSUiMSkdqRmFyMrjIK9E5oU4cYYxIidOLmrzh/dexWdUCno3gAc+juI+6cHBTVWtHjhZknLgVWCLWYh2s9DFbAdX3ru3mx2wPuhZlDgVyMv8IR6cF7cHWOpNXkudrMY9UcLfW5n71LgahezKZRpXVccQam/zSnV/X1ZW9s0ZBuNZbFFNegm/GgxRLZhiD9QNYEvrwJHVg69ohKSyFeX6Hmjqh6BvdEDX4IDKYEVF1SAU2j5K5U6l3gNVfJBdHwr4VEEF/r1cAL+NQKvf5X5rAEJtFshvaC/M3X+/59+DrMz9YR4McakX4AePYOCTFT1h6/vg3kF6zcTf5akRIE4U47aBRZ4zwNWAxtOjiK1GXkk5MgskbqVehLCIVNy4/QTnvryK4x99ijcOv42fv/AifvijH+PFl17F+8fPICwiA7k0BbiSasgrm6Ex9KKhzYEu8xQsI8sYnd7C5ILvnOiTC4BzcgMdfS4UlMgQl1yIQoYM0nIDahv70WuZwsjkuvec6pMLROW7dXQV6up2fPjR53j10Ls4/cV1hEWkILdIAJGiGlX13WjtcWLQOYvRqTVMLWxjdhmYWyF+79QCceIY29gq9HW9uHz9EU6dvYJL1x7i7sNYRMSmIym9ENkFLBQzReAISiGWqaAo7neKWQAAIABJREFU16FCVQ1tFWHFN7X1w9jSD52hE1ypAUxRnVu1Gr1A9yh0MsyDT2zhHz64ewDfCLbECKbIQCh5thL5NCmy87lIzypGcmo24hNTEBsXj+joaERFRSEqKhKRkRGIjIx058Q9SjwdqRkFBMRpBMRLSBBniup8GxOSdR4a2vu0wAOhutfj9vq5fYCcrL73zIlTDZz6qmx0qo6aAwB8Vwt9nwp8LxUeCuKBxW0yNZEXV7rnqOsa7dAah7yWOldeB2aApR4E8j3VuA7FXA2K2KqtIrbKRuNqCnnCqkNyuel/f95Mfa6LIzbEl/CrwRDWeIHOEhvAkrjBLqkDR1oPrtwIQVkTZKo2KGv6oGuwQt/kgNZoh8pgRXmVeVe4i7wqdXd7ngz4wGNK+O8nKODvbSnb72Yg1AbB7znIFrvPaqfKmYeCeSDIZepeyNR9B4q9Qe9v0XtfFxnupW3gU4CdUOwG0PnVKOZokc9QIqtIjtQcAeLTGIiIy8X9R4m4ejMMZ7+4gg9PfIo3Dh/Bz37+In74wx/j6LsnEBVfgAJGGbiSGqJIrr6fmNtumYHDtYqJOQKu86vEOdEn5ndgG1tFbaMZkXE5CI/JRH6JBOUaE1p7hmEbW8bE/DZmlgiVPTG/g+HJDZjtCyhmKfDiLw7j1UPv4NzF24hKyAGNrYC8sh4GUz+6BkZhG52Ha3YdM4s7mF9x/173ZmJkahNmxyLYQjVOnDyPk6cv4cLV+7jzIAbhMWlITM1HZi4DBTQeStgSsPkK8ETl4IsrIJRWQijTgCtWo5hdhgJmpZ+q9QCRLWkAhwx1ORXQA76USR0XgYDnyJoC/r9q3ZCvRAFdgdwiAbLyWEjPKkJKei6S03KQkp6L9KxiZBcQdnoxW4USnh4MQQ2YQvdGJMhdCK4D2LUSnCJHTZWT/qrDX2XvdVazpmBgHwje1NMqdy1i20drGZW1/rQqfNfU4T7y4YEV6uS8eEX1INT1Nq+lXlnbD7mmnahSl9SCIaxygzwA4gHHe6pxlmqhmKPWMgW6iwJ53V+bTKbfed4s/VexOJKacH+F7gkC6l6wS+vAkdaBK6sHT9EAUbkJpdpOqAxmtyXvhKbeXUynH4Bc0wepqpsEdzfgqRR8CCVPeVsQ1MmT1gItb/JlCEW/n81AqDRAWfAb3K/wrdz99/rZ7D6L3QfybkgDYO4Hck0f5Jr+PUOmIR4bEvRqMuCJ3+cBPAH5Lh/gvZuvNghKWwm4K5p9dq+43l2hrUchS+224CVIyuQgNpmGJ9FZuPswDleuP8CZzy/h/Q8/wWuvv4Gf//wlnPzsIuJT6N6RsWWaNtQ0DqK1dwyDzgWMzWwS50dfI2JmCRib3kS/bQ50bgUuXH2AyLhscMUaGExm9NtmMDa9gZklt8JeIvLp9vE1dPS5cOdBLH7wT/+Cw0c+xLXbEUjOoIMtVKFCa0JDqxk9g2Owj87BNbOGuaVtLKwCC26ou+a2YR9fRXPXCK7djsBb73yEj09dwPnLd3HrfhQeR6UgNimHGESTx0ReERcFJQIU0PjIyucgOZOOmORCRCUWIodW5puIJqgFU2jwQpIK6n4FTftu0wyw6Mm5eKlPybNEdWAIa0Dn60HjalDC1YDOrwJTWOt2ETyvyxgM7xBQDgYl1THVGFSqvHSgzR16iAt1xXmo591H8dqeQ1722VYWCOkDgDu4sG0XYFMp8RCV6U8F8YDvW6FncltlNxSavoC8uA3qOjNKdZ3BljoFyPcGOik3zlZvFrNV/XSuOoMn0r8o1un+4Hnz81/d4kkMd+kehS4iwTwQ6OQgwZ1f6rbkq9yWfJPDr5iuTDcAuaaXaIVzw10cAHdh+S6QDwX7fcKfbCdTwZ3sDARuFkI5AlSPCyyACwQ62WKXKLsgUQaqcjLMCQDLA0Gu7YdCO+AXcu0A5Nr+oMeFBH4Q6AMg7wW8e+Ph+b/ygzsBdk9FNpFb1yCPXoGsQkKtJ6QxEZVQgLCINNy8G4UvL93GJ59+jsNvvYNfvnIIp89dR3wqA4XMcgjkBij1HahvsaJ7cBLOiRVMLxJgXVwD5leAyfltWEeXUNPQj4tXH+L85XvIKRKiUt+Ktt4R2MeXMLWwjbkVAurTi8Do9CYGnYtQVDbipz9/BT/4p3/B8U++wMPwZGTmc8GXaqGqakZj6wB6zCOwjczANb2CuaUtLKwSv3dqYRsjk2vos80hLZuFn790CG8c+RDHP/kC5y7cwrXbT3D/UTyeRKciOoGYMpeQWoDohBw8jEjF7YcJRCvfo1Sk5giQR69AIVvtBTtD6LPhPVDnypr8bfc9vpB53qACvf/gEH+r3qPmA9Vyox8sKYG9D/BRqtu9rOtAVfws4X2eJurXs4d1Tp7OFnqW+j6t8z0mte3WVrZvG50S4vvIi4dIK/p9v3ny4u6ToZDz4vpGG7T1Q6io6oFE2QyevA4scU3I3HhIqIdS45zKaRpHXcYUak8LfxOGv3ydiyetPU/j6eErjAsG+l5g58jqwZMbISxrgkzd7rXkq5qIfLu6zuoupiPgTlbu4goP4EmQrwiw6KnAHup4F0W/2/VQG4G9npdyY0GhzsXKTh/Mg1R5D0mV9wbBXEEBcoV2AAqdGQodxe0hQq7dBfYkwBOQd78uj4vghTsBdr6iBVy5yZ1fr0MJvxpFHKK1Lbu4FOl5YiRlchDjVut3Hsbh0tX7OPnZFzj81jv4xS9fx7kLt5GYzkIxSwlxeQO0hh40dzkx6JiDa2Ydc8s7WPSCdQuO8SW0dDnx4EkS3nrnI0TG5YAvq0JtUz96LRMYnVzFzBJhm88uAa7ZLdhGl9DcNYzPPr+CP/+Lv8RPX3gVZ8/fQkRcNnKLhOBLtajUm1Bv6kVHrx2DNhdGXPOYXVjH3NIWpubWMOxaRJ9lCmyBCj/56Yv48U9exCuH3sG7H5zCJ6cv4dzF27h0/SGu3XqC63cicOXmE3x55SHOfHkHJ89cxakzV3Dp+iOERWYiNYeP3JJyFLIIqNMFNbsDXdHs/WIO9QVMWcjpB/jW4C/+QLD4TR3bv7VMpViprh+kdWu33xly07Df5znAYwP/xpBA3ye4yQAPhnao4/0VsgVb6ruAnOK9syvESXlxb794o8dS74Nc3Qa+wgi2pNYLcSpbfW+Yk/rGWeqNYo6qk8HXxvDkuh/+xgx/+bqXQFb7tyVcraqYq1stEVSBIarxWe9UEKcEu8ELdq6sHnxFA0QVhCWvdlvyVU1OaD3FdO5KeQLuPRRw7wiCuw/wHd5Cs5BqPhTgD3r7nkCneA4qZU5W5x6Yu9WwP8z7IN8F5qU68zOFQjcQcgPgD3oquHtseeL/R1jWBn5pC3hyE2HBi+pBF9SAxtWjgKlyW/BSJGfxEJtSgicx2bgbFo9LV+/h5KlzOPzmUbx26C1cvPoIieksMPgayFUm1DQOoKN/DLbReUzOrWN+eRtzS1uYnF2DY2webT1OxKcW4X/+6AVcuPIAeTQxSlWNaGwbgtk2ifHpFcwtb2NuaRuu6VVYnDMwddjwKDIV3/ven+G//tXf4PXDx3DxWhiiEnKRWywEV6xCmboeVXXtaGztR2evFRb7GIZHp2BzutA74ER9cz/o3Aq89/7H+MUvX8MvXnkdr75+BIePfICjx07i2PHT+OCjs3j/+Bm8c+wk3jr6IQ4dPorDbx7FBx9+gs/PX8fdsEQkZrCQXSRHAbMSNK7eW2TmsbYJoLvz6Irg8wJ4OioCx2by/Qo9fdepOjNCWfbkHG0w6KmOSZuAwNywOzgBP+tf9R18CtD9Wty7AT7weQ9mm/v/jf6v/1dUyBZKiT9tZfo+AO6z06nz4pp6wlLXN9qgrhtAqbbDZ6mLSRAX7h/iBMiJIje3Gt8pYqvHaTyVkC3UHxeWGf/4N274y69iidQNf8iT6N6mC7QCGk87VcLX7zCE1b4iuVAKnSI4JNXOlRshKG2E1GPJG4dQ1eQgFdNZ3MV0/W5wBCv33QHf7gf5fUdQ4douDsB+LH/S6/DBvMNPmRMwp1LnPmVOgLwvWJXrAmCuH0QZKUpJl77YL+TNu8C9zw/uxObLo9aJf3NBaau7cK4JbLHRO+LUZ8HLvAVzkXF5uP84EVeuP8Snp8/jzSPv4tDho7hw5SHScvhgi/Qo17aivmUQPeYxOMfmMDW7gsmZJThGptAzYIfe0IaIuCz89d98H68eehcRsTmgcytQoSPy4b2Do3COTsE+PIGefjvqmrohKavB3bB4/M3/87f40z/9U/y3v//vOPreSVy5+QSR8TnIKuCBwSuHWKFHhcYIXU0zDMZ2GBs7UGtsg1rfCIFMh9RsDr68fB9nzl3DZ2cv4dPPvsAnn36Ojz45jRMff4YPT3yK9z/4CO8d+xDvvX8cx0+cxGdnzuPilTu4FxaH2OQiZOSLkEcvRzFHCzq/GkyRAWyxERwSzHlumHtnY1N0U+xa7xHUtXEAwAcAZ9/KMxTkqPLJVMVh3tt2qwqnyFFTbS4CNhCcoNtDbUxCPG+ov3eXfDi5nuHAxWvP0hO+q5VOdUrSNn+Ie/rFq315cb2nSr2qm9JSfxY1Xuwe/kLjqJqYfM1DgVT3//1GD3/5VS653PR7PLn+n5lCXTSdp+so4enXCSu+Zv+KXUpS7NI6cGR14MrqSJZ8G5Q1vdA1WAi4Nzq8xXS+SvkAuCt9tnxg/p0q/OAaAvjBCj/YBdhv+LelBStzCclql3rU+S42OwHzfrcq94d5WQDM9wov4N0bgd1BH6jgA8HeS7LhPdMDPe1uJLUurgdD4CmYU3l71n3tbWm4fusxTn9+EW+/cwyvH3oLl68/cveo61CubUadqQ+dvTYMDDrQ1TMIY1MHylU1KGKIcfHqA3zve3+Gv/qbv8OnZ64iNrkQxaxSSMtroaluRnVdC9S6ekhKdaCxZEjOZOLs+Zv4x3/6Z/zd97+P//qXf4l/+MH/xNFjn+LLKw/wMCLFfUIXPkrYcnBFSgikKvAllWDxy1BAFyMlm43H0Vm4dT8Od8OScP9xCh48ScXD8DQ8DE9FWEQqwsJT8DA8BWERqXgSnYGo+FzEpRQjJYuDrAIJ8ujlKGKriepxYS1Y4np/m52kyvmlLcFqikJRkQtCQwXfD+yh7Xo/a55KJZKKtL7yeEpw7pqvDgXlZ+j1Dsx7B9ro+24h26d9vq9cONXEzEB4B7x3QuXFK2uJOep6j6Ve0weZqtVtqftDnPHUalyDQrZqu5hd6Szhqhk8oe5tqdr4HwH85g9/eR4rLCzst+Tyuv+bI6o6wRDq+SV8vYsuqNpheMFeSw1yEtCDwO6Bu9xnySu0HVAZBqBvtHnhrq63QVk7hDK9rw1OqnKrQhLcQ6p3Mux3A38FFcCpNwDBBXsdQRsBv+K+ig43zMl5864AmPf4lLkX5h6gk5X5AEr1ZpTpSTCvIqK8aghl3hj0j10hb/Y7DmnPU4GdZMNLKrsgUXb61HqZr2CO486tk9vbsovkSMsRID6VjvCYLNy+H4XzF67jgw8/xnvHjuP+42RkFgjBFKggV9ZDW22CRm+EvEwLFk+OjFwGHkWl4a2jJ/An3/se/tMf/RH+8Z//Becu3EV4bDYy8rgoZspAY0mRlc9BXEohHkVl4OrtKBw6/B5+8tMX8ON/+Qn+4Qc/wPe//3380//4EY688zHOfHET1+9E4VFkGmKTC5CSRUd6DhPJGTTEJOXjcUwW7j5KxsVrj3DrfjzCY3MRk0RDQhoTyVk8pOUKkZEvQVahDNnFCuTQypBHr0ABU4UijhYlvCowBDVgCH32OkfagMBcOVmNUytx0owDP5i3h7gvWLlTqnUK5b6/ivrg2C1fHCp/fBCIfi2biaeCOdk2P+CJTvbIf1Pb6AGpl91qKUK8f7zfZW6IB/aLE91KZEu90a9K3QNxTxwE5N5KdY56sZijqmXw1TdECt3f8Xjd//Z58+4btXQ63f8ilOn/gS3U36EL9I0lfP0yXVhFqPZAsEupwwd1A0m1E4V0gtJGSJTNKNN1QV1nhr7Jhqomp7eYTlkzhDL9ABSaPu90OgIknvYvf8BTFtiFAj5FdX0QnINOphKs8P1t9g6Kina3Olf5gC4jA90N82Bl/v+3d+ZxklXl3R8UxRg1Ma8xi69JTPRNNGbTGDWKJEhcQkBE3BFRBBEBRQZF8YVBDaAfRERBMcBMd+23btWtfbu36q61V2+z9Mz03jPDazQaV6IgzPP+cbdzzj331q2ewWE5v8/n+XR1VXV3VdPM9/5+z3POWbJcOQ7zqro6tipIVdVV62tXx4LeC3gS7K5bdy62nDbJbsuxo5PwPWcS/r64BN+ZNpe33X5XAr58272w40u3w/bP3AAfueQy+MhHr4Drv/h1+Oo3I/AfUwJEU2XYGcnAHXdNwZe+/E34zOdvgYs++il4xd+/Bl784hfDS17yEnjRn/4pvP4Nb4QPXnQlfOoz/w7X3fg1+PwXbodPX/dluPLqG+HDH70azjz7XXDqaWfAW/71bXDW286DM//tbXDGGW+C173udXDqqafBmWefB++74GNw8WWfhiuuvgG2f/Ym+PR1t8DVn70JPrH9C3Dp5dfCBR++DD508ZWw/bM3wc1fvRe+dlcS7rxHgLunynBvtAE7E02Y4hRk85W25cB7bl+8MHSduAUCDOKU1RTUAVBa+4i6siPAvftspkSL4wMBH7YHTHH44wbBxoMVh2iqOFmCQP4cEsw0iGPA9ksyJnDetD64B+ZjdrX02x8D/Xuxh9vy1mEoNX0FJKQv3uyuQFXdC7n6yIrUNYhl1WMAuevGdybFh3cmxNUIJ92dFJS31mqd3znRXGPatu2kbL39/GRePTeWlqPTvLw+nVYfiWY0iAvGWKi7cMdde6rQhVSxC1ypB3xlAPnGLNTURWj1VkEd2sN0m84wHQZ30YX7xA6eBDsJeaJX7xftY/1y6vI0b9TuxuwTwlyhwFxbhaq2ZpX1eSjgh3fzXrj7g9117PNWf30EqcIAEk4ML8O9sQbcPVWCO/8jC1+7MwY333o3XHfDLXD5lVfDxz5+FVx1zY3wuRu+Cjv+/evwuRu+Ap/YfgNcfNk18J7zL4HXv+F0eOnL/hJe8cq/h9e+9h/hla98Jbz85S+HV73qNfCmt7wNzjnvA3Duuy6Et537fnjzW8+BU99wOrzu9afBG//lrfD2894PH7jwUvjghz8OF1z4UXjv+y+Ec897F/zbWWfDv511DrztnHfCuee9H8579wVw3rs/CO945/nwtre/C84+5x3wrvecD5d87Cr4/I23wVe/EYU77xHgO9NV2BmXYDqtmr3wXNdy3gOsD847mxjNYX1xvozvMOgFN/10vuDyzn74OfmJ3DsSyY8FfBh3T3uuDcyg53sg7O+UAy8cSvTv6/f9Pe/vGMBN+x1St5QOgHlglI7E6ehwW1VbBhHpi8v9NWjo+6EgzkK61HWm1HGQ4zAny9eNJ5uwMyn+aFdSlGJ88/JsWf8/siyffKIhxkTRaDR6WrbUfWkyq3wqklaaEU7+WYQf79pdl05E8Zhr70K61INMFe23r4M2OmzCvbcJjfYasgzOhbvj3mmQxza3CQt8n8erxEckGbB/Fro8DXXnNGeOAt2GOQlyjzNHQF5DquqpVbwCAe8HetS5L1HBXmzaYLdSFOf43Xngy7OWY7fAnjFgirP669MVuPOeLNz2zSh86ZZvwqc/uwMuu/wquOiSK+CCD10G7/vAxfDO93wQzj7nnfCmN78V/vmfT4c3v+VMePs73gPnvet8OPe898BZZ50DZ5zxJnjDG06D17/+VKfecNo/wRn/8mY46+xz4b3v/zB89OPXwCe33+g48E9fdzNsv/aL8Mnt/xc+fuU1cPGlV8CFH74Ezr/gQ/C+8z8I7//AhXDhhy6BSy+7CrZfuwO+dMudcPtdCfj2ziLcFxdhmjNBnsz1gCsOIV2aAb48C5nKHGSq85BF/lG1//4y1QVPDEo/Utfn75BIg/yTJDdB4it+cPe6dnSCPiia54goGO3zjusDH7cKgmvQwJmfo6alC8cD1rQY3afvPc6J0+J00oljw22qe764Gamvg9Q+COXWAmQqZqRuunEU5P4Ap4Nchum0s/nLQ1MJcXE61fxaWpD/qVLpPedE84ppAgmy/NvpovqmGC9/azotL0fS6oOYa/c4cwrMiUqhcC/3QaiNoNzaDWL7ICiDDdBGh82d6axjXt1lcAjcRTSa3+MtLJ6nwd0Lf/oFwB6kX47CfK8H5nkfmNuDcKgzxwbgkJ55VVvFAB6mqh7gT+jig8AuLzkXI9ThOWsi3lm/jg3PdSDC67Ar2YJ7rR77Hd9OwZdv+w+4/gu3wjXX7oBPXHUtXP6Ja+DyK6+BK6/6LFx1zfVw9bVfhGs+Z0H5czfB9mu/CJ+4+vNw2RXb4eJLr4SLLr4MLrr44/DRj30SrvjktXD1Z26E63bcCjfefBfcdOu98OXbp+DWO6Lw1W/G4bY7E3DbnQn46jdicOsd0/CV23fBLbfdC7fcdg98+Wv3wa13TMHtdyXgrntzcE+0BlMpGaIZAxK5LqQKA0iXRpCpzEG2ugBCfTfk6nsg19gD+cZe5+/QXfaHHkNMJjy7Ad1RMHx5LzZ9nTuxYiNMLI8vh6P326mQomwvSgN8Grkd9NxHpY7RZfvB3NkzgLI3wKQADxWnWxPq6HAb2RdvdZexSN0ecPOL1cfD3N5TvQk7kxLsSkj/NZ2UComMfJFQlf+ELTd7nEuW5ZML9f6LOEG7MJqWS9Np+Qe2a0/kXLgnJ4G7NSGfKppw58t9yDVmoKLshWZ3GdThJmijw87OdPakfFk+6I3l0aLF85RePDpZTwO64IH5XgTmeNSOOXOKO3dhjkftVdSZ02Cuo7VufkTvD4B81bkd7OAncez0OB5f7mbuGW/BHdl1Lp7tQJTXYSolO+79W/cV4K57c3DnvTm48x6zvvGdLNxxN29VBu64m4evfzsNt38rCV+7Mw63fTMGt90Zh9vvSsDXv20Nrd2bg2/tdAfW7ok24L64BDsTLdiVlGFXSoaplAxTnAJTnALTnAqRtHksaCzThkSuB6mC5cJtgNdsgJvwLkiLUGzuRwpNL/A9Fzx7+3v2+vemPrTH8AsB/zkR6sAntefu32unHV3sC3kyMiZh5rPUiiNg6HG2FPd7vC8A/L6f9yIlYF/0kNAmL5Z8z4vwidPx4bYVZ6mZOtwEubcKdX3RjdTzBsWNbwXkLbs3/suppDQfTUs3ZQrGa4rF0TNPNIeYHgUVi6NnpnPKqfGMclOEl4fTvPxL0rV7wU6J4gsI1Atuvz1d6kGmMoCCOAc1bRHk/ipoo0PIMJ257ay9xt2Ng4lY3gP5vV7IB7h7/H4KyLG+eVDUjsPcmUJXbaCbUA+CeV1fd6pG3HbLH/QY3FUv3MdH8eSyN++SN3QHOnd7WWRrWWugji/PAldyjwlN5HqQELrmQSPZNkR4HaY5DaY41dwXPa1bhd7WIcLrEOENp+xtVmNZc1gtgfW7R5AuzbhVngW+bPa/M1Y0LtT2WINF+5z/nja4Sy37wswsdybiIHZx4+6bj8Pa+dvDjtP1K3rKlPVAHo/pA/vuHvc+74U8AphJgBUK/uT9CNCp7tbnYsAPzuT3GndREKY9EAjvrQy0+WwzTQ7f2heQ5qYvbl9cHW6CMlizIvV5yFT6kCQgHsuE749HMwpEPb1x6ejOpPjdaU5KJnLyu/MN4w+ZG3+SCABOKpcHv58qqO+K8XIykpb/XyStPuL02vMk3H0cewEv0rULtRGUmgsgGgdAGaw7cLdPgqvZk/KtAx6424XtX07E516o7/UuS8OWpuExOwp0Wt8cXW9eUUh3TonaCYCHrRoGeeLCAIP7GLfuGZ4zXzMKdnI63oWbd8MabKtZtF3S2ANC3Yzrs9V5ay/5WbA3skF3VHOGzZyaAftAGXzHNRzS6BJD223TypmBkEiAL/kWBvQmvjkP/ncWBuL+cA8Xy4cBPH163u8chMBJ+XEgP9bHaYD3uwgIgD+tXeD39dTnb+FChnrgEwXgKMSx4TZ1GRp2X3y4CerQjtT3QK4+dCJ1e1LdBnns2Nz4A1NJsRdLNz+fKWqveFKeNc7kSpblZ/BV7a/jgvLZKC8b07zyU9O169YOc8EuPVnwce1Fd5COr/StJXB7QOosgTq0+u3DQ2a/HZ2UbxGDXAhIUMDjA3aU21RXjkM9GObkIJwfzK3yceVOGRvIbauocF8LdOxBYPeDOn3ZGwX0KOxlL/SxauIXYbkGco47tuaf4mDreKSNJine/zbkXAOlKP/N7H0CysoS8v4pQMfW77t/W8cGc+/7pTt2/3ge/T0Gnp0QYgObicF+vFx+0H1+j/u1A2hzAVssz1HNFboTD4S4Ndxmbvpi7qNubqW9AXJ/FRr6IhTEGUiXupDMExBHYD7J1LrdG78vIT6yKyluTqWa93F59exKRftdgG1s8xcmVwDbTiqV9Oemcuq/JjLK3dOcvB5Jyw/HspozIY+BvRBcKR+4ZyoDyIuzUFP3Qau3Atpo0xqms/rt1qS8CXcilscA7x/Re3vluCvP+/TNbXeHgUGhuXMC5hoKcwLoBgFwY8N7n69z3yLUfWJ41LXboKfdrhDvGZ/od8t8fMmKsg/gjp5ysYT2rfE64L2oov7+8aK5b89ziOfZw4K0lkOOvGCkwJ32tzYe6l7Xbl/IBA7TEZswBe6UWHEn56lAR5075fYkEHy8FPl6sWn0oDid3GnSry/eXQd5gEbqB6DUNCP1VMGM1INAHhsDctyNS7Ar0fjJVEpU4nzrU7mc9jJ21jhTKMmyfDJflP8imVM/GuOVciSt/Hc0o1qu3cBce2oczClg50pdSJd7kK0OoSjNQ0PfD8pgDfSZQ+YwXd/cmc6elCedO+nendtEVD8+ZqfDnO7ppxLWAAAgAElEQVTOl4m+OQp1H2dukLUBDWPDgvpGKLjXfMHuPzAXbnc6CrRVEtr4cjz3fZplvqZVB+7YEB4GZFoLgBaHU5IQjbx4st8zkkAExOukK/cu6cMPufGDurfcVtCkUKclFaEm5WtkJE+H+1jH7gd8Wmzvd59z+Iw/QE8UxD2xeQC8UYBjbpwC8Zq2Yi41629Ye3GsQ6u7BFVlDwi1AXDFthOpx0mIYzBXAl056sZ3JaVf7UqKS+yscabjonzeeHa6ZJwa4+Xbo2lldyQt/8Jx7WQUPw7ofpF8uQ9CfQRleTdInYOgDjdAnznsnAQndYLhji6Jo5f1vIAoFx+eojg+EnIozDV/Z96wII5W3ee+UFF8qJ46Dudxm9SgMMfep0aCnHxdBNQRyOLL+QggW6/RgTLh/O0LJvICAv957oUECnUH3Gi0jlyskc7cOxA4Se0NvAgIFcVTBjuzmHsP3nfBz62jUM9MCvhJwY+4fBTytF7+OKdvf73fHAB2OySw/SbSyd0lUYh7++KboA4PWZH6CtS1fVak3oGkDXGBBnAF+xyHOLnTm+vGdyYbP5zmxGpSaF0iVNp/xs4aZzqu2rFjx1PyDeMPuZz6vlhG4abTre9FM+pRe/kbvn3sZOW4djuSb8xAVd0Lre6yE8nbw3TOpDwB96KEA55eaMzu3Q2OhLkDdBI4vlG7C72GD8zHlQP2IKDrYZz6ir9T9wM8BazkkjwcrMhrGPM7cr6OALq3aBdK6NeTFxDIFD9lip1WeNyPtmImBbof5L0VutdOdfD+UA91aBH1iOHjAHg/yPvBnnDOGPgDkgHPc7ZQtO150fMdctZwW7G5Hyoq2Rc3I3WxvR9KzTnIVHqQKhiQsCJ1XzeeVSGWVTwOHR2Ci/AKRGw3nhIfnEqKe6K89JV0TjmVnTXO9GtRpVI5JVNQXpXMqtdF0nJvmlce8Lj2Sdx6oQOpogV2C+68E8nPQR1ZAoduXiNae8pX1WWk5473aW3Y4+uQ93tidntZE7UXiwAHd5uU3rnhwtzPoYcD+4QuHYM60ucmnfo4x+5x6mOcNsVxe6GOfg3+2lyXTfxMyteiX486c9eJ0yFeQC7eHFcu4TMV5DR/XlyEHJLy5GzYk7dDuXcc7ONBTyzF9CyF83PrAa7dA/njBPRH84IgJKh9H/OJ0u2ylzqaw23evrgbqe/2Ruq03jgJb8p9FDd+dFdC/N4018wkMsoHcnX1hWy5GdMJEQCclK23n8/ltTNjvLwzyssb9vI3x7VvwbE7cC+5U/JCbQil1gKI7QOgDtedfrsyMCflxbYX7o57twFuQxy93XLXJ9tAJwerqgFAr5Pu3AG6f+TuVHsM0ENBHekra7hDJwuHOWXojQJ1r2unl/u9keG7oOcGDLuRv3NyEA+bWJfNSB2Fd0Hab36k3UbSGjrQJy13SBNt84wHvc9+C41g5x7mgKNQQLeg7l0Gd/yAeryLnOzHUgdyr3wKwO2Lo7y4DwpNty+ObvriRup7odCwIvW8Domc5h+rewBOh3g0o8B0ugVTqSbsTEi/2JWSRrGM9AWuqP0DO2uc6TGlu+8ePS1bUl+ayMrbYxmlEeHlH8XsQTpkgG4SqJtg71i9dtO1O5G8sgea3SXQRla/3RqmsyflUbjTNhXBB+BQmPsMwiHQ9AW6gfbOcbfuAJwGccr9aA/ed1kbLXYPcOk0WPsPyxHT8aoLadxZb73MobklfLCN9jznI2UtOQ3mY2sxwKEHVAhXj7n5Y4jocQcfvIlSUG89tGOnHB7j2d/egjf68XgC3e970U634ynwdrbsJU9ZRIbbSrJ1GIrVF1eGm6CNNkEdrHoj9ZxmxeoqxLPqmGgdhzqtN74zKT6yKyUdmU5J0YR11vi2bWy5GdNjXLIsP4srqKfHs/LtUV5eivDqQ7Gshrj2kHB3gO6CHYV7tjqAgjgLNW0vyNYSOHuYzoa77dztgToTCCbAKwrZLydhjgKddOernoEt1J2bYKbAvE0BOXkf6dINyiAaBei0obNAsJPT7luENLk0zFNKwGMTFHkhRsbqYUDu9MzDQB15LnYREOqCwDucSR4KNAnUc4Gu3cetE4fJhAb7BK7eU4Tbp10UBF5IVBf8nxfChWMbEtkQt4fbjDWrL37IhPhwHZqdg1CRF5xIPelA3AV5OIhb7twBuQnxKa4JuxKNn0+lRCOeaX06V1b/ip01zvS4FMdxTy0U1Bel8tr5MV7ORXjle9GMetR07cZ4sBdJp47D3Qa7E8k356FhLIIyWAV95hA+KY8495q2Yrl3tNCJdiLypcCcHNZyB+FIqFPgTStqDE9Z+kaFOm2K3MepBy5f26LLPp6wls2yL7y8icoBq5VCwDwQ6IuAx+0IlInPCz73FbDbdJcf7PyDAR8Yx1N77kGb1vgD/rhAPazb9xwX69/b9oO1X3kgXsch7hyGYriHoZgDthsg95atSH0EPBKpk258Ekduu3K3Ny4+PJVqrEXTze9wee1MdtY40xNKxeLomZlC+1XxjHJTjJeH9vI327WnULgXKR/HgN2N5PuQq4+gIu8GqXMAtOE66DOHQZs5DAoV7i7g3QqAuU5x5h53vgWg+8XxSHyPunTapLm3l05x5x4X7g91avw9DsqUlQLoY57y24mOAnLqJjUekHtXNZAQxoBMfV7QRQHtc3w1hQP3EO59Usc+bjJ+bI/dXqJVdffpf6wXGaGjAEeXmbknmqF98UNupG4sQqk5C5lKF1IFA5I5vDdOwnw82Ak3npJgZ0r88TQnNRJZ+ePsrHGmJ4NOyku93+Ny2nnxrLorkm4difDqI3FBhyTp2gmI04GOVMmGew+J5Gegpu6BVm8Z9JlNMGYPO5Py9jI4sb0ODcN173ihrtwueu/cF+bGBogUeItt+v1euHsdepBLp0Hd0zsPGa87cTnRw3bLhbgH1H7AHgvyA2NBTt9xzh/M+XEAb+73DtKNjfDpvflwYCfcum/f3W93uoC17OOi+HGg95wId3ygHBreFIAHQdwcbrP64gjEteEatLp2pN43I3XSjdsQR27bwPYHOuLGzWNKH9qVFPfH+ObtXEE9nZ01zvSkFMdxT8+V1b9K5NTtUb5lRHn5x7hrx516KKhbhbp2vtwDoTaAojQLDX2fFcmb/XZ/uK8hAKdB3CyvK6dMthPwFikw98Cd5tAnid0nculhgB7gzMM6bt/HkY1fWgfcah7Aht7CwTzIadPcO20Sfr/r/mk/yzfi998DYfxwnTeOD9zimDyJ8HjCfQz4yb48+djYiJwC7KAYnYR4oekOtzXaVl98aEfq62akru6BfGMI6VIHUjbEcwjEBdXryonhtzgZq1tuPGK68aNTKfEH0yn7rPHun7DNX5iYtm3bBtvMfeSzBfX0WKZ1V5SXl6K8/LCfaw8DdGeIrkSL5IdQbs2D1N4P6nANDLvfbp3h3uptgmQN1DUswLuQX7M+p4HcKhTKFIjTyh/q+Pd2ob5Gceo0l+4zGDcG6uSBJv41SWyO98FLFrj9bvvG6xO7aB/AI9CmnZVeJB6nOvmxP5fWg/cBfaB7DxiYawS7dgyQxwvsJJwpzpoG6XFFAtyBuDXc5mz64vTFD4E+2gB1sAKisQ+K0gwSqWteNx4EdKort914C6bNzV9+OZ2S5uNp6SauqLy2Xl/4zRP97ycT02NWHMc9lS+qL0lk5UtjGVmI8PIPYlkV4jkdc+3hoe7j2is9yFb71hK43dDqLoE+2gBj9rA7KT84DK3eIWh2bfe+YQGeBDhefm58kvKDOhm7e/vp/lD3HK4SAPXj4sgDYvQS6sRDwBzfJGYrcTgd4u7tMSe6ecCPv45AR0/t6Xth77r3cQN0fnB3QRi8texuB+zHHfATwjvQidsQV5agrq9ifXHditSbnQNQkeetSN1wI/WcBokgiAfA3B1ysyfVpaO7UtJ3I+lmKi4o72VnjTMxbUGdTuc30iX1H+NZ9eZoRt4T4ZVfxAUzkneG6CYFe8kFe7rsunY7kq9re0HuI/32mSNUuNuAFx2Ae4F+LBUIdArUSYc+zqWH2eBl7GT6GKgXWwcon6PHngZF6/5gpbr1cQBHPg91JGvgz/e+Hs9Fhuc1BgMdn5AnDh2iAT7AtY9z7I9qJD+BA/d34ubObe5hKOamL26kvgQ1dTfkGwPgrUjdceO5EBD3ATvqxq2tWB+YSondOC9fx+fVv5Nl+Rkn+t9EJqbHvex95NN5/Z3xrJKK8PKRWEY9mnBce3ui3joGdce1W3CvupG8aCyCOlgFY/aQNUx3BBRrjbsD9+4mSJ1NEDvHDnE60L2JgHsUK23i3Qt02l7rwe48OG4PP62Ou2/SkU8Gcq9TLvjBVKIBnBarUy4uJn49+NI5j4P3fW3epXT+vXYfqIeaiA8PdT/ACzW6qyajfIGANt1924VDvNjcD2UU4r1NZ6kZLVLnCqYbTyJu3K5JQE668V1J8ZGplLgZSUu7UoJ8jnnWOLDNX5iYHg1VKpVTskX9bxI55XOxjNKJWPvIO649JNBxx24X2ms3p+TzjRFU5AVodg6ANlq34H7EGaaT+4c9cHcAj1Z7g7gfuQgIuBhwoN72c+rH2ks3191Tga6QIKfAfEzE7gtxGjzHwnQ/9hF1wBjYsRg9hCunXWz4FH3q3uvWSajTAR8iig8B9LFL3kL02R+tQuFNhbh8EB9uQ/ri2nAVmp39UGnNgVDtQbpoeNw4CfGwMbs95Oa6cemnEU6UE9nWVbmK9rK72VnjTEy/XlUq2u9yee3MREa5K8IrazFecQbpUoX2hL31ANduRfL2Eji5twT6jN1vPwIqCXcL8E0E8GiJWG2MBTvNrQcCXfeJ3jUa1L1AD4J6mKidBHmJ+Lh1VxwEdBfegQD3BTXtdeP3lYJeb8DyOr+++7gJeXKDm+AjgsOc4W7Xowlw78+zXx8GcXUZGsaqeRgK2hcfrYHcOwg1dQHy9QHwpTakCjruxnMuuBNEBYMcdeNNmEpJv5pKicsxvnlXWlDfxM4aZ2J6DEiW5ZOLxd5LkoL6iRgvi9GM/APTtet0sFuOnCuRDr0zBuzmIF2uPoRScxYa+l5QBitgzG5Ce44Cd8e9H8Lcuz/gA2AeBHWDBnW/nnq46N1/3Xk4oGP7rJNQb5IwDYBkaNdOQtTfjdP6+2EKHdzzvTgJAfRAyDcpMTy2pv14AH0v5IgI3M9dj4f3JBD3DreZkfo6qP1lEPW9UJRGZqRuu/G8140HFX3oDXfjU0npv6c5sZrIypcKlfafsc1fmJgeo5Jl+VmZiva6uCDfGuWVfRFeeYjm2sdBfLxrt6fkh1CRzSVw2nAN2nOHwJg74gzTKQNroK5/2HLu/nAnI3p/sOOHv3h66djtVcyx0+P3ZZ/ofcmtIKCPGYzz7aH7uV6/fnuYosX41IuIgAG+sevl3Y/U10h93WQP3xvHFykw9x2eOy5wp8GY5rbp0HZK3Iv9bBviJdlcZlbXV0DsrEOr7x6Gos/YkfoiVFqzbqReMCGOuXG0woJcUAk3Lj44nTLPGs/k1Tfk88azT/S/VUxMTOF1Uqbc/uOUoJ0fzyqpaEb+z2hGfcTPtQfDHI3lO8A7YHfhLtT6UBBHUFN3g9w9CMbMugl3a5jOgTvh3MneuwfuHrCvU5fOoS7dE7/rayH66X69dPqmMqF2hEOg5/3cP9Km9t7DDNEF9r79ltARFWopHuHSsfc07mJkjFNvkr31MXAfE8Nvyb2PgTjt+zsQbx3AJ9SRvrgxswm6HakrbqTOFXRI5TUE5D4QzxEfaUDPKhDLyJYbl47uSonfj3BSNp6VP8jOGmdiegJIluVnZIrdVySzyvVRXh5EMsoDcUGbwLX73UbB3jVde6UHudoAStIsNLS9oPSXwZjdgPbcYWeYTh0eAWVwxHHuQbG8fxTvBTsd6quUnjrtJDa/Xvr4Sfdwm8ugcTW91x40PBfYv6bAHD3EJfB1bWlNfTDg/dII87XvDw/2sI7dAmog0MVJgY4CfDzEzQl160Sz7gbIg01QR4esHRnXQR0sg6jvsSL1jhOppyyIe0AuBACd4spRN74rKf1iihOHUb51Y6agvIqdNc7E9MTUScXi6HnJvHpuPNO6L8ora7hrb1PATrp2SgxPgh2N5OtDKLfmQGovgjZcgTbSbzeXwR3BnLtfLE9z7PSeuh/U13z76H6xu9/yta0dsHIAg5+vE/eLrX1A7xfjh3bi2IXJEvZ+yn7vL+gUOOzCJeBCwzeO9+uvB0Xw+3DHLllFcel50XXZJKyDHLgJcBvii1BsBQy3zRwCY2YDtOEKNNuLUG7NglDteiL1ZE51yuPKA2J2F+SuG9+VEh/ZlRKPRNJinMuxs8aZmJ5UkmX55GxJfWlS0D4ZTctalFd+Qrr2YKfuLRTqmGuv9qwp+RFUlQVodQ+APlpzInlz21kT7rJnWv4QvtbdA/WQLp106CFcejnApU8C9XEDaOMATbpePyfsjfdDOnME7vZ2tmXagTMTXbwEF95CmGR4zh/qNtjHR/B7fW7TAV6QFqHQJIfbzBPNWr0NDOJmpH4Aaso85Ot9aqQeGuQUqNuxutMbTzZ+Ps1Jbfus8UqlcsqJ/reFiYnpBKpW6/xOuqj/U1xQvhrj5f1RXnnIhjtXbI8ZnMNBz6OFufYuMiU/gKI0A3VtDyg9s9/esSP5mSNYJC9TInkS7OQEvBfqtNh91TkedivDcZ4T1kIBju6agyBNc7fo1/hF+WMBThQJchLqZaTGb6wzHugY3Jv7Q4F9fARPceohe+wuwN3vYTvxkmxuv4r3xQ85fXFjZh3U/hI0tN1QFIeQKXeAK+qQKlgQzx8fiLu9cfHhaU50zhrPSv3/daL/DWFiYnqMieO4p5bL7T/mBPWSWFbORTPK9+JZFZJ5PcC142AnQR7s2s0p+XJzFkR9L6iDZWjPbrhwJ4fpkDXu5O50DcKt40vZfProFJfugJ0G9DC7xoWK3XHI+0XSNAfvdeVjIE4AvUxAnJwFIN8X7ajYrZ3rTrswofXXQ7r0plVheuySF9h2Dxy9EChaLtyZULeG2+xNX2RkuM2YWQdtsAySsRdKzRnIWpE65sYpjjwU0BGQm71x52CUH09zUjORbV2Zrxp/zpabMTExhRLX6fxGrqy/OpnTbozxymzU2kc+Zbt2n157GKDTXLtQG0ChMYKKPA/N9iLoo1XozB0y++2zbr8dH6QzJ+RxsBNQN+gDcg7QPevSl3366Uu+Tn1rsTTp3A8SkPZZGkY8P6wjR1MF2kVJmQJv+u2QcA/h3D199AnAbkfgYYAeWCjEW+ZwW1Wj9cU3rUh9FVrd/VCV5yBX67mRekFDYnU1VPnB3HHj6SZMc9KvpjhxfzTd+jpXUE8XxdFvneh/G5iYmB6/OinfMP6QL2jvSGSUWCyjHIpnlIfR5W8o1P0i93Bg74FQ7UOuNoCiOIKaugBy94AVyR+C9twRa/MadJDOdO1SwIlwLtTHO/VKANRpbp3mdCd37QcoQPdG8n4XAlRX7tsbH3cc7PjjYvHbB8cDHvs9HAAa3Lfu2Bex27ZzL1rlcfPo81vuMrOquuz2xfuboFg7txkzG2CM1kDpHYC6ugCFxgAy5TakizrFjY8HOBXm9oCb68aPTnHiDyKcVErm5I+ws8aZmJiOuyqVyinZUvelyax2TSyjqFFe/rm31z4ZzL1gJyL5+gBKzRlo6HtA7S+Zkfz8YRfuyJS8H9hxp75KOHV6/O4H9NBDchNNiG+lKECnOWRqdD6maO2FgONkcbi7sb6n5+47UzCuv2679/DDc17oL2IQR4fbRGwf9U2sLy7qe6AkjSBb6biR+hbcOB3kijupnm7CNCc+OMVJC1G+eXOWnTXOxMT061KppD+Xy2tnJgXljlhGORjLKr+yXTsax0/q2DMBcC80hlBpzYHU3gf6cAU6c5vQmUfXt9POcF/HwY721T1bw7pgD97nnb6DHNl73noUPwH8xwI8JMzJ90K2GALecxDYqc49BMipS+AQZ+0Ld/Kx1n4oIRA3h9usw1Cc9eKbVqS+DvpwGZrtfVBpzYBQ6wJfMoBD3LjryCcDOQZ0QYF4VoYo34JpTjo6xZlnjacE5b3FYucF29hyMyYmphOhHTt2PEWotP+ME9RLYhm5EcvK/xUXtKPkhPykQHcH6Aiw21Py4giqyjy0OvvBsPrtHWTzGtK1i50ND9i928J6++q0+H0c4MZGz5PG8z4xevDUOjmhHgDyMCX7v196JO/j0n3ftwVuOQjwrsM2az/lefh9ZfkgVFRzQp3aF5/dAGO0CnJ3P9SUOcjX+3ikbrlxDOR51Y3Zx4AddeS4G5f+J5ISB3Feuj5T1F7BzhpnYmJ6TCmfN57Nl/VXx7PqzVFenotllAcTOc3ZtMYEe2fyGB4DexeyZCQvzUBdXQCldwDaM2vQnT/kOSym1Tddu4i4dhrYSaiHWspGBd0xQH0CcPvBHIXpMYE8LOxDOPWxzj0A5mGqLJsALysmxKvaMtSNVacvrg43zfXisxtgzKyB2j8Iom4uNctWOpB23LgLcbRcmKNQRwBOW56GuPGplPjIFOeeNZ6tt58PzI0zMTE9lrVjx46n1GraH6QE+fx4Rk5Eefm7cUE9mszrY8GeIVx6hqyK17W7S+AG1hK4PaAOlqAztwHd+cMW3N1InnTtgWAP3HhmPOBIyB6P8vteXmgGxOohQF1BPprvmf445uB9++0hoW65dOdx27UjhX8PO0q3nbgJcdHa9MXpi89uQntmHfThEkjGHig3RyBUzUg9bUMcA7nqQJwKdNSJ572uHHXjU5z00wgnafGMfHWuor1sxM4aZ2JiejyqUqmcks93/i4lKJ+OZeRuNCP/PCFokCoYkLbhHhC7e0DuA3jUtefqfSiIQ6jIdr99GTpzG1a//bATyaOuHY3jg5a2hXLrATE0bXBsUpiTFwyh+uNjwI2WL7TDPIeM5p3bBMyVIOd+wPM7IquiEBDXV83hti6+Xrw9uw76aAXk7iJU5VnI13oIxHUqxO3bNrzHAt0Bue3GmzDNiQ9PpaSVaFr8VlpQ31Qq6c890f8vMjExMR0vnVQsjp7HF/WzEhl5ZywjL8czysNe197xgN0Bd6Bbt8Fuwl2o9iBnRfJFaQQ1ZR5anUUwRt5hOnuQTupumnG802enO/atx/Ao3Gnuddx9IcAdEuD45+TgXxDgvY/TnuefXoyP4mnwNwFu/pyqHafbE+rdDawv3p7dgPbMKqj9A9DQFqDY6EO2YvXFUTfuidZV5KOKuXQPzPN4rB7LtEw3nhJ/NM2JtURWvpQvqi9hm78wMTE9oSXL8snmIJ12eTyjNKK88pMEumlNqUON3P166kFgN127BffGAErSCOoa3m/v2JH86DDIg0PQ7CET8mgcP25gzm9oLjCKDgnpY3DgQUB3gUzC3Pu5n6NHn0e6eH/YI05dOejeR5QL8WXLiXshbkbqG9CeWQNtcNCK1IcgVDuYG+cKGtIfp8FbJe73d+Zub7wJUynpoWlO2hdJN2/jCtppeYOdNc7ExPQklCiOfiuTV/45mVNvjmfkvbGs8stEDnHtlmP3uPQxQMfB3rUm5JFIvjGAcnPG6rcfhM7cOnTnD0PHWt+uDM1Inuy1Y2CnOXbVBeHEw2S0+7H7Dk4Mcb/XgUHbed00t06rJffr0M99nHsQ4IOej0K80V4DqbvhbPpirxdvz66DgUbq9S5kygbmxh2I+wy7eV26W2S8Hhdky41LR6c58XsRThKS2dYFxaLxR+yscSYmJqZt5iBdrq6+kBP0D8Syci6eMQfpUnkd0sW2M0Q3KdA9YEfgbkbyfSiKQ6jIsyAZe0EfLkMXGabTZtx+u9QNcu3LUPVx7KHj6EehbGftdd4+Ra67R9+HStzn817DwL2iLEFFNcv+3dll98QxiFuHoeCR+n5oaPNQFAeQrbRdN17UXJA70bpKgbYf0DUM5glBgZjrxn8xzYmz8WzzS0JR+4cOO2uciYmJyV+yLD9DKOmvTAnqDdYg3S8SOc3ftW8F6phrR+AuDaGmzIHcXYT2zCp05zehiwzTmVPymwTc7bXsLty9sKNPim8lLifdrhfUONBDQfxYigp+G9rL7kcC4BUb4toy1LQVF+KddWj1TIijffHO7BrowyVoWlPquWoHMmUD+JLuTKqjlSrQXHewM3cduQJxQTa3Yk1LR6dSjfsj6WY8nVfeWS4Pfn8bW27GxMTENJkqFe13uZzy9nhWjkQz8uF4Vnk4ldchXWoDX+5M5Ng9QMfg3nVce65mR/IjaGgLoPYPQGd2DXrzh6AzfwSM2SNWv92Eu28kr/rA3TNQF+Rkac8jPkfdsZ/DDnLXYdz3FgsDN1raMtR0C+KGC3HZgrhmrRfvzK5De2YFlO4i1JRZyNd7kC27bjxd1Kgg91uG5gdz0o1H+CZMp8SfT6eldpxvXpst6n/DzhpnYmJiOg6qVCqn5CrayzhBuzyeleVYVvlJIqcBVzCc6fhxYM9OAHYT7j03km/NgmTsAX24BN35DegtuP12dXQY5L47TOfbb/dz7z5T8xiw0cdCf73PY8cR1LT7fUtbwZy42FknhtvMpWad2Q3ozK6CNjgAor4AJXEAQqUNmZK/G6e7c++AG92RK5Cwe+Oc+PA0J21E09K9qZxylsTOGmdiYmJ69CSKo9/ic9qbExn5G/GMvDcuKL9Ce+00sAdCnAC6XQIZyTcGULIj+c4+aM+sQM+K5N3DYrzr2+nDdMv+ffcTVFWf26GArS0jFy7L2EVMTV+BumE6cRTiyhDvi3dm18AYLkGzvQcqzRHkamikrlHdOFdQ6UDP01w6AnKvG/9JxDprvFjs/AXb/IWJiYnp16gdO3Y8pSgaf5TKqx+OC0ohlpV/kMhpR1MFA3gnku8cE9QxuNdc114QaZG81W+fOwLaJLw70RMAAAzkSURBVJPyng1sgqE6qXumxd7j7veNygnHTauaDXEdh7g93KaiEJ+zI/V9UFdmoVDvQbZiQpwv6r6xeqA7t8CNL1GzQW668ag5qf6rqZR4MMa3vpnJ6Wews8aZmJiYHgPiZPlZfFl/dUpQvxgXlNlEVv0fe9OaicGOwryCQp1w7XXTtRfFIVTlWWiSkbzVb9dGdLg3DHS72ZUAyC+boCecvX+tjCkEyNhtpMif5ffabIBrK1DTVzGIoxPqqn2+uAVxM1LfD5K+ACVpAAIx4DYpxLHeObn0zNnFrQURvglTnPjDCCeWkzn5I4W6+iJ21jgTExPTY1A7dux4Sl7q/V46r78zISixeFa533btacK1T+LQvY6d4trRSL5rRfILmxjc1dERfBlcBz0oBoe7L+CPR6mTf02NuF3TXYjXjTUQ2ybEm9Zwm7tefAPasybEjeFBaLX3QKU1hFytA9ky6sb9YvXwQCfdeFxwtmJ9MMKJu2OZ5i1cUX69LMvPOtF/q0xMTExMIcVx+54ulNt/m8qp2xOCqiSyys9M124cM9gFsiyw5+r22nY7kp8HtbcfOrOr0F84BN0FpN8+OoIcFuMDdxvwFBd/zMAP67wxgBNOvL0OUseCeN+EOB6pr0F7tARKdx/UlBkoNHrmgFtZx3rjxwJyDnHmybzdG7c2f0lJ/xnjJT4lyOcXm50XsM1fmJiYmB7nKpX052bL+lsSgnpPQlCWE4L2UKqgA19q+4PdB+TuwBwF7AjcTdduwr3amgHJ2A368CB059ZNuGPDdEfcbWeD4E5x8bSiAXkieCMO3C7bibsT6pvQokC8O7cOndkVUPuLIGpzUBL7IFTbkCkbkCl5QZ4uapA+BoiTbjzCSf8zzUn9OC9dL5T0V3Js8xcmJiamJ57uHo2eVqj3X5QpGBclBaUcF9T/TuZ1SNuuvdIJmHp3ge7tqwe4dk8kPwut9h4wRkvQm9+A/sJha/Mac5hOHSLL4BC4Nwi4U0HvQHiFegGATp7T4b1CANx04jbE7b647Ay3HXL64t05M1JvGgtQaQ7MSL1iOG6cJyFOAXk4sNuxurvcbJoTH4mkpcPRtBRJZtVz6/X287exzV+YmJiYnhyq1xd+M1vQTuMK6s1JQZlPCNqDqYK5aU2m3Bkbvfs6dKx6FLAjkbw6B0p3ETozK9BfIIbpkEl5KtyNNagbFniRCgY+BfbIc22I1/0gbq8Xn900z5u3InW5swdq8ggK9S4IFQNz41SQbwHomBvPOm78Z5G0pCWyze3ZUvvlHLfv6Sf674qJiYmJ6QQJtm07qVLp/e9MUX13IqekE1nlu8m8dpSjufaJYO4tF+y4a6+2ZkDUF0Dr74fu3Cr0dx+C3sKRMXC3Ab9GB7wP7D2PWwAnIY4Pt7nni3fn1qAzswxqbx801Fkoij0Qqm3IhoU4AfTg/jnpxpv25i8rMb75LS4vv4WdNc7ExMTE5BHX6fxGvtL5u1RevSEhqO2koP7M3mqW5toxJ05z5+RjNRfqVNcuDaEmz0CzvRuM4UHoza9bcDf77eQyOAzubRLu44uM09HhNg3ri69Bd3YF9P4iSPo8lKU+5MlIvaSFBzkKdKozR914C6K8BNNp6UeRdLOezLUuKxZ77KxxJiYmJqZQOqmk68/li/pZybx6T0JQDiUF9WGuaG5a47j2oKg9APYk1M0JeTKSH0JdmYVWZw+0RwehN78G/d3IpPzs/dgyOBvuUgeJ5ttrlFoHsbOOQbzVP+TZ9KU7tw7duRUwhgegZSxAtTWEQr0DQtUw3TjSG7dBPjHQiy7A7ULd+DQnPTSdlvbGM81buYJ2Wj7PzhpnYmJiYtqi7r579LRcRXsZX9QuTQpqLS4oP0rmNUgXDcu1m3APhnrXx6VT4F43I/lCvQ/FRh9K0gAqrRE0tDlQuvugM7MM/YUN6O8+DL2FI9Ceux90Yo27A3ckmrcBLnU3zYNQPBDfhO7cOvTmVqE9OghKZw/U5REUG13IVduQrRh4rG458q1AHHfmpBtvHp3mxO9H01IulZU/mKurL2TLzZiYmJiYjqsqld5zshXttKSg3JEUlD1JQX3QWf7mC3bcmY8FOhbHm2BHI/mqPAJJnwetvwi9uRUY7N6AARLL22vcbbijJQ8OgTI4jB1LakO8M7MEWm8viOoMlMQe5GttECqGE6tnSpoJcQTkNKCPBTziyFN5FXXjv4hw0kwi0/oCX9ZfXSyOnnmi/3szMTExMT3BtWPHjqcUm50XpIv6BUlB5RNZ5fvJvHYUc+0+7lyo9azqWkDvBoI97wzR9RywlyQzkq8pM9A0FkAfmHAfInBHB+rU0RHQRodBnzGn03vzG9CfX4Pu7BJo/b0gabNQkfpQqHcgVzVMkJd1C+S6C3IC6JPE7CjEkd740Qgn3h/LSAl21jgTExMT0wmVLMvP4Mv6q7mccn1ckEcJQX0gldeALxn0OL6GL2XzwpwyOIdC3QZ7ow9FsQ9laQDV1hAa6gzI7QVoDxdhOL8Ms3vXYW7fJszu24SZPRsw2rMGM7tXYDB3EIzBXmjqs1Bt9qHY6EC+1oZc1bBidd1x5BkS5CFdOt2NI73xtPhAlBM7ySw7a5yJiYmJ6bGnk/JS7/f4on5WQmhNxzLKZiKnHuUKOmTKbchWOhSo+7lz934U5mQVGj2nz15ummCvyyNo6jOg9+ZhOLcPFvcvwb7FAzCc3Q1aZwZEpQ8VqQuFetsBue3Is5YjN0vzh3oomKvA5VVI5mTTjafFh6c5aT3Gt+5J5ZSzisXR8070fzAmJiYmJqZA3T0aPa1QMP4ymVWuiQuyGBeUn6TyGqRLhtlrr3Z8huT8e+lUoNtQF/tQEvtQlvpQaQ6grgyhqY1AbY+g2x9Btz8EWe9DvdWFitSBYt0CedUAoaJDtqJ7nLlZ+mRAp7jxCCf+OMZLYlJQrshXjT9ny82YmJiYmB6XyhvGszMl/YxERv5GLCMvxwX1Ic4apENde1D0PhboVvxuQ73WGoCoDEDWh2B0h2B0BiApPahKHSg1OlCoGZYz151yHboW7M5toJe8PXLbjUfS0kPRtLg/nmnekS623lip9J5zov87MDExMTExHRfJsnxyqaT/KZ/Xzk9klXwiq3w/mVOt5W9tECzXTu2h+wA97wP0amsADWUALX0IRmcIertvAb0NZbEdGuh+/XMU4rgbl/4rmmnmOUG+SKh2/4SdNc7ExMTE9IRWsTh6ZqZgvCaZU2+OZ9V+QlAfSBV04JFeO+bQfaDu59AdoGsD0C2gN9UeVJsdE+h25E4AnYzc6ZPtKuLGmxDhxV9G0+JcPCPdlCkYr2HLzZiYmJiYnow6qSiPnscXtHckBGU6nlXuTwjqI+mi2Wt3wd6lOvWJgS4RQA/soesYzNOOG29BlJceiabF+2N8K8nl1HfXatofsM1fmJiYmJiYtm3bxnHc0/m89tfpgnJFPKu07EE6e/mbDfeJIncb6J0BHegVHOhZcrlaUQWuoDhuPJqWfhblm0YiK3+Gr2p/zZabMTExMTExBUiQ5d/OlPQz4pnWtxNZZTEpqA+mi7rTa0fBbgK9NxboktK1eugdL9DLrkM3e+QqcJYbj/HSw9F0czmeaX07XVDeWqt1fudE/36YmJiYmJgeV+I47qm5+uCF6aL+oaQgC4mcen8qrx3lSwYG9kLdhPp4h96m9tCzZdOVp4sqpBw3Lv4wnmlVU3n50nyt82K23IyJiYmJiek4SJblZwjl9t9yOeX6hKB0kjn1gXRRh2ylDblaF4N6pTmAujyApgV0wwZ6Ewe6A/KCAkmhBbGM9MsYLy3Es62vZIvG62VZftaJft9MTExMTExPWBWLo+dxJfXsZFb9dkKQ11M59eFM2YBcrQOFRs9ciy4PQFIHoFkOvWU79EYb8lUDMiUzVo9nm4/Es9KheLYV5wvKe4vNzgvYgBsTExMTE9OvUbIsn8wXO3/B55WLuZySTuWV76aL2tF8rQOVZg9EpQ9aewia0QdJ6UKpoUOuogFXUCCebf0oIbSkVE65Kltqv5zj9j39RL8fJiYmJiamJ70qlcop+bLx91xOvS5dUGS+pP2wWDeOinIXJLkDpboOmaL603Re7nE5+eZsQTuN7eDGxMTExMT0GFal0ntOttp+bb5sXFOo6bFCzcjlKuqXitXOG4vy6Hnb2BGlTExMTExMjy/JsnxypbJ8yjYGcSYmJiYmJiYmJiYmJiYmJiYmJiYmJiYmJiYmJiYmJiYmJiYmJiYmJiYmJiYmJiYmJiYmJiYmJiYmJiYmJiYmJiYmJiYmJiYmJiYmJiYmJiYmJiYmJiYmJiYmJiYmJiYmJiYmJiYmJiYmJiYmJiYmJiYmJiYmJiYmJiYmJiYmJiYmJiYmJiYmJiYmJiYmJqbHof4/JD+HgcM0sqc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Slide Number Placeholder 6">
            <a:extLst>
              <a:ext uri="{FF2B5EF4-FFF2-40B4-BE49-F238E27FC236}">
                <a16:creationId xmlns:a16="http://schemas.microsoft.com/office/drawing/2014/main" id="{C26325CB-4BF6-49AB-BFD8-B68649A3E453}"/>
              </a:ext>
            </a:extLst>
          </p:cNvPr>
          <p:cNvSpPr>
            <a:spLocks noGrp="1"/>
          </p:cNvSpPr>
          <p:nvPr>
            <p:ph type="sldNum" sz="quarter" idx="12"/>
          </p:nvPr>
        </p:nvSpPr>
        <p:spPr/>
        <p:txBody>
          <a:bodyPr/>
          <a:lstStyle/>
          <a:p>
            <a:pPr>
              <a:defRPr/>
            </a:pPr>
            <a:fld id="{AC7C6917-FFA3-44CF-9703-C7E047B1380F}" type="slidenum">
              <a:rPr lang="en-US" smtClean="0"/>
              <a:pPr>
                <a:defRPr/>
              </a:pPr>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339">
                                            <p:txEl>
                                              <p:pRg st="2" end="2"/>
                                            </p:txEl>
                                          </p:spTgt>
                                        </p:tgtEl>
                                        <p:attrNameLst>
                                          <p:attrName>style.visibility</p:attrName>
                                        </p:attrNameLst>
                                      </p:cBhvr>
                                      <p:to>
                                        <p:strVal val="visible"/>
                                      </p:to>
                                    </p:set>
                                    <p:animEffect transition="in" filter="dissolve">
                                      <p:cBhvr>
                                        <p:cTn id="7" dur="1000"/>
                                        <p:tgtEl>
                                          <p:spTgt spid="1433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339">
                                            <p:txEl>
                                              <p:pRg st="4" end="4"/>
                                            </p:txEl>
                                          </p:spTgt>
                                        </p:tgtEl>
                                        <p:attrNameLst>
                                          <p:attrName>style.visibility</p:attrName>
                                        </p:attrNameLst>
                                      </p:cBhvr>
                                      <p:to>
                                        <p:strVal val="visible"/>
                                      </p:to>
                                    </p:set>
                                    <p:animEffect transition="in" filter="dissolve">
                                      <p:cBhvr>
                                        <p:cTn id="12" dur="1000"/>
                                        <p:tgtEl>
                                          <p:spTgt spid="14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a:xfrm>
            <a:off x="435463" y="387965"/>
            <a:ext cx="8229600" cy="777875"/>
          </a:xfrm>
        </p:spPr>
        <p:txBody>
          <a:bodyPr/>
          <a:lstStyle/>
          <a:p>
            <a:pPr algn="ctr" eaLnBrk="1" hangingPunct="1"/>
            <a:r>
              <a:rPr lang="en-US" sz="3200" b="1" dirty="0">
                <a:latin typeface="Calibri" panose="020F0502020204030204" pitchFamily="34" charset="0"/>
              </a:rPr>
              <a:t>Cost Estimation Methods</a:t>
            </a:r>
          </a:p>
        </p:txBody>
      </p:sp>
      <p:sp>
        <p:nvSpPr>
          <p:cNvPr id="28674" name="Rectangle 3"/>
          <p:cNvSpPr>
            <a:spLocks noGrp="1" noChangeArrowheads="1"/>
          </p:cNvSpPr>
          <p:nvPr>
            <p:ph idx="1"/>
          </p:nvPr>
        </p:nvSpPr>
        <p:spPr>
          <a:xfrm>
            <a:off x="582613" y="1165840"/>
            <a:ext cx="7935300" cy="5234960"/>
          </a:xfrm>
        </p:spPr>
        <p:txBody>
          <a:bodyPr>
            <a:noAutofit/>
          </a:bodyPr>
          <a:lstStyle/>
          <a:p>
            <a:pPr>
              <a:lnSpc>
                <a:spcPct val="80000"/>
              </a:lnSpc>
            </a:pPr>
            <a:r>
              <a:rPr lang="en-US" b="1" u="sng" dirty="0">
                <a:latin typeface="Calibri" panose="020F0502020204030204" pitchFamily="34" charset="0"/>
              </a:rPr>
              <a:t>Ballpark Estimates</a:t>
            </a:r>
          </a:p>
          <a:p>
            <a:pPr marL="0" indent="0" eaLnBrk="1" hangingPunct="1">
              <a:lnSpc>
                <a:spcPct val="110000"/>
              </a:lnSpc>
              <a:buNone/>
            </a:pPr>
            <a:r>
              <a:rPr lang="en-US" dirty="0">
                <a:latin typeface="Calibri" panose="020F0502020204030204" pitchFamily="34" charset="0"/>
              </a:rPr>
              <a:t>Are used when the time or resources are very scarce to go through a thorough cost estimation process. It also can be the initial estimate to see if a company wants to spend even the resources on bidding for a certain contract. The accuracy is typically </a:t>
            </a:r>
            <a:r>
              <a:rPr lang="en-US" b="1" dirty="0">
                <a:latin typeface="Calibri" panose="020F0502020204030204" pitchFamily="34" charset="0"/>
                <a:cs typeface="Arial" charset="0"/>
              </a:rPr>
              <a:t>±</a:t>
            </a:r>
            <a:r>
              <a:rPr lang="en-US" b="1" dirty="0">
                <a:latin typeface="Calibri" panose="020F0502020204030204" pitchFamily="34" charset="0"/>
              </a:rPr>
              <a:t>30%.</a:t>
            </a:r>
          </a:p>
          <a:p>
            <a:pPr marL="179388" indent="-179388" eaLnBrk="1" hangingPunct="1">
              <a:lnSpc>
                <a:spcPct val="80000"/>
              </a:lnSpc>
            </a:pPr>
            <a:endParaRPr lang="en-US" b="1" dirty="0">
              <a:latin typeface="Calibri" panose="020F0502020204030204" pitchFamily="34" charset="0"/>
            </a:endParaRPr>
          </a:p>
          <a:p>
            <a:pPr>
              <a:lnSpc>
                <a:spcPct val="80000"/>
              </a:lnSpc>
            </a:pPr>
            <a:r>
              <a:rPr lang="en-US" b="1" u="sng" dirty="0">
                <a:latin typeface="Calibri" panose="020F0502020204030204" pitchFamily="34" charset="0"/>
              </a:rPr>
              <a:t>Comparative or Parametric Estimates</a:t>
            </a:r>
          </a:p>
          <a:p>
            <a:pPr marL="0" indent="0" eaLnBrk="1" hangingPunct="1">
              <a:lnSpc>
                <a:spcPct val="110000"/>
              </a:lnSpc>
              <a:buNone/>
            </a:pPr>
            <a:r>
              <a:rPr lang="en-US" dirty="0">
                <a:latin typeface="Calibri" panose="020F0502020204030204" pitchFamily="34" charset="0"/>
              </a:rPr>
              <a:t>This is used when a company has experience with another project already that is close to the new one. Then the baseline project numbers can be taken and if carefully applied, an accurate estimate can be the result. Care must be taken that a solid history of comparable projects is available. This requires a reliable archiving system. Literature argues that this type of estimate is accurate to </a:t>
            </a:r>
            <a:r>
              <a:rPr lang="en-US" b="1" dirty="0">
                <a:latin typeface="Calibri" panose="020F0502020204030204" pitchFamily="34" charset="0"/>
                <a:cs typeface="Arial" charset="0"/>
              </a:rPr>
              <a:t>±</a:t>
            </a:r>
            <a:r>
              <a:rPr lang="en-US" b="1" dirty="0">
                <a:latin typeface="Calibri" panose="020F0502020204030204" pitchFamily="34" charset="0"/>
              </a:rPr>
              <a:t> 15%</a:t>
            </a:r>
            <a:r>
              <a:rPr lang="en-US" dirty="0">
                <a:latin typeface="Calibri" panose="020F0502020204030204" pitchFamily="34" charset="0"/>
              </a:rPr>
              <a:t>. However if done carefully, results can be much better.</a:t>
            </a:r>
          </a:p>
        </p:txBody>
      </p:sp>
      <p:sp>
        <p:nvSpPr>
          <p:cNvPr id="28675" name="Oval 5"/>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F1381930-9F3F-495B-96AD-CC7027C52F11}"/>
              </a:ext>
            </a:extLst>
          </p:cNvPr>
          <p:cNvSpPr>
            <a:spLocks noGrp="1"/>
          </p:cNvSpPr>
          <p:nvPr>
            <p:ph type="sldNum" sz="quarter" idx="12"/>
          </p:nvPr>
        </p:nvSpPr>
        <p:spPr/>
        <p:txBody>
          <a:bodyPr/>
          <a:lstStyle/>
          <a:p>
            <a:pPr>
              <a:defRPr/>
            </a:pPr>
            <a:fld id="{AC7C6917-FFA3-44CF-9703-C7E047B1380F}"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1039312" y="698650"/>
            <a:ext cx="7055380" cy="841266"/>
          </a:xfrm>
        </p:spPr>
        <p:txBody>
          <a:bodyPr/>
          <a:lstStyle/>
          <a:p>
            <a:pPr algn="ctr" eaLnBrk="1" hangingPunct="1"/>
            <a:r>
              <a:rPr lang="en-US" sz="3200" b="1" dirty="0">
                <a:latin typeface="Calibri" panose="020F0502020204030204" pitchFamily="34" charset="0"/>
              </a:rPr>
              <a:t>Cost estimation methods </a:t>
            </a:r>
            <a:r>
              <a:rPr lang="en-US" sz="3200" i="1" dirty="0">
                <a:latin typeface="Calibri" panose="020F0502020204030204" pitchFamily="34" charset="0"/>
              </a:rPr>
              <a:t>(cont'd…)</a:t>
            </a:r>
          </a:p>
        </p:txBody>
      </p:sp>
      <p:sp>
        <p:nvSpPr>
          <p:cNvPr id="29698" name="Rectangle 3"/>
          <p:cNvSpPr>
            <a:spLocks noGrp="1" noChangeArrowheads="1"/>
          </p:cNvSpPr>
          <p:nvPr>
            <p:ph idx="1"/>
          </p:nvPr>
        </p:nvSpPr>
        <p:spPr>
          <a:xfrm>
            <a:off x="549362" y="1752600"/>
            <a:ext cx="8027987" cy="4267199"/>
          </a:xfrm>
        </p:spPr>
        <p:txBody>
          <a:bodyPr>
            <a:normAutofit/>
          </a:bodyPr>
          <a:lstStyle/>
          <a:p>
            <a:pPr eaLnBrk="1" hangingPunct="1">
              <a:lnSpc>
                <a:spcPct val="90000"/>
              </a:lnSpc>
            </a:pPr>
            <a:r>
              <a:rPr lang="en-US" sz="2200" b="1" u="sng" dirty="0">
                <a:latin typeface="Calibri" panose="020F0502020204030204" pitchFamily="34" charset="0"/>
              </a:rPr>
              <a:t>Feasibility estimates</a:t>
            </a:r>
          </a:p>
          <a:p>
            <a:pPr marL="0" indent="0" eaLnBrk="1" hangingPunct="1">
              <a:lnSpc>
                <a:spcPct val="90000"/>
              </a:lnSpc>
              <a:buNone/>
            </a:pPr>
            <a:r>
              <a:rPr lang="en-US" sz="2000" dirty="0">
                <a:latin typeface="Calibri" panose="020F0502020204030204" pitchFamily="34" charset="0"/>
              </a:rPr>
              <a:t>These are calculated after the first quotes from suppliers come back, when the scope is clearly defined. Usually used in the construction industry where published tables of material cost exist, and the amount of material used is known at this time. The accuracy is about </a:t>
            </a:r>
            <a:r>
              <a:rPr lang="en-US" sz="2000" b="1" dirty="0">
                <a:latin typeface="Calibri" panose="020F0502020204030204" pitchFamily="34" charset="0"/>
                <a:cs typeface="Arial" charset="0"/>
              </a:rPr>
              <a:t>±10% </a:t>
            </a:r>
            <a:r>
              <a:rPr lang="en-US" sz="2000" dirty="0">
                <a:latin typeface="Calibri" panose="020F0502020204030204" pitchFamily="34" charset="0"/>
                <a:cs typeface="Arial" charset="0"/>
              </a:rPr>
              <a:t>because it is performed further down the development process.</a:t>
            </a:r>
          </a:p>
          <a:p>
            <a:pPr eaLnBrk="1" hangingPunct="1">
              <a:lnSpc>
                <a:spcPct val="90000"/>
              </a:lnSpc>
            </a:pPr>
            <a:endParaRPr lang="en-US" sz="2000" dirty="0">
              <a:latin typeface="Calibri" panose="020F0502020204030204" pitchFamily="34" charset="0"/>
              <a:cs typeface="Arial" charset="0"/>
            </a:endParaRPr>
          </a:p>
          <a:p>
            <a:pPr eaLnBrk="1" hangingPunct="1">
              <a:lnSpc>
                <a:spcPct val="90000"/>
              </a:lnSpc>
            </a:pPr>
            <a:r>
              <a:rPr lang="en-US" sz="2200" b="1" u="sng" dirty="0">
                <a:latin typeface="Calibri" panose="020F0502020204030204" pitchFamily="34" charset="0"/>
                <a:cs typeface="Arial" charset="0"/>
              </a:rPr>
              <a:t>Definitive estimates</a:t>
            </a:r>
          </a:p>
          <a:p>
            <a:pPr marL="0" indent="0" eaLnBrk="1" hangingPunct="1">
              <a:lnSpc>
                <a:spcPct val="90000"/>
              </a:lnSpc>
              <a:buNone/>
            </a:pPr>
            <a:r>
              <a:rPr lang="en-US" sz="2000" dirty="0">
                <a:latin typeface="Calibri" panose="020F0502020204030204" pitchFamily="34" charset="0"/>
                <a:cs typeface="Arial" charset="0"/>
              </a:rPr>
              <a:t>These can only be given after the completion of most of the design steps. The major purchase orders can be written, the detail is known and therefore the accuracy is the best. For this type of estimate an accuracy of </a:t>
            </a:r>
            <a:r>
              <a:rPr lang="en-US" sz="2000" b="1" dirty="0">
                <a:latin typeface="Calibri" panose="020F0502020204030204" pitchFamily="34" charset="0"/>
                <a:cs typeface="Arial" charset="0"/>
              </a:rPr>
              <a:t>±5% </a:t>
            </a:r>
            <a:r>
              <a:rPr lang="en-US" sz="2000" dirty="0">
                <a:latin typeface="Calibri" panose="020F0502020204030204" pitchFamily="34" charset="0"/>
                <a:cs typeface="Arial" charset="0"/>
              </a:rPr>
              <a:t>is accepted.</a:t>
            </a:r>
          </a:p>
        </p:txBody>
      </p:sp>
      <p:sp>
        <p:nvSpPr>
          <p:cNvPr id="29699"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E1397356-17FF-47A7-A611-CDF1B1378AD8}"/>
              </a:ext>
            </a:extLst>
          </p:cNvPr>
          <p:cNvSpPr>
            <a:spLocks noGrp="1"/>
          </p:cNvSpPr>
          <p:nvPr>
            <p:ph type="sldNum" sz="quarter" idx="12"/>
          </p:nvPr>
        </p:nvSpPr>
        <p:spPr/>
        <p:txBody>
          <a:bodyPr/>
          <a:lstStyle/>
          <a:p>
            <a:pPr>
              <a:defRPr/>
            </a:pPr>
            <a:fld id="{AC7C6917-FFA3-44CF-9703-C7E047B1380F}"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993765" y="1233055"/>
            <a:ext cx="7363890" cy="690282"/>
          </a:xfrm>
        </p:spPr>
        <p:txBody>
          <a:bodyPr/>
          <a:lstStyle/>
          <a:p>
            <a:pPr algn="ctr" eaLnBrk="1" hangingPunct="1"/>
            <a:r>
              <a:rPr lang="en-US" sz="3200" b="1" dirty="0">
                <a:latin typeface="Calibri" panose="020F0502020204030204" pitchFamily="34" charset="0"/>
                <a:cs typeface="Arial" charset="0"/>
              </a:rPr>
              <a:t>Which one should a company use?</a:t>
            </a:r>
          </a:p>
        </p:txBody>
      </p:sp>
      <p:sp>
        <p:nvSpPr>
          <p:cNvPr id="30722" name="Rectangle 3"/>
          <p:cNvSpPr>
            <a:spLocks noGrp="1" noChangeArrowheads="1"/>
          </p:cNvSpPr>
          <p:nvPr>
            <p:ph idx="1"/>
          </p:nvPr>
        </p:nvSpPr>
        <p:spPr>
          <a:xfrm>
            <a:off x="484710" y="2438400"/>
            <a:ext cx="8382000" cy="3276600"/>
          </a:xfrm>
        </p:spPr>
        <p:txBody>
          <a:bodyPr/>
          <a:lstStyle/>
          <a:p>
            <a:pPr eaLnBrk="1" hangingPunct="1">
              <a:buFontTx/>
              <a:buNone/>
            </a:pPr>
            <a:r>
              <a:rPr lang="en-US" sz="2400" dirty="0">
                <a:latin typeface="Calibri" panose="020F0502020204030204" pitchFamily="34" charset="0"/>
                <a:cs typeface="Arial" charset="0"/>
              </a:rPr>
              <a:t>That depends on the experience of the company and the team.</a:t>
            </a:r>
          </a:p>
          <a:p>
            <a:pPr eaLnBrk="1" hangingPunct="1">
              <a:buFontTx/>
              <a:buNone/>
            </a:pPr>
            <a:r>
              <a:rPr lang="en-US" sz="2400" dirty="0">
                <a:latin typeface="Calibri" panose="020F0502020204030204" pitchFamily="34" charset="0"/>
                <a:cs typeface="Arial" charset="0"/>
              </a:rPr>
              <a:t>How many similar projects have been delivered?</a:t>
            </a:r>
          </a:p>
          <a:p>
            <a:pPr eaLnBrk="1" hangingPunct="1">
              <a:buFontTx/>
              <a:buNone/>
            </a:pPr>
            <a:r>
              <a:rPr lang="en-US" sz="2400" dirty="0">
                <a:latin typeface="Calibri" panose="020F0502020204030204" pitchFamily="34" charset="0"/>
                <a:cs typeface="Arial" charset="0"/>
              </a:rPr>
              <a:t>What type of project is it? </a:t>
            </a:r>
          </a:p>
          <a:p>
            <a:pPr eaLnBrk="1" hangingPunct="1">
              <a:buFontTx/>
              <a:buNone/>
            </a:pPr>
            <a:r>
              <a:rPr lang="en-US" sz="2400" dirty="0">
                <a:latin typeface="Calibri" panose="020F0502020204030204" pitchFamily="34" charset="0"/>
                <a:cs typeface="Arial" charset="0"/>
              </a:rPr>
              <a:t>For example, a R&amp;D project for a new design will likely have a</a:t>
            </a:r>
          </a:p>
          <a:p>
            <a:pPr eaLnBrk="1" hangingPunct="1">
              <a:buFontTx/>
              <a:buNone/>
            </a:pPr>
            <a:r>
              <a:rPr lang="en-US" sz="2400" dirty="0">
                <a:latin typeface="Calibri" panose="020F0502020204030204" pitchFamily="34" charset="0"/>
                <a:cs typeface="Arial" charset="0"/>
              </a:rPr>
              <a:t> ± 20% range, whereas a banquet for 200 people, will have a</a:t>
            </a:r>
          </a:p>
          <a:p>
            <a:pPr eaLnBrk="1" hangingPunct="1">
              <a:buFontTx/>
              <a:buNone/>
            </a:pPr>
            <a:r>
              <a:rPr lang="en-US" sz="2400" dirty="0">
                <a:latin typeface="Calibri" panose="020F0502020204030204" pitchFamily="34" charset="0"/>
                <a:cs typeface="Arial" charset="0"/>
              </a:rPr>
              <a:t> relatively precise cost estimate that can be given upfront.</a:t>
            </a:r>
            <a:endParaRPr lang="en-US" sz="2400" dirty="0">
              <a:latin typeface="Calibri" panose="020F0502020204030204" pitchFamily="34" charset="0"/>
            </a:endParaRPr>
          </a:p>
          <a:p>
            <a:pPr eaLnBrk="1" hangingPunct="1">
              <a:buFontTx/>
              <a:buNone/>
            </a:pPr>
            <a:endParaRPr lang="en-US" dirty="0"/>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7" name="Slide Number Placeholder 6">
            <a:extLst>
              <a:ext uri="{FF2B5EF4-FFF2-40B4-BE49-F238E27FC236}">
                <a16:creationId xmlns:a16="http://schemas.microsoft.com/office/drawing/2014/main" id="{94CE965A-A4AE-4DB1-8B51-D72F54F07C76}"/>
              </a:ext>
            </a:extLst>
          </p:cNvPr>
          <p:cNvSpPr>
            <a:spLocks noGrp="1"/>
          </p:cNvSpPr>
          <p:nvPr>
            <p:ph type="sldNum" sz="quarter" idx="12"/>
          </p:nvPr>
        </p:nvSpPr>
        <p:spPr/>
        <p:txBody>
          <a:bodyPr/>
          <a:lstStyle/>
          <a:p>
            <a:pPr>
              <a:defRPr/>
            </a:pPr>
            <a:fld id="{AC7C6917-FFA3-44CF-9703-C7E047B1380F}"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a:xfrm>
            <a:off x="1267660" y="652395"/>
            <a:ext cx="7055380" cy="1400530"/>
          </a:xfrm>
        </p:spPr>
        <p:txBody>
          <a:bodyPr/>
          <a:lstStyle/>
          <a:p>
            <a:pPr algn="ctr" eaLnBrk="1" hangingPunct="1"/>
            <a:r>
              <a:rPr lang="en-US" sz="3200" b="1" dirty="0">
                <a:latin typeface="Calibri" panose="020F0502020204030204" pitchFamily="34" charset="0"/>
              </a:rPr>
              <a:t>Factors Influencing the</a:t>
            </a:r>
            <a:br>
              <a:rPr lang="en-US" sz="3200" b="1" dirty="0">
                <a:latin typeface="Calibri" panose="020F0502020204030204" pitchFamily="34" charset="0"/>
              </a:rPr>
            </a:br>
            <a:r>
              <a:rPr lang="en-US" sz="3200" b="1" dirty="0">
                <a:latin typeface="Calibri" panose="020F0502020204030204" pitchFamily="34" charset="0"/>
              </a:rPr>
              <a:t>Quality of Estimates</a:t>
            </a:r>
          </a:p>
        </p:txBody>
      </p:sp>
      <p:sp>
        <p:nvSpPr>
          <p:cNvPr id="19459" name="Rectangle 3"/>
          <p:cNvSpPr>
            <a:spLocks noGrp="1" noChangeArrowheads="1"/>
          </p:cNvSpPr>
          <p:nvPr>
            <p:ph idx="1"/>
          </p:nvPr>
        </p:nvSpPr>
        <p:spPr>
          <a:xfrm>
            <a:off x="827700" y="2209800"/>
            <a:ext cx="7935300" cy="3357275"/>
          </a:xfrm>
        </p:spPr>
        <p:txBody>
          <a:bodyPr>
            <a:normAutofit/>
          </a:bodyPr>
          <a:lstStyle/>
          <a:p>
            <a:pPr eaLnBrk="1" hangingPunct="1">
              <a:lnSpc>
                <a:spcPct val="80000"/>
              </a:lnSpc>
            </a:pPr>
            <a:r>
              <a:rPr lang="en-US" sz="2400" b="1" dirty="0">
                <a:latin typeface="Calibri" panose="020F0502020204030204" pitchFamily="34" charset="0"/>
              </a:rPr>
              <a:t>Planning Horizon</a:t>
            </a:r>
            <a:br>
              <a:rPr lang="en-US" sz="2400" dirty="0">
                <a:latin typeface="Calibri" panose="020F0502020204030204" pitchFamily="34" charset="0"/>
              </a:rPr>
            </a:br>
            <a:r>
              <a:rPr lang="en-US" sz="2400" dirty="0">
                <a:latin typeface="Calibri" panose="020F0502020204030204" pitchFamily="34" charset="0"/>
              </a:rPr>
              <a:t>Estimates of current events are close to 100 % accurate. Generally, the further the task is in the future, the less accurate it is.</a:t>
            </a:r>
          </a:p>
          <a:p>
            <a:pPr marL="0" indent="0" eaLnBrk="1" hangingPunct="1">
              <a:lnSpc>
                <a:spcPct val="80000"/>
              </a:lnSpc>
              <a:buNone/>
            </a:pPr>
            <a:endParaRPr lang="en-US" sz="2400" dirty="0">
              <a:latin typeface="Calibri" panose="020F0502020204030204" pitchFamily="34" charset="0"/>
            </a:endParaRPr>
          </a:p>
          <a:p>
            <a:pPr eaLnBrk="1" hangingPunct="1">
              <a:lnSpc>
                <a:spcPct val="80000"/>
              </a:lnSpc>
            </a:pPr>
            <a:r>
              <a:rPr lang="en-US" sz="2400" b="1" dirty="0">
                <a:latin typeface="Calibri" panose="020F0502020204030204" pitchFamily="34" charset="0"/>
              </a:rPr>
              <a:t>Project Duration</a:t>
            </a:r>
            <a:br>
              <a:rPr lang="en-US" sz="2400" b="1" dirty="0">
                <a:latin typeface="Calibri" panose="020F0502020204030204" pitchFamily="34" charset="0"/>
              </a:rPr>
            </a:br>
            <a:r>
              <a:rPr lang="en-US" sz="2400" dirty="0">
                <a:latin typeface="Calibri" panose="020F0502020204030204" pitchFamily="34" charset="0"/>
              </a:rPr>
              <a:t>New technology is especially challenging to estimate if the Scope statement is written poorly. Long duration projects increase the uncertainty in estimates.</a:t>
            </a:r>
          </a:p>
        </p:txBody>
      </p:sp>
      <p:sp>
        <p:nvSpPr>
          <p:cNvPr id="36867"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0A98335B-7DAB-4DAC-B120-31E03EE80DA7}"/>
              </a:ext>
            </a:extLst>
          </p:cNvPr>
          <p:cNvSpPr>
            <a:spLocks noGrp="1"/>
          </p:cNvSpPr>
          <p:nvPr>
            <p:ph type="sldNum" sz="quarter" idx="12"/>
          </p:nvPr>
        </p:nvSpPr>
        <p:spPr/>
        <p:txBody>
          <a:bodyPr/>
          <a:lstStyle/>
          <a:p>
            <a:pPr>
              <a:defRPr/>
            </a:pPr>
            <a:fld id="{AC7C6917-FFA3-44CF-9703-C7E047B1380F}" type="slidenum">
              <a:rPr lang="en-US" smtClean="0"/>
              <a:pPr>
                <a:defRPr/>
              </a:pPr>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linds(horizontal)">
                                      <p:cBhvr>
                                        <p:cTn id="7" dur="5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12" dur="500"/>
                                        <p:tgtEl>
                                          <p:spTgt spid="19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1096165" y="464861"/>
            <a:ext cx="7055380" cy="1400530"/>
          </a:xfrm>
        </p:spPr>
        <p:txBody>
          <a:bodyPr/>
          <a:lstStyle/>
          <a:p>
            <a:pPr algn="ctr"/>
            <a:r>
              <a:rPr lang="en-US" sz="3200" b="1" dirty="0">
                <a:latin typeface="Calibri" panose="020F0502020204030204" pitchFamily="34" charset="0"/>
              </a:rPr>
              <a:t>Factors Influencing the</a:t>
            </a:r>
            <a:br>
              <a:rPr lang="en-US" sz="3200" b="1" dirty="0">
                <a:latin typeface="Calibri" panose="020F0502020204030204" pitchFamily="34" charset="0"/>
              </a:rPr>
            </a:br>
            <a:r>
              <a:rPr lang="en-US" sz="3200" b="1" dirty="0">
                <a:latin typeface="Calibri" panose="020F0502020204030204" pitchFamily="34" charset="0"/>
              </a:rPr>
              <a:t>Quality of Estimates </a:t>
            </a:r>
            <a:r>
              <a:rPr lang="en-US" sz="3200" i="1" dirty="0">
                <a:latin typeface="Calibri" panose="020F0502020204030204" pitchFamily="34" charset="0"/>
              </a:rPr>
              <a:t>(cont'd…)</a:t>
            </a:r>
            <a:endParaRPr lang="en-US" sz="3200" dirty="0"/>
          </a:p>
        </p:txBody>
      </p:sp>
      <p:sp>
        <p:nvSpPr>
          <p:cNvPr id="37890" name="Rectangle 3"/>
          <p:cNvSpPr>
            <a:spLocks noGrp="1" noChangeArrowheads="1"/>
          </p:cNvSpPr>
          <p:nvPr>
            <p:ph idx="1"/>
          </p:nvPr>
        </p:nvSpPr>
        <p:spPr>
          <a:xfrm>
            <a:off x="484710" y="1981200"/>
            <a:ext cx="8278290" cy="3886199"/>
          </a:xfrm>
        </p:spPr>
        <p:txBody>
          <a:bodyPr>
            <a:normAutofit/>
          </a:bodyPr>
          <a:lstStyle/>
          <a:p>
            <a:pPr eaLnBrk="1" hangingPunct="1">
              <a:lnSpc>
                <a:spcPct val="90000"/>
              </a:lnSpc>
            </a:pPr>
            <a:r>
              <a:rPr lang="en-US" sz="2400" b="1" dirty="0">
                <a:latin typeface="Calibri" panose="020F0502020204030204" pitchFamily="34" charset="0"/>
              </a:rPr>
              <a:t>People</a:t>
            </a:r>
            <a:br>
              <a:rPr lang="en-US" sz="2400" dirty="0">
                <a:latin typeface="Calibri" panose="020F0502020204030204" pitchFamily="34" charset="0"/>
              </a:rPr>
            </a:br>
            <a:r>
              <a:rPr lang="en-US" sz="2400" dirty="0">
                <a:latin typeface="Calibri" panose="020F0502020204030204" pitchFamily="34" charset="0"/>
              </a:rPr>
              <a:t>The estimates provided depend on the skill of the people making it. The closer the experience is matched to the person, the more accurate the estimate. Also if the project team has worked together before will influence the time to form into an effective team. Staff turnover can influence estimates. </a:t>
            </a:r>
          </a:p>
          <a:p>
            <a:pPr eaLnBrk="1" hangingPunct="1">
              <a:lnSpc>
                <a:spcPct val="90000"/>
              </a:lnSpc>
            </a:pPr>
            <a:r>
              <a:rPr lang="en-US" sz="2400" b="1" dirty="0">
                <a:latin typeface="Calibri" panose="020F0502020204030204" pitchFamily="34" charset="0"/>
              </a:rPr>
              <a:t>Project Structure and Organization</a:t>
            </a:r>
            <a:br>
              <a:rPr lang="en-US" sz="2400" dirty="0">
                <a:latin typeface="Calibri" panose="020F0502020204030204" pitchFamily="34" charset="0"/>
              </a:rPr>
            </a:br>
            <a:r>
              <a:rPr lang="en-US" sz="2400" dirty="0">
                <a:latin typeface="Calibri" panose="020F0502020204030204" pitchFamily="34" charset="0"/>
              </a:rPr>
              <a:t>Dedicated project teams will deliver faster results, but it ties up personnel full time for the duration of the project. Projects in matrix organizations will run more cost efficient, but slower.</a:t>
            </a:r>
          </a:p>
        </p:txBody>
      </p:sp>
      <p:sp>
        <p:nvSpPr>
          <p:cNvPr id="37891"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2941DBA8-37E9-4427-A5E0-30A0407E2688}"/>
              </a:ext>
            </a:extLst>
          </p:cNvPr>
          <p:cNvSpPr>
            <a:spLocks noGrp="1"/>
          </p:cNvSpPr>
          <p:nvPr>
            <p:ph type="sldNum" sz="quarter" idx="12"/>
          </p:nvPr>
        </p:nvSpPr>
        <p:spPr/>
        <p:txBody>
          <a:bodyPr/>
          <a:lstStyle/>
          <a:p>
            <a:pPr>
              <a:defRPr/>
            </a:pPr>
            <a:fld id="{AC7C6917-FFA3-44CF-9703-C7E047B1380F}" type="slidenum">
              <a:rPr lang="en-US" smtClean="0"/>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a:xfrm>
            <a:off x="1025457" y="838200"/>
            <a:ext cx="7055380" cy="1400530"/>
          </a:xfrm>
        </p:spPr>
        <p:txBody>
          <a:bodyPr/>
          <a:lstStyle/>
          <a:p>
            <a:pPr algn="ctr"/>
            <a:r>
              <a:rPr lang="en-US" sz="3200" b="1" dirty="0">
                <a:latin typeface="Calibri" panose="020F0502020204030204" pitchFamily="34" charset="0"/>
              </a:rPr>
              <a:t>Factors Influencing the</a:t>
            </a:r>
            <a:br>
              <a:rPr lang="en-US" sz="3200" b="1" dirty="0">
                <a:latin typeface="Calibri" panose="020F0502020204030204" pitchFamily="34" charset="0"/>
              </a:rPr>
            </a:br>
            <a:r>
              <a:rPr lang="en-US" sz="3200" b="1" dirty="0">
                <a:latin typeface="Calibri" panose="020F0502020204030204" pitchFamily="34" charset="0"/>
              </a:rPr>
              <a:t>Quality of Estimates </a:t>
            </a:r>
            <a:r>
              <a:rPr lang="en-US" sz="3200" i="1" dirty="0">
                <a:latin typeface="Calibri" panose="020F0502020204030204" pitchFamily="34" charset="0"/>
              </a:rPr>
              <a:t>(cont'd…)</a:t>
            </a:r>
            <a:endParaRPr lang="en-US" sz="3200" dirty="0">
              <a:latin typeface="Calibri" panose="020F0502020204030204" pitchFamily="34" charset="0"/>
            </a:endParaRPr>
          </a:p>
        </p:txBody>
      </p:sp>
      <p:sp>
        <p:nvSpPr>
          <p:cNvPr id="38914" name="Rectangle 3"/>
          <p:cNvSpPr>
            <a:spLocks noGrp="1" noChangeArrowheads="1"/>
          </p:cNvSpPr>
          <p:nvPr>
            <p:ph idx="1"/>
          </p:nvPr>
        </p:nvSpPr>
        <p:spPr>
          <a:xfrm>
            <a:off x="436418" y="2514600"/>
            <a:ext cx="8229600" cy="2116138"/>
          </a:xfrm>
        </p:spPr>
        <p:txBody>
          <a:bodyPr>
            <a:normAutofit/>
          </a:bodyPr>
          <a:lstStyle/>
          <a:p>
            <a:pPr eaLnBrk="1" hangingPunct="1"/>
            <a:r>
              <a:rPr lang="en-US" sz="2400" b="1" dirty="0">
                <a:latin typeface="Calibri" panose="020F0502020204030204" pitchFamily="34" charset="0"/>
              </a:rPr>
              <a:t>Padding Estimates</a:t>
            </a:r>
            <a:br>
              <a:rPr lang="en-US" sz="2400" dirty="0">
                <a:latin typeface="Calibri" panose="020F0502020204030204" pitchFamily="34" charset="0"/>
              </a:rPr>
            </a:br>
            <a:r>
              <a:rPr lang="en-US" sz="2400" dirty="0">
                <a:latin typeface="Calibri" panose="020F0502020204030204" pitchFamily="34" charset="0"/>
              </a:rPr>
              <a:t>Usually estimates are padded for added safety. </a:t>
            </a:r>
            <a:r>
              <a:rPr lang="en-US" sz="2400" dirty="0">
                <a:solidFill>
                  <a:srgbClr val="C00000"/>
                </a:solidFill>
                <a:highlight>
                  <a:srgbClr val="FFFF00"/>
                </a:highlight>
                <a:latin typeface="Calibri" panose="020F0502020204030204" pitchFamily="34" charset="0"/>
              </a:rPr>
              <a:t>If everyone adds a little padding to the task, the project time and cost are severely overstated</a:t>
            </a:r>
            <a:r>
              <a:rPr lang="en-US" sz="2400" dirty="0">
                <a:latin typeface="Calibri" panose="020F0502020204030204" pitchFamily="34" charset="0"/>
              </a:rPr>
              <a:t>, and doesn’t reflect the true reality.</a:t>
            </a:r>
            <a:endParaRPr lang="en-US" sz="2400" dirty="0">
              <a:solidFill>
                <a:srgbClr val="C00000"/>
              </a:solidFill>
              <a:latin typeface="Calibri" panose="020F0502020204030204" pitchFamily="34" charset="0"/>
            </a:endParaRPr>
          </a:p>
        </p:txBody>
      </p:sp>
      <p:sp>
        <p:nvSpPr>
          <p:cNvPr id="38915"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4B4A7D6B-2F02-4895-AAED-A2E234DD8AA1}"/>
              </a:ext>
            </a:extLst>
          </p:cNvPr>
          <p:cNvSpPr>
            <a:spLocks noGrp="1"/>
          </p:cNvSpPr>
          <p:nvPr>
            <p:ph type="sldNum" sz="quarter" idx="12"/>
          </p:nvPr>
        </p:nvSpPr>
        <p:spPr/>
        <p:txBody>
          <a:bodyPr/>
          <a:lstStyle/>
          <a:p>
            <a:pPr>
              <a:defRPr/>
            </a:pPr>
            <a:fld id="{AC7C6917-FFA3-44CF-9703-C7E047B1380F}"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1183216" y="762000"/>
            <a:ext cx="7055380" cy="1400530"/>
          </a:xfrm>
        </p:spPr>
        <p:txBody>
          <a:bodyPr/>
          <a:lstStyle/>
          <a:p>
            <a:pPr algn="ctr"/>
            <a:r>
              <a:rPr lang="en-US" sz="3200" b="1" dirty="0">
                <a:latin typeface="Calibri" panose="020F0502020204030204" pitchFamily="34" charset="0"/>
              </a:rPr>
              <a:t>Factors Influencing the</a:t>
            </a:r>
            <a:br>
              <a:rPr lang="en-US" sz="3200" b="1" dirty="0">
                <a:latin typeface="Calibri" panose="020F0502020204030204" pitchFamily="34" charset="0"/>
              </a:rPr>
            </a:br>
            <a:r>
              <a:rPr lang="en-US" sz="3200" b="1" dirty="0">
                <a:latin typeface="Calibri" panose="020F0502020204030204" pitchFamily="34" charset="0"/>
              </a:rPr>
              <a:t>Quality of Estimates </a:t>
            </a:r>
            <a:r>
              <a:rPr lang="en-US" sz="3200" i="1" dirty="0">
                <a:latin typeface="Calibri" panose="020F0502020204030204" pitchFamily="34" charset="0"/>
              </a:rPr>
              <a:t>(cont'd…)</a:t>
            </a:r>
            <a:endParaRPr lang="en-US" sz="3200" dirty="0">
              <a:latin typeface="Calibri" panose="020F0502020204030204" pitchFamily="34" charset="0"/>
            </a:endParaRPr>
          </a:p>
        </p:txBody>
      </p:sp>
      <p:sp>
        <p:nvSpPr>
          <p:cNvPr id="39938" name="Rectangle 3"/>
          <p:cNvSpPr>
            <a:spLocks noGrp="1" noChangeArrowheads="1"/>
          </p:cNvSpPr>
          <p:nvPr>
            <p:ph idx="1"/>
          </p:nvPr>
        </p:nvSpPr>
        <p:spPr>
          <a:xfrm>
            <a:off x="515894" y="2057400"/>
            <a:ext cx="8390024" cy="4256891"/>
          </a:xfrm>
        </p:spPr>
        <p:txBody>
          <a:bodyPr>
            <a:normAutofit/>
          </a:bodyPr>
          <a:lstStyle/>
          <a:p>
            <a:pPr eaLnBrk="1" hangingPunct="1">
              <a:lnSpc>
                <a:spcPct val="90000"/>
              </a:lnSpc>
            </a:pPr>
            <a:r>
              <a:rPr lang="en-US" sz="2400" b="1" dirty="0">
                <a:latin typeface="Calibri" panose="020F0502020204030204" pitchFamily="34" charset="0"/>
              </a:rPr>
              <a:t>Organization Culture</a:t>
            </a:r>
            <a:br>
              <a:rPr lang="en-US" sz="2400" dirty="0">
                <a:latin typeface="Calibri" panose="020F0502020204030204" pitchFamily="34" charset="0"/>
              </a:rPr>
            </a:br>
            <a:r>
              <a:rPr lang="en-US" sz="2400" dirty="0">
                <a:latin typeface="Calibri" panose="020F0502020204030204" pitchFamily="34" charset="0"/>
              </a:rPr>
              <a:t>Some organizations encourage padding, others place a high priority on accurate estimates. Also depending on the consequences the estimator must face if the team member does not meet the estimate determines the estimate. A clear distinction between "Estimate" and "Commitment" must be made.</a:t>
            </a:r>
          </a:p>
          <a:p>
            <a:pPr eaLnBrk="1" hangingPunct="1">
              <a:lnSpc>
                <a:spcPct val="90000"/>
              </a:lnSpc>
            </a:pPr>
            <a:r>
              <a:rPr lang="en-US" sz="2400" b="1" dirty="0">
                <a:latin typeface="Calibri" panose="020F0502020204030204" pitchFamily="34" charset="0"/>
              </a:rPr>
              <a:t>Other Factors</a:t>
            </a:r>
            <a:br>
              <a:rPr lang="en-US" sz="2400" dirty="0">
                <a:latin typeface="Calibri" panose="020F0502020204030204" pitchFamily="34" charset="0"/>
              </a:rPr>
            </a:br>
            <a:r>
              <a:rPr lang="en-US" sz="2400" dirty="0">
                <a:latin typeface="Calibri" panose="020F0502020204030204" pitchFamily="34" charset="0"/>
              </a:rPr>
              <a:t>Non project related factors also have an impact on the estimation accuracy. Some factors are for example: equipment downtime, sickness, vacation, holidays, legal limits, project priority.</a:t>
            </a:r>
          </a:p>
        </p:txBody>
      </p:sp>
      <p:sp>
        <p:nvSpPr>
          <p:cNvPr id="39939"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F65AB868-953E-4F5B-A36D-B9B71DFD8FBA}"/>
              </a:ext>
            </a:extLst>
          </p:cNvPr>
          <p:cNvSpPr>
            <a:spLocks noGrp="1"/>
          </p:cNvSpPr>
          <p:nvPr>
            <p:ph type="sldNum" sz="quarter" idx="12"/>
          </p:nvPr>
        </p:nvSpPr>
        <p:spPr/>
        <p:txBody>
          <a:bodyPr/>
          <a:lstStyle/>
          <a:p>
            <a:pPr>
              <a:defRPr/>
            </a:pPr>
            <a:fld id="{AC7C6917-FFA3-44CF-9703-C7E047B1380F}"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582613" y="571500"/>
            <a:ext cx="8153400" cy="685800"/>
          </a:xfrm>
        </p:spPr>
        <p:txBody>
          <a:bodyPr/>
          <a:lstStyle/>
          <a:p>
            <a:pPr algn="ctr" eaLnBrk="1" hangingPunct="1"/>
            <a:r>
              <a:rPr lang="en-US" sz="3200" b="1" dirty="0">
                <a:latin typeface="Calibri" panose="020F0502020204030204" pitchFamily="34" charset="0"/>
              </a:rPr>
              <a:t>Creating A Project Budget</a:t>
            </a:r>
          </a:p>
        </p:txBody>
      </p:sp>
      <p:sp>
        <p:nvSpPr>
          <p:cNvPr id="24579" name="Rectangle 3"/>
          <p:cNvSpPr>
            <a:spLocks noGrp="1" noChangeArrowheads="1"/>
          </p:cNvSpPr>
          <p:nvPr>
            <p:ph idx="1"/>
          </p:nvPr>
        </p:nvSpPr>
        <p:spPr>
          <a:xfrm>
            <a:off x="752475" y="1600200"/>
            <a:ext cx="7813675" cy="2933700"/>
          </a:xfrm>
        </p:spPr>
        <p:txBody>
          <a:bodyPr>
            <a:normAutofit/>
          </a:bodyPr>
          <a:lstStyle/>
          <a:p>
            <a:pPr>
              <a:lnSpc>
                <a:spcPct val="90000"/>
              </a:lnSpc>
              <a:buFont typeface="Wingdings" panose="05000000000000000000" pitchFamily="2" charset="2"/>
              <a:buChar char="ü"/>
              <a:defRPr/>
            </a:pPr>
            <a:r>
              <a:rPr lang="en-US" sz="2000" dirty="0">
                <a:latin typeface="Calibri" panose="020F0502020204030204" pitchFamily="34" charset="0"/>
              </a:rPr>
              <a:t>The process of developing a project budget is an interesting mix of estimation, analysis, intuition, and repetitive work. The central goal of a budget is the need to support rather than conflict with the project's goals. </a:t>
            </a:r>
          </a:p>
          <a:p>
            <a:pPr>
              <a:lnSpc>
                <a:spcPct val="90000"/>
              </a:lnSpc>
              <a:buFont typeface="Wingdings" panose="05000000000000000000" pitchFamily="2" charset="2"/>
              <a:buChar char="ü"/>
              <a:defRPr/>
            </a:pPr>
            <a:r>
              <a:rPr lang="en-US" sz="2000" dirty="0">
                <a:latin typeface="Calibri" panose="020F0502020204030204" pitchFamily="34" charset="0"/>
              </a:rPr>
              <a:t>Perhaps most importantly, the project budget and project schedule must be created in tandem. The budget effectively determines whether or not project milestones can be achieved. </a:t>
            </a:r>
          </a:p>
        </p:txBody>
      </p:sp>
      <p:sp>
        <p:nvSpPr>
          <p:cNvPr id="41987"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pic>
        <p:nvPicPr>
          <p:cNvPr id="51202" name="Picture 2" descr="http://exclusive.multibriefs.com/images/exclusive/0102budget.jpg"/>
          <p:cNvPicPr>
            <a:picLocks noChangeAspect="1" noChangeArrowheads="1"/>
          </p:cNvPicPr>
          <p:nvPr/>
        </p:nvPicPr>
        <p:blipFill>
          <a:blip r:embed="rId2" cstate="print"/>
          <a:srcRect/>
          <a:stretch>
            <a:fillRect/>
          </a:stretch>
        </p:blipFill>
        <p:spPr bwMode="auto">
          <a:xfrm>
            <a:off x="5079926" y="4191000"/>
            <a:ext cx="3315318" cy="2102644"/>
          </a:xfrm>
          <a:prstGeom prst="rect">
            <a:avLst/>
          </a:prstGeom>
          <a:noFill/>
        </p:spPr>
      </p:pic>
      <p:sp>
        <p:nvSpPr>
          <p:cNvPr id="6" name="Slide Number Placeholder 5">
            <a:extLst>
              <a:ext uri="{FF2B5EF4-FFF2-40B4-BE49-F238E27FC236}">
                <a16:creationId xmlns:a16="http://schemas.microsoft.com/office/drawing/2014/main" id="{C84B6F63-F8E0-42A6-AF40-B70FB6EE65CA}"/>
              </a:ext>
            </a:extLst>
          </p:cNvPr>
          <p:cNvSpPr>
            <a:spLocks noGrp="1"/>
          </p:cNvSpPr>
          <p:nvPr>
            <p:ph type="sldNum" sz="quarter" idx="12"/>
          </p:nvPr>
        </p:nvSpPr>
        <p:spPr/>
        <p:txBody>
          <a:bodyPr/>
          <a:lstStyle/>
          <a:p>
            <a:pPr>
              <a:defRPr/>
            </a:pPr>
            <a:fld id="{AC7C6917-FFA3-44CF-9703-C7E047B1380F}"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1346046" y="922713"/>
            <a:ext cx="6626531" cy="685800"/>
          </a:xfrm>
        </p:spPr>
        <p:txBody>
          <a:bodyPr/>
          <a:lstStyle/>
          <a:p>
            <a:pPr algn="ctr" eaLnBrk="1" hangingPunct="1"/>
            <a:r>
              <a:rPr lang="en-US" sz="3200" b="1" dirty="0">
                <a:latin typeface="Calibri" panose="020F0502020204030204" pitchFamily="34" charset="0"/>
              </a:rPr>
              <a:t>Creating A Project Budget</a:t>
            </a:r>
          </a:p>
        </p:txBody>
      </p:sp>
      <p:sp>
        <p:nvSpPr>
          <p:cNvPr id="24579" name="Rectangle 3"/>
          <p:cNvSpPr>
            <a:spLocks noGrp="1" noChangeArrowheads="1"/>
          </p:cNvSpPr>
          <p:nvPr>
            <p:ph idx="1"/>
          </p:nvPr>
        </p:nvSpPr>
        <p:spPr>
          <a:xfrm>
            <a:off x="705156" y="1752600"/>
            <a:ext cx="7908313" cy="2628900"/>
          </a:xfrm>
        </p:spPr>
        <p:txBody>
          <a:bodyPr>
            <a:normAutofit/>
          </a:bodyPr>
          <a:lstStyle/>
          <a:p>
            <a:pPr marL="320040" indent="-320040" eaLnBrk="1" fontAlgn="auto" hangingPunct="1">
              <a:lnSpc>
                <a:spcPct val="90000"/>
              </a:lnSpc>
              <a:spcAft>
                <a:spcPts val="0"/>
              </a:spcAft>
              <a:buFontTx/>
              <a:buNone/>
              <a:defRPr/>
            </a:pPr>
            <a:r>
              <a:rPr lang="en-US" sz="2000" dirty="0"/>
              <a:t> </a:t>
            </a:r>
          </a:p>
          <a:p>
            <a:pPr>
              <a:lnSpc>
                <a:spcPct val="90000"/>
              </a:lnSpc>
              <a:buFont typeface="Wingdings" panose="05000000000000000000" pitchFamily="2" charset="2"/>
              <a:buChar char="ü"/>
              <a:defRPr/>
            </a:pPr>
            <a:r>
              <a:rPr lang="en-US" dirty="0">
                <a:latin typeface="Calibri" panose="020F0502020204030204" pitchFamily="34" charset="0"/>
              </a:rPr>
              <a:t>Several important issues go into the project budget, including cash flow -  income and expenses </a:t>
            </a:r>
            <a:r>
              <a:rPr lang="en-US" i="1" dirty="0">
                <a:latin typeface="Calibri" panose="020F0502020204030204" pitchFamily="34" charset="0"/>
              </a:rPr>
              <a:t>(tools, prototypes, labor,...)</a:t>
            </a:r>
          </a:p>
          <a:p>
            <a:pPr>
              <a:lnSpc>
                <a:spcPct val="90000"/>
              </a:lnSpc>
              <a:buFont typeface="Wingdings" panose="05000000000000000000" pitchFamily="2" charset="2"/>
              <a:buChar char="ü"/>
              <a:defRPr/>
            </a:pPr>
            <a:r>
              <a:rPr lang="en-US" dirty="0">
                <a:latin typeface="Calibri" panose="020F0502020204030204" pitchFamily="34" charset="0"/>
              </a:rPr>
              <a:t>Expected revenue streams including  </a:t>
            </a:r>
            <a:r>
              <a:rPr lang="en-US" i="1" dirty="0">
                <a:latin typeface="Calibri" panose="020F0502020204030204" pitchFamily="34" charset="0"/>
              </a:rPr>
              <a:t>(expected sales, royalties, ...)</a:t>
            </a:r>
          </a:p>
        </p:txBody>
      </p:sp>
      <p:sp>
        <p:nvSpPr>
          <p:cNvPr id="41987"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pic>
        <p:nvPicPr>
          <p:cNvPr id="51202" name="Picture 2" descr="http://exclusive.multibriefs.com/images/exclusive/0102budget.jpg"/>
          <p:cNvPicPr>
            <a:picLocks noChangeAspect="1" noChangeArrowheads="1"/>
          </p:cNvPicPr>
          <p:nvPr/>
        </p:nvPicPr>
        <p:blipFill>
          <a:blip r:embed="rId2" cstate="print"/>
          <a:srcRect/>
          <a:stretch>
            <a:fillRect/>
          </a:stretch>
        </p:blipFill>
        <p:spPr bwMode="auto">
          <a:xfrm>
            <a:off x="5050195" y="3886200"/>
            <a:ext cx="3315318" cy="2212975"/>
          </a:xfrm>
          <a:prstGeom prst="rect">
            <a:avLst/>
          </a:prstGeom>
          <a:noFill/>
        </p:spPr>
      </p:pic>
      <p:sp>
        <p:nvSpPr>
          <p:cNvPr id="6" name="Slide Number Placeholder 5">
            <a:extLst>
              <a:ext uri="{FF2B5EF4-FFF2-40B4-BE49-F238E27FC236}">
                <a16:creationId xmlns:a16="http://schemas.microsoft.com/office/drawing/2014/main" id="{57FD0EFE-6F36-4059-8CBB-CF3EEE47EC1E}"/>
              </a:ext>
            </a:extLst>
          </p:cNvPr>
          <p:cNvSpPr>
            <a:spLocks noGrp="1"/>
          </p:cNvSpPr>
          <p:nvPr>
            <p:ph type="sldNum" sz="quarter" idx="12"/>
          </p:nvPr>
        </p:nvSpPr>
        <p:spPr/>
        <p:txBody>
          <a:bodyPr/>
          <a:lstStyle/>
          <a:p>
            <a:pPr>
              <a:defRPr/>
            </a:pPr>
            <a:fld id="{AC7C6917-FFA3-44CF-9703-C7E047B1380F}" type="slidenum">
              <a:rPr lang="en-US" smtClean="0"/>
              <a:pPr>
                <a:defRPr/>
              </a:pPr>
              <a:t>21</a:t>
            </a:fld>
            <a:endParaRPr lang="en-US"/>
          </a:p>
        </p:txBody>
      </p:sp>
    </p:spTree>
    <p:extLst>
      <p:ext uri="{BB962C8B-B14F-4D97-AF65-F5344CB8AC3E}">
        <p14:creationId xmlns:p14="http://schemas.microsoft.com/office/powerpoint/2010/main" val="224368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a:xfrm>
            <a:off x="1548245" y="892175"/>
            <a:ext cx="5867400" cy="717550"/>
          </a:xfrm>
        </p:spPr>
        <p:txBody>
          <a:bodyPr/>
          <a:lstStyle/>
          <a:p>
            <a:pPr algn="ctr" eaLnBrk="1" hangingPunct="1"/>
            <a:r>
              <a:rPr lang="en-US" sz="3200" b="1" dirty="0">
                <a:latin typeface="Calibri" panose="020F0502020204030204" pitchFamily="34" charset="0"/>
              </a:rPr>
              <a:t>Top-Down Budgeting</a:t>
            </a:r>
          </a:p>
        </p:txBody>
      </p:sp>
      <p:sp>
        <p:nvSpPr>
          <p:cNvPr id="43010" name="Rectangle 3"/>
          <p:cNvSpPr>
            <a:spLocks noGrp="1" noChangeArrowheads="1"/>
          </p:cNvSpPr>
          <p:nvPr>
            <p:ph idx="1"/>
          </p:nvPr>
        </p:nvSpPr>
        <p:spPr>
          <a:xfrm>
            <a:off x="405245" y="1981200"/>
            <a:ext cx="8153400" cy="2895600"/>
          </a:xfrm>
        </p:spPr>
        <p:txBody>
          <a:bodyPr>
            <a:normAutofit/>
          </a:bodyPr>
          <a:lstStyle/>
          <a:p>
            <a:pPr eaLnBrk="1" hangingPunct="1">
              <a:lnSpc>
                <a:spcPct val="80000"/>
              </a:lnSpc>
              <a:buFont typeface="Wingdings" panose="05000000000000000000" pitchFamily="2" charset="2"/>
              <a:buChar char="Ø"/>
            </a:pPr>
            <a:r>
              <a:rPr lang="en-US" dirty="0">
                <a:latin typeface="Calibri" panose="020F0502020204030204" pitchFamily="34" charset="0"/>
              </a:rPr>
              <a:t>Requires the direct input from the organizations top-management. </a:t>
            </a:r>
          </a:p>
          <a:p>
            <a:pPr eaLnBrk="1" hangingPunct="1">
              <a:lnSpc>
                <a:spcPct val="80000"/>
              </a:lnSpc>
              <a:buFont typeface="Wingdings" panose="05000000000000000000" pitchFamily="2" charset="2"/>
              <a:buChar char="Ø"/>
            </a:pPr>
            <a:endParaRPr lang="en-US" dirty="0">
              <a:latin typeface="Calibri" panose="020F0502020204030204" pitchFamily="34" charset="0"/>
            </a:endParaRPr>
          </a:p>
          <a:p>
            <a:pPr eaLnBrk="1" hangingPunct="1">
              <a:lnSpc>
                <a:spcPct val="80000"/>
              </a:lnSpc>
              <a:buFont typeface="Wingdings" panose="05000000000000000000" pitchFamily="2" charset="2"/>
              <a:buChar char="Ø"/>
            </a:pPr>
            <a:r>
              <a:rPr lang="en-US" dirty="0">
                <a:latin typeface="Calibri" panose="020F0502020204030204" pitchFamily="34" charset="0"/>
              </a:rPr>
              <a:t>This approach interviews senior management to get their opinion and experiences regarding the cost estimated. </a:t>
            </a:r>
          </a:p>
          <a:p>
            <a:pPr eaLnBrk="1" hangingPunct="1">
              <a:lnSpc>
                <a:spcPct val="80000"/>
              </a:lnSpc>
              <a:buFont typeface="Wingdings" panose="05000000000000000000" pitchFamily="2" charset="2"/>
              <a:buChar char="Ø"/>
            </a:pPr>
            <a:endParaRPr lang="en-US" dirty="0">
              <a:latin typeface="Calibri" panose="020F0502020204030204" pitchFamily="34" charset="0"/>
            </a:endParaRPr>
          </a:p>
          <a:p>
            <a:pPr eaLnBrk="1" hangingPunct="1">
              <a:lnSpc>
                <a:spcPct val="80000"/>
              </a:lnSpc>
              <a:buFont typeface="Wingdings" panose="05000000000000000000" pitchFamily="2" charset="2"/>
              <a:buChar char="Ø"/>
            </a:pPr>
            <a:r>
              <a:rPr lang="en-US" dirty="0">
                <a:latin typeface="Calibri" panose="020F0502020204030204" pitchFamily="34" charset="0"/>
              </a:rPr>
              <a:t>This assumes that senior management is experienced with past projects and is in a position to provide accurate estimates for future project ventures. </a:t>
            </a:r>
          </a:p>
          <a:p>
            <a:pPr marL="0" indent="0" eaLnBrk="1" hangingPunct="1">
              <a:lnSpc>
                <a:spcPct val="80000"/>
              </a:lnSpc>
              <a:buNone/>
            </a:pPr>
            <a:endParaRPr lang="en-US" dirty="0">
              <a:latin typeface="Calibri" panose="020F0502020204030204" pitchFamily="34" charset="0"/>
            </a:endParaRPr>
          </a:p>
        </p:txBody>
      </p:sp>
      <p:sp>
        <p:nvSpPr>
          <p:cNvPr id="43011"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7AB8AFA1-4045-4EA6-ADAA-C678D43A797B}"/>
              </a:ext>
            </a:extLst>
          </p:cNvPr>
          <p:cNvSpPr>
            <a:spLocks noGrp="1"/>
          </p:cNvSpPr>
          <p:nvPr>
            <p:ph type="sldNum" sz="quarter" idx="12"/>
          </p:nvPr>
        </p:nvSpPr>
        <p:spPr/>
        <p:txBody>
          <a:bodyPr/>
          <a:lstStyle/>
          <a:p>
            <a:pPr>
              <a:defRPr/>
            </a:pPr>
            <a:fld id="{AC7C6917-FFA3-44CF-9703-C7E047B1380F}" type="slidenum">
              <a:rPr lang="en-US" smtClean="0"/>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a:xfrm>
            <a:off x="716973" y="885639"/>
            <a:ext cx="7543800" cy="717550"/>
          </a:xfrm>
        </p:spPr>
        <p:txBody>
          <a:bodyPr/>
          <a:lstStyle/>
          <a:p>
            <a:pPr algn="ctr" eaLnBrk="1" hangingPunct="1"/>
            <a:r>
              <a:rPr lang="en-US" sz="3200" b="1" dirty="0">
                <a:latin typeface="Calibri" panose="020F0502020204030204" pitchFamily="34" charset="0"/>
              </a:rPr>
              <a:t>Top-Down Budgeting </a:t>
            </a:r>
            <a:r>
              <a:rPr lang="en-US" sz="3200" i="1" dirty="0">
                <a:latin typeface="Calibri" panose="020F0502020204030204" pitchFamily="34" charset="0"/>
              </a:rPr>
              <a:t>(cont’d…)</a:t>
            </a:r>
          </a:p>
        </p:txBody>
      </p:sp>
      <p:sp>
        <p:nvSpPr>
          <p:cNvPr id="43010" name="Rectangle 3"/>
          <p:cNvSpPr>
            <a:spLocks noGrp="1" noChangeArrowheads="1"/>
          </p:cNvSpPr>
          <p:nvPr>
            <p:ph idx="1"/>
          </p:nvPr>
        </p:nvSpPr>
        <p:spPr>
          <a:xfrm>
            <a:off x="297873" y="2057400"/>
            <a:ext cx="8382000" cy="3352800"/>
          </a:xfrm>
        </p:spPr>
        <p:txBody>
          <a:bodyPr>
            <a:normAutofit/>
          </a:bodyPr>
          <a:lstStyle/>
          <a:p>
            <a:pPr eaLnBrk="1" hangingPunct="1">
              <a:lnSpc>
                <a:spcPct val="80000"/>
              </a:lnSpc>
              <a:buFont typeface="Wingdings" panose="05000000000000000000" pitchFamily="2" charset="2"/>
              <a:buChar char="Ø"/>
            </a:pPr>
            <a:r>
              <a:rPr lang="en-US" dirty="0">
                <a:latin typeface="Calibri" panose="020F0502020204030204" pitchFamily="34" charset="0"/>
              </a:rPr>
              <a:t>They take the first stab at estimating both the overall budget and the major work packages. </a:t>
            </a:r>
          </a:p>
          <a:p>
            <a:pPr eaLnBrk="1" hangingPunct="1">
              <a:lnSpc>
                <a:spcPct val="80000"/>
              </a:lnSpc>
              <a:buFont typeface="Wingdings" panose="05000000000000000000" pitchFamily="2" charset="2"/>
              <a:buChar char="Ø"/>
            </a:pPr>
            <a:endParaRPr lang="en-US" dirty="0">
              <a:latin typeface="Calibri" panose="020F0502020204030204" pitchFamily="34" charset="0"/>
            </a:endParaRPr>
          </a:p>
          <a:p>
            <a:pPr eaLnBrk="1" hangingPunct="1">
              <a:lnSpc>
                <a:spcPct val="80000"/>
              </a:lnSpc>
              <a:buFont typeface="Wingdings" panose="05000000000000000000" pitchFamily="2" charset="2"/>
              <a:buChar char="Ø"/>
            </a:pPr>
            <a:r>
              <a:rPr lang="en-US" dirty="0">
                <a:latin typeface="Calibri" panose="020F0502020204030204" pitchFamily="34" charset="0"/>
              </a:rPr>
              <a:t>These projections are then passed down the hierarchy to the next functional department level, where additional more detailed information is being collected. </a:t>
            </a:r>
          </a:p>
          <a:p>
            <a:pPr eaLnBrk="1" hangingPunct="1">
              <a:lnSpc>
                <a:spcPct val="80000"/>
              </a:lnSpc>
              <a:buFont typeface="Wingdings" panose="05000000000000000000" pitchFamily="2" charset="2"/>
              <a:buChar char="Ø"/>
            </a:pPr>
            <a:endParaRPr lang="en-US" dirty="0">
              <a:latin typeface="Calibri" panose="020F0502020204030204" pitchFamily="34" charset="0"/>
            </a:endParaRPr>
          </a:p>
          <a:p>
            <a:pPr eaLnBrk="1" hangingPunct="1">
              <a:lnSpc>
                <a:spcPct val="80000"/>
              </a:lnSpc>
              <a:buFont typeface="Wingdings" panose="05000000000000000000" pitchFamily="2" charset="2"/>
              <a:buChar char="Ø"/>
            </a:pPr>
            <a:r>
              <a:rPr lang="en-US" dirty="0">
                <a:latin typeface="Calibri" panose="020F0502020204030204" pitchFamily="34" charset="0"/>
              </a:rPr>
              <a:t>At each step down the hierarchy, the project is broken down into more detailed pieces, until project personnel who are actually doing the work provide the input on a task-by-task bases. </a:t>
            </a:r>
          </a:p>
        </p:txBody>
      </p:sp>
      <p:sp>
        <p:nvSpPr>
          <p:cNvPr id="43011"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07678E2D-105D-46A4-BF4C-4D78B073CDCF}"/>
              </a:ext>
            </a:extLst>
          </p:cNvPr>
          <p:cNvSpPr>
            <a:spLocks noGrp="1"/>
          </p:cNvSpPr>
          <p:nvPr>
            <p:ph type="sldNum" sz="quarter" idx="12"/>
          </p:nvPr>
        </p:nvSpPr>
        <p:spPr/>
        <p:txBody>
          <a:bodyPr/>
          <a:lstStyle/>
          <a:p>
            <a:pPr>
              <a:defRPr/>
            </a:pPr>
            <a:fld id="{AC7C6917-FFA3-44CF-9703-C7E047B1380F}" type="slidenum">
              <a:rPr lang="en-US" smtClean="0"/>
              <a:pPr>
                <a:defRPr/>
              </a:pPr>
              <a:t>23</a:t>
            </a:fld>
            <a:endParaRPr lang="en-US"/>
          </a:p>
        </p:txBody>
      </p:sp>
    </p:spTree>
    <p:extLst>
      <p:ext uri="{BB962C8B-B14F-4D97-AF65-F5344CB8AC3E}">
        <p14:creationId xmlns:p14="http://schemas.microsoft.com/office/powerpoint/2010/main" val="750122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5"/>
          <p:cNvSpPr>
            <a:spLocks noGrp="1" noChangeArrowheads="1"/>
          </p:cNvSpPr>
          <p:nvPr>
            <p:ph type="title"/>
          </p:nvPr>
        </p:nvSpPr>
        <p:spPr>
          <a:xfrm>
            <a:off x="854151" y="1143000"/>
            <a:ext cx="7435697" cy="850900"/>
          </a:xfrm>
        </p:spPr>
        <p:txBody>
          <a:bodyPr/>
          <a:lstStyle/>
          <a:p>
            <a:pPr algn="ctr" eaLnBrk="1" hangingPunct="1"/>
            <a:r>
              <a:rPr lang="en-US" sz="3200" b="1" dirty="0">
                <a:latin typeface="Calibri" panose="020F0502020204030204" pitchFamily="34" charset="0"/>
              </a:rPr>
              <a:t>Disadvantages with Top-Down-Budgeting</a:t>
            </a:r>
          </a:p>
        </p:txBody>
      </p:sp>
      <p:sp>
        <p:nvSpPr>
          <p:cNvPr id="44034" name="Rectangle 3"/>
          <p:cNvSpPr>
            <a:spLocks noGrp="1" noChangeArrowheads="1"/>
          </p:cNvSpPr>
          <p:nvPr>
            <p:ph idx="1"/>
          </p:nvPr>
        </p:nvSpPr>
        <p:spPr>
          <a:xfrm>
            <a:off x="461355" y="2209800"/>
            <a:ext cx="8229600" cy="3781425"/>
          </a:xfrm>
        </p:spPr>
        <p:txBody>
          <a:bodyPr>
            <a:normAutofit/>
          </a:bodyPr>
          <a:lstStyle/>
          <a:p>
            <a:pPr eaLnBrk="1" hangingPunct="1">
              <a:buFont typeface="Wingdings" panose="05000000000000000000" pitchFamily="2" charset="2"/>
              <a:buChar char="Ø"/>
            </a:pPr>
            <a:r>
              <a:rPr lang="en-US" dirty="0">
                <a:latin typeface="Calibri" panose="020F0502020204030204" pitchFamily="34" charset="0"/>
              </a:rPr>
              <a:t>This approach can create a certain amount of friction within the organization. </a:t>
            </a:r>
          </a:p>
          <a:p>
            <a:pPr eaLnBrk="1" hangingPunct="1">
              <a:buFont typeface="Wingdings" panose="05000000000000000000" pitchFamily="2" charset="2"/>
              <a:buChar char="Ø"/>
            </a:pPr>
            <a:r>
              <a:rPr lang="en-US" dirty="0">
                <a:latin typeface="Calibri" panose="020F0502020204030204" pitchFamily="34" charset="0"/>
              </a:rPr>
              <a:t>When top management establishes an overall budget at the start, they are in essence driving a stake in the ground saying: "This is all we will spend on this project!". </a:t>
            </a:r>
          </a:p>
          <a:p>
            <a:pPr eaLnBrk="1" hangingPunct="1">
              <a:buFont typeface="Wingdings" panose="05000000000000000000" pitchFamily="2" charset="2"/>
              <a:buChar char="Ø"/>
            </a:pPr>
            <a:r>
              <a:rPr lang="en-US" dirty="0">
                <a:latin typeface="Calibri" panose="020F0502020204030204" pitchFamily="34" charset="0"/>
              </a:rPr>
              <a:t>As a result all levels below must make their estimates fit within the context of the overall budget. </a:t>
            </a:r>
          </a:p>
          <a:p>
            <a:pPr eaLnBrk="1" hangingPunct="1">
              <a:buFont typeface="Wingdings" panose="05000000000000000000" pitchFamily="2" charset="2"/>
              <a:buChar char="Ø"/>
            </a:pPr>
            <a:r>
              <a:rPr lang="en-US" dirty="0">
                <a:latin typeface="Calibri" panose="020F0502020204030204" pitchFamily="34" charset="0"/>
              </a:rPr>
              <a:t>This process naturally leads to jockeying among different functions. The game has turned into a zero-sum-game. The more engineering gets, the less there is for purchasing to spend.</a:t>
            </a:r>
          </a:p>
        </p:txBody>
      </p:sp>
      <p:sp>
        <p:nvSpPr>
          <p:cNvPr id="44035" name="Text Box 4"/>
          <p:cNvSpPr txBox="1">
            <a:spLocks noChangeArrowheads="1"/>
          </p:cNvSpPr>
          <p:nvPr/>
        </p:nvSpPr>
        <p:spPr bwMode="auto">
          <a:xfrm>
            <a:off x="2608263" y="207963"/>
            <a:ext cx="184150" cy="366712"/>
          </a:xfrm>
          <a:prstGeom prst="rect">
            <a:avLst/>
          </a:prstGeom>
          <a:noFill/>
          <a:ln w="9525">
            <a:noFill/>
            <a:miter lim="800000"/>
            <a:headEnd/>
            <a:tailEnd/>
          </a:ln>
        </p:spPr>
        <p:txBody>
          <a:bodyPr wrap="none">
            <a:spAutoFit/>
          </a:bodyPr>
          <a:lstStyle/>
          <a:p>
            <a:endParaRPr lang="en-US"/>
          </a:p>
        </p:txBody>
      </p:sp>
      <p:sp>
        <p:nvSpPr>
          <p:cNvPr id="44036"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185A07BE-D04E-4CD0-B6C8-690F99DEDDED}"/>
              </a:ext>
            </a:extLst>
          </p:cNvPr>
          <p:cNvSpPr>
            <a:spLocks noGrp="1"/>
          </p:cNvSpPr>
          <p:nvPr>
            <p:ph type="sldNum" sz="quarter" idx="12"/>
          </p:nvPr>
        </p:nvSpPr>
        <p:spPr/>
        <p:txBody>
          <a:bodyPr/>
          <a:lstStyle/>
          <a:p>
            <a:pPr>
              <a:defRPr/>
            </a:pPr>
            <a:fld id="{AC7C6917-FFA3-44CF-9703-C7E047B1380F}"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4"/>
          <p:cNvSpPr>
            <a:spLocks noGrp="1" noChangeArrowheads="1"/>
          </p:cNvSpPr>
          <p:nvPr>
            <p:ph type="title"/>
          </p:nvPr>
        </p:nvSpPr>
        <p:spPr>
          <a:xfrm>
            <a:off x="903460" y="1402657"/>
            <a:ext cx="7212013" cy="633413"/>
          </a:xfrm>
        </p:spPr>
        <p:txBody>
          <a:bodyPr/>
          <a:lstStyle/>
          <a:p>
            <a:pPr algn="ctr" eaLnBrk="1" hangingPunct="1"/>
            <a:r>
              <a:rPr lang="en-US" sz="3200" b="1" dirty="0">
                <a:latin typeface="Calibri" panose="020F0502020204030204" pitchFamily="34" charset="0"/>
              </a:rPr>
              <a:t>Advantages with Top-Down-Budgeting</a:t>
            </a:r>
          </a:p>
        </p:txBody>
      </p:sp>
      <p:sp>
        <p:nvSpPr>
          <p:cNvPr id="45058" name="Rectangle 2"/>
          <p:cNvSpPr>
            <a:spLocks noGrp="1" noChangeArrowheads="1"/>
          </p:cNvSpPr>
          <p:nvPr>
            <p:ph idx="1"/>
          </p:nvPr>
        </p:nvSpPr>
        <p:spPr>
          <a:xfrm>
            <a:off x="394666" y="2403013"/>
            <a:ext cx="8229600" cy="2112962"/>
          </a:xfrm>
        </p:spPr>
        <p:txBody>
          <a:bodyPr>
            <a:normAutofit/>
          </a:bodyPr>
          <a:lstStyle/>
          <a:p>
            <a:pPr eaLnBrk="1" hangingPunct="1">
              <a:buFont typeface="Wingdings" panose="05000000000000000000" pitchFamily="2" charset="2"/>
              <a:buChar char="Ø"/>
            </a:pPr>
            <a:r>
              <a:rPr lang="en-US" dirty="0">
                <a:latin typeface="Calibri" panose="020F0502020204030204" pitchFamily="34" charset="0"/>
              </a:rPr>
              <a:t>On the positive side, research suggests that top management estimates of project costs are often quite accurate, at least in the aggregate. </a:t>
            </a:r>
          </a:p>
          <a:p>
            <a:pPr eaLnBrk="1" hangingPunct="1">
              <a:buFont typeface="Wingdings" panose="05000000000000000000" pitchFamily="2" charset="2"/>
              <a:buChar char="Ø"/>
            </a:pPr>
            <a:r>
              <a:rPr lang="en-US" dirty="0">
                <a:latin typeface="Calibri" panose="020F0502020204030204" pitchFamily="34" charset="0"/>
              </a:rPr>
              <a:t>Using this figure as a basis for drilling down to assign costs for work packages and individual tasks brings an important sense of budgetary discipline and cost control.</a:t>
            </a:r>
          </a:p>
        </p:txBody>
      </p:sp>
      <p:sp>
        <p:nvSpPr>
          <p:cNvPr id="45059" name="Text Box 3"/>
          <p:cNvSpPr txBox="1">
            <a:spLocks noChangeArrowheads="1"/>
          </p:cNvSpPr>
          <p:nvPr/>
        </p:nvSpPr>
        <p:spPr bwMode="auto">
          <a:xfrm>
            <a:off x="2608263" y="207963"/>
            <a:ext cx="184150" cy="366712"/>
          </a:xfrm>
          <a:prstGeom prst="rect">
            <a:avLst/>
          </a:prstGeom>
          <a:noFill/>
          <a:ln w="9525">
            <a:noFill/>
            <a:miter lim="800000"/>
            <a:headEnd/>
            <a:tailEnd/>
          </a:ln>
        </p:spPr>
        <p:txBody>
          <a:bodyPr wrap="none">
            <a:spAutoFit/>
          </a:bodyPr>
          <a:lstStyle/>
          <a:p>
            <a:endParaRPr lang="en-US"/>
          </a:p>
        </p:txBody>
      </p:sp>
      <p:sp>
        <p:nvSpPr>
          <p:cNvPr id="45060" name="Oval 5"/>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03CAC450-DB35-4946-8338-0F444C0CC272}"/>
              </a:ext>
            </a:extLst>
          </p:cNvPr>
          <p:cNvSpPr>
            <a:spLocks noGrp="1"/>
          </p:cNvSpPr>
          <p:nvPr>
            <p:ph type="sldNum" sz="quarter" idx="12"/>
          </p:nvPr>
        </p:nvSpPr>
        <p:spPr/>
        <p:txBody>
          <a:bodyPr/>
          <a:lstStyle/>
          <a:p>
            <a:pPr>
              <a:defRPr/>
            </a:pPr>
            <a:fld id="{AC7C6917-FFA3-44CF-9703-C7E047B1380F}" type="slidenum">
              <a:rPr lang="en-US" smtClean="0"/>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1420812" y="679579"/>
            <a:ext cx="6373813" cy="823912"/>
          </a:xfrm>
        </p:spPr>
        <p:txBody>
          <a:bodyPr/>
          <a:lstStyle/>
          <a:p>
            <a:pPr algn="ctr" eaLnBrk="1" hangingPunct="1"/>
            <a:r>
              <a:rPr lang="en-US" sz="3200" b="1" dirty="0">
                <a:latin typeface="Calibri" panose="020F0502020204030204" pitchFamily="34" charset="0"/>
              </a:rPr>
              <a:t>Bottom-Up Budgeting</a:t>
            </a:r>
          </a:p>
        </p:txBody>
      </p:sp>
      <p:sp>
        <p:nvSpPr>
          <p:cNvPr id="46082" name="Rectangle 3"/>
          <p:cNvSpPr>
            <a:spLocks noGrp="1" noChangeArrowheads="1"/>
          </p:cNvSpPr>
          <p:nvPr>
            <p:ph idx="1"/>
          </p:nvPr>
        </p:nvSpPr>
        <p:spPr>
          <a:xfrm>
            <a:off x="479426" y="1887334"/>
            <a:ext cx="8256587" cy="3200399"/>
          </a:xfrm>
        </p:spPr>
        <p:txBody>
          <a:bodyPr>
            <a:normAutofit/>
          </a:bodyPr>
          <a:lstStyle/>
          <a:p>
            <a:pPr eaLnBrk="1" hangingPunct="1">
              <a:lnSpc>
                <a:spcPct val="90000"/>
              </a:lnSpc>
              <a:buFont typeface="Wingdings" panose="05000000000000000000" pitchFamily="2" charset="2"/>
              <a:buChar char="Ø"/>
            </a:pPr>
            <a:r>
              <a:rPr lang="en-US">
                <a:latin typeface="Calibri" panose="020F0502020204030204" pitchFamily="34" charset="0"/>
              </a:rPr>
              <a:t>This approach begins inductively from the work break down structure to apply direct and indirect cost to project activities. </a:t>
            </a:r>
          </a:p>
          <a:p>
            <a:pPr eaLnBrk="1" hangingPunct="1">
              <a:lnSpc>
                <a:spcPct val="90000"/>
              </a:lnSpc>
              <a:buFont typeface="Wingdings" panose="05000000000000000000" pitchFamily="2" charset="2"/>
              <a:buChar char="Ø"/>
            </a:pPr>
            <a:endParaRPr lang="en-US">
              <a:latin typeface="Calibri" panose="020F0502020204030204" pitchFamily="34" charset="0"/>
            </a:endParaRPr>
          </a:p>
          <a:p>
            <a:pPr eaLnBrk="1" hangingPunct="1">
              <a:lnSpc>
                <a:spcPct val="90000"/>
              </a:lnSpc>
              <a:buFont typeface="Wingdings" panose="05000000000000000000" pitchFamily="2" charset="2"/>
              <a:buChar char="Ø"/>
            </a:pPr>
            <a:r>
              <a:rPr lang="en-US">
                <a:latin typeface="Calibri" panose="020F0502020204030204" pitchFamily="34" charset="0"/>
              </a:rPr>
              <a:t>The sum of the total costs associated with each activity are then aggregated, first to the work package level, then at the deliverable level. </a:t>
            </a:r>
          </a:p>
          <a:p>
            <a:pPr eaLnBrk="1" hangingPunct="1">
              <a:lnSpc>
                <a:spcPct val="90000"/>
              </a:lnSpc>
              <a:buFont typeface="Wingdings" panose="05000000000000000000" pitchFamily="2" charset="2"/>
              <a:buChar char="Ø"/>
            </a:pPr>
            <a:endParaRPr lang="en-US">
              <a:latin typeface="Calibri" panose="020F0502020204030204" pitchFamily="34" charset="0"/>
            </a:endParaRPr>
          </a:p>
          <a:p>
            <a:pPr eaLnBrk="1" hangingPunct="1">
              <a:lnSpc>
                <a:spcPct val="90000"/>
              </a:lnSpc>
              <a:buFont typeface="Wingdings" panose="05000000000000000000" pitchFamily="2" charset="2"/>
              <a:buChar char="Ø"/>
            </a:pPr>
            <a:r>
              <a:rPr lang="en-US">
                <a:latin typeface="Calibri" panose="020F0502020204030204" pitchFamily="34" charset="0"/>
              </a:rPr>
              <a:t>This goes up the WBS until the total project budget is calculated.</a:t>
            </a:r>
          </a:p>
          <a:p>
            <a:pPr eaLnBrk="1" hangingPunct="1">
              <a:lnSpc>
                <a:spcPct val="90000"/>
              </a:lnSpc>
              <a:buFont typeface="Wingdings" panose="05000000000000000000" pitchFamily="2" charset="2"/>
              <a:buChar char="Ø"/>
            </a:pPr>
            <a:endParaRPr lang="en-US" dirty="0"/>
          </a:p>
        </p:txBody>
      </p:sp>
      <p:sp>
        <p:nvSpPr>
          <p:cNvPr id="46083"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7A5EE528-3B8B-48F6-88D5-E699A7BEC787}"/>
              </a:ext>
            </a:extLst>
          </p:cNvPr>
          <p:cNvSpPr>
            <a:spLocks noGrp="1"/>
          </p:cNvSpPr>
          <p:nvPr>
            <p:ph type="sldNum" sz="quarter" idx="12"/>
          </p:nvPr>
        </p:nvSpPr>
        <p:spPr/>
        <p:txBody>
          <a:bodyPr/>
          <a:lstStyle/>
          <a:p>
            <a:pPr>
              <a:defRPr/>
            </a:pPr>
            <a:fld id="{AC7C6917-FFA3-44CF-9703-C7E047B1380F}" type="slidenum">
              <a:rPr lang="en-US" smtClean="0"/>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1202408" y="892768"/>
            <a:ext cx="6913808" cy="823912"/>
          </a:xfrm>
        </p:spPr>
        <p:txBody>
          <a:bodyPr/>
          <a:lstStyle/>
          <a:p>
            <a:pPr algn="ctr"/>
            <a:r>
              <a:rPr lang="en-US" sz="3200" b="1" dirty="0">
                <a:latin typeface="Calibri" panose="020F0502020204030204" pitchFamily="34" charset="0"/>
              </a:rPr>
              <a:t>Bottom-Up Budgeting</a:t>
            </a:r>
            <a:r>
              <a:rPr lang="en-US" sz="3200" i="1" dirty="0">
                <a:latin typeface="Calibri" panose="020F0502020204030204" pitchFamily="34" charset="0"/>
              </a:rPr>
              <a:t> (cont’d…)</a:t>
            </a:r>
            <a:endParaRPr lang="en-US" sz="3200" b="1" dirty="0">
              <a:latin typeface="Calibri" panose="020F0502020204030204" pitchFamily="34" charset="0"/>
            </a:endParaRPr>
          </a:p>
        </p:txBody>
      </p:sp>
      <p:sp>
        <p:nvSpPr>
          <p:cNvPr id="46082" name="Rectangle 3"/>
          <p:cNvSpPr>
            <a:spLocks noGrp="1" noChangeArrowheads="1"/>
          </p:cNvSpPr>
          <p:nvPr>
            <p:ph idx="1"/>
          </p:nvPr>
        </p:nvSpPr>
        <p:spPr>
          <a:xfrm>
            <a:off x="531019" y="2057400"/>
            <a:ext cx="8256587" cy="2666999"/>
          </a:xfrm>
        </p:spPr>
        <p:txBody>
          <a:bodyPr>
            <a:normAutofit/>
          </a:bodyPr>
          <a:lstStyle/>
          <a:p>
            <a:pPr eaLnBrk="1" hangingPunct="1">
              <a:lnSpc>
                <a:spcPct val="90000"/>
              </a:lnSpc>
              <a:buFont typeface="Wingdings" panose="05000000000000000000" pitchFamily="2" charset="2"/>
              <a:buChar char="Ø"/>
            </a:pPr>
            <a:r>
              <a:rPr lang="en-US" dirty="0">
                <a:latin typeface="Calibri" panose="020F0502020204030204" pitchFamily="34" charset="0"/>
              </a:rPr>
              <a:t>Functional and senior management get involved at the respective levels of summarizing to ensure that no double counting is done and to find efficiencies with the rest of the organization. </a:t>
            </a:r>
          </a:p>
          <a:p>
            <a:pPr eaLnBrk="1" hangingPunct="1">
              <a:lnSpc>
                <a:spcPct val="90000"/>
              </a:lnSpc>
              <a:buFont typeface="Wingdings" panose="05000000000000000000" pitchFamily="2" charset="2"/>
              <a:buChar char="Ø"/>
            </a:pPr>
            <a:r>
              <a:rPr lang="en-US" dirty="0">
                <a:latin typeface="Calibri" panose="020F0502020204030204" pitchFamily="34" charset="0"/>
              </a:rPr>
              <a:t>They are then responsible for creating the final master budget for the organization. </a:t>
            </a:r>
          </a:p>
        </p:txBody>
      </p:sp>
      <p:sp>
        <p:nvSpPr>
          <p:cNvPr id="46083"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10AE4303-204C-415C-B628-A72CCD1F7995}"/>
              </a:ext>
            </a:extLst>
          </p:cNvPr>
          <p:cNvSpPr>
            <a:spLocks noGrp="1"/>
          </p:cNvSpPr>
          <p:nvPr>
            <p:ph type="sldNum" sz="quarter" idx="12"/>
          </p:nvPr>
        </p:nvSpPr>
        <p:spPr/>
        <p:txBody>
          <a:bodyPr/>
          <a:lstStyle/>
          <a:p>
            <a:pPr>
              <a:defRPr/>
            </a:pPr>
            <a:fld id="{AC7C6917-FFA3-44CF-9703-C7E047B1380F}" type="slidenum">
              <a:rPr lang="en-US" smtClean="0"/>
              <a:pPr>
                <a:defRPr/>
              </a:pPr>
              <a:t>27</a:t>
            </a:fld>
            <a:endParaRPr lang="en-US"/>
          </a:p>
        </p:txBody>
      </p:sp>
    </p:spTree>
    <p:extLst>
      <p:ext uri="{BB962C8B-B14F-4D97-AF65-F5344CB8AC3E}">
        <p14:creationId xmlns:p14="http://schemas.microsoft.com/office/powerpoint/2010/main" val="3624025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043475" y="1105411"/>
            <a:ext cx="6937375" cy="823913"/>
          </a:xfrm>
        </p:spPr>
        <p:txBody>
          <a:bodyPr>
            <a:normAutofit/>
          </a:bodyPr>
          <a:lstStyle/>
          <a:p>
            <a:pPr algn="ctr" eaLnBrk="1" fontAlgn="auto" hangingPunct="1">
              <a:spcAft>
                <a:spcPts val="0"/>
              </a:spcAft>
              <a:defRPr/>
            </a:pPr>
            <a:r>
              <a:rPr lang="en-US" sz="3200" b="1" dirty="0">
                <a:latin typeface="Calibri" panose="020F0502020204030204" pitchFamily="34" charset="0"/>
              </a:rPr>
              <a:t>Advantages of Bottom-Up Budgeting</a:t>
            </a:r>
          </a:p>
        </p:txBody>
      </p:sp>
      <p:sp>
        <p:nvSpPr>
          <p:cNvPr id="47106" name="Rectangle 3"/>
          <p:cNvSpPr>
            <a:spLocks noGrp="1" noChangeArrowheads="1"/>
          </p:cNvSpPr>
          <p:nvPr>
            <p:ph idx="1"/>
          </p:nvPr>
        </p:nvSpPr>
        <p:spPr>
          <a:xfrm>
            <a:off x="421968" y="2209800"/>
            <a:ext cx="8180387" cy="3276600"/>
          </a:xfrm>
        </p:spPr>
        <p:txBody>
          <a:bodyPr>
            <a:normAutofit/>
          </a:bodyPr>
          <a:lstStyle/>
          <a:p>
            <a:pPr eaLnBrk="1" hangingPunct="1">
              <a:lnSpc>
                <a:spcPct val="90000"/>
              </a:lnSpc>
              <a:buFont typeface="Wingdings" panose="05000000000000000000" pitchFamily="2" charset="2"/>
              <a:buChar char="Ø"/>
            </a:pPr>
            <a:r>
              <a:rPr lang="en-US" dirty="0">
                <a:latin typeface="Calibri" panose="020F0502020204030204" pitchFamily="34" charset="0"/>
              </a:rPr>
              <a:t>This method emphasizes the need to create  detailed project plans, particularly work break down structure. </a:t>
            </a:r>
          </a:p>
          <a:p>
            <a:pPr eaLnBrk="1" hangingPunct="1">
              <a:lnSpc>
                <a:spcPct val="90000"/>
              </a:lnSpc>
            </a:pPr>
            <a:endParaRPr lang="en-US" dirty="0">
              <a:latin typeface="Calibri" panose="020F0502020204030204" pitchFamily="34" charset="0"/>
            </a:endParaRPr>
          </a:p>
          <a:p>
            <a:pPr eaLnBrk="1" hangingPunct="1">
              <a:lnSpc>
                <a:spcPct val="90000"/>
              </a:lnSpc>
              <a:buFont typeface="Wingdings" panose="05000000000000000000" pitchFamily="2" charset="2"/>
              <a:buChar char="Ø"/>
            </a:pPr>
            <a:r>
              <a:rPr lang="en-US" dirty="0">
                <a:latin typeface="Calibri" panose="020F0502020204030204" pitchFamily="34" charset="0"/>
              </a:rPr>
              <a:t>It also facilitates communication between project managers and functional managers. </a:t>
            </a:r>
          </a:p>
          <a:p>
            <a:pPr eaLnBrk="1" hangingPunct="1">
              <a:lnSpc>
                <a:spcPct val="90000"/>
              </a:lnSpc>
            </a:pPr>
            <a:endParaRPr lang="en-US" dirty="0">
              <a:latin typeface="Calibri" panose="020F0502020204030204" pitchFamily="34" charset="0"/>
            </a:endParaRPr>
          </a:p>
          <a:p>
            <a:pPr eaLnBrk="1" hangingPunct="1">
              <a:lnSpc>
                <a:spcPct val="90000"/>
              </a:lnSpc>
              <a:buFont typeface="Wingdings" panose="05000000000000000000" pitchFamily="2" charset="2"/>
              <a:buChar char="Ø"/>
            </a:pPr>
            <a:r>
              <a:rPr lang="en-US" dirty="0">
                <a:latin typeface="Calibri" panose="020F0502020204030204" pitchFamily="34" charset="0"/>
              </a:rPr>
              <a:t>The unique creation of each project budget allows the top management a clear view for prioritization of scarce resources.</a:t>
            </a:r>
          </a:p>
        </p:txBody>
      </p:sp>
      <p:sp>
        <p:nvSpPr>
          <p:cNvPr id="47107"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E9D5084D-91FC-471D-9D95-2B7C2000C50D}"/>
              </a:ext>
            </a:extLst>
          </p:cNvPr>
          <p:cNvSpPr>
            <a:spLocks noGrp="1"/>
          </p:cNvSpPr>
          <p:nvPr>
            <p:ph type="sldNum" sz="quarter" idx="12"/>
          </p:nvPr>
        </p:nvSpPr>
        <p:spPr/>
        <p:txBody>
          <a:bodyPr/>
          <a:lstStyle/>
          <a:p>
            <a:pPr>
              <a:defRPr/>
            </a:pPr>
            <a:fld id="{AC7C6917-FFA3-44CF-9703-C7E047B1380F}" type="slidenum">
              <a:rPr lang="en-US" smtClean="0"/>
              <a:pPr>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a:xfrm>
            <a:off x="383771" y="1255611"/>
            <a:ext cx="8283994" cy="685800"/>
          </a:xfrm>
        </p:spPr>
        <p:txBody>
          <a:bodyPr/>
          <a:lstStyle/>
          <a:p>
            <a:pPr algn="ctr" eaLnBrk="1" hangingPunct="1"/>
            <a:r>
              <a:rPr lang="en-US" sz="3200" b="1" dirty="0">
                <a:latin typeface="Calibri" panose="020F0502020204030204" pitchFamily="34" charset="0"/>
              </a:rPr>
              <a:t>Disadvantages of Bottom-Up Budgeting</a:t>
            </a:r>
          </a:p>
        </p:txBody>
      </p:sp>
      <p:sp>
        <p:nvSpPr>
          <p:cNvPr id="48130" name="Rectangle 3"/>
          <p:cNvSpPr>
            <a:spLocks noGrp="1" noChangeArrowheads="1"/>
          </p:cNvSpPr>
          <p:nvPr>
            <p:ph idx="1"/>
          </p:nvPr>
        </p:nvSpPr>
        <p:spPr>
          <a:xfrm>
            <a:off x="383771" y="2438400"/>
            <a:ext cx="8305800" cy="2442875"/>
          </a:xfrm>
        </p:spPr>
        <p:txBody>
          <a:bodyPr>
            <a:normAutofit/>
          </a:bodyPr>
          <a:lstStyle/>
          <a:p>
            <a:pPr eaLnBrk="1" hangingPunct="1">
              <a:buFont typeface="Wingdings" panose="05000000000000000000" pitchFamily="2" charset="2"/>
              <a:buChar char="Ø"/>
            </a:pPr>
            <a:r>
              <a:rPr lang="en-US" dirty="0">
                <a:latin typeface="Calibri" panose="020F0502020204030204" pitchFamily="34" charset="0"/>
              </a:rPr>
              <a:t>It reduces the top managements control of the budget process to one of oversight, rather than direct initiation.</a:t>
            </a:r>
          </a:p>
          <a:p>
            <a:pPr eaLnBrk="1" hangingPunct="1">
              <a:buFont typeface="Wingdings" panose="05000000000000000000" pitchFamily="2" charset="2"/>
              <a:buChar char="Ø"/>
            </a:pPr>
            <a:r>
              <a:rPr lang="en-US" dirty="0">
                <a:latin typeface="Calibri" panose="020F0502020204030204" pitchFamily="34" charset="0"/>
              </a:rPr>
              <a:t>This may lead to significant misalignments between the company's goals and the project goals.</a:t>
            </a:r>
          </a:p>
          <a:p>
            <a:pPr eaLnBrk="1" hangingPunct="1">
              <a:buFont typeface="Wingdings" panose="05000000000000000000" pitchFamily="2" charset="2"/>
              <a:buChar char="Ø"/>
            </a:pPr>
            <a:r>
              <a:rPr lang="en-US" dirty="0">
                <a:latin typeface="Calibri" panose="020F0502020204030204" pitchFamily="34" charset="0"/>
              </a:rPr>
              <a:t>Also the fine-tuning often accompanying this process can be time consuming as top managers adjust to the new plan.</a:t>
            </a:r>
          </a:p>
        </p:txBody>
      </p:sp>
      <p:sp>
        <p:nvSpPr>
          <p:cNvPr id="48131"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22334CC2-7410-4BD6-8843-79DF312ABA2D}"/>
              </a:ext>
            </a:extLst>
          </p:cNvPr>
          <p:cNvSpPr>
            <a:spLocks noGrp="1"/>
          </p:cNvSpPr>
          <p:nvPr>
            <p:ph type="sldNum" sz="quarter" idx="12"/>
          </p:nvPr>
        </p:nvSpPr>
        <p:spPr/>
        <p:txBody>
          <a:bodyPr/>
          <a:lstStyle/>
          <a:p>
            <a:pPr>
              <a:defRPr/>
            </a:pPr>
            <a:fld id="{AC7C6917-FFA3-44CF-9703-C7E047B1380F}"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582613" y="1063423"/>
            <a:ext cx="5484268" cy="821031"/>
          </a:xfrm>
        </p:spPr>
        <p:txBody>
          <a:bodyPr/>
          <a:lstStyle/>
          <a:p>
            <a:pPr eaLnBrk="1" hangingPunct="1"/>
            <a:r>
              <a:rPr lang="en-US" sz="3200" b="1" dirty="0">
                <a:latin typeface="Calibri" panose="020F0502020204030204" pitchFamily="34" charset="0"/>
              </a:rPr>
              <a:t>Activity-Based Costing (ABC)</a:t>
            </a:r>
          </a:p>
        </p:txBody>
      </p:sp>
      <p:sp>
        <p:nvSpPr>
          <p:cNvPr id="49154" name="Rectangle 3"/>
          <p:cNvSpPr>
            <a:spLocks noGrp="1" noChangeArrowheads="1"/>
          </p:cNvSpPr>
          <p:nvPr>
            <p:ph idx="1"/>
          </p:nvPr>
        </p:nvSpPr>
        <p:spPr>
          <a:xfrm>
            <a:off x="368300" y="3087785"/>
            <a:ext cx="8229600" cy="2466682"/>
          </a:xfrm>
        </p:spPr>
        <p:txBody>
          <a:bodyPr>
            <a:normAutofit/>
          </a:bodyPr>
          <a:lstStyle/>
          <a:p>
            <a:pPr eaLnBrk="1" hangingPunct="1">
              <a:lnSpc>
                <a:spcPct val="80000"/>
              </a:lnSpc>
              <a:buFont typeface="Wingdings" panose="05000000000000000000" pitchFamily="2" charset="2"/>
              <a:buChar char="Ø"/>
            </a:pPr>
            <a:r>
              <a:rPr lang="en-US" sz="2000" dirty="0">
                <a:latin typeface="Calibri" panose="020F0502020204030204" pitchFamily="34" charset="0"/>
              </a:rPr>
              <a:t>Activity Based Costing is a budgeting method that takes the belief that projects are based upon a series of activities and that each activity requires the use or consumption of a resource. </a:t>
            </a:r>
          </a:p>
          <a:p>
            <a:pPr eaLnBrk="1" hangingPunct="1">
              <a:lnSpc>
                <a:spcPct val="80000"/>
              </a:lnSpc>
              <a:buFont typeface="Wingdings" panose="05000000000000000000" pitchFamily="2" charset="2"/>
              <a:buChar char="Ø"/>
            </a:pPr>
            <a:r>
              <a:rPr lang="en-US" sz="2000" dirty="0">
                <a:latin typeface="Calibri" panose="020F0502020204030204" pitchFamily="34" charset="0"/>
              </a:rPr>
              <a:t>Project activities are any discrete task that the project  team undertakes to make or deliver the project. </a:t>
            </a:r>
          </a:p>
          <a:p>
            <a:pPr eaLnBrk="1" hangingPunct="1">
              <a:lnSpc>
                <a:spcPct val="80000"/>
              </a:lnSpc>
              <a:buFont typeface="Wingdings" panose="05000000000000000000" pitchFamily="2" charset="2"/>
              <a:buChar char="Ø"/>
            </a:pPr>
            <a:r>
              <a:rPr lang="en-US" sz="2000" dirty="0">
                <a:latin typeface="Calibri" panose="020F0502020204030204" pitchFamily="34" charset="0"/>
              </a:rPr>
              <a:t>Therefore by calculating the cost of each activity you can determine the cost of the project.</a:t>
            </a:r>
          </a:p>
        </p:txBody>
      </p:sp>
      <p:sp>
        <p:nvSpPr>
          <p:cNvPr id="49155"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44034" name="AutoShape 2" descr="http://www.dandb.com/smallbusiness/wp-content/uploads/2013/08/ortografia-300x243.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CA"/>
          </a:p>
        </p:txBody>
      </p:sp>
      <p:sp>
        <p:nvSpPr>
          <p:cNvPr id="44036" name="AutoShape 4" descr="https://www.dandb.com/smallbusiness/wp-content/uploads/2013/08/ortografia-300x243.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CA"/>
          </a:p>
        </p:txBody>
      </p:sp>
      <p:pic>
        <p:nvPicPr>
          <p:cNvPr id="44037" name="Picture 5" descr="C:\Users\Family New\Desktop\ortografia-300x243.png"/>
          <p:cNvPicPr>
            <a:picLocks noChangeAspect="1" noChangeArrowheads="1"/>
          </p:cNvPicPr>
          <p:nvPr/>
        </p:nvPicPr>
        <p:blipFill>
          <a:blip r:embed="rId2" cstate="print"/>
          <a:srcRect/>
          <a:stretch>
            <a:fillRect/>
          </a:stretch>
        </p:blipFill>
        <p:spPr bwMode="auto">
          <a:xfrm>
            <a:off x="5739194" y="652907"/>
            <a:ext cx="2027237" cy="1642062"/>
          </a:xfrm>
          <a:prstGeom prst="rect">
            <a:avLst/>
          </a:prstGeom>
          <a:noFill/>
        </p:spPr>
      </p:pic>
      <p:sp>
        <p:nvSpPr>
          <p:cNvPr id="6" name="Slide Number Placeholder 5">
            <a:extLst>
              <a:ext uri="{FF2B5EF4-FFF2-40B4-BE49-F238E27FC236}">
                <a16:creationId xmlns:a16="http://schemas.microsoft.com/office/drawing/2014/main" id="{67E96D0C-4FEE-462C-8E9C-45DCC08E2C6D}"/>
              </a:ext>
            </a:extLst>
          </p:cNvPr>
          <p:cNvSpPr>
            <a:spLocks noGrp="1"/>
          </p:cNvSpPr>
          <p:nvPr>
            <p:ph type="sldNum" sz="quarter" idx="12"/>
          </p:nvPr>
        </p:nvSpPr>
        <p:spPr/>
        <p:txBody>
          <a:bodyPr/>
          <a:lstStyle/>
          <a:p>
            <a:pPr>
              <a:defRPr/>
            </a:pPr>
            <a:fld id="{AC7C6917-FFA3-44CF-9703-C7E047B1380F}" type="slidenum">
              <a:rPr lang="en-US" smtClean="0"/>
              <a:pPr>
                <a:defRPr/>
              </a:pPr>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4037"/>
                                        </p:tgtEl>
                                        <p:attrNameLst>
                                          <p:attrName>style.visibility</p:attrName>
                                        </p:attrNameLst>
                                      </p:cBhvr>
                                      <p:to>
                                        <p:strVal val="visible"/>
                                      </p:to>
                                    </p:set>
                                    <p:animEffect transition="in" filter="wipe(down)">
                                      <p:cBhvr>
                                        <p:cTn id="7" dur="580">
                                          <p:stCondLst>
                                            <p:cond delay="0"/>
                                          </p:stCondLst>
                                        </p:cTn>
                                        <p:tgtEl>
                                          <p:spTgt spid="44037"/>
                                        </p:tgtEl>
                                      </p:cBhvr>
                                    </p:animEffect>
                                    <p:anim calcmode="lin" valueType="num">
                                      <p:cBhvr>
                                        <p:cTn id="8" dur="1822" tmFilter="0,0; 0.14,0.36; 0.43,0.73; 0.71,0.91; 1.0,1.0">
                                          <p:stCondLst>
                                            <p:cond delay="0"/>
                                          </p:stCondLst>
                                        </p:cTn>
                                        <p:tgtEl>
                                          <p:spTgt spid="4403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403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403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403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4037"/>
                                        </p:tgtEl>
                                        <p:attrNameLst>
                                          <p:attrName>ppt_y</p:attrName>
                                        </p:attrNameLst>
                                      </p:cBhvr>
                                      <p:tavLst>
                                        <p:tav tm="0" fmla="#ppt_y-sin(pi*$)/81">
                                          <p:val>
                                            <p:fltVal val="0"/>
                                          </p:val>
                                        </p:tav>
                                        <p:tav tm="100000">
                                          <p:val>
                                            <p:fltVal val="1"/>
                                          </p:val>
                                        </p:tav>
                                      </p:tavLst>
                                    </p:anim>
                                    <p:animScale>
                                      <p:cBhvr>
                                        <p:cTn id="13" dur="26">
                                          <p:stCondLst>
                                            <p:cond delay="650"/>
                                          </p:stCondLst>
                                        </p:cTn>
                                        <p:tgtEl>
                                          <p:spTgt spid="44037"/>
                                        </p:tgtEl>
                                      </p:cBhvr>
                                      <p:to x="100000" y="60000"/>
                                    </p:animScale>
                                    <p:animScale>
                                      <p:cBhvr>
                                        <p:cTn id="14" dur="166" decel="50000">
                                          <p:stCondLst>
                                            <p:cond delay="676"/>
                                          </p:stCondLst>
                                        </p:cTn>
                                        <p:tgtEl>
                                          <p:spTgt spid="44037"/>
                                        </p:tgtEl>
                                      </p:cBhvr>
                                      <p:to x="100000" y="100000"/>
                                    </p:animScale>
                                    <p:animScale>
                                      <p:cBhvr>
                                        <p:cTn id="15" dur="26">
                                          <p:stCondLst>
                                            <p:cond delay="1312"/>
                                          </p:stCondLst>
                                        </p:cTn>
                                        <p:tgtEl>
                                          <p:spTgt spid="44037"/>
                                        </p:tgtEl>
                                      </p:cBhvr>
                                      <p:to x="100000" y="80000"/>
                                    </p:animScale>
                                    <p:animScale>
                                      <p:cBhvr>
                                        <p:cTn id="16" dur="166" decel="50000">
                                          <p:stCondLst>
                                            <p:cond delay="1338"/>
                                          </p:stCondLst>
                                        </p:cTn>
                                        <p:tgtEl>
                                          <p:spTgt spid="44037"/>
                                        </p:tgtEl>
                                      </p:cBhvr>
                                      <p:to x="100000" y="100000"/>
                                    </p:animScale>
                                    <p:animScale>
                                      <p:cBhvr>
                                        <p:cTn id="17" dur="26">
                                          <p:stCondLst>
                                            <p:cond delay="1642"/>
                                          </p:stCondLst>
                                        </p:cTn>
                                        <p:tgtEl>
                                          <p:spTgt spid="44037"/>
                                        </p:tgtEl>
                                      </p:cBhvr>
                                      <p:to x="100000" y="90000"/>
                                    </p:animScale>
                                    <p:animScale>
                                      <p:cBhvr>
                                        <p:cTn id="18" dur="166" decel="50000">
                                          <p:stCondLst>
                                            <p:cond delay="1668"/>
                                          </p:stCondLst>
                                        </p:cTn>
                                        <p:tgtEl>
                                          <p:spTgt spid="44037"/>
                                        </p:tgtEl>
                                      </p:cBhvr>
                                      <p:to x="100000" y="100000"/>
                                    </p:animScale>
                                    <p:animScale>
                                      <p:cBhvr>
                                        <p:cTn id="19" dur="26">
                                          <p:stCondLst>
                                            <p:cond delay="1808"/>
                                          </p:stCondLst>
                                        </p:cTn>
                                        <p:tgtEl>
                                          <p:spTgt spid="44037"/>
                                        </p:tgtEl>
                                      </p:cBhvr>
                                      <p:to x="100000" y="95000"/>
                                    </p:animScale>
                                    <p:animScale>
                                      <p:cBhvr>
                                        <p:cTn id="20" dur="166" decel="50000">
                                          <p:stCondLst>
                                            <p:cond delay="1834"/>
                                          </p:stCondLst>
                                        </p:cTn>
                                        <p:tgtEl>
                                          <p:spTgt spid="4403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457200" y="981836"/>
            <a:ext cx="5366793" cy="777875"/>
          </a:xfrm>
        </p:spPr>
        <p:txBody>
          <a:bodyPr/>
          <a:lstStyle/>
          <a:p>
            <a:r>
              <a:rPr lang="en-US" sz="3200" b="1" dirty="0">
                <a:latin typeface="Calibri" panose="020F0502020204030204" pitchFamily="34" charset="0"/>
              </a:rPr>
              <a:t>Activity-Based Costing (ABC)</a:t>
            </a:r>
            <a:endParaRPr lang="en-US" sz="3200" dirty="0"/>
          </a:p>
        </p:txBody>
      </p:sp>
      <p:sp>
        <p:nvSpPr>
          <p:cNvPr id="49154" name="Rectangle 3"/>
          <p:cNvSpPr>
            <a:spLocks noGrp="1" noChangeArrowheads="1"/>
          </p:cNvSpPr>
          <p:nvPr>
            <p:ph idx="1"/>
          </p:nvPr>
        </p:nvSpPr>
        <p:spPr>
          <a:xfrm>
            <a:off x="460375" y="2667000"/>
            <a:ext cx="8229600" cy="3273425"/>
          </a:xfrm>
        </p:spPr>
        <p:txBody>
          <a:bodyPr>
            <a:normAutofit/>
          </a:bodyPr>
          <a:lstStyle/>
          <a:p>
            <a:pPr marL="533400" indent="-533400" eaLnBrk="1" hangingPunct="1">
              <a:lnSpc>
                <a:spcPct val="80000"/>
              </a:lnSpc>
              <a:buFontTx/>
              <a:buNone/>
            </a:pPr>
            <a:r>
              <a:rPr lang="en-US" sz="2000">
                <a:latin typeface="Calibri" panose="020F0502020204030204" pitchFamily="34" charset="0"/>
              </a:rPr>
              <a:t>Activity Based Costing consists of four steps:</a:t>
            </a:r>
          </a:p>
          <a:p>
            <a:pPr marL="533400" indent="-533400" eaLnBrk="1" hangingPunct="1">
              <a:lnSpc>
                <a:spcPct val="80000"/>
              </a:lnSpc>
              <a:buFontTx/>
              <a:buAutoNum type="arabicParenR"/>
            </a:pPr>
            <a:r>
              <a:rPr lang="en-US" sz="2000">
                <a:latin typeface="Calibri" panose="020F0502020204030204" pitchFamily="34" charset="0"/>
              </a:rPr>
              <a:t>Identify the activities that consume resources and assign costs to them.</a:t>
            </a:r>
          </a:p>
          <a:p>
            <a:pPr marL="533400" indent="-533400" eaLnBrk="1" hangingPunct="1">
              <a:lnSpc>
                <a:spcPct val="80000"/>
              </a:lnSpc>
              <a:buFontTx/>
              <a:buAutoNum type="arabicParenR"/>
            </a:pPr>
            <a:r>
              <a:rPr lang="en-US" sz="2000">
                <a:latin typeface="Calibri" panose="020F0502020204030204" pitchFamily="34" charset="0"/>
              </a:rPr>
              <a:t>Identify the cost drivers associated with the activity. (Personnel, materials, ...)</a:t>
            </a:r>
          </a:p>
          <a:p>
            <a:pPr marL="533400" indent="-533400" eaLnBrk="1" hangingPunct="1">
              <a:lnSpc>
                <a:spcPct val="80000"/>
              </a:lnSpc>
              <a:buFontTx/>
              <a:buAutoNum type="arabicParenR"/>
            </a:pPr>
            <a:r>
              <a:rPr lang="en-US" sz="2000">
                <a:latin typeface="Calibri" panose="020F0502020204030204" pitchFamily="34" charset="0"/>
              </a:rPr>
              <a:t>Compute a cost rate per cost driver unit or transaction. Labor is commonly expressed as cost of labor per hour.</a:t>
            </a:r>
          </a:p>
          <a:p>
            <a:pPr marL="533400" indent="-533400" eaLnBrk="1" hangingPunct="1">
              <a:lnSpc>
                <a:spcPct val="80000"/>
              </a:lnSpc>
              <a:buFontTx/>
              <a:buAutoNum type="arabicParenR"/>
            </a:pPr>
            <a:r>
              <a:rPr lang="en-US" sz="2000">
                <a:latin typeface="Calibri" panose="020F0502020204030204" pitchFamily="34" charset="0"/>
              </a:rPr>
              <a:t>Assign costs by multiplying rates by units used by the project. E.g. an engineer's rate is $60/hr and she works for 80 hrs on the project. The total cost to the project would be $4800.</a:t>
            </a:r>
            <a:endParaRPr lang="en-US" sz="2000" dirty="0">
              <a:latin typeface="Calibri" panose="020F0502020204030204" pitchFamily="34" charset="0"/>
            </a:endParaRPr>
          </a:p>
        </p:txBody>
      </p:sp>
      <p:sp>
        <p:nvSpPr>
          <p:cNvPr id="49155"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44034" name="AutoShape 2" descr="http://www.dandb.com/smallbusiness/wp-content/uploads/2013/08/ortografia-300x243.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CA"/>
          </a:p>
        </p:txBody>
      </p:sp>
      <p:sp>
        <p:nvSpPr>
          <p:cNvPr id="44036" name="AutoShape 4" descr="https://www.dandb.com/smallbusiness/wp-content/uploads/2013/08/ortografia-300x243.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CA"/>
          </a:p>
        </p:txBody>
      </p:sp>
      <p:pic>
        <p:nvPicPr>
          <p:cNvPr id="44037" name="Picture 5" descr="C:\Users\Family New\Desktop\ortografia-300x243.png"/>
          <p:cNvPicPr>
            <a:picLocks noChangeAspect="1" noChangeArrowheads="1"/>
          </p:cNvPicPr>
          <p:nvPr/>
        </p:nvPicPr>
        <p:blipFill>
          <a:blip r:embed="rId2" cstate="print"/>
          <a:srcRect/>
          <a:stretch>
            <a:fillRect/>
          </a:stretch>
        </p:blipFill>
        <p:spPr bwMode="auto">
          <a:xfrm>
            <a:off x="5433949" y="571294"/>
            <a:ext cx="2027237" cy="1642062"/>
          </a:xfrm>
          <a:prstGeom prst="rect">
            <a:avLst/>
          </a:prstGeom>
          <a:noFill/>
        </p:spPr>
      </p:pic>
      <p:sp>
        <p:nvSpPr>
          <p:cNvPr id="6" name="Slide Number Placeholder 5">
            <a:extLst>
              <a:ext uri="{FF2B5EF4-FFF2-40B4-BE49-F238E27FC236}">
                <a16:creationId xmlns:a16="http://schemas.microsoft.com/office/drawing/2014/main" id="{00E57112-CE90-4DE7-9A5E-0A8E6A8DD66E}"/>
              </a:ext>
            </a:extLst>
          </p:cNvPr>
          <p:cNvSpPr>
            <a:spLocks noGrp="1"/>
          </p:cNvSpPr>
          <p:nvPr>
            <p:ph type="sldNum" sz="quarter" idx="12"/>
          </p:nvPr>
        </p:nvSpPr>
        <p:spPr/>
        <p:txBody>
          <a:bodyPr/>
          <a:lstStyle/>
          <a:p>
            <a:pPr>
              <a:defRPr/>
            </a:pPr>
            <a:fld id="{AC7C6917-FFA3-44CF-9703-C7E047B1380F}" type="slidenum">
              <a:rPr lang="en-US" smtClean="0"/>
              <a:pPr>
                <a:defRPr/>
              </a:pPr>
              <a:t>31</a:t>
            </a:fld>
            <a:endParaRPr lang="en-US"/>
          </a:p>
        </p:txBody>
      </p:sp>
    </p:spTree>
    <p:extLst>
      <p:ext uri="{BB962C8B-B14F-4D97-AF65-F5344CB8AC3E}">
        <p14:creationId xmlns:p14="http://schemas.microsoft.com/office/powerpoint/2010/main" val="961597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44037"/>
                                        </p:tgtEl>
                                        <p:attrNameLst>
                                          <p:attrName>style.visibility</p:attrName>
                                        </p:attrNameLst>
                                      </p:cBhvr>
                                      <p:to>
                                        <p:strVal val="visible"/>
                                      </p:to>
                                    </p:set>
                                    <p:animEffect transition="in" filter="fade">
                                      <p:cBhvr>
                                        <p:cTn id="7" dur="2000"/>
                                        <p:tgtEl>
                                          <p:spTgt spid="44037"/>
                                        </p:tgtEl>
                                      </p:cBhvr>
                                    </p:animEffect>
                                    <p:anim calcmode="lin" valueType="num">
                                      <p:cBhvr>
                                        <p:cTn id="8" dur="2000" fill="hold"/>
                                        <p:tgtEl>
                                          <p:spTgt spid="44037"/>
                                        </p:tgtEl>
                                        <p:attrNameLst>
                                          <p:attrName>ppt_w</p:attrName>
                                        </p:attrNameLst>
                                      </p:cBhvr>
                                      <p:tavLst>
                                        <p:tav tm="0" fmla="#ppt_w*sin(2.5*pi*$)">
                                          <p:val>
                                            <p:fltVal val="0"/>
                                          </p:val>
                                        </p:tav>
                                        <p:tav tm="100000">
                                          <p:val>
                                            <p:fltVal val="1"/>
                                          </p:val>
                                        </p:tav>
                                      </p:tavLst>
                                    </p:anim>
                                    <p:anim calcmode="lin" valueType="num">
                                      <p:cBhvr>
                                        <p:cTn id="9" dur="2000" fill="hold"/>
                                        <p:tgtEl>
                                          <p:spTgt spid="4403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p:cNvSpPr>
            <a:spLocks noGrp="1" noChangeArrowheads="1"/>
          </p:cNvSpPr>
          <p:nvPr>
            <p:ph idx="1"/>
          </p:nvPr>
        </p:nvSpPr>
        <p:spPr>
          <a:xfrm>
            <a:off x="525616" y="2821781"/>
            <a:ext cx="8229600" cy="1079500"/>
          </a:xfrm>
        </p:spPr>
        <p:txBody>
          <a:bodyPr/>
          <a:lstStyle/>
          <a:p>
            <a:pPr eaLnBrk="1" hangingPunct="1">
              <a:buFont typeface="Wingdings" panose="05000000000000000000" pitchFamily="2" charset="2"/>
              <a:buChar char="Ø"/>
            </a:pPr>
            <a:r>
              <a:rPr lang="en-US" sz="2000" dirty="0">
                <a:latin typeface="Calibri" panose="020F0502020204030204" pitchFamily="34" charset="0"/>
              </a:rPr>
              <a:t>The table below demonstrates part of a budget. The purpose of this preliminary budget is to identify direct cost and those that apply to overhead expenses. </a:t>
            </a:r>
          </a:p>
        </p:txBody>
      </p:sp>
      <p:pic>
        <p:nvPicPr>
          <p:cNvPr id="50178" name="Picture 4"/>
          <p:cNvPicPr>
            <a:picLocks noChangeAspect="1" noChangeArrowheads="1"/>
          </p:cNvPicPr>
          <p:nvPr/>
        </p:nvPicPr>
        <p:blipFill>
          <a:blip r:embed="rId2" cstate="print"/>
          <a:srcRect/>
          <a:stretch>
            <a:fillRect/>
          </a:stretch>
        </p:blipFill>
        <p:spPr bwMode="auto">
          <a:xfrm>
            <a:off x="792245" y="4114800"/>
            <a:ext cx="7513555" cy="1825625"/>
          </a:xfrm>
          <a:prstGeom prst="rect">
            <a:avLst/>
          </a:prstGeom>
          <a:solidFill>
            <a:schemeClr val="accent1"/>
          </a:solidFill>
          <a:ln w="9525">
            <a:noFill/>
            <a:miter lim="800000"/>
            <a:headEnd/>
            <a:tailEnd/>
          </a:ln>
        </p:spPr>
      </p:pic>
      <p:sp>
        <p:nvSpPr>
          <p:cNvPr id="34823" name="Rectangle 7"/>
          <p:cNvSpPr>
            <a:spLocks noChangeArrowheads="1"/>
          </p:cNvSpPr>
          <p:nvPr/>
        </p:nvSpPr>
        <p:spPr bwMode="auto">
          <a:xfrm>
            <a:off x="520700" y="3509963"/>
            <a:ext cx="8229600" cy="782637"/>
          </a:xfrm>
          <a:prstGeom prst="rect">
            <a:avLst/>
          </a:prstGeom>
          <a:noFill/>
          <a:ln w="9525">
            <a:noFill/>
            <a:miter lim="800000"/>
            <a:headEnd/>
            <a:tailEnd/>
          </a:ln>
        </p:spPr>
        <p:txBody>
          <a:bodyPr/>
          <a:lstStyle/>
          <a:p>
            <a:pPr marL="342900" indent="-342900">
              <a:spcBef>
                <a:spcPct val="20000"/>
              </a:spcBef>
            </a:pPr>
            <a:endParaRPr lang="en-US" sz="2000"/>
          </a:p>
        </p:txBody>
      </p:sp>
      <p:sp>
        <p:nvSpPr>
          <p:cNvPr id="50180" name="Text Box 6"/>
          <p:cNvSpPr txBox="1">
            <a:spLocks noChangeArrowheads="1"/>
          </p:cNvSpPr>
          <p:nvPr/>
        </p:nvSpPr>
        <p:spPr bwMode="auto">
          <a:xfrm>
            <a:off x="520700" y="981369"/>
            <a:ext cx="5135563" cy="579438"/>
          </a:xfrm>
          <a:prstGeom prst="rect">
            <a:avLst/>
          </a:prstGeom>
          <a:noFill/>
          <a:ln w="9525">
            <a:noFill/>
            <a:miter lim="800000"/>
            <a:headEnd/>
            <a:tailEnd/>
          </a:ln>
        </p:spPr>
        <p:txBody>
          <a:bodyPr wrap="square">
            <a:spAutoFit/>
          </a:bodyPr>
          <a:lstStyle/>
          <a:p>
            <a:pPr>
              <a:spcBef>
                <a:spcPct val="50000"/>
              </a:spcBef>
            </a:pPr>
            <a:r>
              <a:rPr lang="en-US" sz="3200" b="1" dirty="0">
                <a:latin typeface="Calibri" panose="020F0502020204030204" pitchFamily="34" charset="0"/>
              </a:rPr>
              <a:t>Activity-Based Costing (ABC)</a:t>
            </a:r>
            <a:endParaRPr lang="en-US" sz="3200" dirty="0">
              <a:solidFill>
                <a:schemeClr val="tx2"/>
              </a:solidFill>
            </a:endParaRPr>
          </a:p>
        </p:txBody>
      </p:sp>
      <p:pic>
        <p:nvPicPr>
          <p:cNvPr id="6" name="Picture 5" descr="C:\Users\Family New\Desktop\ortografia-300x243.png"/>
          <p:cNvPicPr>
            <a:picLocks noChangeAspect="1" noChangeArrowheads="1"/>
          </p:cNvPicPr>
          <p:nvPr/>
        </p:nvPicPr>
        <p:blipFill>
          <a:blip r:embed="rId3" cstate="print"/>
          <a:srcRect/>
          <a:stretch>
            <a:fillRect/>
          </a:stretch>
        </p:blipFill>
        <p:spPr bwMode="auto">
          <a:xfrm>
            <a:off x="5473076" y="739776"/>
            <a:ext cx="2027237" cy="1642062"/>
          </a:xfrm>
          <a:prstGeom prst="rect">
            <a:avLst/>
          </a:prstGeom>
          <a:noFill/>
        </p:spPr>
      </p:pic>
      <p:sp>
        <p:nvSpPr>
          <p:cNvPr id="7" name="Slide Number Placeholder 6">
            <a:extLst>
              <a:ext uri="{FF2B5EF4-FFF2-40B4-BE49-F238E27FC236}">
                <a16:creationId xmlns:a16="http://schemas.microsoft.com/office/drawing/2014/main" id="{97EFAABA-495F-4535-B56A-531EDC8C337F}"/>
              </a:ext>
            </a:extLst>
          </p:cNvPr>
          <p:cNvSpPr>
            <a:spLocks noGrp="1"/>
          </p:cNvSpPr>
          <p:nvPr>
            <p:ph type="sldNum" sz="quarter" idx="12"/>
          </p:nvPr>
        </p:nvSpPr>
        <p:spPr/>
        <p:txBody>
          <a:bodyPr/>
          <a:lstStyle/>
          <a:p>
            <a:pPr>
              <a:defRPr/>
            </a:pPr>
            <a:fld id="{AC7C6917-FFA3-44CF-9703-C7E047B1380F}" type="slidenum">
              <a:rPr lang="en-US" smtClean="0"/>
              <a:pPr>
                <a:defRPr/>
              </a:pPr>
              <a:t>32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0177">
                                            <p:txEl>
                                              <p:pRg st="0" end="0"/>
                                            </p:txEl>
                                          </p:spTgt>
                                        </p:tgtEl>
                                        <p:attrNameLst>
                                          <p:attrName>style.visibility</p:attrName>
                                        </p:attrNameLst>
                                      </p:cBhvr>
                                      <p:to>
                                        <p:strVal val="visible"/>
                                      </p:to>
                                    </p:set>
                                    <p:anim calcmode="lin" valueType="num">
                                      <p:cBhvr additive="base">
                                        <p:cTn id="12" dur="500" fill="hold"/>
                                        <p:tgtEl>
                                          <p:spTgt spid="50177">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017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3" name="Rectangle 7"/>
          <p:cNvSpPr>
            <a:spLocks noChangeArrowheads="1"/>
          </p:cNvSpPr>
          <p:nvPr/>
        </p:nvSpPr>
        <p:spPr bwMode="auto">
          <a:xfrm>
            <a:off x="457200" y="2651201"/>
            <a:ext cx="8229600" cy="782638"/>
          </a:xfrm>
          <a:prstGeom prst="rect">
            <a:avLst/>
          </a:prstGeom>
          <a:noFill/>
          <a:ln w="9525">
            <a:noFill/>
            <a:miter lim="800000"/>
            <a:headEnd/>
            <a:tailEnd/>
          </a:ln>
        </p:spPr>
        <p:txBody>
          <a:bodyPr/>
          <a:lstStyle/>
          <a:p>
            <a:pPr marL="342900" indent="-342900">
              <a:spcBef>
                <a:spcPct val="20000"/>
              </a:spcBef>
              <a:buFont typeface="Wingdings" panose="05000000000000000000" pitchFamily="2" charset="2"/>
              <a:buChar char="Ø"/>
            </a:pPr>
            <a:r>
              <a:rPr lang="en-US" sz="2000" dirty="0">
                <a:latin typeface="Calibri" panose="020F0502020204030204" pitchFamily="34" charset="0"/>
              </a:rPr>
              <a:t>The next table shows a budget in which the total planned expenses are compared against actual accrued expenses.</a:t>
            </a:r>
          </a:p>
        </p:txBody>
      </p:sp>
      <p:pic>
        <p:nvPicPr>
          <p:cNvPr id="34824" name="Picture 8"/>
          <p:cNvPicPr>
            <a:picLocks noChangeAspect="1" noChangeArrowheads="1"/>
          </p:cNvPicPr>
          <p:nvPr/>
        </p:nvPicPr>
        <p:blipFill>
          <a:blip r:embed="rId2" cstate="print"/>
          <a:srcRect/>
          <a:stretch>
            <a:fillRect/>
          </a:stretch>
        </p:blipFill>
        <p:spPr bwMode="auto">
          <a:xfrm>
            <a:off x="547482" y="3581400"/>
            <a:ext cx="7848600" cy="2819400"/>
          </a:xfrm>
          <a:prstGeom prst="rect">
            <a:avLst/>
          </a:prstGeom>
          <a:solidFill>
            <a:schemeClr val="accent1"/>
          </a:solidFill>
          <a:ln w="9525">
            <a:noFill/>
            <a:miter lim="800000"/>
            <a:headEnd/>
            <a:tailEnd/>
          </a:ln>
        </p:spPr>
      </p:pic>
      <p:sp>
        <p:nvSpPr>
          <p:cNvPr id="51203" name="Text Box 6"/>
          <p:cNvSpPr>
            <a:spLocks noGrp="1" noChangeArrowheads="1"/>
          </p:cNvSpPr>
          <p:nvPr>
            <p:ph sz="quarter" idx="4294967295"/>
          </p:nvPr>
        </p:nvSpPr>
        <p:spPr>
          <a:xfrm>
            <a:off x="457200" y="1071130"/>
            <a:ext cx="5205618" cy="573087"/>
          </a:xfrm>
        </p:spPr>
        <p:txBody>
          <a:bodyPr>
            <a:normAutofit lnSpcReduction="10000"/>
          </a:bodyPr>
          <a:lstStyle/>
          <a:p>
            <a:pPr>
              <a:spcBef>
                <a:spcPct val="50000"/>
              </a:spcBef>
              <a:buClrTx/>
              <a:buSzTx/>
              <a:buNone/>
            </a:pPr>
            <a:r>
              <a:rPr lang="en-US" sz="3200" b="1" dirty="0">
                <a:latin typeface="Calibri" panose="020F0502020204030204" pitchFamily="34" charset="0"/>
              </a:rPr>
              <a:t>Activity-Based Costing (ABC)</a:t>
            </a:r>
            <a:endParaRPr lang="en-US" sz="3200" dirty="0"/>
          </a:p>
        </p:txBody>
      </p:sp>
      <p:pic>
        <p:nvPicPr>
          <p:cNvPr id="5" name="Picture 5" descr="C:\Users\Family New\Desktop\ortografia-300x243.png"/>
          <p:cNvPicPr>
            <a:picLocks noChangeAspect="1" noChangeArrowheads="1"/>
          </p:cNvPicPr>
          <p:nvPr/>
        </p:nvPicPr>
        <p:blipFill>
          <a:blip r:embed="rId3" cstate="print"/>
          <a:srcRect/>
          <a:stretch>
            <a:fillRect/>
          </a:stretch>
        </p:blipFill>
        <p:spPr bwMode="auto">
          <a:xfrm>
            <a:off x="5578729" y="796338"/>
            <a:ext cx="2027237" cy="1642062"/>
          </a:xfrm>
          <a:prstGeom prst="rect">
            <a:avLst/>
          </a:prstGeom>
          <a:noFill/>
        </p:spPr>
      </p:pic>
      <p:sp>
        <p:nvSpPr>
          <p:cNvPr id="7" name="Slide Number Placeholder 6">
            <a:extLst>
              <a:ext uri="{FF2B5EF4-FFF2-40B4-BE49-F238E27FC236}">
                <a16:creationId xmlns:a16="http://schemas.microsoft.com/office/drawing/2014/main" id="{C71F1C5B-A630-46FB-8D9C-12E263E3BCBA}"/>
              </a:ext>
            </a:extLst>
          </p:cNvPr>
          <p:cNvSpPr>
            <a:spLocks noGrp="1"/>
          </p:cNvSpPr>
          <p:nvPr>
            <p:ph type="sldNum" sz="quarter" idx="12"/>
          </p:nvPr>
        </p:nvSpPr>
        <p:spPr/>
        <p:txBody>
          <a:bodyPr/>
          <a:lstStyle/>
          <a:p>
            <a:pPr>
              <a:defRPr/>
            </a:pPr>
            <a:fld id="{EEADF7BC-888F-4A62-8264-B28B1BF14F04}" type="slidenum">
              <a:rPr lang="en-US" smtClean="0"/>
              <a:pPr>
                <a:defRPr/>
              </a:pPr>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4823">
                                            <p:txEl>
                                              <p:pRg st="0" end="0"/>
                                            </p:txEl>
                                          </p:spTgt>
                                        </p:tgtEl>
                                        <p:attrNameLst>
                                          <p:attrName>style.visibility</p:attrName>
                                        </p:attrNameLst>
                                      </p:cBhvr>
                                      <p:to>
                                        <p:strVal val="visible"/>
                                      </p:to>
                                    </p:set>
                                    <p:anim calcmode="lin" valueType="num">
                                      <p:cBhvr additive="base">
                                        <p:cTn id="25" dur="500" fill="hold"/>
                                        <p:tgtEl>
                                          <p:spTgt spid="3482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48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4824"/>
                                        </p:tgtEl>
                                        <p:attrNameLst>
                                          <p:attrName>style.visibility</p:attrName>
                                        </p:attrNameLst>
                                      </p:cBhvr>
                                      <p:to>
                                        <p:strVal val="visible"/>
                                      </p:to>
                                    </p:set>
                                    <p:animEffect transition="in" filter="fade">
                                      <p:cBhvr>
                                        <p:cTn id="31" dur="1000"/>
                                        <p:tgtEl>
                                          <p:spTgt spid="34824"/>
                                        </p:tgtEl>
                                      </p:cBhvr>
                                    </p:animEffect>
                                    <p:anim calcmode="lin" valueType="num">
                                      <p:cBhvr>
                                        <p:cTn id="32" dur="1000" fill="hold"/>
                                        <p:tgtEl>
                                          <p:spTgt spid="34824"/>
                                        </p:tgtEl>
                                        <p:attrNameLst>
                                          <p:attrName>ppt_x</p:attrName>
                                        </p:attrNameLst>
                                      </p:cBhvr>
                                      <p:tavLst>
                                        <p:tav tm="0">
                                          <p:val>
                                            <p:strVal val="#ppt_x"/>
                                          </p:val>
                                        </p:tav>
                                        <p:tav tm="100000">
                                          <p:val>
                                            <p:strVal val="#ppt_x"/>
                                          </p:val>
                                        </p:tav>
                                      </p:tavLst>
                                    </p:anim>
                                    <p:anim calcmode="lin" valueType="num">
                                      <p:cBhvr>
                                        <p:cTn id="33" dur="1000" fill="hold"/>
                                        <p:tgtEl>
                                          <p:spTgt spid="348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3"/>
          <p:cNvSpPr>
            <a:spLocks noGrp="1" noChangeArrowheads="1"/>
          </p:cNvSpPr>
          <p:nvPr>
            <p:ph type="body" sz="half" idx="1"/>
          </p:nvPr>
        </p:nvSpPr>
        <p:spPr>
          <a:xfrm>
            <a:off x="568758" y="1395557"/>
            <a:ext cx="8002588" cy="1752600"/>
          </a:xfrm>
        </p:spPr>
        <p:txBody>
          <a:bodyPr>
            <a:normAutofit/>
          </a:bodyPr>
          <a:lstStyle/>
          <a:p>
            <a:pPr eaLnBrk="1" hangingPunct="1">
              <a:buFont typeface="Wingdings" panose="05000000000000000000" pitchFamily="2" charset="2"/>
              <a:buChar char="Ø"/>
            </a:pPr>
            <a:r>
              <a:rPr lang="en-US" sz="2000" dirty="0">
                <a:latin typeface="Calibri" panose="020F0502020204030204" pitchFamily="34" charset="0"/>
              </a:rPr>
              <a:t>The next table shows the same budget in a time-phased budget. This time phased budget allocates costs across both project activities and the anticipated time in which the budget is to be expected. </a:t>
            </a:r>
          </a:p>
          <a:p>
            <a:pPr eaLnBrk="1" hangingPunct="1">
              <a:buFont typeface="Wingdings" panose="05000000000000000000" pitchFamily="2" charset="2"/>
              <a:buChar char="Ø"/>
            </a:pPr>
            <a:r>
              <a:rPr lang="en-US" sz="2000" dirty="0">
                <a:latin typeface="Calibri" panose="020F0502020204030204" pitchFamily="34" charset="0"/>
              </a:rPr>
              <a:t>This allows the project budget baseline to be matched to the project schedule baseline identifying milestones for both schedule and budget.</a:t>
            </a:r>
          </a:p>
        </p:txBody>
      </p:sp>
      <p:pic>
        <p:nvPicPr>
          <p:cNvPr id="52226" name="Picture 4"/>
          <p:cNvPicPr>
            <a:picLocks noChangeAspect="1" noChangeArrowheads="1"/>
          </p:cNvPicPr>
          <p:nvPr/>
        </p:nvPicPr>
        <p:blipFill>
          <a:blip r:embed="rId2" cstate="print"/>
          <a:srcRect/>
          <a:stretch>
            <a:fillRect/>
          </a:stretch>
        </p:blipFill>
        <p:spPr bwMode="auto">
          <a:xfrm>
            <a:off x="228600" y="3733800"/>
            <a:ext cx="4953000" cy="2057400"/>
          </a:xfrm>
          <a:prstGeom prst="rect">
            <a:avLst/>
          </a:prstGeom>
          <a:solidFill>
            <a:schemeClr val="accent1"/>
          </a:solidFill>
          <a:ln w="9525">
            <a:noFill/>
            <a:miter lim="800000"/>
            <a:headEnd/>
            <a:tailEnd/>
          </a:ln>
        </p:spPr>
      </p:pic>
      <p:sp>
        <p:nvSpPr>
          <p:cNvPr id="52227" name="Rectangle 5"/>
          <p:cNvSpPr>
            <a:spLocks noChangeArrowheads="1"/>
          </p:cNvSpPr>
          <p:nvPr/>
        </p:nvSpPr>
        <p:spPr bwMode="auto">
          <a:xfrm>
            <a:off x="457200" y="3276600"/>
            <a:ext cx="8229600" cy="1089025"/>
          </a:xfrm>
          <a:prstGeom prst="rect">
            <a:avLst/>
          </a:prstGeom>
          <a:noFill/>
          <a:ln w="9525">
            <a:noFill/>
            <a:miter lim="800000"/>
            <a:headEnd/>
            <a:tailEnd/>
          </a:ln>
        </p:spPr>
        <p:txBody>
          <a:bodyPr/>
          <a:lstStyle/>
          <a:p>
            <a:pPr marL="342900" indent="-342900">
              <a:spcBef>
                <a:spcPct val="20000"/>
              </a:spcBef>
            </a:pPr>
            <a:endParaRPr lang="en-US" sz="2000"/>
          </a:p>
        </p:txBody>
      </p:sp>
      <p:pic>
        <p:nvPicPr>
          <p:cNvPr id="37900" name="Picture 12"/>
          <p:cNvPicPr>
            <a:picLocks noChangeAspect="1" noChangeArrowheads="1"/>
          </p:cNvPicPr>
          <p:nvPr/>
        </p:nvPicPr>
        <p:blipFill>
          <a:blip r:embed="rId3" cstate="print"/>
          <a:srcRect/>
          <a:stretch>
            <a:fillRect/>
          </a:stretch>
        </p:blipFill>
        <p:spPr bwMode="auto">
          <a:xfrm>
            <a:off x="5181600" y="3276600"/>
            <a:ext cx="3860800" cy="3162300"/>
          </a:xfrm>
          <a:prstGeom prst="rect">
            <a:avLst/>
          </a:prstGeom>
          <a:noFill/>
          <a:ln w="9525">
            <a:noFill/>
            <a:miter lim="800000"/>
            <a:headEnd/>
            <a:tailEnd/>
          </a:ln>
        </p:spPr>
      </p:pic>
      <p:sp>
        <p:nvSpPr>
          <p:cNvPr id="52229" name="Oval 1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52230" name="Text Box 7"/>
          <p:cNvSpPr txBox="1">
            <a:spLocks noChangeArrowheads="1"/>
          </p:cNvSpPr>
          <p:nvPr/>
        </p:nvSpPr>
        <p:spPr bwMode="auto">
          <a:xfrm>
            <a:off x="953294" y="647469"/>
            <a:ext cx="7010400" cy="579438"/>
          </a:xfrm>
          <a:prstGeom prst="rect">
            <a:avLst/>
          </a:prstGeom>
          <a:noFill/>
          <a:ln w="9525">
            <a:noFill/>
            <a:miter lim="800000"/>
            <a:headEnd/>
            <a:tailEnd/>
          </a:ln>
        </p:spPr>
        <p:txBody>
          <a:bodyPr>
            <a:spAutoFit/>
          </a:bodyPr>
          <a:lstStyle/>
          <a:p>
            <a:pPr algn="ctr">
              <a:spcBef>
                <a:spcPct val="50000"/>
              </a:spcBef>
            </a:pPr>
            <a:r>
              <a:rPr lang="en-US" sz="3200" b="1" dirty="0">
                <a:latin typeface="Calibri" panose="020F0502020204030204" pitchFamily="34" charset="0"/>
              </a:rPr>
              <a:t>Time Phased Budgeting</a:t>
            </a:r>
          </a:p>
        </p:txBody>
      </p:sp>
      <p:sp>
        <p:nvSpPr>
          <p:cNvPr id="6" name="Slide Number Placeholder 5">
            <a:extLst>
              <a:ext uri="{FF2B5EF4-FFF2-40B4-BE49-F238E27FC236}">
                <a16:creationId xmlns:a16="http://schemas.microsoft.com/office/drawing/2014/main" id="{5E7819FB-ADB4-40C0-A8F1-F83950867C6B}"/>
              </a:ext>
            </a:extLst>
          </p:cNvPr>
          <p:cNvSpPr>
            <a:spLocks noGrp="1"/>
          </p:cNvSpPr>
          <p:nvPr>
            <p:ph type="sldNum" sz="quarter" idx="12"/>
          </p:nvPr>
        </p:nvSpPr>
        <p:spPr/>
        <p:txBody>
          <a:bodyPr/>
          <a:lstStyle/>
          <a:p>
            <a:pPr>
              <a:defRPr/>
            </a:pPr>
            <a:fld id="{907193AB-34A8-49DF-B36E-3A1A60FBCCB3}" type="slidenum">
              <a:rPr lang="en-US" smtClean="0"/>
              <a:pPr>
                <a:defRPr/>
              </a:pPr>
              <a:t>34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900"/>
                                        </p:tgtEl>
                                        <p:attrNameLst>
                                          <p:attrName>style.visibility</p:attrName>
                                        </p:attrNameLst>
                                      </p:cBhvr>
                                      <p:to>
                                        <p:strVal val="visible"/>
                                      </p:to>
                                    </p:set>
                                    <p:anim calcmode="lin" valueType="num">
                                      <p:cBhvr additive="base">
                                        <p:cTn id="7" dur="500" fill="hold"/>
                                        <p:tgtEl>
                                          <p:spTgt spid="37900"/>
                                        </p:tgtEl>
                                        <p:attrNameLst>
                                          <p:attrName>ppt_x</p:attrName>
                                        </p:attrNameLst>
                                      </p:cBhvr>
                                      <p:tavLst>
                                        <p:tav tm="0">
                                          <p:val>
                                            <p:strVal val="#ppt_x"/>
                                          </p:val>
                                        </p:tav>
                                        <p:tav tm="100000">
                                          <p:val>
                                            <p:strVal val="#ppt_x"/>
                                          </p:val>
                                        </p:tav>
                                      </p:tavLst>
                                    </p:anim>
                                    <p:anim calcmode="lin" valueType="num">
                                      <p:cBhvr additive="base">
                                        <p:cTn id="8" dur="500" fill="hold"/>
                                        <p:tgtEl>
                                          <p:spTgt spid="379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a:xfrm>
            <a:off x="473562" y="1133128"/>
            <a:ext cx="8515350" cy="823912"/>
          </a:xfrm>
        </p:spPr>
        <p:txBody>
          <a:bodyPr/>
          <a:lstStyle/>
          <a:p>
            <a:pPr algn="ctr" eaLnBrk="1" hangingPunct="1"/>
            <a:r>
              <a:rPr lang="en-US" sz="3200" b="1" dirty="0">
                <a:latin typeface="Calibri" panose="020F0502020204030204" pitchFamily="34" charset="0"/>
              </a:rPr>
              <a:t>Guidelines for Estimating </a:t>
            </a:r>
            <a:r>
              <a:rPr lang="en-US" sz="3200" i="1" dirty="0">
                <a:latin typeface="Calibri" panose="020F0502020204030204" pitchFamily="34" charset="0"/>
              </a:rPr>
              <a:t>(Cost and Time)</a:t>
            </a:r>
          </a:p>
        </p:txBody>
      </p:sp>
      <p:sp>
        <p:nvSpPr>
          <p:cNvPr id="53250" name="Rectangle 3"/>
          <p:cNvSpPr>
            <a:spLocks noGrp="1" noChangeArrowheads="1"/>
          </p:cNvSpPr>
          <p:nvPr>
            <p:ph idx="1"/>
          </p:nvPr>
        </p:nvSpPr>
        <p:spPr>
          <a:xfrm>
            <a:off x="761999" y="2217085"/>
            <a:ext cx="7938475" cy="3966228"/>
          </a:xfrm>
        </p:spPr>
        <p:txBody>
          <a:bodyPr>
            <a:normAutofit/>
          </a:bodyPr>
          <a:lstStyle/>
          <a:p>
            <a:pPr eaLnBrk="1" hangingPunct="1">
              <a:lnSpc>
                <a:spcPct val="90000"/>
              </a:lnSpc>
            </a:pPr>
            <a:r>
              <a:rPr lang="en-US" b="1" dirty="0">
                <a:latin typeface="Calibri" panose="020F0502020204030204" pitchFamily="34" charset="0"/>
              </a:rPr>
              <a:t>Responsibility</a:t>
            </a:r>
            <a:br>
              <a:rPr lang="en-US" dirty="0">
                <a:latin typeface="Calibri" panose="020F0502020204030204" pitchFamily="34" charset="0"/>
              </a:rPr>
            </a:br>
            <a:r>
              <a:rPr lang="en-US" dirty="0">
                <a:latin typeface="Calibri" panose="020F0502020204030204" pitchFamily="34" charset="0"/>
              </a:rPr>
              <a:t>The person delivering the task should make the estimate </a:t>
            </a:r>
            <a:r>
              <a:rPr lang="en-US" i="1" dirty="0">
                <a:latin typeface="Calibri" panose="020F0502020204030204" pitchFamily="34" charset="0"/>
              </a:rPr>
              <a:t>(except super-technical tasks)</a:t>
            </a:r>
            <a:r>
              <a:rPr lang="en-US" dirty="0">
                <a:latin typeface="Calibri" panose="020F0502020204030204" pitchFamily="34" charset="0"/>
              </a:rPr>
              <a:t>.</a:t>
            </a:r>
            <a:r>
              <a:rPr lang="en-US" i="1" dirty="0">
                <a:latin typeface="Calibri" panose="020F0502020204030204" pitchFamily="34" charset="0"/>
              </a:rPr>
              <a:t> </a:t>
            </a:r>
            <a:r>
              <a:rPr lang="en-US" dirty="0">
                <a:latin typeface="Calibri" panose="020F0502020204030204" pitchFamily="34" charset="0"/>
              </a:rPr>
              <a:t>Draw on the experience! It will also ensure their "buy in" to the task.</a:t>
            </a:r>
          </a:p>
          <a:p>
            <a:pPr eaLnBrk="1" hangingPunct="1">
              <a:lnSpc>
                <a:spcPct val="90000"/>
              </a:lnSpc>
            </a:pPr>
            <a:endParaRPr lang="en-US" dirty="0">
              <a:latin typeface="Calibri" panose="020F0502020204030204" pitchFamily="34" charset="0"/>
            </a:endParaRPr>
          </a:p>
          <a:p>
            <a:pPr eaLnBrk="1" hangingPunct="1">
              <a:lnSpc>
                <a:spcPct val="90000"/>
              </a:lnSpc>
            </a:pPr>
            <a:r>
              <a:rPr lang="en-US" b="1" dirty="0">
                <a:latin typeface="Calibri" panose="020F0502020204030204" pitchFamily="34" charset="0"/>
              </a:rPr>
              <a:t>Use several people to estimate</a:t>
            </a:r>
            <a:br>
              <a:rPr lang="en-US" dirty="0">
                <a:latin typeface="Calibri" panose="020F0502020204030204" pitchFamily="34" charset="0"/>
              </a:rPr>
            </a:br>
            <a:r>
              <a:rPr lang="en-US" dirty="0">
                <a:latin typeface="Calibri" panose="020F0502020204030204" pitchFamily="34" charset="0"/>
              </a:rPr>
              <a:t>People with relevant knowledge will produce an agreed upon estimate. This ensures elimination of extreme estimates.</a:t>
            </a:r>
          </a:p>
          <a:p>
            <a:pPr eaLnBrk="1" hangingPunct="1">
              <a:lnSpc>
                <a:spcPct val="90000"/>
              </a:lnSpc>
            </a:pPr>
            <a:endParaRPr lang="en-US" dirty="0">
              <a:latin typeface="Calibri" panose="020F0502020204030204" pitchFamily="34" charset="0"/>
            </a:endParaRPr>
          </a:p>
          <a:p>
            <a:pPr eaLnBrk="1" hangingPunct="1">
              <a:lnSpc>
                <a:spcPct val="90000"/>
              </a:lnSpc>
            </a:pPr>
            <a:r>
              <a:rPr lang="en-US" b="1" dirty="0">
                <a:latin typeface="Calibri" panose="020F0502020204030204" pitchFamily="34" charset="0"/>
              </a:rPr>
              <a:t>Normal conditions</a:t>
            </a:r>
            <a:br>
              <a:rPr lang="en-US" dirty="0">
                <a:latin typeface="Calibri" panose="020F0502020204030204" pitchFamily="34" charset="0"/>
              </a:rPr>
            </a:br>
            <a:r>
              <a:rPr lang="en-US" dirty="0">
                <a:latin typeface="Calibri" panose="020F0502020204030204" pitchFamily="34" charset="0"/>
              </a:rPr>
              <a:t>Assumption for estimates should be normal working conditions, normal level of resources. They should always be defined.</a:t>
            </a:r>
          </a:p>
        </p:txBody>
      </p:sp>
      <p:sp>
        <p:nvSpPr>
          <p:cNvPr id="53251"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88CB05DC-F2CB-4C66-858B-6A120D5958F0}"/>
              </a:ext>
            </a:extLst>
          </p:cNvPr>
          <p:cNvSpPr>
            <a:spLocks noGrp="1"/>
          </p:cNvSpPr>
          <p:nvPr>
            <p:ph type="sldNum" sz="quarter" idx="12"/>
          </p:nvPr>
        </p:nvSpPr>
        <p:spPr/>
        <p:txBody>
          <a:bodyPr/>
          <a:lstStyle/>
          <a:p>
            <a:pPr>
              <a:defRPr/>
            </a:pPr>
            <a:fld id="{AC7C6917-FFA3-44CF-9703-C7E047B1380F}" type="slidenum">
              <a:rPr lang="en-US" smtClean="0"/>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a:xfrm>
            <a:off x="457200" y="838302"/>
            <a:ext cx="8229600" cy="631825"/>
          </a:xfrm>
        </p:spPr>
        <p:txBody>
          <a:bodyPr/>
          <a:lstStyle/>
          <a:p>
            <a:pPr algn="ctr"/>
            <a:r>
              <a:rPr lang="en-US" sz="2800" b="1" dirty="0">
                <a:latin typeface="Calibri" panose="020F0502020204030204" pitchFamily="34" charset="0"/>
              </a:rPr>
              <a:t>Guidelines for Estimating </a:t>
            </a:r>
            <a:r>
              <a:rPr lang="en-US" sz="2800" i="1" dirty="0">
                <a:latin typeface="Calibri" panose="020F0502020204030204" pitchFamily="34" charset="0"/>
              </a:rPr>
              <a:t>(Cost and Time)</a:t>
            </a:r>
            <a:endParaRPr lang="en-US" sz="2800" dirty="0"/>
          </a:p>
        </p:txBody>
      </p:sp>
      <p:sp>
        <p:nvSpPr>
          <p:cNvPr id="54274" name="Rectangle 3"/>
          <p:cNvSpPr>
            <a:spLocks noGrp="1" noChangeArrowheads="1"/>
          </p:cNvSpPr>
          <p:nvPr>
            <p:ph idx="1"/>
          </p:nvPr>
        </p:nvSpPr>
        <p:spPr>
          <a:xfrm>
            <a:off x="423949" y="1470127"/>
            <a:ext cx="8229600" cy="4887913"/>
          </a:xfrm>
        </p:spPr>
        <p:txBody>
          <a:bodyPr>
            <a:noAutofit/>
          </a:bodyPr>
          <a:lstStyle/>
          <a:p>
            <a:pPr eaLnBrk="1" hangingPunct="1">
              <a:lnSpc>
                <a:spcPct val="110000"/>
              </a:lnSpc>
            </a:pPr>
            <a:r>
              <a:rPr lang="en-US" b="1" dirty="0">
                <a:latin typeface="Calibri" panose="020F0502020204030204" pitchFamily="34" charset="0"/>
              </a:rPr>
              <a:t>Time units</a:t>
            </a:r>
            <a:br>
              <a:rPr lang="en-US" dirty="0">
                <a:latin typeface="Calibri" panose="020F0502020204030204" pitchFamily="34" charset="0"/>
              </a:rPr>
            </a:br>
            <a:r>
              <a:rPr lang="en-US" dirty="0">
                <a:latin typeface="Calibri" panose="020F0502020204030204" pitchFamily="34" charset="0"/>
              </a:rPr>
              <a:t>Estimation base needs to be defined.</a:t>
            </a:r>
          </a:p>
          <a:p>
            <a:pPr eaLnBrk="1" hangingPunct="1">
              <a:lnSpc>
                <a:spcPct val="110000"/>
              </a:lnSpc>
            </a:pPr>
            <a:r>
              <a:rPr lang="en-US" b="1" dirty="0">
                <a:latin typeface="Calibri" panose="020F0502020204030204" pitchFamily="34" charset="0"/>
              </a:rPr>
              <a:t>Independence</a:t>
            </a:r>
            <a:br>
              <a:rPr lang="en-US" dirty="0">
                <a:latin typeface="Calibri" panose="020F0502020204030204" pitchFamily="34" charset="0"/>
              </a:rPr>
            </a:br>
            <a:r>
              <a:rPr lang="en-US" dirty="0">
                <a:latin typeface="Calibri" panose="020F0502020204030204" pitchFamily="34" charset="0"/>
              </a:rPr>
              <a:t>Each task duration and cost should be estimated as it was independent of other items. Be careful when estimating sets of tasks one following the other. And the tasks need all to be estimated by the same person.</a:t>
            </a:r>
          </a:p>
          <a:p>
            <a:pPr eaLnBrk="1" hangingPunct="1">
              <a:lnSpc>
                <a:spcPct val="110000"/>
              </a:lnSpc>
            </a:pPr>
            <a:r>
              <a:rPr lang="en-US" b="1" dirty="0">
                <a:latin typeface="Calibri" panose="020F0502020204030204" pitchFamily="34" charset="0"/>
              </a:rPr>
              <a:t>Contingencies</a:t>
            </a:r>
            <a:br>
              <a:rPr lang="en-US" dirty="0">
                <a:latin typeface="Calibri" panose="020F0502020204030204" pitchFamily="34" charset="0"/>
              </a:rPr>
            </a:br>
            <a:r>
              <a:rPr lang="en-US" dirty="0">
                <a:latin typeface="Calibri" panose="020F0502020204030204" pitchFamily="34" charset="0"/>
              </a:rPr>
              <a:t>Work packages should </a:t>
            </a:r>
            <a:r>
              <a:rPr lang="en-US" b="1" dirty="0">
                <a:solidFill>
                  <a:srgbClr val="FF0000"/>
                </a:solidFill>
                <a:highlight>
                  <a:srgbClr val="FFFF00"/>
                </a:highlight>
                <a:latin typeface="Calibri" panose="020F0502020204030204" pitchFamily="34" charset="0"/>
              </a:rPr>
              <a:t>NOT</a:t>
            </a:r>
            <a:r>
              <a:rPr lang="en-US" dirty="0">
                <a:latin typeface="Calibri" panose="020F0502020204030204" pitchFamily="34" charset="0"/>
              </a:rPr>
              <a:t> include allowances for contingencies. Top management needs to create an extra fund for contingencies that can be used to cover unforeseen events. Also the PM should have a project contingency fund he/she is responsible for. </a:t>
            </a:r>
          </a:p>
          <a:p>
            <a:pPr eaLnBrk="1" hangingPunct="1">
              <a:lnSpc>
                <a:spcPct val="110000"/>
              </a:lnSpc>
            </a:pPr>
            <a:r>
              <a:rPr lang="en-US" dirty="0">
                <a:latin typeface="Calibri" panose="020F0502020204030204" pitchFamily="34" charset="0"/>
              </a:rPr>
              <a:t>Adding risk assessment to the estimate helps to avoid surprises to the stakeholders.</a:t>
            </a:r>
            <a:br>
              <a:rPr lang="en-US" dirty="0">
                <a:latin typeface="Calibri" panose="020F0502020204030204" pitchFamily="34" charset="0"/>
              </a:rPr>
            </a:br>
            <a:endParaRPr lang="en-US" dirty="0">
              <a:latin typeface="Calibri" panose="020F0502020204030204" pitchFamily="34" charset="0"/>
            </a:endParaRPr>
          </a:p>
        </p:txBody>
      </p:sp>
      <p:sp>
        <p:nvSpPr>
          <p:cNvPr id="54275"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337E9490-33B0-4B05-9DA1-9487B3CC3481}"/>
              </a:ext>
            </a:extLst>
          </p:cNvPr>
          <p:cNvSpPr>
            <a:spLocks noGrp="1"/>
          </p:cNvSpPr>
          <p:nvPr>
            <p:ph type="sldNum" sz="quarter" idx="12"/>
          </p:nvPr>
        </p:nvSpPr>
        <p:spPr/>
        <p:txBody>
          <a:bodyPr/>
          <a:lstStyle/>
          <a:p>
            <a:pPr>
              <a:defRPr/>
            </a:pPr>
            <a:fld id="{AC7C6917-FFA3-44CF-9703-C7E047B1380F}" type="slidenum">
              <a:rPr lang="en-US" smtClean="0"/>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xfrm>
            <a:off x="1161785" y="708348"/>
            <a:ext cx="7055380" cy="690282"/>
          </a:xfrm>
        </p:spPr>
        <p:txBody>
          <a:bodyPr/>
          <a:lstStyle/>
          <a:p>
            <a:pPr algn="ctr" eaLnBrk="1" hangingPunct="1"/>
            <a:r>
              <a:rPr lang="en-US" sz="3200" b="1" dirty="0">
                <a:latin typeface="Calibri" panose="020F0502020204030204" pitchFamily="34" charset="0"/>
              </a:rPr>
              <a:t>Developing Budget Contingencies</a:t>
            </a:r>
          </a:p>
        </p:txBody>
      </p:sp>
      <p:sp>
        <p:nvSpPr>
          <p:cNvPr id="55298" name="Rectangle 3"/>
          <p:cNvSpPr>
            <a:spLocks noGrp="1" noChangeArrowheads="1"/>
          </p:cNvSpPr>
          <p:nvPr>
            <p:ph idx="1"/>
          </p:nvPr>
        </p:nvSpPr>
        <p:spPr>
          <a:xfrm>
            <a:off x="612775" y="1600200"/>
            <a:ext cx="8153400" cy="1600200"/>
          </a:xfrm>
        </p:spPr>
        <p:txBody>
          <a:bodyPr>
            <a:normAutofit/>
          </a:bodyPr>
          <a:lstStyle/>
          <a:p>
            <a:r>
              <a:rPr lang="en-US" dirty="0">
                <a:latin typeface="Calibri" panose="020F0502020204030204" pitchFamily="34" charset="0"/>
              </a:rPr>
              <a:t>A budget contingency is the allocation of extra funds to cover uncertainties and improve chances that the project can be completed within the frame originally specified. Even the best budget is only an estimate and unknown circumstances will happen.</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pic>
        <p:nvPicPr>
          <p:cNvPr id="37892" name="Picture 4" descr="http://deltaccg.com/wp-content/uploads/2013/04/dreamstimesmall_26251172.png"/>
          <p:cNvPicPr>
            <a:picLocks noChangeAspect="1" noChangeArrowheads="1"/>
          </p:cNvPicPr>
          <p:nvPr/>
        </p:nvPicPr>
        <p:blipFill>
          <a:blip r:embed="rId2" cstate="print"/>
          <a:srcRect/>
          <a:stretch>
            <a:fillRect/>
          </a:stretch>
        </p:blipFill>
        <p:spPr bwMode="auto">
          <a:xfrm>
            <a:off x="6260869" y="2489199"/>
            <a:ext cx="3079982" cy="4219576"/>
          </a:xfrm>
          <a:prstGeom prst="rect">
            <a:avLst/>
          </a:prstGeom>
          <a:noFill/>
        </p:spPr>
      </p:pic>
      <p:sp>
        <p:nvSpPr>
          <p:cNvPr id="8" name="TextBox 7"/>
          <p:cNvSpPr txBox="1"/>
          <p:nvPr/>
        </p:nvSpPr>
        <p:spPr>
          <a:xfrm>
            <a:off x="914400" y="3385915"/>
            <a:ext cx="5867400" cy="2893100"/>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Calibri" panose="020F0502020204030204" pitchFamily="34" charset="0"/>
              </a:rPr>
              <a:t>Contingency is typically added to the project's budget following the identification of all costs.</a:t>
            </a:r>
          </a:p>
          <a:p>
            <a:pPr marL="342900" indent="-342900">
              <a:buFont typeface="Wingdings" panose="05000000000000000000" pitchFamily="2" charset="2"/>
              <a:buChar char="Ø"/>
            </a:pPr>
            <a:endParaRPr lang="en-US" sz="2000" dirty="0">
              <a:latin typeface="Calibri" panose="020F0502020204030204" pitchFamily="34" charset="0"/>
            </a:endParaRPr>
          </a:p>
          <a:p>
            <a:pPr marL="342900" indent="-342900">
              <a:buFont typeface="Wingdings" panose="05000000000000000000" pitchFamily="2" charset="2"/>
              <a:buChar char="Ø"/>
            </a:pPr>
            <a:r>
              <a:rPr lang="en-US" sz="2000" dirty="0">
                <a:latin typeface="Calibri" panose="020F0502020204030204" pitchFamily="34" charset="0"/>
              </a:rPr>
              <a:t>Contingency is not included in the budget generated with an Activity Based Costing.</a:t>
            </a:r>
          </a:p>
          <a:p>
            <a:r>
              <a:rPr lang="en-US" sz="2400" dirty="0">
                <a:latin typeface="Calibri" panose="020F0502020204030204" pitchFamily="34" charset="0"/>
              </a:rPr>
              <a:t> </a:t>
            </a:r>
          </a:p>
          <a:p>
            <a:pPr marL="342900" indent="-342900">
              <a:buFont typeface="Wingdings" panose="05000000000000000000" pitchFamily="2" charset="2"/>
              <a:buChar char="Ø"/>
            </a:pPr>
            <a:r>
              <a:rPr lang="en-US" sz="2000" dirty="0">
                <a:latin typeface="Calibri" panose="020F0502020204030204" pitchFamily="34" charset="0"/>
              </a:rPr>
              <a:t>Contingency is calculated as an extra cushion on top of the calculated cost.</a:t>
            </a:r>
          </a:p>
          <a:p>
            <a:endParaRPr lang="en-CA" dirty="0"/>
          </a:p>
        </p:txBody>
      </p:sp>
      <p:sp>
        <p:nvSpPr>
          <p:cNvPr id="7" name="Slide Number Placeholder 6">
            <a:extLst>
              <a:ext uri="{FF2B5EF4-FFF2-40B4-BE49-F238E27FC236}">
                <a16:creationId xmlns:a16="http://schemas.microsoft.com/office/drawing/2014/main" id="{55E37E93-570D-4DEA-8111-221C9CE5AB7F}"/>
              </a:ext>
            </a:extLst>
          </p:cNvPr>
          <p:cNvSpPr>
            <a:spLocks noGrp="1"/>
          </p:cNvSpPr>
          <p:nvPr>
            <p:ph type="sldNum" sz="quarter" idx="12"/>
          </p:nvPr>
        </p:nvSpPr>
        <p:spPr/>
        <p:txBody>
          <a:bodyPr/>
          <a:lstStyle/>
          <a:p>
            <a:pPr>
              <a:defRPr/>
            </a:pPr>
            <a:fld id="{AC7C6917-FFA3-44CF-9703-C7E047B1380F}"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882914" y="964882"/>
            <a:ext cx="7055380" cy="1400530"/>
          </a:xfrm>
        </p:spPr>
        <p:txBody>
          <a:bodyPr/>
          <a:lstStyle/>
          <a:p>
            <a:pPr algn="ctr" eaLnBrk="1" hangingPunct="1"/>
            <a:r>
              <a:rPr lang="en-US" sz="3200" b="1" dirty="0">
                <a:solidFill>
                  <a:schemeClr val="tx1"/>
                </a:solidFill>
                <a:latin typeface="Calibri" panose="020F0502020204030204" pitchFamily="34" charset="0"/>
              </a:rPr>
              <a:t>Reasons why it makes sense to include contingency in project funding</a:t>
            </a:r>
          </a:p>
        </p:txBody>
      </p:sp>
      <p:sp>
        <p:nvSpPr>
          <p:cNvPr id="56322" name="Rectangle 3"/>
          <p:cNvSpPr>
            <a:spLocks noGrp="1" noChangeArrowheads="1"/>
          </p:cNvSpPr>
          <p:nvPr>
            <p:ph idx="1"/>
          </p:nvPr>
        </p:nvSpPr>
        <p:spPr>
          <a:xfrm>
            <a:off x="815218" y="2239479"/>
            <a:ext cx="7190771" cy="4195481"/>
          </a:xfrm>
        </p:spPr>
        <p:txBody>
          <a:bodyPr>
            <a:normAutofit fontScale="92500"/>
          </a:bodyPr>
          <a:lstStyle/>
          <a:p>
            <a:pPr eaLnBrk="1" hangingPunct="1">
              <a:lnSpc>
                <a:spcPct val="90000"/>
              </a:lnSpc>
            </a:pPr>
            <a:r>
              <a:rPr lang="en-US" sz="2400" dirty="0">
                <a:latin typeface="Calibri" panose="020F0502020204030204" pitchFamily="34" charset="0"/>
              </a:rPr>
              <a:t>Project scope is subject to small adjustments.</a:t>
            </a:r>
            <a:br>
              <a:rPr lang="en-US" sz="2400" dirty="0">
                <a:latin typeface="Calibri" panose="020F0502020204030204" pitchFamily="34" charset="0"/>
              </a:rPr>
            </a:br>
            <a:r>
              <a:rPr lang="en-US" sz="2400" dirty="0">
                <a:latin typeface="Calibri" panose="020F0502020204030204" pitchFamily="34" charset="0"/>
              </a:rPr>
              <a:t>Not to confuse with changes. Changes are identified and tracked separately!</a:t>
            </a:r>
          </a:p>
          <a:p>
            <a:pPr eaLnBrk="1" hangingPunct="1">
              <a:lnSpc>
                <a:spcPct val="90000"/>
              </a:lnSpc>
            </a:pPr>
            <a:r>
              <a:rPr lang="en-US" sz="2400" dirty="0">
                <a:latin typeface="Calibri" panose="020F0502020204030204" pitchFamily="34" charset="0"/>
              </a:rPr>
              <a:t>Murphy's Law is always present</a:t>
            </a:r>
            <a:br>
              <a:rPr lang="en-US" sz="2400" dirty="0">
                <a:latin typeface="Calibri" panose="020F0502020204030204" pitchFamily="34" charset="0"/>
              </a:rPr>
            </a:br>
            <a:r>
              <a:rPr lang="en-US" sz="2400" dirty="0">
                <a:latin typeface="Calibri" panose="020F0502020204030204" pitchFamily="34" charset="0"/>
              </a:rPr>
              <a:t>It suggests that if something can go wrong, it often will. </a:t>
            </a:r>
          </a:p>
          <a:p>
            <a:pPr eaLnBrk="1" hangingPunct="1">
              <a:lnSpc>
                <a:spcPct val="90000"/>
              </a:lnSpc>
            </a:pPr>
            <a:r>
              <a:rPr lang="en-US" sz="2400" dirty="0">
                <a:latin typeface="Calibri" panose="020F0502020204030204" pitchFamily="34" charset="0"/>
              </a:rPr>
              <a:t>Cost estimation must anticipate iteration costs. </a:t>
            </a:r>
            <a:br>
              <a:rPr lang="en-US" sz="2400" dirty="0">
                <a:latin typeface="Calibri" panose="020F0502020204030204" pitchFamily="34" charset="0"/>
              </a:rPr>
            </a:br>
            <a:r>
              <a:rPr lang="en-US" sz="2400" dirty="0">
                <a:latin typeface="Calibri" panose="020F0502020204030204" pitchFamily="34" charset="0"/>
              </a:rPr>
              <a:t>For example a test was not successful because of an setup error and needs to be repeated. </a:t>
            </a:r>
          </a:p>
          <a:p>
            <a:pPr eaLnBrk="1" hangingPunct="1">
              <a:lnSpc>
                <a:spcPct val="90000"/>
              </a:lnSpc>
            </a:pPr>
            <a:r>
              <a:rPr lang="en-US" sz="2400" dirty="0">
                <a:latin typeface="Calibri" panose="020F0502020204030204" pitchFamily="34" charset="0"/>
              </a:rPr>
              <a:t>Normal conditions are rarely encountered</a:t>
            </a:r>
            <a:br>
              <a:rPr lang="en-US" sz="2400" dirty="0">
                <a:latin typeface="Calibri" panose="020F0502020204030204" pitchFamily="34" charset="0"/>
              </a:rPr>
            </a:br>
            <a:r>
              <a:rPr lang="en-US" sz="2400" dirty="0">
                <a:latin typeface="Calibri" panose="020F0502020204030204" pitchFamily="34" charset="0"/>
              </a:rPr>
              <a:t>One assumption for project planning is that the resources required will be available at the time when needed. This is not always the case! </a:t>
            </a:r>
          </a:p>
          <a:p>
            <a:pPr eaLnBrk="1" hangingPunct="1">
              <a:lnSpc>
                <a:spcPct val="90000"/>
              </a:lnSpc>
            </a:pPr>
            <a:endParaRPr lang="en-US" sz="2400" dirty="0">
              <a:latin typeface="Calibri" panose="020F0502020204030204" pitchFamily="34" charset="0"/>
            </a:endParaRPr>
          </a:p>
        </p:txBody>
      </p:sp>
      <p:sp>
        <p:nvSpPr>
          <p:cNvPr id="56323"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Slide Number Placeholder 5">
            <a:extLst>
              <a:ext uri="{FF2B5EF4-FFF2-40B4-BE49-F238E27FC236}">
                <a16:creationId xmlns:a16="http://schemas.microsoft.com/office/drawing/2014/main" id="{554EEC20-08AD-452B-AC02-D4DEF0AEB124}"/>
              </a:ext>
            </a:extLst>
          </p:cNvPr>
          <p:cNvSpPr>
            <a:spLocks noGrp="1"/>
          </p:cNvSpPr>
          <p:nvPr>
            <p:ph type="sldNum" sz="quarter" idx="12"/>
          </p:nvPr>
        </p:nvSpPr>
        <p:spPr/>
        <p:txBody>
          <a:bodyPr/>
          <a:lstStyle/>
          <a:p>
            <a:pPr>
              <a:defRPr/>
            </a:pPr>
            <a:fld id="{AC7C6917-FFA3-44CF-9703-C7E047B1380F}"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p:cNvSpPr>
            <a:spLocks noGrp="1" noChangeArrowheads="1"/>
          </p:cNvSpPr>
          <p:nvPr>
            <p:ph idx="1"/>
          </p:nvPr>
        </p:nvSpPr>
        <p:spPr>
          <a:xfrm>
            <a:off x="457199" y="1786731"/>
            <a:ext cx="8229600" cy="4659313"/>
          </a:xfrm>
        </p:spPr>
        <p:txBody>
          <a:bodyPr>
            <a:normAutofit fontScale="92500" lnSpcReduction="10000"/>
          </a:bodyPr>
          <a:lstStyle/>
          <a:p>
            <a:pPr eaLnBrk="1" hangingPunct="1">
              <a:lnSpc>
                <a:spcPct val="70000"/>
              </a:lnSpc>
              <a:buFontTx/>
              <a:buNone/>
            </a:pPr>
            <a:endParaRPr lang="en-US" sz="2400" dirty="0"/>
          </a:p>
          <a:p>
            <a:pPr eaLnBrk="1" hangingPunct="1">
              <a:lnSpc>
                <a:spcPct val="110000"/>
              </a:lnSpc>
              <a:buFont typeface="Wingdings" panose="05000000000000000000" pitchFamily="2" charset="2"/>
              <a:buChar char="Ø"/>
            </a:pPr>
            <a:r>
              <a:rPr lang="en-US" sz="2200" dirty="0">
                <a:latin typeface="Calibri" panose="020F0502020204030204" pitchFamily="34" charset="0"/>
              </a:rPr>
              <a:t>Project teams naturally favor contingencies as a buffer for project cost control, however the acceptance by stakeholders and particularly clients is less enthusiastic. </a:t>
            </a:r>
          </a:p>
          <a:p>
            <a:pPr eaLnBrk="1" hangingPunct="1">
              <a:lnSpc>
                <a:spcPct val="110000"/>
              </a:lnSpc>
              <a:buFont typeface="Wingdings" panose="05000000000000000000" pitchFamily="2" charset="2"/>
              <a:buChar char="Ø"/>
            </a:pPr>
            <a:r>
              <a:rPr lang="en-US" sz="2200" dirty="0">
                <a:latin typeface="Calibri" panose="020F0502020204030204" pitchFamily="34" charset="0"/>
              </a:rPr>
              <a:t>Some clients may object to the arbitrary process of calculating the contingency </a:t>
            </a:r>
            <a:r>
              <a:rPr lang="en-US" sz="2200" i="1" dirty="0">
                <a:latin typeface="Calibri" panose="020F0502020204030204" pitchFamily="34" charset="0"/>
              </a:rPr>
              <a:t>(adding 10 to 15% to the total budget)</a:t>
            </a:r>
            <a:r>
              <a:rPr lang="en-US" sz="2200" dirty="0">
                <a:latin typeface="Calibri" panose="020F0502020204030204" pitchFamily="34" charset="0"/>
              </a:rPr>
              <a:t>. </a:t>
            </a:r>
          </a:p>
          <a:p>
            <a:pPr eaLnBrk="1" hangingPunct="1">
              <a:lnSpc>
                <a:spcPct val="110000"/>
              </a:lnSpc>
              <a:buFont typeface="Wingdings" panose="05000000000000000000" pitchFamily="2" charset="2"/>
              <a:buChar char="Ø"/>
            </a:pPr>
            <a:r>
              <a:rPr lang="en-US" sz="2200" dirty="0">
                <a:latin typeface="Calibri" panose="020F0502020204030204" pitchFamily="34" charset="0"/>
              </a:rPr>
              <a:t>Others may feel that they are being asked to cover poor budget control on the part of the vendor.</a:t>
            </a:r>
          </a:p>
          <a:p>
            <a:pPr eaLnBrk="1" hangingPunct="1">
              <a:lnSpc>
                <a:spcPct val="110000"/>
              </a:lnSpc>
              <a:buFont typeface="Wingdings" panose="05000000000000000000" pitchFamily="2" charset="2"/>
              <a:buChar char="Ø"/>
            </a:pPr>
            <a:r>
              <a:rPr lang="en-US" sz="2200" dirty="0">
                <a:latin typeface="Calibri" panose="020F0502020204030204" pitchFamily="34" charset="0"/>
              </a:rPr>
              <a:t>Also there will be a discussion for which project activities contingency funds should be applied. Does the contingency apply across all tasks or should it be held for those tasks that are critical to the success of the project. These are decisions that need to be made early in the initial stages of the project and be incorporated into the scope statement.</a:t>
            </a:r>
          </a:p>
          <a:p>
            <a:pPr eaLnBrk="1" hangingPunct="1">
              <a:lnSpc>
                <a:spcPct val="70000"/>
              </a:lnSpc>
              <a:buFontTx/>
              <a:buNone/>
            </a:pPr>
            <a:endParaRPr lang="en-US" sz="2400" dirty="0"/>
          </a:p>
          <a:p>
            <a:pPr eaLnBrk="1" hangingPunct="1">
              <a:lnSpc>
                <a:spcPct val="70000"/>
              </a:lnSpc>
              <a:buFontTx/>
              <a:buNone/>
            </a:pPr>
            <a:endParaRPr lang="en-US" sz="2400" dirty="0"/>
          </a:p>
        </p:txBody>
      </p:sp>
      <p:sp>
        <p:nvSpPr>
          <p:cNvPr id="57346" name="Text Box 4"/>
          <p:cNvSpPr txBox="1">
            <a:spLocks noChangeArrowheads="1"/>
          </p:cNvSpPr>
          <p:nvPr/>
        </p:nvSpPr>
        <p:spPr bwMode="auto">
          <a:xfrm>
            <a:off x="1565084" y="1063423"/>
            <a:ext cx="6013831" cy="584775"/>
          </a:xfrm>
          <a:prstGeom prst="rect">
            <a:avLst/>
          </a:prstGeom>
          <a:noFill/>
          <a:ln w="9525">
            <a:noFill/>
            <a:miter lim="800000"/>
            <a:headEnd/>
            <a:tailEnd/>
          </a:ln>
        </p:spPr>
        <p:txBody>
          <a:bodyPr wrap="square">
            <a:spAutoFit/>
          </a:bodyPr>
          <a:lstStyle/>
          <a:p>
            <a:pPr algn="ctr">
              <a:spcBef>
                <a:spcPct val="50000"/>
              </a:spcBef>
            </a:pPr>
            <a:r>
              <a:rPr lang="en-US" sz="3200" b="1" dirty="0">
                <a:latin typeface="Calibri" panose="020F0502020204030204" pitchFamily="34" charset="0"/>
              </a:rPr>
              <a:t>Contingency in Project Funding</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7" name="Slide Number Placeholder 6">
            <a:extLst>
              <a:ext uri="{FF2B5EF4-FFF2-40B4-BE49-F238E27FC236}">
                <a16:creationId xmlns:a16="http://schemas.microsoft.com/office/drawing/2014/main" id="{9EFA8E17-B86E-4F67-807D-F47F05E086F0}"/>
              </a:ext>
            </a:extLst>
          </p:cNvPr>
          <p:cNvSpPr>
            <a:spLocks noGrp="1"/>
          </p:cNvSpPr>
          <p:nvPr>
            <p:ph type="sldNum" sz="quarter" idx="12"/>
          </p:nvPr>
        </p:nvSpPr>
        <p:spPr/>
        <p:txBody>
          <a:bodyPr/>
          <a:lstStyle/>
          <a:p>
            <a:pPr>
              <a:defRPr/>
            </a:pPr>
            <a:fld id="{AC7C6917-FFA3-44CF-9703-C7E047B1380F}"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p:cNvSpPr>
          <p:nvPr>
            <p:ph type="title"/>
          </p:nvPr>
        </p:nvSpPr>
        <p:spPr>
          <a:xfrm>
            <a:off x="1943100" y="1063423"/>
            <a:ext cx="5638800" cy="734593"/>
          </a:xfrm>
        </p:spPr>
        <p:txBody>
          <a:bodyPr/>
          <a:lstStyle/>
          <a:p>
            <a:pPr algn="ctr" eaLnBrk="1" hangingPunct="1"/>
            <a:r>
              <a:rPr lang="en-US" sz="3200" b="1" dirty="0">
                <a:solidFill>
                  <a:schemeClr val="tx1"/>
                </a:solidFill>
                <a:latin typeface="Calibri" panose="020F0502020204030204" pitchFamily="34" charset="0"/>
              </a:rPr>
              <a:t>Contingency in Project Funding</a:t>
            </a:r>
          </a:p>
        </p:txBody>
      </p:sp>
      <p:sp>
        <p:nvSpPr>
          <p:cNvPr id="58370" name="Rectangle 3"/>
          <p:cNvSpPr>
            <a:spLocks noGrp="1"/>
          </p:cNvSpPr>
          <p:nvPr>
            <p:ph idx="1"/>
          </p:nvPr>
        </p:nvSpPr>
        <p:spPr>
          <a:xfrm>
            <a:off x="685800" y="1981200"/>
            <a:ext cx="8153400" cy="3124200"/>
          </a:xfrm>
        </p:spPr>
        <p:txBody>
          <a:bodyPr/>
          <a:lstStyle/>
          <a:p>
            <a:pPr eaLnBrk="1" hangingPunct="1">
              <a:lnSpc>
                <a:spcPct val="70000"/>
              </a:lnSpc>
              <a:buFontTx/>
              <a:buNone/>
            </a:pPr>
            <a:endParaRPr lang="en-US" sz="2400" dirty="0"/>
          </a:p>
          <a:p>
            <a:pPr eaLnBrk="1" hangingPunct="1">
              <a:buFont typeface="Wingdings" panose="05000000000000000000" pitchFamily="2" charset="2"/>
              <a:buChar char="Ø"/>
            </a:pPr>
            <a:r>
              <a:rPr lang="en-US" dirty="0">
                <a:latin typeface="Calibri" panose="020F0502020204030204" pitchFamily="34" charset="0"/>
              </a:rPr>
              <a:t>Project cost estimation and budgeting are two important components of project management.</a:t>
            </a:r>
          </a:p>
          <a:p>
            <a:pPr eaLnBrk="1" hangingPunct="1">
              <a:buFont typeface="Wingdings" panose="05000000000000000000" pitchFamily="2" charset="2"/>
              <a:buChar char="Ø"/>
            </a:pPr>
            <a:endParaRPr lang="en-US" dirty="0">
              <a:latin typeface="Calibri" panose="020F0502020204030204" pitchFamily="34" charset="0"/>
            </a:endParaRPr>
          </a:p>
          <a:p>
            <a:pPr eaLnBrk="1" hangingPunct="1">
              <a:buFont typeface="Wingdings" panose="05000000000000000000" pitchFamily="2" charset="2"/>
              <a:buChar char="Ø"/>
            </a:pPr>
            <a:r>
              <a:rPr lang="en-US" dirty="0">
                <a:latin typeface="Calibri" panose="020F0502020204030204" pitchFamily="34" charset="0"/>
              </a:rPr>
              <a:t>The budget is such a significant constraint on any project, that it is best for the project team to prepare the estimates as careful as possible. Combined with a thorough risk analysis and a sufficiently detailed WBS this is the best defense against budget overruns. </a:t>
            </a:r>
          </a:p>
          <a:p>
            <a:pPr eaLnBrk="1" hangingPunct="1"/>
            <a:endParaRPr lang="en-US" dirty="0"/>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7" name="Slide Number Placeholder 6">
            <a:extLst>
              <a:ext uri="{FF2B5EF4-FFF2-40B4-BE49-F238E27FC236}">
                <a16:creationId xmlns:a16="http://schemas.microsoft.com/office/drawing/2014/main" id="{9327D0D7-E68E-47A7-9D12-CDDCD64E1AD0}"/>
              </a:ext>
            </a:extLst>
          </p:cNvPr>
          <p:cNvSpPr>
            <a:spLocks noGrp="1"/>
          </p:cNvSpPr>
          <p:nvPr>
            <p:ph type="sldNum" sz="quarter" idx="12"/>
          </p:nvPr>
        </p:nvSpPr>
        <p:spPr/>
        <p:txBody>
          <a:bodyPr/>
          <a:lstStyle/>
          <a:p>
            <a:pPr>
              <a:defRPr/>
            </a:pPr>
            <a:fld id="{AC7C6917-FFA3-44CF-9703-C7E047B1380F}" type="slidenum">
              <a:rPr lang="en-US" smtClean="0"/>
              <a:pPr>
                <a:defRPr/>
              </a:pPr>
              <a:t>40</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tint val="100000"/>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3264</TotalTime>
  <Words>3092</Words>
  <Application>Microsoft Office PowerPoint</Application>
  <PresentationFormat>On-screen Show (4:3)</PresentationFormat>
  <Paragraphs>227</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Century Gothic</vt:lpstr>
      <vt:lpstr>Wingdings</vt:lpstr>
      <vt:lpstr>Wingdings 2</vt:lpstr>
      <vt:lpstr>Wingdings 3</vt:lpstr>
      <vt:lpstr>Ion</vt:lpstr>
      <vt:lpstr>LECTURE 9</vt:lpstr>
      <vt:lpstr>Cost Management</vt:lpstr>
      <vt:lpstr>Cost Estimation</vt:lpstr>
      <vt:lpstr>Direct vs. Indirect Cost</vt:lpstr>
      <vt:lpstr>Direct vs. Indirect Cost</vt:lpstr>
      <vt:lpstr>Fixed vs. Variable Cost</vt:lpstr>
      <vt:lpstr>Fixed vs. Variable Cost</vt:lpstr>
      <vt:lpstr>Normal vs. Expedited Cost</vt:lpstr>
      <vt:lpstr>Normal vs. Expedited Cost</vt:lpstr>
      <vt:lpstr>Recurring vs. Nonrecurring Cost</vt:lpstr>
      <vt:lpstr>Recurring vs. Nonrecurring Cost</vt:lpstr>
      <vt:lpstr>Cost Estimation</vt:lpstr>
      <vt:lpstr>Cost Estimation Methods</vt:lpstr>
      <vt:lpstr>Cost estimation methods (cont'd…)</vt:lpstr>
      <vt:lpstr>Which one should a company use?</vt:lpstr>
      <vt:lpstr>Factors Influencing the Quality of Estimates</vt:lpstr>
      <vt:lpstr>Factors Influencing the Quality of Estimates (cont'd…)</vt:lpstr>
      <vt:lpstr>Factors Influencing the Quality of Estimates (cont'd…)</vt:lpstr>
      <vt:lpstr>Factors Influencing the Quality of Estimates (cont'd…)</vt:lpstr>
      <vt:lpstr>Creating A Project Budget</vt:lpstr>
      <vt:lpstr>Creating A Project Budget</vt:lpstr>
      <vt:lpstr>Top-Down Budgeting</vt:lpstr>
      <vt:lpstr>Top-Down Budgeting (cont’d…)</vt:lpstr>
      <vt:lpstr>Disadvantages with Top-Down-Budgeting</vt:lpstr>
      <vt:lpstr>Advantages with Top-Down-Budgeting</vt:lpstr>
      <vt:lpstr>Bottom-Up Budgeting</vt:lpstr>
      <vt:lpstr>Bottom-Up Budgeting (cont’d…)</vt:lpstr>
      <vt:lpstr>Advantages of Bottom-Up Budgeting</vt:lpstr>
      <vt:lpstr>Disadvantages of Bottom-Up Budgeting</vt:lpstr>
      <vt:lpstr>Activity-Based Costing (ABC)</vt:lpstr>
      <vt:lpstr>Activity-Based Costing (ABC)</vt:lpstr>
      <vt:lpstr>PowerPoint Presentation</vt:lpstr>
      <vt:lpstr>PowerPoint Presentation</vt:lpstr>
      <vt:lpstr>PowerPoint Presentation</vt:lpstr>
      <vt:lpstr>Guidelines for Estimating (Cost and Time)</vt:lpstr>
      <vt:lpstr>Guidelines for Estimating (Cost and Time)</vt:lpstr>
      <vt:lpstr>Developing Budget Contingencies</vt:lpstr>
      <vt:lpstr>Reasons why it makes sense to include contingency in project funding</vt:lpstr>
      <vt:lpstr>PowerPoint Presentation</vt:lpstr>
      <vt:lpstr>Contingency in Project Funding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 Estimation and Budgeting</dc:title>
  <dc:creator>Ray Schott</dc:creator>
  <cp:lastModifiedBy>Ozlu, Sinan</cp:lastModifiedBy>
  <cp:revision>120</cp:revision>
  <dcterms:created xsi:type="dcterms:W3CDTF">2007-11-21T01:21:56Z</dcterms:created>
  <dcterms:modified xsi:type="dcterms:W3CDTF">2024-11-11T05:14:42Z</dcterms:modified>
</cp:coreProperties>
</file>