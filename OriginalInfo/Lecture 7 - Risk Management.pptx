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42" r:id="rId1"/>
  </p:sldMasterIdLst>
  <p:notesMasterIdLst>
    <p:notesMasterId r:id="rId40"/>
  </p:notesMasterIdLst>
  <p:sldIdLst>
    <p:sldId id="256" r:id="rId2"/>
    <p:sldId id="315" r:id="rId3"/>
    <p:sldId id="542" r:id="rId4"/>
    <p:sldId id="502" r:id="rId5"/>
    <p:sldId id="257" r:id="rId6"/>
    <p:sldId id="505" r:id="rId7"/>
    <p:sldId id="260" r:id="rId8"/>
    <p:sldId id="504" r:id="rId9"/>
    <p:sldId id="513" r:id="rId10"/>
    <p:sldId id="503" r:id="rId11"/>
    <p:sldId id="516" r:id="rId12"/>
    <p:sldId id="278" r:id="rId13"/>
    <p:sldId id="515" r:id="rId14"/>
    <p:sldId id="263" r:id="rId15"/>
    <p:sldId id="265" r:id="rId16"/>
    <p:sldId id="314" r:id="rId17"/>
    <p:sldId id="277" r:id="rId18"/>
    <p:sldId id="290" r:id="rId19"/>
    <p:sldId id="268" r:id="rId20"/>
    <p:sldId id="293" r:id="rId21"/>
    <p:sldId id="309" r:id="rId22"/>
    <p:sldId id="299" r:id="rId23"/>
    <p:sldId id="301" r:id="rId24"/>
    <p:sldId id="291" r:id="rId25"/>
    <p:sldId id="282" r:id="rId26"/>
    <p:sldId id="283" r:id="rId27"/>
    <p:sldId id="286" r:id="rId28"/>
    <p:sldId id="284" r:id="rId29"/>
    <p:sldId id="285" r:id="rId30"/>
    <p:sldId id="287" r:id="rId31"/>
    <p:sldId id="288" r:id="rId32"/>
    <p:sldId id="310" r:id="rId33"/>
    <p:sldId id="499" r:id="rId34"/>
    <p:sldId id="517" r:id="rId35"/>
    <p:sldId id="500" r:id="rId36"/>
    <p:sldId id="511" r:id="rId37"/>
    <p:sldId id="548" r:id="rId38"/>
    <p:sldId id="316" r:id="rId39"/>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p:cViewPr varScale="1">
        <p:scale>
          <a:sx n="79" d="100"/>
          <a:sy n="79" d="100"/>
        </p:scale>
        <p:origin x="1570"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defRPr sz="1300"/>
            </a:lvl1pPr>
          </a:lstStyle>
          <a:p>
            <a:pPr>
              <a:defRPr/>
            </a:pPr>
            <a:endParaRPr lang="en-US" dirty="0"/>
          </a:p>
        </p:txBody>
      </p:sp>
      <p:sp>
        <p:nvSpPr>
          <p:cNvPr id="25603" name="Rectangle 3"/>
          <p:cNvSpPr>
            <a:spLocks noGrp="1" noChangeArrowheads="1"/>
          </p:cNvSpPr>
          <p:nvPr>
            <p:ph type="dt"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a:defRPr sz="1300"/>
            </a:lvl1pPr>
          </a:lstStyle>
          <a:p>
            <a:pPr>
              <a:defRPr/>
            </a:pPr>
            <a:endParaRPr lang="en-US" dirty="0"/>
          </a:p>
        </p:txBody>
      </p:sp>
      <p:sp>
        <p:nvSpPr>
          <p:cNvPr id="55300"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p:spPr>
      </p:sp>
      <p:sp>
        <p:nvSpPr>
          <p:cNvPr id="25605" name="Rectangle 5"/>
          <p:cNvSpPr>
            <a:spLocks noGrp="1" noChangeArrowheads="1"/>
          </p:cNvSpPr>
          <p:nvPr>
            <p:ph type="body" sz="quarter" idx="3"/>
          </p:nvPr>
        </p:nvSpPr>
        <p:spPr bwMode="auto">
          <a:xfrm>
            <a:off x="731520" y="4560570"/>
            <a:ext cx="5852160" cy="432054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606" name="Rectangle 6"/>
          <p:cNvSpPr>
            <a:spLocks noGrp="1" noChangeArrowheads="1"/>
          </p:cNvSpPr>
          <p:nvPr>
            <p:ph type="ftr" sz="quarter" idx="4"/>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defRPr sz="1300"/>
            </a:lvl1pPr>
          </a:lstStyle>
          <a:p>
            <a:pPr>
              <a:defRPr/>
            </a:pPr>
            <a:endParaRPr lang="en-US" dirty="0"/>
          </a:p>
        </p:txBody>
      </p:sp>
      <p:sp>
        <p:nvSpPr>
          <p:cNvPr id="25607" name="Rectangle 7"/>
          <p:cNvSpPr>
            <a:spLocks noGrp="1" noChangeArrowheads="1"/>
          </p:cNvSpPr>
          <p:nvPr>
            <p:ph type="sldNum" sz="quarter" idx="5"/>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a:defRPr sz="1300"/>
            </a:lvl1pPr>
          </a:lstStyle>
          <a:p>
            <a:pPr>
              <a:defRPr/>
            </a:pPr>
            <a:fld id="{A1E0F349-E84B-4A25-8D4C-45456D5FDF04}" type="slidenum">
              <a:rPr lang="en-US"/>
              <a:pPr>
                <a:defRPr/>
              </a:pPr>
              <a:t>‹#›</a:t>
            </a:fld>
            <a:endParaRPr lang="en-US" dirty="0"/>
          </a:p>
        </p:txBody>
      </p:sp>
    </p:spTree>
    <p:extLst>
      <p:ext uri="{BB962C8B-B14F-4D97-AF65-F5344CB8AC3E}">
        <p14:creationId xmlns:p14="http://schemas.microsoft.com/office/powerpoint/2010/main" val="7775448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1E0F349-E84B-4A25-8D4C-45456D5FDF04}" type="slidenum">
              <a:rPr lang="en-US" smtClean="0"/>
              <a:pPr>
                <a:defRPr/>
              </a:pPr>
              <a:t>38</a:t>
            </a:fld>
            <a:endParaRPr lang="en-US" dirty="0"/>
          </a:p>
        </p:txBody>
      </p:sp>
    </p:spTree>
    <p:extLst>
      <p:ext uri="{BB962C8B-B14F-4D97-AF65-F5344CB8AC3E}">
        <p14:creationId xmlns:p14="http://schemas.microsoft.com/office/powerpoint/2010/main" val="33674399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Celestia-R1---OverlayTitleS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7397750" cy="6858000"/>
          </a:xfrm>
          <a:prstGeom prst="rect">
            <a:avLst/>
          </a:prstGeom>
        </p:spPr>
      </p:pic>
      <p:sp>
        <p:nvSpPr>
          <p:cNvPr id="2" name="Title 1"/>
          <p:cNvSpPr>
            <a:spLocks noGrp="1"/>
          </p:cNvSpPr>
          <p:nvPr>
            <p:ph type="ctrTitle"/>
          </p:nvPr>
        </p:nvSpPr>
        <p:spPr>
          <a:xfrm>
            <a:off x="2743973" y="1964267"/>
            <a:ext cx="5714228" cy="2421464"/>
          </a:xfrm>
        </p:spPr>
        <p:txBody>
          <a:bodyPr anchor="b">
            <a:normAutofit/>
          </a:bodyPr>
          <a:lstStyle>
            <a:lvl1pPr algn="r">
              <a:defRPr sz="4400">
                <a:effectLst/>
              </a:defRPr>
            </a:lvl1pPr>
          </a:lstStyle>
          <a:p>
            <a:r>
              <a:rPr lang="en-US"/>
              <a:t>Click to edit Master title style</a:t>
            </a:r>
            <a:endParaRPr lang="en-US" dirty="0"/>
          </a:p>
        </p:txBody>
      </p:sp>
      <p:sp>
        <p:nvSpPr>
          <p:cNvPr id="3" name="Subtitle 2"/>
          <p:cNvSpPr>
            <a:spLocks noGrp="1"/>
          </p:cNvSpPr>
          <p:nvPr>
            <p:ph type="subTitle" idx="1"/>
          </p:nvPr>
        </p:nvSpPr>
        <p:spPr>
          <a:xfrm>
            <a:off x="2743973" y="4385733"/>
            <a:ext cx="5714228"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752311" y="5870576"/>
            <a:ext cx="1212173" cy="377825"/>
          </a:xfrm>
        </p:spPr>
        <p:txBody>
          <a:bodyPr/>
          <a:lstStyle/>
          <a:p>
            <a:pPr>
              <a:defRPr/>
            </a:pPr>
            <a:r>
              <a:rPr lang="en-US"/>
              <a:t>G.R. Labbé</a:t>
            </a:r>
            <a:endParaRPr lang="en-US" dirty="0"/>
          </a:p>
        </p:txBody>
      </p:sp>
      <p:sp>
        <p:nvSpPr>
          <p:cNvPr id="5" name="Footer Placeholder 4"/>
          <p:cNvSpPr>
            <a:spLocks noGrp="1"/>
          </p:cNvSpPr>
          <p:nvPr>
            <p:ph type="ftr" sz="quarter" idx="11"/>
          </p:nvPr>
        </p:nvSpPr>
        <p:spPr>
          <a:xfrm>
            <a:off x="2743973" y="5870576"/>
            <a:ext cx="3932137" cy="377825"/>
          </a:xfrm>
        </p:spPr>
        <p:txBody>
          <a:bodyPr/>
          <a:lstStyle/>
          <a:p>
            <a:pPr>
              <a:defRPr/>
            </a:pPr>
            <a:r>
              <a:rPr lang="en-US"/>
              <a:t>MGMT 1007-23W</a:t>
            </a:r>
            <a:endParaRPr lang="en-US" dirty="0"/>
          </a:p>
        </p:txBody>
      </p:sp>
      <p:sp>
        <p:nvSpPr>
          <p:cNvPr id="6" name="Slide Number Placeholder 5"/>
          <p:cNvSpPr>
            <a:spLocks noGrp="1"/>
          </p:cNvSpPr>
          <p:nvPr>
            <p:ph type="sldNum" sz="quarter" idx="12"/>
          </p:nvPr>
        </p:nvSpPr>
        <p:spPr>
          <a:xfrm>
            <a:off x="8040685" y="5870576"/>
            <a:ext cx="417516" cy="377825"/>
          </a:xfrm>
        </p:spPr>
        <p:txBody>
          <a:bodyPr/>
          <a:lstStyle/>
          <a:p>
            <a:pPr>
              <a:defRPr/>
            </a:pPr>
            <a:fld id="{4BA93E04-CE83-489F-A35D-EA0386101BCA}" type="slidenum">
              <a:rPr lang="en-US" smtClean="0"/>
              <a:pPr>
                <a:defRPr/>
              </a:pPr>
              <a:t>‹#›</a:t>
            </a:fld>
            <a:endParaRPr lang="en-US" dirty="0"/>
          </a:p>
        </p:txBody>
      </p:sp>
    </p:spTree>
    <p:extLst>
      <p:ext uri="{BB962C8B-B14F-4D97-AF65-F5344CB8AC3E}">
        <p14:creationId xmlns:p14="http://schemas.microsoft.com/office/powerpoint/2010/main" val="1733582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r>
              <a:rPr lang="en-US"/>
              <a:t>G.R. Labbé</a:t>
            </a:r>
            <a:endParaRPr lang="en-US" dirty="0"/>
          </a:p>
        </p:txBody>
      </p:sp>
      <p:sp>
        <p:nvSpPr>
          <p:cNvPr id="5" name="Footer Placeholder 4"/>
          <p:cNvSpPr>
            <a:spLocks noGrp="1"/>
          </p:cNvSpPr>
          <p:nvPr>
            <p:ph type="ftr" sz="quarter" idx="11"/>
          </p:nvPr>
        </p:nvSpPr>
        <p:spPr/>
        <p:txBody>
          <a:bodyPr/>
          <a:lstStyle/>
          <a:p>
            <a:pPr>
              <a:defRPr/>
            </a:pPr>
            <a:r>
              <a:rPr lang="en-US"/>
              <a:t>MGMT 1007-23W</a:t>
            </a:r>
            <a:endParaRPr lang="en-US" dirty="0"/>
          </a:p>
        </p:txBody>
      </p:sp>
      <p:sp>
        <p:nvSpPr>
          <p:cNvPr id="6" name="Slide Number Placeholder 5"/>
          <p:cNvSpPr>
            <a:spLocks noGrp="1"/>
          </p:cNvSpPr>
          <p:nvPr>
            <p:ph type="sldNum" sz="quarter" idx="12"/>
          </p:nvPr>
        </p:nvSpPr>
        <p:spPr/>
        <p:txBody>
          <a:bodyPr/>
          <a:lstStyle/>
          <a:p>
            <a:pPr>
              <a:defRPr/>
            </a:pPr>
            <a:fld id="{95875DF6-B96D-4E7E-8088-3E962A93B459}" type="slidenum">
              <a:rPr lang="en-US" smtClean="0"/>
              <a:pPr>
                <a:defRPr/>
              </a:pPr>
              <a:t>‹#›</a:t>
            </a:fld>
            <a:endParaRPr lang="en-US" dirty="0"/>
          </a:p>
        </p:txBody>
      </p:sp>
    </p:spTree>
    <p:extLst>
      <p:ext uri="{BB962C8B-B14F-4D97-AF65-F5344CB8AC3E}">
        <p14:creationId xmlns:p14="http://schemas.microsoft.com/office/powerpoint/2010/main" val="1777858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2" y="3308581"/>
            <a:ext cx="77724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457201" y="4777381"/>
            <a:ext cx="7772400" cy="860400"/>
          </a:xfrm>
        </p:spPr>
        <p:txBody>
          <a:bodyPr anchor="t">
            <a:normAutofit/>
          </a:bodyPr>
          <a:lstStyle>
            <a:lvl1pPr marL="0" indent="0" algn="l">
              <a:buNone/>
              <a:defRPr sz="18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r>
              <a:rPr lang="en-US"/>
              <a:t>G.R. Labbé</a:t>
            </a:r>
            <a:endParaRPr lang="en-US" dirty="0"/>
          </a:p>
        </p:txBody>
      </p:sp>
      <p:sp>
        <p:nvSpPr>
          <p:cNvPr id="5" name="Footer Placeholder 4"/>
          <p:cNvSpPr>
            <a:spLocks noGrp="1"/>
          </p:cNvSpPr>
          <p:nvPr>
            <p:ph type="ftr" sz="quarter" idx="11"/>
          </p:nvPr>
        </p:nvSpPr>
        <p:spPr/>
        <p:txBody>
          <a:bodyPr/>
          <a:lstStyle/>
          <a:p>
            <a:pPr>
              <a:defRPr/>
            </a:pPr>
            <a:r>
              <a:rPr lang="en-US"/>
              <a:t>MGMT 1007-23W</a:t>
            </a:r>
            <a:endParaRPr lang="en-US" dirty="0"/>
          </a:p>
        </p:txBody>
      </p:sp>
      <p:sp>
        <p:nvSpPr>
          <p:cNvPr id="6" name="Slide Number Placeholder 5"/>
          <p:cNvSpPr>
            <a:spLocks noGrp="1"/>
          </p:cNvSpPr>
          <p:nvPr>
            <p:ph type="sldNum" sz="quarter" idx="12"/>
          </p:nvPr>
        </p:nvSpPr>
        <p:spPr/>
        <p:txBody>
          <a:bodyPr/>
          <a:lstStyle/>
          <a:p>
            <a:pPr>
              <a:defRPr/>
            </a:pPr>
            <a:fld id="{25949C91-FFEC-412E-8AE9-ADFFCB4FE1E3}" type="slidenum">
              <a:rPr lang="en-US" smtClean="0"/>
              <a:pPr>
                <a:defRPr/>
              </a:pPr>
              <a:t>‹#›</a:t>
            </a:fld>
            <a:endParaRPr lang="en-US" dirty="0"/>
          </a:p>
        </p:txBody>
      </p:sp>
    </p:spTree>
    <p:extLst>
      <p:ext uri="{BB962C8B-B14F-4D97-AF65-F5344CB8AC3E}">
        <p14:creationId xmlns:p14="http://schemas.microsoft.com/office/powerpoint/2010/main" val="2041055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1" y="2142068"/>
            <a:ext cx="3813048"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6553" y="2142068"/>
            <a:ext cx="3813048"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r>
              <a:rPr lang="en-US"/>
              <a:t>G.R. Labbé</a:t>
            </a:r>
            <a:endParaRPr lang="en-US" dirty="0"/>
          </a:p>
        </p:txBody>
      </p:sp>
      <p:sp>
        <p:nvSpPr>
          <p:cNvPr id="6" name="Footer Placeholder 5"/>
          <p:cNvSpPr>
            <a:spLocks noGrp="1"/>
          </p:cNvSpPr>
          <p:nvPr>
            <p:ph type="ftr" sz="quarter" idx="11"/>
          </p:nvPr>
        </p:nvSpPr>
        <p:spPr/>
        <p:txBody>
          <a:bodyPr/>
          <a:lstStyle/>
          <a:p>
            <a:pPr>
              <a:defRPr/>
            </a:pPr>
            <a:r>
              <a:rPr lang="en-US"/>
              <a:t>MGMT 1007-23W</a:t>
            </a:r>
            <a:endParaRPr lang="en-US" dirty="0"/>
          </a:p>
        </p:txBody>
      </p:sp>
      <p:sp>
        <p:nvSpPr>
          <p:cNvPr id="7" name="Slide Number Placeholder 6"/>
          <p:cNvSpPr>
            <a:spLocks noGrp="1"/>
          </p:cNvSpPr>
          <p:nvPr>
            <p:ph type="sldNum" sz="quarter" idx="12"/>
          </p:nvPr>
        </p:nvSpPr>
        <p:spPr/>
        <p:txBody>
          <a:bodyPr/>
          <a:lstStyle/>
          <a:p>
            <a:pPr>
              <a:defRPr/>
            </a:pPr>
            <a:fld id="{44376BB6-0C38-4E6E-A468-A07A84A47275}" type="slidenum">
              <a:rPr lang="en-US" smtClean="0"/>
              <a:pPr>
                <a:defRPr/>
              </a:pPr>
              <a:t>‹#›</a:t>
            </a:fld>
            <a:endParaRPr lang="en-US" dirty="0"/>
          </a:p>
        </p:txBody>
      </p:sp>
    </p:spTree>
    <p:extLst>
      <p:ext uri="{BB962C8B-B14F-4D97-AF65-F5344CB8AC3E}">
        <p14:creationId xmlns:p14="http://schemas.microsoft.com/office/powerpoint/2010/main" val="3207802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normAutofit/>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743480" y="2218267"/>
            <a:ext cx="354060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870201"/>
            <a:ext cx="3813048"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11120" y="2218267"/>
            <a:ext cx="3518480"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6552" y="2870201"/>
            <a:ext cx="3813048"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r>
              <a:rPr lang="en-US"/>
              <a:t>G.R. Labbé</a:t>
            </a:r>
            <a:endParaRPr lang="en-US" dirty="0"/>
          </a:p>
        </p:txBody>
      </p:sp>
      <p:sp>
        <p:nvSpPr>
          <p:cNvPr id="8" name="Footer Placeholder 7"/>
          <p:cNvSpPr>
            <a:spLocks noGrp="1"/>
          </p:cNvSpPr>
          <p:nvPr>
            <p:ph type="ftr" sz="quarter" idx="11"/>
          </p:nvPr>
        </p:nvSpPr>
        <p:spPr/>
        <p:txBody>
          <a:bodyPr/>
          <a:lstStyle/>
          <a:p>
            <a:pPr>
              <a:defRPr/>
            </a:pPr>
            <a:r>
              <a:rPr lang="en-US"/>
              <a:t>MGMT 1007-23W</a:t>
            </a:r>
            <a:endParaRPr lang="en-US" dirty="0"/>
          </a:p>
        </p:txBody>
      </p:sp>
      <p:sp>
        <p:nvSpPr>
          <p:cNvPr id="9" name="Slide Number Placeholder 8"/>
          <p:cNvSpPr>
            <a:spLocks noGrp="1"/>
          </p:cNvSpPr>
          <p:nvPr>
            <p:ph type="sldNum" sz="quarter" idx="12"/>
          </p:nvPr>
        </p:nvSpPr>
        <p:spPr/>
        <p:txBody>
          <a:bodyPr/>
          <a:lstStyle/>
          <a:p>
            <a:pPr>
              <a:defRPr/>
            </a:pPr>
            <a:fld id="{59A3BD34-0567-443E-8D5F-B11CAFA8F6C3}" type="slidenum">
              <a:rPr lang="en-US" smtClean="0"/>
              <a:pPr>
                <a:defRPr/>
              </a:pPr>
              <a:t>‹#›</a:t>
            </a:fld>
            <a:endParaRPr lang="en-US" dirty="0"/>
          </a:p>
        </p:txBody>
      </p:sp>
    </p:spTree>
    <p:extLst>
      <p:ext uri="{BB962C8B-B14F-4D97-AF65-F5344CB8AC3E}">
        <p14:creationId xmlns:p14="http://schemas.microsoft.com/office/powerpoint/2010/main" val="3692639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S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609601"/>
            <a:ext cx="7772400" cy="1456267"/>
          </a:xfrm>
        </p:spPr>
        <p:txBody>
          <a:bodyPr>
            <a:normAutofit/>
          </a:bodyPr>
          <a:lstStyle>
            <a:lvl1pPr>
              <a:defRPr sz="320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r>
              <a:rPr lang="en-US"/>
              <a:t>G.R. Labbé</a:t>
            </a:r>
            <a:endParaRPr lang="en-US" dirty="0"/>
          </a:p>
        </p:txBody>
      </p:sp>
      <p:sp>
        <p:nvSpPr>
          <p:cNvPr id="4" name="Footer Placeholder 3"/>
          <p:cNvSpPr>
            <a:spLocks noGrp="1"/>
          </p:cNvSpPr>
          <p:nvPr>
            <p:ph type="ftr" sz="quarter" idx="11"/>
          </p:nvPr>
        </p:nvSpPr>
        <p:spPr/>
        <p:txBody>
          <a:bodyPr/>
          <a:lstStyle/>
          <a:p>
            <a:pPr>
              <a:defRPr/>
            </a:pPr>
            <a:r>
              <a:rPr lang="en-US"/>
              <a:t>MGMT 1007-23W</a:t>
            </a:r>
            <a:endParaRPr lang="en-US" dirty="0"/>
          </a:p>
        </p:txBody>
      </p:sp>
      <p:sp>
        <p:nvSpPr>
          <p:cNvPr id="5" name="Slide Number Placeholder 4"/>
          <p:cNvSpPr>
            <a:spLocks noGrp="1"/>
          </p:cNvSpPr>
          <p:nvPr>
            <p:ph type="sldNum" sz="quarter" idx="12"/>
          </p:nvPr>
        </p:nvSpPr>
        <p:spPr/>
        <p:txBody>
          <a:bodyPr/>
          <a:lstStyle/>
          <a:p>
            <a:pPr>
              <a:defRPr/>
            </a:pPr>
            <a:fld id="{F9F49EF5-67F0-4902-A920-ABC7FAEBEAC1}" type="slidenum">
              <a:rPr lang="en-US" smtClean="0"/>
              <a:pPr>
                <a:defRPr/>
              </a:pPr>
              <a:t>‹#›</a:t>
            </a:fld>
            <a:endParaRPr lang="en-US" dirty="0"/>
          </a:p>
        </p:txBody>
      </p:sp>
    </p:spTree>
    <p:extLst>
      <p:ext uri="{BB962C8B-B14F-4D97-AF65-F5344CB8AC3E}">
        <p14:creationId xmlns:p14="http://schemas.microsoft.com/office/powerpoint/2010/main" val="197799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S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Date Placeholder 1"/>
          <p:cNvSpPr>
            <a:spLocks noGrp="1"/>
          </p:cNvSpPr>
          <p:nvPr>
            <p:ph type="dt" sz="half" idx="10"/>
          </p:nvPr>
        </p:nvSpPr>
        <p:spPr/>
        <p:txBody>
          <a:bodyPr/>
          <a:lstStyle/>
          <a:p>
            <a:pPr>
              <a:defRPr/>
            </a:pPr>
            <a:r>
              <a:rPr lang="en-US"/>
              <a:t>G.R. Labbé</a:t>
            </a:r>
            <a:endParaRPr lang="en-US" dirty="0"/>
          </a:p>
        </p:txBody>
      </p:sp>
      <p:sp>
        <p:nvSpPr>
          <p:cNvPr id="3" name="Footer Placeholder 2"/>
          <p:cNvSpPr>
            <a:spLocks noGrp="1"/>
          </p:cNvSpPr>
          <p:nvPr>
            <p:ph type="ftr" sz="quarter" idx="11"/>
          </p:nvPr>
        </p:nvSpPr>
        <p:spPr/>
        <p:txBody>
          <a:bodyPr/>
          <a:lstStyle/>
          <a:p>
            <a:pPr>
              <a:defRPr/>
            </a:pPr>
            <a:r>
              <a:rPr lang="en-US"/>
              <a:t>MGMT 1007-23W</a:t>
            </a:r>
            <a:endParaRPr lang="en-US" dirty="0"/>
          </a:p>
        </p:txBody>
      </p:sp>
      <p:sp>
        <p:nvSpPr>
          <p:cNvPr id="4" name="Slide Number Placeholder 3"/>
          <p:cNvSpPr>
            <a:spLocks noGrp="1"/>
          </p:cNvSpPr>
          <p:nvPr>
            <p:ph type="sldNum" sz="quarter" idx="12"/>
          </p:nvPr>
        </p:nvSpPr>
        <p:spPr/>
        <p:txBody>
          <a:bodyPr/>
          <a:lstStyle/>
          <a:p>
            <a:pPr>
              <a:defRPr/>
            </a:pPr>
            <a:fld id="{DFE09956-1B81-4C99-9D60-D4B3A85F6419}" type="slidenum">
              <a:rPr lang="en-US" smtClean="0"/>
              <a:pPr>
                <a:defRPr/>
              </a:pPr>
              <a:t>‹#›</a:t>
            </a:fld>
            <a:endParaRPr lang="en-US" dirty="0"/>
          </a:p>
        </p:txBody>
      </p:sp>
    </p:spTree>
    <p:extLst>
      <p:ext uri="{BB962C8B-B14F-4D97-AF65-F5344CB8AC3E}">
        <p14:creationId xmlns:p14="http://schemas.microsoft.com/office/powerpoint/2010/main" val="1501782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2" name="Picture 11" descr="Celestia-R1---OverlayContentS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1718" y="1557868"/>
            <a:ext cx="2862910" cy="1439332"/>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606144" y="609601"/>
            <a:ext cx="4627975"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61718" y="2997200"/>
            <a:ext cx="2862910" cy="184573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G.R. Labbé</a:t>
            </a:r>
            <a:endParaRPr lang="en-US" dirty="0"/>
          </a:p>
        </p:txBody>
      </p:sp>
      <p:sp>
        <p:nvSpPr>
          <p:cNvPr id="6" name="Footer Placeholder 5"/>
          <p:cNvSpPr>
            <a:spLocks noGrp="1"/>
          </p:cNvSpPr>
          <p:nvPr>
            <p:ph type="ftr" sz="quarter" idx="11"/>
          </p:nvPr>
        </p:nvSpPr>
        <p:spPr/>
        <p:txBody>
          <a:bodyPr/>
          <a:lstStyle/>
          <a:p>
            <a:pPr>
              <a:defRPr/>
            </a:pPr>
            <a:r>
              <a:rPr lang="en-US"/>
              <a:t>MGMT 1007-23W</a:t>
            </a:r>
            <a:endParaRPr lang="en-US" dirty="0"/>
          </a:p>
        </p:txBody>
      </p:sp>
      <p:sp>
        <p:nvSpPr>
          <p:cNvPr id="7" name="Slide Number Placeholder 6"/>
          <p:cNvSpPr>
            <a:spLocks noGrp="1"/>
          </p:cNvSpPr>
          <p:nvPr>
            <p:ph type="sldNum" sz="quarter" idx="12"/>
          </p:nvPr>
        </p:nvSpPr>
        <p:spPr/>
        <p:txBody>
          <a:bodyPr/>
          <a:lstStyle/>
          <a:p>
            <a:pPr>
              <a:defRPr/>
            </a:pPr>
            <a:fld id="{780E3286-39E6-4158-A968-D6E9BBE1A849}" type="slidenum">
              <a:rPr lang="en-US" smtClean="0"/>
              <a:pPr>
                <a:defRPr/>
              </a:pPr>
              <a:t>‹#›</a:t>
            </a:fld>
            <a:endParaRPr lang="en-US" dirty="0"/>
          </a:p>
        </p:txBody>
      </p:sp>
    </p:spTree>
    <p:extLst>
      <p:ext uri="{BB962C8B-B14F-4D97-AF65-F5344CB8AC3E}">
        <p14:creationId xmlns:p14="http://schemas.microsoft.com/office/powerpoint/2010/main" val="33866324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1" name="Picture 10" descr="Celestia-R1---OverlayContentS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2128" y="1735672"/>
            <a:ext cx="4097204" cy="1371600"/>
          </a:xfrm>
        </p:spPr>
        <p:txBody>
          <a:bodyPr anchor="b">
            <a:normAutofit/>
          </a:bodyPr>
          <a:lstStyle>
            <a:lvl1pPr algn="l">
              <a:defRPr sz="24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029200" y="914400"/>
            <a:ext cx="3200400"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dirty="0"/>
            </a:lvl1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a:xfrm>
            <a:off x="462128" y="3107272"/>
            <a:ext cx="4097204"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G.R. Labbé</a:t>
            </a:r>
            <a:endParaRPr lang="en-US" dirty="0"/>
          </a:p>
        </p:txBody>
      </p:sp>
      <p:sp>
        <p:nvSpPr>
          <p:cNvPr id="6" name="Footer Placeholder 5"/>
          <p:cNvSpPr>
            <a:spLocks noGrp="1"/>
          </p:cNvSpPr>
          <p:nvPr>
            <p:ph type="ftr" sz="quarter" idx="11"/>
          </p:nvPr>
        </p:nvSpPr>
        <p:spPr/>
        <p:txBody>
          <a:bodyPr/>
          <a:lstStyle/>
          <a:p>
            <a:pPr>
              <a:defRPr/>
            </a:pPr>
            <a:r>
              <a:rPr lang="en-US"/>
              <a:t>MGMT 1007-23W</a:t>
            </a:r>
            <a:endParaRPr lang="en-US" dirty="0"/>
          </a:p>
        </p:txBody>
      </p:sp>
      <p:sp>
        <p:nvSpPr>
          <p:cNvPr id="7" name="Slide Number Placeholder 6"/>
          <p:cNvSpPr>
            <a:spLocks noGrp="1"/>
          </p:cNvSpPr>
          <p:nvPr>
            <p:ph type="sldNum" sz="quarter" idx="12"/>
          </p:nvPr>
        </p:nvSpPr>
        <p:spPr/>
        <p:txBody>
          <a:bodyPr/>
          <a:lstStyle/>
          <a:p>
            <a:pPr>
              <a:defRPr/>
            </a:pPr>
            <a:fld id="{3DFC9DFC-F137-45EA-8AB5-24DD0461600B}" type="slidenum">
              <a:rPr lang="en-US" smtClean="0"/>
              <a:pPr>
                <a:defRPr/>
              </a:pPr>
              <a:t>‹#›</a:t>
            </a:fld>
            <a:endParaRPr lang="en-US" dirty="0"/>
          </a:p>
        </p:txBody>
      </p:sp>
    </p:spTree>
    <p:extLst>
      <p:ext uri="{BB962C8B-B14F-4D97-AF65-F5344CB8AC3E}">
        <p14:creationId xmlns:p14="http://schemas.microsoft.com/office/powerpoint/2010/main" val="3933366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4732865"/>
            <a:ext cx="7772400" cy="566738"/>
          </a:xfrm>
        </p:spPr>
        <p:txBody>
          <a:bodyPr anchor="b">
            <a:normAutofit/>
          </a:bodyPr>
          <a:lstStyle>
            <a:lvl1pPr algn="l">
              <a:defRPr sz="2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4401" y="932112"/>
            <a:ext cx="6858000"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a:lvl1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a:xfrm>
            <a:off x="457201" y="5299603"/>
            <a:ext cx="77724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G.R. Labbé</a:t>
            </a:r>
            <a:endParaRPr lang="en-US" dirty="0"/>
          </a:p>
        </p:txBody>
      </p:sp>
      <p:sp>
        <p:nvSpPr>
          <p:cNvPr id="6" name="Footer Placeholder 5"/>
          <p:cNvSpPr>
            <a:spLocks noGrp="1"/>
          </p:cNvSpPr>
          <p:nvPr>
            <p:ph type="ftr" sz="quarter" idx="11"/>
          </p:nvPr>
        </p:nvSpPr>
        <p:spPr/>
        <p:txBody>
          <a:bodyPr/>
          <a:lstStyle/>
          <a:p>
            <a:pPr>
              <a:defRPr/>
            </a:pPr>
            <a:r>
              <a:rPr lang="en-US"/>
              <a:t>MGMT 1007-23W</a:t>
            </a:r>
            <a:endParaRPr lang="en-US" dirty="0"/>
          </a:p>
        </p:txBody>
      </p:sp>
      <p:sp>
        <p:nvSpPr>
          <p:cNvPr id="7" name="Slide Number Placeholder 6"/>
          <p:cNvSpPr>
            <a:spLocks noGrp="1"/>
          </p:cNvSpPr>
          <p:nvPr>
            <p:ph type="sldNum" sz="quarter" idx="12"/>
          </p:nvPr>
        </p:nvSpPr>
        <p:spPr/>
        <p:txBody>
          <a:bodyPr/>
          <a:lstStyle/>
          <a:p>
            <a:pPr>
              <a:defRPr/>
            </a:pPr>
            <a:fld id="{1B469624-95AF-46BD-B7B0-AA752B087D3B}" type="slidenum">
              <a:rPr lang="en-US" smtClean="0"/>
              <a:pPr>
                <a:defRPr/>
              </a:pPr>
              <a:t>‹#›</a:t>
            </a:fld>
            <a:endParaRPr lang="en-US" dirty="0"/>
          </a:p>
        </p:txBody>
      </p:sp>
    </p:spTree>
    <p:extLst>
      <p:ext uri="{BB962C8B-B14F-4D97-AF65-F5344CB8AC3E}">
        <p14:creationId xmlns:p14="http://schemas.microsoft.com/office/powerpoint/2010/main" val="1073460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3" y="609602"/>
            <a:ext cx="7772399"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457202" y="4343400"/>
            <a:ext cx="7772399"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r>
              <a:rPr lang="en-US"/>
              <a:t>G.R. Labbé</a:t>
            </a:r>
            <a:endParaRPr lang="en-US" dirty="0"/>
          </a:p>
        </p:txBody>
      </p:sp>
      <p:sp>
        <p:nvSpPr>
          <p:cNvPr id="5" name="Footer Placeholder 4"/>
          <p:cNvSpPr>
            <a:spLocks noGrp="1"/>
          </p:cNvSpPr>
          <p:nvPr>
            <p:ph type="ftr" sz="quarter" idx="11"/>
          </p:nvPr>
        </p:nvSpPr>
        <p:spPr/>
        <p:txBody>
          <a:bodyPr/>
          <a:lstStyle/>
          <a:p>
            <a:pPr>
              <a:defRPr/>
            </a:pPr>
            <a:r>
              <a:rPr lang="en-US"/>
              <a:t>MGMT 1007-23W</a:t>
            </a:r>
            <a:endParaRPr lang="en-US" dirty="0"/>
          </a:p>
        </p:txBody>
      </p:sp>
      <p:sp>
        <p:nvSpPr>
          <p:cNvPr id="6" name="Slide Number Placeholder 5"/>
          <p:cNvSpPr>
            <a:spLocks noGrp="1"/>
          </p:cNvSpPr>
          <p:nvPr>
            <p:ph type="sldNum" sz="quarter" idx="12"/>
          </p:nvPr>
        </p:nvSpPr>
        <p:spPr/>
        <p:txBody>
          <a:bodyPr/>
          <a:lstStyle/>
          <a:p>
            <a:pPr>
              <a:defRPr/>
            </a:pPr>
            <a:fld id="{1B469624-95AF-46BD-B7B0-AA752B087D3B}" type="slidenum">
              <a:rPr lang="en-US" smtClean="0"/>
              <a:pPr>
                <a:defRPr/>
              </a:pPr>
              <a:t>‹#›</a:t>
            </a:fld>
            <a:endParaRPr lang="en-US" dirty="0"/>
          </a:p>
        </p:txBody>
      </p:sp>
    </p:spTree>
    <p:extLst>
      <p:ext uri="{BB962C8B-B14F-4D97-AF65-F5344CB8AC3E}">
        <p14:creationId xmlns:p14="http://schemas.microsoft.com/office/powerpoint/2010/main" val="27922853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7" name="Picture 16" descr="Celestia-R1---OverlayContentS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14" name="TextBox 13"/>
          <p:cNvSpPr txBox="1"/>
          <p:nvPr/>
        </p:nvSpPr>
        <p:spPr>
          <a:xfrm>
            <a:off x="421796" y="718114"/>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7735800" y="275167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879115" y="609602"/>
            <a:ext cx="7091297"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988671" y="3352800"/>
            <a:ext cx="6876133" cy="381000"/>
          </a:xfrm>
        </p:spPr>
        <p:txBody>
          <a:bodyPr anchor="ctr">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462266" y="4343400"/>
            <a:ext cx="77724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r>
              <a:rPr lang="en-US"/>
              <a:t>G.R. Labbé</a:t>
            </a:r>
            <a:endParaRPr lang="en-US" dirty="0"/>
          </a:p>
        </p:txBody>
      </p:sp>
      <p:sp>
        <p:nvSpPr>
          <p:cNvPr id="5" name="Footer Placeholder 4"/>
          <p:cNvSpPr>
            <a:spLocks noGrp="1"/>
          </p:cNvSpPr>
          <p:nvPr>
            <p:ph type="ftr" sz="quarter" idx="11"/>
          </p:nvPr>
        </p:nvSpPr>
        <p:spPr/>
        <p:txBody>
          <a:bodyPr/>
          <a:lstStyle/>
          <a:p>
            <a:pPr>
              <a:defRPr/>
            </a:pPr>
            <a:r>
              <a:rPr lang="en-US"/>
              <a:t>MGMT 1007-23W</a:t>
            </a:r>
            <a:endParaRPr lang="en-US" dirty="0"/>
          </a:p>
        </p:txBody>
      </p:sp>
      <p:sp>
        <p:nvSpPr>
          <p:cNvPr id="6" name="Slide Number Placeholder 5"/>
          <p:cNvSpPr>
            <a:spLocks noGrp="1"/>
          </p:cNvSpPr>
          <p:nvPr>
            <p:ph type="sldNum" sz="quarter" idx="12"/>
          </p:nvPr>
        </p:nvSpPr>
        <p:spPr/>
        <p:txBody>
          <a:bodyPr/>
          <a:lstStyle/>
          <a:p>
            <a:pPr>
              <a:defRPr/>
            </a:pPr>
            <a:fld id="{1B469624-95AF-46BD-B7B0-AA752B087D3B}" type="slidenum">
              <a:rPr lang="en-US" smtClean="0"/>
              <a:pPr>
                <a:defRPr/>
              </a:pPr>
              <a:t>‹#›</a:t>
            </a:fld>
            <a:endParaRPr lang="en-US" dirty="0"/>
          </a:p>
        </p:txBody>
      </p:sp>
    </p:spTree>
    <p:extLst>
      <p:ext uri="{BB962C8B-B14F-4D97-AF65-F5344CB8AC3E}">
        <p14:creationId xmlns:p14="http://schemas.microsoft.com/office/powerpoint/2010/main" val="24388176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3291648"/>
            <a:ext cx="7772401" cy="1468800"/>
          </a:xfrm>
        </p:spPr>
        <p:txBody>
          <a:bodyPr anchor="b">
            <a:normAutofit/>
          </a:bodyPr>
          <a:lstStyle>
            <a:lvl1pPr algn="l">
              <a:defRPr sz="2800" b="0" cap="none"/>
            </a:lvl1pPr>
          </a:lstStyle>
          <a:p>
            <a:r>
              <a:rPr lang="en-US"/>
              <a:t>Click to edit Master title style</a:t>
            </a:r>
            <a:endParaRPr lang="en-US" dirty="0"/>
          </a:p>
        </p:txBody>
      </p:sp>
      <p:sp>
        <p:nvSpPr>
          <p:cNvPr id="3" name="Text Placeholder 2"/>
          <p:cNvSpPr>
            <a:spLocks noGrp="1"/>
          </p:cNvSpPr>
          <p:nvPr>
            <p:ph type="body" idx="1"/>
          </p:nvPr>
        </p:nvSpPr>
        <p:spPr>
          <a:xfrm>
            <a:off x="457200" y="4760448"/>
            <a:ext cx="7772402"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r>
              <a:rPr lang="en-US"/>
              <a:t>G.R. Labbé</a:t>
            </a:r>
            <a:endParaRPr lang="en-US" dirty="0"/>
          </a:p>
        </p:txBody>
      </p:sp>
      <p:sp>
        <p:nvSpPr>
          <p:cNvPr id="5" name="Footer Placeholder 4"/>
          <p:cNvSpPr>
            <a:spLocks noGrp="1"/>
          </p:cNvSpPr>
          <p:nvPr>
            <p:ph type="ftr" sz="quarter" idx="11"/>
          </p:nvPr>
        </p:nvSpPr>
        <p:spPr/>
        <p:txBody>
          <a:bodyPr/>
          <a:lstStyle/>
          <a:p>
            <a:pPr>
              <a:defRPr/>
            </a:pPr>
            <a:r>
              <a:rPr lang="en-US"/>
              <a:t>MGMT 1007-23W</a:t>
            </a:r>
            <a:endParaRPr lang="en-US" dirty="0"/>
          </a:p>
        </p:txBody>
      </p:sp>
      <p:sp>
        <p:nvSpPr>
          <p:cNvPr id="6" name="Slide Number Placeholder 5"/>
          <p:cNvSpPr>
            <a:spLocks noGrp="1"/>
          </p:cNvSpPr>
          <p:nvPr>
            <p:ph type="sldNum" sz="quarter" idx="12"/>
          </p:nvPr>
        </p:nvSpPr>
        <p:spPr/>
        <p:txBody>
          <a:bodyPr/>
          <a:lstStyle/>
          <a:p>
            <a:pPr>
              <a:defRPr/>
            </a:pPr>
            <a:fld id="{1B469624-95AF-46BD-B7B0-AA752B087D3B}" type="slidenum">
              <a:rPr lang="en-US" smtClean="0"/>
              <a:pPr>
                <a:defRPr/>
              </a:pPr>
              <a:t>‹#›</a:t>
            </a:fld>
            <a:endParaRPr lang="en-US" dirty="0"/>
          </a:p>
        </p:txBody>
      </p:sp>
    </p:spTree>
    <p:extLst>
      <p:ext uri="{BB962C8B-B14F-4D97-AF65-F5344CB8AC3E}">
        <p14:creationId xmlns:p14="http://schemas.microsoft.com/office/powerpoint/2010/main" val="293081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11" name="TextBox 10"/>
          <p:cNvSpPr txBox="1"/>
          <p:nvPr/>
        </p:nvSpPr>
        <p:spPr>
          <a:xfrm>
            <a:off x="421796" y="718114"/>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6" name="TextBox 15"/>
          <p:cNvSpPr txBox="1"/>
          <p:nvPr/>
        </p:nvSpPr>
        <p:spPr>
          <a:xfrm>
            <a:off x="7735800" y="275167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879115" y="609602"/>
            <a:ext cx="7091297"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457200" y="3886200"/>
            <a:ext cx="7772401" cy="8890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457200" y="4775200"/>
            <a:ext cx="7772401" cy="10160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r>
              <a:rPr lang="en-US"/>
              <a:t>G.R. Labbé</a:t>
            </a:r>
            <a:endParaRPr lang="en-US" dirty="0"/>
          </a:p>
        </p:txBody>
      </p:sp>
      <p:sp>
        <p:nvSpPr>
          <p:cNvPr id="5" name="Footer Placeholder 4"/>
          <p:cNvSpPr>
            <a:spLocks noGrp="1"/>
          </p:cNvSpPr>
          <p:nvPr>
            <p:ph type="ftr" sz="quarter" idx="11"/>
          </p:nvPr>
        </p:nvSpPr>
        <p:spPr/>
        <p:txBody>
          <a:bodyPr/>
          <a:lstStyle/>
          <a:p>
            <a:pPr>
              <a:defRPr/>
            </a:pPr>
            <a:r>
              <a:rPr lang="en-US"/>
              <a:t>MGMT 1007-23W</a:t>
            </a:r>
            <a:endParaRPr lang="en-US" dirty="0"/>
          </a:p>
        </p:txBody>
      </p:sp>
      <p:sp>
        <p:nvSpPr>
          <p:cNvPr id="6" name="Slide Number Placeholder 5"/>
          <p:cNvSpPr>
            <a:spLocks noGrp="1"/>
          </p:cNvSpPr>
          <p:nvPr>
            <p:ph type="sldNum" sz="quarter" idx="12"/>
          </p:nvPr>
        </p:nvSpPr>
        <p:spPr/>
        <p:txBody>
          <a:bodyPr/>
          <a:lstStyle/>
          <a:p>
            <a:pPr>
              <a:defRPr/>
            </a:pPr>
            <a:fld id="{1B469624-95AF-46BD-B7B0-AA752B087D3B}" type="slidenum">
              <a:rPr lang="en-US" smtClean="0"/>
              <a:pPr>
                <a:defRPr/>
              </a:pPr>
              <a:t>‹#›</a:t>
            </a:fld>
            <a:endParaRPr lang="en-US" dirty="0"/>
          </a:p>
        </p:txBody>
      </p:sp>
    </p:spTree>
    <p:extLst>
      <p:ext uri="{BB962C8B-B14F-4D97-AF65-F5344CB8AC3E}">
        <p14:creationId xmlns:p14="http://schemas.microsoft.com/office/powerpoint/2010/main" val="32022130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4440" y="609602"/>
            <a:ext cx="7772401" cy="2743199"/>
          </a:xfrm>
        </p:spPr>
        <p:txBody>
          <a:bodyPr vert="horz" lIns="91440" tIns="45720" rIns="91440" bIns="45720" rtlCol="0" anchor="ctr">
            <a:normAutofit/>
          </a:bodyPr>
          <a:lstStyle>
            <a:lvl1pPr>
              <a:defRPr lang="en-US" sz="2800"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464440" y="3505200"/>
            <a:ext cx="7772401" cy="8382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464439" y="4343400"/>
            <a:ext cx="7772401" cy="14478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r>
              <a:rPr lang="en-US"/>
              <a:t>G.R. Labbé</a:t>
            </a:r>
            <a:endParaRPr lang="en-US" dirty="0"/>
          </a:p>
        </p:txBody>
      </p:sp>
      <p:sp>
        <p:nvSpPr>
          <p:cNvPr id="5" name="Footer Placeholder 4"/>
          <p:cNvSpPr>
            <a:spLocks noGrp="1"/>
          </p:cNvSpPr>
          <p:nvPr>
            <p:ph type="ftr" sz="quarter" idx="11"/>
          </p:nvPr>
        </p:nvSpPr>
        <p:spPr/>
        <p:txBody>
          <a:bodyPr/>
          <a:lstStyle/>
          <a:p>
            <a:pPr>
              <a:defRPr/>
            </a:pPr>
            <a:r>
              <a:rPr lang="en-US"/>
              <a:t>MGMT 1007-23W</a:t>
            </a:r>
            <a:endParaRPr lang="en-US" dirty="0"/>
          </a:p>
        </p:txBody>
      </p:sp>
      <p:sp>
        <p:nvSpPr>
          <p:cNvPr id="6" name="Slide Number Placeholder 5"/>
          <p:cNvSpPr>
            <a:spLocks noGrp="1"/>
          </p:cNvSpPr>
          <p:nvPr>
            <p:ph type="sldNum" sz="quarter" idx="12"/>
          </p:nvPr>
        </p:nvSpPr>
        <p:spPr/>
        <p:txBody>
          <a:bodyPr/>
          <a:lstStyle/>
          <a:p>
            <a:pPr>
              <a:defRPr/>
            </a:pPr>
            <a:fld id="{1B469624-95AF-46BD-B7B0-AA752B087D3B}" type="slidenum">
              <a:rPr lang="en-US" smtClean="0"/>
              <a:pPr>
                <a:defRPr/>
              </a:pPr>
              <a:t>‹#›</a:t>
            </a:fld>
            <a:endParaRPr lang="en-US" dirty="0"/>
          </a:p>
        </p:txBody>
      </p:sp>
    </p:spTree>
    <p:extLst>
      <p:ext uri="{BB962C8B-B14F-4D97-AF65-F5344CB8AC3E}">
        <p14:creationId xmlns:p14="http://schemas.microsoft.com/office/powerpoint/2010/main" val="7853326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8" name="Title 1"/>
          <p:cNvSpPr>
            <a:spLocks noGrp="1"/>
          </p:cNvSpPr>
          <p:nvPr>
            <p:ph type="title"/>
          </p:nvPr>
        </p:nvSpPr>
        <p:spPr>
          <a:xfrm>
            <a:off x="457200" y="609601"/>
            <a:ext cx="7772400" cy="1456267"/>
          </a:xfrm>
        </p:spPr>
        <p:txBody>
          <a:bodyPr>
            <a:normAutofit/>
          </a:bodyPr>
          <a:lstStyle>
            <a:lvl1pPr>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r>
              <a:rPr lang="en-US"/>
              <a:t>G.R. Labbé</a:t>
            </a:r>
            <a:endParaRPr lang="en-US" dirty="0"/>
          </a:p>
        </p:txBody>
      </p:sp>
      <p:sp>
        <p:nvSpPr>
          <p:cNvPr id="5" name="Footer Placeholder 4"/>
          <p:cNvSpPr>
            <a:spLocks noGrp="1"/>
          </p:cNvSpPr>
          <p:nvPr>
            <p:ph type="ftr" sz="quarter" idx="11"/>
          </p:nvPr>
        </p:nvSpPr>
        <p:spPr/>
        <p:txBody>
          <a:bodyPr/>
          <a:lstStyle/>
          <a:p>
            <a:pPr>
              <a:defRPr/>
            </a:pPr>
            <a:r>
              <a:rPr lang="en-US"/>
              <a:t>MGMT 1007-23W</a:t>
            </a:r>
            <a:endParaRPr lang="en-US" dirty="0"/>
          </a:p>
        </p:txBody>
      </p:sp>
      <p:sp>
        <p:nvSpPr>
          <p:cNvPr id="6" name="Slide Number Placeholder 5"/>
          <p:cNvSpPr>
            <a:spLocks noGrp="1"/>
          </p:cNvSpPr>
          <p:nvPr>
            <p:ph type="sldNum" sz="quarter" idx="12"/>
          </p:nvPr>
        </p:nvSpPr>
        <p:spPr/>
        <p:txBody>
          <a:bodyPr/>
          <a:lstStyle/>
          <a:p>
            <a:pPr>
              <a:defRPr/>
            </a:pPr>
            <a:fld id="{2B68315E-CF60-4B53-8512-770C5AE647EF}" type="slidenum">
              <a:rPr lang="en-US" smtClean="0"/>
              <a:pPr>
                <a:defRPr/>
              </a:pPr>
              <a:t>‹#›</a:t>
            </a:fld>
            <a:endParaRPr lang="en-US" dirty="0"/>
          </a:p>
        </p:txBody>
      </p:sp>
    </p:spTree>
    <p:extLst>
      <p:ext uri="{BB962C8B-B14F-4D97-AF65-F5344CB8AC3E}">
        <p14:creationId xmlns:p14="http://schemas.microsoft.com/office/powerpoint/2010/main" val="10846836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Vertical Title 1"/>
          <p:cNvSpPr>
            <a:spLocks noGrp="1"/>
          </p:cNvSpPr>
          <p:nvPr>
            <p:ph type="title" orient="vert"/>
          </p:nvPr>
        </p:nvSpPr>
        <p:spPr>
          <a:xfrm>
            <a:off x="6552978" y="609600"/>
            <a:ext cx="1676621" cy="5181601"/>
          </a:xfrm>
        </p:spPr>
        <p:txBody>
          <a:bodyPr vert="eaVert">
            <a:normAutofit/>
          </a:bodyPr>
          <a:lstStyle>
            <a:lvl1pPr>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5990184"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r>
              <a:rPr lang="en-US"/>
              <a:t>G.R. Labbé</a:t>
            </a:r>
            <a:endParaRPr lang="en-US" dirty="0"/>
          </a:p>
        </p:txBody>
      </p:sp>
      <p:sp>
        <p:nvSpPr>
          <p:cNvPr id="5" name="Footer Placeholder 4"/>
          <p:cNvSpPr>
            <a:spLocks noGrp="1"/>
          </p:cNvSpPr>
          <p:nvPr>
            <p:ph type="ftr" sz="quarter" idx="11"/>
          </p:nvPr>
        </p:nvSpPr>
        <p:spPr/>
        <p:txBody>
          <a:bodyPr/>
          <a:lstStyle/>
          <a:p>
            <a:pPr>
              <a:defRPr/>
            </a:pPr>
            <a:r>
              <a:rPr lang="en-US"/>
              <a:t>MGMT 1007-23W</a:t>
            </a:r>
            <a:endParaRPr lang="en-US" dirty="0"/>
          </a:p>
        </p:txBody>
      </p:sp>
      <p:sp>
        <p:nvSpPr>
          <p:cNvPr id="6" name="Slide Number Placeholder 5"/>
          <p:cNvSpPr>
            <a:spLocks noGrp="1"/>
          </p:cNvSpPr>
          <p:nvPr>
            <p:ph type="sldNum" sz="quarter" idx="12"/>
          </p:nvPr>
        </p:nvSpPr>
        <p:spPr/>
        <p:txBody>
          <a:bodyPr/>
          <a:lstStyle/>
          <a:p>
            <a:pPr>
              <a:defRPr/>
            </a:pPr>
            <a:fld id="{65C783CF-36CC-4938-A9AA-69F4EFE0FADD}" type="slidenum">
              <a:rPr lang="en-US" smtClean="0"/>
              <a:pPr>
                <a:defRPr/>
              </a:pPr>
              <a:t>‹#›</a:t>
            </a:fld>
            <a:endParaRPr lang="en-US" dirty="0"/>
          </a:p>
        </p:txBody>
      </p:sp>
    </p:spTree>
    <p:extLst>
      <p:ext uri="{BB962C8B-B14F-4D97-AF65-F5344CB8AC3E}">
        <p14:creationId xmlns:p14="http://schemas.microsoft.com/office/powerpoint/2010/main" val="2380373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1"/>
            <a:ext cx="7772400"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2142068"/>
            <a:ext cx="7772400"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523712" y="5870576"/>
            <a:ext cx="1212173"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defRPr/>
            </a:pPr>
            <a:r>
              <a:rPr lang="en-US"/>
              <a:t>G.R. Labbé</a:t>
            </a:r>
            <a:endParaRPr lang="en-US" dirty="0"/>
          </a:p>
        </p:txBody>
      </p:sp>
      <p:sp>
        <p:nvSpPr>
          <p:cNvPr id="5" name="Footer Placeholder 4"/>
          <p:cNvSpPr>
            <a:spLocks noGrp="1"/>
          </p:cNvSpPr>
          <p:nvPr>
            <p:ph type="ftr" sz="quarter" idx="3"/>
          </p:nvPr>
        </p:nvSpPr>
        <p:spPr>
          <a:xfrm>
            <a:off x="457200" y="5870576"/>
            <a:ext cx="5990311"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a:defRPr/>
            </a:pPr>
            <a:r>
              <a:rPr lang="en-US"/>
              <a:t>MGMT 1007-23W</a:t>
            </a:r>
            <a:endParaRPr lang="en-US" dirty="0"/>
          </a:p>
        </p:txBody>
      </p:sp>
      <p:sp>
        <p:nvSpPr>
          <p:cNvPr id="6" name="Slide Number Placeholder 5"/>
          <p:cNvSpPr>
            <a:spLocks noGrp="1"/>
          </p:cNvSpPr>
          <p:nvPr>
            <p:ph type="sldNum" sz="quarter" idx="4"/>
          </p:nvPr>
        </p:nvSpPr>
        <p:spPr>
          <a:xfrm>
            <a:off x="7812085" y="5870576"/>
            <a:ext cx="417516"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defRPr/>
            </a:pPr>
            <a:fld id="{1B469624-95AF-46BD-B7B0-AA752B087D3B}" type="slidenum">
              <a:rPr lang="en-US" smtClean="0"/>
              <a:pPr>
                <a:defRPr/>
              </a:pPr>
              <a:t>‹#›</a:t>
            </a:fld>
            <a:endParaRPr lang="en-US" dirty="0"/>
          </a:p>
        </p:txBody>
      </p:sp>
    </p:spTree>
    <p:extLst>
      <p:ext uri="{BB962C8B-B14F-4D97-AF65-F5344CB8AC3E}">
        <p14:creationId xmlns:p14="http://schemas.microsoft.com/office/powerpoint/2010/main" val="1629028157"/>
      </p:ext>
    </p:extLst>
  </p:cSld>
  <p:clrMap bg1="dk1" tx1="lt1" bg2="dk2" tx2="lt2" accent1="accent1" accent2="accent2" accent3="accent3" accent4="accent4" accent5="accent5" accent6="accent6" hlink="hlink" folHlink="folHlink"/>
  <p:sldLayoutIdLst>
    <p:sldLayoutId id="2147484043" r:id="rId1"/>
    <p:sldLayoutId id="2147484044" r:id="rId2"/>
    <p:sldLayoutId id="2147484045" r:id="rId3"/>
    <p:sldLayoutId id="2147484046" r:id="rId4"/>
    <p:sldLayoutId id="2147484047" r:id="rId5"/>
    <p:sldLayoutId id="2147484048" r:id="rId6"/>
    <p:sldLayoutId id="2147484049" r:id="rId7"/>
    <p:sldLayoutId id="2147484050" r:id="rId8"/>
    <p:sldLayoutId id="2147484051" r:id="rId9"/>
    <p:sldLayoutId id="2147484052" r:id="rId10"/>
    <p:sldLayoutId id="2147484053" r:id="rId11"/>
    <p:sldLayoutId id="2147484054" r:id="rId12"/>
    <p:sldLayoutId id="2147484055" r:id="rId13"/>
    <p:sldLayoutId id="2147484056" r:id="rId14"/>
    <p:sldLayoutId id="2147484057" r:id="rId15"/>
    <p:sldLayoutId id="2147484058" r:id="rId16"/>
    <p:sldLayoutId id="2147484059" r:id="rId17"/>
  </p:sldLayoutIdLst>
  <p:hf hdr="0"/>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businessdictionary.com/definition/risk.html" TargetMode="External"/><Relationship Id="rId2" Type="http://schemas.openxmlformats.org/officeDocument/2006/relationships/hyperlink" Target="https://en.wikipedia.org/wiki/Risk_analysi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en.wikipedia.org/wiki/Risk_analysi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mindtools.com/pages/article/newTMC_07.htm"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en.wikipedia.org/wiki/Risk_management"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en.wikipedia.org/wiki/Failure_mode_and_effects_analysis" TargetMode="External"/><Relationship Id="rId2" Type="http://schemas.openxmlformats.org/officeDocument/2006/relationships/hyperlink" Target="http://www.investopedia.com/terms/p/product-family.asp"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Grp="1" noChangeArrowheads="1"/>
          </p:cNvSpPr>
          <p:nvPr>
            <p:ph type="subTitle" idx="1"/>
          </p:nvPr>
        </p:nvSpPr>
        <p:spPr>
          <a:xfrm>
            <a:off x="1585911" y="5346248"/>
            <a:ext cx="5972175" cy="603032"/>
          </a:xfrm>
        </p:spPr>
        <p:txBody>
          <a:bodyPr>
            <a:noAutofit/>
          </a:bodyPr>
          <a:lstStyle/>
          <a:p>
            <a:pPr algn="ctr" eaLnBrk="1" fontAlgn="auto" hangingPunct="1">
              <a:spcAft>
                <a:spcPts val="0"/>
              </a:spcAft>
              <a:buFont typeface="Wingdings 2"/>
              <a:buNone/>
              <a:defRPr/>
            </a:pPr>
            <a:r>
              <a:rPr lang="en-US" sz="2800" b="1" dirty="0"/>
              <a:t>Lecture 7</a:t>
            </a:r>
          </a:p>
        </p:txBody>
      </p:sp>
      <p:pic>
        <p:nvPicPr>
          <p:cNvPr id="1028" name="Picture 4" descr="http://www.positive-shift.co.uk/wp-content/uploads/2014/10/Risk-Managem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8509" y="787336"/>
            <a:ext cx="6626981" cy="44767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115280"/>
            <a:ext cx="4022104" cy="731167"/>
          </a:xfrm>
        </p:spPr>
        <p:txBody>
          <a:bodyPr>
            <a:normAutofit/>
          </a:bodyPr>
          <a:lstStyle/>
          <a:p>
            <a:r>
              <a:rPr lang="en-US" b="1" dirty="0">
                <a:latin typeface="+mn-lt"/>
              </a:rPr>
              <a:t>Lecture Overview</a:t>
            </a:r>
          </a:p>
        </p:txBody>
      </p:sp>
      <p:sp>
        <p:nvSpPr>
          <p:cNvPr id="4" name="TextBox 3"/>
          <p:cNvSpPr txBox="1"/>
          <p:nvPr/>
        </p:nvSpPr>
        <p:spPr>
          <a:xfrm>
            <a:off x="611560" y="2588613"/>
            <a:ext cx="8435280" cy="3416320"/>
          </a:xfrm>
          <a:prstGeom prst="rect">
            <a:avLst/>
          </a:prstGeom>
          <a:noFill/>
        </p:spPr>
        <p:txBody>
          <a:bodyPr wrap="square" rtlCol="0">
            <a:spAutoFit/>
          </a:bodyPr>
          <a:lstStyle/>
          <a:p>
            <a:r>
              <a:rPr lang="en-US" sz="2200" dirty="0">
                <a:latin typeface="+mn-lt"/>
              </a:rPr>
              <a:t>1)  Introduction to Risk Management.</a:t>
            </a:r>
          </a:p>
          <a:p>
            <a:pPr marL="457200" indent="-457200">
              <a:buAutoNum type="arabicParenR"/>
            </a:pPr>
            <a:endParaRPr lang="en-US" sz="2200" dirty="0">
              <a:latin typeface="+mn-lt"/>
            </a:endParaRPr>
          </a:p>
          <a:p>
            <a:r>
              <a:rPr lang="en-US" sz="2200" dirty="0">
                <a:latin typeface="+mn-lt"/>
              </a:rPr>
              <a:t>2)  Importance of Risk Management.</a:t>
            </a:r>
          </a:p>
          <a:p>
            <a:endParaRPr lang="en-US" sz="2200" dirty="0">
              <a:latin typeface="+mn-lt"/>
            </a:endParaRPr>
          </a:p>
          <a:p>
            <a:r>
              <a:rPr lang="en-US" sz="2200" dirty="0">
                <a:latin typeface="+mn-lt"/>
              </a:rPr>
              <a:t>3)  Describe the tools and techniques to identify project risks.</a:t>
            </a:r>
          </a:p>
          <a:p>
            <a:endParaRPr lang="en-US" sz="2200" dirty="0">
              <a:latin typeface="+mn-lt"/>
            </a:endParaRPr>
          </a:p>
          <a:p>
            <a:r>
              <a:rPr lang="en-US" sz="2200" dirty="0">
                <a:latin typeface="+mn-lt"/>
              </a:rPr>
              <a:t>4)  Prioritize risks using qualitative and quantitative analysis.</a:t>
            </a:r>
          </a:p>
          <a:p>
            <a:endParaRPr lang="en-US" sz="2200" dirty="0">
              <a:latin typeface="+mn-lt"/>
            </a:endParaRPr>
          </a:p>
          <a:p>
            <a:r>
              <a:rPr lang="en-US" sz="2200" dirty="0">
                <a:latin typeface="+mn-lt"/>
              </a:rPr>
              <a:t>5)  Explain strategies for dealing with risks.</a:t>
            </a:r>
          </a:p>
          <a:p>
            <a:endParaRPr lang="en-US" dirty="0">
              <a:latin typeface="+mn-lt"/>
            </a:endParaRPr>
          </a:p>
        </p:txBody>
      </p:sp>
      <p:pic>
        <p:nvPicPr>
          <p:cNvPr id="1026" name="Picture 2" descr="http://ourkittery.com/wp-content/uploads/2014/03/Lecture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24128" y="633831"/>
            <a:ext cx="2880320" cy="275508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666420" y="3395499"/>
            <a:ext cx="2995736" cy="215444"/>
          </a:xfrm>
          <a:prstGeom prst="rect">
            <a:avLst/>
          </a:prstGeom>
        </p:spPr>
        <p:txBody>
          <a:bodyPr wrap="square">
            <a:spAutoFit/>
          </a:bodyPr>
          <a:lstStyle/>
          <a:p>
            <a:r>
              <a:rPr lang="en-US" sz="800" dirty="0"/>
              <a:t>http://ourkittery.com/wp-content/uploads/2014/03/Lectures.jpg</a:t>
            </a:r>
          </a:p>
        </p:txBody>
      </p:sp>
      <p:sp>
        <p:nvSpPr>
          <p:cNvPr id="7" name="Slide Number Placeholder 6"/>
          <p:cNvSpPr>
            <a:spLocks noGrp="1"/>
          </p:cNvSpPr>
          <p:nvPr>
            <p:ph type="sldNum" sz="quarter" idx="12"/>
          </p:nvPr>
        </p:nvSpPr>
        <p:spPr>
          <a:xfrm>
            <a:off x="8186932" y="6167602"/>
            <a:ext cx="417516" cy="377825"/>
          </a:xfrm>
        </p:spPr>
        <p:txBody>
          <a:bodyPr/>
          <a:lstStyle/>
          <a:p>
            <a:pPr>
              <a:defRPr/>
            </a:pPr>
            <a:fld id="{95875DF6-B96D-4E7E-8088-3E962A93B459}" type="slidenum">
              <a:rPr lang="en-US" smtClean="0"/>
              <a:pPr>
                <a:defRPr/>
              </a:pPr>
              <a:t>2</a:t>
            </a:fld>
            <a:endParaRPr lang="en-US" dirty="0"/>
          </a:p>
        </p:txBody>
      </p:sp>
      <p:sp>
        <p:nvSpPr>
          <p:cNvPr id="6" name="Date Placeholder 5">
            <a:extLst>
              <a:ext uri="{FF2B5EF4-FFF2-40B4-BE49-F238E27FC236}">
                <a16:creationId xmlns:a16="http://schemas.microsoft.com/office/drawing/2014/main" id="{BBB6EE37-1F0A-4ABF-A488-7A7B3BDA27CD}"/>
              </a:ext>
            </a:extLst>
          </p:cNvPr>
          <p:cNvSpPr>
            <a:spLocks noGrp="1"/>
          </p:cNvSpPr>
          <p:nvPr>
            <p:ph type="dt" sz="half" idx="10"/>
          </p:nvPr>
        </p:nvSpPr>
        <p:spPr/>
        <p:txBody>
          <a:bodyPr/>
          <a:lstStyle/>
          <a:p>
            <a:pPr>
              <a:defRPr/>
            </a:pPr>
            <a:r>
              <a:rPr lang="en-US"/>
              <a:t>G.R. Labbé</a:t>
            </a:r>
            <a:endParaRPr lang="en-US" dirty="0"/>
          </a:p>
        </p:txBody>
      </p:sp>
    </p:spTree>
    <p:extLst>
      <p:ext uri="{BB962C8B-B14F-4D97-AF65-F5344CB8AC3E}">
        <p14:creationId xmlns:p14="http://schemas.microsoft.com/office/powerpoint/2010/main" val="3725073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bwMode="auto">
          <a:xfrm>
            <a:off x="152400" y="990600"/>
            <a:ext cx="8834438" cy="5362575"/>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9496" indent="-457200">
              <a:defRPr/>
            </a:pPr>
            <a:endParaRPr lang="en-US" dirty="0"/>
          </a:p>
          <a:p>
            <a:pPr marL="539496" indent="-457200">
              <a:defRPr/>
            </a:pPr>
            <a:endParaRPr lang="en-US" dirty="0"/>
          </a:p>
          <a:p>
            <a:pPr marL="539496" indent="-457200">
              <a:defRPr/>
            </a:pPr>
            <a:endParaRPr lang="en-US" dirty="0"/>
          </a:p>
          <a:p>
            <a:pPr marL="539496" indent="-457200">
              <a:defRPr/>
            </a:pPr>
            <a:endParaRPr lang="en-US" dirty="0"/>
          </a:p>
          <a:p>
            <a:pPr marL="82296" indent="0">
              <a:buFont typeface="Arial" charset="0"/>
              <a:buNone/>
              <a:defRPr/>
            </a:pPr>
            <a:endParaRPr lang="en-US" dirty="0"/>
          </a:p>
          <a:p>
            <a:pPr marL="82296" indent="0">
              <a:buFont typeface="Arial" charset="0"/>
              <a:buNone/>
              <a:defRPr/>
            </a:pPr>
            <a:endParaRPr lang="en-US" dirty="0">
              <a:effectLst>
                <a:outerShdw blurRad="38100" dist="38100" dir="2700000" algn="tl">
                  <a:srgbClr val="000000">
                    <a:alpha val="43137"/>
                  </a:srgbClr>
                </a:outerShdw>
              </a:effectLst>
            </a:endParaRPr>
          </a:p>
          <a:p>
            <a:pPr marL="539496" indent="-457200">
              <a:defRPr/>
            </a:pPr>
            <a:endParaRPr lang="en-US" dirty="0">
              <a:effectLst>
                <a:outerShdw blurRad="38100" dist="38100" dir="2700000" algn="tl">
                  <a:srgbClr val="000000">
                    <a:alpha val="43137"/>
                  </a:srgbClr>
                </a:outerShdw>
              </a:effectLst>
            </a:endParaRPr>
          </a:p>
          <a:p>
            <a:pPr marL="82296" indent="0">
              <a:buFont typeface="Arial" charset="0"/>
              <a:buNone/>
              <a:defRPr/>
            </a:pPr>
            <a:endParaRPr lang="en-US" dirty="0">
              <a:effectLst>
                <a:outerShdw blurRad="38100" dist="38100" dir="2700000" algn="tl">
                  <a:srgbClr val="000000">
                    <a:alpha val="43137"/>
                  </a:srgbClr>
                </a:outerShdw>
              </a:effectLst>
            </a:endParaRPr>
          </a:p>
          <a:p>
            <a:pPr marL="82296" indent="0">
              <a:buFont typeface="Arial" charset="0"/>
              <a:buNone/>
              <a:defRPr/>
            </a:pPr>
            <a:endParaRPr lang="en-US" dirty="0">
              <a:effectLst>
                <a:outerShdw blurRad="38100" dist="38100" dir="2700000" algn="tl">
                  <a:srgbClr val="000000">
                    <a:alpha val="43137"/>
                  </a:srgbClr>
                </a:outerShdw>
              </a:effectLst>
            </a:endParaRPr>
          </a:p>
        </p:txBody>
      </p:sp>
      <p:sp>
        <p:nvSpPr>
          <p:cNvPr id="7" name="TextBox 6"/>
          <p:cNvSpPr txBox="1"/>
          <p:nvPr/>
        </p:nvSpPr>
        <p:spPr>
          <a:xfrm>
            <a:off x="868363" y="2286000"/>
            <a:ext cx="7407275" cy="677863"/>
          </a:xfrm>
          <a:prstGeom prst="rect">
            <a:avLst/>
          </a:prstGeom>
          <a:noFill/>
        </p:spPr>
        <p:txBody>
          <a:bodyPr tIns="0" bIns="0">
            <a:spAutoFit/>
          </a:bodyPr>
          <a:lstStyle/>
          <a:p>
            <a:pPr marL="82296" algn="ctr">
              <a:defRPr/>
            </a:pPr>
            <a:r>
              <a:rPr lang="en-US" sz="4400" b="1" i="1" dirty="0">
                <a:latin typeface="+mn-lt"/>
              </a:rPr>
              <a:t>What is risk in design?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bwMode="auto">
          <a:xfrm>
            <a:off x="157163" y="836613"/>
            <a:ext cx="8834437" cy="5716587"/>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82296" indent="0">
              <a:buFont typeface="Arial" charset="0"/>
              <a:buNone/>
              <a:defRPr/>
            </a:pPr>
            <a:r>
              <a:rPr lang="en-US" b="1" i="1" dirty="0"/>
              <a:t>Risk </a:t>
            </a:r>
            <a:r>
              <a:rPr lang="en-US" dirty="0"/>
              <a:t>can be defined as the probability or threat of damage, injury, liability, loss, or any other negative occurrence that is caused by external or internal vulnerabilities, and that may be avoided through preemptive action.</a:t>
            </a:r>
          </a:p>
          <a:p>
            <a:pPr marL="539496" indent="-457200">
              <a:defRPr/>
            </a:pPr>
            <a:r>
              <a:rPr lang="en-US" sz="2800" dirty="0"/>
              <a:t>A </a:t>
            </a:r>
            <a:r>
              <a:rPr lang="en-US" sz="2800" b="1" i="1" dirty="0"/>
              <a:t>“risk” </a:t>
            </a:r>
            <a:r>
              <a:rPr lang="en-US" sz="2800" dirty="0"/>
              <a:t> can be identified. It is known.</a:t>
            </a:r>
          </a:p>
          <a:p>
            <a:pPr marL="539496" indent="-457200">
              <a:defRPr/>
            </a:pPr>
            <a:r>
              <a:rPr lang="en-US" sz="2800" dirty="0"/>
              <a:t>A risk is not an uncertainty </a:t>
            </a:r>
          </a:p>
          <a:p>
            <a:pPr marL="539496" indent="-457200">
              <a:defRPr/>
            </a:pPr>
            <a:r>
              <a:rPr lang="en-US" sz="2800" dirty="0"/>
              <a:t>An </a:t>
            </a:r>
            <a:r>
              <a:rPr lang="en-US" sz="2800" b="1" i="1" dirty="0"/>
              <a:t>“uncertainty” </a:t>
            </a:r>
            <a:r>
              <a:rPr lang="en-US" sz="2800" dirty="0"/>
              <a:t>is when neither the probability nor the mode of occurrence is known. If you don’t know about it, you can’t take preemptive action to address it.</a:t>
            </a:r>
            <a:endParaRPr lang="en-US" dirty="0"/>
          </a:p>
          <a:p>
            <a:pPr marL="82296" indent="0" algn="r">
              <a:buFont typeface="Arial" charset="0"/>
              <a:buNone/>
              <a:defRPr/>
            </a:pPr>
            <a:endParaRPr lang="en-US" sz="1100" dirty="0">
              <a:hlinkClick r:id="rId2"/>
            </a:endParaRPr>
          </a:p>
          <a:p>
            <a:pPr marL="82296" indent="0" algn="r">
              <a:buFont typeface="Arial" charset="0"/>
              <a:buNone/>
              <a:defRPr/>
            </a:pPr>
            <a:r>
              <a:rPr lang="en-US" sz="1100" dirty="0">
                <a:hlinkClick r:id="rId3"/>
              </a:rPr>
              <a:t>http://www.businessdictionary.com/definition/risk.html</a:t>
            </a:r>
            <a:endParaRPr lang="en-US" sz="1100" dirty="0"/>
          </a:p>
          <a:p>
            <a:pPr marL="82296" indent="0" algn="r">
              <a:buFont typeface="Arial" charset="0"/>
              <a:buNone/>
              <a:defRPr/>
            </a:pP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582613" y="363470"/>
            <a:ext cx="6377940" cy="648072"/>
          </a:xfrm>
        </p:spPr>
        <p:txBody>
          <a:bodyPr>
            <a:normAutofit/>
          </a:bodyPr>
          <a:lstStyle/>
          <a:p>
            <a:pPr algn="l" eaLnBrk="1" fontAlgn="auto" hangingPunct="1">
              <a:spcAft>
                <a:spcPts val="0"/>
              </a:spcAft>
              <a:defRPr/>
            </a:pPr>
            <a:r>
              <a:rPr lang="en-US" b="1" dirty="0">
                <a:solidFill>
                  <a:schemeClr val="tx2">
                    <a:satMod val="130000"/>
                  </a:schemeClr>
                </a:solidFill>
                <a:latin typeface="+mn-lt"/>
              </a:rPr>
              <a:t>How is Risk Defined?</a:t>
            </a:r>
          </a:p>
        </p:txBody>
      </p:sp>
      <p:sp>
        <p:nvSpPr>
          <p:cNvPr id="3075" name="Rectangle 3"/>
          <p:cNvSpPr>
            <a:spLocks noGrp="1" noChangeArrowheads="1"/>
          </p:cNvSpPr>
          <p:nvPr>
            <p:ph idx="1"/>
          </p:nvPr>
        </p:nvSpPr>
        <p:spPr>
          <a:xfrm>
            <a:off x="354765" y="1413991"/>
            <a:ext cx="8212742" cy="4769321"/>
          </a:xfrm>
        </p:spPr>
        <p:txBody>
          <a:bodyPr>
            <a:normAutofit/>
          </a:bodyPr>
          <a:lstStyle/>
          <a:p>
            <a:pPr eaLnBrk="1" hangingPunct="1"/>
            <a:r>
              <a:rPr lang="en-US" sz="2800" b="1" dirty="0"/>
              <a:t>Any event that can negatively affect the viability of a project.</a:t>
            </a:r>
            <a:r>
              <a:rPr lang="en-US" sz="2800" dirty="0"/>
              <a:t> </a:t>
            </a:r>
          </a:p>
          <a:p>
            <a:pPr eaLnBrk="1" hangingPunct="1">
              <a:buFontTx/>
              <a:buNone/>
            </a:pPr>
            <a:r>
              <a:rPr lang="en-US" sz="2400" dirty="0"/>
              <a:t>	Risk comes in many sizes and shapes. The idea about risk management is to minimize the impact of the negative event. In order to do that the project team has to follow these steps:</a:t>
            </a:r>
          </a:p>
          <a:p>
            <a:pPr eaLnBrk="1" hangingPunct="1"/>
            <a:r>
              <a:rPr lang="en-US" sz="2400" dirty="0"/>
              <a:t>identify the possibility for a risk event</a:t>
            </a:r>
          </a:p>
          <a:p>
            <a:pPr eaLnBrk="1" hangingPunct="1"/>
            <a:r>
              <a:rPr lang="en-US" sz="2400" dirty="0"/>
              <a:t>rate the probability and impact of this event</a:t>
            </a:r>
          </a:p>
          <a:p>
            <a:pPr eaLnBrk="1" hangingPunct="1"/>
            <a:r>
              <a:rPr lang="en-US" sz="2400" dirty="0"/>
              <a:t>find solutions to deal with this event</a:t>
            </a:r>
          </a:p>
          <a:p>
            <a:pPr eaLnBrk="1" hangingPunct="1"/>
            <a:r>
              <a:rPr lang="en-US" sz="2400" dirty="0"/>
              <a:t>Document solution</a:t>
            </a:r>
          </a:p>
          <a:p>
            <a:pPr eaLnBrk="1" hangingPunct="1"/>
            <a:endParaRPr lang="en-US" sz="2800" dirty="0"/>
          </a:p>
        </p:txBody>
      </p:sp>
      <p:sp>
        <p:nvSpPr>
          <p:cNvPr id="12292"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pic>
        <p:nvPicPr>
          <p:cNvPr id="6" name="Picture 2" descr="http://kialta.com.au/wp-content/uploads/2013/07/Risk2.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7551" y="3299247"/>
            <a:ext cx="2760241" cy="276024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a:xfrm>
            <a:off x="8200892" y="6263300"/>
            <a:ext cx="417516" cy="377825"/>
          </a:xfrm>
        </p:spPr>
        <p:txBody>
          <a:bodyPr/>
          <a:lstStyle/>
          <a:p>
            <a:pPr>
              <a:defRPr/>
            </a:pPr>
            <a:fld id="{95875DF6-B96D-4E7E-8088-3E962A93B459}" type="slidenum">
              <a:rPr lang="en-US" smtClean="0"/>
              <a:pPr>
                <a:defRPr/>
              </a:pPr>
              <a:t>5</a:t>
            </a:fld>
            <a:endParaRPr lang="en-US" dirty="0"/>
          </a:p>
        </p:txBody>
      </p:sp>
      <p:sp>
        <p:nvSpPr>
          <p:cNvPr id="3" name="Date Placeholder 2">
            <a:extLst>
              <a:ext uri="{FF2B5EF4-FFF2-40B4-BE49-F238E27FC236}">
                <a16:creationId xmlns:a16="http://schemas.microsoft.com/office/drawing/2014/main" id="{30168F8E-E0FE-4ED1-B6AE-B91E103373C7}"/>
              </a:ext>
            </a:extLst>
          </p:cNvPr>
          <p:cNvSpPr>
            <a:spLocks noGrp="1"/>
          </p:cNvSpPr>
          <p:nvPr>
            <p:ph type="dt" sz="half" idx="10"/>
          </p:nvPr>
        </p:nvSpPr>
        <p:spPr/>
        <p:txBody>
          <a:bodyPr/>
          <a:lstStyle/>
          <a:p>
            <a:pPr>
              <a:defRPr/>
            </a:pPr>
            <a:r>
              <a:rPr lang="en-US"/>
              <a:t>G.R. Labbé</a:t>
            </a:r>
            <a:endParaRPr lang="en-US" dirty="0"/>
          </a:p>
        </p:txBody>
      </p:sp>
    </p:spTree>
    <p:extLst>
      <p:ext uri="{BB962C8B-B14F-4D97-AF65-F5344CB8AC3E}">
        <p14:creationId xmlns:p14="http://schemas.microsoft.com/office/powerpoint/2010/main" val="3315013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blinds(horizontal)">
                                      <p:cBhvr>
                                        <p:cTn id="7" dur="500"/>
                                        <p:tgtEl>
                                          <p:spTgt spid="30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075">
                                            <p:txEl>
                                              <p:pRg st="1" end="1"/>
                                            </p:txEl>
                                          </p:spTgt>
                                        </p:tgtEl>
                                        <p:attrNameLst>
                                          <p:attrName>style.visibility</p:attrName>
                                        </p:attrNameLst>
                                      </p:cBhvr>
                                      <p:to>
                                        <p:strVal val="visible"/>
                                      </p:to>
                                    </p:set>
                                    <p:anim calcmode="lin" valueType="num">
                                      <p:cBhvr additive="base">
                                        <p:cTn id="12" dur="500" fill="hold"/>
                                        <p:tgtEl>
                                          <p:spTgt spid="307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0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075">
                                            <p:txEl>
                                              <p:pRg st="2" end="2"/>
                                            </p:txEl>
                                          </p:spTgt>
                                        </p:tgtEl>
                                        <p:attrNameLst>
                                          <p:attrName>style.visibility</p:attrName>
                                        </p:attrNameLst>
                                      </p:cBhvr>
                                      <p:to>
                                        <p:strVal val="visible"/>
                                      </p:to>
                                    </p:set>
                                    <p:anim calcmode="lin" valueType="num">
                                      <p:cBhvr additive="base">
                                        <p:cTn id="18" dur="500" fill="hold"/>
                                        <p:tgtEl>
                                          <p:spTgt spid="3075">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0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075">
                                            <p:txEl>
                                              <p:pRg st="3" end="3"/>
                                            </p:txEl>
                                          </p:spTgt>
                                        </p:tgtEl>
                                        <p:attrNameLst>
                                          <p:attrName>style.visibility</p:attrName>
                                        </p:attrNameLst>
                                      </p:cBhvr>
                                      <p:to>
                                        <p:strVal val="visible"/>
                                      </p:to>
                                    </p:set>
                                    <p:anim calcmode="lin" valueType="num">
                                      <p:cBhvr additive="base">
                                        <p:cTn id="24" dur="500" fill="hold"/>
                                        <p:tgtEl>
                                          <p:spTgt spid="3075">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07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075">
                                            <p:txEl>
                                              <p:pRg st="4" end="4"/>
                                            </p:txEl>
                                          </p:spTgt>
                                        </p:tgtEl>
                                        <p:attrNameLst>
                                          <p:attrName>style.visibility</p:attrName>
                                        </p:attrNameLst>
                                      </p:cBhvr>
                                      <p:to>
                                        <p:strVal val="visible"/>
                                      </p:to>
                                    </p:set>
                                    <p:anim calcmode="lin" valueType="num">
                                      <p:cBhvr additive="base">
                                        <p:cTn id="30" dur="500" fill="hold"/>
                                        <p:tgtEl>
                                          <p:spTgt spid="3075">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07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075">
                                            <p:txEl>
                                              <p:pRg st="5" end="5"/>
                                            </p:txEl>
                                          </p:spTgt>
                                        </p:tgtEl>
                                        <p:attrNameLst>
                                          <p:attrName>style.visibility</p:attrName>
                                        </p:attrNameLst>
                                      </p:cBhvr>
                                      <p:to>
                                        <p:strVal val="visible"/>
                                      </p:to>
                                    </p:set>
                                    <p:anim calcmode="lin" valueType="num">
                                      <p:cBhvr additive="base">
                                        <p:cTn id="36" dur="500" fill="hold"/>
                                        <p:tgtEl>
                                          <p:spTgt spid="3075">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07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bwMode="auto">
          <a:xfrm>
            <a:off x="152400" y="990600"/>
            <a:ext cx="8834438" cy="5362575"/>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9496" indent="-457200">
              <a:defRPr/>
            </a:pPr>
            <a:endParaRPr lang="en-US" dirty="0"/>
          </a:p>
          <a:p>
            <a:pPr marL="539496" indent="-457200">
              <a:defRPr/>
            </a:pPr>
            <a:endParaRPr lang="en-US" dirty="0"/>
          </a:p>
          <a:p>
            <a:pPr marL="539496" indent="-457200">
              <a:defRPr/>
            </a:pPr>
            <a:endParaRPr lang="en-US" dirty="0"/>
          </a:p>
          <a:p>
            <a:pPr marL="539496" indent="-457200">
              <a:defRPr/>
            </a:pPr>
            <a:endParaRPr lang="en-US" dirty="0"/>
          </a:p>
          <a:p>
            <a:pPr marL="82296" indent="0">
              <a:buFont typeface="Arial" charset="0"/>
              <a:buNone/>
              <a:defRPr/>
            </a:pPr>
            <a:endParaRPr lang="en-US" dirty="0"/>
          </a:p>
          <a:p>
            <a:pPr marL="82296" indent="0">
              <a:buFont typeface="Arial" charset="0"/>
              <a:buNone/>
              <a:defRPr/>
            </a:pPr>
            <a:endParaRPr lang="en-US" dirty="0">
              <a:effectLst>
                <a:outerShdw blurRad="38100" dist="38100" dir="2700000" algn="tl">
                  <a:srgbClr val="000000">
                    <a:alpha val="43137"/>
                  </a:srgbClr>
                </a:outerShdw>
              </a:effectLst>
            </a:endParaRPr>
          </a:p>
          <a:p>
            <a:pPr marL="539496" indent="-457200">
              <a:defRPr/>
            </a:pPr>
            <a:endParaRPr lang="en-US" dirty="0">
              <a:effectLst>
                <a:outerShdw blurRad="38100" dist="38100" dir="2700000" algn="tl">
                  <a:srgbClr val="000000">
                    <a:alpha val="43137"/>
                  </a:srgbClr>
                </a:outerShdw>
              </a:effectLst>
            </a:endParaRPr>
          </a:p>
          <a:p>
            <a:pPr marL="82296" indent="0">
              <a:buFont typeface="Arial" charset="0"/>
              <a:buNone/>
              <a:defRPr/>
            </a:pPr>
            <a:endParaRPr lang="en-US" dirty="0">
              <a:effectLst>
                <a:outerShdw blurRad="38100" dist="38100" dir="2700000" algn="tl">
                  <a:srgbClr val="000000">
                    <a:alpha val="43137"/>
                  </a:srgbClr>
                </a:outerShdw>
              </a:effectLst>
            </a:endParaRPr>
          </a:p>
          <a:p>
            <a:pPr marL="82296" indent="0">
              <a:buFont typeface="Arial" charset="0"/>
              <a:buNone/>
              <a:defRPr/>
            </a:pPr>
            <a:endParaRPr lang="en-US" dirty="0">
              <a:effectLst>
                <a:outerShdw blurRad="38100" dist="38100" dir="2700000" algn="tl">
                  <a:srgbClr val="000000">
                    <a:alpha val="43137"/>
                  </a:srgbClr>
                </a:outerShdw>
              </a:effectLst>
            </a:endParaRPr>
          </a:p>
        </p:txBody>
      </p:sp>
      <p:sp>
        <p:nvSpPr>
          <p:cNvPr id="7" name="TextBox 6"/>
          <p:cNvSpPr txBox="1"/>
          <p:nvPr/>
        </p:nvSpPr>
        <p:spPr>
          <a:xfrm>
            <a:off x="1674813" y="2286000"/>
            <a:ext cx="5789612" cy="677863"/>
          </a:xfrm>
          <a:prstGeom prst="rect">
            <a:avLst/>
          </a:prstGeom>
          <a:noFill/>
        </p:spPr>
        <p:txBody>
          <a:bodyPr tIns="0" bIns="0">
            <a:spAutoFit/>
          </a:bodyPr>
          <a:lstStyle/>
          <a:p>
            <a:pPr marL="82296" algn="ctr">
              <a:defRPr/>
            </a:pPr>
            <a:r>
              <a:rPr lang="en-US" sz="4400" b="1" i="1" dirty="0">
                <a:latin typeface="+mn-lt"/>
              </a:rPr>
              <a:t>What is risk analysis?</a:t>
            </a:r>
          </a:p>
        </p:txBody>
      </p:sp>
      <p:pic>
        <p:nvPicPr>
          <p:cNvPr id="53255" name="Picture 2"/>
          <p:cNvPicPr>
            <a:picLocks noChangeAspect="1" noChangeArrowheads="1"/>
          </p:cNvPicPr>
          <p:nvPr/>
        </p:nvPicPr>
        <p:blipFill>
          <a:blip r:embed="rId2" cstate="print"/>
          <a:srcRect/>
          <a:stretch>
            <a:fillRect/>
          </a:stretch>
        </p:blipFill>
        <p:spPr bwMode="auto">
          <a:xfrm>
            <a:off x="2436813" y="3065463"/>
            <a:ext cx="4267200" cy="311467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582612" y="408647"/>
            <a:ext cx="8164537" cy="576064"/>
          </a:xfrm>
        </p:spPr>
        <p:txBody>
          <a:bodyPr>
            <a:noAutofit/>
          </a:bodyPr>
          <a:lstStyle/>
          <a:p>
            <a:pPr eaLnBrk="1" fontAlgn="auto" hangingPunct="1">
              <a:spcAft>
                <a:spcPts val="0"/>
              </a:spcAft>
              <a:defRPr/>
            </a:pPr>
            <a:r>
              <a:rPr lang="en-US" b="1" dirty="0">
                <a:solidFill>
                  <a:schemeClr val="tx2">
                    <a:satMod val="130000"/>
                  </a:schemeClr>
                </a:solidFill>
                <a:latin typeface="+mn-lt"/>
              </a:rPr>
              <a:t>Project Risk is based on this simple equation:</a:t>
            </a:r>
          </a:p>
        </p:txBody>
      </p:sp>
      <p:sp>
        <p:nvSpPr>
          <p:cNvPr id="13315" name="Rectangle 3"/>
          <p:cNvSpPr>
            <a:spLocks noGrp="1" noChangeArrowheads="1"/>
          </p:cNvSpPr>
          <p:nvPr>
            <p:ph idx="1"/>
          </p:nvPr>
        </p:nvSpPr>
        <p:spPr>
          <a:xfrm>
            <a:off x="722415" y="696679"/>
            <a:ext cx="8024734" cy="1488366"/>
          </a:xfrm>
        </p:spPr>
        <p:txBody>
          <a:bodyPr>
            <a:normAutofit fontScale="85000" lnSpcReduction="10000"/>
          </a:bodyPr>
          <a:lstStyle/>
          <a:p>
            <a:pPr eaLnBrk="1" hangingPunct="1"/>
            <a:endParaRPr lang="en-US" dirty="0"/>
          </a:p>
          <a:p>
            <a:pPr eaLnBrk="1" hangingPunct="1"/>
            <a:r>
              <a:rPr lang="en-US" sz="2800" b="1" dirty="0"/>
              <a:t>Risk = Probability of event  x  impact of event</a:t>
            </a:r>
          </a:p>
          <a:p>
            <a:pPr eaLnBrk="1" hangingPunct="1">
              <a:buFontTx/>
              <a:buNone/>
            </a:pPr>
            <a:r>
              <a:rPr lang="en-US" sz="2000" dirty="0"/>
              <a:t>	So, any risk events have to be evaluated in two terms. The likelihood for the event to happen (usually in Percent)  and the impact the event will have ($, time delay). </a:t>
            </a:r>
          </a:p>
        </p:txBody>
      </p:sp>
      <p:sp>
        <p:nvSpPr>
          <p:cNvPr id="13316"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pic>
        <p:nvPicPr>
          <p:cNvPr id="2050" name="Picture 2" descr="http://blog.hedgebookpro.com/wp-content/uploads/2012/06/risk-taking-2.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05659" y="2290951"/>
            <a:ext cx="4518442" cy="361223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475560" y="5864715"/>
            <a:ext cx="4518441" cy="215444"/>
          </a:xfrm>
          <a:prstGeom prst="rect">
            <a:avLst/>
          </a:prstGeom>
        </p:spPr>
        <p:txBody>
          <a:bodyPr wrap="square">
            <a:spAutoFit/>
          </a:bodyPr>
          <a:lstStyle/>
          <a:p>
            <a:pPr algn="ctr"/>
            <a:r>
              <a:rPr lang="en-US" sz="800" dirty="0"/>
              <a:t>http://blog.hedgebookpro.com/wp-content/uploads/2012/06/risk-taking-2.jpg</a:t>
            </a:r>
          </a:p>
        </p:txBody>
      </p:sp>
      <p:sp>
        <p:nvSpPr>
          <p:cNvPr id="5" name="Slide Number Placeholder 4"/>
          <p:cNvSpPr>
            <a:spLocks noGrp="1"/>
          </p:cNvSpPr>
          <p:nvPr>
            <p:ph type="sldNum" sz="quarter" idx="12"/>
          </p:nvPr>
        </p:nvSpPr>
        <p:spPr>
          <a:xfrm>
            <a:off x="8329634" y="6257131"/>
            <a:ext cx="417516" cy="377825"/>
          </a:xfrm>
        </p:spPr>
        <p:txBody>
          <a:bodyPr/>
          <a:lstStyle/>
          <a:p>
            <a:pPr>
              <a:defRPr/>
            </a:pPr>
            <a:fld id="{95875DF6-B96D-4E7E-8088-3E962A93B459}" type="slidenum">
              <a:rPr lang="en-US" smtClean="0"/>
              <a:pPr>
                <a:defRPr/>
              </a:pPr>
              <a:t>7</a:t>
            </a:fld>
            <a:endParaRPr lang="en-US" dirty="0"/>
          </a:p>
        </p:txBody>
      </p:sp>
      <p:sp>
        <p:nvSpPr>
          <p:cNvPr id="4" name="Date Placeholder 3">
            <a:extLst>
              <a:ext uri="{FF2B5EF4-FFF2-40B4-BE49-F238E27FC236}">
                <a16:creationId xmlns:a16="http://schemas.microsoft.com/office/drawing/2014/main" id="{71F609F3-543F-401F-8E65-2A94778B5E81}"/>
              </a:ext>
            </a:extLst>
          </p:cNvPr>
          <p:cNvSpPr>
            <a:spLocks noGrp="1"/>
          </p:cNvSpPr>
          <p:nvPr>
            <p:ph type="dt" sz="half" idx="10"/>
          </p:nvPr>
        </p:nvSpPr>
        <p:spPr/>
        <p:txBody>
          <a:bodyPr/>
          <a:lstStyle/>
          <a:p>
            <a:pPr>
              <a:defRPr/>
            </a:pPr>
            <a:r>
              <a:rPr lang="en-US"/>
              <a:t>G.R. Labbé</a:t>
            </a:r>
            <a:endParaRPr lang="en-US" dirty="0"/>
          </a:p>
        </p:txBody>
      </p:sp>
    </p:spTree>
    <p:extLst>
      <p:ext uri="{BB962C8B-B14F-4D97-AF65-F5344CB8AC3E}">
        <p14:creationId xmlns:p14="http://schemas.microsoft.com/office/powerpoint/2010/main" val="1885083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bwMode="auto">
          <a:xfrm>
            <a:off x="157163" y="836613"/>
            <a:ext cx="8834437" cy="5716587"/>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82296" indent="0">
              <a:buFont typeface="Arial" charset="0"/>
              <a:buNone/>
              <a:defRPr/>
            </a:pPr>
            <a:r>
              <a:rPr lang="en-US" b="1" i="1" dirty="0"/>
              <a:t>Risk analysis</a:t>
            </a:r>
            <a:r>
              <a:rPr lang="en-US" dirty="0"/>
              <a:t> is the process of defining and analyzing the dangers to individuals, businesses and government agencies posed by potential natural and human-caused adverse events</a:t>
            </a:r>
          </a:p>
          <a:p>
            <a:pPr marL="539496" indent="-457200">
              <a:defRPr/>
            </a:pPr>
            <a:r>
              <a:rPr lang="en-US" dirty="0"/>
              <a:t>Divide risk analysis into two components: </a:t>
            </a:r>
          </a:p>
          <a:p>
            <a:pPr marL="996696" lvl="1" indent="-514350">
              <a:buFont typeface="+mj-lt"/>
              <a:buAutoNum type="arabicPeriod"/>
              <a:defRPr/>
            </a:pPr>
            <a:r>
              <a:rPr lang="en-US" u="sng" dirty="0"/>
              <a:t>Risk Assessment</a:t>
            </a:r>
            <a:r>
              <a:rPr lang="en-US" dirty="0"/>
              <a:t>: Identifying, evaluating, and measuring the probability and severity of risks</a:t>
            </a:r>
          </a:p>
          <a:p>
            <a:pPr marL="996696" lvl="1" indent="-514350">
              <a:buFont typeface="+mj-lt"/>
              <a:buAutoNum type="arabicPeriod"/>
              <a:defRPr/>
            </a:pPr>
            <a:r>
              <a:rPr lang="en-US" u="sng" dirty="0"/>
              <a:t>Risk Management</a:t>
            </a:r>
            <a:r>
              <a:rPr lang="en-US" dirty="0"/>
              <a:t>: Deciding what to do about the risks once they have been identified</a:t>
            </a:r>
          </a:p>
          <a:p>
            <a:pPr marL="82296" indent="0" algn="r">
              <a:buFont typeface="Arial" charset="0"/>
              <a:buNone/>
              <a:defRPr/>
            </a:pPr>
            <a:endParaRPr lang="en-US" sz="1100" dirty="0">
              <a:hlinkClick r:id="rId2"/>
            </a:endParaRPr>
          </a:p>
          <a:p>
            <a:pPr marL="82296" indent="0" algn="r">
              <a:buFont typeface="Arial" charset="0"/>
              <a:buNone/>
              <a:defRPr/>
            </a:pPr>
            <a:r>
              <a:rPr lang="en-US" sz="1100" dirty="0">
                <a:hlinkClick r:id="rId2"/>
              </a:rPr>
              <a:t>https://en.wikipedia.org/wiki/Risk_analysis</a:t>
            </a:r>
            <a:endParaRPr lang="en-US" sz="1100" dirty="0"/>
          </a:p>
          <a:p>
            <a:pPr marL="82296" indent="0" algn="r">
              <a:buFont typeface="Arial" charset="0"/>
              <a:buNone/>
              <a:defRPr/>
            </a:pP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Content Placeholder 2"/>
          <p:cNvSpPr txBox="1">
            <a:spLocks/>
          </p:cNvSpPr>
          <p:nvPr/>
        </p:nvSpPr>
        <p:spPr bwMode="auto">
          <a:xfrm>
            <a:off x="157163" y="836613"/>
            <a:ext cx="8834437" cy="5716587"/>
          </a:xfrm>
          <a:prstGeom prst="rect">
            <a:avLst/>
          </a:prstGeom>
          <a:noFill/>
          <a:ln w="9525">
            <a:noFill/>
            <a:miter lim="800000"/>
            <a:headEnd/>
            <a:tailEnd/>
          </a:ln>
        </p:spPr>
        <p:txBody>
          <a:bodyPr/>
          <a:lstStyle/>
          <a:p>
            <a:pPr marL="80963" algn="r">
              <a:spcBef>
                <a:spcPct val="20000"/>
              </a:spcBef>
              <a:buFont typeface="Arial" charset="0"/>
              <a:buNone/>
            </a:pPr>
            <a:endParaRPr lang="en-US" altLang="en-US" sz="1100">
              <a:latin typeface="Calibri" pitchFamily="34" charset="0"/>
            </a:endParaRPr>
          </a:p>
        </p:txBody>
      </p:sp>
      <p:pic>
        <p:nvPicPr>
          <p:cNvPr id="55302" name="Picture 2"/>
          <p:cNvPicPr>
            <a:picLocks noChangeAspect="1" noChangeArrowheads="1"/>
          </p:cNvPicPr>
          <p:nvPr/>
        </p:nvPicPr>
        <p:blipFill>
          <a:blip r:embed="rId2" cstate="print"/>
          <a:srcRect t="8231" b="9465"/>
          <a:stretch>
            <a:fillRect/>
          </a:stretch>
        </p:blipFill>
        <p:spPr bwMode="auto">
          <a:xfrm>
            <a:off x="990600" y="1484313"/>
            <a:ext cx="7162800" cy="4421187"/>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bwMode="auto">
          <a:xfrm>
            <a:off x="157163" y="836613"/>
            <a:ext cx="8834437" cy="5716587"/>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charset="0"/>
              <a:buNone/>
              <a:defRPr/>
            </a:pPr>
            <a:r>
              <a:rPr lang="en-US" sz="3800" b="1" i="1" dirty="0"/>
              <a:t>When to use risk analysis…</a:t>
            </a:r>
          </a:p>
          <a:p>
            <a:pPr marL="0" indent="0">
              <a:buFont typeface="Arial" charset="0"/>
              <a:buNone/>
              <a:defRPr/>
            </a:pPr>
            <a:r>
              <a:rPr lang="en-US" dirty="0"/>
              <a:t>Risk analysis is useful in many situations:</a:t>
            </a:r>
          </a:p>
          <a:p>
            <a:pPr>
              <a:defRPr/>
            </a:pPr>
            <a:r>
              <a:rPr lang="en-US" sz="2800" dirty="0"/>
              <a:t>When you're planning projects, to help you anticipate and neutralize possible </a:t>
            </a:r>
            <a:r>
              <a:rPr lang="en-US" sz="2800" b="1" dirty="0"/>
              <a:t>(IDENTIFIED)</a:t>
            </a:r>
            <a:r>
              <a:rPr lang="en-US" sz="2800" dirty="0"/>
              <a:t> problems</a:t>
            </a:r>
          </a:p>
          <a:p>
            <a:pPr>
              <a:defRPr/>
            </a:pPr>
            <a:r>
              <a:rPr lang="en-US" sz="2800" dirty="0"/>
              <a:t>When you're deciding whether or not to move forward with a project</a:t>
            </a:r>
          </a:p>
          <a:p>
            <a:pPr>
              <a:defRPr/>
            </a:pPr>
            <a:r>
              <a:rPr lang="en-US" sz="2800" dirty="0"/>
              <a:t>When you're preparing for adverse events such as component failure</a:t>
            </a:r>
          </a:p>
          <a:p>
            <a:pPr>
              <a:defRPr/>
            </a:pPr>
            <a:r>
              <a:rPr lang="en-US" sz="2800" dirty="0"/>
              <a:t>When you're planning for changes in your environment, such as new competitors coming into the market, or changes to government policy.</a:t>
            </a:r>
          </a:p>
          <a:p>
            <a:pPr marL="82296" indent="0" algn="r">
              <a:buFont typeface="Arial" charset="0"/>
              <a:buNone/>
              <a:defRPr/>
            </a:pPr>
            <a:r>
              <a:rPr lang="en-US" sz="1100" dirty="0">
                <a:hlinkClick r:id="rId2"/>
              </a:rPr>
              <a:t>https://www.mindtools.com/pages/article/newTMC_07.htm</a:t>
            </a:r>
            <a:endParaRPr lang="en-US" sz="1100" dirty="0"/>
          </a:p>
          <a:p>
            <a:pPr marL="82296" indent="0" algn="r">
              <a:buFont typeface="Arial" charset="0"/>
              <a:buNone/>
              <a:defRPr/>
            </a:pP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bwMode="auto">
          <a:xfrm>
            <a:off x="153988" y="836613"/>
            <a:ext cx="8836025" cy="5516562"/>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9496" indent="-457200">
              <a:defRPr/>
            </a:pPr>
            <a:endParaRPr lang="en-US" dirty="0"/>
          </a:p>
          <a:p>
            <a:pPr marL="539496" indent="-457200">
              <a:defRPr/>
            </a:pPr>
            <a:endParaRPr lang="en-US" dirty="0"/>
          </a:p>
          <a:p>
            <a:pPr marL="539496" indent="-457200">
              <a:defRPr/>
            </a:pPr>
            <a:endParaRPr lang="en-US" dirty="0"/>
          </a:p>
          <a:p>
            <a:pPr marL="539496" indent="-457200">
              <a:defRPr/>
            </a:pPr>
            <a:endParaRPr lang="en-US" dirty="0"/>
          </a:p>
          <a:p>
            <a:pPr marL="82296" indent="0">
              <a:buFont typeface="Arial" charset="0"/>
              <a:buNone/>
              <a:defRPr/>
            </a:pPr>
            <a:endParaRPr lang="en-US" dirty="0"/>
          </a:p>
          <a:p>
            <a:pPr marL="82296" indent="0">
              <a:buFont typeface="Arial" charset="0"/>
              <a:buNone/>
              <a:defRPr/>
            </a:pPr>
            <a:endParaRPr lang="en-US" dirty="0">
              <a:effectLst>
                <a:outerShdw blurRad="38100" dist="38100" dir="2700000" algn="tl">
                  <a:srgbClr val="000000">
                    <a:alpha val="43137"/>
                  </a:srgbClr>
                </a:outerShdw>
              </a:effectLst>
            </a:endParaRPr>
          </a:p>
          <a:p>
            <a:pPr marL="539496" indent="-457200">
              <a:defRPr/>
            </a:pPr>
            <a:endParaRPr lang="en-US" dirty="0">
              <a:effectLst>
                <a:outerShdw blurRad="38100" dist="38100" dir="2700000" algn="tl">
                  <a:srgbClr val="000000">
                    <a:alpha val="43137"/>
                  </a:srgbClr>
                </a:outerShdw>
              </a:effectLst>
            </a:endParaRPr>
          </a:p>
          <a:p>
            <a:pPr marL="82296" indent="0">
              <a:buFont typeface="Arial" charset="0"/>
              <a:buNone/>
              <a:defRPr/>
            </a:pPr>
            <a:endParaRPr lang="en-US" dirty="0">
              <a:effectLst>
                <a:outerShdw blurRad="38100" dist="38100" dir="2700000" algn="tl">
                  <a:srgbClr val="000000">
                    <a:alpha val="43137"/>
                  </a:srgbClr>
                </a:outerShdw>
              </a:effectLst>
            </a:endParaRPr>
          </a:p>
          <a:p>
            <a:pPr marL="82296" indent="0">
              <a:buFont typeface="Arial" charset="0"/>
              <a:buNone/>
              <a:defRPr/>
            </a:pPr>
            <a:endParaRPr lang="en-US" dirty="0">
              <a:effectLst>
                <a:outerShdw blurRad="38100" dist="38100" dir="2700000" algn="tl">
                  <a:srgbClr val="000000">
                    <a:alpha val="43137"/>
                  </a:srgbClr>
                </a:outerShdw>
              </a:effectLst>
            </a:endParaRPr>
          </a:p>
        </p:txBody>
      </p:sp>
      <p:sp>
        <p:nvSpPr>
          <p:cNvPr id="7" name="TextBox 6"/>
          <p:cNvSpPr txBox="1"/>
          <p:nvPr/>
        </p:nvSpPr>
        <p:spPr>
          <a:xfrm>
            <a:off x="1682750" y="2239963"/>
            <a:ext cx="5789613" cy="2708275"/>
          </a:xfrm>
          <a:prstGeom prst="rect">
            <a:avLst/>
          </a:prstGeom>
          <a:noFill/>
        </p:spPr>
        <p:txBody>
          <a:bodyPr tIns="0" bIns="0">
            <a:spAutoFit/>
          </a:bodyPr>
          <a:lstStyle/>
          <a:p>
            <a:pPr marL="82296" algn="ctr">
              <a:defRPr/>
            </a:pPr>
            <a:r>
              <a:rPr lang="en-US" sz="4400" b="1" i="1" dirty="0">
                <a:latin typeface="+mn-lt"/>
              </a:rPr>
              <a:t>Risk analysis is a fundamental part of a company’s risk management strategy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87479" y="310503"/>
            <a:ext cx="7362016" cy="936435"/>
          </a:xfrm>
        </p:spPr>
        <p:txBody>
          <a:bodyPr>
            <a:normAutofit/>
          </a:bodyPr>
          <a:lstStyle/>
          <a:p>
            <a:pPr eaLnBrk="1" fontAlgn="auto" hangingPunct="1">
              <a:spcAft>
                <a:spcPts val="0"/>
              </a:spcAft>
              <a:defRPr/>
            </a:pPr>
            <a:r>
              <a:rPr lang="en-US" b="1" dirty="0">
                <a:solidFill>
                  <a:schemeClr val="tx2">
                    <a:satMod val="130000"/>
                  </a:schemeClr>
                </a:solidFill>
                <a:latin typeface="+mn-lt"/>
              </a:rPr>
              <a:t>Goal of Risk Management</a:t>
            </a:r>
          </a:p>
        </p:txBody>
      </p:sp>
      <p:sp>
        <p:nvSpPr>
          <p:cNvPr id="17411" name="Rectangle 3"/>
          <p:cNvSpPr>
            <a:spLocks noGrp="1" noChangeArrowheads="1"/>
          </p:cNvSpPr>
          <p:nvPr>
            <p:ph idx="1"/>
          </p:nvPr>
        </p:nvSpPr>
        <p:spPr>
          <a:xfrm>
            <a:off x="687479" y="2875113"/>
            <a:ext cx="4037137" cy="1477144"/>
          </a:xfrm>
        </p:spPr>
        <p:txBody>
          <a:bodyPr>
            <a:normAutofit fontScale="92500" lnSpcReduction="10000"/>
          </a:bodyPr>
          <a:lstStyle/>
          <a:p>
            <a:r>
              <a:rPr lang="en-US" sz="2400" dirty="0"/>
              <a:t>The goal is to minimize the exposure of the company to the unpleasant outcome of the risk event.</a:t>
            </a:r>
          </a:p>
          <a:p>
            <a:endParaRPr lang="en-CA" dirty="0"/>
          </a:p>
        </p:txBody>
      </p:sp>
      <p:pic>
        <p:nvPicPr>
          <p:cNvPr id="17415" name="Picture 7" descr="C:\Users\Family\Desktop\risk1.jpg"/>
          <p:cNvPicPr>
            <a:picLocks noChangeAspect="1" noChangeArrowheads="1"/>
          </p:cNvPicPr>
          <p:nvPr/>
        </p:nvPicPr>
        <p:blipFill>
          <a:blip r:embed="rId2" cstate="print"/>
          <a:srcRect/>
          <a:stretch>
            <a:fillRect/>
          </a:stretch>
        </p:blipFill>
        <p:spPr bwMode="auto">
          <a:xfrm>
            <a:off x="4724616" y="1254933"/>
            <a:ext cx="4024283" cy="4717504"/>
          </a:xfrm>
          <a:prstGeom prst="rect">
            <a:avLst/>
          </a:prstGeom>
          <a:noFill/>
        </p:spPr>
      </p:pic>
      <p:sp>
        <p:nvSpPr>
          <p:cNvPr id="5" name="Oval 4"/>
          <p:cNvSpPr>
            <a:spLocks noChangeArrowheads="1"/>
          </p:cNvSpPr>
          <p:nvPr/>
        </p:nvSpPr>
        <p:spPr bwMode="auto">
          <a:xfrm>
            <a:off x="201704" y="6165304"/>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4" name="Slide Number Placeholder 3"/>
          <p:cNvSpPr>
            <a:spLocks noGrp="1"/>
          </p:cNvSpPr>
          <p:nvPr>
            <p:ph type="sldNum" sz="quarter" idx="12"/>
          </p:nvPr>
        </p:nvSpPr>
        <p:spPr>
          <a:xfrm>
            <a:off x="8229601" y="6239122"/>
            <a:ext cx="417516" cy="377825"/>
          </a:xfrm>
        </p:spPr>
        <p:txBody>
          <a:bodyPr/>
          <a:lstStyle/>
          <a:p>
            <a:pPr>
              <a:defRPr/>
            </a:pPr>
            <a:fld id="{95875DF6-B96D-4E7E-8088-3E962A93B459}" type="slidenum">
              <a:rPr lang="en-US" smtClean="0"/>
              <a:pPr>
                <a:defRPr/>
              </a:pPr>
              <a:t>12</a:t>
            </a:fld>
            <a:endParaRPr lang="en-US" dirty="0"/>
          </a:p>
        </p:txBody>
      </p:sp>
      <p:sp>
        <p:nvSpPr>
          <p:cNvPr id="3" name="Date Placeholder 2">
            <a:extLst>
              <a:ext uri="{FF2B5EF4-FFF2-40B4-BE49-F238E27FC236}">
                <a16:creationId xmlns:a16="http://schemas.microsoft.com/office/drawing/2014/main" id="{94C47820-6477-4F9E-AF6E-D82C47E2B796}"/>
              </a:ext>
            </a:extLst>
          </p:cNvPr>
          <p:cNvSpPr>
            <a:spLocks noGrp="1"/>
          </p:cNvSpPr>
          <p:nvPr>
            <p:ph type="dt" sz="half" idx="10"/>
          </p:nvPr>
        </p:nvSpPr>
        <p:spPr/>
        <p:txBody>
          <a:bodyPr/>
          <a:lstStyle/>
          <a:p>
            <a:pPr>
              <a:defRPr/>
            </a:pPr>
            <a:r>
              <a:rPr lang="en-US"/>
              <a:t>G.R. Labbé</a:t>
            </a:r>
            <a:endParaRPr lang="en-US" dirty="0"/>
          </a:p>
        </p:txBody>
      </p:sp>
    </p:spTree>
    <p:extLst>
      <p:ext uri="{BB962C8B-B14F-4D97-AF65-F5344CB8AC3E}">
        <p14:creationId xmlns:p14="http://schemas.microsoft.com/office/powerpoint/2010/main" val="116930514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bwMode="auto">
          <a:xfrm>
            <a:off x="157163" y="836613"/>
            <a:ext cx="8834437" cy="5716587"/>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charset="0"/>
              <a:buNone/>
              <a:defRPr/>
            </a:pPr>
            <a:r>
              <a:rPr lang="en-US" sz="3800" b="1" i="1" dirty="0"/>
              <a:t>Risk management </a:t>
            </a:r>
            <a:r>
              <a:rPr lang="en-US" dirty="0"/>
              <a:t>is the identification, assessment, and prioritization of to minimize, monitor, and control the probability and/or impact of unfortunate events.</a:t>
            </a:r>
          </a:p>
          <a:p>
            <a:pPr>
              <a:defRPr/>
            </a:pPr>
            <a:r>
              <a:rPr lang="en-US" dirty="0"/>
              <a:t>There are two types of events </a:t>
            </a:r>
          </a:p>
          <a:p>
            <a:pPr lvl="1">
              <a:defRPr/>
            </a:pPr>
            <a:r>
              <a:rPr lang="en-US" dirty="0"/>
              <a:t>Negative events can be classified as risks </a:t>
            </a:r>
          </a:p>
          <a:p>
            <a:pPr lvl="1">
              <a:defRPr/>
            </a:pPr>
            <a:r>
              <a:rPr lang="en-US" dirty="0"/>
              <a:t>Positive events are classified as opportunities</a:t>
            </a:r>
          </a:p>
          <a:p>
            <a:pPr marL="0" indent="0" algn="r">
              <a:buFont typeface="Arial" charset="0"/>
              <a:buNone/>
              <a:defRPr/>
            </a:pPr>
            <a:endParaRPr lang="en-US" sz="1100" dirty="0">
              <a:hlinkClick r:id="rId2"/>
            </a:endParaRPr>
          </a:p>
          <a:p>
            <a:pPr marL="0" indent="0" algn="r">
              <a:buFont typeface="Arial" charset="0"/>
              <a:buNone/>
              <a:defRPr/>
            </a:pPr>
            <a:r>
              <a:rPr lang="en-US" sz="1100" dirty="0">
                <a:hlinkClick r:id="rId2"/>
              </a:rPr>
              <a:t>https://en.wikipedia.org/wiki/Risk_management</a:t>
            </a:r>
            <a:endParaRPr lang="en-US" sz="1100" dirty="0"/>
          </a:p>
          <a:p>
            <a:pPr marL="0" indent="0" algn="r">
              <a:buFont typeface="Arial" charset="0"/>
              <a:buNone/>
              <a:defRPr/>
            </a:pPr>
            <a:endParaRPr lang="en-US" sz="1100" dirty="0"/>
          </a:p>
        </p:txBody>
      </p:sp>
      <p:sp>
        <p:nvSpPr>
          <p:cNvPr id="7" name="TextBox 6"/>
          <p:cNvSpPr txBox="1"/>
          <p:nvPr/>
        </p:nvSpPr>
        <p:spPr>
          <a:xfrm>
            <a:off x="868363" y="5046663"/>
            <a:ext cx="7407275" cy="1354137"/>
          </a:xfrm>
          <a:prstGeom prst="rect">
            <a:avLst/>
          </a:prstGeom>
          <a:noFill/>
        </p:spPr>
        <p:txBody>
          <a:bodyPr tIns="0" bIns="0">
            <a:spAutoFit/>
          </a:bodyPr>
          <a:lstStyle/>
          <a:p>
            <a:pPr marL="82296" algn="ctr">
              <a:defRPr/>
            </a:pPr>
            <a:r>
              <a:rPr lang="en-US" sz="4400" b="1" i="1" dirty="0">
                <a:latin typeface="+mn-lt"/>
              </a:rPr>
              <a:t>FMEA is a very good tool to use for risk management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582613" y="920347"/>
            <a:ext cx="5832648" cy="864427"/>
          </a:xfrm>
        </p:spPr>
        <p:txBody>
          <a:bodyPr>
            <a:normAutofit/>
          </a:bodyPr>
          <a:lstStyle/>
          <a:p>
            <a:pPr eaLnBrk="1" fontAlgn="auto" hangingPunct="1">
              <a:spcAft>
                <a:spcPts val="0"/>
              </a:spcAft>
              <a:defRPr/>
            </a:pPr>
            <a:r>
              <a:rPr lang="en-US" b="1" dirty="0">
                <a:solidFill>
                  <a:schemeClr val="tx2">
                    <a:satMod val="130000"/>
                  </a:schemeClr>
                </a:solidFill>
                <a:latin typeface="+mn-lt"/>
              </a:rPr>
              <a:t>Side Note: Risk and Opportunity</a:t>
            </a:r>
          </a:p>
        </p:txBody>
      </p:sp>
      <p:sp>
        <p:nvSpPr>
          <p:cNvPr id="16387" name="Rectangle 3"/>
          <p:cNvSpPr>
            <a:spLocks noGrp="1" noChangeArrowheads="1"/>
          </p:cNvSpPr>
          <p:nvPr>
            <p:ph idx="1"/>
          </p:nvPr>
        </p:nvSpPr>
        <p:spPr>
          <a:xfrm>
            <a:off x="582613" y="3070900"/>
            <a:ext cx="7772400" cy="2909140"/>
          </a:xfrm>
        </p:spPr>
        <p:txBody>
          <a:bodyPr>
            <a:normAutofit/>
          </a:bodyPr>
          <a:lstStyle/>
          <a:p>
            <a:pPr eaLnBrk="1" hangingPunct="1"/>
            <a:r>
              <a:rPr lang="en-US" sz="2400" dirty="0"/>
              <a:t>Risk and opportunity are mirror images of unforeseen project events. Opportunity has a positive outcome to the project while risk has adverse effects on the project. </a:t>
            </a:r>
          </a:p>
          <a:p>
            <a:pPr eaLnBrk="1" hangingPunct="1"/>
            <a:r>
              <a:rPr lang="en-US" sz="2400" dirty="0"/>
              <a:t>Opportunities are best handled outside of the Risk Management process. The same methods apply, just for a different outcome.</a:t>
            </a:r>
          </a:p>
        </p:txBody>
      </p:sp>
      <p:sp>
        <p:nvSpPr>
          <p:cNvPr id="16388"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pic>
        <p:nvPicPr>
          <p:cNvPr id="5122" name="Picture 2" descr="http://www.lightspeeditsolutions.co.uk/images/blog-images/risk-management.png?sfvrsn=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15260" y="404772"/>
            <a:ext cx="2477220" cy="2736195"/>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a:xfrm>
            <a:off x="8146255" y="6189420"/>
            <a:ext cx="417516" cy="377825"/>
          </a:xfrm>
        </p:spPr>
        <p:txBody>
          <a:bodyPr/>
          <a:lstStyle/>
          <a:p>
            <a:pPr>
              <a:defRPr/>
            </a:pPr>
            <a:fld id="{95875DF6-B96D-4E7E-8088-3E962A93B459}" type="slidenum">
              <a:rPr lang="en-US" smtClean="0"/>
              <a:pPr>
                <a:defRPr/>
              </a:pPr>
              <a:t>14</a:t>
            </a:fld>
            <a:endParaRPr lang="en-US" dirty="0"/>
          </a:p>
        </p:txBody>
      </p:sp>
      <p:sp>
        <p:nvSpPr>
          <p:cNvPr id="3" name="Date Placeholder 2">
            <a:extLst>
              <a:ext uri="{FF2B5EF4-FFF2-40B4-BE49-F238E27FC236}">
                <a16:creationId xmlns:a16="http://schemas.microsoft.com/office/drawing/2014/main" id="{C3405BC6-CA23-45A7-9866-8897F79F6BB1}"/>
              </a:ext>
            </a:extLst>
          </p:cNvPr>
          <p:cNvSpPr>
            <a:spLocks noGrp="1"/>
          </p:cNvSpPr>
          <p:nvPr>
            <p:ph type="dt" sz="half" idx="10"/>
          </p:nvPr>
        </p:nvSpPr>
        <p:spPr/>
        <p:txBody>
          <a:bodyPr/>
          <a:lstStyle/>
          <a:p>
            <a:pPr>
              <a:defRPr/>
            </a:pPr>
            <a:r>
              <a:rPr lang="en-US"/>
              <a:t>G.R. Labbé</a:t>
            </a:r>
            <a:endParaRPr lang="en-US" dirty="0"/>
          </a:p>
        </p:txBody>
      </p:sp>
    </p:spTree>
    <p:extLst>
      <p:ext uri="{BB962C8B-B14F-4D97-AF65-F5344CB8AC3E}">
        <p14:creationId xmlns:p14="http://schemas.microsoft.com/office/powerpoint/2010/main" val="1874201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582613" y="548680"/>
            <a:ext cx="6377940" cy="653265"/>
          </a:xfrm>
        </p:spPr>
        <p:txBody>
          <a:bodyPr/>
          <a:lstStyle/>
          <a:p>
            <a:pPr algn="l" eaLnBrk="1" fontAlgn="auto" hangingPunct="1">
              <a:spcAft>
                <a:spcPts val="0"/>
              </a:spcAft>
              <a:defRPr/>
            </a:pPr>
            <a:r>
              <a:rPr lang="en-US" b="1" dirty="0">
                <a:solidFill>
                  <a:schemeClr val="tx2">
                    <a:satMod val="130000"/>
                  </a:schemeClr>
                </a:solidFill>
                <a:latin typeface="+mn-lt"/>
              </a:rPr>
              <a:t>Risk Management</a:t>
            </a:r>
          </a:p>
        </p:txBody>
      </p:sp>
      <p:sp>
        <p:nvSpPr>
          <p:cNvPr id="21507" name="Rectangle 3"/>
          <p:cNvSpPr>
            <a:spLocks noGrp="1" noChangeArrowheads="1"/>
          </p:cNvSpPr>
          <p:nvPr>
            <p:ph idx="1"/>
          </p:nvPr>
        </p:nvSpPr>
        <p:spPr>
          <a:xfrm>
            <a:off x="467545" y="1417638"/>
            <a:ext cx="8219256" cy="5179714"/>
          </a:xfrm>
        </p:spPr>
        <p:txBody>
          <a:bodyPr>
            <a:normAutofit/>
          </a:bodyPr>
          <a:lstStyle/>
          <a:p>
            <a:pPr marL="381000" indent="-381000" eaLnBrk="1" hangingPunct="1">
              <a:lnSpc>
                <a:spcPct val="80000"/>
              </a:lnSpc>
              <a:buFontTx/>
              <a:buNone/>
            </a:pPr>
            <a:r>
              <a:rPr lang="en-US" sz="2200" b="1" dirty="0"/>
              <a:t>Risk Management is a four-stage process:</a:t>
            </a:r>
          </a:p>
          <a:p>
            <a:pPr marL="381000" indent="-381000" eaLnBrk="1" hangingPunct="1">
              <a:lnSpc>
                <a:spcPct val="80000"/>
              </a:lnSpc>
              <a:buFontTx/>
              <a:buNone/>
            </a:pPr>
            <a:endParaRPr lang="en-US" sz="2200" dirty="0"/>
          </a:p>
          <a:p>
            <a:pPr marL="381000" indent="-381000" eaLnBrk="1" hangingPunct="1">
              <a:lnSpc>
                <a:spcPct val="80000"/>
              </a:lnSpc>
              <a:buFontTx/>
              <a:buAutoNum type="arabicParenR"/>
            </a:pPr>
            <a:r>
              <a:rPr lang="en-US" sz="2200" b="1" dirty="0"/>
              <a:t>Risk Identification</a:t>
            </a:r>
            <a:br>
              <a:rPr lang="en-US" sz="2200" dirty="0"/>
            </a:br>
            <a:r>
              <a:rPr lang="en-US" sz="2200" dirty="0"/>
              <a:t>The process of determining the specific risk factors that can reasonably be expected to affect your project</a:t>
            </a:r>
          </a:p>
          <a:p>
            <a:pPr marL="381000" indent="-381000" eaLnBrk="1" hangingPunct="1">
              <a:lnSpc>
                <a:spcPct val="80000"/>
              </a:lnSpc>
              <a:buFontTx/>
              <a:buAutoNum type="arabicParenR"/>
            </a:pPr>
            <a:r>
              <a:rPr lang="en-US" sz="2200" b="1" dirty="0"/>
              <a:t>Analysis of the probability and consequences</a:t>
            </a:r>
            <a:br>
              <a:rPr lang="en-US" sz="2200" b="1" dirty="0"/>
            </a:br>
            <a:r>
              <a:rPr lang="en-US" sz="2200" dirty="0"/>
              <a:t>The potential impact of these risk factors, determined by how likely they are to occur and the effect they would have on the project if they did occur.</a:t>
            </a:r>
          </a:p>
          <a:p>
            <a:pPr marL="381000" indent="-381000" eaLnBrk="1" hangingPunct="1">
              <a:lnSpc>
                <a:spcPct val="80000"/>
              </a:lnSpc>
              <a:buFontTx/>
              <a:buAutoNum type="arabicParenR"/>
            </a:pPr>
            <a:r>
              <a:rPr lang="en-US" sz="2200" b="1" dirty="0"/>
              <a:t>Risk mitigation strategies</a:t>
            </a:r>
            <a:br>
              <a:rPr lang="en-US" sz="2200" b="1" dirty="0"/>
            </a:br>
            <a:r>
              <a:rPr lang="en-US" sz="2200" dirty="0"/>
              <a:t>Steps taken to minimize the potential impact of those risk factors deemed sufficiently threatening to the project.</a:t>
            </a:r>
          </a:p>
          <a:p>
            <a:pPr marL="381000" indent="-381000" eaLnBrk="1" hangingPunct="1">
              <a:lnSpc>
                <a:spcPct val="80000"/>
              </a:lnSpc>
              <a:buFontTx/>
              <a:buAutoNum type="arabicParenR"/>
            </a:pPr>
            <a:r>
              <a:rPr lang="en-US" sz="2200" b="1" dirty="0"/>
              <a:t>Control and Documentation</a:t>
            </a:r>
            <a:br>
              <a:rPr lang="en-US" sz="2200" b="1" dirty="0"/>
            </a:br>
            <a:r>
              <a:rPr lang="en-US" sz="2200" dirty="0"/>
              <a:t>Creating a knowledge base for future projects based on the lessons learned</a:t>
            </a:r>
          </a:p>
          <a:p>
            <a:pPr marL="381000" indent="-381000" eaLnBrk="1" hangingPunct="1">
              <a:lnSpc>
                <a:spcPct val="80000"/>
              </a:lnSpc>
            </a:pPr>
            <a:endParaRPr lang="en-US" sz="2000" dirty="0"/>
          </a:p>
        </p:txBody>
      </p:sp>
      <p:sp>
        <p:nvSpPr>
          <p:cNvPr id="21508" name="Oval 5"/>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4" name="Slide Number Placeholder 3"/>
          <p:cNvSpPr>
            <a:spLocks noGrp="1"/>
          </p:cNvSpPr>
          <p:nvPr>
            <p:ph type="sldNum" sz="quarter" idx="12"/>
          </p:nvPr>
        </p:nvSpPr>
        <p:spPr>
          <a:xfrm>
            <a:off x="8172400" y="6257131"/>
            <a:ext cx="417516" cy="377825"/>
          </a:xfrm>
        </p:spPr>
        <p:txBody>
          <a:bodyPr/>
          <a:lstStyle/>
          <a:p>
            <a:pPr>
              <a:defRPr/>
            </a:pPr>
            <a:fld id="{95875DF6-B96D-4E7E-8088-3E962A93B459}" type="slidenum">
              <a:rPr lang="en-US" smtClean="0"/>
              <a:pPr>
                <a:defRPr/>
              </a:pPr>
              <a:t>15</a:t>
            </a:fld>
            <a:endParaRPr lang="en-US" dirty="0"/>
          </a:p>
        </p:txBody>
      </p:sp>
      <p:sp>
        <p:nvSpPr>
          <p:cNvPr id="3" name="Date Placeholder 2">
            <a:extLst>
              <a:ext uri="{FF2B5EF4-FFF2-40B4-BE49-F238E27FC236}">
                <a16:creationId xmlns:a16="http://schemas.microsoft.com/office/drawing/2014/main" id="{3F3FD55A-77BF-4112-A19A-99F70C229772}"/>
              </a:ext>
            </a:extLst>
          </p:cNvPr>
          <p:cNvSpPr>
            <a:spLocks noGrp="1"/>
          </p:cNvSpPr>
          <p:nvPr>
            <p:ph type="dt" sz="half" idx="10"/>
          </p:nvPr>
        </p:nvSpPr>
        <p:spPr/>
        <p:txBody>
          <a:bodyPr/>
          <a:lstStyle/>
          <a:p>
            <a:pPr>
              <a:defRPr/>
            </a:pPr>
            <a:r>
              <a:rPr lang="en-US"/>
              <a:t>G.R. Labbé</a:t>
            </a:r>
            <a:endParaRPr lang="en-US" dirty="0"/>
          </a:p>
        </p:txBody>
      </p:sp>
    </p:spTree>
    <p:extLst>
      <p:ext uri="{BB962C8B-B14F-4D97-AF65-F5344CB8AC3E}">
        <p14:creationId xmlns:p14="http://schemas.microsoft.com/office/powerpoint/2010/main" val="3444860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50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0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5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582613" y="476672"/>
            <a:ext cx="6377940" cy="720080"/>
          </a:xfrm>
        </p:spPr>
        <p:txBody>
          <a:bodyPr>
            <a:normAutofit fontScale="90000"/>
          </a:bodyPr>
          <a:lstStyle/>
          <a:p>
            <a:pPr algn="l" eaLnBrk="1" fontAlgn="auto" hangingPunct="1">
              <a:spcAft>
                <a:spcPts val="0"/>
              </a:spcAft>
              <a:defRPr/>
            </a:pPr>
            <a:r>
              <a:rPr lang="en-US" b="1" dirty="0">
                <a:solidFill>
                  <a:schemeClr val="tx2">
                    <a:satMod val="130000"/>
                  </a:schemeClr>
                </a:solidFill>
                <a:latin typeface="+mn-lt"/>
              </a:rPr>
              <a:t>1) Risk Identification and classification</a:t>
            </a:r>
          </a:p>
        </p:txBody>
      </p:sp>
      <p:sp>
        <p:nvSpPr>
          <p:cNvPr id="27651" name="Rectangle 3"/>
          <p:cNvSpPr>
            <a:spLocks noGrp="1" noChangeArrowheads="1"/>
          </p:cNvSpPr>
          <p:nvPr>
            <p:ph idx="1"/>
          </p:nvPr>
        </p:nvSpPr>
        <p:spPr>
          <a:xfrm>
            <a:off x="582613" y="1340768"/>
            <a:ext cx="7772400" cy="5027249"/>
          </a:xfrm>
        </p:spPr>
        <p:txBody>
          <a:bodyPr>
            <a:normAutofit/>
          </a:bodyPr>
          <a:lstStyle/>
          <a:p>
            <a:pPr eaLnBrk="1" hangingPunct="1">
              <a:lnSpc>
                <a:spcPct val="80000"/>
              </a:lnSpc>
              <a:buFontTx/>
              <a:buNone/>
            </a:pPr>
            <a:r>
              <a:rPr lang="en-US" sz="2000" dirty="0"/>
              <a:t>Starts by classifying the risk into one of the following classes of risk: </a:t>
            </a:r>
          </a:p>
          <a:p>
            <a:pPr eaLnBrk="1" hangingPunct="1">
              <a:lnSpc>
                <a:spcPct val="80000"/>
              </a:lnSpc>
              <a:buFont typeface="Wingdings" panose="05000000000000000000" pitchFamily="2" charset="2"/>
              <a:buChar char="Ø"/>
            </a:pPr>
            <a:r>
              <a:rPr lang="en-US" sz="2000" dirty="0"/>
              <a:t>Financial</a:t>
            </a:r>
          </a:p>
          <a:p>
            <a:pPr eaLnBrk="1" hangingPunct="1">
              <a:lnSpc>
                <a:spcPct val="80000"/>
              </a:lnSpc>
              <a:buFont typeface="Wingdings" panose="05000000000000000000" pitchFamily="2" charset="2"/>
              <a:buChar char="Ø"/>
            </a:pPr>
            <a:r>
              <a:rPr lang="en-US" sz="2000" dirty="0"/>
              <a:t>Technology</a:t>
            </a:r>
          </a:p>
          <a:p>
            <a:pPr>
              <a:lnSpc>
                <a:spcPct val="80000"/>
              </a:lnSpc>
              <a:buFont typeface="Wingdings" panose="05000000000000000000" pitchFamily="2" charset="2"/>
              <a:buChar char="Ø"/>
            </a:pPr>
            <a:r>
              <a:rPr lang="en-US" sz="2000" dirty="0"/>
              <a:t>Resources</a:t>
            </a:r>
          </a:p>
          <a:p>
            <a:pPr eaLnBrk="1" hangingPunct="1">
              <a:lnSpc>
                <a:spcPct val="80000"/>
              </a:lnSpc>
              <a:buFont typeface="Wingdings" panose="05000000000000000000" pitchFamily="2" charset="2"/>
              <a:buChar char="Ø"/>
            </a:pPr>
            <a:r>
              <a:rPr lang="en-US" sz="2000" dirty="0"/>
              <a:t>Schedule</a:t>
            </a:r>
          </a:p>
          <a:p>
            <a:pPr eaLnBrk="1" hangingPunct="1">
              <a:lnSpc>
                <a:spcPct val="80000"/>
              </a:lnSpc>
              <a:buFont typeface="Wingdings" panose="05000000000000000000" pitchFamily="2" charset="2"/>
              <a:buChar char="Ø"/>
            </a:pPr>
            <a:r>
              <a:rPr lang="en-US" sz="2000" dirty="0"/>
              <a:t>Weather</a:t>
            </a:r>
          </a:p>
          <a:p>
            <a:pPr eaLnBrk="1" hangingPunct="1">
              <a:lnSpc>
                <a:spcPct val="80000"/>
              </a:lnSpc>
              <a:buFont typeface="Wingdings" panose="05000000000000000000" pitchFamily="2" charset="2"/>
              <a:buChar char="Ø"/>
            </a:pPr>
            <a:r>
              <a:rPr lang="en-US" sz="2000" dirty="0"/>
              <a:t>Political</a:t>
            </a:r>
          </a:p>
          <a:p>
            <a:pPr eaLnBrk="1" hangingPunct="1">
              <a:lnSpc>
                <a:spcPct val="80000"/>
              </a:lnSpc>
              <a:buFont typeface="Wingdings" panose="05000000000000000000" pitchFamily="2" charset="2"/>
              <a:buChar char="Ø"/>
            </a:pPr>
            <a:r>
              <a:rPr lang="en-US" sz="2000" dirty="0"/>
              <a:t>Environmental</a:t>
            </a:r>
          </a:p>
          <a:p>
            <a:pPr eaLnBrk="1" hangingPunct="1">
              <a:lnSpc>
                <a:spcPct val="80000"/>
              </a:lnSpc>
              <a:buFont typeface="Wingdings" panose="05000000000000000000" pitchFamily="2" charset="2"/>
              <a:buChar char="Ø"/>
            </a:pPr>
            <a:endParaRPr lang="en-US" sz="2000" dirty="0"/>
          </a:p>
          <a:p>
            <a:pPr eaLnBrk="1" hangingPunct="1">
              <a:lnSpc>
                <a:spcPct val="80000"/>
              </a:lnSpc>
              <a:buFont typeface="Wingdings" panose="05000000000000000000" pitchFamily="2" charset="2"/>
              <a:buChar char="Ø"/>
            </a:pPr>
            <a:r>
              <a:rPr lang="en-US" sz="2000" dirty="0"/>
              <a:t>Note this list is not a complete list. It represents the most common risk associated with most projects.</a:t>
            </a:r>
          </a:p>
          <a:p>
            <a:pPr eaLnBrk="1" hangingPunct="1">
              <a:lnSpc>
                <a:spcPct val="80000"/>
              </a:lnSpc>
              <a:buFont typeface="Wingdings" panose="05000000000000000000" pitchFamily="2" charset="2"/>
              <a:buChar char="Ø"/>
            </a:pPr>
            <a:endParaRPr lang="en-US" sz="2000" dirty="0"/>
          </a:p>
          <a:p>
            <a:pPr eaLnBrk="1" hangingPunct="1">
              <a:lnSpc>
                <a:spcPct val="80000"/>
              </a:lnSpc>
            </a:pPr>
            <a:endParaRPr lang="en-US" sz="2400" dirty="0"/>
          </a:p>
          <a:p>
            <a:pPr eaLnBrk="1" hangingPunct="1">
              <a:lnSpc>
                <a:spcPct val="80000"/>
              </a:lnSpc>
            </a:pPr>
            <a:endParaRPr lang="en-US" sz="2400" dirty="0"/>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5" name="Slide Number Placeholder 4"/>
          <p:cNvSpPr>
            <a:spLocks noGrp="1"/>
          </p:cNvSpPr>
          <p:nvPr>
            <p:ph type="sldNum" sz="quarter" idx="12"/>
          </p:nvPr>
        </p:nvSpPr>
        <p:spPr>
          <a:xfrm>
            <a:off x="8229601" y="6257131"/>
            <a:ext cx="417516" cy="377825"/>
          </a:xfrm>
        </p:spPr>
        <p:txBody>
          <a:bodyPr/>
          <a:lstStyle/>
          <a:p>
            <a:pPr>
              <a:defRPr/>
            </a:pPr>
            <a:fld id="{95875DF6-B96D-4E7E-8088-3E962A93B459}" type="slidenum">
              <a:rPr lang="en-US" smtClean="0"/>
              <a:pPr>
                <a:defRPr/>
              </a:pPr>
              <a:t>16</a:t>
            </a:fld>
            <a:endParaRPr lang="en-US" dirty="0"/>
          </a:p>
        </p:txBody>
      </p:sp>
      <p:sp>
        <p:nvSpPr>
          <p:cNvPr id="3" name="Date Placeholder 2">
            <a:extLst>
              <a:ext uri="{FF2B5EF4-FFF2-40B4-BE49-F238E27FC236}">
                <a16:creationId xmlns:a16="http://schemas.microsoft.com/office/drawing/2014/main" id="{EA77FDC5-6866-4812-A543-B42E660F3448}"/>
              </a:ext>
            </a:extLst>
          </p:cNvPr>
          <p:cNvSpPr>
            <a:spLocks noGrp="1"/>
          </p:cNvSpPr>
          <p:nvPr>
            <p:ph type="dt" sz="half" idx="10"/>
          </p:nvPr>
        </p:nvSpPr>
        <p:spPr/>
        <p:txBody>
          <a:bodyPr/>
          <a:lstStyle/>
          <a:p>
            <a:pPr>
              <a:defRPr/>
            </a:pPr>
            <a:r>
              <a:rPr lang="en-US"/>
              <a:t>G.R. Labbé</a:t>
            </a:r>
            <a:endParaRPr lang="en-US" dirty="0"/>
          </a:p>
        </p:txBody>
      </p:sp>
    </p:spTree>
    <p:extLst>
      <p:ext uri="{BB962C8B-B14F-4D97-AF65-F5344CB8AC3E}">
        <p14:creationId xmlns:p14="http://schemas.microsoft.com/office/powerpoint/2010/main" val="3389359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687479" y="476672"/>
            <a:ext cx="8280920" cy="838200"/>
          </a:xfrm>
        </p:spPr>
        <p:txBody>
          <a:bodyPr>
            <a:noAutofit/>
          </a:bodyPr>
          <a:lstStyle/>
          <a:p>
            <a:pPr algn="l" eaLnBrk="1" fontAlgn="auto" hangingPunct="1">
              <a:spcAft>
                <a:spcPts val="0"/>
              </a:spcAft>
              <a:defRPr/>
            </a:pPr>
            <a:r>
              <a:rPr lang="en-US" sz="2800" b="1" dirty="0">
                <a:solidFill>
                  <a:schemeClr val="tx2">
                    <a:satMod val="130000"/>
                  </a:schemeClr>
                </a:solidFill>
                <a:latin typeface="+mn-lt"/>
              </a:rPr>
              <a:t>2) Analysis of Probability and IMPACT</a:t>
            </a:r>
          </a:p>
        </p:txBody>
      </p:sp>
      <p:sp>
        <p:nvSpPr>
          <p:cNvPr id="29699" name="Rectangle 3"/>
          <p:cNvSpPr>
            <a:spLocks noGrp="1" noChangeArrowheads="1"/>
          </p:cNvSpPr>
          <p:nvPr>
            <p:ph idx="1"/>
          </p:nvPr>
        </p:nvSpPr>
        <p:spPr>
          <a:xfrm>
            <a:off x="687479" y="1768157"/>
            <a:ext cx="7772400" cy="3649133"/>
          </a:xfrm>
        </p:spPr>
        <p:txBody>
          <a:bodyPr>
            <a:normAutofit/>
          </a:bodyPr>
          <a:lstStyle/>
          <a:p>
            <a:pPr eaLnBrk="1" hangingPunct="1"/>
            <a:endParaRPr lang="en-US" sz="2800" dirty="0"/>
          </a:p>
          <a:p>
            <a:pPr eaLnBrk="1" hangingPunct="1"/>
            <a:r>
              <a:rPr lang="en-US" sz="2400" dirty="0"/>
              <a:t>The next step is to assign a reasonable value to the probability and impact the risk has. </a:t>
            </a:r>
            <a:br>
              <a:rPr lang="en-US" sz="2400" dirty="0"/>
            </a:br>
            <a:r>
              <a:rPr lang="en-US" sz="2400" dirty="0"/>
              <a:t>There are two ways to do it:</a:t>
            </a:r>
            <a:br>
              <a:rPr lang="en-US" sz="2400" dirty="0"/>
            </a:br>
            <a:r>
              <a:rPr lang="en-US" sz="2400" dirty="0"/>
              <a:t>- Team assessment</a:t>
            </a:r>
            <a:br>
              <a:rPr lang="en-US" sz="2400" dirty="0"/>
            </a:br>
            <a:r>
              <a:rPr lang="en-US" sz="2400" dirty="0"/>
              <a:t>- Quantitative method</a:t>
            </a:r>
          </a:p>
          <a:p>
            <a:pPr eaLnBrk="1" hangingPunct="1"/>
            <a:r>
              <a:rPr lang="en-US" sz="2400" dirty="0"/>
              <a:t>We can construct a risk impact matrix </a:t>
            </a:r>
            <a:r>
              <a:rPr lang="en-US" sz="2400" i="1" dirty="0"/>
              <a:t>(likelihood on x axis, impact on y, low medium high right top).</a:t>
            </a:r>
          </a:p>
          <a:p>
            <a:pPr eaLnBrk="1" hangingPunct="1"/>
            <a:endParaRPr lang="en-US" sz="2800" dirty="0"/>
          </a:p>
          <a:p>
            <a:pPr eaLnBrk="1" hangingPunct="1"/>
            <a:endParaRPr lang="en-US" sz="2800" dirty="0"/>
          </a:p>
        </p:txBody>
      </p:sp>
      <p:sp>
        <p:nvSpPr>
          <p:cNvPr id="4" name="Oval 3"/>
          <p:cNvSpPr>
            <a:spLocks noChangeArrowheads="1"/>
          </p:cNvSpPr>
          <p:nvPr/>
        </p:nvSpPr>
        <p:spPr bwMode="auto">
          <a:xfrm>
            <a:off x="201704" y="6165304"/>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5" name="Slide Number Placeholder 4"/>
          <p:cNvSpPr>
            <a:spLocks noGrp="1"/>
          </p:cNvSpPr>
          <p:nvPr>
            <p:ph type="sldNum" sz="quarter" idx="12"/>
          </p:nvPr>
        </p:nvSpPr>
        <p:spPr>
          <a:xfrm>
            <a:off x="8264108" y="6239122"/>
            <a:ext cx="417516" cy="377825"/>
          </a:xfrm>
        </p:spPr>
        <p:txBody>
          <a:bodyPr/>
          <a:lstStyle/>
          <a:p>
            <a:pPr>
              <a:defRPr/>
            </a:pPr>
            <a:fld id="{95875DF6-B96D-4E7E-8088-3E962A93B459}" type="slidenum">
              <a:rPr lang="en-US" smtClean="0"/>
              <a:pPr>
                <a:defRPr/>
              </a:pPr>
              <a:t>17</a:t>
            </a:fld>
            <a:endParaRPr lang="en-US" dirty="0"/>
          </a:p>
        </p:txBody>
      </p:sp>
      <p:sp>
        <p:nvSpPr>
          <p:cNvPr id="3" name="Date Placeholder 2">
            <a:extLst>
              <a:ext uri="{FF2B5EF4-FFF2-40B4-BE49-F238E27FC236}">
                <a16:creationId xmlns:a16="http://schemas.microsoft.com/office/drawing/2014/main" id="{558A66CD-1F43-4AE9-9C3B-23E100E3669D}"/>
              </a:ext>
            </a:extLst>
          </p:cNvPr>
          <p:cNvSpPr>
            <a:spLocks noGrp="1"/>
          </p:cNvSpPr>
          <p:nvPr>
            <p:ph type="dt" sz="half" idx="10"/>
          </p:nvPr>
        </p:nvSpPr>
        <p:spPr/>
        <p:txBody>
          <a:bodyPr/>
          <a:lstStyle/>
          <a:p>
            <a:pPr>
              <a:defRPr/>
            </a:pPr>
            <a:r>
              <a:rPr lang="en-US"/>
              <a:t>G.R. Labbé</a:t>
            </a:r>
            <a:endParaRPr lang="en-US" dirty="0"/>
          </a:p>
        </p:txBody>
      </p:sp>
    </p:spTree>
    <p:extLst>
      <p:ext uri="{BB962C8B-B14F-4D97-AF65-F5344CB8AC3E}">
        <p14:creationId xmlns:p14="http://schemas.microsoft.com/office/powerpoint/2010/main" val="157048217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581833" y="692696"/>
            <a:ext cx="7632573" cy="648403"/>
          </a:xfrm>
        </p:spPr>
        <p:txBody>
          <a:bodyPr>
            <a:normAutofit/>
          </a:bodyPr>
          <a:lstStyle/>
          <a:p>
            <a:pPr algn="l" eaLnBrk="1" fontAlgn="auto" hangingPunct="1">
              <a:spcAft>
                <a:spcPts val="0"/>
              </a:spcAft>
              <a:defRPr/>
            </a:pPr>
            <a:r>
              <a:rPr lang="en-US" sz="3200" b="1" dirty="0">
                <a:solidFill>
                  <a:schemeClr val="tx2">
                    <a:satMod val="130000"/>
                  </a:schemeClr>
                </a:solidFill>
                <a:latin typeface="+mn-lt"/>
              </a:rPr>
              <a:t>Team Assessment Risk Analysis</a:t>
            </a:r>
          </a:p>
        </p:txBody>
      </p:sp>
      <p:sp>
        <p:nvSpPr>
          <p:cNvPr id="30723" name="Rectangle 3"/>
          <p:cNvSpPr>
            <a:spLocks noGrp="1" noChangeArrowheads="1"/>
          </p:cNvSpPr>
          <p:nvPr>
            <p:ph idx="1"/>
          </p:nvPr>
        </p:nvSpPr>
        <p:spPr>
          <a:xfrm>
            <a:off x="582613" y="1781271"/>
            <a:ext cx="7772400" cy="3649133"/>
          </a:xfrm>
        </p:spPr>
        <p:txBody>
          <a:bodyPr>
            <a:normAutofit/>
          </a:bodyPr>
          <a:lstStyle/>
          <a:p>
            <a:pPr eaLnBrk="1" hangingPunct="1">
              <a:lnSpc>
                <a:spcPct val="90000"/>
              </a:lnSpc>
              <a:buFontTx/>
              <a:buNone/>
            </a:pPr>
            <a:r>
              <a:rPr lang="en-US" sz="2000" dirty="0"/>
              <a:t>1) Data Gathering and Representation techniques</a:t>
            </a:r>
          </a:p>
          <a:p>
            <a:pPr eaLnBrk="1" hangingPunct="1">
              <a:lnSpc>
                <a:spcPct val="90000"/>
              </a:lnSpc>
            </a:pPr>
            <a:r>
              <a:rPr lang="en-US" sz="2000" dirty="0"/>
              <a:t>Interviewing to quantify the probability and impact of risks on project objectives. The information gathered depends on the circumstance, but most likely will include the optimistic </a:t>
            </a:r>
            <a:r>
              <a:rPr lang="en-US" sz="2000" b="1" i="1" dirty="0">
                <a:solidFill>
                  <a:srgbClr val="FF0000"/>
                </a:solidFill>
              </a:rPr>
              <a:t>(low)</a:t>
            </a:r>
            <a:r>
              <a:rPr lang="en-US" sz="2000" dirty="0"/>
              <a:t>, pessimistic </a:t>
            </a:r>
            <a:r>
              <a:rPr lang="en-US" sz="2000" b="1" i="1" dirty="0">
                <a:solidFill>
                  <a:srgbClr val="FF0000"/>
                </a:solidFill>
              </a:rPr>
              <a:t>(high)</a:t>
            </a:r>
            <a:r>
              <a:rPr lang="en-US" sz="2000" dirty="0"/>
              <a:t>, and most likely scenarios for the risk event. </a:t>
            </a:r>
          </a:p>
          <a:p>
            <a:pPr eaLnBrk="1" hangingPunct="1">
              <a:lnSpc>
                <a:spcPct val="90000"/>
              </a:lnSpc>
            </a:pPr>
            <a:r>
              <a:rPr lang="en-US" sz="2000" dirty="0"/>
              <a:t>Probability distributions can be used to represent uncertain events, such as the outcome of a test. </a:t>
            </a:r>
          </a:p>
          <a:p>
            <a:pPr eaLnBrk="1" hangingPunct="1">
              <a:lnSpc>
                <a:spcPct val="90000"/>
              </a:lnSpc>
            </a:pPr>
            <a:r>
              <a:rPr lang="en-US" sz="2000" dirty="0"/>
              <a:t>Expert judgment, experts validate data and techniques.</a:t>
            </a:r>
          </a:p>
        </p:txBody>
      </p:sp>
      <p:sp>
        <p:nvSpPr>
          <p:cNvPr id="3072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4" name="Slide Number Placeholder 3"/>
          <p:cNvSpPr>
            <a:spLocks noGrp="1"/>
          </p:cNvSpPr>
          <p:nvPr>
            <p:ph type="sldNum" sz="quarter" idx="12"/>
          </p:nvPr>
        </p:nvSpPr>
        <p:spPr>
          <a:xfrm>
            <a:off x="8225430" y="6257130"/>
            <a:ext cx="417516" cy="377825"/>
          </a:xfrm>
        </p:spPr>
        <p:txBody>
          <a:bodyPr/>
          <a:lstStyle/>
          <a:p>
            <a:pPr>
              <a:defRPr/>
            </a:pPr>
            <a:fld id="{95875DF6-B96D-4E7E-8088-3E962A93B459}" type="slidenum">
              <a:rPr lang="en-US" smtClean="0"/>
              <a:pPr>
                <a:defRPr/>
              </a:pPr>
              <a:t>18</a:t>
            </a:fld>
            <a:endParaRPr lang="en-US" dirty="0"/>
          </a:p>
        </p:txBody>
      </p:sp>
      <p:sp>
        <p:nvSpPr>
          <p:cNvPr id="3" name="Date Placeholder 2">
            <a:extLst>
              <a:ext uri="{FF2B5EF4-FFF2-40B4-BE49-F238E27FC236}">
                <a16:creationId xmlns:a16="http://schemas.microsoft.com/office/drawing/2014/main" id="{DE89853C-11E2-4D90-A1E5-D8AA8E83A962}"/>
              </a:ext>
            </a:extLst>
          </p:cNvPr>
          <p:cNvSpPr>
            <a:spLocks noGrp="1"/>
          </p:cNvSpPr>
          <p:nvPr>
            <p:ph type="dt" sz="half" idx="10"/>
          </p:nvPr>
        </p:nvSpPr>
        <p:spPr/>
        <p:txBody>
          <a:bodyPr/>
          <a:lstStyle/>
          <a:p>
            <a:pPr>
              <a:defRPr/>
            </a:pPr>
            <a:r>
              <a:rPr lang="en-US"/>
              <a:t>G.R. Labbé</a:t>
            </a:r>
            <a:endParaRPr lang="en-US" dirty="0"/>
          </a:p>
        </p:txBody>
      </p:sp>
    </p:spTree>
    <p:extLst>
      <p:ext uri="{BB962C8B-B14F-4D97-AF65-F5344CB8AC3E}">
        <p14:creationId xmlns:p14="http://schemas.microsoft.com/office/powerpoint/2010/main" val="2544325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Text Box 67"/>
          <p:cNvSpPr txBox="1">
            <a:spLocks noChangeArrowheads="1"/>
          </p:cNvSpPr>
          <p:nvPr/>
        </p:nvSpPr>
        <p:spPr bwMode="auto">
          <a:xfrm>
            <a:off x="579274" y="4797152"/>
            <a:ext cx="8137525" cy="1200329"/>
          </a:xfrm>
          <a:prstGeom prst="rect">
            <a:avLst/>
          </a:prstGeom>
          <a:noFill/>
          <a:ln w="9525">
            <a:noFill/>
            <a:miter lim="800000"/>
            <a:headEnd/>
            <a:tailEnd/>
          </a:ln>
        </p:spPr>
        <p:txBody>
          <a:bodyPr>
            <a:spAutoFit/>
          </a:bodyPr>
          <a:lstStyle/>
          <a:p>
            <a:pPr marL="285750" indent="-285750">
              <a:buFont typeface="Arial" panose="020B0604020202020204" pitchFamily="34" charset="0"/>
              <a:buChar char="•"/>
            </a:pPr>
            <a:r>
              <a:rPr lang="en-US" b="1" dirty="0">
                <a:latin typeface="+mn-lt"/>
              </a:rPr>
              <a:t>Red Risk</a:t>
            </a:r>
            <a:r>
              <a:rPr lang="en-US" dirty="0">
                <a:latin typeface="+mn-lt"/>
              </a:rPr>
              <a:t>:  highest impact potential, a plan has to be worked out in advance of the event from happening to mitigate the effects…</a:t>
            </a:r>
          </a:p>
          <a:p>
            <a:pPr marL="285750" indent="-285750">
              <a:buFont typeface="Arial" panose="020B0604020202020204" pitchFamily="34" charset="0"/>
              <a:buChar char="•"/>
            </a:pPr>
            <a:r>
              <a:rPr lang="en-US" b="1" dirty="0">
                <a:latin typeface="+mn-lt"/>
              </a:rPr>
              <a:t>Yellow Risk</a:t>
            </a:r>
            <a:r>
              <a:rPr lang="en-US" dirty="0">
                <a:latin typeface="+mn-lt"/>
              </a:rPr>
              <a:t>:   usually a team decision if a mitigation strategy has to be in place…</a:t>
            </a:r>
          </a:p>
          <a:p>
            <a:pPr marL="285750" indent="-285750">
              <a:buFont typeface="Arial" panose="020B0604020202020204" pitchFamily="34" charset="0"/>
              <a:buChar char="•"/>
            </a:pPr>
            <a:r>
              <a:rPr lang="en-US" b="1" dirty="0">
                <a:latin typeface="+mn-lt"/>
              </a:rPr>
              <a:t>Green Risk</a:t>
            </a:r>
            <a:r>
              <a:rPr lang="en-US" dirty="0">
                <a:latin typeface="+mn-lt"/>
              </a:rPr>
              <a:t>:   be aware....</a:t>
            </a:r>
          </a:p>
        </p:txBody>
      </p:sp>
      <p:sp>
        <p:nvSpPr>
          <p:cNvPr id="39940" name="Oval 68"/>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4" name="Slide Number Placeholder 3"/>
          <p:cNvSpPr>
            <a:spLocks noGrp="1"/>
          </p:cNvSpPr>
          <p:nvPr>
            <p:ph type="sldNum" sz="quarter" idx="12"/>
          </p:nvPr>
        </p:nvSpPr>
        <p:spPr>
          <a:xfrm>
            <a:off x="8270574" y="6257131"/>
            <a:ext cx="417516" cy="377825"/>
          </a:xfrm>
        </p:spPr>
        <p:txBody>
          <a:bodyPr/>
          <a:lstStyle/>
          <a:p>
            <a:pPr>
              <a:defRPr/>
            </a:pPr>
            <a:fld id="{95875DF6-B96D-4E7E-8088-3E962A93B459}" type="slidenum">
              <a:rPr lang="en-US" smtClean="0"/>
              <a:pPr>
                <a:defRPr/>
              </a:pPr>
              <a:t>19</a:t>
            </a:fld>
            <a:endParaRPr lang="en-US" dirty="0"/>
          </a:p>
        </p:txBody>
      </p:sp>
      <p:sp>
        <p:nvSpPr>
          <p:cNvPr id="3" name="Date Placeholder 2">
            <a:extLst>
              <a:ext uri="{FF2B5EF4-FFF2-40B4-BE49-F238E27FC236}">
                <a16:creationId xmlns:a16="http://schemas.microsoft.com/office/drawing/2014/main" id="{924FE4DB-9DAA-4D32-8F4E-65CBBBD87FE7}"/>
              </a:ext>
            </a:extLst>
          </p:cNvPr>
          <p:cNvSpPr>
            <a:spLocks noGrp="1"/>
          </p:cNvSpPr>
          <p:nvPr>
            <p:ph type="dt" sz="half" idx="10"/>
          </p:nvPr>
        </p:nvSpPr>
        <p:spPr/>
        <p:txBody>
          <a:bodyPr/>
          <a:lstStyle/>
          <a:p>
            <a:pPr>
              <a:defRPr/>
            </a:pPr>
            <a:r>
              <a:rPr lang="en-US"/>
              <a:t>G.R. Labbé</a:t>
            </a:r>
            <a:endParaRPr lang="en-US" dirty="0"/>
          </a:p>
        </p:txBody>
      </p:sp>
      <p:pic>
        <p:nvPicPr>
          <p:cNvPr id="8" name="Picture 7">
            <a:extLst>
              <a:ext uri="{FF2B5EF4-FFF2-40B4-BE49-F238E27FC236}">
                <a16:creationId xmlns:a16="http://schemas.microsoft.com/office/drawing/2014/main" id="{649BA16E-E343-40D1-92F3-6331EBC5B6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5627" y="333452"/>
            <a:ext cx="5544185" cy="4333875"/>
          </a:xfrm>
          <a:prstGeom prst="rect">
            <a:avLst/>
          </a:prstGeom>
        </p:spPr>
      </p:pic>
    </p:spTree>
    <p:extLst>
      <p:ext uri="{BB962C8B-B14F-4D97-AF65-F5344CB8AC3E}">
        <p14:creationId xmlns:p14="http://schemas.microsoft.com/office/powerpoint/2010/main" val="3220471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582613" y="764704"/>
            <a:ext cx="7578040" cy="531027"/>
          </a:xfrm>
        </p:spPr>
        <p:txBody>
          <a:bodyPr>
            <a:normAutofit/>
          </a:bodyPr>
          <a:lstStyle/>
          <a:p>
            <a:pPr algn="l" eaLnBrk="1" fontAlgn="auto" hangingPunct="1">
              <a:spcAft>
                <a:spcPts val="0"/>
              </a:spcAft>
              <a:defRPr/>
            </a:pPr>
            <a:r>
              <a:rPr lang="en-US" sz="2800" b="1" dirty="0">
                <a:solidFill>
                  <a:schemeClr val="tx2">
                    <a:satMod val="130000"/>
                  </a:schemeClr>
                </a:solidFill>
                <a:latin typeface="+mn-lt"/>
              </a:rPr>
              <a:t>Quantitative Risk Analysis</a:t>
            </a:r>
          </a:p>
        </p:txBody>
      </p:sp>
      <p:sp>
        <p:nvSpPr>
          <p:cNvPr id="31747" name="Rectangle 3"/>
          <p:cNvSpPr>
            <a:spLocks noGrp="1" noChangeArrowheads="1"/>
          </p:cNvSpPr>
          <p:nvPr>
            <p:ph idx="1"/>
          </p:nvPr>
        </p:nvSpPr>
        <p:spPr>
          <a:xfrm>
            <a:off x="582613" y="1792760"/>
            <a:ext cx="8686800" cy="4077816"/>
          </a:xfrm>
        </p:spPr>
        <p:txBody>
          <a:bodyPr>
            <a:noAutofit/>
          </a:bodyPr>
          <a:lstStyle/>
          <a:p>
            <a:pPr eaLnBrk="1" hangingPunct="1">
              <a:lnSpc>
                <a:spcPct val="80000"/>
              </a:lnSpc>
              <a:buFontTx/>
              <a:buNone/>
            </a:pPr>
            <a:r>
              <a:rPr lang="en-US" sz="2000" dirty="0"/>
              <a:t>Tools and Techniques for quantitative risk analysis:</a:t>
            </a:r>
          </a:p>
          <a:p>
            <a:pPr eaLnBrk="1" hangingPunct="1">
              <a:lnSpc>
                <a:spcPct val="80000"/>
              </a:lnSpc>
              <a:buFontTx/>
              <a:buNone/>
            </a:pPr>
            <a:r>
              <a:rPr lang="en-US" sz="2000" dirty="0"/>
              <a:t>2) Quantitative Risk Analysis and Modeling Techniques</a:t>
            </a:r>
          </a:p>
          <a:p>
            <a:pPr eaLnBrk="1" hangingPunct="1">
              <a:lnSpc>
                <a:spcPct val="80000"/>
              </a:lnSpc>
            </a:pPr>
            <a:r>
              <a:rPr lang="en-US" sz="2000" b="1" dirty="0"/>
              <a:t>Sensitivity Analysis</a:t>
            </a:r>
            <a:r>
              <a:rPr lang="en-US" sz="2000" dirty="0"/>
              <a:t> helps to determine which risks have the most potential impact on the project. It examines the extent to which the uncertainty of each project element affects the objective being examined when all other uncertain elements are held at their baseline values. </a:t>
            </a:r>
          </a:p>
          <a:p>
            <a:pPr eaLnBrk="1" hangingPunct="1">
              <a:lnSpc>
                <a:spcPct val="80000"/>
              </a:lnSpc>
            </a:pPr>
            <a:r>
              <a:rPr lang="en-US" sz="2000" b="1" dirty="0"/>
              <a:t>Expected monetary value analysis (EMV)</a:t>
            </a:r>
            <a:r>
              <a:rPr lang="en-US" sz="2000" dirty="0"/>
              <a:t> analysis is a statistical concept that calculates the average outcome when the future includes scenarios that may or may not happen. EMV is calculated by multiplying the value of each possible outcome by its probability of occurrence, and adding them together. This is usually done in a decision tree analysis.</a:t>
            </a:r>
          </a:p>
        </p:txBody>
      </p:sp>
      <p:sp>
        <p:nvSpPr>
          <p:cNvPr id="31748"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pic>
        <p:nvPicPr>
          <p:cNvPr id="5" name="Picture 2" descr="http://kialta.com.au/wp-content/uploads/2013/07/Risk2.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66247" y="348046"/>
            <a:ext cx="2760241" cy="276024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a:xfrm>
            <a:off x="8316416" y="6257131"/>
            <a:ext cx="417516" cy="377825"/>
          </a:xfrm>
        </p:spPr>
        <p:txBody>
          <a:bodyPr/>
          <a:lstStyle/>
          <a:p>
            <a:pPr>
              <a:defRPr/>
            </a:pPr>
            <a:fld id="{95875DF6-B96D-4E7E-8088-3E962A93B459}" type="slidenum">
              <a:rPr lang="en-US" smtClean="0"/>
              <a:pPr>
                <a:defRPr/>
              </a:pPr>
              <a:t>20</a:t>
            </a:fld>
            <a:endParaRPr lang="en-US" dirty="0"/>
          </a:p>
        </p:txBody>
      </p:sp>
      <p:sp>
        <p:nvSpPr>
          <p:cNvPr id="3" name="Date Placeholder 2">
            <a:extLst>
              <a:ext uri="{FF2B5EF4-FFF2-40B4-BE49-F238E27FC236}">
                <a16:creationId xmlns:a16="http://schemas.microsoft.com/office/drawing/2014/main" id="{FC803777-F48B-42FD-86DC-F73CEA7E03C9}"/>
              </a:ext>
            </a:extLst>
          </p:cNvPr>
          <p:cNvSpPr>
            <a:spLocks noGrp="1"/>
          </p:cNvSpPr>
          <p:nvPr>
            <p:ph type="dt" sz="half" idx="10"/>
          </p:nvPr>
        </p:nvSpPr>
        <p:spPr/>
        <p:txBody>
          <a:bodyPr/>
          <a:lstStyle/>
          <a:p>
            <a:pPr>
              <a:defRPr/>
            </a:pPr>
            <a:r>
              <a:rPr lang="en-US"/>
              <a:t>G.R. Labbé</a:t>
            </a:r>
            <a:endParaRPr lang="en-US" dirty="0"/>
          </a:p>
        </p:txBody>
      </p:sp>
    </p:spTree>
    <p:extLst>
      <p:ext uri="{BB962C8B-B14F-4D97-AF65-F5344CB8AC3E}">
        <p14:creationId xmlns:p14="http://schemas.microsoft.com/office/powerpoint/2010/main" val="2439042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27874"/>
            <a:ext cx="8208912" cy="828258"/>
          </a:xfrm>
        </p:spPr>
        <p:txBody>
          <a:bodyPr>
            <a:normAutofit fontScale="90000"/>
          </a:bodyPr>
          <a:lstStyle/>
          <a:p>
            <a:pPr algn="l"/>
            <a:r>
              <a:rPr lang="en-US" sz="2200" dirty="0"/>
              <a:t>2</a:t>
            </a:r>
            <a:r>
              <a:rPr lang="en-US" sz="2200" b="1" dirty="0">
                <a:latin typeface="+mn-lt"/>
              </a:rPr>
              <a:t>) </a:t>
            </a:r>
            <a:r>
              <a:rPr lang="en-US" sz="2700" b="1" dirty="0">
                <a:latin typeface="+mn-lt"/>
              </a:rPr>
              <a:t>Quantitative Risk Analysis and Modeling Techniques</a:t>
            </a:r>
          </a:p>
        </p:txBody>
      </p:sp>
      <p:sp>
        <p:nvSpPr>
          <p:cNvPr id="3" name="Content Placeholder 2"/>
          <p:cNvSpPr>
            <a:spLocks noGrp="1"/>
          </p:cNvSpPr>
          <p:nvPr>
            <p:ph idx="1"/>
          </p:nvPr>
        </p:nvSpPr>
        <p:spPr>
          <a:xfrm>
            <a:off x="457646" y="1988840"/>
            <a:ext cx="7930778" cy="3649133"/>
          </a:xfrm>
        </p:spPr>
        <p:txBody>
          <a:bodyPr>
            <a:normAutofit/>
          </a:bodyPr>
          <a:lstStyle/>
          <a:p>
            <a:pPr>
              <a:lnSpc>
                <a:spcPct val="80000"/>
              </a:lnSpc>
            </a:pPr>
            <a:r>
              <a:rPr lang="en-US" sz="2000" b="1" dirty="0"/>
              <a:t>Decision tree analysis</a:t>
            </a:r>
            <a:r>
              <a:rPr lang="en-US" sz="2000" dirty="0"/>
              <a:t> is usually structured using a decision tree diagram that describes a situation under consideration and the implications of each of the available choices and possible scenarios. </a:t>
            </a:r>
          </a:p>
          <a:p>
            <a:pPr>
              <a:lnSpc>
                <a:spcPct val="80000"/>
              </a:lnSpc>
            </a:pPr>
            <a:r>
              <a:rPr lang="en-US" sz="2000" b="1" dirty="0"/>
              <a:t>Modeling and Simulation.</a:t>
            </a:r>
            <a:r>
              <a:rPr lang="en-US" sz="2000" dirty="0"/>
              <a:t> Here the Monte Carlo technique  is typically used, this iterative process is usually performed by a computer that calculates the outcomes of a set of events with the input of randomized values from a probability distribution function. A probability distribution is calculated.</a:t>
            </a:r>
          </a:p>
          <a:p>
            <a:endParaRPr lang="en-US" sz="2000" dirty="0"/>
          </a:p>
        </p:txBody>
      </p:sp>
      <p:sp>
        <p:nvSpPr>
          <p:cNvPr id="4" name="Oval 3"/>
          <p:cNvSpPr>
            <a:spLocks noChangeArrowheads="1"/>
          </p:cNvSpPr>
          <p:nvPr/>
        </p:nvSpPr>
        <p:spPr bwMode="auto">
          <a:xfrm>
            <a:off x="201704" y="6165304"/>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7" name="Slide Number Placeholder 6"/>
          <p:cNvSpPr>
            <a:spLocks noGrp="1"/>
          </p:cNvSpPr>
          <p:nvPr>
            <p:ph type="sldNum" sz="quarter" idx="12"/>
          </p:nvPr>
        </p:nvSpPr>
        <p:spPr>
          <a:xfrm>
            <a:off x="8248596" y="6236436"/>
            <a:ext cx="417516" cy="377825"/>
          </a:xfrm>
        </p:spPr>
        <p:txBody>
          <a:bodyPr/>
          <a:lstStyle/>
          <a:p>
            <a:pPr>
              <a:defRPr/>
            </a:pPr>
            <a:fld id="{95875DF6-B96D-4E7E-8088-3E962A93B459}" type="slidenum">
              <a:rPr lang="en-US" smtClean="0"/>
              <a:pPr>
                <a:defRPr/>
              </a:pPr>
              <a:t>21</a:t>
            </a:fld>
            <a:endParaRPr lang="en-US" dirty="0"/>
          </a:p>
        </p:txBody>
      </p:sp>
      <p:sp>
        <p:nvSpPr>
          <p:cNvPr id="6" name="Date Placeholder 5">
            <a:extLst>
              <a:ext uri="{FF2B5EF4-FFF2-40B4-BE49-F238E27FC236}">
                <a16:creationId xmlns:a16="http://schemas.microsoft.com/office/drawing/2014/main" id="{0A9EC462-E0BA-462A-86DC-3B4D8941D9B5}"/>
              </a:ext>
            </a:extLst>
          </p:cNvPr>
          <p:cNvSpPr>
            <a:spLocks noGrp="1"/>
          </p:cNvSpPr>
          <p:nvPr>
            <p:ph type="dt" sz="half" idx="10"/>
          </p:nvPr>
        </p:nvSpPr>
        <p:spPr/>
        <p:txBody>
          <a:bodyPr/>
          <a:lstStyle/>
          <a:p>
            <a:pPr>
              <a:defRPr/>
            </a:pPr>
            <a:r>
              <a:rPr lang="en-US"/>
              <a:t>G.R. Labbé</a:t>
            </a:r>
            <a:endParaRPr lang="en-US" dirty="0"/>
          </a:p>
        </p:txBody>
      </p:sp>
    </p:spTree>
    <p:extLst>
      <p:ext uri="{BB962C8B-B14F-4D97-AF65-F5344CB8AC3E}">
        <p14:creationId xmlns:p14="http://schemas.microsoft.com/office/powerpoint/2010/main" val="26238220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579308" y="908720"/>
            <a:ext cx="7506032" cy="1008112"/>
          </a:xfrm>
        </p:spPr>
        <p:txBody>
          <a:bodyPr>
            <a:normAutofit/>
          </a:bodyPr>
          <a:lstStyle/>
          <a:p>
            <a:pPr eaLnBrk="1" fontAlgn="auto" hangingPunct="1">
              <a:spcAft>
                <a:spcPts val="0"/>
              </a:spcAft>
              <a:defRPr/>
            </a:pPr>
            <a:r>
              <a:rPr lang="en-US" sz="2800" b="1" dirty="0">
                <a:solidFill>
                  <a:schemeClr val="tx2">
                    <a:satMod val="130000"/>
                  </a:schemeClr>
                </a:solidFill>
                <a:latin typeface="+mn-lt"/>
              </a:rPr>
              <a:t>Building your summer Cottage</a:t>
            </a:r>
          </a:p>
        </p:txBody>
      </p:sp>
      <p:sp>
        <p:nvSpPr>
          <p:cNvPr id="32771" name="Rectangle 3"/>
          <p:cNvSpPr>
            <a:spLocks noGrp="1" noChangeArrowheads="1"/>
          </p:cNvSpPr>
          <p:nvPr>
            <p:ph idx="1"/>
          </p:nvPr>
        </p:nvSpPr>
        <p:spPr>
          <a:xfrm>
            <a:off x="579308" y="2348880"/>
            <a:ext cx="8092008" cy="2952328"/>
          </a:xfrm>
        </p:spPr>
        <p:txBody>
          <a:bodyPr>
            <a:normAutofit lnSpcReduction="10000"/>
          </a:bodyPr>
          <a:lstStyle/>
          <a:p>
            <a:r>
              <a:rPr lang="en-US" sz="2000" dirty="0"/>
              <a:t>Is it better to buy copper wiring and water piping now, or wait until the</a:t>
            </a:r>
          </a:p>
          <a:p>
            <a:pPr eaLnBrk="1" hangingPunct="1">
              <a:buFontTx/>
              <a:buNone/>
            </a:pPr>
            <a:r>
              <a:rPr lang="en-US" sz="2000" dirty="0"/>
              <a:t>	summer, when it needs to be installed saving the storage cost? </a:t>
            </a:r>
          </a:p>
          <a:p>
            <a:r>
              <a:rPr lang="en-US" sz="2000" dirty="0"/>
              <a:t>A total of 750 lbs of copper have to be purchased. </a:t>
            </a:r>
          </a:p>
          <a:p>
            <a:r>
              <a:rPr lang="en-US" sz="2000" dirty="0"/>
              <a:t>Storage cost is $100.00</a:t>
            </a:r>
          </a:p>
          <a:p>
            <a:r>
              <a:rPr lang="en-US" sz="3600" dirty="0">
                <a:solidFill>
                  <a:schemeClr val="accent5">
                    <a:lumMod val="75000"/>
                  </a:schemeClr>
                </a:solidFill>
              </a:rPr>
              <a:t>What type of risk are we evaluating?</a:t>
            </a:r>
          </a:p>
          <a:p>
            <a:pPr marL="0" indent="0" algn="ctr">
              <a:buNone/>
            </a:pPr>
            <a:r>
              <a:rPr lang="en-US" sz="3600" b="1" dirty="0">
                <a:solidFill>
                  <a:srgbClr val="C00000"/>
                </a:solidFill>
              </a:rPr>
              <a:t>FINANCIAL</a:t>
            </a:r>
          </a:p>
        </p:txBody>
      </p:sp>
      <p:sp>
        <p:nvSpPr>
          <p:cNvPr id="4" name="Slide Number Placeholder 3"/>
          <p:cNvSpPr>
            <a:spLocks noGrp="1"/>
          </p:cNvSpPr>
          <p:nvPr>
            <p:ph type="sldNum" sz="quarter" idx="12"/>
          </p:nvPr>
        </p:nvSpPr>
        <p:spPr>
          <a:xfrm>
            <a:off x="8288307" y="6248401"/>
            <a:ext cx="417516" cy="377825"/>
          </a:xfrm>
        </p:spPr>
        <p:txBody>
          <a:bodyPr/>
          <a:lstStyle/>
          <a:p>
            <a:pPr>
              <a:defRPr/>
            </a:pPr>
            <a:fld id="{95875DF6-B96D-4E7E-8088-3E962A93B459}" type="slidenum">
              <a:rPr lang="en-US" smtClean="0"/>
              <a:pPr>
                <a:defRPr/>
              </a:pPr>
              <a:t>22</a:t>
            </a:fld>
            <a:endParaRPr lang="en-US" dirty="0"/>
          </a:p>
        </p:txBody>
      </p:sp>
      <p:sp>
        <p:nvSpPr>
          <p:cNvPr id="3" name="Date Placeholder 2">
            <a:extLst>
              <a:ext uri="{FF2B5EF4-FFF2-40B4-BE49-F238E27FC236}">
                <a16:creationId xmlns:a16="http://schemas.microsoft.com/office/drawing/2014/main" id="{9E939506-B4AB-42AE-B446-2D107992D672}"/>
              </a:ext>
            </a:extLst>
          </p:cNvPr>
          <p:cNvSpPr>
            <a:spLocks noGrp="1"/>
          </p:cNvSpPr>
          <p:nvPr>
            <p:ph type="dt" sz="half" idx="10"/>
          </p:nvPr>
        </p:nvSpPr>
        <p:spPr/>
        <p:txBody>
          <a:bodyPr/>
          <a:lstStyle/>
          <a:p>
            <a:pPr>
              <a:defRPr/>
            </a:pPr>
            <a:r>
              <a:rPr lang="en-US"/>
              <a:t>G.R. Labbé</a:t>
            </a:r>
            <a:endParaRPr lang="en-US" dirty="0"/>
          </a:p>
        </p:txBody>
      </p:sp>
    </p:spTree>
    <p:extLst>
      <p:ext uri="{BB962C8B-B14F-4D97-AF65-F5344CB8AC3E}">
        <p14:creationId xmlns:p14="http://schemas.microsoft.com/office/powerpoint/2010/main" val="301982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2771">
                                            <p:txEl>
                                              <p:pRg st="5" end="5"/>
                                            </p:txEl>
                                          </p:spTgt>
                                        </p:tgtEl>
                                        <p:attrNameLst>
                                          <p:attrName>style.visibility</p:attrName>
                                        </p:attrNameLst>
                                      </p:cBhvr>
                                      <p:to>
                                        <p:strVal val="visible"/>
                                      </p:to>
                                    </p:set>
                                    <p:anim calcmode="lin" valueType="num">
                                      <p:cBhvr>
                                        <p:cTn id="7" dur="1000" fill="hold"/>
                                        <p:tgtEl>
                                          <p:spTgt spid="32771">
                                            <p:txEl>
                                              <p:pRg st="5" end="5"/>
                                            </p:txEl>
                                          </p:spTgt>
                                        </p:tgtEl>
                                        <p:attrNameLst>
                                          <p:attrName>ppt_w</p:attrName>
                                        </p:attrNameLst>
                                      </p:cBhvr>
                                      <p:tavLst>
                                        <p:tav tm="0">
                                          <p:val>
                                            <p:fltVal val="0"/>
                                          </p:val>
                                        </p:tav>
                                        <p:tav tm="100000">
                                          <p:val>
                                            <p:strVal val="#ppt_w"/>
                                          </p:val>
                                        </p:tav>
                                      </p:tavLst>
                                    </p:anim>
                                    <p:anim calcmode="lin" valueType="num">
                                      <p:cBhvr>
                                        <p:cTn id="8" dur="1000" fill="hold"/>
                                        <p:tgtEl>
                                          <p:spTgt spid="32771">
                                            <p:txEl>
                                              <p:pRg st="5" end="5"/>
                                            </p:txEl>
                                          </p:spTgt>
                                        </p:tgtEl>
                                        <p:attrNameLst>
                                          <p:attrName>ppt_h</p:attrName>
                                        </p:attrNameLst>
                                      </p:cBhvr>
                                      <p:tavLst>
                                        <p:tav tm="0">
                                          <p:val>
                                            <p:fltVal val="0"/>
                                          </p:val>
                                        </p:tav>
                                        <p:tav tm="100000">
                                          <p:val>
                                            <p:strVal val="#ppt_h"/>
                                          </p:val>
                                        </p:tav>
                                      </p:tavLst>
                                    </p:anim>
                                    <p:anim calcmode="lin" valueType="num">
                                      <p:cBhvr>
                                        <p:cTn id="9" dur="1000" fill="hold"/>
                                        <p:tgtEl>
                                          <p:spTgt spid="32771">
                                            <p:txEl>
                                              <p:pRg st="5" end="5"/>
                                            </p:txEl>
                                          </p:spTgt>
                                        </p:tgtEl>
                                        <p:attrNameLst>
                                          <p:attrName>style.rotation</p:attrName>
                                        </p:attrNameLst>
                                      </p:cBhvr>
                                      <p:tavLst>
                                        <p:tav tm="0">
                                          <p:val>
                                            <p:fltVal val="90"/>
                                          </p:val>
                                        </p:tav>
                                        <p:tav tm="100000">
                                          <p:val>
                                            <p:fltVal val="0"/>
                                          </p:val>
                                        </p:tav>
                                      </p:tavLst>
                                    </p:anim>
                                    <p:animEffect transition="in" filter="fade">
                                      <p:cBhvr>
                                        <p:cTn id="10" dur="1000"/>
                                        <p:tgtEl>
                                          <p:spTgt spid="327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683568" y="1196752"/>
            <a:ext cx="6377940" cy="432379"/>
          </a:xfrm>
        </p:spPr>
        <p:txBody>
          <a:bodyPr>
            <a:noAutofit/>
          </a:bodyPr>
          <a:lstStyle/>
          <a:p>
            <a:pPr algn="l" eaLnBrk="1" fontAlgn="auto" hangingPunct="1">
              <a:spcAft>
                <a:spcPts val="0"/>
              </a:spcAft>
              <a:defRPr/>
            </a:pPr>
            <a:r>
              <a:rPr lang="en-US" b="1" dirty="0">
                <a:solidFill>
                  <a:schemeClr val="tx2">
                    <a:satMod val="130000"/>
                  </a:schemeClr>
                </a:solidFill>
                <a:latin typeface="+mn-lt"/>
              </a:rPr>
              <a:t>Assumptions</a:t>
            </a:r>
          </a:p>
        </p:txBody>
      </p:sp>
      <p:sp>
        <p:nvSpPr>
          <p:cNvPr id="34819" name="Rectangle 3"/>
          <p:cNvSpPr>
            <a:spLocks noGrp="1" noChangeArrowheads="1"/>
          </p:cNvSpPr>
          <p:nvPr>
            <p:ph idx="1"/>
          </p:nvPr>
        </p:nvSpPr>
        <p:spPr>
          <a:xfrm>
            <a:off x="683568" y="2221443"/>
            <a:ext cx="6984501" cy="3649133"/>
          </a:xfrm>
        </p:spPr>
        <p:txBody>
          <a:bodyPr>
            <a:normAutofit/>
          </a:bodyPr>
          <a:lstStyle/>
          <a:p>
            <a:pPr eaLnBrk="1" hangingPunct="1"/>
            <a:r>
              <a:rPr lang="en-US" sz="2000" dirty="0"/>
              <a:t>Copper will cost $5.58 / lb in the summer, 90% guaranteed.</a:t>
            </a:r>
          </a:p>
          <a:p>
            <a:pPr eaLnBrk="1" hangingPunct="1"/>
            <a:r>
              <a:rPr lang="en-US" sz="2000" dirty="0"/>
              <a:t>Copper will cost $4.50 / lb in the summer, 10% probability</a:t>
            </a:r>
          </a:p>
          <a:p>
            <a:pPr eaLnBrk="1" hangingPunct="1"/>
            <a:r>
              <a:rPr lang="en-US" sz="2000" dirty="0"/>
              <a:t>Storage cost for the timeframe: $100.00</a:t>
            </a:r>
          </a:p>
          <a:p>
            <a:pPr eaLnBrk="1" hangingPunct="1"/>
            <a:endParaRPr lang="en-US" sz="2000" dirty="0"/>
          </a:p>
          <a:p>
            <a:pPr eaLnBrk="1" hangingPunct="1"/>
            <a:r>
              <a:rPr lang="en-US" sz="3600" dirty="0">
                <a:solidFill>
                  <a:schemeClr val="accent5">
                    <a:lumMod val="75000"/>
                  </a:schemeClr>
                </a:solidFill>
              </a:rPr>
              <a:t>Buy now or buy later?</a:t>
            </a:r>
          </a:p>
        </p:txBody>
      </p:sp>
      <p:sp>
        <p:nvSpPr>
          <p:cNvPr id="4" name="Slide Number Placeholder 3"/>
          <p:cNvSpPr>
            <a:spLocks noGrp="1"/>
          </p:cNvSpPr>
          <p:nvPr>
            <p:ph type="sldNum" sz="quarter" idx="12"/>
          </p:nvPr>
        </p:nvSpPr>
        <p:spPr>
          <a:xfrm>
            <a:off x="8229601" y="6273975"/>
            <a:ext cx="417516" cy="377825"/>
          </a:xfrm>
        </p:spPr>
        <p:txBody>
          <a:bodyPr/>
          <a:lstStyle/>
          <a:p>
            <a:pPr>
              <a:defRPr/>
            </a:pPr>
            <a:fld id="{95875DF6-B96D-4E7E-8088-3E962A93B459}" type="slidenum">
              <a:rPr lang="en-US" smtClean="0"/>
              <a:pPr>
                <a:defRPr/>
              </a:pPr>
              <a:t>23</a:t>
            </a:fld>
            <a:endParaRPr lang="en-US" dirty="0"/>
          </a:p>
        </p:txBody>
      </p:sp>
      <p:sp>
        <p:nvSpPr>
          <p:cNvPr id="3" name="Date Placeholder 2">
            <a:extLst>
              <a:ext uri="{FF2B5EF4-FFF2-40B4-BE49-F238E27FC236}">
                <a16:creationId xmlns:a16="http://schemas.microsoft.com/office/drawing/2014/main" id="{A0D77921-6173-4A27-8760-42BECF08D04B}"/>
              </a:ext>
            </a:extLst>
          </p:cNvPr>
          <p:cNvSpPr>
            <a:spLocks noGrp="1"/>
          </p:cNvSpPr>
          <p:nvPr>
            <p:ph type="dt" sz="half" idx="10"/>
          </p:nvPr>
        </p:nvSpPr>
        <p:spPr/>
        <p:txBody>
          <a:bodyPr/>
          <a:lstStyle/>
          <a:p>
            <a:pPr>
              <a:defRPr/>
            </a:pPr>
            <a:r>
              <a:rPr lang="en-US"/>
              <a:t>G.R. Labbé</a:t>
            </a:r>
            <a:endParaRPr lang="en-US" dirty="0"/>
          </a:p>
        </p:txBody>
      </p:sp>
    </p:spTree>
    <p:extLst>
      <p:ext uri="{BB962C8B-B14F-4D97-AF65-F5344CB8AC3E}">
        <p14:creationId xmlns:p14="http://schemas.microsoft.com/office/powerpoint/2010/main" val="28425028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4"/>
          <p:cNvSpPr txBox="1">
            <a:spLocks noChangeArrowheads="1"/>
          </p:cNvSpPr>
          <p:nvPr/>
        </p:nvSpPr>
        <p:spPr bwMode="auto">
          <a:xfrm>
            <a:off x="179388" y="3484563"/>
            <a:ext cx="1235075" cy="650875"/>
          </a:xfrm>
          <a:prstGeom prst="rect">
            <a:avLst/>
          </a:prstGeom>
          <a:noFill/>
          <a:ln w="9525">
            <a:solidFill>
              <a:schemeClr val="tx1"/>
            </a:solidFill>
            <a:miter lim="800000"/>
            <a:headEnd/>
            <a:tailEnd/>
          </a:ln>
        </p:spPr>
        <p:txBody>
          <a:bodyPr>
            <a:spAutoFit/>
          </a:bodyPr>
          <a:lstStyle/>
          <a:p>
            <a:pPr>
              <a:spcBef>
                <a:spcPct val="50000"/>
              </a:spcBef>
            </a:pPr>
            <a:r>
              <a:rPr lang="en-US" dirty="0"/>
              <a:t>Buy now or later?</a:t>
            </a:r>
          </a:p>
        </p:txBody>
      </p:sp>
      <p:sp>
        <p:nvSpPr>
          <p:cNvPr id="35843" name="Text Box 5"/>
          <p:cNvSpPr txBox="1">
            <a:spLocks noChangeArrowheads="1"/>
          </p:cNvSpPr>
          <p:nvPr/>
        </p:nvSpPr>
        <p:spPr bwMode="auto">
          <a:xfrm>
            <a:off x="2047875" y="2611438"/>
            <a:ext cx="1235075" cy="376237"/>
          </a:xfrm>
          <a:prstGeom prst="rect">
            <a:avLst/>
          </a:prstGeom>
          <a:noFill/>
          <a:ln w="9525">
            <a:solidFill>
              <a:schemeClr val="tx1"/>
            </a:solidFill>
            <a:miter lim="800000"/>
            <a:headEnd/>
            <a:tailEnd/>
          </a:ln>
        </p:spPr>
        <p:txBody>
          <a:bodyPr>
            <a:spAutoFit/>
          </a:bodyPr>
          <a:lstStyle/>
          <a:p>
            <a:pPr>
              <a:spcBef>
                <a:spcPct val="50000"/>
              </a:spcBef>
            </a:pPr>
            <a:r>
              <a:rPr lang="en-US" dirty="0"/>
              <a:t>Buy later</a:t>
            </a:r>
          </a:p>
        </p:txBody>
      </p:sp>
      <p:sp>
        <p:nvSpPr>
          <p:cNvPr id="35844" name="Text Box 6"/>
          <p:cNvSpPr txBox="1">
            <a:spLocks noChangeArrowheads="1"/>
          </p:cNvSpPr>
          <p:nvPr/>
        </p:nvSpPr>
        <p:spPr bwMode="auto">
          <a:xfrm>
            <a:off x="2076450" y="4756150"/>
            <a:ext cx="1235075" cy="376238"/>
          </a:xfrm>
          <a:prstGeom prst="rect">
            <a:avLst/>
          </a:prstGeom>
          <a:noFill/>
          <a:ln w="9525">
            <a:solidFill>
              <a:schemeClr val="tx1"/>
            </a:solidFill>
            <a:miter lim="800000"/>
            <a:headEnd/>
            <a:tailEnd/>
          </a:ln>
        </p:spPr>
        <p:txBody>
          <a:bodyPr>
            <a:spAutoFit/>
          </a:bodyPr>
          <a:lstStyle/>
          <a:p>
            <a:pPr>
              <a:spcBef>
                <a:spcPct val="50000"/>
              </a:spcBef>
            </a:pPr>
            <a:r>
              <a:rPr lang="en-US" dirty="0"/>
              <a:t>Buy now</a:t>
            </a:r>
          </a:p>
        </p:txBody>
      </p:sp>
      <p:sp>
        <p:nvSpPr>
          <p:cNvPr id="35845" name="Text Box 9"/>
          <p:cNvSpPr txBox="1">
            <a:spLocks noChangeArrowheads="1"/>
          </p:cNvSpPr>
          <p:nvPr/>
        </p:nvSpPr>
        <p:spPr bwMode="auto">
          <a:xfrm>
            <a:off x="3851275" y="1968500"/>
            <a:ext cx="1657350" cy="314325"/>
          </a:xfrm>
          <a:prstGeom prst="rect">
            <a:avLst/>
          </a:prstGeom>
          <a:noFill/>
          <a:ln w="9525">
            <a:solidFill>
              <a:schemeClr val="tx1"/>
            </a:solidFill>
            <a:miter lim="800000"/>
            <a:headEnd/>
            <a:tailEnd/>
          </a:ln>
        </p:spPr>
        <p:txBody>
          <a:bodyPr>
            <a:spAutoFit/>
          </a:bodyPr>
          <a:lstStyle/>
          <a:p>
            <a:pPr>
              <a:spcBef>
                <a:spcPct val="50000"/>
              </a:spcBef>
            </a:pPr>
            <a:r>
              <a:rPr lang="en-US" sz="1400" dirty="0"/>
              <a:t>High Copper Price</a:t>
            </a:r>
          </a:p>
        </p:txBody>
      </p:sp>
      <p:sp>
        <p:nvSpPr>
          <p:cNvPr id="35846" name="Text Box 10"/>
          <p:cNvSpPr txBox="1">
            <a:spLocks noChangeArrowheads="1"/>
          </p:cNvSpPr>
          <p:nvPr/>
        </p:nvSpPr>
        <p:spPr bwMode="auto">
          <a:xfrm>
            <a:off x="3895725" y="3049588"/>
            <a:ext cx="1800225" cy="314325"/>
          </a:xfrm>
          <a:prstGeom prst="rect">
            <a:avLst/>
          </a:prstGeom>
          <a:noFill/>
          <a:ln w="9525">
            <a:solidFill>
              <a:schemeClr val="tx1"/>
            </a:solidFill>
            <a:miter lim="800000"/>
            <a:headEnd/>
            <a:tailEnd/>
          </a:ln>
        </p:spPr>
        <p:txBody>
          <a:bodyPr>
            <a:spAutoFit/>
          </a:bodyPr>
          <a:lstStyle/>
          <a:p>
            <a:pPr>
              <a:spcBef>
                <a:spcPct val="50000"/>
              </a:spcBef>
            </a:pPr>
            <a:r>
              <a:rPr lang="en-US" sz="1400" dirty="0"/>
              <a:t>Low Copper Price</a:t>
            </a:r>
          </a:p>
        </p:txBody>
      </p:sp>
      <p:sp>
        <p:nvSpPr>
          <p:cNvPr id="35847" name="Rectangle 13"/>
          <p:cNvSpPr>
            <a:spLocks noChangeArrowheads="1"/>
          </p:cNvSpPr>
          <p:nvPr/>
        </p:nvSpPr>
        <p:spPr bwMode="auto">
          <a:xfrm>
            <a:off x="1539875" y="3763963"/>
            <a:ext cx="215900" cy="109537"/>
          </a:xfrm>
          <a:prstGeom prst="rect">
            <a:avLst/>
          </a:prstGeom>
          <a:solidFill>
            <a:schemeClr val="accent1"/>
          </a:solidFill>
          <a:ln w="9525">
            <a:solidFill>
              <a:schemeClr val="tx1"/>
            </a:solidFill>
            <a:miter lim="800000"/>
            <a:headEnd/>
            <a:tailEnd/>
          </a:ln>
        </p:spPr>
        <p:txBody>
          <a:bodyPr wrap="none" anchor="ctr"/>
          <a:lstStyle/>
          <a:p>
            <a:endParaRPr lang="en-US" dirty="0"/>
          </a:p>
        </p:txBody>
      </p:sp>
      <p:sp>
        <p:nvSpPr>
          <p:cNvPr id="35848" name="Oval 14"/>
          <p:cNvSpPr>
            <a:spLocks noChangeArrowheads="1"/>
          </p:cNvSpPr>
          <p:nvPr/>
        </p:nvSpPr>
        <p:spPr bwMode="auto">
          <a:xfrm>
            <a:off x="3486150" y="2692400"/>
            <a:ext cx="217488" cy="215900"/>
          </a:xfrm>
          <a:prstGeom prst="ellipse">
            <a:avLst/>
          </a:prstGeom>
          <a:solidFill>
            <a:schemeClr val="accent1"/>
          </a:solidFill>
          <a:ln w="9525">
            <a:solidFill>
              <a:schemeClr val="tx1"/>
            </a:solidFill>
            <a:round/>
            <a:headEnd/>
            <a:tailEnd/>
          </a:ln>
        </p:spPr>
        <p:txBody>
          <a:bodyPr wrap="none" anchor="ctr"/>
          <a:lstStyle/>
          <a:p>
            <a:endParaRPr lang="en-US" dirty="0"/>
          </a:p>
        </p:txBody>
      </p:sp>
      <p:cxnSp>
        <p:nvCxnSpPr>
          <p:cNvPr id="35849" name="AutoShape 16"/>
          <p:cNvCxnSpPr>
            <a:cxnSpLocks noChangeShapeType="1"/>
            <a:stCxn id="35842" idx="3"/>
            <a:endCxn id="35847" idx="1"/>
          </p:cNvCxnSpPr>
          <p:nvPr/>
        </p:nvCxnSpPr>
        <p:spPr bwMode="auto">
          <a:xfrm>
            <a:off x="1414463" y="3810000"/>
            <a:ext cx="125412" cy="9525"/>
          </a:xfrm>
          <a:prstGeom prst="bentConnector3">
            <a:avLst>
              <a:gd name="adj1" fmla="val 49366"/>
            </a:avLst>
          </a:prstGeom>
          <a:noFill/>
          <a:ln w="9525">
            <a:solidFill>
              <a:schemeClr val="tx1"/>
            </a:solidFill>
            <a:miter lim="800000"/>
            <a:headEnd/>
            <a:tailEnd/>
          </a:ln>
        </p:spPr>
      </p:cxnSp>
      <p:cxnSp>
        <p:nvCxnSpPr>
          <p:cNvPr id="35850" name="AutoShape 17"/>
          <p:cNvCxnSpPr>
            <a:cxnSpLocks noChangeShapeType="1"/>
            <a:stCxn id="35847" idx="3"/>
            <a:endCxn id="35843" idx="1"/>
          </p:cNvCxnSpPr>
          <p:nvPr/>
        </p:nvCxnSpPr>
        <p:spPr bwMode="auto">
          <a:xfrm flipV="1">
            <a:off x="1755775" y="2800350"/>
            <a:ext cx="292100" cy="1019175"/>
          </a:xfrm>
          <a:prstGeom prst="bentConnector3">
            <a:avLst>
              <a:gd name="adj1" fmla="val 50000"/>
            </a:avLst>
          </a:prstGeom>
          <a:noFill/>
          <a:ln w="9525">
            <a:solidFill>
              <a:schemeClr val="tx1"/>
            </a:solidFill>
            <a:miter lim="800000"/>
            <a:headEnd/>
            <a:tailEnd/>
          </a:ln>
        </p:spPr>
      </p:cxnSp>
      <p:cxnSp>
        <p:nvCxnSpPr>
          <p:cNvPr id="35851" name="AutoShape 18"/>
          <p:cNvCxnSpPr>
            <a:cxnSpLocks noChangeShapeType="1"/>
            <a:stCxn id="35847" idx="3"/>
            <a:endCxn id="35844" idx="1"/>
          </p:cNvCxnSpPr>
          <p:nvPr/>
        </p:nvCxnSpPr>
        <p:spPr bwMode="auto">
          <a:xfrm>
            <a:off x="1755775" y="3819525"/>
            <a:ext cx="320675" cy="1125538"/>
          </a:xfrm>
          <a:prstGeom prst="bentConnector3">
            <a:avLst>
              <a:gd name="adj1" fmla="val 50000"/>
            </a:avLst>
          </a:prstGeom>
          <a:noFill/>
          <a:ln w="9525">
            <a:solidFill>
              <a:schemeClr val="tx1"/>
            </a:solidFill>
            <a:miter lim="800000"/>
            <a:headEnd/>
            <a:tailEnd/>
          </a:ln>
        </p:spPr>
      </p:cxnSp>
      <p:cxnSp>
        <p:nvCxnSpPr>
          <p:cNvPr id="35852" name="AutoShape 19"/>
          <p:cNvCxnSpPr>
            <a:cxnSpLocks noChangeShapeType="1"/>
            <a:stCxn id="35843" idx="3"/>
            <a:endCxn id="35848" idx="2"/>
          </p:cNvCxnSpPr>
          <p:nvPr/>
        </p:nvCxnSpPr>
        <p:spPr bwMode="auto">
          <a:xfrm>
            <a:off x="3282950" y="2800350"/>
            <a:ext cx="203200" cy="0"/>
          </a:xfrm>
          <a:prstGeom prst="straightConnector1">
            <a:avLst/>
          </a:prstGeom>
          <a:noFill/>
          <a:ln w="9525">
            <a:solidFill>
              <a:schemeClr val="tx1"/>
            </a:solidFill>
            <a:round/>
            <a:headEnd/>
            <a:tailEnd/>
          </a:ln>
        </p:spPr>
      </p:cxnSp>
      <p:cxnSp>
        <p:nvCxnSpPr>
          <p:cNvPr id="35853" name="AutoShape 20"/>
          <p:cNvCxnSpPr>
            <a:cxnSpLocks noChangeShapeType="1"/>
            <a:stCxn id="35848" idx="7"/>
            <a:endCxn id="35845" idx="1"/>
          </p:cNvCxnSpPr>
          <p:nvPr/>
        </p:nvCxnSpPr>
        <p:spPr bwMode="auto">
          <a:xfrm rot="-5400000">
            <a:off x="3462338" y="2335213"/>
            <a:ext cx="598487" cy="179387"/>
          </a:xfrm>
          <a:prstGeom prst="bentConnector2">
            <a:avLst/>
          </a:prstGeom>
          <a:noFill/>
          <a:ln w="9525">
            <a:solidFill>
              <a:schemeClr val="tx1"/>
            </a:solidFill>
            <a:miter lim="800000"/>
            <a:headEnd/>
            <a:tailEnd/>
          </a:ln>
        </p:spPr>
      </p:cxnSp>
      <p:cxnSp>
        <p:nvCxnSpPr>
          <p:cNvPr id="35854" name="AutoShape 21"/>
          <p:cNvCxnSpPr>
            <a:cxnSpLocks noChangeShapeType="1"/>
            <a:stCxn id="35848" idx="5"/>
            <a:endCxn id="35846" idx="1"/>
          </p:cNvCxnSpPr>
          <p:nvPr/>
        </p:nvCxnSpPr>
        <p:spPr bwMode="auto">
          <a:xfrm rot="16200000" flipH="1">
            <a:off x="3618707" y="2929731"/>
            <a:ext cx="330200" cy="223837"/>
          </a:xfrm>
          <a:prstGeom prst="bentConnector2">
            <a:avLst/>
          </a:prstGeom>
          <a:noFill/>
          <a:ln w="9525">
            <a:solidFill>
              <a:schemeClr val="tx1"/>
            </a:solidFill>
            <a:miter lim="800000"/>
            <a:headEnd/>
            <a:tailEnd/>
          </a:ln>
        </p:spPr>
      </p:cxnSp>
      <p:cxnSp>
        <p:nvCxnSpPr>
          <p:cNvPr id="35855" name="AutoShape 22"/>
          <p:cNvCxnSpPr>
            <a:cxnSpLocks noChangeShapeType="1"/>
            <a:stCxn id="35844" idx="3"/>
            <a:endCxn id="35867" idx="0"/>
          </p:cNvCxnSpPr>
          <p:nvPr/>
        </p:nvCxnSpPr>
        <p:spPr bwMode="auto">
          <a:xfrm>
            <a:off x="3311525" y="4945063"/>
            <a:ext cx="947738" cy="4762"/>
          </a:xfrm>
          <a:prstGeom prst="bentConnector3">
            <a:avLst>
              <a:gd name="adj1" fmla="val 49412"/>
            </a:avLst>
          </a:prstGeom>
          <a:noFill/>
          <a:ln w="9525">
            <a:solidFill>
              <a:schemeClr val="tx1"/>
            </a:solidFill>
            <a:miter lim="800000"/>
            <a:headEnd/>
            <a:tailEnd/>
          </a:ln>
        </p:spPr>
      </p:cxnSp>
      <p:sp>
        <p:nvSpPr>
          <p:cNvPr id="35856" name="AutoShape 25"/>
          <p:cNvSpPr>
            <a:spLocks noChangeArrowheads="1"/>
          </p:cNvSpPr>
          <p:nvPr/>
        </p:nvSpPr>
        <p:spPr bwMode="auto">
          <a:xfrm rot="-5542526">
            <a:off x="6165150" y="1833561"/>
            <a:ext cx="360362" cy="538163"/>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en-US" dirty="0"/>
          </a:p>
        </p:txBody>
      </p:sp>
      <p:sp>
        <p:nvSpPr>
          <p:cNvPr id="35857" name="AutoShape 26"/>
          <p:cNvSpPr>
            <a:spLocks noChangeArrowheads="1"/>
          </p:cNvSpPr>
          <p:nvPr/>
        </p:nvSpPr>
        <p:spPr bwMode="auto">
          <a:xfrm rot="-5542526">
            <a:off x="6156325" y="2936875"/>
            <a:ext cx="360363" cy="538163"/>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en-US" dirty="0"/>
          </a:p>
        </p:txBody>
      </p:sp>
      <p:cxnSp>
        <p:nvCxnSpPr>
          <p:cNvPr id="35858" name="AutoShape 29"/>
          <p:cNvCxnSpPr>
            <a:cxnSpLocks noChangeShapeType="1"/>
            <a:stCxn id="35845" idx="3"/>
            <a:endCxn id="35856" idx="0"/>
          </p:cNvCxnSpPr>
          <p:nvPr/>
        </p:nvCxnSpPr>
        <p:spPr bwMode="auto">
          <a:xfrm flipV="1">
            <a:off x="5508625" y="2113795"/>
            <a:ext cx="567856" cy="11868"/>
          </a:xfrm>
          <a:prstGeom prst="straightConnector1">
            <a:avLst/>
          </a:prstGeom>
          <a:noFill/>
          <a:ln w="9525">
            <a:solidFill>
              <a:schemeClr val="tx1"/>
            </a:solidFill>
            <a:round/>
            <a:headEnd/>
            <a:tailEnd/>
          </a:ln>
        </p:spPr>
      </p:cxnSp>
      <p:cxnSp>
        <p:nvCxnSpPr>
          <p:cNvPr id="35859" name="AutoShape 30"/>
          <p:cNvCxnSpPr>
            <a:cxnSpLocks noChangeShapeType="1"/>
            <a:stCxn id="35846" idx="3"/>
            <a:endCxn id="35857" idx="0"/>
          </p:cNvCxnSpPr>
          <p:nvPr/>
        </p:nvCxnSpPr>
        <p:spPr bwMode="auto">
          <a:xfrm>
            <a:off x="5695950" y="3206750"/>
            <a:ext cx="373063" cy="12700"/>
          </a:xfrm>
          <a:prstGeom prst="straightConnector1">
            <a:avLst/>
          </a:prstGeom>
          <a:noFill/>
          <a:ln w="9525">
            <a:solidFill>
              <a:schemeClr val="tx1"/>
            </a:solidFill>
            <a:round/>
            <a:headEnd/>
            <a:tailEnd/>
          </a:ln>
        </p:spPr>
      </p:cxnSp>
      <p:sp>
        <p:nvSpPr>
          <p:cNvPr id="35860" name="Text Box 33"/>
          <p:cNvSpPr txBox="1">
            <a:spLocks noChangeArrowheads="1"/>
          </p:cNvSpPr>
          <p:nvPr/>
        </p:nvSpPr>
        <p:spPr bwMode="auto">
          <a:xfrm>
            <a:off x="5554663" y="1700213"/>
            <a:ext cx="641350" cy="366712"/>
          </a:xfrm>
          <a:prstGeom prst="rect">
            <a:avLst/>
          </a:prstGeom>
          <a:noFill/>
          <a:ln w="9525">
            <a:noFill/>
            <a:miter lim="800000"/>
            <a:headEnd/>
            <a:tailEnd/>
          </a:ln>
        </p:spPr>
        <p:txBody>
          <a:bodyPr wrap="none">
            <a:spAutoFit/>
          </a:bodyPr>
          <a:lstStyle/>
          <a:p>
            <a:r>
              <a:rPr lang="en-US" dirty="0"/>
              <a:t>90%</a:t>
            </a:r>
          </a:p>
        </p:txBody>
      </p:sp>
      <p:sp>
        <p:nvSpPr>
          <p:cNvPr id="35861" name="Text Box 34"/>
          <p:cNvSpPr txBox="1">
            <a:spLocks noChangeArrowheads="1"/>
          </p:cNvSpPr>
          <p:nvPr/>
        </p:nvSpPr>
        <p:spPr bwMode="auto">
          <a:xfrm>
            <a:off x="5695950" y="2800350"/>
            <a:ext cx="641350" cy="366713"/>
          </a:xfrm>
          <a:prstGeom prst="rect">
            <a:avLst/>
          </a:prstGeom>
          <a:noFill/>
          <a:ln w="9525">
            <a:noFill/>
            <a:miter lim="800000"/>
            <a:headEnd/>
            <a:tailEnd/>
          </a:ln>
        </p:spPr>
        <p:txBody>
          <a:bodyPr wrap="none">
            <a:spAutoFit/>
          </a:bodyPr>
          <a:lstStyle/>
          <a:p>
            <a:r>
              <a:rPr lang="en-US" dirty="0"/>
              <a:t>10%</a:t>
            </a:r>
          </a:p>
        </p:txBody>
      </p:sp>
      <p:sp>
        <p:nvSpPr>
          <p:cNvPr id="35862" name="Text Box 41"/>
          <p:cNvSpPr txBox="1">
            <a:spLocks noChangeArrowheads="1"/>
          </p:cNvSpPr>
          <p:nvPr/>
        </p:nvSpPr>
        <p:spPr bwMode="auto">
          <a:xfrm>
            <a:off x="3851275" y="2289175"/>
            <a:ext cx="2081213" cy="276999"/>
          </a:xfrm>
          <a:prstGeom prst="rect">
            <a:avLst/>
          </a:prstGeom>
          <a:noFill/>
          <a:ln w="9525">
            <a:noFill/>
            <a:miter lim="800000"/>
            <a:headEnd/>
            <a:tailEnd/>
          </a:ln>
        </p:spPr>
        <p:txBody>
          <a:bodyPr>
            <a:spAutoFit/>
          </a:bodyPr>
          <a:lstStyle/>
          <a:p>
            <a:r>
              <a:rPr lang="en-US" sz="1200" dirty="0"/>
              <a:t>$5.58/lbx750lb=$4185.00</a:t>
            </a:r>
          </a:p>
        </p:txBody>
      </p:sp>
      <p:sp>
        <p:nvSpPr>
          <p:cNvPr id="35863" name="Text Box 62"/>
          <p:cNvSpPr txBox="1">
            <a:spLocks noChangeArrowheads="1"/>
          </p:cNvSpPr>
          <p:nvPr/>
        </p:nvSpPr>
        <p:spPr bwMode="auto">
          <a:xfrm>
            <a:off x="356761" y="5665058"/>
            <a:ext cx="8955087" cy="338554"/>
          </a:xfrm>
          <a:prstGeom prst="rect">
            <a:avLst/>
          </a:prstGeom>
          <a:noFill/>
          <a:ln w="9525">
            <a:noFill/>
            <a:miter lim="800000"/>
            <a:headEnd/>
            <a:tailEnd/>
          </a:ln>
        </p:spPr>
        <p:txBody>
          <a:bodyPr>
            <a:spAutoFit/>
          </a:bodyPr>
          <a:lstStyle/>
          <a:p>
            <a:r>
              <a:rPr lang="en-US" sz="1600" dirty="0">
                <a:solidFill>
                  <a:srgbClr val="FF0000"/>
                </a:solidFill>
                <a:highlight>
                  <a:srgbClr val="FFFF00"/>
                </a:highlight>
                <a:latin typeface="+mn-lt"/>
              </a:rPr>
              <a:t>With these assumptions it is better to buy the wiring and piping later</a:t>
            </a:r>
          </a:p>
        </p:txBody>
      </p:sp>
      <p:sp>
        <p:nvSpPr>
          <p:cNvPr id="35864" name="Text Box 63"/>
          <p:cNvSpPr txBox="1">
            <a:spLocks noChangeArrowheads="1"/>
          </p:cNvSpPr>
          <p:nvPr/>
        </p:nvSpPr>
        <p:spPr bwMode="auto">
          <a:xfrm>
            <a:off x="3875088" y="3363913"/>
            <a:ext cx="2185100" cy="274637"/>
          </a:xfrm>
          <a:prstGeom prst="rect">
            <a:avLst/>
          </a:prstGeom>
          <a:noFill/>
          <a:ln w="9525">
            <a:noFill/>
            <a:miter lim="800000"/>
            <a:headEnd/>
            <a:tailEnd/>
          </a:ln>
        </p:spPr>
        <p:txBody>
          <a:bodyPr wrap="square">
            <a:spAutoFit/>
          </a:bodyPr>
          <a:lstStyle/>
          <a:p>
            <a:r>
              <a:rPr lang="en-US" sz="1200" dirty="0"/>
              <a:t>$4.50/lbx750lb=$3375.00</a:t>
            </a:r>
          </a:p>
        </p:txBody>
      </p:sp>
      <p:sp>
        <p:nvSpPr>
          <p:cNvPr id="35865" name="Text Box 64"/>
          <p:cNvSpPr txBox="1">
            <a:spLocks noChangeArrowheads="1"/>
          </p:cNvSpPr>
          <p:nvPr/>
        </p:nvSpPr>
        <p:spPr bwMode="auto">
          <a:xfrm>
            <a:off x="2076450" y="5132388"/>
            <a:ext cx="3619500" cy="274637"/>
          </a:xfrm>
          <a:prstGeom prst="rect">
            <a:avLst/>
          </a:prstGeom>
          <a:noFill/>
          <a:ln w="9525">
            <a:noFill/>
            <a:miter lim="800000"/>
            <a:headEnd/>
            <a:tailEnd/>
          </a:ln>
        </p:spPr>
        <p:txBody>
          <a:bodyPr wrap="square">
            <a:spAutoFit/>
          </a:bodyPr>
          <a:lstStyle/>
          <a:p>
            <a:r>
              <a:rPr lang="en-US" sz="1200" dirty="0"/>
              <a:t>($5.58/lbx750lb+$100.)x100%=$4285.00</a:t>
            </a:r>
          </a:p>
        </p:txBody>
      </p:sp>
      <p:sp>
        <p:nvSpPr>
          <p:cNvPr id="35866" name="Text Box 65"/>
          <p:cNvSpPr txBox="1">
            <a:spLocks noChangeArrowheads="1"/>
          </p:cNvSpPr>
          <p:nvPr/>
        </p:nvSpPr>
        <p:spPr bwMode="auto">
          <a:xfrm>
            <a:off x="4834305" y="4752976"/>
            <a:ext cx="1333500" cy="366712"/>
          </a:xfrm>
          <a:prstGeom prst="rect">
            <a:avLst/>
          </a:prstGeom>
          <a:noFill/>
          <a:ln w="9525">
            <a:noFill/>
            <a:miter lim="800000"/>
            <a:headEnd/>
            <a:tailEnd/>
          </a:ln>
        </p:spPr>
        <p:txBody>
          <a:bodyPr wrap="square">
            <a:spAutoFit/>
          </a:bodyPr>
          <a:lstStyle/>
          <a:p>
            <a:r>
              <a:rPr lang="en-US" dirty="0"/>
              <a:t>$4285.00</a:t>
            </a:r>
          </a:p>
        </p:txBody>
      </p:sp>
      <p:sp>
        <p:nvSpPr>
          <p:cNvPr id="35867" name="AutoShape 66"/>
          <p:cNvSpPr>
            <a:spLocks noChangeArrowheads="1"/>
          </p:cNvSpPr>
          <p:nvPr/>
        </p:nvSpPr>
        <p:spPr bwMode="auto">
          <a:xfrm rot="-5542526">
            <a:off x="4346575" y="4667250"/>
            <a:ext cx="360363" cy="538163"/>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en-US" dirty="0"/>
          </a:p>
        </p:txBody>
      </p:sp>
      <p:sp>
        <p:nvSpPr>
          <p:cNvPr id="35868" name="Text Box 67"/>
          <p:cNvSpPr txBox="1">
            <a:spLocks noChangeArrowheads="1"/>
          </p:cNvSpPr>
          <p:nvPr/>
        </p:nvSpPr>
        <p:spPr bwMode="auto">
          <a:xfrm>
            <a:off x="3382963" y="4541838"/>
            <a:ext cx="768350" cy="366712"/>
          </a:xfrm>
          <a:prstGeom prst="rect">
            <a:avLst/>
          </a:prstGeom>
          <a:noFill/>
          <a:ln w="9525">
            <a:noFill/>
            <a:miter lim="800000"/>
            <a:headEnd/>
            <a:tailEnd/>
          </a:ln>
        </p:spPr>
        <p:txBody>
          <a:bodyPr wrap="none">
            <a:spAutoFit/>
          </a:bodyPr>
          <a:lstStyle/>
          <a:p>
            <a:r>
              <a:rPr lang="en-US" dirty="0"/>
              <a:t>100%</a:t>
            </a:r>
          </a:p>
        </p:txBody>
      </p:sp>
      <p:sp>
        <p:nvSpPr>
          <p:cNvPr id="35869" name="Text Box 68"/>
          <p:cNvSpPr txBox="1">
            <a:spLocks noChangeArrowheads="1"/>
          </p:cNvSpPr>
          <p:nvPr/>
        </p:nvSpPr>
        <p:spPr bwMode="auto">
          <a:xfrm>
            <a:off x="6590830" y="1911463"/>
            <a:ext cx="2543645" cy="369332"/>
          </a:xfrm>
          <a:prstGeom prst="rect">
            <a:avLst/>
          </a:prstGeom>
          <a:noFill/>
          <a:ln w="9525">
            <a:noFill/>
            <a:miter lim="800000"/>
            <a:headEnd/>
            <a:tailEnd/>
          </a:ln>
        </p:spPr>
        <p:txBody>
          <a:bodyPr wrap="square">
            <a:spAutoFit/>
          </a:bodyPr>
          <a:lstStyle/>
          <a:p>
            <a:r>
              <a:rPr lang="en-US" dirty="0"/>
              <a:t>$4185.x90%=$3766.50</a:t>
            </a:r>
          </a:p>
        </p:txBody>
      </p:sp>
      <p:sp>
        <p:nvSpPr>
          <p:cNvPr id="35870" name="Text Box 69"/>
          <p:cNvSpPr txBox="1">
            <a:spLocks noChangeArrowheads="1"/>
          </p:cNvSpPr>
          <p:nvPr/>
        </p:nvSpPr>
        <p:spPr bwMode="auto">
          <a:xfrm>
            <a:off x="6590830" y="2997200"/>
            <a:ext cx="2589682" cy="369332"/>
          </a:xfrm>
          <a:prstGeom prst="rect">
            <a:avLst/>
          </a:prstGeom>
          <a:noFill/>
          <a:ln w="9525">
            <a:noFill/>
            <a:miter lim="800000"/>
            <a:headEnd/>
            <a:tailEnd/>
          </a:ln>
        </p:spPr>
        <p:txBody>
          <a:bodyPr wrap="square">
            <a:spAutoFit/>
          </a:bodyPr>
          <a:lstStyle/>
          <a:p>
            <a:r>
              <a:rPr lang="en-US" dirty="0"/>
              <a:t>$3375.x10%=$337.50</a:t>
            </a:r>
          </a:p>
        </p:txBody>
      </p:sp>
      <p:sp>
        <p:nvSpPr>
          <p:cNvPr id="35871" name="Text Box 70"/>
          <p:cNvSpPr txBox="1">
            <a:spLocks noChangeArrowheads="1"/>
          </p:cNvSpPr>
          <p:nvPr/>
        </p:nvSpPr>
        <p:spPr bwMode="auto">
          <a:xfrm>
            <a:off x="5508624" y="3638550"/>
            <a:ext cx="3455863" cy="366713"/>
          </a:xfrm>
          <a:prstGeom prst="rect">
            <a:avLst/>
          </a:prstGeom>
          <a:noFill/>
          <a:ln w="9525">
            <a:noFill/>
            <a:miter lim="800000"/>
            <a:headEnd/>
            <a:tailEnd/>
          </a:ln>
        </p:spPr>
        <p:txBody>
          <a:bodyPr wrap="square">
            <a:spAutoFit/>
          </a:bodyPr>
          <a:lstStyle/>
          <a:p>
            <a:r>
              <a:rPr lang="en-US" dirty="0"/>
              <a:t>EMV for “Buy later” is $4104.00</a:t>
            </a:r>
          </a:p>
        </p:txBody>
      </p:sp>
      <p:sp>
        <p:nvSpPr>
          <p:cNvPr id="35872" name="Rectangle 71"/>
          <p:cNvSpPr>
            <a:spLocks noChangeArrowheads="1"/>
          </p:cNvSpPr>
          <p:nvPr/>
        </p:nvSpPr>
        <p:spPr bwMode="auto">
          <a:xfrm>
            <a:off x="485775" y="772940"/>
            <a:ext cx="6750521" cy="523220"/>
          </a:xfrm>
          <a:prstGeom prst="rect">
            <a:avLst/>
          </a:prstGeom>
          <a:noFill/>
          <a:ln w="9525">
            <a:noFill/>
            <a:miter lim="800000"/>
            <a:headEnd/>
            <a:tailEnd/>
          </a:ln>
        </p:spPr>
        <p:txBody>
          <a:bodyPr wrap="square">
            <a:spAutoFit/>
          </a:bodyPr>
          <a:lstStyle/>
          <a:p>
            <a:r>
              <a:rPr lang="en-US" sz="2800" b="1" dirty="0">
                <a:latin typeface="+mn-lt"/>
              </a:rPr>
              <a:t>Expected monetary value analysis (EMV)</a:t>
            </a:r>
          </a:p>
        </p:txBody>
      </p:sp>
      <p:sp>
        <p:nvSpPr>
          <p:cNvPr id="35873" name="Text Box 72"/>
          <p:cNvSpPr txBox="1">
            <a:spLocks noChangeArrowheads="1"/>
          </p:cNvSpPr>
          <p:nvPr/>
        </p:nvSpPr>
        <p:spPr bwMode="auto">
          <a:xfrm>
            <a:off x="5554663" y="5222875"/>
            <a:ext cx="3579812" cy="366713"/>
          </a:xfrm>
          <a:prstGeom prst="rect">
            <a:avLst/>
          </a:prstGeom>
          <a:noFill/>
          <a:ln w="9525">
            <a:noFill/>
            <a:miter lim="800000"/>
            <a:headEnd/>
            <a:tailEnd/>
          </a:ln>
        </p:spPr>
        <p:txBody>
          <a:bodyPr wrap="square">
            <a:spAutoFit/>
          </a:bodyPr>
          <a:lstStyle/>
          <a:p>
            <a:r>
              <a:rPr lang="en-US" dirty="0"/>
              <a:t>EMV for “Buy now” is $4285.00</a:t>
            </a:r>
          </a:p>
        </p:txBody>
      </p:sp>
      <p:sp>
        <p:nvSpPr>
          <p:cNvPr id="35874" name="Oval 73"/>
          <p:cNvSpPr>
            <a:spLocks noChangeArrowheads="1"/>
          </p:cNvSpPr>
          <p:nvPr/>
        </p:nvSpPr>
        <p:spPr bwMode="auto">
          <a:xfrm>
            <a:off x="0" y="6332538"/>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4" name="Slide Number Placeholder 3"/>
          <p:cNvSpPr>
            <a:spLocks noGrp="1"/>
          </p:cNvSpPr>
          <p:nvPr>
            <p:ph type="sldNum" sz="quarter" idx="12"/>
          </p:nvPr>
        </p:nvSpPr>
        <p:spPr>
          <a:xfrm>
            <a:off x="8229601" y="6329851"/>
            <a:ext cx="417516" cy="377825"/>
          </a:xfrm>
        </p:spPr>
        <p:txBody>
          <a:bodyPr/>
          <a:lstStyle/>
          <a:p>
            <a:pPr>
              <a:defRPr/>
            </a:pPr>
            <a:fld id="{95875DF6-B96D-4E7E-8088-3E962A93B459}" type="slidenum">
              <a:rPr lang="en-US" smtClean="0"/>
              <a:pPr>
                <a:defRPr/>
              </a:pPr>
              <a:t>24</a:t>
            </a:fld>
            <a:endParaRPr lang="en-US" dirty="0"/>
          </a:p>
        </p:txBody>
      </p:sp>
      <p:sp>
        <p:nvSpPr>
          <p:cNvPr id="3" name="Date Placeholder 2">
            <a:extLst>
              <a:ext uri="{FF2B5EF4-FFF2-40B4-BE49-F238E27FC236}">
                <a16:creationId xmlns:a16="http://schemas.microsoft.com/office/drawing/2014/main" id="{231F4828-7EF2-4F75-829A-F14A44401643}"/>
              </a:ext>
            </a:extLst>
          </p:cNvPr>
          <p:cNvSpPr>
            <a:spLocks noGrp="1"/>
          </p:cNvSpPr>
          <p:nvPr>
            <p:ph type="dt" sz="half" idx="10"/>
          </p:nvPr>
        </p:nvSpPr>
        <p:spPr/>
        <p:txBody>
          <a:bodyPr/>
          <a:lstStyle/>
          <a:p>
            <a:pPr>
              <a:defRPr/>
            </a:pPr>
            <a:r>
              <a:rPr lang="en-US"/>
              <a:t>G.R. Labbé</a:t>
            </a:r>
            <a:endParaRPr lang="en-US" dirty="0"/>
          </a:p>
        </p:txBody>
      </p:sp>
    </p:spTree>
    <p:extLst>
      <p:ext uri="{BB962C8B-B14F-4D97-AF65-F5344CB8AC3E}">
        <p14:creationId xmlns:p14="http://schemas.microsoft.com/office/powerpoint/2010/main" val="18714198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57200" y="604487"/>
            <a:ext cx="7967027" cy="504387"/>
          </a:xfrm>
        </p:spPr>
        <p:txBody>
          <a:bodyPr>
            <a:noAutofit/>
          </a:bodyPr>
          <a:lstStyle/>
          <a:p>
            <a:pPr algn="l" eaLnBrk="1" fontAlgn="auto" hangingPunct="1">
              <a:spcAft>
                <a:spcPts val="0"/>
              </a:spcAft>
              <a:defRPr/>
            </a:pPr>
            <a:r>
              <a:rPr lang="en-US" b="1" dirty="0">
                <a:solidFill>
                  <a:schemeClr val="tx2">
                    <a:satMod val="130000"/>
                  </a:schemeClr>
                </a:solidFill>
                <a:latin typeface="+mn-lt"/>
              </a:rPr>
              <a:t>3) Risk Mitigation Strategies categorization</a:t>
            </a:r>
          </a:p>
        </p:txBody>
      </p:sp>
      <p:sp>
        <p:nvSpPr>
          <p:cNvPr id="41987" name="Rectangle 3"/>
          <p:cNvSpPr>
            <a:spLocks noGrp="1" noChangeArrowheads="1"/>
          </p:cNvSpPr>
          <p:nvPr>
            <p:ph idx="1"/>
          </p:nvPr>
        </p:nvSpPr>
        <p:spPr>
          <a:xfrm>
            <a:off x="457200" y="1052736"/>
            <a:ext cx="7772400" cy="4738465"/>
          </a:xfrm>
        </p:spPr>
        <p:txBody>
          <a:bodyPr anchor="ctr">
            <a:normAutofit/>
          </a:bodyPr>
          <a:lstStyle/>
          <a:p>
            <a:pPr marL="609600" indent="-609600" eaLnBrk="1" hangingPunct="1">
              <a:lnSpc>
                <a:spcPct val="90000"/>
              </a:lnSpc>
              <a:buFontTx/>
              <a:buNone/>
            </a:pPr>
            <a:r>
              <a:rPr lang="en-US" sz="2000" dirty="0"/>
              <a:t>The next stage in risk management is the development of effective risk </a:t>
            </a:r>
          </a:p>
          <a:p>
            <a:pPr marL="609600" indent="-609600" eaLnBrk="1" hangingPunct="1">
              <a:lnSpc>
                <a:spcPct val="90000"/>
              </a:lnSpc>
              <a:buFontTx/>
              <a:buNone/>
            </a:pPr>
            <a:r>
              <a:rPr lang="en-US" sz="2000" dirty="0"/>
              <a:t>mitigation strategies. </a:t>
            </a:r>
          </a:p>
          <a:p>
            <a:pPr marL="609600" indent="-609600" eaLnBrk="1" hangingPunct="1">
              <a:lnSpc>
                <a:spcPct val="90000"/>
              </a:lnSpc>
              <a:buFontTx/>
              <a:buNone/>
            </a:pPr>
            <a:r>
              <a:rPr lang="en-US" sz="2000" dirty="0"/>
              <a:t>There are six possible alternatives a project organization can adopt to </a:t>
            </a:r>
          </a:p>
          <a:p>
            <a:pPr marL="609600" indent="-609600" eaLnBrk="1" hangingPunct="1">
              <a:lnSpc>
                <a:spcPct val="90000"/>
              </a:lnSpc>
              <a:buFontTx/>
              <a:buNone/>
            </a:pPr>
            <a:r>
              <a:rPr lang="en-US" sz="2000" dirty="0"/>
              <a:t>address risk:</a:t>
            </a:r>
          </a:p>
          <a:p>
            <a:pPr marL="609600" indent="-609600" eaLnBrk="1" hangingPunct="1">
              <a:lnSpc>
                <a:spcPct val="90000"/>
              </a:lnSpc>
              <a:buFontTx/>
              <a:buAutoNum type="alphaLcParenR"/>
            </a:pPr>
            <a:r>
              <a:rPr lang="en-US" sz="2000" dirty="0"/>
              <a:t>Accept Risk</a:t>
            </a:r>
          </a:p>
          <a:p>
            <a:pPr marL="609600" indent="-609600" eaLnBrk="1" hangingPunct="1">
              <a:lnSpc>
                <a:spcPct val="90000"/>
              </a:lnSpc>
              <a:buFontTx/>
              <a:buAutoNum type="alphaLcParenR"/>
            </a:pPr>
            <a:r>
              <a:rPr lang="en-US" sz="2000" dirty="0"/>
              <a:t>Minimize Risk</a:t>
            </a:r>
          </a:p>
          <a:p>
            <a:pPr marL="609600" indent="-609600" eaLnBrk="1" hangingPunct="1">
              <a:lnSpc>
                <a:spcPct val="90000"/>
              </a:lnSpc>
              <a:buFontTx/>
              <a:buAutoNum type="alphaLcParenR"/>
            </a:pPr>
            <a:r>
              <a:rPr lang="en-US" sz="2000" dirty="0"/>
              <a:t>Share Risk</a:t>
            </a:r>
          </a:p>
          <a:p>
            <a:pPr marL="609600" indent="-609600" eaLnBrk="1" hangingPunct="1">
              <a:lnSpc>
                <a:spcPct val="90000"/>
              </a:lnSpc>
              <a:buFontTx/>
              <a:buAutoNum type="alphaLcParenR"/>
            </a:pPr>
            <a:r>
              <a:rPr lang="en-US" sz="2000" dirty="0"/>
              <a:t>Transfer Risk</a:t>
            </a:r>
          </a:p>
          <a:p>
            <a:pPr marL="609600" indent="-609600" eaLnBrk="1" hangingPunct="1">
              <a:lnSpc>
                <a:spcPct val="90000"/>
              </a:lnSpc>
              <a:buFontTx/>
              <a:buAutoNum type="alphaLcParenR"/>
            </a:pPr>
            <a:r>
              <a:rPr lang="en-US" sz="2000" dirty="0"/>
              <a:t>Contingency Reserve</a:t>
            </a:r>
          </a:p>
          <a:p>
            <a:pPr marL="609600" indent="-609600" eaLnBrk="1" hangingPunct="1">
              <a:lnSpc>
                <a:spcPct val="90000"/>
              </a:lnSpc>
              <a:buFontTx/>
              <a:buAutoNum type="alphaLcParenR"/>
            </a:pPr>
            <a:r>
              <a:rPr lang="en-US" sz="2000" dirty="0"/>
              <a:t>Other strategies</a:t>
            </a:r>
          </a:p>
        </p:txBody>
      </p:sp>
      <p:sp>
        <p:nvSpPr>
          <p:cNvPr id="43012"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pic>
        <p:nvPicPr>
          <p:cNvPr id="5" name="Picture 4" descr="C:\Users\Family\Desktop\imagesCAECOXJ7.jpg"/>
          <p:cNvPicPr>
            <a:picLocks noChangeAspect="1" noChangeArrowheads="1"/>
          </p:cNvPicPr>
          <p:nvPr/>
        </p:nvPicPr>
        <p:blipFill>
          <a:blip r:embed="rId2" cstate="print"/>
          <a:srcRect/>
          <a:stretch>
            <a:fillRect/>
          </a:stretch>
        </p:blipFill>
        <p:spPr bwMode="auto">
          <a:xfrm>
            <a:off x="5436096" y="3028984"/>
            <a:ext cx="3096344" cy="3136885"/>
          </a:xfrm>
          <a:prstGeom prst="rect">
            <a:avLst/>
          </a:prstGeom>
          <a:noFill/>
        </p:spPr>
      </p:pic>
      <p:sp>
        <p:nvSpPr>
          <p:cNvPr id="4" name="Slide Number Placeholder 3"/>
          <p:cNvSpPr>
            <a:spLocks noGrp="1"/>
          </p:cNvSpPr>
          <p:nvPr>
            <p:ph type="sldNum" sz="quarter" idx="12"/>
          </p:nvPr>
        </p:nvSpPr>
        <p:spPr>
          <a:xfrm>
            <a:off x="8237731" y="6257131"/>
            <a:ext cx="417516" cy="377825"/>
          </a:xfrm>
        </p:spPr>
        <p:txBody>
          <a:bodyPr/>
          <a:lstStyle/>
          <a:p>
            <a:pPr>
              <a:defRPr/>
            </a:pPr>
            <a:fld id="{95875DF6-B96D-4E7E-8088-3E962A93B459}" type="slidenum">
              <a:rPr lang="en-US" smtClean="0"/>
              <a:pPr>
                <a:defRPr/>
              </a:pPr>
              <a:t>25</a:t>
            </a:fld>
            <a:endParaRPr lang="en-US" dirty="0"/>
          </a:p>
        </p:txBody>
      </p:sp>
      <p:sp>
        <p:nvSpPr>
          <p:cNvPr id="3" name="Date Placeholder 2">
            <a:extLst>
              <a:ext uri="{FF2B5EF4-FFF2-40B4-BE49-F238E27FC236}">
                <a16:creationId xmlns:a16="http://schemas.microsoft.com/office/drawing/2014/main" id="{919E763A-892B-4BE4-988F-CC30A4696D3D}"/>
              </a:ext>
            </a:extLst>
          </p:cNvPr>
          <p:cNvSpPr>
            <a:spLocks noGrp="1"/>
          </p:cNvSpPr>
          <p:nvPr>
            <p:ph type="dt" sz="half" idx="10"/>
          </p:nvPr>
        </p:nvSpPr>
        <p:spPr/>
        <p:txBody>
          <a:bodyPr/>
          <a:lstStyle/>
          <a:p>
            <a:pPr>
              <a:defRPr/>
            </a:pPr>
            <a:r>
              <a:rPr lang="en-US"/>
              <a:t>G.R. Labbé</a:t>
            </a:r>
            <a:endParaRPr lang="en-US" dirty="0"/>
          </a:p>
        </p:txBody>
      </p:sp>
    </p:spTree>
    <p:extLst>
      <p:ext uri="{BB962C8B-B14F-4D97-AF65-F5344CB8AC3E}">
        <p14:creationId xmlns:p14="http://schemas.microsoft.com/office/powerpoint/2010/main" val="1494293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987">
                                            <p:txEl>
                                              <p:pRg st="4" end="4"/>
                                            </p:txEl>
                                          </p:spTgt>
                                        </p:tgtEl>
                                        <p:attrNameLst>
                                          <p:attrName>style.visibility</p:attrName>
                                        </p:attrNameLst>
                                      </p:cBhvr>
                                      <p:to>
                                        <p:strVal val="visible"/>
                                      </p:to>
                                    </p:set>
                                    <p:animEffect transition="in" filter="blinds(horizontal)">
                                      <p:cBhvr>
                                        <p:cTn id="7" dur="500"/>
                                        <p:tgtEl>
                                          <p:spTgt spid="41987">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1987">
                                            <p:txEl>
                                              <p:pRg st="5" end="5"/>
                                            </p:txEl>
                                          </p:spTgt>
                                        </p:tgtEl>
                                        <p:attrNameLst>
                                          <p:attrName>style.visibility</p:attrName>
                                        </p:attrNameLst>
                                      </p:cBhvr>
                                      <p:to>
                                        <p:strVal val="visible"/>
                                      </p:to>
                                    </p:set>
                                    <p:animEffect transition="in" filter="blinds(horizontal)">
                                      <p:cBhvr>
                                        <p:cTn id="12" dur="500"/>
                                        <p:tgtEl>
                                          <p:spTgt spid="41987">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1987">
                                            <p:txEl>
                                              <p:pRg st="6" end="6"/>
                                            </p:txEl>
                                          </p:spTgt>
                                        </p:tgtEl>
                                        <p:attrNameLst>
                                          <p:attrName>style.visibility</p:attrName>
                                        </p:attrNameLst>
                                      </p:cBhvr>
                                      <p:to>
                                        <p:strVal val="visible"/>
                                      </p:to>
                                    </p:set>
                                    <p:animEffect transition="in" filter="blinds(horizontal)">
                                      <p:cBhvr>
                                        <p:cTn id="17" dur="500"/>
                                        <p:tgtEl>
                                          <p:spTgt spid="41987">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1987">
                                            <p:txEl>
                                              <p:pRg st="7" end="7"/>
                                            </p:txEl>
                                          </p:spTgt>
                                        </p:tgtEl>
                                        <p:attrNameLst>
                                          <p:attrName>style.visibility</p:attrName>
                                        </p:attrNameLst>
                                      </p:cBhvr>
                                      <p:to>
                                        <p:strVal val="visible"/>
                                      </p:to>
                                    </p:set>
                                    <p:animEffect transition="in" filter="blinds(horizontal)">
                                      <p:cBhvr>
                                        <p:cTn id="22" dur="500"/>
                                        <p:tgtEl>
                                          <p:spTgt spid="41987">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1987">
                                            <p:txEl>
                                              <p:pRg st="8" end="8"/>
                                            </p:txEl>
                                          </p:spTgt>
                                        </p:tgtEl>
                                        <p:attrNameLst>
                                          <p:attrName>style.visibility</p:attrName>
                                        </p:attrNameLst>
                                      </p:cBhvr>
                                      <p:to>
                                        <p:strVal val="visible"/>
                                      </p:to>
                                    </p:set>
                                    <p:animEffect transition="in" filter="blinds(horizontal)">
                                      <p:cBhvr>
                                        <p:cTn id="27" dur="500"/>
                                        <p:tgtEl>
                                          <p:spTgt spid="41987">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1987">
                                            <p:txEl>
                                              <p:pRg st="9" end="9"/>
                                            </p:txEl>
                                          </p:spTgt>
                                        </p:tgtEl>
                                        <p:attrNameLst>
                                          <p:attrName>style.visibility</p:attrName>
                                        </p:attrNameLst>
                                      </p:cBhvr>
                                      <p:to>
                                        <p:strVal val="visible"/>
                                      </p:to>
                                    </p:set>
                                    <p:animEffect transition="in" filter="blinds(horizontal)">
                                      <p:cBhvr>
                                        <p:cTn id="32" dur="500"/>
                                        <p:tgtEl>
                                          <p:spTgt spid="4198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57200" y="908720"/>
            <a:ext cx="6377940" cy="504387"/>
          </a:xfrm>
        </p:spPr>
        <p:txBody>
          <a:bodyPr>
            <a:noAutofit/>
          </a:bodyPr>
          <a:lstStyle/>
          <a:p>
            <a:pPr algn="l" eaLnBrk="1" fontAlgn="auto" hangingPunct="1">
              <a:spcAft>
                <a:spcPts val="0"/>
              </a:spcAft>
              <a:defRPr/>
            </a:pPr>
            <a:r>
              <a:rPr lang="en-US" b="1" dirty="0">
                <a:solidFill>
                  <a:schemeClr val="tx2">
                    <a:satMod val="130000"/>
                  </a:schemeClr>
                </a:solidFill>
                <a:latin typeface="+mn-lt"/>
              </a:rPr>
              <a:t>a) Accept Risk</a:t>
            </a:r>
          </a:p>
        </p:txBody>
      </p:sp>
      <p:sp>
        <p:nvSpPr>
          <p:cNvPr id="44035" name="Rectangle 3"/>
          <p:cNvSpPr>
            <a:spLocks noGrp="1" noChangeArrowheads="1"/>
          </p:cNvSpPr>
          <p:nvPr>
            <p:ph idx="1"/>
          </p:nvPr>
        </p:nvSpPr>
        <p:spPr>
          <a:xfrm>
            <a:off x="457200" y="1694914"/>
            <a:ext cx="8064896" cy="3649133"/>
          </a:xfrm>
        </p:spPr>
        <p:txBody>
          <a:bodyPr>
            <a:normAutofit fontScale="92500"/>
          </a:bodyPr>
          <a:lstStyle/>
          <a:p>
            <a:pPr>
              <a:lnSpc>
                <a:spcPct val="90000"/>
              </a:lnSpc>
            </a:pPr>
            <a:r>
              <a:rPr lang="en-US" sz="2400" dirty="0"/>
              <a:t>One option that a project team must always consider is whether the risk is sufficiently strong that any action is warranted. Any number of risks of a relative minor nature may be present at any point in time. However because the likelihood of their occurrence is so small or the consequences of their impact are so minor, they may be judged acceptable and ignored.</a:t>
            </a:r>
          </a:p>
          <a:p>
            <a:pPr>
              <a:lnSpc>
                <a:spcPct val="90000"/>
              </a:lnSpc>
            </a:pPr>
            <a:r>
              <a:rPr lang="en-US" sz="2400" dirty="0"/>
              <a:t>For example the record industry spends millions every year in developing, producing, and promoting new recording artists. Knowing full well that less than 5% are profitable. Hence, a high degree of commercial risk is embedded in the system itself and must be accepted in order to operate in the industry.</a:t>
            </a:r>
          </a:p>
        </p:txBody>
      </p:sp>
      <p:sp>
        <p:nvSpPr>
          <p:cNvPr id="44036" name="Oval 21"/>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4" name="Slide Number Placeholder 3"/>
          <p:cNvSpPr>
            <a:spLocks noGrp="1"/>
          </p:cNvSpPr>
          <p:nvPr>
            <p:ph type="sldNum" sz="quarter" idx="12"/>
          </p:nvPr>
        </p:nvSpPr>
        <p:spPr>
          <a:xfrm>
            <a:off x="8313338" y="6257131"/>
            <a:ext cx="417516" cy="377825"/>
          </a:xfrm>
        </p:spPr>
        <p:txBody>
          <a:bodyPr/>
          <a:lstStyle/>
          <a:p>
            <a:pPr>
              <a:defRPr/>
            </a:pPr>
            <a:fld id="{95875DF6-B96D-4E7E-8088-3E962A93B459}" type="slidenum">
              <a:rPr lang="en-US" smtClean="0"/>
              <a:pPr>
                <a:defRPr/>
              </a:pPr>
              <a:t>26</a:t>
            </a:fld>
            <a:endParaRPr lang="en-US" dirty="0"/>
          </a:p>
        </p:txBody>
      </p:sp>
      <p:sp>
        <p:nvSpPr>
          <p:cNvPr id="3" name="Date Placeholder 2">
            <a:extLst>
              <a:ext uri="{FF2B5EF4-FFF2-40B4-BE49-F238E27FC236}">
                <a16:creationId xmlns:a16="http://schemas.microsoft.com/office/drawing/2014/main" id="{8664F850-C215-49DF-9A83-3E4430EA0955}"/>
              </a:ext>
            </a:extLst>
          </p:cNvPr>
          <p:cNvSpPr>
            <a:spLocks noGrp="1"/>
          </p:cNvSpPr>
          <p:nvPr>
            <p:ph type="dt" sz="half" idx="10"/>
          </p:nvPr>
        </p:nvSpPr>
        <p:spPr/>
        <p:txBody>
          <a:bodyPr/>
          <a:lstStyle/>
          <a:p>
            <a:pPr>
              <a:defRPr/>
            </a:pPr>
            <a:r>
              <a:rPr lang="en-US"/>
              <a:t>G.R. Labbé</a:t>
            </a:r>
            <a:endParaRPr lang="en-US" dirty="0"/>
          </a:p>
        </p:txBody>
      </p:sp>
    </p:spTree>
    <p:extLst>
      <p:ext uri="{BB962C8B-B14F-4D97-AF65-F5344CB8AC3E}">
        <p14:creationId xmlns:p14="http://schemas.microsoft.com/office/powerpoint/2010/main" val="25721614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058" name="Rectangle 3"/>
          <p:cNvSpPr>
            <a:spLocks noGrp="1" noChangeArrowheads="1"/>
          </p:cNvSpPr>
          <p:nvPr>
            <p:ph idx="1"/>
          </p:nvPr>
        </p:nvSpPr>
        <p:spPr>
          <a:xfrm>
            <a:off x="323529" y="476250"/>
            <a:ext cx="5616624" cy="6238875"/>
          </a:xfrm>
        </p:spPr>
        <p:txBody>
          <a:bodyPr>
            <a:normAutofit/>
          </a:bodyPr>
          <a:lstStyle/>
          <a:p>
            <a:pPr eaLnBrk="1" hangingPunct="1">
              <a:lnSpc>
                <a:spcPct val="80000"/>
              </a:lnSpc>
              <a:buFontTx/>
              <a:buNone/>
            </a:pPr>
            <a:r>
              <a:rPr lang="en-US" sz="2000" b="1" dirty="0"/>
              <a:t>Repairing Endeavour is too risky, says NASA</a:t>
            </a:r>
          </a:p>
          <a:p>
            <a:pPr eaLnBrk="1" hangingPunct="1">
              <a:lnSpc>
                <a:spcPct val="80000"/>
              </a:lnSpc>
              <a:buFontTx/>
              <a:buNone/>
            </a:pPr>
            <a:r>
              <a:rPr lang="en-US" sz="2000" dirty="0"/>
              <a:t>12:59 17 August 2007 </a:t>
            </a:r>
          </a:p>
          <a:p>
            <a:pPr eaLnBrk="1" hangingPunct="1">
              <a:lnSpc>
                <a:spcPct val="80000"/>
              </a:lnSpc>
              <a:buFontTx/>
              <a:buNone/>
            </a:pPr>
            <a:r>
              <a:rPr lang="en-US" sz="2000" dirty="0"/>
              <a:t>New Scientist Space and Reuters </a:t>
            </a:r>
          </a:p>
          <a:p>
            <a:pPr>
              <a:lnSpc>
                <a:spcPct val="80000"/>
              </a:lnSpc>
            </a:pPr>
            <a:r>
              <a:rPr lang="en-US" sz="2000" dirty="0"/>
              <a:t>A small, deep gash in space shuttle Endeavour's heat shield poses no threat to the ship and does not need repair, NASA said on Thursday after studying the problem for nearly a week.</a:t>
            </a:r>
          </a:p>
          <a:p>
            <a:pPr>
              <a:lnSpc>
                <a:spcPct val="80000"/>
              </a:lnSpc>
            </a:pPr>
            <a:r>
              <a:rPr lang="en-US" sz="2000" dirty="0"/>
              <a:t>NASA officials considered sending astronauts out to patch the 8-centimetre (3-inch) gash in the shuttle's belly, but decided Endeavour was all right and it was better not to interfere with the heat shield, mission management team chairman John Shannon said.</a:t>
            </a:r>
          </a:p>
          <a:p>
            <a:pPr>
              <a:lnSpc>
                <a:spcPct val="80000"/>
              </a:lnSpc>
            </a:pPr>
            <a:r>
              <a:rPr lang="en-US" sz="2000" dirty="0"/>
              <a:t>"[The hole] does not constitute a risk to the crew, it is not expected to cause any damage to the vehicle structure," he said in a briefing at Johnson Space Center in Houston, Texas, US. "You have something you know you can live with, why would you take the risk of the [spacewalk] to change that?"</a:t>
            </a:r>
          </a:p>
        </p:txBody>
      </p:sp>
      <p:pic>
        <p:nvPicPr>
          <p:cNvPr id="45059" name="Picture 7" descr="lift_off2"/>
          <p:cNvPicPr>
            <a:picLocks noChangeAspect="1" noChangeArrowheads="1"/>
          </p:cNvPicPr>
          <p:nvPr/>
        </p:nvPicPr>
        <p:blipFill>
          <a:blip r:embed="rId2" cstate="print"/>
          <a:srcRect/>
          <a:stretch>
            <a:fillRect/>
          </a:stretch>
        </p:blipFill>
        <p:spPr bwMode="auto">
          <a:xfrm>
            <a:off x="6444208" y="692696"/>
            <a:ext cx="2627783" cy="5472261"/>
          </a:xfrm>
          <a:prstGeom prst="rect">
            <a:avLst/>
          </a:prstGeom>
          <a:noFill/>
          <a:ln w="9525">
            <a:noFill/>
            <a:miter lim="800000"/>
            <a:headEnd/>
            <a:tailEnd/>
          </a:ln>
        </p:spPr>
      </p:pic>
      <p:sp>
        <p:nvSpPr>
          <p:cNvPr id="4" name="Slide Number Placeholder 3"/>
          <p:cNvSpPr>
            <a:spLocks noGrp="1"/>
          </p:cNvSpPr>
          <p:nvPr>
            <p:ph type="sldNum" sz="quarter" idx="12"/>
          </p:nvPr>
        </p:nvSpPr>
        <p:spPr>
          <a:xfrm>
            <a:off x="8460432" y="6337300"/>
            <a:ext cx="417516" cy="377825"/>
          </a:xfrm>
        </p:spPr>
        <p:txBody>
          <a:bodyPr/>
          <a:lstStyle/>
          <a:p>
            <a:pPr>
              <a:defRPr/>
            </a:pPr>
            <a:fld id="{95875DF6-B96D-4E7E-8088-3E962A93B459}" type="slidenum">
              <a:rPr lang="en-US" smtClean="0"/>
              <a:pPr>
                <a:defRPr/>
              </a:pPr>
              <a:t>27</a:t>
            </a:fld>
            <a:endParaRPr lang="en-US" dirty="0"/>
          </a:p>
        </p:txBody>
      </p:sp>
      <p:sp>
        <p:nvSpPr>
          <p:cNvPr id="3" name="Date Placeholder 2">
            <a:extLst>
              <a:ext uri="{FF2B5EF4-FFF2-40B4-BE49-F238E27FC236}">
                <a16:creationId xmlns:a16="http://schemas.microsoft.com/office/drawing/2014/main" id="{1B85C830-7FA1-47D6-8274-76E8D457A31C}"/>
              </a:ext>
            </a:extLst>
          </p:cNvPr>
          <p:cNvSpPr>
            <a:spLocks noGrp="1"/>
          </p:cNvSpPr>
          <p:nvPr>
            <p:ph type="dt" sz="half" idx="10"/>
          </p:nvPr>
        </p:nvSpPr>
        <p:spPr/>
        <p:txBody>
          <a:bodyPr/>
          <a:lstStyle/>
          <a:p>
            <a:pPr>
              <a:defRPr/>
            </a:pPr>
            <a:r>
              <a:rPr lang="en-US"/>
              <a:t>G.R. Labbé</a:t>
            </a:r>
            <a:endParaRPr lang="en-US" dirty="0"/>
          </a:p>
        </p:txBody>
      </p:sp>
    </p:spTree>
    <p:extLst>
      <p:ext uri="{BB962C8B-B14F-4D97-AF65-F5344CB8AC3E}">
        <p14:creationId xmlns:p14="http://schemas.microsoft.com/office/powerpoint/2010/main" val="23775649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a:xfrm>
            <a:off x="568009" y="981803"/>
            <a:ext cx="6377940" cy="525150"/>
          </a:xfrm>
        </p:spPr>
        <p:txBody>
          <a:bodyPr>
            <a:normAutofit/>
          </a:bodyPr>
          <a:lstStyle/>
          <a:p>
            <a:pPr algn="l" eaLnBrk="1" fontAlgn="auto" hangingPunct="1">
              <a:spcAft>
                <a:spcPts val="0"/>
              </a:spcAft>
              <a:defRPr/>
            </a:pPr>
            <a:r>
              <a:rPr lang="en-US" sz="2800" b="1" dirty="0">
                <a:solidFill>
                  <a:schemeClr val="tx2">
                    <a:satMod val="130000"/>
                  </a:schemeClr>
                </a:solidFill>
                <a:latin typeface="+mn-lt"/>
              </a:rPr>
              <a:t>b) Minimize Risk</a:t>
            </a:r>
          </a:p>
        </p:txBody>
      </p:sp>
      <p:sp>
        <p:nvSpPr>
          <p:cNvPr id="46084" name="Rectangle 4"/>
          <p:cNvSpPr>
            <a:spLocks noGrp="1" noChangeArrowheads="1"/>
          </p:cNvSpPr>
          <p:nvPr>
            <p:ph idx="1"/>
          </p:nvPr>
        </p:nvSpPr>
        <p:spPr>
          <a:xfrm>
            <a:off x="562538" y="1539792"/>
            <a:ext cx="7955280" cy="4330784"/>
          </a:xfrm>
        </p:spPr>
        <p:txBody>
          <a:bodyPr>
            <a:normAutofit/>
          </a:bodyPr>
          <a:lstStyle/>
          <a:p>
            <a:pPr eaLnBrk="1" hangingPunct="1">
              <a:lnSpc>
                <a:spcPct val="80000"/>
              </a:lnSpc>
              <a:buFontTx/>
              <a:buNone/>
            </a:pPr>
            <a:r>
              <a:rPr lang="en-US" sz="2000" dirty="0"/>
              <a:t>Strategies to minimize risk are the next option. </a:t>
            </a:r>
          </a:p>
          <a:p>
            <a:pPr>
              <a:lnSpc>
                <a:spcPct val="80000"/>
              </a:lnSpc>
            </a:pPr>
            <a:r>
              <a:rPr lang="en-US" sz="2000" dirty="0"/>
              <a:t>Consider the Dash 8 mid-range turboprop airplane build by Bombardier.</a:t>
            </a:r>
          </a:p>
          <a:p>
            <a:pPr>
              <a:lnSpc>
                <a:spcPct val="80000"/>
              </a:lnSpc>
            </a:pPr>
            <a:r>
              <a:rPr lang="en-US" sz="2000" dirty="0"/>
              <a:t> Each aircraft contains millions of individual parts , most of which must be acquired from vendors. The risk for the plane if one of the parts malfunctions is too great. Therefore most aircraft manufacturers insist that all significant vendors maintain direct contact with the companies quality department. </a:t>
            </a:r>
          </a:p>
          <a:p>
            <a:pPr>
              <a:lnSpc>
                <a:spcPct val="80000"/>
              </a:lnSpc>
            </a:pPr>
            <a:r>
              <a:rPr lang="en-US" sz="2000" dirty="0"/>
              <a:t>The aircraft companies also insist on interfering with the production process in order to ensure that the resulting quality meets expectations. But because the company cannot manufacture all parts of an aircraft, they seek to minimize risk through supplier selection, quality standards and audits.</a:t>
            </a:r>
          </a:p>
        </p:txBody>
      </p:sp>
      <p:sp>
        <p:nvSpPr>
          <p:cNvPr id="46085" name="Oval 7"/>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4" name="Slide Number Placeholder 3"/>
          <p:cNvSpPr>
            <a:spLocks noGrp="1"/>
          </p:cNvSpPr>
          <p:nvPr>
            <p:ph type="sldNum" sz="quarter" idx="12"/>
          </p:nvPr>
        </p:nvSpPr>
        <p:spPr>
          <a:xfrm>
            <a:off x="8255315" y="6257131"/>
            <a:ext cx="417516" cy="377825"/>
          </a:xfrm>
        </p:spPr>
        <p:txBody>
          <a:bodyPr/>
          <a:lstStyle/>
          <a:p>
            <a:pPr>
              <a:defRPr/>
            </a:pPr>
            <a:fld id="{95875DF6-B96D-4E7E-8088-3E962A93B459}" type="slidenum">
              <a:rPr lang="en-US" smtClean="0"/>
              <a:pPr>
                <a:defRPr/>
              </a:pPr>
              <a:t>28</a:t>
            </a:fld>
            <a:endParaRPr lang="en-US" dirty="0"/>
          </a:p>
        </p:txBody>
      </p:sp>
      <p:sp>
        <p:nvSpPr>
          <p:cNvPr id="3" name="Date Placeholder 2">
            <a:extLst>
              <a:ext uri="{FF2B5EF4-FFF2-40B4-BE49-F238E27FC236}">
                <a16:creationId xmlns:a16="http://schemas.microsoft.com/office/drawing/2014/main" id="{FE1FB141-421B-4BE7-A1ED-E0E6B9D88127}"/>
              </a:ext>
            </a:extLst>
          </p:cNvPr>
          <p:cNvSpPr>
            <a:spLocks noGrp="1"/>
          </p:cNvSpPr>
          <p:nvPr>
            <p:ph type="dt" sz="half" idx="10"/>
          </p:nvPr>
        </p:nvSpPr>
        <p:spPr/>
        <p:txBody>
          <a:bodyPr/>
          <a:lstStyle/>
          <a:p>
            <a:pPr>
              <a:defRPr/>
            </a:pPr>
            <a:r>
              <a:rPr lang="en-US"/>
              <a:t>G.R. Labbé</a:t>
            </a:r>
            <a:endParaRPr lang="en-US" dirty="0"/>
          </a:p>
        </p:txBody>
      </p:sp>
    </p:spTree>
    <p:extLst>
      <p:ext uri="{BB962C8B-B14F-4D97-AF65-F5344CB8AC3E}">
        <p14:creationId xmlns:p14="http://schemas.microsoft.com/office/powerpoint/2010/main" val="21750030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582613" y="1052736"/>
            <a:ext cx="6377940" cy="504387"/>
          </a:xfrm>
        </p:spPr>
        <p:txBody>
          <a:bodyPr>
            <a:noAutofit/>
          </a:bodyPr>
          <a:lstStyle/>
          <a:p>
            <a:pPr algn="l" eaLnBrk="1" fontAlgn="auto" hangingPunct="1">
              <a:spcAft>
                <a:spcPts val="0"/>
              </a:spcAft>
              <a:defRPr/>
            </a:pPr>
            <a:r>
              <a:rPr lang="en-US" b="1" dirty="0">
                <a:solidFill>
                  <a:schemeClr val="tx2">
                    <a:satMod val="130000"/>
                  </a:schemeClr>
                </a:solidFill>
                <a:latin typeface="+mn-lt"/>
              </a:rPr>
              <a:t>c) Share Risk</a:t>
            </a:r>
          </a:p>
        </p:txBody>
      </p:sp>
      <p:sp>
        <p:nvSpPr>
          <p:cNvPr id="47107" name="Rectangle 3"/>
          <p:cNvSpPr>
            <a:spLocks noGrp="1" noChangeArrowheads="1"/>
          </p:cNvSpPr>
          <p:nvPr>
            <p:ph idx="1"/>
          </p:nvPr>
        </p:nvSpPr>
        <p:spPr>
          <a:xfrm>
            <a:off x="582612" y="1562028"/>
            <a:ext cx="8309868" cy="4346808"/>
          </a:xfrm>
        </p:spPr>
        <p:txBody>
          <a:bodyPr>
            <a:normAutofit/>
          </a:bodyPr>
          <a:lstStyle/>
          <a:p>
            <a:pPr eaLnBrk="1" hangingPunct="1">
              <a:lnSpc>
                <a:spcPct val="90000"/>
              </a:lnSpc>
              <a:buFontTx/>
              <a:buNone/>
            </a:pPr>
            <a:r>
              <a:rPr lang="en-US" sz="2000" dirty="0"/>
              <a:t>Risk may be allocated proportionally among multiple members of the project. </a:t>
            </a:r>
          </a:p>
          <a:p>
            <a:pPr>
              <a:lnSpc>
                <a:spcPct val="90000"/>
              </a:lnSpc>
            </a:pPr>
            <a:r>
              <a:rPr lang="en-US" sz="2000" dirty="0"/>
              <a:t>Two of the examples of sharing risk is the research and development done through the European Space Agency (ESA) and the Airbus consortium. Due to the tremendous barriers to entry, no one country in the European Union has the capital  resources and technical skills to undertake the development of the Ariane rocket for satellite delivery or the creation of a new airframe to compete with Boeing. </a:t>
            </a:r>
          </a:p>
          <a:p>
            <a:pPr>
              <a:lnSpc>
                <a:spcPct val="90000"/>
              </a:lnSpc>
            </a:pPr>
            <a:r>
              <a:rPr lang="en-US" sz="2000" dirty="0"/>
              <a:t>ESA and Airbus partners from a number of countries have jointly pooled their resources and at the same time, agreed to jointly share the risk inherent in the venture.</a:t>
            </a:r>
          </a:p>
        </p:txBody>
      </p:sp>
      <p:sp>
        <p:nvSpPr>
          <p:cNvPr id="47108"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4" name="Slide Number Placeholder 3"/>
          <p:cNvSpPr>
            <a:spLocks noGrp="1"/>
          </p:cNvSpPr>
          <p:nvPr>
            <p:ph type="sldNum" sz="quarter" idx="12"/>
          </p:nvPr>
        </p:nvSpPr>
        <p:spPr>
          <a:xfrm>
            <a:off x="8316416" y="6260356"/>
            <a:ext cx="417516" cy="377825"/>
          </a:xfrm>
        </p:spPr>
        <p:txBody>
          <a:bodyPr/>
          <a:lstStyle/>
          <a:p>
            <a:pPr>
              <a:defRPr/>
            </a:pPr>
            <a:fld id="{95875DF6-B96D-4E7E-8088-3E962A93B459}" type="slidenum">
              <a:rPr lang="en-US" smtClean="0"/>
              <a:pPr>
                <a:defRPr/>
              </a:pPr>
              <a:t>29</a:t>
            </a:fld>
            <a:endParaRPr lang="en-US" dirty="0"/>
          </a:p>
        </p:txBody>
      </p:sp>
      <p:sp>
        <p:nvSpPr>
          <p:cNvPr id="3" name="Date Placeholder 2">
            <a:extLst>
              <a:ext uri="{FF2B5EF4-FFF2-40B4-BE49-F238E27FC236}">
                <a16:creationId xmlns:a16="http://schemas.microsoft.com/office/drawing/2014/main" id="{FEA7ABE8-026D-4C0D-9B64-C65CB037B3F7}"/>
              </a:ext>
            </a:extLst>
          </p:cNvPr>
          <p:cNvSpPr>
            <a:spLocks noGrp="1"/>
          </p:cNvSpPr>
          <p:nvPr>
            <p:ph type="dt" sz="half" idx="10"/>
          </p:nvPr>
        </p:nvSpPr>
        <p:spPr/>
        <p:txBody>
          <a:bodyPr/>
          <a:lstStyle/>
          <a:p>
            <a:pPr>
              <a:defRPr/>
            </a:pPr>
            <a:r>
              <a:rPr lang="en-US"/>
              <a:t>G.R. Labbé</a:t>
            </a:r>
            <a:endParaRPr lang="en-US" dirty="0"/>
          </a:p>
        </p:txBody>
      </p:sp>
    </p:spTree>
    <p:extLst>
      <p:ext uri="{BB962C8B-B14F-4D97-AF65-F5344CB8AC3E}">
        <p14:creationId xmlns:p14="http://schemas.microsoft.com/office/powerpoint/2010/main" val="41447811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582613" y="980728"/>
            <a:ext cx="6377940" cy="576395"/>
          </a:xfrm>
        </p:spPr>
        <p:txBody>
          <a:bodyPr>
            <a:normAutofit/>
          </a:bodyPr>
          <a:lstStyle/>
          <a:p>
            <a:pPr algn="l" eaLnBrk="1" fontAlgn="auto" hangingPunct="1">
              <a:spcAft>
                <a:spcPts val="0"/>
              </a:spcAft>
              <a:defRPr/>
            </a:pPr>
            <a:r>
              <a:rPr lang="en-US" sz="2800" b="1" dirty="0">
                <a:solidFill>
                  <a:schemeClr val="tx2">
                    <a:satMod val="130000"/>
                  </a:schemeClr>
                </a:solidFill>
                <a:latin typeface="+mn-lt"/>
              </a:rPr>
              <a:t>d) Transfer Risk</a:t>
            </a:r>
          </a:p>
        </p:txBody>
      </p:sp>
      <p:sp>
        <p:nvSpPr>
          <p:cNvPr id="48131" name="Rectangle 3"/>
          <p:cNvSpPr>
            <a:spLocks noGrp="1" noChangeArrowheads="1"/>
          </p:cNvSpPr>
          <p:nvPr>
            <p:ph idx="1"/>
          </p:nvPr>
        </p:nvSpPr>
        <p:spPr>
          <a:xfrm>
            <a:off x="582613" y="1720868"/>
            <a:ext cx="7772400" cy="3649133"/>
          </a:xfrm>
        </p:spPr>
        <p:txBody>
          <a:bodyPr>
            <a:normAutofit/>
          </a:bodyPr>
          <a:lstStyle/>
          <a:p>
            <a:pPr>
              <a:lnSpc>
                <a:spcPct val="90000"/>
              </a:lnSpc>
            </a:pPr>
            <a:r>
              <a:rPr lang="en-US" sz="2000" dirty="0"/>
              <a:t>In some circumstances, when it is impossible to change the nature of the risk, it may be possible to shift the risk to another party. </a:t>
            </a:r>
          </a:p>
          <a:p>
            <a:pPr>
              <a:lnSpc>
                <a:spcPct val="90000"/>
              </a:lnSpc>
            </a:pPr>
            <a:r>
              <a:rPr lang="en-US" sz="2000" dirty="0"/>
              <a:t>For example a good method to prevent excessive budget overruns is a fixed-price-contract. They establish a price upfront, should the project slip, the vendor must carry the full burden of the overrun. </a:t>
            </a:r>
          </a:p>
          <a:p>
            <a:pPr>
              <a:lnSpc>
                <a:spcPct val="90000"/>
              </a:lnSpc>
            </a:pPr>
            <a:r>
              <a:rPr lang="en-US" sz="2000" dirty="0"/>
              <a:t>Alternatively, if the goal is to ensure functionality (quality and performance), the concept of liquidated damages is used. Liquidated damages represent project penalty clauses that kick in at mutually agreed-on points in the development and implementation. </a:t>
            </a:r>
          </a:p>
        </p:txBody>
      </p:sp>
      <p:sp>
        <p:nvSpPr>
          <p:cNvPr id="48132"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4" name="Slide Number Placeholder 3"/>
          <p:cNvSpPr>
            <a:spLocks noGrp="1"/>
          </p:cNvSpPr>
          <p:nvPr>
            <p:ph type="sldNum" sz="quarter" idx="12"/>
          </p:nvPr>
        </p:nvSpPr>
        <p:spPr>
          <a:xfrm>
            <a:off x="8020843" y="6263300"/>
            <a:ext cx="417516" cy="377825"/>
          </a:xfrm>
        </p:spPr>
        <p:txBody>
          <a:bodyPr/>
          <a:lstStyle/>
          <a:p>
            <a:pPr>
              <a:defRPr/>
            </a:pPr>
            <a:fld id="{95875DF6-B96D-4E7E-8088-3E962A93B459}" type="slidenum">
              <a:rPr lang="en-US" smtClean="0"/>
              <a:pPr>
                <a:defRPr/>
              </a:pPr>
              <a:t>30</a:t>
            </a:fld>
            <a:endParaRPr lang="en-US" dirty="0"/>
          </a:p>
        </p:txBody>
      </p:sp>
      <p:sp>
        <p:nvSpPr>
          <p:cNvPr id="3" name="Date Placeholder 2">
            <a:extLst>
              <a:ext uri="{FF2B5EF4-FFF2-40B4-BE49-F238E27FC236}">
                <a16:creationId xmlns:a16="http://schemas.microsoft.com/office/drawing/2014/main" id="{7987DD3A-CFF7-48B2-8A6A-B2CABE57F51C}"/>
              </a:ext>
            </a:extLst>
          </p:cNvPr>
          <p:cNvSpPr>
            <a:spLocks noGrp="1"/>
          </p:cNvSpPr>
          <p:nvPr>
            <p:ph type="dt" sz="half" idx="10"/>
          </p:nvPr>
        </p:nvSpPr>
        <p:spPr/>
        <p:txBody>
          <a:bodyPr/>
          <a:lstStyle/>
          <a:p>
            <a:pPr>
              <a:defRPr/>
            </a:pPr>
            <a:r>
              <a:rPr lang="en-US"/>
              <a:t>G.R. Labbé</a:t>
            </a:r>
            <a:endParaRPr lang="en-US" dirty="0"/>
          </a:p>
        </p:txBody>
      </p:sp>
    </p:spTree>
    <p:extLst>
      <p:ext uri="{BB962C8B-B14F-4D97-AF65-F5344CB8AC3E}">
        <p14:creationId xmlns:p14="http://schemas.microsoft.com/office/powerpoint/2010/main" val="28148888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687479" y="1052736"/>
            <a:ext cx="7615237" cy="490538"/>
          </a:xfrm>
        </p:spPr>
        <p:txBody>
          <a:bodyPr>
            <a:noAutofit/>
          </a:bodyPr>
          <a:lstStyle/>
          <a:p>
            <a:pPr algn="l" eaLnBrk="1" fontAlgn="auto" hangingPunct="1">
              <a:spcAft>
                <a:spcPts val="0"/>
              </a:spcAft>
              <a:defRPr/>
            </a:pPr>
            <a:r>
              <a:rPr lang="en-US" b="1" dirty="0">
                <a:solidFill>
                  <a:schemeClr val="tx2">
                    <a:satMod val="130000"/>
                  </a:schemeClr>
                </a:solidFill>
                <a:latin typeface="+mn-lt"/>
              </a:rPr>
              <a:t>e) Use of Contingency Reserves</a:t>
            </a:r>
          </a:p>
        </p:txBody>
      </p:sp>
      <p:sp>
        <p:nvSpPr>
          <p:cNvPr id="41987" name="Rectangle 3"/>
          <p:cNvSpPr>
            <a:spLocks noGrp="1" noChangeArrowheads="1"/>
          </p:cNvSpPr>
          <p:nvPr>
            <p:ph idx="1"/>
          </p:nvPr>
        </p:nvSpPr>
        <p:spPr>
          <a:xfrm>
            <a:off x="687479" y="2161757"/>
            <a:ext cx="7988977" cy="3096344"/>
          </a:xfrm>
        </p:spPr>
        <p:txBody>
          <a:bodyPr>
            <a:normAutofit/>
          </a:bodyPr>
          <a:lstStyle/>
          <a:p>
            <a:pPr marL="425196" indent="-342900">
              <a:lnSpc>
                <a:spcPct val="80000"/>
              </a:lnSpc>
              <a:spcAft>
                <a:spcPts val="0"/>
              </a:spcAft>
              <a:defRPr/>
            </a:pPr>
            <a:r>
              <a:rPr lang="en-US" sz="2000" dirty="0"/>
              <a:t>Contingency reserves are among the most common methods to mitigate risks.</a:t>
            </a:r>
          </a:p>
          <a:p>
            <a:pPr marL="425196" indent="-342900">
              <a:lnSpc>
                <a:spcPct val="80000"/>
              </a:lnSpc>
              <a:spcAft>
                <a:spcPts val="0"/>
              </a:spcAft>
              <a:defRPr/>
            </a:pPr>
            <a:endParaRPr lang="en-US" sz="2000" dirty="0"/>
          </a:p>
          <a:p>
            <a:pPr marL="425196" indent="-342900">
              <a:lnSpc>
                <a:spcPct val="80000"/>
              </a:lnSpc>
              <a:spcAft>
                <a:spcPts val="0"/>
              </a:spcAft>
              <a:defRPr/>
            </a:pPr>
            <a:r>
              <a:rPr lang="en-US" sz="2000" dirty="0"/>
              <a:t>They are defined as the specific provision for unforeseen elements of cost within the defined project scope. In construction projects it is not uncommon to set aside 10-15% of the construction price in a contingency fund.</a:t>
            </a:r>
          </a:p>
          <a:p>
            <a:pPr marL="425196" indent="-342900">
              <a:lnSpc>
                <a:spcPct val="80000"/>
              </a:lnSpc>
              <a:spcAft>
                <a:spcPts val="0"/>
              </a:spcAft>
              <a:defRPr/>
            </a:pPr>
            <a:endParaRPr lang="en-US" sz="2000" dirty="0"/>
          </a:p>
          <a:p>
            <a:pPr marL="425196" indent="-342900">
              <a:lnSpc>
                <a:spcPct val="80000"/>
              </a:lnSpc>
              <a:spcAft>
                <a:spcPts val="0"/>
              </a:spcAft>
              <a:defRPr/>
            </a:pPr>
            <a:r>
              <a:rPr lang="en-US" sz="2000" dirty="0"/>
              <a:t> In other fields, however, this practice is not done, due to the fact that the team might fear that the customer or management might see it as a sign of poor planning or inadequate scope definition. </a:t>
            </a:r>
          </a:p>
        </p:txBody>
      </p:sp>
      <p:sp>
        <p:nvSpPr>
          <p:cNvPr id="4" name="Oval 3"/>
          <p:cNvSpPr>
            <a:spLocks noChangeArrowheads="1"/>
          </p:cNvSpPr>
          <p:nvPr/>
        </p:nvSpPr>
        <p:spPr bwMode="auto">
          <a:xfrm>
            <a:off x="201704" y="6165304"/>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5" name="Slide Number Placeholder 4"/>
          <p:cNvSpPr>
            <a:spLocks noGrp="1"/>
          </p:cNvSpPr>
          <p:nvPr>
            <p:ph type="sldNum" sz="quarter" idx="12"/>
          </p:nvPr>
        </p:nvSpPr>
        <p:spPr>
          <a:xfrm>
            <a:off x="8302716" y="6236923"/>
            <a:ext cx="417516" cy="377825"/>
          </a:xfrm>
        </p:spPr>
        <p:txBody>
          <a:bodyPr/>
          <a:lstStyle/>
          <a:p>
            <a:pPr>
              <a:defRPr/>
            </a:pPr>
            <a:fld id="{95875DF6-B96D-4E7E-8088-3E962A93B459}" type="slidenum">
              <a:rPr lang="en-US" smtClean="0"/>
              <a:pPr>
                <a:defRPr/>
              </a:pPr>
              <a:t>31</a:t>
            </a:fld>
            <a:endParaRPr lang="en-US" dirty="0"/>
          </a:p>
        </p:txBody>
      </p:sp>
      <p:sp>
        <p:nvSpPr>
          <p:cNvPr id="3" name="Date Placeholder 2">
            <a:extLst>
              <a:ext uri="{FF2B5EF4-FFF2-40B4-BE49-F238E27FC236}">
                <a16:creationId xmlns:a16="http://schemas.microsoft.com/office/drawing/2014/main" id="{3FA7D4BC-FD60-4875-B6C5-4AD12EA3102A}"/>
              </a:ext>
            </a:extLst>
          </p:cNvPr>
          <p:cNvSpPr>
            <a:spLocks noGrp="1"/>
          </p:cNvSpPr>
          <p:nvPr>
            <p:ph type="dt" sz="half" idx="10"/>
          </p:nvPr>
        </p:nvSpPr>
        <p:spPr/>
        <p:txBody>
          <a:bodyPr/>
          <a:lstStyle/>
          <a:p>
            <a:pPr>
              <a:defRPr/>
            </a:pPr>
            <a:r>
              <a:rPr lang="en-US"/>
              <a:t>G.R. Labbé</a:t>
            </a:r>
            <a:endParaRPr lang="en-US" dirty="0"/>
          </a:p>
        </p:txBody>
      </p:sp>
    </p:spTree>
    <p:extLst>
      <p:ext uri="{BB962C8B-B14F-4D97-AF65-F5344CB8AC3E}">
        <p14:creationId xmlns:p14="http://schemas.microsoft.com/office/powerpoint/2010/main" val="30715089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451" y="246071"/>
            <a:ext cx="6377940" cy="648403"/>
          </a:xfrm>
        </p:spPr>
        <p:txBody>
          <a:bodyPr>
            <a:normAutofit/>
          </a:bodyPr>
          <a:lstStyle/>
          <a:p>
            <a:pPr algn="l"/>
            <a:r>
              <a:rPr lang="en-US" sz="2800" b="1" dirty="0">
                <a:solidFill>
                  <a:schemeClr val="tx2">
                    <a:satMod val="130000"/>
                  </a:schemeClr>
                </a:solidFill>
                <a:latin typeface="+mn-lt"/>
              </a:rPr>
              <a:t>e) Use of Contingency Reserves</a:t>
            </a:r>
            <a:endParaRPr lang="en-US" sz="2800" b="1" dirty="0">
              <a:latin typeface="+mn-lt"/>
            </a:endParaRPr>
          </a:p>
        </p:txBody>
      </p:sp>
      <p:sp>
        <p:nvSpPr>
          <p:cNvPr id="3" name="Content Placeholder 2"/>
          <p:cNvSpPr>
            <a:spLocks noGrp="1"/>
          </p:cNvSpPr>
          <p:nvPr>
            <p:ph idx="1"/>
          </p:nvPr>
        </p:nvSpPr>
        <p:spPr>
          <a:xfrm>
            <a:off x="460451" y="1124744"/>
            <a:ext cx="7772400" cy="5472608"/>
          </a:xfrm>
        </p:spPr>
        <p:txBody>
          <a:bodyPr>
            <a:normAutofit fontScale="85000" lnSpcReduction="20000"/>
          </a:bodyPr>
          <a:lstStyle/>
          <a:p>
            <a:pPr marL="365760" indent="-283464">
              <a:lnSpc>
                <a:spcPct val="80000"/>
              </a:lnSpc>
              <a:buNone/>
              <a:defRPr/>
            </a:pPr>
            <a:r>
              <a:rPr lang="en-US" sz="2400" b="1" dirty="0"/>
              <a:t>There are two types of contingencies:</a:t>
            </a:r>
          </a:p>
          <a:p>
            <a:pPr marL="425196" indent="-342900">
              <a:lnSpc>
                <a:spcPct val="120000"/>
              </a:lnSpc>
              <a:defRPr/>
            </a:pPr>
            <a:r>
              <a:rPr lang="en-US" sz="2400" b="1" dirty="0"/>
              <a:t>Task Contingency</a:t>
            </a:r>
            <a:br>
              <a:rPr lang="en-US" sz="2400" dirty="0"/>
            </a:br>
            <a:r>
              <a:rPr lang="en-US" sz="2400" dirty="0"/>
              <a:t>is used to offset schedule overruns, budget cuts or other unforeseen circumstances accruing to individual tasks or work packages. These budget reserves are managed by the project manager. Naturally, as the project moves forward, it may be possible to reduce budget reserve requirements for task contingency because of the progression of the work. As a task is completed, the reserve left for that task cannot be accessed anymore.</a:t>
            </a:r>
          </a:p>
          <a:p>
            <a:pPr marL="425196" indent="-342900">
              <a:lnSpc>
                <a:spcPct val="120000"/>
              </a:lnSpc>
              <a:defRPr/>
            </a:pPr>
            <a:r>
              <a:rPr lang="en-US" sz="2400" b="1" dirty="0"/>
              <a:t>Managerial Contingency</a:t>
            </a:r>
            <a:br>
              <a:rPr lang="en-US" sz="2400" dirty="0"/>
            </a:br>
            <a:r>
              <a:rPr lang="en-US" sz="2400" dirty="0"/>
              <a:t>is an additional safety buffer applied at the project level. They are used in instances where the customer changes the scope half way through the development process.  "Acts of God", natural disasters or the like are unforeseeable by definition. In these cases Management (not the project manager) has access to this contingency fund.</a:t>
            </a:r>
          </a:p>
          <a:p>
            <a:endParaRPr lang="en-US" dirty="0"/>
          </a:p>
        </p:txBody>
      </p:sp>
      <p:sp>
        <p:nvSpPr>
          <p:cNvPr id="4" name="Oval 3"/>
          <p:cNvSpPr>
            <a:spLocks noChangeArrowheads="1"/>
          </p:cNvSpPr>
          <p:nvPr/>
        </p:nvSpPr>
        <p:spPr bwMode="auto">
          <a:xfrm>
            <a:off x="201704" y="6165304"/>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7" name="Slide Number Placeholder 6"/>
          <p:cNvSpPr>
            <a:spLocks noGrp="1"/>
          </p:cNvSpPr>
          <p:nvPr>
            <p:ph type="sldNum" sz="quarter" idx="12"/>
          </p:nvPr>
        </p:nvSpPr>
        <p:spPr>
          <a:xfrm>
            <a:off x="8204142" y="6239122"/>
            <a:ext cx="417516" cy="377825"/>
          </a:xfrm>
        </p:spPr>
        <p:txBody>
          <a:bodyPr/>
          <a:lstStyle/>
          <a:p>
            <a:pPr>
              <a:defRPr/>
            </a:pPr>
            <a:fld id="{95875DF6-B96D-4E7E-8088-3E962A93B459}" type="slidenum">
              <a:rPr lang="en-US" smtClean="0"/>
              <a:pPr>
                <a:defRPr/>
              </a:pPr>
              <a:t>32</a:t>
            </a:fld>
            <a:endParaRPr lang="en-US" dirty="0"/>
          </a:p>
        </p:txBody>
      </p:sp>
      <p:sp>
        <p:nvSpPr>
          <p:cNvPr id="6" name="Date Placeholder 5">
            <a:extLst>
              <a:ext uri="{FF2B5EF4-FFF2-40B4-BE49-F238E27FC236}">
                <a16:creationId xmlns:a16="http://schemas.microsoft.com/office/drawing/2014/main" id="{B04D90A4-1ACD-489B-BBE1-5E19F946B828}"/>
              </a:ext>
            </a:extLst>
          </p:cNvPr>
          <p:cNvSpPr>
            <a:spLocks noGrp="1"/>
          </p:cNvSpPr>
          <p:nvPr>
            <p:ph type="dt" sz="half" idx="10"/>
          </p:nvPr>
        </p:nvSpPr>
        <p:spPr/>
        <p:txBody>
          <a:bodyPr/>
          <a:lstStyle/>
          <a:p>
            <a:pPr>
              <a:defRPr/>
            </a:pPr>
            <a:r>
              <a:rPr lang="en-US"/>
              <a:t>G.R. Labbé</a:t>
            </a:r>
            <a:endParaRPr lang="en-US" dirty="0"/>
          </a:p>
        </p:txBody>
      </p:sp>
    </p:spTree>
    <p:extLst>
      <p:ext uri="{BB962C8B-B14F-4D97-AF65-F5344CB8AC3E}">
        <p14:creationId xmlns:p14="http://schemas.microsoft.com/office/powerpoint/2010/main" val="38727345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bwMode="auto">
          <a:xfrm>
            <a:off x="152400" y="990600"/>
            <a:ext cx="8834438" cy="5362575"/>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9496" indent="-457200">
              <a:defRPr/>
            </a:pPr>
            <a:endParaRPr lang="en-US" dirty="0"/>
          </a:p>
          <a:p>
            <a:pPr marL="539496" indent="-457200">
              <a:defRPr/>
            </a:pPr>
            <a:endParaRPr lang="en-US" dirty="0"/>
          </a:p>
          <a:p>
            <a:pPr marL="539496" indent="-457200">
              <a:defRPr/>
            </a:pPr>
            <a:endParaRPr lang="en-US" dirty="0"/>
          </a:p>
          <a:p>
            <a:pPr marL="539496" indent="-457200">
              <a:defRPr/>
            </a:pPr>
            <a:endParaRPr lang="en-US" dirty="0"/>
          </a:p>
          <a:p>
            <a:pPr marL="82296" indent="0">
              <a:buFont typeface="Arial" charset="0"/>
              <a:buNone/>
              <a:defRPr/>
            </a:pPr>
            <a:endParaRPr lang="en-US" dirty="0"/>
          </a:p>
          <a:p>
            <a:pPr marL="82296" indent="0">
              <a:buFont typeface="Arial" charset="0"/>
              <a:buNone/>
              <a:defRPr/>
            </a:pPr>
            <a:endParaRPr lang="en-US" dirty="0">
              <a:effectLst>
                <a:outerShdw blurRad="38100" dist="38100" dir="2700000" algn="tl">
                  <a:srgbClr val="000000">
                    <a:alpha val="43137"/>
                  </a:srgbClr>
                </a:outerShdw>
              </a:effectLst>
            </a:endParaRPr>
          </a:p>
          <a:p>
            <a:pPr marL="539496" indent="-457200">
              <a:defRPr/>
            </a:pPr>
            <a:endParaRPr lang="en-US" dirty="0">
              <a:effectLst>
                <a:outerShdw blurRad="38100" dist="38100" dir="2700000" algn="tl">
                  <a:srgbClr val="000000">
                    <a:alpha val="43137"/>
                  </a:srgbClr>
                </a:outerShdw>
              </a:effectLst>
            </a:endParaRPr>
          </a:p>
          <a:p>
            <a:pPr marL="82296" indent="0">
              <a:buFont typeface="Arial" charset="0"/>
              <a:buNone/>
              <a:defRPr/>
            </a:pPr>
            <a:endParaRPr lang="en-US" dirty="0">
              <a:effectLst>
                <a:outerShdw blurRad="38100" dist="38100" dir="2700000" algn="tl">
                  <a:srgbClr val="000000">
                    <a:alpha val="43137"/>
                  </a:srgbClr>
                </a:outerShdw>
              </a:effectLst>
            </a:endParaRPr>
          </a:p>
          <a:p>
            <a:pPr marL="82296" indent="0">
              <a:buFont typeface="Arial" charset="0"/>
              <a:buNone/>
              <a:defRPr/>
            </a:pPr>
            <a:endParaRPr lang="en-US" dirty="0">
              <a:effectLst>
                <a:outerShdw blurRad="38100" dist="38100" dir="2700000" algn="tl">
                  <a:srgbClr val="000000">
                    <a:alpha val="43137"/>
                  </a:srgbClr>
                </a:outerShdw>
              </a:effectLst>
            </a:endParaRPr>
          </a:p>
        </p:txBody>
      </p:sp>
      <p:sp>
        <p:nvSpPr>
          <p:cNvPr id="7" name="TextBox 6"/>
          <p:cNvSpPr txBox="1"/>
          <p:nvPr/>
        </p:nvSpPr>
        <p:spPr>
          <a:xfrm>
            <a:off x="1674813" y="2306638"/>
            <a:ext cx="5789612" cy="677862"/>
          </a:xfrm>
          <a:prstGeom prst="rect">
            <a:avLst/>
          </a:prstGeom>
          <a:noFill/>
        </p:spPr>
        <p:txBody>
          <a:bodyPr tIns="0" bIns="0">
            <a:spAutoFit/>
          </a:bodyPr>
          <a:lstStyle/>
          <a:p>
            <a:pPr marL="82296" algn="ctr">
              <a:defRPr/>
            </a:pPr>
            <a:r>
              <a:rPr lang="en-US" sz="4400" b="1" i="1" dirty="0">
                <a:latin typeface="+mn-lt"/>
              </a:rPr>
              <a:t>What is FMEA?</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bwMode="auto">
          <a:xfrm>
            <a:off x="152400" y="836613"/>
            <a:ext cx="8834438" cy="5516562"/>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9496" indent="-457200">
              <a:defRPr/>
            </a:pPr>
            <a:endParaRPr lang="en-US" dirty="0"/>
          </a:p>
          <a:p>
            <a:pPr marL="539496" indent="-457200">
              <a:defRPr/>
            </a:pPr>
            <a:endParaRPr lang="en-US" dirty="0"/>
          </a:p>
          <a:p>
            <a:pPr marL="539496" indent="-457200">
              <a:defRPr/>
            </a:pPr>
            <a:endParaRPr lang="en-US" dirty="0"/>
          </a:p>
          <a:p>
            <a:pPr marL="539496" indent="-457200">
              <a:defRPr/>
            </a:pPr>
            <a:endParaRPr lang="en-US" dirty="0"/>
          </a:p>
          <a:p>
            <a:pPr marL="82296" indent="0">
              <a:buFont typeface="Arial" charset="0"/>
              <a:buNone/>
              <a:defRPr/>
            </a:pPr>
            <a:endParaRPr lang="en-US" dirty="0"/>
          </a:p>
          <a:p>
            <a:pPr marL="82296" indent="0">
              <a:buFont typeface="Arial" charset="0"/>
              <a:buNone/>
              <a:defRPr/>
            </a:pPr>
            <a:endParaRPr lang="en-US" dirty="0">
              <a:effectLst>
                <a:outerShdw blurRad="38100" dist="38100" dir="2700000" algn="tl">
                  <a:srgbClr val="000000">
                    <a:alpha val="43137"/>
                  </a:srgbClr>
                </a:outerShdw>
              </a:effectLst>
            </a:endParaRPr>
          </a:p>
          <a:p>
            <a:pPr marL="539496" indent="-457200">
              <a:defRPr/>
            </a:pPr>
            <a:endParaRPr lang="en-US" dirty="0">
              <a:effectLst>
                <a:outerShdw blurRad="38100" dist="38100" dir="2700000" algn="tl">
                  <a:srgbClr val="000000">
                    <a:alpha val="43137"/>
                  </a:srgbClr>
                </a:outerShdw>
              </a:effectLst>
            </a:endParaRPr>
          </a:p>
          <a:p>
            <a:pPr marL="82296" indent="0">
              <a:buFont typeface="Arial" charset="0"/>
              <a:buNone/>
              <a:defRPr/>
            </a:pPr>
            <a:endParaRPr lang="en-US" dirty="0">
              <a:effectLst>
                <a:outerShdw blurRad="38100" dist="38100" dir="2700000" algn="tl">
                  <a:srgbClr val="000000">
                    <a:alpha val="43137"/>
                  </a:srgbClr>
                </a:outerShdw>
              </a:effectLst>
            </a:endParaRPr>
          </a:p>
          <a:p>
            <a:pPr marL="82296" indent="0">
              <a:buFont typeface="Arial" charset="0"/>
              <a:buNone/>
              <a:defRPr/>
            </a:pPr>
            <a:endParaRPr lang="en-US" dirty="0">
              <a:effectLst>
                <a:outerShdw blurRad="38100" dist="38100" dir="2700000" algn="tl">
                  <a:srgbClr val="000000">
                    <a:alpha val="43137"/>
                  </a:srgbClr>
                </a:outerShdw>
              </a:effectLst>
            </a:endParaRPr>
          </a:p>
        </p:txBody>
      </p:sp>
      <p:pic>
        <p:nvPicPr>
          <p:cNvPr id="34819" name="Picture 3" descr="E:\Brent Stuff\1 - BWM DESIGN\Teaching\AMD\Images for Curriculum\Fmea1.jpg"/>
          <p:cNvPicPr>
            <a:picLocks noChangeAspect="1" noChangeArrowheads="1"/>
          </p:cNvPicPr>
          <p:nvPr/>
        </p:nvPicPr>
        <p:blipFill>
          <a:blip r:embed="rId2" cstate="print"/>
          <a:srcRect/>
          <a:stretch>
            <a:fillRect/>
          </a:stretch>
        </p:blipFill>
        <p:spPr bwMode="auto">
          <a:xfrm>
            <a:off x="1674019" y="1186121"/>
            <a:ext cx="5791200" cy="481754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bwMode="auto">
          <a:xfrm>
            <a:off x="157163" y="836613"/>
            <a:ext cx="8834437" cy="5716587"/>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82296" indent="0">
              <a:buFont typeface="Arial" charset="0"/>
              <a:buNone/>
              <a:defRPr/>
            </a:pPr>
            <a:r>
              <a:rPr lang="en-US" b="1" i="1" dirty="0"/>
              <a:t>FMEA</a:t>
            </a:r>
            <a:r>
              <a:rPr lang="en-US" dirty="0"/>
              <a:t> is often the first step of a system reliability study. It involves reviewing as many components, assemblies, and subsystems as possible to identify failure modes, and their causes and effects. </a:t>
            </a:r>
          </a:p>
          <a:p>
            <a:pPr marL="539496" indent="-457200">
              <a:defRPr/>
            </a:pPr>
            <a:r>
              <a:rPr lang="en-US" dirty="0"/>
              <a:t>FMEA helps identify potential failure modes based on experience with similar products. </a:t>
            </a:r>
          </a:p>
          <a:p>
            <a:pPr marL="539496" indent="-457200">
              <a:defRPr/>
            </a:pPr>
            <a:r>
              <a:rPr lang="en-US" dirty="0"/>
              <a:t>“Failure Mode” refers to identifying what can fail and how it will or might or could conceivably fail.</a:t>
            </a:r>
          </a:p>
          <a:p>
            <a:pPr marL="539496" indent="-457200">
              <a:defRPr/>
            </a:pPr>
            <a:r>
              <a:rPr lang="en-US" dirty="0"/>
              <a:t>“Effects Analysis” refers to studying the consequences of those failures.</a:t>
            </a:r>
            <a:endParaRPr lang="en-US" sz="1100" dirty="0">
              <a:hlinkClick r:id="rId2"/>
            </a:endParaRPr>
          </a:p>
          <a:p>
            <a:pPr marL="82296" indent="0" algn="r">
              <a:buFont typeface="Arial" charset="0"/>
              <a:buNone/>
              <a:defRPr/>
            </a:pPr>
            <a:r>
              <a:rPr lang="en-US" sz="1100" dirty="0">
                <a:hlinkClick r:id="rId3"/>
              </a:rPr>
              <a:t>https://en.wikipedia.org/wiki/Failure_mode_and_effects_analysis</a:t>
            </a:r>
            <a:endParaRPr lang="en-US" sz="1100" dirty="0"/>
          </a:p>
          <a:p>
            <a:pPr marL="82296" indent="0" algn="r">
              <a:buFont typeface="Arial" charset="0"/>
              <a:buNone/>
              <a:defRPr/>
            </a:pP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3" name="Content Placeholder 2"/>
          <p:cNvSpPr txBox="1">
            <a:spLocks/>
          </p:cNvSpPr>
          <p:nvPr/>
        </p:nvSpPr>
        <p:spPr bwMode="auto">
          <a:xfrm>
            <a:off x="157163" y="836613"/>
            <a:ext cx="8834437" cy="5716587"/>
          </a:xfrm>
          <a:prstGeom prst="rect">
            <a:avLst/>
          </a:prstGeom>
          <a:noFill/>
          <a:ln w="9525">
            <a:noFill/>
            <a:miter lim="800000"/>
            <a:headEnd/>
            <a:tailEnd/>
          </a:ln>
        </p:spPr>
        <p:txBody>
          <a:bodyPr/>
          <a:lstStyle/>
          <a:p>
            <a:pPr marL="80963" algn="r">
              <a:spcBef>
                <a:spcPct val="20000"/>
              </a:spcBef>
              <a:buFont typeface="Arial" charset="0"/>
              <a:buNone/>
            </a:pPr>
            <a:endParaRPr lang="en-US" altLang="en-US" sz="1100">
              <a:latin typeface="Calibri" pitchFamily="34" charset="0"/>
            </a:endParaRPr>
          </a:p>
        </p:txBody>
      </p:sp>
      <p:pic>
        <p:nvPicPr>
          <p:cNvPr id="63494" name="Picture 2"/>
          <p:cNvPicPr>
            <a:picLocks noChangeAspect="1" noChangeArrowheads="1"/>
          </p:cNvPicPr>
          <p:nvPr/>
        </p:nvPicPr>
        <p:blipFill>
          <a:blip r:embed="rId2" cstate="print"/>
          <a:srcRect l="15407" t="22073" r="15407" b="22815"/>
          <a:stretch>
            <a:fillRect/>
          </a:stretch>
        </p:blipFill>
        <p:spPr bwMode="auto">
          <a:xfrm>
            <a:off x="1485900" y="1203325"/>
            <a:ext cx="6172200" cy="4918075"/>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7" name="Content Placeholder 2"/>
          <p:cNvSpPr txBox="1">
            <a:spLocks/>
          </p:cNvSpPr>
          <p:nvPr/>
        </p:nvSpPr>
        <p:spPr bwMode="auto">
          <a:xfrm>
            <a:off x="157163" y="836613"/>
            <a:ext cx="8834437" cy="5716587"/>
          </a:xfrm>
          <a:prstGeom prst="rect">
            <a:avLst/>
          </a:prstGeom>
          <a:noFill/>
          <a:ln w="9525">
            <a:noFill/>
            <a:miter lim="800000"/>
            <a:headEnd/>
            <a:tailEnd/>
          </a:ln>
        </p:spPr>
        <p:txBody>
          <a:bodyPr/>
          <a:lstStyle/>
          <a:p>
            <a:pPr marL="80963">
              <a:spcBef>
                <a:spcPct val="20000"/>
              </a:spcBef>
              <a:buFont typeface="Arial" charset="0"/>
              <a:buNone/>
            </a:pPr>
            <a:r>
              <a:rPr lang="en-US" altLang="en-US" sz="3200" b="1" i="1">
                <a:latin typeface="Calibri" pitchFamily="34" charset="0"/>
              </a:rPr>
              <a:t>FMEA…</a:t>
            </a:r>
            <a:endParaRPr lang="en-US" altLang="en-US" sz="1100">
              <a:latin typeface="Calibri" pitchFamily="34" charset="0"/>
            </a:endParaRPr>
          </a:p>
        </p:txBody>
      </p:sp>
      <p:pic>
        <p:nvPicPr>
          <p:cNvPr id="53250" name="Picture 2"/>
          <p:cNvPicPr>
            <a:picLocks noChangeAspect="1" noChangeArrowheads="1"/>
          </p:cNvPicPr>
          <p:nvPr/>
        </p:nvPicPr>
        <p:blipFill>
          <a:blip r:embed="rId2" cstate="print"/>
          <a:srcRect/>
          <a:stretch>
            <a:fillRect/>
          </a:stretch>
        </p:blipFill>
        <p:spPr bwMode="auto">
          <a:xfrm>
            <a:off x="1637399" y="1566862"/>
            <a:ext cx="5873963" cy="44100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43242"/>
            <a:ext cx="7772400" cy="659159"/>
          </a:xfrm>
        </p:spPr>
        <p:txBody>
          <a:bodyPr/>
          <a:lstStyle/>
          <a:p>
            <a:r>
              <a:rPr lang="en-US" b="1" dirty="0">
                <a:latin typeface="+mn-lt"/>
              </a:rPr>
              <a:t>Group Work</a:t>
            </a:r>
          </a:p>
        </p:txBody>
      </p:sp>
      <p:sp>
        <p:nvSpPr>
          <p:cNvPr id="3" name="Content Placeholder 2"/>
          <p:cNvSpPr>
            <a:spLocks noGrp="1"/>
          </p:cNvSpPr>
          <p:nvPr>
            <p:ph idx="1"/>
          </p:nvPr>
        </p:nvSpPr>
        <p:spPr>
          <a:xfrm>
            <a:off x="760040" y="986754"/>
            <a:ext cx="7772400" cy="5512825"/>
          </a:xfrm>
        </p:spPr>
        <p:txBody>
          <a:bodyPr>
            <a:normAutofit/>
          </a:bodyPr>
          <a:lstStyle/>
          <a:p>
            <a:r>
              <a:rPr lang="en-US" dirty="0"/>
              <a:t>In your Project Groups discuss the Risks associated with the following  project.</a:t>
            </a:r>
          </a:p>
          <a:p>
            <a:r>
              <a:rPr lang="en-US" dirty="0"/>
              <a:t>You and five friends are going to borrow a friend's car and drive to the beach. You have never been to this beach before and you are uncertain of the directions to get there. One of your friends is a very picky eater and you were planning on having lunch and dinner at the beach.  The weather has been unpredictable the last few days and the forecast calls for a mix of sun and clouds with a chance of rain and high winds. The car that you are going to borrow is an older car and your friend has said that he is going to replace it soon due to issues that he is having with it. You are considering buying it so this is a good chance to try it out. This beach is very popular, and you have heard that there is going to be a fireworks show on the beach after sunset and music all day at a stage setup on the beach.</a:t>
            </a:r>
          </a:p>
          <a:p>
            <a:r>
              <a:rPr lang="en-US" dirty="0"/>
              <a:t>List all the risks that you can think of for the given scenario. Classify the risks into one of the categories discussed earlier and identify what strategy you would use to mitigate the risk.</a:t>
            </a:r>
          </a:p>
          <a:p>
            <a:endParaRPr lang="en-US" dirty="0"/>
          </a:p>
        </p:txBody>
      </p:sp>
      <p:sp>
        <p:nvSpPr>
          <p:cNvPr id="6" name="Slide Number Placeholder 5"/>
          <p:cNvSpPr>
            <a:spLocks noGrp="1"/>
          </p:cNvSpPr>
          <p:nvPr>
            <p:ph type="sldNum" sz="quarter" idx="12"/>
          </p:nvPr>
        </p:nvSpPr>
        <p:spPr>
          <a:xfrm>
            <a:off x="8208182" y="6272092"/>
            <a:ext cx="417516" cy="377825"/>
          </a:xfrm>
        </p:spPr>
        <p:txBody>
          <a:bodyPr/>
          <a:lstStyle/>
          <a:p>
            <a:pPr>
              <a:defRPr/>
            </a:pPr>
            <a:fld id="{95875DF6-B96D-4E7E-8088-3E962A93B459}" type="slidenum">
              <a:rPr lang="en-US" smtClean="0"/>
              <a:pPr>
                <a:defRPr/>
              </a:pPr>
              <a:t>38</a:t>
            </a:fld>
            <a:endParaRPr lang="en-US" dirty="0"/>
          </a:p>
        </p:txBody>
      </p:sp>
      <p:sp>
        <p:nvSpPr>
          <p:cNvPr id="5" name="Date Placeholder 4">
            <a:extLst>
              <a:ext uri="{FF2B5EF4-FFF2-40B4-BE49-F238E27FC236}">
                <a16:creationId xmlns:a16="http://schemas.microsoft.com/office/drawing/2014/main" id="{22E4321C-B909-484A-B675-B53CF80A2245}"/>
              </a:ext>
            </a:extLst>
          </p:cNvPr>
          <p:cNvSpPr>
            <a:spLocks noGrp="1"/>
          </p:cNvSpPr>
          <p:nvPr>
            <p:ph type="dt" sz="half" idx="10"/>
          </p:nvPr>
        </p:nvSpPr>
        <p:spPr/>
        <p:txBody>
          <a:bodyPr/>
          <a:lstStyle/>
          <a:p>
            <a:pPr>
              <a:defRPr/>
            </a:pPr>
            <a:r>
              <a:rPr lang="en-US"/>
              <a:t>G.R. Labbé</a:t>
            </a:r>
            <a:endParaRPr lang="en-US" dirty="0"/>
          </a:p>
        </p:txBody>
      </p:sp>
    </p:spTree>
    <p:extLst>
      <p:ext uri="{BB962C8B-B14F-4D97-AF65-F5344CB8AC3E}">
        <p14:creationId xmlns:p14="http://schemas.microsoft.com/office/powerpoint/2010/main" val="30411051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Celestial</Template>
  <TotalTime>2409</TotalTime>
  <Words>2844</Words>
  <Application>Microsoft Office PowerPoint</Application>
  <PresentationFormat>On-screen Show (4:3)</PresentationFormat>
  <Paragraphs>266</Paragraphs>
  <Slides>38</Slides>
  <Notes>1</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Calibri Light</vt:lpstr>
      <vt:lpstr>Wingdings</vt:lpstr>
      <vt:lpstr>Wingdings 2</vt:lpstr>
      <vt:lpstr>Celestial</vt:lpstr>
      <vt:lpstr>PowerPoint Presentation</vt:lpstr>
      <vt:lpstr>Lecture Overview</vt:lpstr>
      <vt:lpstr>PowerPoint Presentation</vt:lpstr>
      <vt:lpstr>PowerPoint Presentation</vt:lpstr>
      <vt:lpstr>How is Risk Defined?</vt:lpstr>
      <vt:lpstr>PowerPoint Presentation</vt:lpstr>
      <vt:lpstr>Project Risk is based on this simple equation:</vt:lpstr>
      <vt:lpstr>PowerPoint Presentation</vt:lpstr>
      <vt:lpstr>PowerPoint Presentation</vt:lpstr>
      <vt:lpstr>PowerPoint Presentation</vt:lpstr>
      <vt:lpstr>PowerPoint Presentation</vt:lpstr>
      <vt:lpstr>Goal of Risk Management</vt:lpstr>
      <vt:lpstr>PowerPoint Presentation</vt:lpstr>
      <vt:lpstr>Side Note: Risk and Opportunity</vt:lpstr>
      <vt:lpstr>Risk Management</vt:lpstr>
      <vt:lpstr>1) Risk Identification and classification</vt:lpstr>
      <vt:lpstr>2) Analysis of Probability and IMPACT</vt:lpstr>
      <vt:lpstr>Team Assessment Risk Analysis</vt:lpstr>
      <vt:lpstr>PowerPoint Presentation</vt:lpstr>
      <vt:lpstr>Quantitative Risk Analysis</vt:lpstr>
      <vt:lpstr>2) Quantitative Risk Analysis and Modeling Techniques</vt:lpstr>
      <vt:lpstr>Building your summer Cottage</vt:lpstr>
      <vt:lpstr>Assumptions</vt:lpstr>
      <vt:lpstr>PowerPoint Presentation</vt:lpstr>
      <vt:lpstr>3) Risk Mitigation Strategies categorization</vt:lpstr>
      <vt:lpstr>a) Accept Risk</vt:lpstr>
      <vt:lpstr>PowerPoint Presentation</vt:lpstr>
      <vt:lpstr>b) Minimize Risk</vt:lpstr>
      <vt:lpstr>c) Share Risk</vt:lpstr>
      <vt:lpstr>d) Transfer Risk</vt:lpstr>
      <vt:lpstr>e) Use of Contingency Reserves</vt:lpstr>
      <vt:lpstr>e) Use of Contingency Reserves</vt:lpstr>
      <vt:lpstr>PowerPoint Presentation</vt:lpstr>
      <vt:lpstr>PowerPoint Presentation</vt:lpstr>
      <vt:lpstr>PowerPoint Presentation</vt:lpstr>
      <vt:lpstr>PowerPoint Presentation</vt:lpstr>
      <vt:lpstr>PowerPoint Presentation</vt:lpstr>
      <vt:lpstr>Group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Management</dc:title>
  <dc:creator>Family</dc:creator>
  <cp:lastModifiedBy>Ozlu, Sinan</cp:lastModifiedBy>
  <cp:revision>127</cp:revision>
  <dcterms:created xsi:type="dcterms:W3CDTF">2008-01-02T17:34:42Z</dcterms:created>
  <dcterms:modified xsi:type="dcterms:W3CDTF">2024-10-31T04:29:07Z</dcterms:modified>
</cp:coreProperties>
</file>