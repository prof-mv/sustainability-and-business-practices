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6" r:id="rId1"/>
  </p:sldMasterIdLst>
  <p:notesMasterIdLst>
    <p:notesMasterId r:id="rId26"/>
  </p:notesMasterIdLst>
  <p:sldIdLst>
    <p:sldId id="256" r:id="rId2"/>
    <p:sldId id="307" r:id="rId3"/>
    <p:sldId id="260" r:id="rId4"/>
    <p:sldId id="276" r:id="rId5"/>
    <p:sldId id="299" r:id="rId6"/>
    <p:sldId id="300" r:id="rId7"/>
    <p:sldId id="301" r:id="rId8"/>
    <p:sldId id="302" r:id="rId9"/>
    <p:sldId id="291" r:id="rId10"/>
    <p:sldId id="292" r:id="rId11"/>
    <p:sldId id="293" r:id="rId12"/>
    <p:sldId id="294" r:id="rId13"/>
    <p:sldId id="295" r:id="rId14"/>
    <p:sldId id="296" r:id="rId15"/>
    <p:sldId id="282" r:id="rId16"/>
    <p:sldId id="272" r:id="rId17"/>
    <p:sldId id="273" r:id="rId18"/>
    <p:sldId id="262" r:id="rId19"/>
    <p:sldId id="263" r:id="rId20"/>
    <p:sldId id="279" r:id="rId21"/>
    <p:sldId id="297" r:id="rId22"/>
    <p:sldId id="298" r:id="rId23"/>
    <p:sldId id="303" r:id="rId24"/>
    <p:sldId id="304" r:id="rId25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>
      <p:cViewPr varScale="1">
        <p:scale>
          <a:sx n="75" d="100"/>
          <a:sy n="75" d="100"/>
        </p:scale>
        <p:origin x="166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799ED6-124A-4F72-B195-3BDB3142FAA5}" type="datetimeFigureOut">
              <a:rPr lang="en-US" smtClean="0"/>
              <a:t>11/9/2024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6B3905-B02C-4E59-A616-EDE818D9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892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0100" y="2606040"/>
            <a:ext cx="7543800" cy="27432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100">
                <a:solidFill>
                  <a:schemeClr val="tx1"/>
                </a:solidFill>
                <a:effectLst>
                  <a:outerShdw blurRad="38100" dist="25400" dir="18900000" algn="bl" rotWithShape="0">
                    <a:schemeClr val="bg1">
                      <a:alpha val="80000"/>
                    </a:scheme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00" y="5360437"/>
            <a:ext cx="7543800" cy="36576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500" b="1" cap="all" baseline="0">
                <a:solidFill>
                  <a:schemeClr val="accent1"/>
                </a:solidFill>
                <a:effectLst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5888736"/>
            <a:ext cx="9144000" cy="109728"/>
          </a:xfrm>
          <a:prstGeom prst="rect">
            <a:avLst/>
          </a:prstGeom>
          <a:ln>
            <a:noFill/>
          </a:ln>
          <a:effectLst>
            <a:outerShdw blurRad="25400" dist="25400" dir="54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5888736"/>
            <a:ext cx="9144000" cy="109728"/>
          </a:xfrm>
          <a:prstGeom prst="rect">
            <a:avLst/>
          </a:prstGeom>
          <a:ln>
            <a:noFill/>
          </a:ln>
          <a:effectLst>
            <a:innerShdw blurRad="25400" dist="12700" dir="16200000">
              <a:schemeClr val="accent1">
                <a:lumMod val="50000"/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316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Lecture 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G.R. Labbé &amp; R.W. Schott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srgbClr val="514A40"/>
                </a:solidFill>
              </a:rPr>
              <a:pPr/>
              <a:t>‹#›</a:t>
            </a:fld>
            <a:endParaRPr lang="en-US">
              <a:solidFill>
                <a:srgbClr val="514A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832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hidden">
          <a:xfrm>
            <a:off x="5815305" y="283"/>
            <a:ext cx="3326788" cy="68562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0" y="1565829"/>
            <a:ext cx="4457700" cy="41148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4050">
                <a:effectLst>
                  <a:outerShdw blurRad="38100" dist="25400" dir="18900000" algn="bl" rotWithShape="0">
                    <a:schemeClr val="bg1">
                      <a:alpha val="80000"/>
                    </a:scheme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1" y="5682344"/>
            <a:ext cx="4457700" cy="41054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50" b="1" cap="all" baseline="0"/>
            </a:lvl1pPr>
            <a:lvl2pPr marL="342900" indent="0">
              <a:buNone/>
              <a:defRPr sz="1500"/>
            </a:lvl2pPr>
            <a:lvl3pPr marL="685800" indent="0">
              <a:buNone/>
              <a:defRPr sz="135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5780313" y="0"/>
            <a:ext cx="41148" cy="6858000"/>
          </a:xfrm>
          <a:prstGeom prst="rect">
            <a:avLst/>
          </a:prstGeom>
          <a:ln>
            <a:noFill/>
          </a:ln>
          <a:effectLst>
            <a:outerShdw blurRad="25400" dist="254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5780313" y="0"/>
            <a:ext cx="41148" cy="6858000"/>
          </a:xfrm>
          <a:prstGeom prst="rect">
            <a:avLst/>
          </a:prstGeom>
          <a:ln>
            <a:noFill/>
          </a:ln>
          <a:effectLst>
            <a:innerShdw blurRad="25400" dist="127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9176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1550" y="1825626"/>
            <a:ext cx="3543300" cy="4117975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49" y="1825626"/>
            <a:ext cx="3543300" cy="4117975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Lecture 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G.R. Labbé &amp; R.W. Schott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srgbClr val="514A40"/>
                </a:solidFill>
              </a:rPr>
              <a:pPr/>
              <a:t>‹#›</a:t>
            </a:fld>
            <a:endParaRPr lang="en-US">
              <a:solidFill>
                <a:srgbClr val="514A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2543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1828800"/>
            <a:ext cx="3545586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50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1550" y="2470151"/>
            <a:ext cx="3545586" cy="3473450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5721" y="1828800"/>
            <a:ext cx="3545586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50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6864" y="2470151"/>
            <a:ext cx="3545586" cy="3473450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Lecture 7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G.R. Labbé &amp; R.W. Schott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srgbClr val="514A40"/>
                </a:solidFill>
              </a:rPr>
              <a:pPr/>
              <a:t>‹#›</a:t>
            </a:fld>
            <a:endParaRPr lang="en-US">
              <a:solidFill>
                <a:srgbClr val="514A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6609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Lecture 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G.R. Labbé &amp; R.W. Schott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srgbClr val="514A40"/>
                </a:solidFill>
              </a:rPr>
              <a:pPr/>
              <a:t>‹#›</a:t>
            </a:fld>
            <a:endParaRPr lang="en-US">
              <a:solidFill>
                <a:srgbClr val="514A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0357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Lecture 7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G.R. Labbé &amp; R.W. Schott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srgbClr val="514A40"/>
                </a:solidFill>
              </a:rPr>
              <a:pPr/>
              <a:t>‹#›</a:t>
            </a:fld>
            <a:endParaRPr lang="en-US">
              <a:solidFill>
                <a:srgbClr val="514A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9482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hidden">
          <a:xfrm>
            <a:off x="5815305" y="283"/>
            <a:ext cx="3326788" cy="6856286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5780313" y="0"/>
            <a:ext cx="41148" cy="6858000"/>
          </a:xfrm>
          <a:prstGeom prst="rect">
            <a:avLst/>
          </a:prstGeom>
          <a:ln>
            <a:noFill/>
          </a:ln>
          <a:effectLst>
            <a:outerShdw blurRad="25400" dist="254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5780313" y="0"/>
            <a:ext cx="41148" cy="6858000"/>
          </a:xfrm>
          <a:prstGeom prst="rect">
            <a:avLst/>
          </a:prstGeom>
          <a:ln>
            <a:noFill/>
          </a:ln>
          <a:effectLst>
            <a:innerShdw blurRad="25400" dist="127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1" y="2514600"/>
            <a:ext cx="2606040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727" y="685800"/>
            <a:ext cx="4594860" cy="5486400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72200" y="4343400"/>
            <a:ext cx="2606040" cy="118872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Lecture 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G.R. Labbé &amp; R.W. Schott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srgbClr val="514A40"/>
                </a:solidFill>
              </a:rPr>
              <a:pPr/>
              <a:t>‹#›</a:t>
            </a:fld>
            <a:endParaRPr lang="en-US">
              <a:solidFill>
                <a:srgbClr val="514A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778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hidden">
          <a:xfrm>
            <a:off x="5815305" y="283"/>
            <a:ext cx="3326788" cy="685628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780313" y="0"/>
            <a:ext cx="41148" cy="6858000"/>
          </a:xfrm>
          <a:prstGeom prst="rect">
            <a:avLst/>
          </a:prstGeom>
          <a:ln>
            <a:noFill/>
          </a:ln>
          <a:effectLst>
            <a:outerShdw blurRad="25400" dist="254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780313" y="0"/>
            <a:ext cx="41148" cy="6858000"/>
          </a:xfrm>
          <a:prstGeom prst="rect">
            <a:avLst/>
          </a:prstGeom>
          <a:ln>
            <a:noFill/>
          </a:ln>
          <a:effectLst>
            <a:innerShdw blurRad="25400" dist="127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14600"/>
            <a:ext cx="2606040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1325880"/>
            <a:ext cx="5143500" cy="4206240"/>
          </a:xfrm>
          <a:solidFill>
            <a:schemeClr val="bg2"/>
          </a:solidFill>
          <a:effectLst>
            <a:outerShdw blurRad="63500" sx="101000" sy="101000" algn="ctr" rotWithShape="0">
              <a:prstClr val="black">
                <a:alpha val="15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72200" y="4343400"/>
            <a:ext cx="2606040" cy="118872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Lecture 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G.R. Labbé &amp; R.W. Schott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srgbClr val="514A40"/>
                </a:solidFill>
              </a:rPr>
              <a:pPr/>
              <a:t>‹#›</a:t>
            </a:fld>
            <a:endParaRPr lang="en-US">
              <a:solidFill>
                <a:srgbClr val="514A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3846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Lecture 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G.R. Labbé &amp; R.W. Schott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srgbClr val="514A40"/>
                </a:solidFill>
              </a:rPr>
              <a:pPr/>
              <a:t>‹#›</a:t>
            </a:fld>
            <a:endParaRPr lang="en-US">
              <a:solidFill>
                <a:srgbClr val="514A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6966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43750" y="382231"/>
            <a:ext cx="1028700" cy="55613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1550" y="382230"/>
            <a:ext cx="5897880" cy="55613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Lecture 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G.R. Labbé &amp; R.W. Schott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srgbClr val="514A40"/>
                </a:solidFill>
              </a:rPr>
              <a:pPr/>
              <a:t>‹#›</a:t>
            </a:fld>
            <a:endParaRPr lang="en-US">
              <a:solidFill>
                <a:srgbClr val="514A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7747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Lecture 7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G.R. Labbé &amp; R.W. Schott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AE29DC-74D3-4028-B8B1-D362AA184C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505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257036"/>
            <a:ext cx="9144000" cy="54864"/>
          </a:xfrm>
          <a:prstGeom prst="rect">
            <a:avLst/>
          </a:prstGeom>
          <a:ln>
            <a:noFill/>
          </a:ln>
          <a:effectLst>
            <a:outerShdw blurRad="25400" dist="25400" dir="54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1550" y="381000"/>
            <a:ext cx="72009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1828800"/>
            <a:ext cx="72009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7128" y="6419462"/>
            <a:ext cx="1013537" cy="2389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>
                <a:solidFill>
                  <a:srgbClr val="514A40"/>
                </a:solidFill>
                <a:latin typeface="Cambria"/>
              </a:rPr>
              <a:t>Lecture 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71550" y="6419462"/>
            <a:ext cx="3886200" cy="2389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>
                <a:solidFill>
                  <a:srgbClr val="514A40"/>
                </a:solidFill>
                <a:latin typeface="Cambria"/>
              </a:rPr>
              <a:t>G.R. Labbé &amp; R.W. Schott</a:t>
            </a:r>
            <a:endParaRPr lang="en-US" dirty="0">
              <a:solidFill>
                <a:srgbClr val="514A40"/>
              </a:solidFill>
              <a:latin typeface="Cambri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48769" y="6419462"/>
            <a:ext cx="523681" cy="2389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E31375A4-56A4-47D6-9801-1991572033F7}" type="slidenum">
              <a:rPr lang="en-US" smtClean="0">
                <a:solidFill>
                  <a:srgbClr val="514A40"/>
                </a:solidFill>
                <a:latin typeface="Cambri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srgbClr val="514A40"/>
              </a:solidFill>
              <a:latin typeface="Cambria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6257036"/>
            <a:ext cx="9144000" cy="54864"/>
          </a:xfrm>
          <a:prstGeom prst="rect">
            <a:avLst/>
          </a:prstGeom>
          <a:ln>
            <a:noFill/>
          </a:ln>
          <a:effectLst>
            <a:innerShdw blurRad="25400" dist="12700" dir="16200000">
              <a:schemeClr val="accent1">
                <a:lumMod val="50000"/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1707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kern="1200" cap="all" baseline="0">
          <a:solidFill>
            <a:schemeClr val="accent1"/>
          </a:solidFill>
          <a:effectLst>
            <a:outerShdw blurRad="38100" dist="25400" dir="18900000" algn="bl" rotWithShape="0">
              <a:schemeClr val="bg1">
                <a:alpha val="80000"/>
              </a:schemeClr>
            </a:outerShdw>
          </a:effectLst>
          <a:latin typeface="+mj-lt"/>
          <a:ea typeface="+mj-ea"/>
          <a:cs typeface="+mj-cs"/>
        </a:defRPr>
      </a:lvl1pPr>
    </p:titleStyle>
    <p:bodyStyle>
      <a:lvl1pPr marL="205740" indent="-171450" algn="l" defTabSz="685800" rtl="0" eaLnBrk="1" latinLnBrk="0" hangingPunct="1">
        <a:lnSpc>
          <a:spcPct val="90000"/>
        </a:lnSpc>
        <a:spcBef>
          <a:spcPts val="1350"/>
        </a:spcBef>
        <a:buClr>
          <a:schemeClr val="accent1"/>
        </a:buClr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45770" indent="-1714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1450" algn="l" defTabSz="6858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indent="-171450" algn="l" defTabSz="6858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165860" indent="-171450" algn="l" defTabSz="6858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1450" algn="l" defTabSz="6858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577340" indent="-171450" algn="l" defTabSz="6858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783080" indent="-171450" algn="l" defTabSz="6858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988820" indent="-171450" algn="l" defTabSz="6858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fB0wsdmV3Sw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gi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528" y="476672"/>
            <a:ext cx="8655532" cy="959106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sz="6000" dirty="0">
                <a:solidFill>
                  <a:srgbClr val="7030A0"/>
                </a:solidFill>
                <a:latin typeface="Calibri" panose="020F0502020204030204" pitchFamily="34" charset="0"/>
              </a:rPr>
              <a:t>Project Scheduling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1520" y="6248843"/>
            <a:ext cx="3096344" cy="276501"/>
          </a:xfrm>
        </p:spPr>
        <p:txBody>
          <a:bodyPr>
            <a:noAutofit/>
          </a:bodyPr>
          <a:lstStyle/>
          <a:p>
            <a:pPr eaLnBrk="1" hangingPunct="1"/>
            <a:r>
              <a:rPr lang="en-US" sz="1600" dirty="0">
                <a:latin typeface="Calibri" panose="020F0502020204030204" pitchFamily="34" charset="0"/>
              </a:rPr>
              <a:t>Lecture 8</a:t>
            </a:r>
          </a:p>
        </p:txBody>
      </p:sp>
      <p:pic>
        <p:nvPicPr>
          <p:cNvPr id="5125" name="Picture 5" descr="C:\Users\Family\Desktop\GanttChartView.bm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420888"/>
            <a:ext cx="5474505" cy="3287895"/>
          </a:xfrm>
          <a:prstGeom prst="rect">
            <a:avLst/>
          </a:prstGeom>
          <a:noFill/>
        </p:spPr>
      </p:pic>
      <p:pic>
        <p:nvPicPr>
          <p:cNvPr id="5" name="Picture 3" descr="C:\Users\Family\Desktop\mobile-workforce-scheduling-optimization-problem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6490" y="1628800"/>
            <a:ext cx="2875990" cy="2031586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/>
        </p:nvSpPr>
        <p:spPr>
          <a:xfrm>
            <a:off x="5940152" y="6248345"/>
            <a:ext cx="29523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eaLnBrk="1" hangingPunct="1"/>
            <a:r>
              <a:rPr lang="en-US" sz="1200" dirty="0">
                <a:latin typeface="Calibri" panose="020F0502020204030204" pitchFamily="34" charset="0"/>
              </a:rPr>
              <a:t>G. Labbé &amp; R.W. Schott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462DFD-4086-4B3E-944F-4680BF686665}"/>
              </a:ext>
            </a:extLst>
          </p:cNvPr>
          <p:cNvSpPr txBox="1"/>
          <p:nvPr/>
        </p:nvSpPr>
        <p:spPr>
          <a:xfrm>
            <a:off x="1187624" y="1435778"/>
            <a:ext cx="4320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0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MGMT-3105</a:t>
            </a:r>
            <a:endParaRPr lang="en-US" sz="4000" b="1" dirty="0">
              <a:solidFill>
                <a:srgbClr val="7030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fB0wsdmV3Sw"/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395536" y="332656"/>
            <a:ext cx="8192911" cy="5760640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G.R. Labbé &amp; R.W. Schott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srgbClr val="514A40"/>
                </a:solidFill>
              </a:rPr>
              <a:pPr/>
              <a:t>2</a:t>
            </a:fld>
            <a:endParaRPr lang="en-US">
              <a:solidFill>
                <a:srgbClr val="514A40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F2C05B-3445-4836-8CE2-E2DA09009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rgbClr val="514A40"/>
                </a:solidFill>
              </a:rPr>
              <a:t>Lecture 8</a:t>
            </a:r>
          </a:p>
        </p:txBody>
      </p:sp>
    </p:spTree>
    <p:extLst>
      <p:ext uri="{BB962C8B-B14F-4D97-AF65-F5344CB8AC3E}">
        <p14:creationId xmlns:p14="http://schemas.microsoft.com/office/powerpoint/2010/main" val="4105876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46395" y="548680"/>
            <a:ext cx="4186808" cy="422746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sz="3200" dirty="0">
                <a:solidFill>
                  <a:srgbClr val="7030A0"/>
                </a:solidFill>
                <a:latin typeface="Calibri" panose="020F0502020204030204" pitchFamily="34" charset="0"/>
              </a:rPr>
              <a:t>Gantt charts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32792" y="971426"/>
            <a:ext cx="5472608" cy="4257774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Developed by Henry Gantt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(1861-1919)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between 1910 and 1915, they are another extremely useful tool for showing a project network. </a:t>
            </a:r>
          </a:p>
          <a:p>
            <a:pPr eaLnBrk="1" hangingPunct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Gantt charts establish a time-phased network, which links project activities to a project schedule</a:t>
            </a:r>
          </a:p>
          <a:p>
            <a:pPr eaLnBrk="1" hangingPunct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You need to understand the appropriate use of them and how to read/make them.</a:t>
            </a:r>
          </a:p>
          <a:p>
            <a:pPr marL="34290" indent="0" algn="ctr">
              <a:buNone/>
            </a:pP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which project was the Gantt chart heavily utilized for the first time between 1931 and 1936?</a:t>
            </a:r>
          </a:p>
          <a:p>
            <a:pPr marL="34290" indent="0">
              <a:buNone/>
            </a:pPr>
            <a:endParaRPr lang="en-US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" indent="0">
              <a:buNone/>
            </a:pPr>
            <a:endParaRPr lang="en-US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292" name="Picture 6" descr="gant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30309" y="2060848"/>
            <a:ext cx="2160935" cy="2540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96838" y="6409035"/>
            <a:ext cx="371475" cy="39945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G.R. Labbé &amp; R.W. Schott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AE29DC-74D3-4028-B8B1-D362AA184C3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AEC691-4A96-4987-9F98-3CA516CE678A}"/>
              </a:ext>
            </a:extLst>
          </p:cNvPr>
          <p:cNvSpPr txBox="1"/>
          <p:nvPr/>
        </p:nvSpPr>
        <p:spPr>
          <a:xfrm>
            <a:off x="632792" y="5340820"/>
            <a:ext cx="5472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b="1" dirty="0">
                <a:solidFill>
                  <a:schemeClr val="accent6">
                    <a:lumMod val="50000"/>
                  </a:schemeClr>
                </a:solidFill>
              </a:rPr>
              <a:t>The Hoover Dam </a:t>
            </a:r>
            <a:r>
              <a:rPr lang="en-CA" i="1" dirty="0">
                <a:solidFill>
                  <a:schemeClr val="accent6">
                    <a:lumMod val="50000"/>
                  </a:schemeClr>
                </a:solidFill>
              </a:rPr>
              <a:t>(Nevada–Arizona border)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52624-C2A0-49C1-AD85-6F223D5F0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Lecture 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949225" y="439113"/>
            <a:ext cx="3240410" cy="527720"/>
          </a:xfrm>
        </p:spPr>
        <p:txBody>
          <a:bodyPr>
            <a:noAutofit/>
          </a:bodyPr>
          <a:lstStyle/>
          <a:p>
            <a:pPr eaLnBrk="1" hangingPunct="1"/>
            <a:r>
              <a:rPr lang="en-US" sz="3200" dirty="0">
                <a:solidFill>
                  <a:srgbClr val="7030A0"/>
                </a:solidFill>
                <a:latin typeface="Calibri" panose="020F0502020204030204" pitchFamily="34" charset="0"/>
              </a:rPr>
              <a:t>Gantt Charts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412776"/>
            <a:ext cx="8208912" cy="4114800"/>
          </a:xfrm>
        </p:spPr>
        <p:txBody>
          <a:bodyPr>
            <a:normAutofit lnSpcReduction="10000"/>
          </a:bodyPr>
          <a:lstStyle/>
          <a:p>
            <a:pPr marL="457200" indent="-457200" eaLnBrk="1" hangingPunct="1">
              <a:lnSpc>
                <a:spcPct val="60000"/>
              </a:lnSpc>
              <a:buFontTx/>
              <a:buNone/>
            </a:pPr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When they are linked to a project schedule, they can be used to</a:t>
            </a:r>
          </a:p>
          <a:p>
            <a:pPr marL="457200" indent="-457200" eaLnBrk="1" hangingPunct="1">
              <a:lnSpc>
                <a:spcPct val="60000"/>
              </a:lnSpc>
              <a:buFontTx/>
              <a:buNone/>
            </a:pPr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track the progress of the project against its plan.</a:t>
            </a:r>
          </a:p>
          <a:p>
            <a:pPr marL="457200" indent="-457200" eaLnBrk="1" hangingPunct="1">
              <a:lnSpc>
                <a:spcPct val="60000"/>
              </a:lnSpc>
              <a:buFontTx/>
              <a:buNone/>
            </a:pPr>
            <a:endParaRPr lang="en-US" sz="24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Some of the benefits of Gantt Charts are: 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lphaLcParenR"/>
            </a:pPr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They are easy to read and comprehend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lphaLcParenR"/>
            </a:pPr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They identify the project network coupled with the schedule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lphaLcParenR"/>
            </a:pPr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They allow for updating and project control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lphaLcParenR"/>
            </a:pPr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They are useful for assigning resources to tasks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lphaLcParenR"/>
            </a:pPr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They are also easy to create</a:t>
            </a:r>
            <a:r>
              <a:rPr lang="en-US" sz="2400" dirty="0"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4" name="Oval 4"/>
          <p:cNvSpPr>
            <a:spLocks noChangeArrowheads="1"/>
          </p:cNvSpPr>
          <p:nvPr/>
        </p:nvSpPr>
        <p:spPr bwMode="auto">
          <a:xfrm>
            <a:off x="96838" y="6409035"/>
            <a:ext cx="371475" cy="39945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G.R. Labbé &amp; R.W. Schott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srgbClr val="514A40"/>
                </a:solidFill>
              </a:rPr>
              <a:pPr/>
              <a:t>4</a:t>
            </a:fld>
            <a:endParaRPr lang="en-US">
              <a:solidFill>
                <a:srgbClr val="514A40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CE3759-B1C4-4773-93DC-3B1B8947E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rgbClr val="514A40"/>
                </a:solidFill>
              </a:rPr>
              <a:t>Lecture 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272" y="188640"/>
            <a:ext cx="820814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0685" algn="ctr">
              <a:lnSpc>
                <a:spcPct val="100000"/>
              </a:lnSpc>
            </a:pPr>
            <a:r>
              <a:rPr lang="en-US" sz="3200" spc="-25" dirty="0">
                <a:latin typeface="Calibri" panose="020F0502020204030204" pitchFamily="34" charset="0"/>
              </a:rPr>
              <a:t>E</a:t>
            </a:r>
            <a:r>
              <a:rPr sz="3200" spc="-25" dirty="0">
                <a:latin typeface="Calibri" panose="020F0502020204030204" pitchFamily="34" charset="0"/>
              </a:rPr>
              <a:t>xa</a:t>
            </a:r>
            <a:r>
              <a:rPr sz="3200" spc="-10" dirty="0">
                <a:latin typeface="Calibri" panose="020F0502020204030204" pitchFamily="34" charset="0"/>
              </a:rPr>
              <a:t>m</a:t>
            </a:r>
            <a:r>
              <a:rPr sz="3200" spc="-5" dirty="0">
                <a:latin typeface="Calibri" panose="020F0502020204030204" pitchFamily="34" charset="0"/>
              </a:rPr>
              <a:t>pl</a:t>
            </a:r>
            <a:r>
              <a:rPr sz="3200" dirty="0">
                <a:latin typeface="Calibri" panose="020F0502020204030204" pitchFamily="34" charset="0"/>
              </a:rPr>
              <a:t>e</a:t>
            </a:r>
            <a:r>
              <a:rPr sz="3200" spc="-15" dirty="0">
                <a:latin typeface="Calibri" panose="020F0502020204030204" pitchFamily="34" charset="0"/>
              </a:rPr>
              <a:t> </a:t>
            </a:r>
            <a:r>
              <a:rPr sz="3200" spc="-20" dirty="0">
                <a:latin typeface="Calibri" panose="020F0502020204030204" pitchFamily="34" charset="0"/>
              </a:rPr>
              <a:t>G</a:t>
            </a:r>
            <a:r>
              <a:rPr sz="3200" spc="-10" dirty="0">
                <a:latin typeface="Calibri" panose="020F0502020204030204" pitchFamily="34" charset="0"/>
              </a:rPr>
              <a:t>a</a:t>
            </a:r>
            <a:r>
              <a:rPr sz="3200" spc="-20" dirty="0">
                <a:latin typeface="Calibri" panose="020F0502020204030204" pitchFamily="34" charset="0"/>
              </a:rPr>
              <a:t>nt</a:t>
            </a:r>
            <a:r>
              <a:rPr sz="3200" spc="-10" dirty="0">
                <a:latin typeface="Calibri" panose="020F0502020204030204" pitchFamily="34" charset="0"/>
              </a:rPr>
              <a:t>t</a:t>
            </a:r>
            <a:r>
              <a:rPr sz="3200" spc="-15" dirty="0">
                <a:latin typeface="Calibri" panose="020F0502020204030204" pitchFamily="34" charset="0"/>
              </a:rPr>
              <a:t> </a:t>
            </a:r>
            <a:r>
              <a:rPr sz="3200" spc="5" dirty="0">
                <a:latin typeface="Calibri" panose="020F0502020204030204" pitchFamily="34" charset="0"/>
              </a:rPr>
              <a:t>C</a:t>
            </a:r>
            <a:r>
              <a:rPr sz="3200" spc="-10" dirty="0">
                <a:latin typeface="Calibri" panose="020F0502020204030204" pitchFamily="34" charset="0"/>
              </a:rPr>
              <a:t>h</a:t>
            </a:r>
            <a:r>
              <a:rPr sz="3200" spc="-20" dirty="0">
                <a:latin typeface="Calibri" panose="020F0502020204030204" pitchFamily="34" charset="0"/>
              </a:rPr>
              <a:t>ar</a:t>
            </a:r>
            <a:r>
              <a:rPr sz="3200" spc="-10" dirty="0">
                <a:latin typeface="Calibri" panose="020F0502020204030204" pitchFamily="34" charset="0"/>
              </a:rPr>
              <a:t>t</a:t>
            </a:r>
            <a:r>
              <a:rPr sz="3200" spc="-5" dirty="0">
                <a:latin typeface="Calibri" panose="020F0502020204030204" pitchFamily="34" charset="0"/>
              </a:rPr>
              <a:t> </a:t>
            </a:r>
            <a:r>
              <a:rPr sz="3200" spc="-30" dirty="0">
                <a:latin typeface="Calibri" panose="020F0502020204030204" pitchFamily="34" charset="0"/>
              </a:rPr>
              <a:t>F</a:t>
            </a:r>
            <a:r>
              <a:rPr sz="3200" spc="-5" dirty="0">
                <a:latin typeface="Calibri" panose="020F0502020204030204" pitchFamily="34" charset="0"/>
              </a:rPr>
              <a:t>o</a:t>
            </a:r>
            <a:r>
              <a:rPr sz="3200" spc="-10" dirty="0">
                <a:latin typeface="Calibri" panose="020F0502020204030204" pitchFamily="34" charset="0"/>
              </a:rPr>
              <a:t>r</a:t>
            </a:r>
            <a:r>
              <a:rPr sz="3200" spc="-25" dirty="0">
                <a:latin typeface="Calibri" panose="020F0502020204030204" pitchFamily="34" charset="0"/>
              </a:rPr>
              <a:t>ma</a:t>
            </a:r>
            <a:r>
              <a:rPr sz="3200" spc="-20" dirty="0">
                <a:latin typeface="Calibri" panose="020F0502020204030204" pitchFamily="34" charset="0"/>
              </a:rPr>
              <a:t>t</a:t>
            </a:r>
            <a:r>
              <a:rPr sz="3200" dirty="0">
                <a:latin typeface="Calibri" panose="020F0502020204030204" pitchFamily="34" charset="0"/>
              </a:rPr>
              <a:t>s</a:t>
            </a:r>
          </a:p>
        </p:txBody>
      </p:sp>
      <p:sp>
        <p:nvSpPr>
          <p:cNvPr id="5" name="object 5"/>
          <p:cNvSpPr/>
          <p:nvPr/>
        </p:nvSpPr>
        <p:spPr>
          <a:xfrm>
            <a:off x="96519" y="618362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1659" y="670686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22799" y="908720"/>
            <a:ext cx="7125970" cy="5039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781290" y="2493009"/>
            <a:ext cx="147123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ct val="100000"/>
              </a:lnSpc>
            </a:pPr>
            <a:r>
              <a:rPr sz="1800" spc="-5" dirty="0">
                <a:latin typeface="Calibri" panose="020F0502020204030204" pitchFamily="34" charset="0"/>
                <a:cs typeface="Arial"/>
              </a:rPr>
              <a:t>S</a:t>
            </a:r>
            <a:r>
              <a:rPr sz="1800" spc="-10" dirty="0">
                <a:latin typeface="Calibri" panose="020F0502020204030204" pitchFamily="34" charset="0"/>
                <a:cs typeface="Arial"/>
              </a:rPr>
              <a:t>i</a:t>
            </a:r>
            <a:r>
              <a:rPr sz="1800" dirty="0">
                <a:latin typeface="Calibri" panose="020F0502020204030204" pitchFamily="34" charset="0"/>
                <a:cs typeface="Arial"/>
              </a:rPr>
              <a:t>mp</a:t>
            </a:r>
            <a:r>
              <a:rPr sz="1800" spc="-10" dirty="0">
                <a:latin typeface="Calibri" panose="020F0502020204030204" pitchFamily="34" charset="0"/>
                <a:cs typeface="Arial"/>
              </a:rPr>
              <a:t>l</a:t>
            </a:r>
            <a:r>
              <a:rPr sz="1800" dirty="0">
                <a:latin typeface="Calibri" panose="020F0502020204030204" pitchFamily="34" charset="0"/>
                <a:cs typeface="Arial"/>
              </a:rPr>
              <a:t>e</a:t>
            </a:r>
            <a:r>
              <a:rPr sz="1800" spc="-5" dirty="0">
                <a:latin typeface="Calibri" panose="020F0502020204030204" pitchFamily="34" charset="0"/>
                <a:cs typeface="Arial"/>
              </a:rPr>
              <a:t> </a:t>
            </a:r>
            <a:endParaRPr lang="en-CA" sz="1800" spc="-5" dirty="0">
              <a:latin typeface="Calibri" panose="020F0502020204030204" pitchFamily="34" charset="0"/>
              <a:cs typeface="Arial"/>
            </a:endParaRPr>
          </a:p>
          <a:p>
            <a:pPr marL="12700" marR="6350">
              <a:lnSpc>
                <a:spcPct val="100000"/>
              </a:lnSpc>
            </a:pPr>
            <a:r>
              <a:rPr lang="en-US" sz="1800" spc="-5" dirty="0">
                <a:latin typeface="Calibri" panose="020F0502020204030204" pitchFamily="34" charset="0"/>
                <a:cs typeface="Arial"/>
              </a:rPr>
              <a:t>N</a:t>
            </a:r>
            <a:r>
              <a:rPr sz="1800" spc="-5" dirty="0">
                <a:latin typeface="Calibri" panose="020F0502020204030204" pitchFamily="34" charset="0"/>
                <a:cs typeface="Arial"/>
              </a:rPr>
              <a:t>o </a:t>
            </a:r>
            <a:r>
              <a:rPr lang="en-US" dirty="0">
                <a:latin typeface="Calibri" panose="020F0502020204030204" pitchFamily="34" charset="0"/>
                <a:cs typeface="Arial"/>
              </a:rPr>
              <a:t>R</a:t>
            </a:r>
            <a:r>
              <a:rPr sz="1800" spc="-15" dirty="0">
                <a:latin typeface="Calibri" panose="020F0502020204030204" pitchFamily="34" charset="0"/>
                <a:cs typeface="Arial"/>
              </a:rPr>
              <a:t>e</a:t>
            </a:r>
            <a:r>
              <a:rPr sz="1800" dirty="0">
                <a:latin typeface="Calibri" panose="020F0502020204030204" pitchFamily="34" charset="0"/>
                <a:cs typeface="Arial"/>
              </a:rPr>
              <a:t>so</a:t>
            </a:r>
            <a:r>
              <a:rPr sz="1800" spc="-15" dirty="0">
                <a:latin typeface="Calibri" panose="020F0502020204030204" pitchFamily="34" charset="0"/>
                <a:cs typeface="Arial"/>
              </a:rPr>
              <a:t>u</a:t>
            </a:r>
            <a:r>
              <a:rPr sz="1800" spc="5" dirty="0">
                <a:latin typeface="Calibri" panose="020F0502020204030204" pitchFamily="34" charset="0"/>
                <a:cs typeface="Arial"/>
              </a:rPr>
              <a:t>r</a:t>
            </a:r>
            <a:r>
              <a:rPr sz="1800" spc="-15" dirty="0">
                <a:latin typeface="Calibri" panose="020F0502020204030204" pitchFamily="34" charset="0"/>
                <a:cs typeface="Arial"/>
              </a:rPr>
              <a:t>c</a:t>
            </a:r>
            <a:r>
              <a:rPr sz="1800" spc="-5" dirty="0">
                <a:latin typeface="Calibri" panose="020F0502020204030204" pitchFamily="34" charset="0"/>
                <a:cs typeface="Arial"/>
              </a:rPr>
              <a:t>es</a:t>
            </a:r>
            <a:endParaRPr sz="1800" dirty="0">
              <a:latin typeface="Calibri" panose="020F0502020204030204" pitchFamily="34" charset="0"/>
              <a:cs typeface="Arial"/>
            </a:endParaRPr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96838" y="6409035"/>
            <a:ext cx="371475" cy="39945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G.R. Labbé &amp; R.W. Schott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srgbClr val="514A40"/>
                </a:solidFill>
              </a:rPr>
              <a:pPr/>
              <a:t>5</a:t>
            </a:fld>
            <a:endParaRPr lang="en-US">
              <a:solidFill>
                <a:srgbClr val="514A40"/>
              </a:solidFill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69E6A50-0636-4B49-966D-94167D9FD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rgbClr val="514A40"/>
                </a:solidFill>
              </a:rPr>
              <a:t>Lecture 8</a:t>
            </a:r>
          </a:p>
        </p:txBody>
      </p:sp>
    </p:spTree>
    <p:extLst>
      <p:ext uri="{BB962C8B-B14F-4D97-AF65-F5344CB8AC3E}">
        <p14:creationId xmlns:p14="http://schemas.microsoft.com/office/powerpoint/2010/main" val="3747673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96519" y="618362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1659" y="670686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781290" y="2493009"/>
            <a:ext cx="1026160" cy="559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ct val="100000"/>
              </a:lnSpc>
            </a:pPr>
            <a:r>
              <a:rPr sz="1800" spc="-10" dirty="0">
                <a:latin typeface="Calibri" panose="020F0502020204030204" pitchFamily="34" charset="0"/>
                <a:cs typeface="Arial"/>
              </a:rPr>
              <a:t>N</a:t>
            </a:r>
            <a:r>
              <a:rPr sz="1800" spc="-5" dirty="0">
                <a:latin typeface="Calibri" panose="020F0502020204030204" pitchFamily="34" charset="0"/>
                <a:cs typeface="Arial"/>
              </a:rPr>
              <a:t>o</a:t>
            </a:r>
            <a:r>
              <a:rPr sz="1800" dirty="0">
                <a:latin typeface="Calibri" panose="020F0502020204030204" pitchFamily="34" charset="0"/>
                <a:cs typeface="Arial"/>
              </a:rPr>
              <a:t>w</a:t>
            </a:r>
            <a:r>
              <a:rPr sz="1800" spc="-45" dirty="0">
                <a:latin typeface="Calibri" panose="020F0502020204030204" pitchFamily="34" charset="0"/>
                <a:cs typeface="Arial"/>
              </a:rPr>
              <a:t> </a:t>
            </a:r>
            <a:r>
              <a:rPr lang="en-US" spc="-5" dirty="0">
                <a:latin typeface="Calibri" panose="020F0502020204030204" pitchFamily="34" charset="0"/>
                <a:cs typeface="Arial"/>
              </a:rPr>
              <a:t>A</a:t>
            </a:r>
            <a:r>
              <a:rPr sz="1800" spc="-5" dirty="0">
                <a:latin typeface="Calibri" panose="020F0502020204030204" pitchFamily="34" charset="0"/>
                <a:cs typeface="Arial"/>
              </a:rPr>
              <a:t>dd </a:t>
            </a:r>
            <a:r>
              <a:rPr lang="en-US" dirty="0">
                <a:latin typeface="Calibri" panose="020F0502020204030204" pitchFamily="34" charset="0"/>
                <a:cs typeface="Arial"/>
              </a:rPr>
              <a:t>R</a:t>
            </a:r>
            <a:r>
              <a:rPr sz="1800" spc="-15" dirty="0">
                <a:latin typeface="Calibri" panose="020F0502020204030204" pitchFamily="34" charset="0"/>
                <a:cs typeface="Arial"/>
              </a:rPr>
              <a:t>e</a:t>
            </a:r>
            <a:r>
              <a:rPr sz="1800" dirty="0">
                <a:latin typeface="Calibri" panose="020F0502020204030204" pitchFamily="34" charset="0"/>
                <a:cs typeface="Arial"/>
              </a:rPr>
              <a:t>so</a:t>
            </a:r>
            <a:r>
              <a:rPr sz="1800" spc="-15" dirty="0">
                <a:latin typeface="Calibri" panose="020F0502020204030204" pitchFamily="34" charset="0"/>
                <a:cs typeface="Arial"/>
              </a:rPr>
              <a:t>u</a:t>
            </a:r>
            <a:r>
              <a:rPr sz="1800" spc="5" dirty="0">
                <a:latin typeface="Calibri" panose="020F0502020204030204" pitchFamily="34" charset="0"/>
                <a:cs typeface="Arial"/>
              </a:rPr>
              <a:t>r</a:t>
            </a:r>
            <a:r>
              <a:rPr sz="1800" spc="-15" dirty="0">
                <a:latin typeface="Calibri" panose="020F0502020204030204" pitchFamily="34" charset="0"/>
                <a:cs typeface="Arial"/>
              </a:rPr>
              <a:t>c</a:t>
            </a:r>
            <a:r>
              <a:rPr sz="1800" spc="-5" dirty="0">
                <a:latin typeface="Calibri" panose="020F0502020204030204" pitchFamily="34" charset="0"/>
                <a:cs typeface="Arial"/>
              </a:rPr>
              <a:t>es</a:t>
            </a:r>
            <a:endParaRPr sz="1800" dirty="0">
              <a:latin typeface="Calibri" panose="020F0502020204030204" pitchFamily="34" charset="0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5198" y="1344368"/>
            <a:ext cx="7281546" cy="434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2"/>
          <p:cNvSpPr txBox="1">
            <a:spLocks noGrp="1"/>
          </p:cNvSpPr>
          <p:nvPr>
            <p:ph type="title"/>
          </p:nvPr>
        </p:nvSpPr>
        <p:spPr>
          <a:xfrm>
            <a:off x="322338" y="397323"/>
            <a:ext cx="8138314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0685" algn="ctr">
              <a:lnSpc>
                <a:spcPct val="100000"/>
              </a:lnSpc>
            </a:pPr>
            <a:r>
              <a:rPr lang="en-US" sz="3200" spc="-25" dirty="0">
                <a:latin typeface="Calibri" panose="020F0502020204030204" pitchFamily="34" charset="0"/>
              </a:rPr>
              <a:t>E</a:t>
            </a:r>
            <a:r>
              <a:rPr sz="3200" spc="-25" dirty="0">
                <a:latin typeface="Calibri" panose="020F0502020204030204" pitchFamily="34" charset="0"/>
              </a:rPr>
              <a:t>xa</a:t>
            </a:r>
            <a:r>
              <a:rPr sz="3200" spc="-10" dirty="0">
                <a:latin typeface="Calibri" panose="020F0502020204030204" pitchFamily="34" charset="0"/>
              </a:rPr>
              <a:t>m</a:t>
            </a:r>
            <a:r>
              <a:rPr sz="3200" spc="-5" dirty="0">
                <a:latin typeface="Calibri" panose="020F0502020204030204" pitchFamily="34" charset="0"/>
              </a:rPr>
              <a:t>pl</a:t>
            </a:r>
            <a:r>
              <a:rPr sz="3200" dirty="0">
                <a:latin typeface="Calibri" panose="020F0502020204030204" pitchFamily="34" charset="0"/>
              </a:rPr>
              <a:t>e</a:t>
            </a:r>
            <a:r>
              <a:rPr sz="3200" spc="-15" dirty="0">
                <a:latin typeface="Calibri" panose="020F0502020204030204" pitchFamily="34" charset="0"/>
              </a:rPr>
              <a:t> </a:t>
            </a:r>
            <a:r>
              <a:rPr sz="3200" spc="-20" dirty="0">
                <a:latin typeface="Calibri" panose="020F0502020204030204" pitchFamily="34" charset="0"/>
              </a:rPr>
              <a:t>G</a:t>
            </a:r>
            <a:r>
              <a:rPr sz="3200" spc="-10" dirty="0">
                <a:latin typeface="Calibri" panose="020F0502020204030204" pitchFamily="34" charset="0"/>
              </a:rPr>
              <a:t>a</a:t>
            </a:r>
            <a:r>
              <a:rPr sz="3200" spc="-20" dirty="0">
                <a:latin typeface="Calibri" panose="020F0502020204030204" pitchFamily="34" charset="0"/>
              </a:rPr>
              <a:t>nt</a:t>
            </a:r>
            <a:r>
              <a:rPr sz="3200" spc="-10" dirty="0">
                <a:latin typeface="Calibri" panose="020F0502020204030204" pitchFamily="34" charset="0"/>
              </a:rPr>
              <a:t>t</a:t>
            </a:r>
            <a:r>
              <a:rPr sz="3200" spc="-15" dirty="0">
                <a:latin typeface="Calibri" panose="020F0502020204030204" pitchFamily="34" charset="0"/>
              </a:rPr>
              <a:t> </a:t>
            </a:r>
            <a:r>
              <a:rPr sz="3200" spc="5" dirty="0">
                <a:latin typeface="Calibri" panose="020F0502020204030204" pitchFamily="34" charset="0"/>
              </a:rPr>
              <a:t>C</a:t>
            </a:r>
            <a:r>
              <a:rPr sz="3200" spc="-10" dirty="0">
                <a:latin typeface="Calibri" panose="020F0502020204030204" pitchFamily="34" charset="0"/>
              </a:rPr>
              <a:t>h</a:t>
            </a:r>
            <a:r>
              <a:rPr sz="3200" spc="-20" dirty="0">
                <a:latin typeface="Calibri" panose="020F0502020204030204" pitchFamily="34" charset="0"/>
              </a:rPr>
              <a:t>ar</a:t>
            </a:r>
            <a:r>
              <a:rPr sz="3200" spc="-10" dirty="0">
                <a:latin typeface="Calibri" panose="020F0502020204030204" pitchFamily="34" charset="0"/>
              </a:rPr>
              <a:t>t</a:t>
            </a:r>
            <a:r>
              <a:rPr sz="3200" spc="-5" dirty="0">
                <a:latin typeface="Calibri" panose="020F0502020204030204" pitchFamily="34" charset="0"/>
              </a:rPr>
              <a:t> </a:t>
            </a:r>
            <a:r>
              <a:rPr sz="3200" spc="-30" dirty="0">
                <a:latin typeface="Calibri" panose="020F0502020204030204" pitchFamily="34" charset="0"/>
              </a:rPr>
              <a:t>F</a:t>
            </a:r>
            <a:r>
              <a:rPr sz="3200" spc="-5" dirty="0">
                <a:latin typeface="Calibri" panose="020F0502020204030204" pitchFamily="34" charset="0"/>
              </a:rPr>
              <a:t>o</a:t>
            </a:r>
            <a:r>
              <a:rPr sz="3200" spc="-10" dirty="0">
                <a:latin typeface="Calibri" panose="020F0502020204030204" pitchFamily="34" charset="0"/>
              </a:rPr>
              <a:t>r</a:t>
            </a:r>
            <a:r>
              <a:rPr sz="3200" spc="-25" dirty="0">
                <a:latin typeface="Calibri" panose="020F0502020204030204" pitchFamily="34" charset="0"/>
              </a:rPr>
              <a:t>ma</a:t>
            </a:r>
            <a:r>
              <a:rPr sz="3200" spc="-20" dirty="0">
                <a:latin typeface="Calibri" panose="020F0502020204030204" pitchFamily="34" charset="0"/>
              </a:rPr>
              <a:t>t</a:t>
            </a:r>
            <a:r>
              <a:rPr sz="3200" dirty="0">
                <a:latin typeface="Calibri" panose="020F0502020204030204" pitchFamily="34" charset="0"/>
              </a:rPr>
              <a:t>s</a:t>
            </a:r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96838" y="6409035"/>
            <a:ext cx="371475" cy="39945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G.R. Labbé &amp; R.W. Schott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srgbClr val="514A40"/>
                </a:solidFill>
              </a:rPr>
              <a:pPr/>
              <a:t>6</a:t>
            </a:fld>
            <a:endParaRPr lang="en-US">
              <a:solidFill>
                <a:srgbClr val="514A4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20653-8759-469E-9371-8805F3EF6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rgbClr val="514A40"/>
                </a:solidFill>
              </a:rPr>
              <a:t>Lecture 8</a:t>
            </a:r>
          </a:p>
        </p:txBody>
      </p:sp>
    </p:spTree>
    <p:extLst>
      <p:ext uri="{BB962C8B-B14F-4D97-AF65-F5344CB8AC3E}">
        <p14:creationId xmlns:p14="http://schemas.microsoft.com/office/powerpoint/2010/main" val="1445285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96519" y="618362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1659" y="670686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891632" y="2564904"/>
            <a:ext cx="857885" cy="833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ct val="100000"/>
              </a:lnSpc>
            </a:pPr>
            <a:r>
              <a:rPr sz="1800" spc="-10" dirty="0">
                <a:latin typeface="Calibri" panose="020F0502020204030204" pitchFamily="34" charset="0"/>
                <a:cs typeface="Arial"/>
              </a:rPr>
              <a:t>N</a:t>
            </a:r>
            <a:r>
              <a:rPr sz="1800" spc="-5" dirty="0">
                <a:latin typeface="Calibri" panose="020F0502020204030204" pitchFamily="34" charset="0"/>
                <a:cs typeface="Arial"/>
              </a:rPr>
              <a:t>o</a:t>
            </a:r>
            <a:r>
              <a:rPr sz="1800" dirty="0">
                <a:latin typeface="Calibri" panose="020F0502020204030204" pitchFamily="34" charset="0"/>
                <a:cs typeface="Arial"/>
              </a:rPr>
              <a:t>w</a:t>
            </a:r>
            <a:r>
              <a:rPr sz="1800" spc="-45" dirty="0">
                <a:latin typeface="Calibri" panose="020F0502020204030204" pitchFamily="34" charset="0"/>
                <a:cs typeface="Arial"/>
              </a:rPr>
              <a:t> </a:t>
            </a:r>
            <a:r>
              <a:rPr lang="en-US" sz="1800" spc="-5" dirty="0">
                <a:latin typeface="Calibri" panose="020F0502020204030204" pitchFamily="34" charset="0"/>
                <a:cs typeface="Arial"/>
              </a:rPr>
              <a:t>G</a:t>
            </a:r>
            <a:r>
              <a:rPr sz="1800" spc="-5" dirty="0">
                <a:latin typeface="Calibri" panose="020F0502020204030204" pitchFamily="34" charset="0"/>
                <a:cs typeface="Arial"/>
              </a:rPr>
              <a:t>et </a:t>
            </a:r>
            <a:r>
              <a:rPr lang="en-US" dirty="0">
                <a:latin typeface="Calibri" panose="020F0502020204030204" pitchFamily="34" charset="0"/>
                <a:cs typeface="Arial"/>
              </a:rPr>
              <a:t>R</a:t>
            </a:r>
            <a:r>
              <a:rPr sz="1800" spc="-15" dirty="0">
                <a:latin typeface="Calibri" panose="020F0502020204030204" pitchFamily="34" charset="0"/>
                <a:cs typeface="Arial"/>
              </a:rPr>
              <a:t>e</a:t>
            </a:r>
            <a:r>
              <a:rPr sz="1800" spc="-5" dirty="0">
                <a:latin typeface="Calibri" panose="020F0502020204030204" pitchFamily="34" charset="0"/>
                <a:cs typeface="Arial"/>
              </a:rPr>
              <a:t>a</a:t>
            </a:r>
            <a:r>
              <a:rPr sz="1800" spc="-10" dirty="0">
                <a:latin typeface="Calibri" panose="020F0502020204030204" pitchFamily="34" charset="0"/>
                <a:cs typeface="Arial"/>
              </a:rPr>
              <a:t>l</a:t>
            </a:r>
            <a:r>
              <a:rPr sz="1800" spc="-5" dirty="0">
                <a:latin typeface="Calibri" panose="020F0502020204030204" pitchFamily="34" charset="0"/>
                <a:cs typeface="Arial"/>
              </a:rPr>
              <a:t>ly </a:t>
            </a:r>
            <a:r>
              <a:rPr lang="en-US" dirty="0">
                <a:latin typeface="Calibri" panose="020F0502020204030204" pitchFamily="34" charset="0"/>
                <a:cs typeface="Arial"/>
              </a:rPr>
              <a:t>C</a:t>
            </a:r>
            <a:r>
              <a:rPr sz="1800" dirty="0">
                <a:latin typeface="Calibri" panose="020F0502020204030204" pitchFamily="34" charset="0"/>
                <a:cs typeface="Arial"/>
              </a:rPr>
              <a:t>r</a:t>
            </a:r>
            <a:r>
              <a:rPr sz="1800" spc="-15" dirty="0">
                <a:latin typeface="Calibri" panose="020F0502020204030204" pitchFamily="34" charset="0"/>
                <a:cs typeface="Arial"/>
              </a:rPr>
              <a:t>a</a:t>
            </a:r>
            <a:r>
              <a:rPr sz="1800" dirty="0">
                <a:latin typeface="Calibri" panose="020F0502020204030204" pitchFamily="34" charset="0"/>
                <a:cs typeface="Arial"/>
              </a:rPr>
              <a:t>z</a:t>
            </a:r>
            <a:r>
              <a:rPr sz="1800" spc="-20" dirty="0">
                <a:latin typeface="Calibri" panose="020F0502020204030204" pitchFamily="34" charset="0"/>
                <a:cs typeface="Arial"/>
              </a:rPr>
              <a:t>y</a:t>
            </a:r>
            <a:r>
              <a:rPr sz="1800" spc="-5" dirty="0">
                <a:latin typeface="Calibri" panose="020F0502020204030204" pitchFamily="34" charset="0"/>
                <a:cs typeface="Arial"/>
              </a:rPr>
              <a:t>!</a:t>
            </a:r>
            <a:endParaRPr sz="1800" dirty="0">
              <a:latin typeface="Calibri" panose="020F0502020204030204" pitchFamily="34" charset="0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0225" y="794900"/>
            <a:ext cx="7379970" cy="48602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2"/>
          <p:cNvSpPr txBox="1">
            <a:spLocks noGrp="1"/>
          </p:cNvSpPr>
          <p:nvPr>
            <p:ph type="title"/>
          </p:nvPr>
        </p:nvSpPr>
        <p:spPr>
          <a:xfrm>
            <a:off x="971550" y="166543"/>
            <a:ext cx="7104398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0685" algn="ctr">
              <a:lnSpc>
                <a:spcPct val="100000"/>
              </a:lnSpc>
            </a:pPr>
            <a:r>
              <a:rPr lang="en-US" sz="3200" spc="-25" dirty="0">
                <a:latin typeface="Calibri" panose="020F0502020204030204" pitchFamily="34" charset="0"/>
              </a:rPr>
              <a:t>E</a:t>
            </a:r>
            <a:r>
              <a:rPr sz="3200" spc="-25" dirty="0">
                <a:latin typeface="Calibri" panose="020F0502020204030204" pitchFamily="34" charset="0"/>
              </a:rPr>
              <a:t>xa</a:t>
            </a:r>
            <a:r>
              <a:rPr sz="3200" spc="-10" dirty="0">
                <a:latin typeface="Calibri" panose="020F0502020204030204" pitchFamily="34" charset="0"/>
              </a:rPr>
              <a:t>m</a:t>
            </a:r>
            <a:r>
              <a:rPr sz="3200" spc="-5" dirty="0">
                <a:latin typeface="Calibri" panose="020F0502020204030204" pitchFamily="34" charset="0"/>
              </a:rPr>
              <a:t>pl</a:t>
            </a:r>
            <a:r>
              <a:rPr sz="3200" dirty="0">
                <a:latin typeface="Calibri" panose="020F0502020204030204" pitchFamily="34" charset="0"/>
              </a:rPr>
              <a:t>e</a:t>
            </a:r>
            <a:r>
              <a:rPr sz="3200" spc="-15" dirty="0">
                <a:latin typeface="Calibri" panose="020F0502020204030204" pitchFamily="34" charset="0"/>
              </a:rPr>
              <a:t> </a:t>
            </a:r>
            <a:r>
              <a:rPr sz="3200" spc="-20" dirty="0">
                <a:latin typeface="Calibri" panose="020F0502020204030204" pitchFamily="34" charset="0"/>
              </a:rPr>
              <a:t>G</a:t>
            </a:r>
            <a:r>
              <a:rPr sz="3200" spc="-10" dirty="0">
                <a:latin typeface="Calibri" panose="020F0502020204030204" pitchFamily="34" charset="0"/>
              </a:rPr>
              <a:t>a</a:t>
            </a:r>
            <a:r>
              <a:rPr sz="3200" spc="-20" dirty="0">
                <a:latin typeface="Calibri" panose="020F0502020204030204" pitchFamily="34" charset="0"/>
              </a:rPr>
              <a:t>nt</a:t>
            </a:r>
            <a:r>
              <a:rPr sz="3200" spc="-10" dirty="0">
                <a:latin typeface="Calibri" panose="020F0502020204030204" pitchFamily="34" charset="0"/>
              </a:rPr>
              <a:t>t</a:t>
            </a:r>
            <a:r>
              <a:rPr sz="3200" spc="-15" dirty="0">
                <a:latin typeface="Calibri" panose="020F0502020204030204" pitchFamily="34" charset="0"/>
              </a:rPr>
              <a:t> </a:t>
            </a:r>
            <a:r>
              <a:rPr sz="3200" spc="5" dirty="0">
                <a:latin typeface="Calibri" panose="020F0502020204030204" pitchFamily="34" charset="0"/>
              </a:rPr>
              <a:t>C</a:t>
            </a:r>
            <a:r>
              <a:rPr sz="3200" spc="-10" dirty="0">
                <a:latin typeface="Calibri" panose="020F0502020204030204" pitchFamily="34" charset="0"/>
              </a:rPr>
              <a:t>h</a:t>
            </a:r>
            <a:r>
              <a:rPr sz="3200" spc="-20" dirty="0">
                <a:latin typeface="Calibri" panose="020F0502020204030204" pitchFamily="34" charset="0"/>
              </a:rPr>
              <a:t>ar</a:t>
            </a:r>
            <a:r>
              <a:rPr sz="3200" spc="-10" dirty="0">
                <a:latin typeface="Calibri" panose="020F0502020204030204" pitchFamily="34" charset="0"/>
              </a:rPr>
              <a:t>t</a:t>
            </a:r>
            <a:r>
              <a:rPr sz="3200" spc="-5" dirty="0">
                <a:latin typeface="Calibri" panose="020F0502020204030204" pitchFamily="34" charset="0"/>
              </a:rPr>
              <a:t> </a:t>
            </a:r>
            <a:r>
              <a:rPr sz="3200" spc="-30" dirty="0">
                <a:latin typeface="Calibri" panose="020F0502020204030204" pitchFamily="34" charset="0"/>
              </a:rPr>
              <a:t>F</a:t>
            </a:r>
            <a:r>
              <a:rPr sz="3200" spc="-5" dirty="0">
                <a:latin typeface="Calibri" panose="020F0502020204030204" pitchFamily="34" charset="0"/>
              </a:rPr>
              <a:t>o</a:t>
            </a:r>
            <a:r>
              <a:rPr sz="3200" spc="-10" dirty="0">
                <a:latin typeface="Calibri" panose="020F0502020204030204" pitchFamily="34" charset="0"/>
              </a:rPr>
              <a:t>r</a:t>
            </a:r>
            <a:r>
              <a:rPr sz="3200" spc="-25" dirty="0">
                <a:latin typeface="Calibri" panose="020F0502020204030204" pitchFamily="34" charset="0"/>
              </a:rPr>
              <a:t>ma</a:t>
            </a:r>
            <a:r>
              <a:rPr sz="3200" spc="-20" dirty="0">
                <a:latin typeface="Calibri" panose="020F0502020204030204" pitchFamily="34" charset="0"/>
              </a:rPr>
              <a:t>t</a:t>
            </a:r>
            <a:r>
              <a:rPr sz="3200" dirty="0">
                <a:latin typeface="Calibri" panose="020F0502020204030204" pitchFamily="34" charset="0"/>
              </a:rPr>
              <a:t>s</a:t>
            </a:r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96838" y="6409035"/>
            <a:ext cx="371475" cy="39945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G.R. Labbé &amp; R.W. Schott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srgbClr val="514A40"/>
                </a:solidFill>
              </a:rPr>
              <a:pPr/>
              <a:t>7</a:t>
            </a:fld>
            <a:endParaRPr lang="en-US">
              <a:solidFill>
                <a:srgbClr val="514A4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92211-1119-4BEE-8E13-B24F10D99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rgbClr val="514A40"/>
                </a:solidFill>
              </a:rPr>
              <a:t>Lecture 8</a:t>
            </a:r>
          </a:p>
        </p:txBody>
      </p:sp>
    </p:spTree>
    <p:extLst>
      <p:ext uri="{BB962C8B-B14F-4D97-AF65-F5344CB8AC3E}">
        <p14:creationId xmlns:p14="http://schemas.microsoft.com/office/powerpoint/2010/main" val="714584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96519" y="618362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1659" y="670686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565390" y="2493009"/>
            <a:ext cx="1165225" cy="559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ct val="100000"/>
              </a:lnSpc>
            </a:pPr>
            <a:r>
              <a:rPr sz="1800" spc="-10" dirty="0">
                <a:latin typeface="Calibri" panose="020F0502020204030204" pitchFamily="34" charset="0"/>
                <a:cs typeface="Arial"/>
              </a:rPr>
              <a:t>C</a:t>
            </a:r>
            <a:r>
              <a:rPr sz="1800" spc="-5" dirty="0">
                <a:latin typeface="Calibri" panose="020F0502020204030204" pitchFamily="34" charset="0"/>
                <a:cs typeface="Arial"/>
              </a:rPr>
              <a:t>om</a:t>
            </a:r>
            <a:r>
              <a:rPr sz="1800" spc="-15" dirty="0">
                <a:latin typeface="Calibri" panose="020F0502020204030204" pitchFamily="34" charset="0"/>
                <a:cs typeface="Arial"/>
              </a:rPr>
              <a:t>p</a:t>
            </a:r>
            <a:r>
              <a:rPr sz="1800" spc="-5" dirty="0">
                <a:latin typeface="Calibri" panose="020F0502020204030204" pitchFamily="34" charset="0"/>
                <a:cs typeface="Arial"/>
              </a:rPr>
              <a:t>lete</a:t>
            </a:r>
            <a:r>
              <a:rPr sz="1800" spc="-15" dirty="0">
                <a:latin typeface="Calibri" panose="020F0502020204030204" pitchFamily="34" charset="0"/>
                <a:cs typeface="Arial"/>
              </a:rPr>
              <a:t>l</a:t>
            </a:r>
            <a:r>
              <a:rPr sz="1800" dirty="0">
                <a:latin typeface="Calibri" panose="020F0502020204030204" pitchFamily="34" charset="0"/>
                <a:cs typeface="Arial"/>
              </a:rPr>
              <a:t>y </a:t>
            </a:r>
            <a:r>
              <a:rPr sz="1800" spc="-10" dirty="0">
                <a:latin typeface="Calibri" panose="020F0502020204030204" pitchFamily="34" charset="0"/>
                <a:cs typeface="Arial"/>
              </a:rPr>
              <a:t>D</a:t>
            </a:r>
            <a:r>
              <a:rPr sz="1800" spc="-5" dirty="0">
                <a:latin typeface="Calibri" panose="020F0502020204030204" pitchFamily="34" charset="0"/>
                <a:cs typeface="Arial"/>
              </a:rPr>
              <a:t>i</a:t>
            </a:r>
            <a:r>
              <a:rPr sz="1800" spc="-35" dirty="0">
                <a:latin typeface="Calibri" panose="020F0502020204030204" pitchFamily="34" charset="0"/>
                <a:cs typeface="Arial"/>
              </a:rPr>
              <a:t>f</a:t>
            </a:r>
            <a:r>
              <a:rPr sz="1800" spc="-5" dirty="0">
                <a:latin typeface="Calibri" panose="020F0502020204030204" pitchFamily="34" charset="0"/>
                <a:cs typeface="Arial"/>
              </a:rPr>
              <a:t>fer</a:t>
            </a:r>
            <a:r>
              <a:rPr sz="1800" spc="-10" dirty="0">
                <a:latin typeface="Calibri" panose="020F0502020204030204" pitchFamily="34" charset="0"/>
                <a:cs typeface="Arial"/>
              </a:rPr>
              <a:t>e</a:t>
            </a:r>
            <a:r>
              <a:rPr sz="1800" spc="-15" dirty="0">
                <a:latin typeface="Calibri" panose="020F0502020204030204" pitchFamily="34" charset="0"/>
                <a:cs typeface="Arial"/>
              </a:rPr>
              <a:t>nt</a:t>
            </a:r>
            <a:r>
              <a:rPr sz="1800" spc="-15" dirty="0">
                <a:latin typeface="Arial"/>
                <a:cs typeface="Arial"/>
              </a:rPr>
              <a:t>.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8454" y="990600"/>
            <a:ext cx="7071359" cy="46075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2"/>
          <p:cNvSpPr txBox="1">
            <a:spLocks noGrp="1"/>
          </p:cNvSpPr>
          <p:nvPr>
            <p:ph type="title"/>
          </p:nvPr>
        </p:nvSpPr>
        <p:spPr>
          <a:xfrm>
            <a:off x="971809" y="317057"/>
            <a:ext cx="72009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0685" algn="ctr">
              <a:lnSpc>
                <a:spcPct val="100000"/>
              </a:lnSpc>
            </a:pPr>
            <a:r>
              <a:rPr lang="en-US" sz="3200" spc="-25" dirty="0">
                <a:latin typeface="Calibri" panose="020F0502020204030204" pitchFamily="34" charset="0"/>
              </a:rPr>
              <a:t>E</a:t>
            </a:r>
            <a:r>
              <a:rPr sz="3200" spc="-25" dirty="0">
                <a:latin typeface="Calibri" panose="020F0502020204030204" pitchFamily="34" charset="0"/>
              </a:rPr>
              <a:t>xa</a:t>
            </a:r>
            <a:r>
              <a:rPr sz="3200" spc="-10" dirty="0">
                <a:latin typeface="Calibri" panose="020F0502020204030204" pitchFamily="34" charset="0"/>
              </a:rPr>
              <a:t>m</a:t>
            </a:r>
            <a:r>
              <a:rPr sz="3200" spc="-5" dirty="0">
                <a:latin typeface="Calibri" panose="020F0502020204030204" pitchFamily="34" charset="0"/>
              </a:rPr>
              <a:t>pl</a:t>
            </a:r>
            <a:r>
              <a:rPr sz="3200" dirty="0">
                <a:latin typeface="Calibri" panose="020F0502020204030204" pitchFamily="34" charset="0"/>
              </a:rPr>
              <a:t>e</a:t>
            </a:r>
            <a:r>
              <a:rPr sz="3200" spc="-15" dirty="0">
                <a:latin typeface="Calibri" panose="020F0502020204030204" pitchFamily="34" charset="0"/>
              </a:rPr>
              <a:t> </a:t>
            </a:r>
            <a:r>
              <a:rPr sz="3200" spc="-20" dirty="0">
                <a:latin typeface="Calibri" panose="020F0502020204030204" pitchFamily="34" charset="0"/>
              </a:rPr>
              <a:t>G</a:t>
            </a:r>
            <a:r>
              <a:rPr sz="3200" spc="-10" dirty="0">
                <a:latin typeface="Calibri" panose="020F0502020204030204" pitchFamily="34" charset="0"/>
              </a:rPr>
              <a:t>a</a:t>
            </a:r>
            <a:r>
              <a:rPr sz="3200" spc="-20" dirty="0">
                <a:latin typeface="Calibri" panose="020F0502020204030204" pitchFamily="34" charset="0"/>
              </a:rPr>
              <a:t>nt</a:t>
            </a:r>
            <a:r>
              <a:rPr sz="3200" spc="-10" dirty="0">
                <a:latin typeface="Calibri" panose="020F0502020204030204" pitchFamily="34" charset="0"/>
              </a:rPr>
              <a:t>t</a:t>
            </a:r>
            <a:r>
              <a:rPr sz="3200" spc="-15" dirty="0">
                <a:latin typeface="Calibri" panose="020F0502020204030204" pitchFamily="34" charset="0"/>
              </a:rPr>
              <a:t> </a:t>
            </a:r>
            <a:r>
              <a:rPr sz="3200" spc="5" dirty="0">
                <a:latin typeface="Calibri" panose="020F0502020204030204" pitchFamily="34" charset="0"/>
              </a:rPr>
              <a:t>C</a:t>
            </a:r>
            <a:r>
              <a:rPr sz="3200" spc="-10" dirty="0">
                <a:latin typeface="Calibri" panose="020F0502020204030204" pitchFamily="34" charset="0"/>
              </a:rPr>
              <a:t>h</a:t>
            </a:r>
            <a:r>
              <a:rPr sz="3200" spc="-20" dirty="0">
                <a:latin typeface="Calibri" panose="020F0502020204030204" pitchFamily="34" charset="0"/>
              </a:rPr>
              <a:t>ar</a:t>
            </a:r>
            <a:r>
              <a:rPr sz="3200" spc="-10" dirty="0">
                <a:latin typeface="Calibri" panose="020F0502020204030204" pitchFamily="34" charset="0"/>
              </a:rPr>
              <a:t>t</a:t>
            </a:r>
            <a:r>
              <a:rPr sz="3200" spc="-5" dirty="0">
                <a:latin typeface="Calibri" panose="020F0502020204030204" pitchFamily="34" charset="0"/>
              </a:rPr>
              <a:t> </a:t>
            </a:r>
            <a:r>
              <a:rPr sz="3200" spc="-30" dirty="0">
                <a:latin typeface="Calibri" panose="020F0502020204030204" pitchFamily="34" charset="0"/>
              </a:rPr>
              <a:t>F</a:t>
            </a:r>
            <a:r>
              <a:rPr sz="3200" spc="-5" dirty="0">
                <a:latin typeface="Calibri" panose="020F0502020204030204" pitchFamily="34" charset="0"/>
              </a:rPr>
              <a:t>o</a:t>
            </a:r>
            <a:r>
              <a:rPr sz="3200" spc="-10" dirty="0">
                <a:latin typeface="Calibri" panose="020F0502020204030204" pitchFamily="34" charset="0"/>
              </a:rPr>
              <a:t>r</a:t>
            </a:r>
            <a:r>
              <a:rPr sz="3200" spc="-25" dirty="0">
                <a:latin typeface="Calibri" panose="020F0502020204030204" pitchFamily="34" charset="0"/>
              </a:rPr>
              <a:t>ma</a:t>
            </a:r>
            <a:r>
              <a:rPr sz="3200" spc="-20" dirty="0">
                <a:latin typeface="Calibri" panose="020F0502020204030204" pitchFamily="34" charset="0"/>
              </a:rPr>
              <a:t>t</a:t>
            </a:r>
            <a:r>
              <a:rPr sz="3200" dirty="0">
                <a:latin typeface="Calibri" panose="020F0502020204030204" pitchFamily="34" charset="0"/>
              </a:rPr>
              <a:t>s</a:t>
            </a:r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96838" y="6409035"/>
            <a:ext cx="371475" cy="39945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G.R. Labbé &amp; R.W. Schott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srgbClr val="514A40"/>
                </a:solidFill>
              </a:rPr>
              <a:pPr/>
              <a:t>8</a:t>
            </a:fld>
            <a:endParaRPr lang="en-US">
              <a:solidFill>
                <a:srgbClr val="514A4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45A3D-77E4-4159-97B1-3CD054ECD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rgbClr val="514A40"/>
                </a:solidFill>
              </a:rPr>
              <a:t>Lecture 8</a:t>
            </a:r>
          </a:p>
        </p:txBody>
      </p:sp>
    </p:spTree>
    <p:extLst>
      <p:ext uri="{BB962C8B-B14F-4D97-AF65-F5344CB8AC3E}">
        <p14:creationId xmlns:p14="http://schemas.microsoft.com/office/powerpoint/2010/main" val="2712377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338" y="349560"/>
            <a:ext cx="8686800" cy="451520"/>
          </a:xfrm>
        </p:spPr>
        <p:txBody>
          <a:bodyPr>
            <a:noAutofit/>
          </a:bodyPr>
          <a:lstStyle/>
          <a:p>
            <a:pPr algn="ctr"/>
            <a:r>
              <a:rPr lang="en-CA" sz="3200" dirty="0">
                <a:latin typeface="Calibri" panose="020F0502020204030204" pitchFamily="34" charset="0"/>
              </a:rPr>
              <a:t>Gantt chart formats</a:t>
            </a:r>
          </a:p>
        </p:txBody>
      </p:sp>
      <p:pic>
        <p:nvPicPr>
          <p:cNvPr id="4" name="Content Placeholder 3" descr="gantt chart, tasks hierarchy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295400"/>
            <a:ext cx="8064896" cy="3429744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1112486" y="5260558"/>
            <a:ext cx="7044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alibri" panose="020F0502020204030204" pitchFamily="34" charset="0"/>
              </a:rPr>
              <a:t>Gantt charts allow you to show precedence and successors within tasks. </a:t>
            </a:r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96838" y="6409035"/>
            <a:ext cx="371475" cy="39945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G.R. Labbé &amp; R.W. Schott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srgbClr val="514A40"/>
                </a:solidFill>
              </a:rPr>
              <a:pPr/>
              <a:t>9</a:t>
            </a:fld>
            <a:endParaRPr lang="en-US">
              <a:solidFill>
                <a:srgbClr val="514A40"/>
              </a:solidFill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345597C-D297-4BB8-B55B-33B0550C8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rgbClr val="514A40"/>
                </a:solidFill>
              </a:rPr>
              <a:t>Lecture 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45161"/>
            <a:ext cx="8686800" cy="838200"/>
          </a:xfrm>
        </p:spPr>
        <p:txBody>
          <a:bodyPr>
            <a:normAutofit/>
          </a:bodyPr>
          <a:lstStyle/>
          <a:p>
            <a:pPr algn="ctr"/>
            <a:r>
              <a:rPr lang="en-CA" sz="3200" dirty="0">
                <a:latin typeface="Calibri" panose="020F0502020204030204" pitchFamily="34" charset="0"/>
              </a:rPr>
              <a:t>Gantt chart formats</a:t>
            </a:r>
          </a:p>
        </p:txBody>
      </p:sp>
      <p:pic>
        <p:nvPicPr>
          <p:cNvPr id="4" name="Content Placeholder 3" descr="gantt chart, predecessors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484784"/>
            <a:ext cx="2540040" cy="907157"/>
          </a:xfrm>
          <a:prstGeom prst="rect">
            <a:avLst/>
          </a:prstGeom>
          <a:noFill/>
        </p:spPr>
      </p:pic>
      <p:pic>
        <p:nvPicPr>
          <p:cNvPr id="5" name="Picture 4" descr="gantt chart, predecessor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5" y="3140969"/>
            <a:ext cx="2622027" cy="888106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4355976" y="1615196"/>
            <a:ext cx="3672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Calibri" panose="020F0502020204030204" pitchFamily="34" charset="0"/>
              </a:rPr>
              <a:t>Arrows show the order tasks must be completed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55976" y="3261856"/>
            <a:ext cx="3672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Calibri" panose="020F0502020204030204" pitchFamily="34" charset="0"/>
              </a:rPr>
              <a:t>Tasks can have more then one preceding task.</a:t>
            </a:r>
          </a:p>
        </p:txBody>
      </p:sp>
      <p:pic>
        <p:nvPicPr>
          <p:cNvPr id="10" name="Picture 9" descr="gantt chart, successors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5575" y="4725144"/>
            <a:ext cx="2603531" cy="1060698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4355976" y="4932327"/>
            <a:ext cx="33632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alibri" panose="020F0502020204030204" pitchFamily="34" charset="0"/>
              </a:rPr>
              <a:t>Completing a task can lead to the </a:t>
            </a:r>
          </a:p>
          <a:p>
            <a:r>
              <a:rPr lang="en-CA" dirty="0">
                <a:latin typeface="Calibri" panose="020F0502020204030204" pitchFamily="34" charset="0"/>
              </a:rPr>
              <a:t>Start of two or more tasks.</a:t>
            </a:r>
          </a:p>
        </p:txBody>
      </p:sp>
      <p:sp>
        <p:nvSpPr>
          <p:cNvPr id="9" name="Oval 4"/>
          <p:cNvSpPr>
            <a:spLocks noChangeArrowheads="1"/>
          </p:cNvSpPr>
          <p:nvPr/>
        </p:nvSpPr>
        <p:spPr bwMode="auto">
          <a:xfrm>
            <a:off x="96838" y="6409035"/>
            <a:ext cx="371475" cy="39945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G.R. Labbé &amp; R.W. Schott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srgbClr val="514A40"/>
                </a:solidFill>
              </a:rPr>
              <a:pPr/>
              <a:t>10</a:t>
            </a:fld>
            <a:endParaRPr lang="en-US">
              <a:solidFill>
                <a:srgbClr val="514A40"/>
              </a:solidFill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7EF149F-622D-406C-BB4D-3E76D5158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rgbClr val="514A40"/>
                </a:solidFill>
              </a:rPr>
              <a:t>Lecture 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8062" y="334089"/>
            <a:ext cx="72009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0685" algn="ctr">
              <a:lnSpc>
                <a:spcPct val="100000"/>
              </a:lnSpc>
            </a:pPr>
            <a:r>
              <a:rPr lang="en-US" sz="3200" spc="-25" dirty="0">
                <a:latin typeface="Calibri" panose="020F0502020204030204" pitchFamily="34" charset="0"/>
              </a:rPr>
              <a:t>P</a:t>
            </a:r>
            <a:r>
              <a:rPr sz="3200" spc="-25" dirty="0">
                <a:latin typeface="Calibri" panose="020F0502020204030204" pitchFamily="34" charset="0"/>
              </a:rPr>
              <a:t>r</a:t>
            </a:r>
            <a:r>
              <a:rPr sz="3200" spc="-10" dirty="0">
                <a:latin typeface="Calibri" panose="020F0502020204030204" pitchFamily="34" charset="0"/>
              </a:rPr>
              <a:t>e</a:t>
            </a:r>
            <a:r>
              <a:rPr sz="3200" spc="5" dirty="0">
                <a:latin typeface="Calibri" panose="020F0502020204030204" pitchFamily="34" charset="0"/>
              </a:rPr>
              <a:t>c</a:t>
            </a:r>
            <a:r>
              <a:rPr sz="3200" spc="-5" dirty="0">
                <a:latin typeface="Calibri" panose="020F0502020204030204" pitchFamily="34" charset="0"/>
              </a:rPr>
              <a:t>e</a:t>
            </a:r>
            <a:r>
              <a:rPr sz="3200" spc="-10" dirty="0">
                <a:latin typeface="Calibri" panose="020F0502020204030204" pitchFamily="34" charset="0"/>
              </a:rPr>
              <a:t>d</a:t>
            </a:r>
            <a:r>
              <a:rPr sz="3200" spc="-5" dirty="0">
                <a:latin typeface="Calibri" panose="020F0502020204030204" pitchFamily="34" charset="0"/>
              </a:rPr>
              <a:t>e</a:t>
            </a:r>
            <a:r>
              <a:rPr sz="3200" spc="-10" dirty="0">
                <a:latin typeface="Calibri" panose="020F0502020204030204" pitchFamily="34" charset="0"/>
              </a:rPr>
              <a:t>n</a:t>
            </a:r>
            <a:r>
              <a:rPr sz="3200" spc="5" dirty="0">
                <a:latin typeface="Calibri" panose="020F0502020204030204" pitchFamily="34" charset="0"/>
              </a:rPr>
              <a:t>c</a:t>
            </a:r>
            <a:r>
              <a:rPr sz="3200" dirty="0">
                <a:latin typeface="Calibri" panose="020F0502020204030204" pitchFamily="34" charset="0"/>
              </a:rPr>
              <a:t>e</a:t>
            </a:r>
            <a:r>
              <a:rPr sz="3200" spc="-5" dirty="0">
                <a:latin typeface="Calibri" panose="020F0502020204030204" pitchFamily="34" charset="0"/>
              </a:rPr>
              <a:t> Rel</a:t>
            </a:r>
            <a:r>
              <a:rPr sz="3200" spc="-10" dirty="0">
                <a:latin typeface="Calibri" panose="020F0502020204030204" pitchFamily="34" charset="0"/>
              </a:rPr>
              <a:t>a</a:t>
            </a:r>
            <a:r>
              <a:rPr sz="3200" spc="-5" dirty="0">
                <a:latin typeface="Calibri" panose="020F0502020204030204" pitchFamily="34" charset="0"/>
              </a:rPr>
              <a:t>tio</a:t>
            </a:r>
            <a:r>
              <a:rPr sz="3200" spc="-10" dirty="0">
                <a:latin typeface="Calibri" panose="020F0502020204030204" pitchFamily="34" charset="0"/>
              </a:rPr>
              <a:t>n</a:t>
            </a:r>
            <a:r>
              <a:rPr sz="3200" spc="5" dirty="0">
                <a:latin typeface="Calibri" panose="020F0502020204030204" pitchFamily="34" charset="0"/>
              </a:rPr>
              <a:t>s</a:t>
            </a:r>
            <a:r>
              <a:rPr sz="3200" spc="-10" dirty="0">
                <a:latin typeface="Calibri" panose="020F0502020204030204" pitchFamily="34" charset="0"/>
              </a:rPr>
              <a:t>h</a:t>
            </a:r>
            <a:r>
              <a:rPr sz="3200" spc="-5" dirty="0">
                <a:latin typeface="Calibri" panose="020F0502020204030204" pitchFamily="34" charset="0"/>
              </a:rPr>
              <a:t>ips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4839" y="1226194"/>
            <a:ext cx="7967345" cy="295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ct val="100000"/>
              </a:lnSpc>
              <a:tabLst>
                <a:tab pos="5095875" algn="l"/>
                <a:tab pos="6305550" algn="l"/>
              </a:tabLst>
            </a:pPr>
            <a:r>
              <a:rPr sz="2400" b="1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F</a:t>
            </a:r>
            <a:r>
              <a:rPr sz="2400" b="1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b="1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b="1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b="1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b="1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h</a:t>
            </a:r>
            <a:r>
              <a:rPr sz="2400" b="1" spc="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b="1" spc="-17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b="1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sz="2400" b="1" spc="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b="1" spc="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b="1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ta</a:t>
            </a:r>
            <a:r>
              <a:rPr sz="2400" b="1" spc="9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sz="2400" b="1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b="1" spc="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b="1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(</a:t>
            </a:r>
            <a:r>
              <a:rPr sz="2400" b="1" spc="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F</a:t>
            </a:r>
            <a:r>
              <a:rPr sz="2400" b="1" spc="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b="1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)</a:t>
            </a:r>
            <a:r>
              <a:rPr sz="2400" b="1" spc="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b="1" spc="-6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sz="2400" b="1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b="1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l</a:t>
            </a:r>
            <a:r>
              <a:rPr sz="2400" b="1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at</a:t>
            </a:r>
            <a:r>
              <a:rPr sz="2400" b="1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b="1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sz="2400" b="1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b="1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b="1" spc="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h</a:t>
            </a:r>
            <a:r>
              <a:rPr sz="2400" b="1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ip:</a:t>
            </a:r>
            <a:endParaRPr lang="en-US" sz="2400" b="1" dirty="0">
              <a:solidFill>
                <a:srgbClr val="4D3A2F"/>
              </a:solidFill>
              <a:latin typeface="Calibri" panose="020F0502020204030204" pitchFamily="34" charset="0"/>
              <a:cs typeface="Franklin Gothic Book"/>
            </a:endParaRPr>
          </a:p>
          <a:p>
            <a:pPr marL="12700" marR="6350">
              <a:lnSpc>
                <a:spcPct val="100000"/>
              </a:lnSpc>
              <a:tabLst>
                <a:tab pos="5095875" algn="l"/>
                <a:tab pos="6305550" algn="l"/>
              </a:tabLst>
            </a:pP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Th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ec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d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a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c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tiv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y 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c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spc="-4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b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sta</a:t>
            </a:r>
            <a:r>
              <a:rPr sz="2400" spc="7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sz="2400" spc="-6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d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u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l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th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 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fi</a:t>
            </a:r>
            <a:r>
              <a:rPr sz="2400" spc="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sz="2400" spc="-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c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tiv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y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c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sz="2400" spc="-5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m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pl</a:t>
            </a:r>
            <a:r>
              <a:rPr sz="2400" spc="-3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spc="-5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es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.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It 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h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spc="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CA"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most used</a:t>
            </a:r>
            <a:r>
              <a:rPr sz="2400" spc="5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de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p</a:t>
            </a:r>
            <a:r>
              <a:rPr sz="2400" spc="-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spc="-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den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c</a:t>
            </a:r>
            <a:r>
              <a:rPr sz="2400" spc="-1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y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.</a:t>
            </a:r>
            <a:endParaRPr lang="en-US" sz="2400" dirty="0">
              <a:solidFill>
                <a:srgbClr val="4D3A2F"/>
              </a:solidFill>
              <a:latin typeface="Calibri" panose="020F0502020204030204" pitchFamily="34" charset="0"/>
              <a:cs typeface="Franklin Gothic Book"/>
            </a:endParaRPr>
          </a:p>
          <a:p>
            <a:pPr marL="12700" marR="6350">
              <a:lnSpc>
                <a:spcPct val="100000"/>
              </a:lnSpc>
              <a:tabLst>
                <a:tab pos="5095875" algn="l"/>
                <a:tab pos="6305550" algn="l"/>
              </a:tabLst>
            </a:pPr>
            <a:endParaRPr lang="en-US" sz="2400" spc="-15" dirty="0">
              <a:solidFill>
                <a:srgbClr val="4D3A2F"/>
              </a:solidFill>
              <a:latin typeface="Calibri" panose="020F0502020204030204" pitchFamily="34" charset="0"/>
              <a:cs typeface="Franklin Gothic Book"/>
            </a:endParaRPr>
          </a:p>
          <a:p>
            <a:pPr marL="12700" marR="6350">
              <a:lnSpc>
                <a:spcPct val="100000"/>
              </a:lnSpc>
              <a:tabLst>
                <a:tab pos="5095875" algn="l"/>
                <a:tab pos="6305550" algn="l"/>
              </a:tabLst>
            </a:pP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Ex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sz="2400" spc="-4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m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p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l</a:t>
            </a:r>
            <a:r>
              <a:rPr sz="2400" spc="-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: </a:t>
            </a:r>
            <a:endParaRPr lang="en-US" sz="2400" dirty="0">
              <a:solidFill>
                <a:srgbClr val="4D3A2F"/>
              </a:solidFill>
              <a:latin typeface="Calibri" panose="020F0502020204030204" pitchFamily="34" charset="0"/>
              <a:cs typeface="Franklin Gothic Book"/>
            </a:endParaRPr>
          </a:p>
          <a:p>
            <a:pPr marL="12700" marR="6350">
              <a:lnSpc>
                <a:spcPct val="100000"/>
              </a:lnSpc>
              <a:tabLst>
                <a:tab pos="5095875" algn="l"/>
                <a:tab pos="6305550" algn="l"/>
              </a:tabLst>
            </a:pPr>
            <a:r>
              <a:rPr lang="en-US" sz="2400" spc="-5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p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ai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nt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 </a:t>
            </a:r>
            <a:r>
              <a:rPr sz="2400" spc="-4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w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ll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fi</a:t>
            </a:r>
            <a:r>
              <a:rPr sz="2400" spc="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sz="2400" spc="-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3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y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ou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nee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d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5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b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u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ild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 </a:t>
            </a:r>
            <a:r>
              <a:rPr sz="2400" spc="-4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w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l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l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.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th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is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c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spc="-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, 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f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spc="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sz="2400" spc="-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c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tiv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y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is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b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u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l</a:t>
            </a:r>
            <a:r>
              <a:rPr sz="2400" spc="-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d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g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th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4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w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ll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d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s</a:t>
            </a:r>
            <a:r>
              <a:rPr sz="2400" spc="-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c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d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ac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vit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y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wi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l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l 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b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p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g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.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17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Y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ou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can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spc="-4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sz="2400" spc="7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p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ti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g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the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4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w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ll 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u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nle</a:t>
            </a:r>
            <a:r>
              <a:rPr sz="2400" spc="-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 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th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4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w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ll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i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re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sz="2400" spc="-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d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y</a:t>
            </a:r>
            <a:endParaRPr sz="2400" dirty="0">
              <a:latin typeface="Calibri" panose="020F0502020204030204" pitchFamily="34" charset="0"/>
              <a:cs typeface="Franklin Gothic Book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6519" y="618362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81659" y="670686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819400" y="4183780"/>
            <a:ext cx="3578225" cy="1752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96838" y="6409035"/>
            <a:ext cx="371475" cy="39945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G.R. Labbé &amp; R.W. Schott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srgbClr val="514A40"/>
                </a:solidFill>
              </a:rPr>
              <a:pPr/>
              <a:t>11</a:t>
            </a:fld>
            <a:endParaRPr lang="en-US">
              <a:solidFill>
                <a:srgbClr val="514A40"/>
              </a:solidFill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DE8777C-1D5D-4691-8E7E-C6FEDD0DC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rgbClr val="514A40"/>
                </a:solidFill>
              </a:rPr>
              <a:t>Lecture 8</a:t>
            </a:r>
          </a:p>
        </p:txBody>
      </p:sp>
    </p:spTree>
    <p:extLst>
      <p:ext uri="{BB962C8B-B14F-4D97-AF65-F5344CB8AC3E}">
        <p14:creationId xmlns:p14="http://schemas.microsoft.com/office/powerpoint/2010/main" val="634171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7967" y="412000"/>
            <a:ext cx="72009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0685" algn="ctr">
              <a:lnSpc>
                <a:spcPct val="100000"/>
              </a:lnSpc>
            </a:pPr>
            <a:r>
              <a:rPr lang="en-US" sz="3200" spc="-25" dirty="0">
                <a:latin typeface="Calibri" panose="020F0502020204030204" pitchFamily="34" charset="0"/>
              </a:rPr>
              <a:t>P</a:t>
            </a:r>
            <a:r>
              <a:rPr sz="3200" spc="-25" dirty="0">
                <a:latin typeface="Calibri" panose="020F0502020204030204" pitchFamily="34" charset="0"/>
              </a:rPr>
              <a:t>r</a:t>
            </a:r>
            <a:r>
              <a:rPr sz="3200" spc="-10" dirty="0">
                <a:latin typeface="Calibri" panose="020F0502020204030204" pitchFamily="34" charset="0"/>
              </a:rPr>
              <a:t>e</a:t>
            </a:r>
            <a:r>
              <a:rPr sz="3200" spc="5" dirty="0">
                <a:latin typeface="Calibri" panose="020F0502020204030204" pitchFamily="34" charset="0"/>
              </a:rPr>
              <a:t>c</a:t>
            </a:r>
            <a:r>
              <a:rPr sz="3200" spc="-5" dirty="0">
                <a:latin typeface="Calibri" panose="020F0502020204030204" pitchFamily="34" charset="0"/>
              </a:rPr>
              <a:t>e</a:t>
            </a:r>
            <a:r>
              <a:rPr sz="3200" spc="-10" dirty="0">
                <a:latin typeface="Calibri" panose="020F0502020204030204" pitchFamily="34" charset="0"/>
              </a:rPr>
              <a:t>d</a:t>
            </a:r>
            <a:r>
              <a:rPr sz="3200" spc="-5" dirty="0">
                <a:latin typeface="Calibri" panose="020F0502020204030204" pitchFamily="34" charset="0"/>
              </a:rPr>
              <a:t>e</a:t>
            </a:r>
            <a:r>
              <a:rPr sz="3200" spc="-10" dirty="0">
                <a:latin typeface="Calibri" panose="020F0502020204030204" pitchFamily="34" charset="0"/>
              </a:rPr>
              <a:t>n</a:t>
            </a:r>
            <a:r>
              <a:rPr sz="3200" spc="5" dirty="0">
                <a:latin typeface="Calibri" panose="020F0502020204030204" pitchFamily="34" charset="0"/>
              </a:rPr>
              <a:t>c</a:t>
            </a:r>
            <a:r>
              <a:rPr sz="3200" dirty="0">
                <a:latin typeface="Calibri" panose="020F0502020204030204" pitchFamily="34" charset="0"/>
              </a:rPr>
              <a:t>e</a:t>
            </a:r>
            <a:r>
              <a:rPr sz="3200" spc="-5" dirty="0">
                <a:latin typeface="Calibri" panose="020F0502020204030204" pitchFamily="34" charset="0"/>
              </a:rPr>
              <a:t> Rel</a:t>
            </a:r>
            <a:r>
              <a:rPr sz="3200" spc="-10" dirty="0">
                <a:latin typeface="Calibri" panose="020F0502020204030204" pitchFamily="34" charset="0"/>
              </a:rPr>
              <a:t>a</a:t>
            </a:r>
            <a:r>
              <a:rPr sz="3200" spc="-5" dirty="0">
                <a:latin typeface="Calibri" panose="020F0502020204030204" pitchFamily="34" charset="0"/>
              </a:rPr>
              <a:t>tio</a:t>
            </a:r>
            <a:r>
              <a:rPr sz="3200" spc="-10" dirty="0">
                <a:latin typeface="Calibri" panose="020F0502020204030204" pitchFamily="34" charset="0"/>
              </a:rPr>
              <a:t>n</a:t>
            </a:r>
            <a:r>
              <a:rPr sz="3200" spc="5" dirty="0">
                <a:latin typeface="Calibri" panose="020F0502020204030204" pitchFamily="34" charset="0"/>
              </a:rPr>
              <a:t>s</a:t>
            </a:r>
            <a:r>
              <a:rPr sz="3200" spc="-10" dirty="0">
                <a:latin typeface="Calibri" panose="020F0502020204030204" pitchFamily="34" charset="0"/>
              </a:rPr>
              <a:t>h</a:t>
            </a:r>
            <a:r>
              <a:rPr sz="3200" spc="-5" dirty="0">
                <a:latin typeface="Calibri" panose="020F0502020204030204" pitchFamily="34" charset="0"/>
              </a:rPr>
              <a:t>ips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9609" y="1275877"/>
            <a:ext cx="7747634" cy="25853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ct val="100000"/>
              </a:lnSpc>
              <a:tabLst>
                <a:tab pos="5225415" algn="l"/>
              </a:tabLst>
            </a:pPr>
            <a:r>
              <a:rPr sz="2400" b="1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F</a:t>
            </a:r>
            <a:r>
              <a:rPr sz="2400" b="1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b="1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b="1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b="1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b="1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h</a:t>
            </a:r>
            <a:r>
              <a:rPr sz="2400" b="1" spc="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b="1" spc="-17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b="1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sz="2400" b="1" spc="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b="1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F</a:t>
            </a:r>
            <a:r>
              <a:rPr sz="2400" b="1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b="1" spc="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b="1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b="1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sh</a:t>
            </a:r>
            <a:r>
              <a:rPr sz="2400" b="1" spc="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b="1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(</a:t>
            </a:r>
            <a:r>
              <a:rPr sz="2400" b="1" spc="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F</a:t>
            </a:r>
            <a:r>
              <a:rPr sz="2400" b="1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F</a:t>
            </a:r>
            <a:r>
              <a:rPr sz="2400" b="1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)</a:t>
            </a:r>
            <a:r>
              <a:rPr sz="2400" b="1" spc="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b="1" spc="-6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sz="2400" b="1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b="1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l</a:t>
            </a:r>
            <a:r>
              <a:rPr sz="2400" b="1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sz="2400" b="1" spc="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b="1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b="1" spc="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sz="2400" b="1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b="1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b="1" spc="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h</a:t>
            </a:r>
            <a:r>
              <a:rPr sz="2400" b="1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ip:</a:t>
            </a:r>
            <a:endParaRPr lang="en-US" sz="2400" b="1" dirty="0">
              <a:solidFill>
                <a:srgbClr val="4D3A2F"/>
              </a:solidFill>
              <a:latin typeface="Calibri" panose="020F0502020204030204" pitchFamily="34" charset="0"/>
              <a:cs typeface="Franklin Gothic Book"/>
            </a:endParaRPr>
          </a:p>
          <a:p>
            <a:pPr marL="12700" marR="6350">
              <a:lnSpc>
                <a:spcPct val="100000"/>
              </a:lnSpc>
              <a:tabLst>
                <a:tab pos="5225415" algn="l"/>
              </a:tabLst>
            </a:pPr>
            <a:r>
              <a:rPr lang="en-US"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h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ec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d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ac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vit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y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c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nn</a:t>
            </a:r>
            <a:r>
              <a:rPr sz="2400" spc="-4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b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fi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she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d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un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l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the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fi</a:t>
            </a:r>
            <a:r>
              <a:rPr sz="2400" spc="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sz="2400" spc="-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c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tiv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y 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fi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h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spc="-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.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endParaRPr lang="en-US" sz="2400" spc="-15" dirty="0">
              <a:solidFill>
                <a:srgbClr val="4D3A2F"/>
              </a:solidFill>
              <a:latin typeface="Calibri" panose="020F0502020204030204" pitchFamily="34" charset="0"/>
              <a:cs typeface="Franklin Gothic Book"/>
            </a:endParaRPr>
          </a:p>
          <a:p>
            <a:pPr marL="12700" marR="6350">
              <a:lnSpc>
                <a:spcPct val="100000"/>
              </a:lnSpc>
              <a:tabLst>
                <a:tab pos="5225415" algn="l"/>
              </a:tabLst>
            </a:pPr>
            <a:endParaRPr lang="en-US" sz="2400" spc="-15" dirty="0">
              <a:solidFill>
                <a:srgbClr val="4D3A2F"/>
              </a:solidFill>
              <a:latin typeface="Calibri" panose="020F0502020204030204" pitchFamily="34" charset="0"/>
              <a:cs typeface="Franklin Gothic Book"/>
            </a:endParaRPr>
          </a:p>
          <a:p>
            <a:pPr marL="12700" marR="6350">
              <a:lnSpc>
                <a:spcPct val="100000"/>
              </a:lnSpc>
              <a:tabLst>
                <a:tab pos="5225415" algn="l"/>
              </a:tabLst>
            </a:pP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Ex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sz="2400" spc="-4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m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pl</a:t>
            </a:r>
            <a:r>
              <a:rPr sz="2400" spc="-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: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endParaRPr lang="en-US" sz="2400" spc="-15" dirty="0">
              <a:solidFill>
                <a:srgbClr val="4D3A2F"/>
              </a:solidFill>
              <a:latin typeface="Calibri" panose="020F0502020204030204" pitchFamily="34" charset="0"/>
              <a:cs typeface="Franklin Gothic Book"/>
            </a:endParaRPr>
          </a:p>
          <a:p>
            <a:pPr marL="12700" marR="6350">
              <a:lnSpc>
                <a:spcPct val="100000"/>
              </a:lnSpc>
              <a:tabLst>
                <a:tab pos="5225415" algn="l"/>
              </a:tabLst>
            </a:pPr>
            <a:r>
              <a:rPr lang="en-US" sz="2400" spc="-3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You can not finish editing a paper until the paper has finished being written.</a:t>
            </a:r>
            <a:endParaRPr sz="2400" dirty="0">
              <a:latin typeface="Calibri" panose="020F0502020204030204" pitchFamily="34" charset="0"/>
              <a:cs typeface="Franklin Gothic Book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6519" y="618362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81659" y="670686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14650" y="4005064"/>
            <a:ext cx="3276600" cy="2057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96838" y="6409035"/>
            <a:ext cx="371475" cy="39945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G.R. Labbé &amp; R.W. Schott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srgbClr val="514A40"/>
                </a:solidFill>
              </a:rPr>
              <a:pPr/>
              <a:t>12</a:t>
            </a:fld>
            <a:endParaRPr lang="en-US">
              <a:solidFill>
                <a:srgbClr val="514A40"/>
              </a:solidFill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330B837-A877-4337-AAE1-E7FB866C9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rgbClr val="514A40"/>
                </a:solidFill>
              </a:rPr>
              <a:t>Lecture 8</a:t>
            </a:r>
          </a:p>
        </p:txBody>
      </p:sp>
    </p:spTree>
    <p:extLst>
      <p:ext uri="{BB962C8B-B14F-4D97-AF65-F5344CB8AC3E}">
        <p14:creationId xmlns:p14="http://schemas.microsoft.com/office/powerpoint/2010/main" val="3142494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3950" y="1219181"/>
            <a:ext cx="7988934" cy="295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ct val="100000"/>
              </a:lnSpc>
              <a:tabLst>
                <a:tab pos="4966335" algn="l"/>
                <a:tab pos="5807710" algn="l"/>
                <a:tab pos="7346950" algn="l"/>
              </a:tabLst>
            </a:pPr>
            <a:r>
              <a:rPr sz="2400" b="1" spc="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b="1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ta</a:t>
            </a:r>
            <a:r>
              <a:rPr sz="2400" b="1" spc="9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sz="2400" b="1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b="1" spc="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b="1" spc="-17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b="1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sz="2400" b="1" spc="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b="1" spc="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b="1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ta</a:t>
            </a:r>
            <a:r>
              <a:rPr sz="2400" b="1" spc="9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sz="2400" b="1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b="1" spc="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b="1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(S</a:t>
            </a:r>
            <a:r>
              <a:rPr sz="2400" b="1" spc="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b="1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)</a:t>
            </a:r>
            <a:r>
              <a:rPr sz="2400" b="1" spc="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b="1" spc="-6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sz="2400" b="1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b="1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l</a:t>
            </a:r>
            <a:r>
              <a:rPr sz="2400" b="1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at</a:t>
            </a:r>
            <a:r>
              <a:rPr sz="2400" b="1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b="1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sz="2400" b="1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b="1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b="1" spc="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h</a:t>
            </a:r>
            <a:r>
              <a:rPr sz="2400" b="1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ip:</a:t>
            </a:r>
            <a:endParaRPr lang="en-US" sz="2400" b="1" dirty="0">
              <a:solidFill>
                <a:srgbClr val="4D3A2F"/>
              </a:solidFill>
              <a:latin typeface="Calibri" panose="020F0502020204030204" pitchFamily="34" charset="0"/>
              <a:cs typeface="Franklin Gothic Book"/>
            </a:endParaRPr>
          </a:p>
          <a:p>
            <a:pPr marL="12700" marR="6350">
              <a:lnSpc>
                <a:spcPct val="100000"/>
              </a:lnSpc>
              <a:tabLst>
                <a:tab pos="4966335" algn="l"/>
                <a:tab pos="5807710" algn="l"/>
                <a:tab pos="7346950" algn="l"/>
              </a:tabLst>
            </a:pPr>
            <a:r>
              <a:rPr lang="en-US"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h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se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co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d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a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c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tiv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y 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c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spc="-4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b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sta</a:t>
            </a:r>
            <a:r>
              <a:rPr sz="2400" spc="7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sz="2400" spc="-5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d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u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ti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l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th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f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spc="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c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tivit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y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sta</a:t>
            </a:r>
            <a:r>
              <a:rPr sz="2400" spc="7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ts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;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b</a:t>
            </a:r>
            <a:r>
              <a:rPr sz="2400" spc="-4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th ac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viti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 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shou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ld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sta</a:t>
            </a:r>
            <a:r>
              <a:rPr sz="2400" spc="7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im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u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l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ta</a:t>
            </a:r>
            <a:r>
              <a:rPr sz="2400" spc="-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ne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ou</a:t>
            </a:r>
            <a:r>
              <a:rPr sz="2400" spc="-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l</a:t>
            </a:r>
            <a:r>
              <a:rPr sz="2400" spc="-1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y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.</a:t>
            </a:r>
            <a:endParaRPr lang="en-US" sz="2400" dirty="0">
              <a:solidFill>
                <a:srgbClr val="4D3A2F"/>
              </a:solidFill>
              <a:latin typeface="Calibri" panose="020F0502020204030204" pitchFamily="34" charset="0"/>
              <a:cs typeface="Franklin Gothic Book"/>
            </a:endParaRPr>
          </a:p>
          <a:p>
            <a:pPr marL="12700" marR="6350">
              <a:lnSpc>
                <a:spcPct val="100000"/>
              </a:lnSpc>
              <a:tabLst>
                <a:tab pos="4966335" algn="l"/>
                <a:tab pos="5807710" algn="l"/>
                <a:tab pos="7346950" algn="l"/>
              </a:tabLst>
            </a:pPr>
            <a:endParaRPr lang="en-US" sz="2400" spc="-15" dirty="0">
              <a:solidFill>
                <a:srgbClr val="4D3A2F"/>
              </a:solidFill>
              <a:latin typeface="Calibri" panose="020F0502020204030204" pitchFamily="34" charset="0"/>
              <a:cs typeface="Franklin Gothic Book"/>
            </a:endParaRPr>
          </a:p>
          <a:p>
            <a:pPr marL="12700" marR="6350">
              <a:lnSpc>
                <a:spcPct val="100000"/>
              </a:lnSpc>
              <a:tabLst>
                <a:tab pos="4966335" algn="l"/>
                <a:tab pos="5807710" algn="l"/>
                <a:tab pos="7346950" algn="l"/>
              </a:tabLst>
            </a:pP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Ex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sz="2400" spc="-4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m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p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le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:</a:t>
            </a:r>
            <a:endParaRPr lang="en-US" sz="2400" dirty="0">
              <a:solidFill>
                <a:srgbClr val="4D3A2F"/>
              </a:solidFill>
              <a:latin typeface="Calibri" panose="020F0502020204030204" pitchFamily="34" charset="0"/>
              <a:cs typeface="Franklin Gothic Book"/>
            </a:endParaRPr>
          </a:p>
          <a:p>
            <a:pPr marL="12700" marR="6350">
              <a:lnSpc>
                <a:spcPct val="100000"/>
              </a:lnSpc>
              <a:tabLst>
                <a:tab pos="4966335" algn="l"/>
                <a:tab pos="5807710" algn="l"/>
                <a:tab pos="7346950" algn="l"/>
              </a:tabLst>
            </a:pPr>
            <a:r>
              <a:rPr lang="en-US" sz="2400" spc="-18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To cut the grass you need to trim around areas the lawn mower can not get to as well as cut the lawn. 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B</a:t>
            </a:r>
            <a:r>
              <a:rPr sz="2400" spc="-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h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ac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viti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c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b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sta</a:t>
            </a:r>
            <a:r>
              <a:rPr sz="2400" spc="7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sz="2400" spc="-6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d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a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th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am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tim</a:t>
            </a:r>
            <a:r>
              <a:rPr sz="2400" spc="-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.</a:t>
            </a:r>
            <a:endParaRPr sz="2400" dirty="0">
              <a:latin typeface="Calibri" panose="020F0502020204030204" pitchFamily="34" charset="0"/>
              <a:cs typeface="Franklin Gothic Book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6519" y="618362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81659" y="670686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68026" y="4216400"/>
            <a:ext cx="2590800" cy="18402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2"/>
          <p:cNvSpPr txBox="1">
            <a:spLocks noGrp="1"/>
          </p:cNvSpPr>
          <p:nvPr>
            <p:ph type="title"/>
          </p:nvPr>
        </p:nvSpPr>
        <p:spPr>
          <a:xfrm>
            <a:off x="957967" y="363905"/>
            <a:ext cx="72009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0685" algn="ctr">
              <a:lnSpc>
                <a:spcPct val="100000"/>
              </a:lnSpc>
            </a:pPr>
            <a:r>
              <a:rPr lang="en-US" sz="3200" spc="-25" dirty="0">
                <a:latin typeface="Calibri" panose="020F0502020204030204" pitchFamily="34" charset="0"/>
              </a:rPr>
              <a:t>P</a:t>
            </a:r>
            <a:r>
              <a:rPr sz="3200" spc="-25" dirty="0">
                <a:latin typeface="Calibri" panose="020F0502020204030204" pitchFamily="34" charset="0"/>
              </a:rPr>
              <a:t>r</a:t>
            </a:r>
            <a:r>
              <a:rPr sz="3200" spc="-10" dirty="0">
                <a:latin typeface="Calibri" panose="020F0502020204030204" pitchFamily="34" charset="0"/>
              </a:rPr>
              <a:t>e</a:t>
            </a:r>
            <a:r>
              <a:rPr sz="3200" spc="5" dirty="0">
                <a:latin typeface="Calibri" panose="020F0502020204030204" pitchFamily="34" charset="0"/>
              </a:rPr>
              <a:t>c</a:t>
            </a:r>
            <a:r>
              <a:rPr sz="3200" spc="-5" dirty="0">
                <a:latin typeface="Calibri" panose="020F0502020204030204" pitchFamily="34" charset="0"/>
              </a:rPr>
              <a:t>e</a:t>
            </a:r>
            <a:r>
              <a:rPr sz="3200" spc="-10" dirty="0">
                <a:latin typeface="Calibri" panose="020F0502020204030204" pitchFamily="34" charset="0"/>
              </a:rPr>
              <a:t>d</a:t>
            </a:r>
            <a:r>
              <a:rPr sz="3200" spc="-5" dirty="0">
                <a:latin typeface="Calibri" panose="020F0502020204030204" pitchFamily="34" charset="0"/>
              </a:rPr>
              <a:t>e</a:t>
            </a:r>
            <a:r>
              <a:rPr sz="3200" spc="-10" dirty="0">
                <a:latin typeface="Calibri" panose="020F0502020204030204" pitchFamily="34" charset="0"/>
              </a:rPr>
              <a:t>n</a:t>
            </a:r>
            <a:r>
              <a:rPr sz="3200" spc="5" dirty="0">
                <a:latin typeface="Calibri" panose="020F0502020204030204" pitchFamily="34" charset="0"/>
              </a:rPr>
              <a:t>c</a:t>
            </a:r>
            <a:r>
              <a:rPr sz="3200" dirty="0">
                <a:latin typeface="Calibri" panose="020F0502020204030204" pitchFamily="34" charset="0"/>
              </a:rPr>
              <a:t>e</a:t>
            </a:r>
            <a:r>
              <a:rPr sz="3200" spc="-5" dirty="0">
                <a:latin typeface="Calibri" panose="020F0502020204030204" pitchFamily="34" charset="0"/>
              </a:rPr>
              <a:t> Rel</a:t>
            </a:r>
            <a:r>
              <a:rPr sz="3200" spc="-10" dirty="0">
                <a:latin typeface="Calibri" panose="020F0502020204030204" pitchFamily="34" charset="0"/>
              </a:rPr>
              <a:t>a</a:t>
            </a:r>
            <a:r>
              <a:rPr sz="3200" spc="-5" dirty="0">
                <a:latin typeface="Calibri" panose="020F0502020204030204" pitchFamily="34" charset="0"/>
              </a:rPr>
              <a:t>tio</a:t>
            </a:r>
            <a:r>
              <a:rPr sz="3200" spc="-10" dirty="0">
                <a:latin typeface="Calibri" panose="020F0502020204030204" pitchFamily="34" charset="0"/>
              </a:rPr>
              <a:t>n</a:t>
            </a:r>
            <a:r>
              <a:rPr sz="3200" spc="5" dirty="0">
                <a:latin typeface="Calibri" panose="020F0502020204030204" pitchFamily="34" charset="0"/>
              </a:rPr>
              <a:t>s</a:t>
            </a:r>
            <a:r>
              <a:rPr sz="3200" spc="-10" dirty="0">
                <a:latin typeface="Calibri" panose="020F0502020204030204" pitchFamily="34" charset="0"/>
              </a:rPr>
              <a:t>h</a:t>
            </a:r>
            <a:r>
              <a:rPr sz="3200" spc="-5" dirty="0">
                <a:latin typeface="Calibri" panose="020F0502020204030204" pitchFamily="34" charset="0"/>
              </a:rPr>
              <a:t>ips</a:t>
            </a:r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96838" y="6409035"/>
            <a:ext cx="371475" cy="39945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G.R. Labbé &amp; R.W. Schott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srgbClr val="514A40"/>
                </a:solidFill>
              </a:rPr>
              <a:pPr/>
              <a:t>13</a:t>
            </a:fld>
            <a:endParaRPr lang="en-US">
              <a:solidFill>
                <a:srgbClr val="514A40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B100C7-5517-4F9D-9ABC-30B5A0730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rgbClr val="514A40"/>
                </a:solidFill>
              </a:rPr>
              <a:t>Lecture 8</a:t>
            </a:r>
          </a:p>
        </p:txBody>
      </p:sp>
    </p:spTree>
    <p:extLst>
      <p:ext uri="{BB962C8B-B14F-4D97-AF65-F5344CB8AC3E}">
        <p14:creationId xmlns:p14="http://schemas.microsoft.com/office/powerpoint/2010/main" val="1050926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85798" y="1309800"/>
            <a:ext cx="7755255" cy="25853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ct val="100000"/>
              </a:lnSpc>
              <a:tabLst>
                <a:tab pos="3054350" algn="l"/>
                <a:tab pos="4594860" algn="l"/>
                <a:tab pos="5095875" algn="l"/>
                <a:tab pos="6423660" algn="l"/>
              </a:tabLst>
            </a:pPr>
            <a:r>
              <a:rPr sz="2400" b="1" spc="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b="1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ta</a:t>
            </a:r>
            <a:r>
              <a:rPr sz="2400" b="1" spc="9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sz="2400" b="1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b="1" spc="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b="1" spc="-17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b="1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sz="2400" b="1" spc="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b="1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F</a:t>
            </a:r>
            <a:r>
              <a:rPr sz="2400" b="1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b="1" spc="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b="1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b="1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sh</a:t>
            </a:r>
            <a:r>
              <a:rPr sz="2400" b="1" spc="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b="1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(</a:t>
            </a:r>
            <a:r>
              <a:rPr sz="2400" b="1" spc="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b="1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F</a:t>
            </a:r>
            <a:r>
              <a:rPr sz="2400" b="1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)</a:t>
            </a:r>
            <a:r>
              <a:rPr sz="2400" b="1" spc="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b="1" spc="-6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sz="2400" b="1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b="1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l</a:t>
            </a:r>
            <a:r>
              <a:rPr sz="2400" b="1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at</a:t>
            </a:r>
            <a:r>
              <a:rPr sz="2400" b="1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b="1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sz="2400" b="1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b="1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b="1" spc="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h</a:t>
            </a:r>
            <a:r>
              <a:rPr sz="2400" b="1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ip:</a:t>
            </a:r>
            <a:endParaRPr lang="en-US" sz="2400" b="1" dirty="0">
              <a:solidFill>
                <a:srgbClr val="4D3A2F"/>
              </a:solidFill>
              <a:latin typeface="Calibri" panose="020F0502020204030204" pitchFamily="34" charset="0"/>
              <a:cs typeface="Franklin Gothic Book"/>
            </a:endParaRPr>
          </a:p>
          <a:p>
            <a:pPr marL="12700" marR="6350">
              <a:lnSpc>
                <a:spcPct val="100000"/>
              </a:lnSpc>
              <a:tabLst>
                <a:tab pos="3054350" algn="l"/>
                <a:tab pos="4594860" algn="l"/>
                <a:tab pos="5095875" algn="l"/>
                <a:tab pos="6423660" algn="l"/>
              </a:tabLst>
            </a:pP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Th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sz="2400" spc="7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of 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th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fi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ac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vi</a:t>
            </a:r>
            <a:r>
              <a:rPr sz="2400" spc="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y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tri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g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g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rs 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th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fi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sh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f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th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 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spc="-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c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d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c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tivi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10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y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. </a:t>
            </a:r>
            <a:r>
              <a:rPr lang="en-US" sz="2400" b="1" i="1" dirty="0">
                <a:solidFill>
                  <a:srgbClr val="C00000"/>
                </a:solidFill>
                <a:latin typeface="Calibri" panose="020F0502020204030204" pitchFamily="34" charset="0"/>
                <a:cs typeface="Franklin Gothic Book"/>
              </a:rPr>
              <a:t>(</a:t>
            </a:r>
            <a:r>
              <a:rPr sz="2400" b="1" i="1" spc="-20" dirty="0">
                <a:solidFill>
                  <a:srgbClr val="C00000"/>
                </a:solidFill>
                <a:latin typeface="Calibri" panose="020F0502020204030204" pitchFamily="34" charset="0"/>
                <a:cs typeface="Franklin Gothic Book"/>
              </a:rPr>
              <a:t>VE</a:t>
            </a:r>
            <a:r>
              <a:rPr sz="2400" b="1" i="1" spc="-80" dirty="0">
                <a:solidFill>
                  <a:srgbClr val="C00000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sz="2400" b="1" i="1" dirty="0">
                <a:solidFill>
                  <a:srgbClr val="C00000"/>
                </a:solidFill>
                <a:latin typeface="Calibri" panose="020F0502020204030204" pitchFamily="34" charset="0"/>
                <a:cs typeface="Franklin Gothic Book"/>
              </a:rPr>
              <a:t>Y</a:t>
            </a:r>
            <a:r>
              <a:rPr sz="2400" b="1" i="1" spc="-5" dirty="0">
                <a:solidFill>
                  <a:srgbClr val="C0000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b="1" i="1" spc="-30" dirty="0">
                <a:solidFill>
                  <a:srgbClr val="C00000"/>
                </a:solidFill>
                <a:latin typeface="Calibri" panose="020F0502020204030204" pitchFamily="34" charset="0"/>
                <a:cs typeface="Franklin Gothic Book"/>
              </a:rPr>
              <a:t>U</a:t>
            </a:r>
            <a:r>
              <a:rPr sz="2400" b="1" i="1" spc="-5" dirty="0">
                <a:solidFill>
                  <a:srgbClr val="C00000"/>
                </a:solidFill>
                <a:latin typeface="Calibri" panose="020F0502020204030204" pitchFamily="34" charset="0"/>
                <a:cs typeface="Franklin Gothic Book"/>
              </a:rPr>
              <a:t>NCO</a:t>
            </a:r>
            <a:r>
              <a:rPr sz="2400" b="1" i="1" spc="-30" dirty="0">
                <a:solidFill>
                  <a:srgbClr val="C00000"/>
                </a:solidFill>
                <a:latin typeface="Calibri" panose="020F0502020204030204" pitchFamily="34" charset="0"/>
                <a:cs typeface="Franklin Gothic Book"/>
              </a:rPr>
              <a:t>MMO</a:t>
            </a:r>
            <a:r>
              <a:rPr sz="2400" b="1" i="1" spc="-5" dirty="0">
                <a:solidFill>
                  <a:srgbClr val="C00000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b="1" i="1" dirty="0">
                <a:solidFill>
                  <a:srgbClr val="C00000"/>
                </a:solidFill>
                <a:latin typeface="Calibri" panose="020F0502020204030204" pitchFamily="34" charset="0"/>
                <a:cs typeface="Franklin Gothic Book"/>
              </a:rPr>
              <a:t>)</a:t>
            </a:r>
          </a:p>
          <a:p>
            <a:pPr marL="12700" marR="6350">
              <a:lnSpc>
                <a:spcPct val="100000"/>
              </a:lnSpc>
              <a:tabLst>
                <a:tab pos="3054350" algn="l"/>
                <a:tab pos="4594860" algn="l"/>
                <a:tab pos="5095875" algn="l"/>
                <a:tab pos="6423660" algn="l"/>
              </a:tabLst>
            </a:pPr>
            <a:endParaRPr lang="en-US" sz="2400" spc="-15" dirty="0">
              <a:solidFill>
                <a:srgbClr val="4D3A2F"/>
              </a:solidFill>
              <a:latin typeface="Calibri" panose="020F0502020204030204" pitchFamily="34" charset="0"/>
              <a:cs typeface="Franklin Gothic Book"/>
            </a:endParaRPr>
          </a:p>
          <a:p>
            <a:pPr marL="12700" marR="6350">
              <a:lnSpc>
                <a:spcPct val="100000"/>
              </a:lnSpc>
              <a:tabLst>
                <a:tab pos="3054350" algn="l"/>
                <a:tab pos="4594860" algn="l"/>
                <a:tab pos="5095875" algn="l"/>
                <a:tab pos="6423660" algn="l"/>
              </a:tabLst>
            </a:pP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Ex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sz="2400" spc="-5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m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pl</a:t>
            </a:r>
            <a:r>
              <a:rPr sz="2400" spc="-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:</a:t>
            </a:r>
            <a:endParaRPr lang="en-US" sz="2400" dirty="0">
              <a:solidFill>
                <a:srgbClr val="4D3A2F"/>
              </a:solidFill>
              <a:latin typeface="Calibri" panose="020F0502020204030204" pitchFamily="34" charset="0"/>
              <a:cs typeface="Franklin Gothic Book"/>
            </a:endParaRPr>
          </a:p>
          <a:p>
            <a:pPr marL="12700" marR="6350">
              <a:lnSpc>
                <a:spcPct val="100000"/>
              </a:lnSpc>
              <a:tabLst>
                <a:tab pos="3054350" algn="l"/>
                <a:tab pos="4594860" algn="l"/>
                <a:tab pos="5095875" algn="l"/>
                <a:tab pos="6423660" algn="l"/>
              </a:tabLst>
            </a:pPr>
            <a:r>
              <a:rPr lang="en-US"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h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sta</a:t>
            </a:r>
            <a:r>
              <a:rPr sz="2400" spc="7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f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th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spc="-7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w 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sh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spc="6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f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g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na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ls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th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fi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sh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f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th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c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u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sz="2400" spc="-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en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sh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spc="6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f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.</a:t>
            </a:r>
            <a:r>
              <a:rPr lang="en-US"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C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u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sz="2400" spc="-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en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 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sh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spc="6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f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ca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't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en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d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un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l 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th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spc="-7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w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sz="2400" spc="-3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e </a:t>
            </a:r>
            <a:r>
              <a:rPr sz="2400" spc="-20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sta</a:t>
            </a:r>
            <a:r>
              <a:rPr sz="2400" spc="7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Franklin Gothic Book"/>
              </a:rPr>
              <a:t>ts.</a:t>
            </a:r>
            <a:endParaRPr sz="2400" dirty="0">
              <a:latin typeface="Calibri" panose="020F0502020204030204" pitchFamily="34" charset="0"/>
              <a:cs typeface="Franklin Gothic Book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6519" y="618362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81659" y="670686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32160" y="4038600"/>
            <a:ext cx="2462530" cy="1915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2"/>
          <p:cNvSpPr txBox="1">
            <a:spLocks noGrp="1"/>
          </p:cNvSpPr>
          <p:nvPr>
            <p:ph type="title"/>
          </p:nvPr>
        </p:nvSpPr>
        <p:spPr>
          <a:xfrm>
            <a:off x="962975" y="351655"/>
            <a:ext cx="72009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0685" algn="ctr">
              <a:lnSpc>
                <a:spcPct val="100000"/>
              </a:lnSpc>
            </a:pPr>
            <a:r>
              <a:rPr lang="en-US" sz="3200" spc="-25" dirty="0">
                <a:latin typeface="Calibri" panose="020F0502020204030204" pitchFamily="34" charset="0"/>
              </a:rPr>
              <a:t>P</a:t>
            </a:r>
            <a:r>
              <a:rPr sz="3200" spc="-25" dirty="0">
                <a:latin typeface="Calibri" panose="020F0502020204030204" pitchFamily="34" charset="0"/>
              </a:rPr>
              <a:t>r</a:t>
            </a:r>
            <a:r>
              <a:rPr sz="3200" spc="-10" dirty="0">
                <a:latin typeface="Calibri" panose="020F0502020204030204" pitchFamily="34" charset="0"/>
              </a:rPr>
              <a:t>e</a:t>
            </a:r>
            <a:r>
              <a:rPr sz="3200" spc="5" dirty="0">
                <a:latin typeface="Calibri" panose="020F0502020204030204" pitchFamily="34" charset="0"/>
              </a:rPr>
              <a:t>c</a:t>
            </a:r>
            <a:r>
              <a:rPr sz="3200" spc="-5" dirty="0">
                <a:latin typeface="Calibri" panose="020F0502020204030204" pitchFamily="34" charset="0"/>
              </a:rPr>
              <a:t>e</a:t>
            </a:r>
            <a:r>
              <a:rPr sz="3200" spc="-10" dirty="0">
                <a:latin typeface="Calibri" panose="020F0502020204030204" pitchFamily="34" charset="0"/>
              </a:rPr>
              <a:t>d</a:t>
            </a:r>
            <a:r>
              <a:rPr sz="3200" spc="-5" dirty="0">
                <a:latin typeface="Calibri" panose="020F0502020204030204" pitchFamily="34" charset="0"/>
              </a:rPr>
              <a:t>e</a:t>
            </a:r>
            <a:r>
              <a:rPr sz="3200" spc="-10" dirty="0">
                <a:latin typeface="Calibri" panose="020F0502020204030204" pitchFamily="34" charset="0"/>
              </a:rPr>
              <a:t>n</a:t>
            </a:r>
            <a:r>
              <a:rPr sz="3200" spc="5" dirty="0">
                <a:latin typeface="Calibri" panose="020F0502020204030204" pitchFamily="34" charset="0"/>
              </a:rPr>
              <a:t>c</a:t>
            </a:r>
            <a:r>
              <a:rPr sz="3200" dirty="0">
                <a:latin typeface="Calibri" panose="020F0502020204030204" pitchFamily="34" charset="0"/>
              </a:rPr>
              <a:t>e</a:t>
            </a:r>
            <a:r>
              <a:rPr sz="3200" spc="-5" dirty="0">
                <a:latin typeface="Calibri" panose="020F0502020204030204" pitchFamily="34" charset="0"/>
              </a:rPr>
              <a:t> Rel</a:t>
            </a:r>
            <a:r>
              <a:rPr sz="3200" spc="-10" dirty="0">
                <a:latin typeface="Calibri" panose="020F0502020204030204" pitchFamily="34" charset="0"/>
              </a:rPr>
              <a:t>a</a:t>
            </a:r>
            <a:r>
              <a:rPr sz="3200" spc="-5" dirty="0">
                <a:latin typeface="Calibri" panose="020F0502020204030204" pitchFamily="34" charset="0"/>
              </a:rPr>
              <a:t>tio</a:t>
            </a:r>
            <a:r>
              <a:rPr sz="3200" spc="-10" dirty="0">
                <a:latin typeface="Calibri" panose="020F0502020204030204" pitchFamily="34" charset="0"/>
              </a:rPr>
              <a:t>n</a:t>
            </a:r>
            <a:r>
              <a:rPr sz="3200" spc="5" dirty="0">
                <a:latin typeface="Calibri" panose="020F0502020204030204" pitchFamily="34" charset="0"/>
              </a:rPr>
              <a:t>s</a:t>
            </a:r>
            <a:r>
              <a:rPr sz="3200" spc="-10" dirty="0">
                <a:latin typeface="Calibri" panose="020F0502020204030204" pitchFamily="34" charset="0"/>
              </a:rPr>
              <a:t>h</a:t>
            </a:r>
            <a:r>
              <a:rPr sz="3200" spc="-5" dirty="0">
                <a:latin typeface="Calibri" panose="020F0502020204030204" pitchFamily="34" charset="0"/>
              </a:rPr>
              <a:t>ips</a:t>
            </a:r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96838" y="6409035"/>
            <a:ext cx="371475" cy="39945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G.R. Labbé &amp; R.W. Schott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srgbClr val="514A40"/>
                </a:solidFill>
              </a:rPr>
              <a:pPr/>
              <a:t>14</a:t>
            </a:fld>
            <a:endParaRPr lang="en-US">
              <a:solidFill>
                <a:srgbClr val="514A40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E1D5B-B15F-46DA-AD3E-19B05E177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rgbClr val="514A40"/>
                </a:solidFill>
              </a:rPr>
              <a:t>Lecture 8</a:t>
            </a:r>
          </a:p>
        </p:txBody>
      </p:sp>
    </p:spTree>
    <p:extLst>
      <p:ext uri="{BB962C8B-B14F-4D97-AF65-F5344CB8AC3E}">
        <p14:creationId xmlns:p14="http://schemas.microsoft.com/office/powerpoint/2010/main" val="20091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830064"/>
            <a:ext cx="7920880" cy="543272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sz="3200" dirty="0">
                <a:latin typeface="Calibri" panose="020F0502020204030204" pitchFamily="34" charset="0"/>
                <a:cs typeface="Arial" panose="020B0604020202020204" pitchFamily="34" charset="0"/>
              </a:rPr>
              <a:t>CRASHING PROJECTS</a:t>
            </a:r>
            <a:br>
              <a:rPr lang="en-US" sz="3200" dirty="0">
                <a:latin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3200" i="1" dirty="0">
                <a:latin typeface="Calibri" panose="020F0502020204030204" pitchFamily="34" charset="0"/>
                <a:cs typeface="Arial" panose="020B0604020202020204" pitchFamily="34" charset="0"/>
              </a:rPr>
              <a:t>(UNDER WHAT conditions)</a:t>
            </a:r>
            <a:r>
              <a:rPr lang="en-US" sz="3200" dirty="0">
                <a:latin typeface="Calibri" panose="020F0502020204030204" pitchFamily="34" charset="0"/>
                <a:cs typeface="Arial" panose="020B0604020202020204" pitchFamily="34" charset="0"/>
              </a:rPr>
              <a:t>?</a:t>
            </a:r>
            <a:endParaRPr lang="en-US" sz="3200" i="1" dirty="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791555" y="1838999"/>
            <a:ext cx="7560890" cy="41148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The initial schedule may be too optimistic.  </a:t>
            </a:r>
          </a:p>
          <a:p>
            <a:pPr eaLnBrk="1" hangingPunct="1"/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Market needs change and the project is in demand earlier than anticipated.  </a:t>
            </a:r>
          </a:p>
          <a:p>
            <a:pPr eaLnBrk="1" hangingPunct="1"/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The project has slipped considerably behind schedule.  </a:t>
            </a:r>
          </a:p>
          <a:p>
            <a:pPr eaLnBrk="1" hangingPunct="1"/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The contractual situation provides even more incentive to avoid schedule slippage</a:t>
            </a:r>
            <a:r>
              <a:rPr lang="en-US" sz="2400" dirty="0">
                <a:latin typeface="Calibri" panose="020F0502020204030204" pitchFamily="34" charset="0"/>
              </a:rPr>
              <a:t>. </a:t>
            </a: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96838" y="6409035"/>
            <a:ext cx="371475" cy="39945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G.R. Labbé &amp; R.W. Schott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srgbClr val="514A40"/>
                </a:solidFill>
              </a:rPr>
              <a:pPr/>
              <a:t>15</a:t>
            </a:fld>
            <a:endParaRPr lang="en-US">
              <a:solidFill>
                <a:srgbClr val="514A4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8B57F-C626-449A-A5AF-5B81F1277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rgbClr val="514A40"/>
                </a:solidFill>
              </a:rPr>
              <a:t>Lecture 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575606" y="260648"/>
            <a:ext cx="7704856" cy="759296"/>
          </a:xfrm>
        </p:spPr>
        <p:txBody>
          <a:bodyPr/>
          <a:lstStyle/>
          <a:p>
            <a:pPr algn="ctr" eaLnBrk="1" hangingPunct="1"/>
            <a:r>
              <a:rPr lang="en-US" sz="3200" dirty="0">
                <a:latin typeface="Calibri" panose="020F0502020204030204" pitchFamily="34" charset="0"/>
                <a:cs typeface="Arial" panose="020B0604020202020204" pitchFamily="34" charset="0"/>
              </a:rPr>
              <a:t>Options for Accelerating Activities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827584" y="1340768"/>
            <a:ext cx="7200900" cy="4114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Improving the productivity of existing project resources </a:t>
            </a:r>
            <a:r>
              <a:rPr lang="en-US" sz="2400" i="1" dirty="0">
                <a:latin typeface="Calibri" panose="020F0502020204030204" pitchFamily="34" charset="0"/>
                <a:cs typeface="Arial" panose="020B0604020202020204" pitchFamily="34" charset="0"/>
              </a:rPr>
              <a:t>(team meeting to focus efforts on the most important aspect of a task. Review best practice how to do the task)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Changing the working method employed for the activity, usually by altering the technology and types of resources employed </a:t>
            </a:r>
            <a:r>
              <a:rPr lang="en-US" sz="2400" i="1" dirty="0">
                <a:latin typeface="Calibri" panose="020F0502020204030204" pitchFamily="34" charset="0"/>
                <a:cs typeface="Arial" panose="020B0604020202020204" pitchFamily="34" charset="0"/>
              </a:rPr>
              <a:t>(Change from drawing review to CAD model review)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Increasing the quantity of project resources, including personnel, plant, and equipment </a:t>
            </a:r>
            <a:r>
              <a:rPr lang="en-US" sz="2400" i="1" dirty="0">
                <a:latin typeface="Calibri" panose="020F0502020204030204" pitchFamily="34" charset="0"/>
                <a:cs typeface="Arial" panose="020B0604020202020204" pitchFamily="34" charset="0"/>
              </a:rPr>
              <a:t>(OT, extra shifts, expedite freight)…</a:t>
            </a: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96838" y="6409035"/>
            <a:ext cx="371475" cy="39945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G.R. Labbé &amp; R.W. Schott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srgbClr val="514A40"/>
                </a:solidFill>
              </a:rPr>
              <a:pPr/>
              <a:t>16</a:t>
            </a:fld>
            <a:endParaRPr lang="en-US">
              <a:solidFill>
                <a:srgbClr val="514A4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5BA01-5295-42C9-8314-F03460DEA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rgbClr val="514A40"/>
                </a:solidFill>
              </a:rPr>
              <a:t>Lecture 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332656"/>
            <a:ext cx="8352928" cy="11430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3200" dirty="0">
                <a:latin typeface="Calibri" panose="020F0502020204030204" pitchFamily="34" charset="0"/>
                <a:cs typeface="Arial" panose="020B0604020202020204" pitchFamily="34" charset="0"/>
              </a:rPr>
              <a:t>Caution with requesting</a:t>
            </a:r>
            <a:br>
              <a:rPr lang="en-US" sz="3200" dirty="0">
                <a:latin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3200" i="1" dirty="0">
                <a:latin typeface="Calibri" panose="020F0502020204030204" pitchFamily="34" charset="0"/>
                <a:cs typeface="Arial" panose="020B0604020202020204" pitchFamily="34" charset="0"/>
              </a:rPr>
              <a:t>(excessive) </a:t>
            </a:r>
            <a:r>
              <a:rPr lang="en-US" sz="3200" dirty="0">
                <a:latin typeface="Calibri" panose="020F0502020204030204" pitchFamily="34" charset="0"/>
                <a:cs typeface="Arial" panose="020B0604020202020204" pitchFamily="34" charset="0"/>
              </a:rPr>
              <a:t>overtime!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719572" y="1772816"/>
            <a:ext cx="7704856" cy="4114800"/>
          </a:xfrm>
        </p:spPr>
        <p:txBody>
          <a:bodyPr>
            <a:normAutofit/>
          </a:bodyPr>
          <a:lstStyle/>
          <a:p>
            <a:pPr marL="0" indent="0" eaLnBrk="1" hangingPunct="1">
              <a:buFontTx/>
              <a:buNone/>
            </a:pPr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There is research that suggests that the greater the amount of overtime workers are expected to perform, the lower the marginal performance a company is likely to receive from them. </a:t>
            </a:r>
          </a:p>
          <a:p>
            <a:pPr marL="0" indent="0" eaLnBrk="1" hangingPunct="1">
              <a:buFontTx/>
              <a:buNone/>
            </a:pPr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For example, it was found that in engineering functions, optimal performance was realized after only four hours of overtime per week. </a:t>
            </a:r>
          </a:p>
          <a:p>
            <a:pPr marL="0" indent="0" eaLnBrk="1" hangingPunct="1">
              <a:buFontTx/>
              <a:buNone/>
            </a:pP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By the time engineers were working </a:t>
            </a: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10 hours of overtime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, the marginal real extra output realized by the company had dropped to </a:t>
            </a: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zero!</a:t>
            </a: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96838" y="6409035"/>
            <a:ext cx="371475" cy="39945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G.R. Labbé &amp; R.W. Schott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srgbClr val="514A40"/>
                </a:solidFill>
              </a:rPr>
              <a:pPr/>
              <a:t>17</a:t>
            </a:fld>
            <a:endParaRPr lang="en-US">
              <a:solidFill>
                <a:srgbClr val="514A4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46B49-9A57-465B-A8EF-28FB676BD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rgbClr val="514A40"/>
                </a:solidFill>
              </a:rPr>
              <a:t>Lecture 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7" y="768415"/>
            <a:ext cx="8496943" cy="455712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sz="3200" dirty="0">
                <a:latin typeface="Calibri" panose="020F0502020204030204" pitchFamily="34" charset="0"/>
                <a:cs typeface="Arial" panose="020B0604020202020204" pitchFamily="34" charset="0"/>
              </a:rPr>
              <a:t>Time-Cost Trade offs</a:t>
            </a:r>
            <a:br>
              <a:rPr lang="en-US" sz="3200" dirty="0">
                <a:latin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Calibri" panose="020F0502020204030204" pitchFamily="34" charset="0"/>
                <a:cs typeface="Arial" panose="020B0604020202020204" pitchFamily="34" charset="0"/>
              </a:rPr>
              <a:t>for Crashing Activities</a:t>
            </a:r>
          </a:p>
        </p:txBody>
      </p:sp>
      <p:pic>
        <p:nvPicPr>
          <p:cNvPr id="1843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3048" y="1484784"/>
            <a:ext cx="6057900" cy="460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G.R. Labbé &amp; R.W. Schott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srgbClr val="514A40"/>
                </a:solidFill>
              </a:rPr>
              <a:pPr/>
              <a:t>18</a:t>
            </a:fld>
            <a:endParaRPr lang="en-US">
              <a:solidFill>
                <a:srgbClr val="514A4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A5E49-68DF-4D16-A621-84B668DD8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rgbClr val="514A40"/>
                </a:solidFill>
              </a:rPr>
              <a:t>Lecture 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82440"/>
            <a:ext cx="8229600" cy="432048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sz="3200" b="1" dirty="0">
                <a:latin typeface="Calibri" panose="020F0502020204030204" pitchFamily="34" charset="0"/>
                <a:cs typeface="Arial" panose="020B0604020202020204" pitchFamily="34" charset="0"/>
              </a:rPr>
              <a:t>CRASHING </a:t>
            </a:r>
            <a:r>
              <a:rPr lang="en-US" sz="3200" dirty="0">
                <a:latin typeface="Calibri" panose="020F0502020204030204" pitchFamily="34" charset="0"/>
                <a:cs typeface="Arial" panose="020B0604020202020204" pitchFamily="34" charset="0"/>
              </a:rPr>
              <a:t>ACTIVITIES</a:t>
            </a:r>
            <a:r>
              <a:rPr lang="en-US" sz="3200" b="1" dirty="0">
                <a:latin typeface="Calibri" panose="020F0502020204030204" pitchFamily="34" charset="0"/>
                <a:cs typeface="Arial" panose="020B0604020202020204" pitchFamily="34" charset="0"/>
              </a:rPr>
              <a:t> – AN EXAMPLE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340768"/>
            <a:ext cx="8077200" cy="4525963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800" dirty="0">
                <a:latin typeface="Calibri" panose="020F0502020204030204" pitchFamily="34" charset="0"/>
              </a:rPr>
              <a:t>Formula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18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800" dirty="0">
                <a:latin typeface="Calibri" panose="020F0502020204030204" pitchFamily="34" charset="0"/>
              </a:rPr>
              <a:t>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800" dirty="0">
                <a:latin typeface="Calibri" panose="020F0502020204030204" pitchFamily="34" charset="0"/>
              </a:rPr>
              <a:t>SUPPOSE: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800" dirty="0">
                <a:latin typeface="Calibri" panose="020F0502020204030204" pitchFamily="34" charset="0"/>
              </a:rPr>
              <a:t>NORMAL ACTIVITY DURATION = 8 WEEKS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800" dirty="0">
                <a:latin typeface="Calibri" panose="020F0502020204030204" pitchFamily="34" charset="0"/>
              </a:rPr>
              <a:t>NORMAL COST = $14,000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800" dirty="0">
                <a:latin typeface="Calibri" panose="020F0502020204030204" pitchFamily="34" charset="0"/>
              </a:rPr>
              <a:t>CRASHED ACTIVITY DURATION = 5 WEEKS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800" dirty="0">
                <a:latin typeface="Calibri" panose="020F0502020204030204" pitchFamily="34" charset="0"/>
              </a:rPr>
              <a:t>CRASHED COST = $23,000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800" dirty="0">
                <a:latin typeface="Calibri" panose="020F0502020204030204" pitchFamily="34" charset="0"/>
              </a:rPr>
              <a:t>THE ACTIVITY COST SLOPE  =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800" dirty="0">
                <a:latin typeface="Calibri" panose="020F0502020204030204" pitchFamily="34" charset="0"/>
              </a:rPr>
              <a:t>		</a:t>
            </a:r>
            <a:r>
              <a:rPr lang="en-US" sz="1800" u="sng" dirty="0">
                <a:latin typeface="Calibri" panose="020F0502020204030204" pitchFamily="34" charset="0"/>
              </a:rPr>
              <a:t>23,000 – 14,000</a:t>
            </a:r>
            <a:r>
              <a:rPr lang="en-US" sz="1800" dirty="0">
                <a:latin typeface="Calibri" panose="020F0502020204030204" pitchFamily="34" charset="0"/>
              </a:rPr>
              <a:t>          or,      $</a:t>
            </a:r>
            <a:r>
              <a:rPr lang="en-US" sz="1800" u="sng" dirty="0">
                <a:latin typeface="Calibri" panose="020F0502020204030204" pitchFamily="34" charset="0"/>
              </a:rPr>
              <a:t>9,000</a:t>
            </a:r>
            <a:r>
              <a:rPr lang="en-US" sz="1800" dirty="0">
                <a:latin typeface="Calibri" panose="020F0502020204030204" pitchFamily="34" charset="0"/>
              </a:rPr>
              <a:t>        =    $3,000 per week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800" dirty="0">
                <a:latin typeface="Calibri" panose="020F0502020204030204" pitchFamily="34" charset="0"/>
              </a:rPr>
              <a:t>		      8 – 5 		   	3</a:t>
            </a:r>
          </a:p>
        </p:txBody>
      </p:sp>
      <p:graphicFrame>
        <p:nvGraphicFramePr>
          <p:cNvPr id="3074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39549761"/>
              </p:ext>
            </p:extLst>
          </p:nvPr>
        </p:nvGraphicFramePr>
        <p:xfrm>
          <a:off x="2681288" y="1566863"/>
          <a:ext cx="3629025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97100" imgH="431800" progId="Equation.3">
                  <p:embed/>
                </p:oleObj>
              </mc:Choice>
              <mc:Fallback>
                <p:oleObj name="Equation" r:id="rId2" imgW="2197100" imgH="431800" progId="Equation.3">
                  <p:embed/>
                  <p:pic>
                    <p:nvPicPr>
                      <p:cNvPr id="0" name="Picture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1288" y="1566863"/>
                        <a:ext cx="3629025" cy="712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96838" y="6409035"/>
            <a:ext cx="371475" cy="39945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G.R. Labbé &amp; R.W. Schott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AE29DC-74D3-4028-B8B1-D362AA184C3C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AA4EF-8734-465E-8180-787327927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Lecture 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 noChangeArrowheads="1"/>
          </p:cNvSpPr>
          <p:nvPr>
            <p:ph idx="1"/>
          </p:nvPr>
        </p:nvSpPr>
        <p:spPr>
          <a:xfrm>
            <a:off x="489583" y="826729"/>
            <a:ext cx="8229600" cy="5472906"/>
          </a:xfrm>
        </p:spPr>
        <p:txBody>
          <a:bodyPr>
            <a:normAutofit lnSpcReduction="10000"/>
          </a:bodyPr>
          <a:lstStyle/>
          <a:p>
            <a:pPr eaLnBrk="1" hangingPunct="1">
              <a:buFontTx/>
              <a:buNone/>
            </a:pPr>
            <a:r>
              <a:rPr lang="en-US" sz="2000" dirty="0">
                <a:latin typeface="Calibri" panose="020F0502020204030204" pitchFamily="34" charset="0"/>
                <a:cs typeface="Arial" pitchFamily="34" charset="0"/>
              </a:rPr>
              <a:t>Project cost changes when tasks along the critical path are being crashed.</a:t>
            </a:r>
          </a:p>
          <a:p>
            <a:pPr eaLnBrk="1" hangingPunct="1">
              <a:buFontTx/>
              <a:buNone/>
            </a:pPr>
            <a:r>
              <a:rPr lang="en-US" sz="2000" dirty="0">
                <a:latin typeface="Calibri" panose="020F0502020204030204" pitchFamily="34" charset="0"/>
                <a:cs typeface="Arial" pitchFamily="34" charset="0"/>
              </a:rPr>
              <a:t>The cost goes up for every task being crashed. </a:t>
            </a:r>
          </a:p>
          <a:p>
            <a:pPr eaLnBrk="1" hangingPunct="1">
              <a:buFontTx/>
              <a:buNone/>
            </a:pPr>
            <a:r>
              <a:rPr lang="en-US" sz="2000" dirty="0">
                <a:latin typeface="Calibri" panose="020F0502020204030204" pitchFamily="34" charset="0"/>
                <a:cs typeface="Arial" pitchFamily="34" charset="0"/>
              </a:rPr>
              <a:t>One can create a table listing all tasks, the normal duration and cost, and the</a:t>
            </a:r>
          </a:p>
          <a:p>
            <a:pPr eaLnBrk="1" hangingPunct="1">
              <a:buFontTx/>
              <a:buNone/>
            </a:pPr>
            <a:r>
              <a:rPr lang="en-US" sz="2000" dirty="0">
                <a:latin typeface="Calibri" panose="020F0502020204030204" pitchFamily="34" charset="0"/>
                <a:cs typeface="Arial" pitchFamily="34" charset="0"/>
              </a:rPr>
              <a:t>crashed duration and cost. </a:t>
            </a:r>
          </a:p>
          <a:p>
            <a:pPr eaLnBrk="1" hangingPunct="1">
              <a:buFontTx/>
              <a:buNone/>
            </a:pPr>
            <a:endParaRPr lang="en-US" sz="2400" dirty="0"/>
          </a:p>
          <a:p>
            <a:pPr eaLnBrk="1" hangingPunct="1">
              <a:buFontTx/>
              <a:buNone/>
            </a:pPr>
            <a:endParaRPr lang="en-US" sz="2400" dirty="0"/>
          </a:p>
          <a:p>
            <a:pPr eaLnBrk="1" hangingPunct="1">
              <a:buFontTx/>
              <a:buNone/>
            </a:pPr>
            <a:endParaRPr lang="en-US" sz="2400" dirty="0"/>
          </a:p>
          <a:p>
            <a:pPr eaLnBrk="1" hangingPunct="1">
              <a:buFontTx/>
              <a:buNone/>
            </a:pPr>
            <a:endParaRPr lang="en-US" sz="2400" dirty="0"/>
          </a:p>
          <a:p>
            <a:pPr eaLnBrk="1" hangingPunct="1">
              <a:buFontTx/>
              <a:buNone/>
            </a:pPr>
            <a:endParaRPr lang="en-US" sz="2400" dirty="0"/>
          </a:p>
          <a:p>
            <a:pPr eaLnBrk="1" hangingPunct="1">
              <a:buFontTx/>
              <a:buNone/>
            </a:pPr>
            <a:r>
              <a:rPr lang="en-US" sz="2000" dirty="0">
                <a:latin typeface="Calibri" panose="020F0502020204030204" pitchFamily="34" charset="0"/>
                <a:cs typeface="Arial" pitchFamily="34" charset="0"/>
              </a:rPr>
              <a:t>With this table it is possible to calculate the crashing cost per day for each</a:t>
            </a:r>
          </a:p>
          <a:p>
            <a:pPr eaLnBrk="1" hangingPunct="1">
              <a:buFontTx/>
              <a:buNone/>
            </a:pPr>
            <a:r>
              <a:rPr lang="en-US" sz="2000" dirty="0">
                <a:latin typeface="Calibri" panose="020F0502020204030204" pitchFamily="34" charset="0"/>
                <a:cs typeface="Arial" pitchFamily="34" charset="0"/>
              </a:rPr>
              <a:t>task and select the task that makes the most financial sense to crash.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solidFill>
                  <a:srgbClr val="C00000"/>
                </a:solidFill>
                <a:latin typeface="Calibri" panose="020F0502020204030204" pitchFamily="34" charset="0"/>
                <a:cs typeface="Arial" pitchFamily="34" charset="0"/>
              </a:rPr>
              <a:t>Tasks A, F and H are on the critical path.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89583" y="274854"/>
            <a:ext cx="8229600" cy="432048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sz="3200" b="1" dirty="0">
                <a:latin typeface="Calibri" panose="020F0502020204030204" pitchFamily="34" charset="0"/>
                <a:cs typeface="Arial" panose="020B0604020202020204" pitchFamily="34" charset="0"/>
              </a:rPr>
              <a:t>CRASHING </a:t>
            </a:r>
            <a:r>
              <a:rPr lang="en-US" sz="3200" dirty="0">
                <a:latin typeface="Calibri" panose="020F0502020204030204" pitchFamily="34" charset="0"/>
                <a:cs typeface="Arial" panose="020B0604020202020204" pitchFamily="34" charset="0"/>
              </a:rPr>
              <a:t>ACTIVITIES</a:t>
            </a:r>
            <a:r>
              <a:rPr lang="en-US" sz="3200" b="1" dirty="0">
                <a:latin typeface="Calibri" panose="020F0502020204030204" pitchFamily="34" charset="0"/>
                <a:cs typeface="Arial" panose="020B0604020202020204" pitchFamily="34" charset="0"/>
              </a:rPr>
              <a:t> – AN EXAMPLE</a:t>
            </a:r>
          </a:p>
        </p:txBody>
      </p:sp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96838" y="6409035"/>
            <a:ext cx="371475" cy="39945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G.R. Labbé &amp; R.W. Schott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srgbClr val="514A40"/>
                </a:solidFill>
              </a:rPr>
              <a:pPr/>
              <a:t>20</a:t>
            </a:fld>
            <a:endParaRPr lang="en-US">
              <a:solidFill>
                <a:srgbClr val="514A4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14274-6C76-48A9-B958-2835B5F51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rgbClr val="514A40"/>
                </a:solidFill>
              </a:rPr>
              <a:t>Lecture 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789921-21CE-3FEB-3A17-2E0A54680D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2428119"/>
            <a:ext cx="7646987" cy="227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8912" y="368937"/>
            <a:ext cx="72009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0685" algn="ctr">
              <a:lnSpc>
                <a:spcPct val="100000"/>
              </a:lnSpc>
            </a:pPr>
            <a:r>
              <a:rPr lang="en-US" sz="3200" spc="-5" dirty="0">
                <a:latin typeface="Calibri" panose="020F0502020204030204" pitchFamily="34" charset="0"/>
                <a:cs typeface="Arial" panose="020B0604020202020204" pitchFamily="34" charset="0"/>
              </a:rPr>
              <a:t>T</a:t>
            </a:r>
            <a:r>
              <a:rPr sz="3200" spc="-5" dirty="0">
                <a:latin typeface="Calibri" panose="020F0502020204030204" pitchFamily="34" charset="0"/>
                <a:cs typeface="Arial" panose="020B0604020202020204" pitchFamily="34" charset="0"/>
              </a:rPr>
              <a:t>h</a:t>
            </a:r>
            <a:r>
              <a:rPr sz="3200" dirty="0">
                <a:latin typeface="Calibri" panose="020F0502020204030204" pitchFamily="34" charset="0"/>
                <a:cs typeface="Arial" panose="020B0604020202020204" pitchFamily="34" charset="0"/>
              </a:rPr>
              <a:t>e</a:t>
            </a:r>
            <a:r>
              <a:rPr sz="3200" spc="-15" dirty="0">
                <a:latin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sz="3200" spc="-5" dirty="0">
                <a:latin typeface="Calibri" panose="020F0502020204030204" pitchFamily="34" charset="0"/>
                <a:cs typeface="Arial" panose="020B0604020202020204" pitchFamily="34" charset="0"/>
              </a:rPr>
              <a:t>Networ</a:t>
            </a:r>
            <a:r>
              <a:rPr sz="3200" dirty="0">
                <a:latin typeface="Calibri" panose="020F0502020204030204" pitchFamily="34" charset="0"/>
                <a:cs typeface="Arial" panose="020B0604020202020204" pitchFamily="34" charset="0"/>
              </a:rPr>
              <a:t>k</a:t>
            </a:r>
            <a:r>
              <a:rPr sz="3200" spc="-5" dirty="0">
                <a:latin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sz="3200" spc="5" dirty="0">
                <a:latin typeface="Calibri" panose="020F0502020204030204" pitchFamily="34" charset="0"/>
                <a:cs typeface="Arial" panose="020B0604020202020204" pitchFamily="34" charset="0"/>
              </a:rPr>
              <a:t>D</a:t>
            </a:r>
            <a:r>
              <a:rPr sz="3200" spc="-5" dirty="0">
                <a:latin typeface="Calibri" panose="020F0502020204030204" pitchFamily="34" charset="0"/>
                <a:cs typeface="Arial" panose="020B0604020202020204" pitchFamily="34" charset="0"/>
              </a:rPr>
              <a:t>i</a:t>
            </a:r>
            <a:r>
              <a:rPr sz="3200" spc="-10" dirty="0">
                <a:latin typeface="Calibri" panose="020F0502020204030204" pitchFamily="34" charset="0"/>
                <a:cs typeface="Arial" panose="020B0604020202020204" pitchFamily="34" charset="0"/>
              </a:rPr>
              <a:t>a</a:t>
            </a:r>
            <a:r>
              <a:rPr sz="3200" spc="-5" dirty="0">
                <a:latin typeface="Calibri" panose="020F0502020204030204" pitchFamily="34" charset="0"/>
                <a:cs typeface="Arial" panose="020B0604020202020204" pitchFamily="34" charset="0"/>
              </a:rPr>
              <a:t>gr</a:t>
            </a:r>
            <a:r>
              <a:rPr sz="3200" spc="-10" dirty="0">
                <a:latin typeface="Calibri" panose="020F0502020204030204" pitchFamily="34" charset="0"/>
                <a:cs typeface="Arial" panose="020B0604020202020204" pitchFamily="34" charset="0"/>
              </a:rPr>
              <a:t>a</a:t>
            </a:r>
            <a:r>
              <a:rPr sz="3200" dirty="0">
                <a:latin typeface="Calibri" panose="020F050202020403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5" name="object 5"/>
          <p:cNvSpPr/>
          <p:nvPr/>
        </p:nvSpPr>
        <p:spPr>
          <a:xfrm>
            <a:off x="96519" y="618362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1659" y="670686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1642" y="1041105"/>
            <a:ext cx="6695440" cy="2012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81659" y="3233780"/>
            <a:ext cx="8699486" cy="2647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370205" algn="r">
              <a:lnSpc>
                <a:spcPct val="100000"/>
              </a:lnSpc>
            </a:pPr>
            <a:r>
              <a:rPr sz="350" spc="10" dirty="0">
                <a:latin typeface="Times New Roman"/>
                <a:cs typeface="Times New Roman"/>
              </a:rPr>
              <a:t>C</a:t>
            </a:r>
            <a:endParaRPr sz="350" dirty="0">
              <a:latin typeface="Times New Roman"/>
              <a:cs typeface="Times New Roman"/>
            </a:endParaRPr>
          </a:p>
          <a:p>
            <a:pPr>
              <a:lnSpc>
                <a:spcPts val="300"/>
              </a:lnSpc>
            </a:pPr>
            <a:endParaRPr sz="300" dirty="0"/>
          </a:p>
          <a:p>
            <a:pPr>
              <a:lnSpc>
                <a:spcPts val="300"/>
              </a:lnSpc>
            </a:pPr>
            <a:endParaRPr sz="300" dirty="0"/>
          </a:p>
          <a:p>
            <a:pPr>
              <a:lnSpc>
                <a:spcPts val="400"/>
              </a:lnSpc>
              <a:spcBef>
                <a:spcPts val="9"/>
              </a:spcBef>
            </a:pPr>
            <a:endParaRPr sz="400" dirty="0"/>
          </a:p>
          <a:p>
            <a:pPr marR="6350" algn="r">
              <a:lnSpc>
                <a:spcPts val="425"/>
              </a:lnSpc>
            </a:pPr>
            <a:r>
              <a:rPr sz="450" spc="-5" dirty="0">
                <a:latin typeface="Arial"/>
                <a:cs typeface="Arial"/>
              </a:rPr>
              <a:t>4</a:t>
            </a:r>
            <a:endParaRPr sz="450" dirty="0">
              <a:latin typeface="Arial"/>
              <a:cs typeface="Arial"/>
            </a:endParaRPr>
          </a:p>
          <a:p>
            <a:pPr>
              <a:lnSpc>
                <a:spcPts val="400"/>
              </a:lnSpc>
              <a:spcBef>
                <a:spcPts val="37"/>
              </a:spcBef>
            </a:pPr>
            <a:endParaRPr sz="2400" dirty="0">
              <a:latin typeface="Calibri" panose="020F0502020204030204" pitchFamily="34" charset="0"/>
            </a:endParaRPr>
          </a:p>
          <a:p>
            <a:pPr marL="329565" marR="729615" indent="-317500">
              <a:lnSpc>
                <a:spcPts val="2310"/>
              </a:lnSpc>
            </a:pPr>
            <a:r>
              <a:rPr sz="2400" spc="-15" dirty="0">
                <a:latin typeface="Calibri" panose="020F0502020204030204" pitchFamily="34" charset="0"/>
                <a:cs typeface="Arial Unicode MS"/>
              </a:rPr>
              <a:t>T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h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e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 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a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bo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ve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 </a:t>
            </a:r>
            <a:r>
              <a:rPr sz="2400" spc="-5" dirty="0">
                <a:latin typeface="Calibri" panose="020F0502020204030204" pitchFamily="34" charset="0"/>
                <a:cs typeface="Arial Unicode MS"/>
              </a:rPr>
              <a:t>i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s an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 e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x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a</a:t>
            </a:r>
            <a:r>
              <a:rPr sz="2400" spc="5" dirty="0">
                <a:latin typeface="Calibri" panose="020F0502020204030204" pitchFamily="34" charset="0"/>
                <a:cs typeface="Arial Unicode MS"/>
              </a:rPr>
              <a:t>m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p</a:t>
            </a:r>
            <a:r>
              <a:rPr sz="2400" spc="-5" dirty="0">
                <a:latin typeface="Calibri" panose="020F0502020204030204" pitchFamily="34" charset="0"/>
                <a:cs typeface="Arial Unicode MS"/>
              </a:rPr>
              <a:t>l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e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 of</a:t>
            </a:r>
            <a:r>
              <a:rPr sz="2400" spc="10" dirty="0">
                <a:latin typeface="Calibri" panose="020F0502020204030204" pitchFamily="34" charset="0"/>
                <a:cs typeface="Arial Unicode MS"/>
              </a:rPr>
              <a:t> 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a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n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 </a:t>
            </a:r>
            <a:r>
              <a:rPr sz="2400" spc="-20" dirty="0">
                <a:latin typeface="Calibri" panose="020F0502020204030204" pitchFamily="34" charset="0"/>
                <a:cs typeface="Arial Unicode MS"/>
              </a:rPr>
              <a:t>Ac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t</a:t>
            </a:r>
            <a:r>
              <a:rPr sz="2400" spc="-5" dirty="0">
                <a:latin typeface="Calibri" panose="020F0502020204030204" pitchFamily="34" charset="0"/>
                <a:cs typeface="Arial Unicode MS"/>
              </a:rPr>
              <a:t>i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v</a:t>
            </a:r>
            <a:r>
              <a:rPr sz="2400" spc="-5" dirty="0">
                <a:latin typeface="Calibri" panose="020F0502020204030204" pitchFamily="34" charset="0"/>
                <a:cs typeface="Arial Unicode MS"/>
              </a:rPr>
              <a:t>i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t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y-o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n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-Ar</a:t>
            </a:r>
            <a:r>
              <a:rPr sz="2400" spc="5" dirty="0">
                <a:latin typeface="Calibri" panose="020F0502020204030204" pitchFamily="34" charset="0"/>
                <a:cs typeface="Arial Unicode MS"/>
              </a:rPr>
              <a:t>r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o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w 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d</a:t>
            </a:r>
            <a:r>
              <a:rPr sz="2400" spc="-5" dirty="0">
                <a:latin typeface="Calibri" panose="020F0502020204030204" pitchFamily="34" charset="0"/>
                <a:cs typeface="Arial Unicode MS"/>
              </a:rPr>
              <a:t>i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a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gr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a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m</a:t>
            </a:r>
            <a:r>
              <a:rPr lang="en-US" sz="2400" dirty="0">
                <a:latin typeface="Calibri" panose="020F0502020204030204" pitchFamily="34" charset="0"/>
                <a:cs typeface="Arial Unicode MS"/>
              </a:rPr>
              <a:t> (AOA).</a:t>
            </a:r>
            <a:endParaRPr lang="en-US" sz="2400" spc="5" dirty="0">
              <a:latin typeface="Calibri" panose="020F0502020204030204" pitchFamily="34" charset="0"/>
              <a:cs typeface="Arial Unicode MS"/>
            </a:endParaRPr>
          </a:p>
          <a:p>
            <a:pPr>
              <a:lnSpc>
                <a:spcPts val="2300"/>
              </a:lnSpc>
              <a:spcBef>
                <a:spcPts val="16"/>
              </a:spcBef>
            </a:pPr>
            <a:endParaRPr sz="2400" dirty="0">
              <a:latin typeface="Calibri" panose="020F0502020204030204" pitchFamily="34" charset="0"/>
            </a:endParaRPr>
          </a:p>
          <a:p>
            <a:pPr marL="355600" marR="540385" indent="-342900">
              <a:lnSpc>
                <a:spcPct val="79900"/>
              </a:lnSpc>
              <a:buFont typeface="Arial" panose="020B0604020202020204" pitchFamily="34" charset="0"/>
              <a:buChar char="•"/>
              <a:tabLst>
                <a:tab pos="200660" algn="l"/>
                <a:tab pos="1160145" algn="l"/>
                <a:tab pos="3467735" algn="l"/>
              </a:tabLst>
            </a:pPr>
            <a:r>
              <a:rPr lang="en-US" sz="2400" spc="-10" dirty="0">
                <a:latin typeface="Calibri" panose="020F0502020204030204" pitchFamily="34" charset="0"/>
                <a:cs typeface="Arial Unicode MS"/>
              </a:rPr>
              <a:t>A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ct</a:t>
            </a:r>
            <a:r>
              <a:rPr sz="2400" spc="-5" dirty="0">
                <a:latin typeface="Calibri" panose="020F0502020204030204" pitchFamily="34" charset="0"/>
                <a:cs typeface="Arial Unicode MS"/>
              </a:rPr>
              <a:t>i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v</a:t>
            </a:r>
            <a:r>
              <a:rPr sz="2400" spc="-5" dirty="0">
                <a:latin typeface="Calibri" panose="020F0502020204030204" pitchFamily="34" charset="0"/>
                <a:cs typeface="Arial Unicode MS"/>
              </a:rPr>
              <a:t>i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t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y </a:t>
            </a:r>
            <a:r>
              <a:rPr sz="2400" spc="-5" dirty="0">
                <a:latin typeface="Calibri" panose="020F0502020204030204" pitchFamily="34" charset="0"/>
                <a:cs typeface="Arial Unicode MS"/>
              </a:rPr>
              <a:t>i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s on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 t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he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 a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r</a:t>
            </a:r>
            <a:r>
              <a:rPr sz="2400" spc="5" dirty="0">
                <a:latin typeface="Calibri" panose="020F0502020204030204" pitchFamily="34" charset="0"/>
                <a:cs typeface="Arial Unicode MS"/>
              </a:rPr>
              <a:t>r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o</a:t>
            </a:r>
            <a:r>
              <a:rPr sz="2400" spc="-5" dirty="0">
                <a:latin typeface="Calibri" panose="020F0502020204030204" pitchFamily="34" charset="0"/>
                <a:cs typeface="Arial Unicode MS"/>
              </a:rPr>
              <a:t>w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.</a:t>
            </a:r>
            <a:r>
              <a:rPr lang="en-US" sz="2400" spc="-10" dirty="0">
                <a:latin typeface="Calibri" panose="020F0502020204030204" pitchFamily="34" charset="0"/>
                <a:cs typeface="Arial Unicode MS"/>
              </a:rPr>
              <a:t> L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engt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h 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of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 ar</a:t>
            </a:r>
            <a:r>
              <a:rPr sz="2400" spc="5" dirty="0">
                <a:latin typeface="Calibri" panose="020F0502020204030204" pitchFamily="34" charset="0"/>
                <a:cs typeface="Arial Unicode MS"/>
              </a:rPr>
              <a:t>r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o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w</a:t>
            </a:r>
            <a:r>
              <a:rPr sz="2400" spc="-5" dirty="0">
                <a:latin typeface="Calibri" panose="020F0502020204030204" pitchFamily="34" charset="0"/>
                <a:cs typeface="Arial Unicode MS"/>
              </a:rPr>
              <a:t> 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den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o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te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s 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t</a:t>
            </a:r>
            <a:r>
              <a:rPr sz="2400" spc="-5" dirty="0">
                <a:latin typeface="Calibri" panose="020F0502020204030204" pitchFamily="34" charset="0"/>
                <a:cs typeface="Arial Unicode MS"/>
              </a:rPr>
              <a:t>i</a:t>
            </a:r>
            <a:r>
              <a:rPr sz="2400" spc="5" dirty="0">
                <a:latin typeface="Calibri" panose="020F0502020204030204" pitchFamily="34" charset="0"/>
                <a:cs typeface="Arial Unicode MS"/>
              </a:rPr>
              <a:t>m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e.</a:t>
            </a:r>
            <a:r>
              <a:rPr lang="en-US" sz="2400" spc="-10" dirty="0">
                <a:latin typeface="Calibri" panose="020F0502020204030204" pitchFamily="34" charset="0"/>
                <a:cs typeface="Arial Unicode MS"/>
              </a:rPr>
              <a:t> </a:t>
            </a:r>
            <a:r>
              <a:rPr sz="2400" spc="-5" dirty="0">
                <a:latin typeface="Calibri" panose="020F0502020204030204" pitchFamily="34" charset="0"/>
                <a:cs typeface="Arial Unicode MS"/>
              </a:rPr>
              <a:t>E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a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s</a:t>
            </a:r>
            <a:r>
              <a:rPr sz="2400" spc="-5" dirty="0">
                <a:latin typeface="Calibri" panose="020F0502020204030204" pitchFamily="34" charset="0"/>
                <a:cs typeface="Arial Unicode MS"/>
              </a:rPr>
              <a:t>i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e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r</a:t>
            </a:r>
            <a:r>
              <a:rPr sz="2400" spc="5" dirty="0">
                <a:latin typeface="Calibri" panose="020F0502020204030204" pitchFamily="34" charset="0"/>
                <a:cs typeface="Arial Unicode MS"/>
              </a:rPr>
              <a:t> 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t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o 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v</a:t>
            </a:r>
            <a:r>
              <a:rPr sz="2400" spc="-5" dirty="0">
                <a:latin typeface="Calibri" panose="020F0502020204030204" pitchFamily="34" charset="0"/>
                <a:cs typeface="Arial Unicode MS"/>
              </a:rPr>
              <a:t>i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s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u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a</a:t>
            </a:r>
            <a:r>
              <a:rPr sz="2400" spc="-5" dirty="0">
                <a:latin typeface="Calibri" panose="020F0502020204030204" pitchFamily="34" charset="0"/>
                <a:cs typeface="Arial Unicode MS"/>
              </a:rPr>
              <a:t>l</a:t>
            </a:r>
            <a:r>
              <a:rPr sz="2400" spc="-15" dirty="0">
                <a:latin typeface="Calibri" panose="020F0502020204030204" pitchFamily="34" charset="0"/>
                <a:cs typeface="Arial Unicode MS"/>
              </a:rPr>
              <a:t>i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ze 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pa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ss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ag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e 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of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 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t</a:t>
            </a:r>
            <a:r>
              <a:rPr sz="2400" spc="-5" dirty="0">
                <a:latin typeface="Calibri" panose="020F0502020204030204" pitchFamily="34" charset="0"/>
                <a:cs typeface="Arial Unicode MS"/>
              </a:rPr>
              <a:t>i</a:t>
            </a:r>
            <a:r>
              <a:rPr sz="2400" spc="5" dirty="0">
                <a:latin typeface="Calibri" panose="020F0502020204030204" pitchFamily="34" charset="0"/>
                <a:cs typeface="Arial Unicode MS"/>
              </a:rPr>
              <a:t>m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e</a:t>
            </a:r>
            <a:r>
              <a:rPr lang="en-US" sz="2400" spc="-10" dirty="0">
                <a:latin typeface="Calibri" panose="020F0502020204030204" pitchFamily="34" charset="0"/>
                <a:cs typeface="Arial Unicode MS"/>
              </a:rPr>
              <a:t>.</a:t>
            </a:r>
          </a:p>
          <a:p>
            <a:pPr marL="355600" marR="540385" indent="-342900">
              <a:lnSpc>
                <a:spcPct val="79900"/>
              </a:lnSpc>
              <a:buFont typeface="Arial" panose="020B0604020202020204" pitchFamily="34" charset="0"/>
              <a:buChar char="•"/>
              <a:tabLst>
                <a:tab pos="200660" algn="l"/>
                <a:tab pos="1160145" algn="l"/>
                <a:tab pos="3467735" algn="l"/>
              </a:tabLst>
            </a:pPr>
            <a:endParaRPr lang="en-US" sz="2400" spc="-10" dirty="0">
              <a:latin typeface="Calibri" panose="020F0502020204030204" pitchFamily="34" charset="0"/>
              <a:cs typeface="Arial Unicode MS"/>
            </a:endParaRPr>
          </a:p>
          <a:p>
            <a:pPr marL="355600" marR="540385" indent="-342900">
              <a:lnSpc>
                <a:spcPct val="79900"/>
              </a:lnSpc>
              <a:buFont typeface="Arial" panose="020B0604020202020204" pitchFamily="34" charset="0"/>
              <a:buChar char="•"/>
              <a:tabLst>
                <a:tab pos="200660" algn="l"/>
                <a:tab pos="1160145" algn="l"/>
                <a:tab pos="3467735" algn="l"/>
              </a:tabLst>
            </a:pPr>
            <a:r>
              <a:rPr lang="en-US" sz="2400" dirty="0">
                <a:latin typeface="Calibri" panose="020F0502020204030204" pitchFamily="34" charset="0"/>
                <a:cs typeface="Arial Unicode MS"/>
              </a:rPr>
              <a:t>Da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s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he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d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 </a:t>
            </a:r>
            <a:r>
              <a:rPr sz="2400" spc="-5" dirty="0">
                <a:latin typeface="Calibri" panose="020F0502020204030204" pitchFamily="34" charset="0"/>
                <a:cs typeface="Arial Unicode MS"/>
              </a:rPr>
              <a:t>li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ne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s are 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du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m</a:t>
            </a:r>
            <a:r>
              <a:rPr sz="2400" spc="5" dirty="0">
                <a:latin typeface="Calibri" panose="020F0502020204030204" pitchFamily="34" charset="0"/>
                <a:cs typeface="Arial Unicode MS"/>
              </a:rPr>
              <a:t>m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y 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ta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sks –</a:t>
            </a:r>
            <a:r>
              <a:rPr sz="2400" spc="5" dirty="0">
                <a:latin typeface="Calibri" panose="020F0502020204030204" pitchFamily="34" charset="0"/>
                <a:cs typeface="Arial Unicode MS"/>
              </a:rPr>
              <a:t> 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t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o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 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sh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o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w</a:t>
            </a:r>
            <a:r>
              <a:rPr sz="2400" spc="-5" dirty="0">
                <a:latin typeface="Calibri" panose="020F0502020204030204" pitchFamily="34" charset="0"/>
                <a:cs typeface="Arial Unicode MS"/>
              </a:rPr>
              <a:t> </a:t>
            </a:r>
            <a:r>
              <a:rPr sz="2400" spc="-25" dirty="0">
                <a:latin typeface="Calibri" panose="020F0502020204030204" pitchFamily="34" charset="0"/>
                <a:cs typeface="Arial Unicode MS"/>
              </a:rPr>
              <a:t>F</a:t>
            </a:r>
            <a:r>
              <a:rPr sz="2400" spc="-5" dirty="0">
                <a:latin typeface="Calibri" panose="020F0502020204030204" pitchFamily="34" charset="0"/>
                <a:cs typeface="Arial Unicode MS"/>
              </a:rPr>
              <a:t>i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n</a:t>
            </a:r>
            <a:r>
              <a:rPr sz="2400" spc="-5" dirty="0">
                <a:latin typeface="Calibri" panose="020F0502020204030204" pitchFamily="34" charset="0"/>
                <a:cs typeface="Arial Unicode MS"/>
              </a:rPr>
              <a:t>i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s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h-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t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o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- 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st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a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rt.</a:t>
            </a:r>
            <a:endParaRPr lang="en-US" sz="2400" spc="-10" dirty="0">
              <a:latin typeface="Calibri" panose="020F0502020204030204" pitchFamily="34" charset="0"/>
              <a:cs typeface="Arial Unicode MS"/>
            </a:endParaRPr>
          </a:p>
          <a:p>
            <a:pPr marL="355600" marR="540385" indent="-342900">
              <a:lnSpc>
                <a:spcPct val="79900"/>
              </a:lnSpc>
              <a:buFont typeface="Arial" panose="020B0604020202020204" pitchFamily="34" charset="0"/>
              <a:buChar char="•"/>
              <a:tabLst>
                <a:tab pos="200660" algn="l"/>
                <a:tab pos="1160145" algn="l"/>
                <a:tab pos="3467735" algn="l"/>
              </a:tabLst>
            </a:pPr>
            <a:endParaRPr lang="en-US" sz="2400" spc="-10" dirty="0">
              <a:latin typeface="Calibri" panose="020F0502020204030204" pitchFamily="34" charset="0"/>
              <a:cs typeface="Arial Unicode MS"/>
            </a:endParaRPr>
          </a:p>
          <a:p>
            <a:pPr marL="355600" marR="540385" indent="-342900">
              <a:lnSpc>
                <a:spcPct val="79900"/>
              </a:lnSpc>
              <a:buFont typeface="Arial" panose="020B0604020202020204" pitchFamily="34" charset="0"/>
              <a:buChar char="•"/>
              <a:tabLst>
                <a:tab pos="200660" algn="l"/>
                <a:tab pos="1160145" algn="l"/>
                <a:tab pos="3467735" algn="l"/>
              </a:tabLst>
            </a:pPr>
            <a:r>
              <a:rPr lang="en-US" sz="2400" spc="-10" dirty="0">
                <a:latin typeface="Calibri" panose="020F0502020204030204" pitchFamily="34" charset="0"/>
                <a:cs typeface="Arial Unicode MS"/>
              </a:rPr>
              <a:t>N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o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d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e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 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s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h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o</a:t>
            </a:r>
            <a:r>
              <a:rPr sz="2400" spc="-15" dirty="0">
                <a:latin typeface="Calibri" panose="020F0502020204030204" pitchFamily="34" charset="0"/>
                <a:cs typeface="Arial Unicode MS"/>
              </a:rPr>
              <a:t>w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s</a:t>
            </a:r>
            <a:r>
              <a:rPr sz="2400" spc="5" dirty="0">
                <a:latin typeface="Calibri" panose="020F0502020204030204" pitchFamily="34" charset="0"/>
                <a:cs typeface="Arial Unicode MS"/>
              </a:rPr>
              <a:t> 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ea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r</a:t>
            </a:r>
            <a:r>
              <a:rPr sz="2400" spc="-5" dirty="0">
                <a:latin typeface="Calibri" panose="020F0502020204030204" pitchFamily="34" charset="0"/>
                <a:cs typeface="Arial Unicode MS"/>
              </a:rPr>
              <a:t>li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est</a:t>
            </a:r>
            <a:r>
              <a:rPr sz="2400" spc="10" dirty="0">
                <a:latin typeface="Calibri" panose="020F0502020204030204" pitchFamily="34" charset="0"/>
                <a:cs typeface="Arial Unicode MS"/>
              </a:rPr>
              <a:t> 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an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d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 </a:t>
            </a:r>
            <a:r>
              <a:rPr sz="2400" spc="-5" dirty="0">
                <a:latin typeface="Calibri" panose="020F0502020204030204" pitchFamily="34" charset="0"/>
                <a:cs typeface="Arial Unicode MS"/>
              </a:rPr>
              <a:t>l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a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t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est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 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st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a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rt</a:t>
            </a:r>
            <a:r>
              <a:rPr lang="en-US" sz="2400" spc="-10" dirty="0">
                <a:latin typeface="Calibri" panose="020F0502020204030204" pitchFamily="34" charset="0"/>
                <a:cs typeface="Arial Unicode MS"/>
              </a:rPr>
              <a:t>.</a:t>
            </a:r>
            <a:endParaRPr sz="2400" dirty="0">
              <a:latin typeface="Calibri" panose="020F0502020204030204" pitchFamily="34" charset="0"/>
              <a:cs typeface="Arial Unicode MS"/>
            </a:endParaRPr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96838" y="6409035"/>
            <a:ext cx="371475" cy="39945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G.R. Labbé &amp; R.W. Schott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srgbClr val="514A40"/>
                </a:solidFill>
              </a:rPr>
              <a:pPr/>
              <a:t>21</a:t>
            </a:fld>
            <a:endParaRPr lang="en-US">
              <a:solidFill>
                <a:srgbClr val="514A40"/>
              </a:solidFill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1C663FD-FA7D-4963-8650-A763EDFBC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rgbClr val="514A40"/>
                </a:solidFill>
              </a:rPr>
              <a:t>Lecture 8</a:t>
            </a:r>
          </a:p>
        </p:txBody>
      </p:sp>
    </p:spTree>
    <p:extLst>
      <p:ext uri="{BB962C8B-B14F-4D97-AF65-F5344CB8AC3E}">
        <p14:creationId xmlns:p14="http://schemas.microsoft.com/office/powerpoint/2010/main" val="2373693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4017" y="404664"/>
            <a:ext cx="7986464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0685" algn="ctr">
              <a:lnSpc>
                <a:spcPct val="100000"/>
              </a:lnSpc>
            </a:pPr>
            <a:r>
              <a:rPr lang="en-US" sz="3200" spc="-10" dirty="0">
                <a:latin typeface="Calibri" panose="020F0502020204030204" pitchFamily="34" charset="0"/>
                <a:cs typeface="Arial" panose="020B0604020202020204" pitchFamily="34" charset="0"/>
              </a:rPr>
              <a:t>D</a:t>
            </a:r>
            <a:r>
              <a:rPr sz="3200" spc="-10" dirty="0">
                <a:solidFill>
                  <a:srgbClr val="7030A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o</a:t>
            </a:r>
            <a:r>
              <a:rPr sz="3200" spc="5" dirty="0">
                <a:solidFill>
                  <a:srgbClr val="7030A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w</a:t>
            </a:r>
            <a:r>
              <a:rPr sz="3200" spc="-10" dirty="0">
                <a:solidFill>
                  <a:srgbClr val="7030A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n</a:t>
            </a:r>
            <a:r>
              <a:rPr sz="3200" spc="5" dirty="0">
                <a:solidFill>
                  <a:srgbClr val="7030A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s</a:t>
            </a:r>
            <a:r>
              <a:rPr sz="3200" spc="-5" dirty="0">
                <a:solidFill>
                  <a:srgbClr val="7030A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id</a:t>
            </a:r>
            <a:r>
              <a:rPr sz="3200" dirty="0">
                <a:solidFill>
                  <a:srgbClr val="7030A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e</a:t>
            </a:r>
            <a:r>
              <a:rPr sz="3200" spc="-15" dirty="0">
                <a:solidFill>
                  <a:srgbClr val="7030A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 t</a:t>
            </a:r>
            <a:r>
              <a:rPr sz="3200" spc="-20" dirty="0">
                <a:solidFill>
                  <a:srgbClr val="7030A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o</a:t>
            </a:r>
            <a:r>
              <a:rPr sz="3200" spc="-15" dirty="0">
                <a:solidFill>
                  <a:srgbClr val="7030A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sz="3200" spc="5" dirty="0">
                <a:solidFill>
                  <a:srgbClr val="7030A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N</a:t>
            </a:r>
            <a:r>
              <a:rPr sz="3200" spc="-10" dirty="0">
                <a:solidFill>
                  <a:srgbClr val="7030A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e</a:t>
            </a:r>
            <a:r>
              <a:rPr sz="3200" spc="-5" dirty="0">
                <a:solidFill>
                  <a:srgbClr val="7030A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t</a:t>
            </a:r>
            <a:r>
              <a:rPr sz="3200" spc="5" dirty="0">
                <a:solidFill>
                  <a:srgbClr val="7030A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w</a:t>
            </a:r>
            <a:r>
              <a:rPr sz="3200" spc="-10" dirty="0">
                <a:solidFill>
                  <a:srgbClr val="7030A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o</a:t>
            </a:r>
            <a:r>
              <a:rPr sz="3200" dirty="0">
                <a:solidFill>
                  <a:srgbClr val="7030A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rk </a:t>
            </a:r>
            <a:r>
              <a:rPr sz="3200" spc="-5" dirty="0">
                <a:solidFill>
                  <a:srgbClr val="7030A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Dia</a:t>
            </a:r>
            <a:r>
              <a:rPr sz="3200" spc="-10" dirty="0">
                <a:solidFill>
                  <a:srgbClr val="7030A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g</a:t>
            </a:r>
            <a:r>
              <a:rPr sz="3200" dirty="0">
                <a:solidFill>
                  <a:srgbClr val="7030A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ra</a:t>
            </a:r>
            <a:r>
              <a:rPr sz="3200" spc="-10" dirty="0">
                <a:solidFill>
                  <a:srgbClr val="7030A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m</a:t>
            </a:r>
            <a:r>
              <a:rPr sz="3200" dirty="0">
                <a:solidFill>
                  <a:srgbClr val="7030A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s</a:t>
            </a:r>
          </a:p>
        </p:txBody>
      </p:sp>
      <p:sp>
        <p:nvSpPr>
          <p:cNvPr id="5" name="object 5"/>
          <p:cNvSpPr/>
          <p:nvPr/>
        </p:nvSpPr>
        <p:spPr>
          <a:xfrm>
            <a:off x="96519" y="618362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1659" y="670686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35317" y="1340768"/>
            <a:ext cx="8063865" cy="3983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0" indent="-317500">
              <a:lnSpc>
                <a:spcPct val="100000"/>
              </a:lnSpc>
              <a:buFont typeface="Arial Unicode MS"/>
              <a:buAutoNum type="arabicPeriod"/>
              <a:tabLst>
                <a:tab pos="351155" algn="l"/>
              </a:tabLst>
            </a:pPr>
            <a:r>
              <a:rPr sz="2400" spc="5" dirty="0">
                <a:latin typeface="Calibri" panose="020F0502020204030204" pitchFamily="34" charset="0"/>
                <a:cs typeface="Arial Unicode MS"/>
              </a:rPr>
              <a:t>M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a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y 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n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o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t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 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b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e 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d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ra</a:t>
            </a:r>
            <a:r>
              <a:rPr sz="2400" spc="-15" dirty="0">
                <a:latin typeface="Calibri" panose="020F0502020204030204" pitchFamily="34" charset="0"/>
                <a:cs typeface="Arial Unicode MS"/>
              </a:rPr>
              <a:t>w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n 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t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o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 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sc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a</a:t>
            </a:r>
            <a:r>
              <a:rPr sz="2400" spc="-5" dirty="0">
                <a:latin typeface="Calibri" panose="020F0502020204030204" pitchFamily="34" charset="0"/>
                <a:cs typeface="Arial Unicode MS"/>
              </a:rPr>
              <a:t>l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e – 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t</a:t>
            </a:r>
            <a:r>
              <a:rPr sz="2400" spc="-5" dirty="0">
                <a:latin typeface="Calibri" panose="020F0502020204030204" pitchFamily="34" charset="0"/>
                <a:cs typeface="Arial Unicode MS"/>
              </a:rPr>
              <a:t>i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me </a:t>
            </a:r>
            <a:r>
              <a:rPr sz="2400" spc="-15" dirty="0">
                <a:latin typeface="Calibri" panose="020F0502020204030204" pitchFamily="34" charset="0"/>
                <a:cs typeface="Arial Unicode MS"/>
              </a:rPr>
              <a:t>i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s j</a:t>
            </a:r>
            <a:r>
              <a:rPr sz="2400" spc="-15" dirty="0">
                <a:latin typeface="Calibri" panose="020F0502020204030204" pitchFamily="34" charset="0"/>
                <a:cs typeface="Arial Unicode MS"/>
              </a:rPr>
              <a:t>u</a:t>
            </a:r>
            <a:r>
              <a:rPr sz="2400" spc="5" dirty="0">
                <a:latin typeface="Calibri" panose="020F0502020204030204" pitchFamily="34" charset="0"/>
                <a:cs typeface="Arial Unicode MS"/>
              </a:rPr>
              <a:t>s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t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 a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 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n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u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mb</a:t>
            </a:r>
            <a:r>
              <a:rPr sz="2400" spc="-15" dirty="0">
                <a:latin typeface="Calibri" panose="020F0502020204030204" pitchFamily="34" charset="0"/>
                <a:cs typeface="Arial Unicode MS"/>
              </a:rPr>
              <a:t>e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r</a:t>
            </a:r>
            <a:r>
              <a:rPr lang="en-US" sz="2400" dirty="0">
                <a:latin typeface="Calibri" panose="020F0502020204030204" pitchFamily="34" charset="0"/>
                <a:cs typeface="Arial Unicode MS"/>
              </a:rPr>
              <a:t> so can lead to a perception of more time than actually available.</a:t>
            </a:r>
            <a:endParaRPr sz="2400" dirty="0">
              <a:latin typeface="Calibri" panose="020F0502020204030204" pitchFamily="34" charset="0"/>
              <a:cs typeface="Arial Unicode MS"/>
            </a:endParaRPr>
          </a:p>
          <a:p>
            <a:pPr marL="350520" indent="-337820">
              <a:lnSpc>
                <a:spcPct val="100000"/>
              </a:lnSpc>
              <a:spcBef>
                <a:spcPts val="1720"/>
              </a:spcBef>
              <a:buFont typeface="Arial Unicode MS"/>
              <a:buAutoNum type="arabicPeriod"/>
              <a:tabLst>
                <a:tab pos="351155" algn="l"/>
              </a:tabLst>
            </a:pPr>
            <a:r>
              <a:rPr sz="2400" spc="-5" dirty="0">
                <a:latin typeface="Calibri" panose="020F0502020204030204" pitchFamily="34" charset="0"/>
                <a:cs typeface="Arial Unicode MS"/>
              </a:rPr>
              <a:t>C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an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 b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e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 t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oo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 </a:t>
            </a:r>
            <a:r>
              <a:rPr sz="2400" spc="-5" dirty="0">
                <a:latin typeface="Calibri" panose="020F0502020204030204" pitchFamily="34" charset="0"/>
                <a:cs typeface="Arial Unicode MS"/>
              </a:rPr>
              <a:t>l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a</a:t>
            </a:r>
            <a:r>
              <a:rPr sz="2400" spc="5" dirty="0">
                <a:latin typeface="Calibri" panose="020F0502020204030204" pitchFamily="34" charset="0"/>
                <a:cs typeface="Arial Unicode MS"/>
              </a:rPr>
              <a:t>r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g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e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 a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nd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 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c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o</a:t>
            </a:r>
            <a:r>
              <a:rPr sz="2400" spc="5" dirty="0">
                <a:latin typeface="Calibri" panose="020F0502020204030204" pitchFamily="34" charset="0"/>
                <a:cs typeface="Arial Unicode MS"/>
              </a:rPr>
              <a:t>m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p</a:t>
            </a:r>
            <a:r>
              <a:rPr sz="2400" spc="-5" dirty="0">
                <a:latin typeface="Calibri" panose="020F0502020204030204" pitchFamily="34" charset="0"/>
                <a:cs typeface="Arial Unicode MS"/>
              </a:rPr>
              <a:t>l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e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x 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t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o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 </a:t>
            </a:r>
            <a:r>
              <a:rPr sz="2400" spc="5" dirty="0">
                <a:latin typeface="Calibri" panose="020F0502020204030204" pitchFamily="34" charset="0"/>
                <a:cs typeface="Arial Unicode MS"/>
              </a:rPr>
              <a:t>r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ea</a:t>
            </a:r>
            <a:r>
              <a:rPr sz="2400" spc="-5" dirty="0">
                <a:latin typeface="Calibri" panose="020F0502020204030204" pitchFamily="34" charset="0"/>
                <a:cs typeface="Arial Unicode MS"/>
              </a:rPr>
              <a:t>ll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y 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b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e 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u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s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ef</a:t>
            </a:r>
            <a:r>
              <a:rPr sz="2400" dirty="0">
                <a:latin typeface="Calibri" panose="020F0502020204030204" pitchFamily="34" charset="0"/>
                <a:cs typeface="Arial Unicode MS"/>
              </a:rPr>
              <a:t>u</a:t>
            </a:r>
            <a:r>
              <a:rPr sz="2400" spc="-15" dirty="0">
                <a:latin typeface="Calibri" panose="020F0502020204030204" pitchFamily="34" charset="0"/>
                <a:cs typeface="Arial Unicode MS"/>
              </a:rPr>
              <a:t>l</a:t>
            </a:r>
            <a:r>
              <a:rPr sz="2400" spc="-10" dirty="0">
                <a:latin typeface="Calibri" panose="020F0502020204030204" pitchFamily="34" charset="0"/>
                <a:cs typeface="Arial Unicode MS"/>
              </a:rPr>
              <a:t>.</a:t>
            </a:r>
            <a:endParaRPr sz="2400" dirty="0">
              <a:latin typeface="Calibri" panose="020F0502020204030204" pitchFamily="34" charset="0"/>
              <a:cs typeface="Arial Unicode MS"/>
            </a:endParaRPr>
          </a:p>
          <a:p>
            <a:pPr>
              <a:lnSpc>
                <a:spcPts val="2300"/>
              </a:lnSpc>
              <a:spcBef>
                <a:spcPts val="8"/>
              </a:spcBef>
              <a:buFont typeface="Arial Unicode MS"/>
              <a:buAutoNum type="arabicPeriod"/>
            </a:pPr>
            <a:endParaRPr sz="2400" dirty="0">
              <a:latin typeface="Calibri" panose="020F0502020204030204" pitchFamily="34" charset="0"/>
            </a:endParaRPr>
          </a:p>
          <a:p>
            <a:pPr marL="330200" marR="125095" indent="-317500">
              <a:lnSpc>
                <a:spcPct val="79900"/>
              </a:lnSpc>
              <a:buFont typeface="Arial Unicode MS"/>
              <a:buAutoNum type="arabicPeriod"/>
              <a:tabLst>
                <a:tab pos="351790" algn="l"/>
              </a:tabLst>
            </a:pP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F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au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l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t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y </a:t>
            </a:r>
            <a:r>
              <a:rPr sz="2400" spc="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r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ea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s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o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n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i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ng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 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i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n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 n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e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t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w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ork co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nst</a:t>
            </a:r>
            <a:r>
              <a:rPr sz="2400" spc="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r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u</a:t>
            </a:r>
            <a:r>
              <a:rPr sz="2400" spc="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c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t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i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o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n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 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c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a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n s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o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m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e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t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i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m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e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s 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l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e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ad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 t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o 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o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v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e</a:t>
            </a:r>
            <a:r>
              <a:rPr sz="2400" spc="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r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s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i</a:t>
            </a:r>
            <a:r>
              <a:rPr sz="2400" spc="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m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p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li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f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i</a:t>
            </a:r>
            <a:r>
              <a:rPr sz="2400" spc="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c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at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i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o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n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 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or 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i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n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c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o</a:t>
            </a:r>
            <a:r>
              <a:rPr sz="2400" spc="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r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r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ect</a:t>
            </a:r>
            <a:r>
              <a:rPr sz="2400" spc="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 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r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e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pr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e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s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en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t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at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i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ons.</a:t>
            </a:r>
            <a:endParaRPr sz="2400" dirty="0">
              <a:latin typeface="Calibri" panose="020F0502020204030204" pitchFamily="34" charset="0"/>
              <a:cs typeface="Arial Unicode MS"/>
            </a:endParaRPr>
          </a:p>
          <a:p>
            <a:pPr>
              <a:lnSpc>
                <a:spcPts val="2250"/>
              </a:lnSpc>
              <a:spcBef>
                <a:spcPts val="48"/>
              </a:spcBef>
              <a:buFont typeface="Arial Unicode MS"/>
              <a:buAutoNum type="arabicPeriod"/>
            </a:pPr>
            <a:endParaRPr sz="2400" dirty="0">
              <a:latin typeface="Calibri" panose="020F0502020204030204" pitchFamily="34" charset="0"/>
            </a:endParaRPr>
          </a:p>
          <a:p>
            <a:pPr marL="330200" marR="323850" indent="-317500">
              <a:lnSpc>
                <a:spcPct val="79900"/>
              </a:lnSpc>
              <a:buFont typeface="Arial Unicode MS"/>
              <a:buAutoNum type="arabicPeriod"/>
              <a:tabLst>
                <a:tab pos="351155" algn="l"/>
              </a:tabLst>
            </a:pP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N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e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t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w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orks 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a</a:t>
            </a:r>
            <a:r>
              <a:rPr sz="2400" spc="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r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e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 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s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o</a:t>
            </a:r>
            <a:r>
              <a:rPr sz="2400" spc="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m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et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i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m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e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s</a:t>
            </a:r>
            <a:r>
              <a:rPr sz="2400" spc="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 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u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s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e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d 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fo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r t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a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sks 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w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h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i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ch 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the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y 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a</a:t>
            </a:r>
            <a:r>
              <a:rPr sz="2400" spc="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r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e 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not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 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w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e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l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l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 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s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u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i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t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ed</a:t>
            </a:r>
            <a:endParaRPr sz="2400" dirty="0">
              <a:latin typeface="Calibri" panose="020F0502020204030204" pitchFamily="34" charset="0"/>
              <a:cs typeface="Arial Unicode MS"/>
            </a:endParaRPr>
          </a:p>
          <a:p>
            <a:pPr>
              <a:lnSpc>
                <a:spcPts val="2300"/>
              </a:lnSpc>
              <a:spcBef>
                <a:spcPts val="8"/>
              </a:spcBef>
              <a:buFont typeface="Arial Unicode MS"/>
              <a:buAutoNum type="arabicPeriod"/>
            </a:pPr>
            <a:endParaRPr sz="2400" dirty="0">
              <a:latin typeface="Calibri" panose="020F0502020204030204" pitchFamily="34" charset="0"/>
            </a:endParaRPr>
          </a:p>
          <a:p>
            <a:pPr marL="330200" marR="6350" indent="-317500">
              <a:lnSpc>
                <a:spcPct val="79900"/>
              </a:lnSpc>
              <a:buFont typeface="Arial Unicode MS"/>
              <a:buAutoNum type="arabicPeriod"/>
              <a:tabLst>
                <a:tab pos="437515" algn="l"/>
              </a:tabLst>
            </a:pPr>
            <a:r>
              <a:rPr lang="en-US" sz="2400" spc="-3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When e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s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t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i</a:t>
            </a:r>
            <a:r>
              <a:rPr sz="2400" spc="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m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at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i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n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g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 the</a:t>
            </a:r>
            <a:r>
              <a:rPr sz="2400" spc="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r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e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 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i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s a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 </a:t>
            </a:r>
            <a:r>
              <a:rPr sz="2400" spc="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s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t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r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o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ng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 po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t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ent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i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a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l 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fo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r</a:t>
            </a:r>
            <a:r>
              <a:rPr sz="2400" spc="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 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po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s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i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t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i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ve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 b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i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a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s 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i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n </a:t>
            </a:r>
            <a:r>
              <a:rPr sz="2400" spc="-3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P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ER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T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 </a:t>
            </a:r>
            <a:r>
              <a:rPr sz="240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e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st</a:t>
            </a:r>
            <a:r>
              <a:rPr sz="2400" spc="-1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i</a:t>
            </a:r>
            <a:r>
              <a:rPr sz="2400" spc="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m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at</a:t>
            </a:r>
            <a:r>
              <a:rPr sz="2400" spc="-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i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on</a:t>
            </a:r>
            <a:r>
              <a:rPr sz="2400" spc="5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s</a:t>
            </a:r>
            <a:r>
              <a:rPr sz="2400" spc="-10" dirty="0">
                <a:solidFill>
                  <a:srgbClr val="4D3A2F"/>
                </a:solidFill>
                <a:latin typeface="Calibri" panose="020F0502020204030204" pitchFamily="34" charset="0"/>
                <a:cs typeface="Arial Unicode MS"/>
              </a:rPr>
              <a:t>.</a:t>
            </a:r>
            <a:endParaRPr sz="2400" dirty="0">
              <a:latin typeface="Calibri" panose="020F0502020204030204" pitchFamily="34" charset="0"/>
              <a:cs typeface="Arial Unicode MS"/>
            </a:endParaRPr>
          </a:p>
        </p:txBody>
      </p:sp>
      <p:sp>
        <p:nvSpPr>
          <p:cNvPr id="8" name="Oval 7"/>
          <p:cNvSpPr>
            <a:spLocks noChangeArrowheads="1"/>
          </p:cNvSpPr>
          <p:nvPr/>
        </p:nvSpPr>
        <p:spPr bwMode="auto">
          <a:xfrm>
            <a:off x="96838" y="6409035"/>
            <a:ext cx="371475" cy="39945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G.R. Labbé &amp; R.W. Schott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srgbClr val="514A40"/>
                </a:solidFill>
              </a:rPr>
              <a:pPr/>
              <a:t>22</a:t>
            </a:fld>
            <a:endParaRPr lang="en-US">
              <a:solidFill>
                <a:srgbClr val="514A40"/>
              </a:solidFill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49A1EFA-11AC-4B28-B2B8-49693EC86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rgbClr val="514A40"/>
                </a:solidFill>
              </a:rPr>
              <a:t>Lecture 8</a:t>
            </a:r>
          </a:p>
        </p:txBody>
      </p:sp>
    </p:spTree>
    <p:extLst>
      <p:ext uri="{BB962C8B-B14F-4D97-AF65-F5344CB8AC3E}">
        <p14:creationId xmlns:p14="http://schemas.microsoft.com/office/powerpoint/2010/main" val="395858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602" y="777523"/>
            <a:ext cx="5184576" cy="55116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494" y="62461"/>
            <a:ext cx="7128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Calibri" panose="020F0502020204030204" pitchFamily="34" charset="0"/>
              </a:rPr>
              <a:t>Create an AON diagram from this WBS</a:t>
            </a:r>
          </a:p>
        </p:txBody>
      </p:sp>
      <p:sp>
        <p:nvSpPr>
          <p:cNvPr id="4" name="Rectangle 3"/>
          <p:cNvSpPr/>
          <p:nvPr/>
        </p:nvSpPr>
        <p:spPr>
          <a:xfrm>
            <a:off x="2351896" y="6105516"/>
            <a:ext cx="4572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dirty="0"/>
              <a:t>http://herdingcats.typepad.com/.a/6a00d8341ca4d953ef0133f339b8a9970b-pi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G.R. Labbé &amp; R.W. Schott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srgbClr val="514A40"/>
                </a:solidFill>
              </a:rPr>
              <a:pPr/>
              <a:t>23</a:t>
            </a:fld>
            <a:endParaRPr lang="en-US">
              <a:solidFill>
                <a:srgbClr val="514A40"/>
              </a:solidFill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FE2A28-E2DB-4577-A65F-9E15448F3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rgbClr val="514A40"/>
                </a:solidFill>
              </a:rPr>
              <a:t>Lecture 8</a:t>
            </a:r>
          </a:p>
        </p:txBody>
      </p:sp>
    </p:spTree>
    <p:extLst>
      <p:ext uri="{BB962C8B-B14F-4D97-AF65-F5344CB8AC3E}">
        <p14:creationId xmlns:p14="http://schemas.microsoft.com/office/powerpoint/2010/main" val="2802715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174196"/>
              </p:ext>
            </p:extLst>
          </p:nvPr>
        </p:nvGraphicFramePr>
        <p:xfrm>
          <a:off x="327025" y="1758951"/>
          <a:ext cx="8486139" cy="3096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292293" imgH="1760184" progId="Excel.Sheet.12">
                  <p:embed/>
                </p:oleObj>
              </mc:Choice>
              <mc:Fallback>
                <p:oleObj name="Worksheet" r:id="rId2" imgW="7292293" imgH="176018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7025" y="1758951"/>
                        <a:ext cx="8486139" cy="30963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2121822" y="587131"/>
            <a:ext cx="48965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Calibri" panose="020F0502020204030204" pitchFamily="34" charset="0"/>
              </a:rPr>
              <a:t>First Draft AON Example</a:t>
            </a:r>
          </a:p>
        </p:txBody>
      </p:sp>
      <p:pic>
        <p:nvPicPr>
          <p:cNvPr id="4101" name="Straight Arrow Connector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8" y="53975"/>
            <a:ext cx="358775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514A40"/>
                </a:solidFill>
              </a:rPr>
              <a:t>G.R. Labbé &amp; R.W. Schott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srgbClr val="514A40"/>
                </a:solidFill>
              </a:rPr>
              <a:pPr/>
              <a:t>24</a:t>
            </a:fld>
            <a:endParaRPr lang="en-US">
              <a:solidFill>
                <a:srgbClr val="514A4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F12A1-C833-459D-B36F-8D87A9B5C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rgbClr val="514A40"/>
                </a:solidFill>
              </a:rPr>
              <a:t>Lecture 8</a:t>
            </a:r>
          </a:p>
        </p:txBody>
      </p:sp>
    </p:spTree>
    <p:extLst>
      <p:ext uri="{BB962C8B-B14F-4D97-AF65-F5344CB8AC3E}">
        <p14:creationId xmlns:p14="http://schemas.microsoft.com/office/powerpoint/2010/main" val="98945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d Line Business 16x9">
  <a:themeElements>
    <a:clrScheme name="Ray 2">
      <a:dk1>
        <a:sysClr val="windowText" lastClr="000000"/>
      </a:dk1>
      <a:lt1>
        <a:sysClr val="window" lastClr="FFFFFF"/>
      </a:lt1>
      <a:dk2>
        <a:srgbClr val="444D26"/>
      </a:dk2>
      <a:lt2>
        <a:srgbClr val="D8D8D8"/>
      </a:lt2>
      <a:accent1>
        <a:srgbClr val="6B3D8C"/>
      </a:accent1>
      <a:accent2>
        <a:srgbClr val="DD7E0E"/>
      </a:accent2>
      <a:accent3>
        <a:srgbClr val="E7BC29"/>
      </a:accent3>
      <a:accent4>
        <a:srgbClr val="B55475"/>
      </a:accent4>
      <a:accent5>
        <a:srgbClr val="9C85C0"/>
      </a:accent5>
      <a:accent6>
        <a:srgbClr val="4E74A3"/>
      </a:accent6>
      <a:hlink>
        <a:srgbClr val="00B0F0"/>
      </a:hlink>
      <a:folHlink>
        <a:srgbClr val="7F6F6F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15_4109default" id="{E728D685-11FC-4812-BA85-57AC6F9C9F40}" vid="{BC4E008B-95FF-4815-904E-143A8EDFC1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3021</TotalTime>
  <Words>1370</Words>
  <Application>Microsoft Office PowerPoint</Application>
  <PresentationFormat>On-screen Show (4:3)</PresentationFormat>
  <Paragraphs>194</Paragraphs>
  <Slides>24</Slides>
  <Notes>0</Notes>
  <HiddenSlides>0</HiddenSlides>
  <MMClips>1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 Unicode MS</vt:lpstr>
      <vt:lpstr>Arial</vt:lpstr>
      <vt:lpstr>Calibri</vt:lpstr>
      <vt:lpstr>Cambria</vt:lpstr>
      <vt:lpstr>Times New Roman</vt:lpstr>
      <vt:lpstr>Red Line Business 16x9</vt:lpstr>
      <vt:lpstr>Worksheet</vt:lpstr>
      <vt:lpstr>Equation</vt:lpstr>
      <vt:lpstr>Project Scheduling</vt:lpstr>
      <vt:lpstr>PowerPoint Presentation</vt:lpstr>
      <vt:lpstr>Gantt charts</vt:lpstr>
      <vt:lpstr>Gantt Charts</vt:lpstr>
      <vt:lpstr>Example Gantt Chart Formats</vt:lpstr>
      <vt:lpstr>Example Gantt Chart Formats</vt:lpstr>
      <vt:lpstr>Example Gantt Chart Formats</vt:lpstr>
      <vt:lpstr>Example Gantt Chart Formats</vt:lpstr>
      <vt:lpstr>Gantt chart formats</vt:lpstr>
      <vt:lpstr>Gantt chart formats</vt:lpstr>
      <vt:lpstr>Precedence Relationships</vt:lpstr>
      <vt:lpstr>Precedence Relationships</vt:lpstr>
      <vt:lpstr>Precedence Relationships</vt:lpstr>
      <vt:lpstr>Precedence Relationships</vt:lpstr>
      <vt:lpstr>CRASHING PROJECTS (UNDER WHAT conditions)?</vt:lpstr>
      <vt:lpstr>Options for Accelerating Activities</vt:lpstr>
      <vt:lpstr>Caution with requesting (excessive) overtime!</vt:lpstr>
      <vt:lpstr>Time-Cost Trade offs for Crashing Activities</vt:lpstr>
      <vt:lpstr>CRASHING ACTIVITIES – AN EXAMPLE</vt:lpstr>
      <vt:lpstr>CRASHING ACTIVITIES – AN EXAMPLE</vt:lpstr>
      <vt:lpstr>The Network Diagram</vt:lpstr>
      <vt:lpstr>Downside to Network Diagrams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Scheduling</dc:title>
  <dc:creator>Ray Schott</dc:creator>
  <cp:lastModifiedBy>Ozlu, Sinan</cp:lastModifiedBy>
  <cp:revision>106</cp:revision>
  <cp:lastPrinted>2018-03-06T12:11:20Z</cp:lastPrinted>
  <dcterms:created xsi:type="dcterms:W3CDTF">2007-12-16T00:15:30Z</dcterms:created>
  <dcterms:modified xsi:type="dcterms:W3CDTF">2024-11-10T19:55:42Z</dcterms:modified>
</cp:coreProperties>
</file>