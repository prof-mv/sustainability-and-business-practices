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</p:sldMasterIdLst>
  <p:notesMasterIdLst>
    <p:notesMasterId r:id="rId21"/>
  </p:notesMasterIdLst>
  <p:sldIdLst>
    <p:sldId id="257" r:id="rId2"/>
    <p:sldId id="273" r:id="rId3"/>
    <p:sldId id="319" r:id="rId4"/>
    <p:sldId id="307" r:id="rId5"/>
    <p:sldId id="309" r:id="rId6"/>
    <p:sldId id="308" r:id="rId7"/>
    <p:sldId id="313" r:id="rId8"/>
    <p:sldId id="314" r:id="rId9"/>
    <p:sldId id="315" r:id="rId10"/>
    <p:sldId id="316" r:id="rId11"/>
    <p:sldId id="317" r:id="rId12"/>
    <p:sldId id="318" r:id="rId13"/>
    <p:sldId id="281" r:id="rId14"/>
    <p:sldId id="294" r:id="rId15"/>
    <p:sldId id="282" r:id="rId16"/>
    <p:sldId id="320" r:id="rId17"/>
    <p:sldId id="311" r:id="rId18"/>
    <p:sldId id="287" r:id="rId19"/>
    <p:sldId id="288" r:id="rId2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2612D40E-77E3-42C3-AD92-EB82A00915F6}" type="datetimeFigureOut">
              <a:rPr lang="en-CA" smtClean="0"/>
              <a:pPr/>
              <a:t>2025-09-30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53" tIns="48327" rIns="96653" bIns="4832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9EFA9DE3-E60F-4AA4-B361-9D888F9F90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5929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A9DE3-E60F-4AA4-B361-9D888F9F9028}" type="slidenum">
              <a:rPr lang="en-CA" smtClean="0"/>
              <a:pPr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1060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A9DE3-E60F-4AA4-B361-9D888F9F9028}" type="slidenum">
              <a:rPr lang="en-CA" smtClean="0"/>
              <a:pPr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8658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A9DE3-E60F-4AA4-B361-9D888F9F9028}" type="slidenum">
              <a:rPr lang="en-CA" smtClean="0"/>
              <a:pPr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1119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A9DE3-E60F-4AA4-B361-9D888F9F9028}" type="slidenum">
              <a:rPr lang="en-CA" smtClean="0"/>
              <a:pPr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7185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A9DE3-E60F-4AA4-B361-9D888F9F9028}" type="slidenum">
              <a:rPr lang="en-CA" smtClean="0"/>
              <a:pPr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9482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A9DE3-E60F-4AA4-B361-9D888F9F9028}" type="slidenum">
              <a:rPr lang="en-CA" smtClean="0"/>
              <a:pPr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0513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A9DE3-E60F-4AA4-B361-9D888F9F9028}" type="slidenum">
              <a:rPr lang="en-CA" smtClean="0"/>
              <a:pPr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1456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A9DE3-E60F-4AA4-B361-9D888F9F9028}" type="slidenum">
              <a:rPr lang="en-CA" smtClean="0"/>
              <a:pPr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8441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A9DE3-E60F-4AA4-B361-9D888F9F9028}" type="slidenum">
              <a:rPr lang="en-CA" smtClean="0"/>
              <a:pPr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8640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A9DE3-E60F-4AA4-B361-9D888F9F9028}" type="slidenum">
              <a:rPr lang="en-CA" smtClean="0"/>
              <a:pPr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3060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A9DE3-E60F-4AA4-B361-9D888F9F9028}" type="slidenum">
              <a:rPr lang="en-CA" smtClean="0"/>
              <a:pPr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8735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A9DE3-E60F-4AA4-B361-9D888F9F9028}" type="slidenum">
              <a:rPr lang="en-CA" smtClean="0"/>
              <a:pPr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4542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2606040"/>
            <a:ext cx="7543800" cy="27432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100">
                <a:solidFill>
                  <a:schemeClr val="tx1"/>
                </a:solidFill>
                <a:effectLst>
                  <a:outerShdw blurRad="38100" dist="25400" dir="18900000" algn="b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5360437"/>
            <a:ext cx="7543800" cy="36576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500" b="1" cap="all" baseline="0">
                <a:solidFill>
                  <a:schemeClr val="accent1"/>
                </a:solidFill>
                <a:effectLst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88736"/>
            <a:ext cx="9144000" cy="109728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5888736"/>
            <a:ext cx="9144000" cy="109728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6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MGMT 1007-23W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4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5815305" y="283"/>
            <a:ext cx="3326788" cy="68562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1565829"/>
            <a:ext cx="4457700" cy="41148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4050">
                <a:effectLst>
                  <a:outerShdw blurRad="38100" dist="25400" dir="18900000" algn="b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1" y="5682344"/>
            <a:ext cx="4457700" cy="41054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50" b="1" cap="all" baseline="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innerShdw blurRad="25400" dist="127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1550" y="1825626"/>
            <a:ext cx="3543300" cy="4117975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49" y="1825626"/>
            <a:ext cx="3543300" cy="4117975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MGMT 1007-23W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8E40A0-349D-498F-82E0-A155F1E2249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3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828800"/>
            <a:ext cx="3545586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5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70151"/>
            <a:ext cx="3545586" cy="347345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5721" y="1828800"/>
            <a:ext cx="3545586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5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6864" y="2470151"/>
            <a:ext cx="3545586" cy="347345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MGMT 1007-23W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66C681-FC16-41B2-A073-F8E3D11EB6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MGMT 1007-23W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CC4511-05DB-4C64-BBAC-5D3CC3394C4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7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MGMT 1007-23W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B867C2-9E3F-4261-9C76-A0A49E6D75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9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5815305" y="283"/>
            <a:ext cx="3326788" cy="68562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innerShdw blurRad="25400" dist="127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1" y="2514600"/>
            <a:ext cx="2606040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727" y="685800"/>
            <a:ext cx="4594860" cy="548640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0" y="4343400"/>
            <a:ext cx="2606040" cy="118872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MGMT 1007-23W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9D1C1C-3633-4073-966F-F6951B0BE6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50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5815305" y="283"/>
            <a:ext cx="3326788" cy="68562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innerShdw blurRad="25400" dist="127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14600"/>
            <a:ext cx="2606040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1325880"/>
            <a:ext cx="5143500" cy="4206240"/>
          </a:xfrm>
          <a:solidFill>
            <a:schemeClr val="bg2"/>
          </a:solidFill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0" y="4343400"/>
            <a:ext cx="2606040" cy="118872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MGMT 1007-23W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1E82E8-67E0-4BF7-9E59-1B28EACDCE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4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MGMT 1007-23W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24DAD6-D2BF-4859-9C05-4D313239DB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2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50" y="382231"/>
            <a:ext cx="1028700" cy="5561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50" y="382230"/>
            <a:ext cx="5897880" cy="55613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MGMT 1007-23W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C3A666-ED60-4BC5-B358-C77B554F302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2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CA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G.R. Labbé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MGMT 1007-23W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B3018-5CD9-4FF8-9070-87CA6B6D17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25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257036"/>
            <a:ext cx="9144000" cy="54864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0" y="381000"/>
            <a:ext cx="72009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828800"/>
            <a:ext cx="72009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7128" y="6419462"/>
            <a:ext cx="1013537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G.R. Labbé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0" y="6419462"/>
            <a:ext cx="3886200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MGMT 1007-23W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48769" y="6419462"/>
            <a:ext cx="523681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37DCBB6-6013-479F-9F04-3FF1B7B079E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257036"/>
            <a:ext cx="9144000" cy="54864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35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cap="all" baseline="0">
          <a:solidFill>
            <a:schemeClr val="accent1"/>
          </a:solidFill>
          <a:effectLst>
            <a:outerShdw blurRad="38100" dist="25400" dir="18900000" algn="bl" rotWithShape="0">
              <a:schemeClr val="bg1">
                <a:alpha val="80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205740" indent="-171450" algn="l" defTabSz="685800" rtl="0" eaLnBrk="1" latinLnBrk="0" hangingPunct="1">
        <a:lnSpc>
          <a:spcPct val="90000"/>
        </a:lnSpc>
        <a:spcBef>
          <a:spcPts val="1350"/>
        </a:spcBef>
        <a:buClr>
          <a:schemeClr val="accent1"/>
        </a:buClr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6586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7734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78308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98882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75070" y="4797152"/>
            <a:ext cx="8458200" cy="96591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000" dirty="0">
                <a:solidFill>
                  <a:srgbClr val="C00000"/>
                </a:solidFill>
                <a:latin typeface="Calibri" panose="020F0502020204030204" pitchFamily="34" charset="0"/>
              </a:rPr>
              <a:t>work breakdown structures</a:t>
            </a:r>
            <a:b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r>
              <a:rPr lang="en-US" sz="2200" b="0" dirty="0">
                <a:solidFill>
                  <a:srgbClr val="C00000"/>
                </a:solidFill>
                <a:latin typeface="Calibri" panose="020F0502020204030204" pitchFamily="34" charset="0"/>
              </a:rPr>
              <a:t>Lecture 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9552" y="6165304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G.R. Labbé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938" y="548680"/>
            <a:ext cx="3778324" cy="37163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99048" y="4272812"/>
            <a:ext cx="322210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0" dirty="0"/>
              <a:t>http://www.pm-primer.com/wp-content/uploads/2012/04/wbs1.jpg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82613" y="414974"/>
            <a:ext cx="7200900" cy="52772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Calibri" panose="020F0502020204030204" pitchFamily="34" charset="0"/>
              </a:rPr>
              <a:t>Work Breakdown Structure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340768"/>
            <a:ext cx="7200900" cy="4114800"/>
          </a:xfrm>
        </p:spPr>
        <p:txBody>
          <a:bodyPr>
            <a:normAutofit fontScale="92500" lnSpcReduction="20000"/>
          </a:bodyPr>
          <a:lstStyle/>
          <a:p>
            <a:pPr marL="288925" indent="-288925" defTabSz="457200" eaLnBrk="1" hangingPunct="1">
              <a:lnSpc>
                <a:spcPct val="70000"/>
              </a:lnSpc>
              <a:buFontTx/>
              <a:buNone/>
            </a:pPr>
            <a:r>
              <a:rPr lang="en-US" sz="2000" b="1" dirty="0">
                <a:latin typeface="Calibri" panose="020F0502020204030204" pitchFamily="34" charset="0"/>
                <a:cs typeface="Arial" panose="020B0604020202020204" pitchFamily="34" charset="0"/>
              </a:rPr>
              <a:t>Definition: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 Work Breakdown Structure (WBS) is a deliverable</a:t>
            </a:r>
          </a:p>
          <a:p>
            <a:pPr marL="288925" indent="-288925" defTabSz="457200" eaLnBrk="1" hangingPunct="1">
              <a:lnSpc>
                <a:spcPct val="70000"/>
              </a:lnSpc>
              <a:buFontTx/>
              <a:buNone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				oriented grouping of project components that organizes</a:t>
            </a:r>
          </a:p>
          <a:p>
            <a:pPr marL="288925" indent="-288925" eaLnBrk="1" hangingPunct="1">
              <a:buFontTx/>
              <a:buNone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			and defines the total scope of the project.</a:t>
            </a:r>
          </a:p>
          <a:p>
            <a:pPr marL="288925" indent="-288925" eaLnBrk="1" hangingPunct="1">
              <a:buFontTx/>
              <a:buNone/>
            </a:pPr>
            <a:endParaRPr lang="en-US" sz="20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 WBS is the project scope broken down first into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smaller manageable pieces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 that define major outcomes or deliverables of the project.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Each major outcome is then further divided into smaller more manageable “chunks” or </a:t>
            </a:r>
            <a:r>
              <a:rPr lang="en-US" sz="2000" b="1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work packages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These work packages identify the tasks that need to be completed to produce the deliverable.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Project Managers cannot, in fact nobody can, manage projects.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Project Managers manage pieces of projects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288925" indent="-288925" eaLnBrk="1" hangingPunct="1">
              <a:buFont typeface="Wingdings" pitchFamily="2" charset="2"/>
              <a:buChar char="q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A69B7-3C5F-4369-AD11-605423C5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E4F2E-2846-4EDE-BED6-6A5C0EC35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82613" y="376874"/>
            <a:ext cx="7200900" cy="52772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Calibri" panose="020F0502020204030204" pitchFamily="34" charset="0"/>
              </a:rPr>
              <a:t>Work Breakdown Structure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340768"/>
            <a:ext cx="7200900" cy="453650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The goals of a well developed WBS are:</a:t>
            </a:r>
          </a:p>
          <a:p>
            <a:pPr marL="582930" lvl="1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Allows the project team to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logically plan </a:t>
            </a: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all the steps required to successfully complete the project.</a:t>
            </a:r>
          </a:p>
          <a:p>
            <a:pPr marL="582930" lvl="1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Collect</a:t>
            </a: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 and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organize</a:t>
            </a: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 all information required to complete the defined tasks.</a:t>
            </a:r>
          </a:p>
          <a:p>
            <a:pPr marL="582930" lvl="1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Organize tasks into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smaller more manageable components </a:t>
            </a: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that can be assigned to the team members for completion.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A well defined WBS allows for the creation of a </a:t>
            </a: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WBS dictionary</a:t>
            </a: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. The dictionary defines the </a:t>
            </a: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requirements for each task </a:t>
            </a: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and allows for more detail to be presented.</a:t>
            </a: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B2A07-B296-408E-A4E7-3A2CCA50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16AD8-8D5E-4812-A67E-16DFFB5D6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  <p:extLst>
      <p:ext uri="{BB962C8B-B14F-4D97-AF65-F5344CB8AC3E}">
        <p14:creationId xmlns:p14="http://schemas.microsoft.com/office/powerpoint/2010/main" val="188316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32" y="478559"/>
            <a:ext cx="8229600" cy="490066"/>
          </a:xfrm>
        </p:spPr>
        <p:txBody>
          <a:bodyPr/>
          <a:lstStyle/>
          <a:p>
            <a:r>
              <a:rPr lang="en-CA" sz="2400" b="1" dirty="0">
                <a:latin typeface="Calibri" panose="020F0502020204030204" pitchFamily="34" charset="0"/>
              </a:rPr>
              <a:t>Hierarchical Structure</a:t>
            </a:r>
            <a:endParaRPr lang="en-CA" sz="2400" dirty="0">
              <a:latin typeface="Calibri" panose="020F050202020403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l="2312" t="18417" r="67813" b="16750"/>
          <a:stretch>
            <a:fillRect/>
          </a:stretch>
        </p:blipFill>
        <p:spPr bwMode="auto">
          <a:xfrm>
            <a:off x="4345632" y="116632"/>
            <a:ext cx="4640021" cy="6066681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4576869" y="6244322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b="0" dirty="0"/>
              <a:t>http://img.bhs4.com/d8/9/d8937ed5232ddab17d38faec3b4bcc92c2767867_large.jpg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832" y="1484784"/>
            <a:ext cx="398112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Calibri" panose="020F0502020204030204" pitchFamily="34" charset="0"/>
              </a:rPr>
              <a:t>Note the use of a numbering sequence to identify levels.</a:t>
            </a:r>
          </a:p>
          <a:p>
            <a:endParaRPr lang="en-US" b="0" dirty="0">
              <a:latin typeface="Calibri" panose="020F050202020403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</a:rPr>
              <a:t>Level 1</a:t>
            </a:r>
            <a:r>
              <a:rPr lang="en-US" b="0" dirty="0">
                <a:latin typeface="Calibri" panose="020F0502020204030204" pitchFamily="34" charset="0"/>
              </a:rPr>
              <a:t> is defined as the Project level</a:t>
            </a:r>
          </a:p>
          <a:p>
            <a:r>
              <a:rPr lang="en-US" sz="1600" b="0" i="1" dirty="0">
                <a:latin typeface="Calibri" panose="020F0502020204030204" pitchFamily="34" charset="0"/>
              </a:rPr>
              <a:t>(What is the project?)</a:t>
            </a:r>
          </a:p>
          <a:p>
            <a:endParaRPr lang="en-US" b="0" dirty="0">
              <a:latin typeface="Calibri" panose="020F050202020403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</a:rPr>
              <a:t>Level 2</a:t>
            </a:r>
            <a:r>
              <a:rPr lang="en-US" b="0" dirty="0">
                <a:latin typeface="Calibri" panose="020F0502020204030204" pitchFamily="34" charset="0"/>
              </a:rPr>
              <a:t> is the Summary level. </a:t>
            </a:r>
            <a:r>
              <a:rPr lang="en-US" sz="1600" b="0" i="1" dirty="0">
                <a:latin typeface="Calibri" panose="020F0502020204030204" pitchFamily="34" charset="0"/>
              </a:rPr>
              <a:t>(This is the project broken into its major components.)</a:t>
            </a:r>
          </a:p>
          <a:p>
            <a:endParaRPr lang="en-US" b="0" dirty="0">
              <a:latin typeface="Calibri" panose="020F050202020403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</a:rPr>
              <a:t>Level 3</a:t>
            </a:r>
            <a:r>
              <a:rPr lang="en-US" b="0" dirty="0">
                <a:latin typeface="Calibri" panose="020F0502020204030204" pitchFamily="34" charset="0"/>
              </a:rPr>
              <a:t> is the start of the Work Package level. </a:t>
            </a:r>
            <a:r>
              <a:rPr lang="en-US" sz="1600" b="0" i="1" dirty="0">
                <a:latin typeface="Calibri" panose="020F0502020204030204" pitchFamily="34" charset="0"/>
              </a:rPr>
              <a:t>(Depending upon the complexity of the work package there can be further levels created.)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A777140-55E2-43F6-B756-AECA90C8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17E165-5F41-4F72-8436-5DF703A2C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82613" y="174728"/>
            <a:ext cx="3394720" cy="418058"/>
          </a:xfrm>
        </p:spPr>
        <p:txBody>
          <a:bodyPr>
            <a:noAutofit/>
          </a:bodyPr>
          <a:lstStyle/>
          <a:p>
            <a:r>
              <a:rPr lang="en-CA" b="1" dirty="0">
                <a:latin typeface="Calibri" panose="020F0502020204030204" pitchFamily="34" charset="0"/>
              </a:rPr>
              <a:t>structure View</a:t>
            </a:r>
            <a:endParaRPr lang="en-CA" dirty="0">
              <a:latin typeface="Calibri" panose="020F0502020204030204" pitchFamily="34" charset="0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" name="Rectangle 5"/>
          <p:cNvSpPr/>
          <p:nvPr/>
        </p:nvSpPr>
        <p:spPr>
          <a:xfrm>
            <a:off x="3177885" y="5770130"/>
            <a:ext cx="31683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0" dirty="0"/>
              <a:t>http://www.hyperthot.com/pm_wbs_swhw.gif</a:t>
            </a:r>
          </a:p>
        </p:txBody>
      </p:sp>
      <p:pic>
        <p:nvPicPr>
          <p:cNvPr id="2052" name="Picture 4" descr="Related imag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92786"/>
            <a:ext cx="8352928" cy="524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D25866-6F79-4094-9B3B-8241ACA8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B46991-E2AE-49CC-9619-96B37BDD8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613" y="303091"/>
            <a:ext cx="8104187" cy="418058"/>
          </a:xfrm>
        </p:spPr>
        <p:txBody>
          <a:bodyPr>
            <a:noAutofit/>
          </a:bodyPr>
          <a:lstStyle/>
          <a:p>
            <a:r>
              <a:rPr lang="en-CA" b="1" dirty="0">
                <a:latin typeface="Calibri" panose="020F0502020204030204" pitchFamily="34" charset="0"/>
              </a:rPr>
              <a:t>Tabular View</a:t>
            </a:r>
            <a:endParaRPr lang="en-CA" dirty="0">
              <a:latin typeface="Calibri" panose="020F0502020204030204" pitchFamily="34" charset="0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pic>
        <p:nvPicPr>
          <p:cNvPr id="1026" name="Picture 2" descr="Image result for work breakdown structure tabular examples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119" y="1412776"/>
            <a:ext cx="5479900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403648" y="4293096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latin typeface="Calibri" panose="020F0502020204030204" pitchFamily="34" charset="0"/>
              </a:rPr>
              <a:t>Each level clearly breaks the tasks down into smaller</a:t>
            </a:r>
          </a:p>
          <a:p>
            <a:pPr algn="ctr"/>
            <a:r>
              <a:rPr lang="en-US" b="0" dirty="0">
                <a:latin typeface="Calibri" panose="020F0502020204030204" pitchFamily="34" charset="0"/>
              </a:rPr>
              <a:t>more manageable tasks.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52B4E83-0E77-4902-8F3A-BBB01AA3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061787-DD60-40B5-83CB-40908AB43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Creating a wbs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The WBS is organized around the primary products of the project </a:t>
            </a:r>
            <a:r>
              <a:rPr lang="en-US" sz="1800" i="1" dirty="0">
                <a:latin typeface="Calibri" panose="020F0502020204030204" pitchFamily="34" charset="0"/>
                <a:cs typeface="Arial" panose="020B0604020202020204" pitchFamily="34" charset="0"/>
              </a:rPr>
              <a:t>(or </a:t>
            </a:r>
            <a:r>
              <a:rPr lang="en-US" sz="1800" i="1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planned outcomes</a:t>
            </a:r>
            <a:r>
              <a:rPr lang="en-US" sz="1800" i="1" dirty="0">
                <a:latin typeface="Calibri" panose="020F0502020204030204" pitchFamily="34" charset="0"/>
                <a:cs typeface="Arial" panose="020B0604020202020204" pitchFamily="34" charset="0"/>
              </a:rPr>
              <a:t>)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 instead of the work needed to produce the products </a:t>
            </a:r>
            <a:r>
              <a:rPr lang="en-US" sz="1800" i="1" dirty="0">
                <a:latin typeface="Calibri" panose="020F0502020204030204" pitchFamily="34" charset="0"/>
                <a:cs typeface="Arial" panose="020B0604020202020204" pitchFamily="34" charset="0"/>
              </a:rPr>
              <a:t>(planned actions)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CA" sz="2000" dirty="0"/>
              <a:t>For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000" dirty="0"/>
              <a:t>✅ Outcome-based: “Training Module Completed”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000" dirty="0"/>
              <a:t>❌ Action-based: “Write training script,” “Record video,” “Upload to platform</a:t>
            </a:r>
          </a:p>
          <a:p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Since the </a:t>
            </a: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planned outcomes 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are the desired ends of the project, they form a relatively stable set of categories in which the costs of the planned actions needed to achieve them can be collected. </a:t>
            </a:r>
          </a:p>
          <a:p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A well-designed WBS makes it easy to assign each project activity to one and only one terminal element of the WBS.</a:t>
            </a:r>
          </a:p>
          <a:p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There are several </a:t>
            </a:r>
            <a:r>
              <a:rPr lang="en-US" sz="1800" b="1" dirty="0">
                <a:latin typeface="Calibri" panose="020F0502020204030204" pitchFamily="34" charset="0"/>
                <a:cs typeface="Arial" panose="020B0604020202020204" pitchFamily="34" charset="0"/>
              </a:rPr>
              <a:t>design principles 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that must be followed when creating a WBS. We are going to look at these in detail in the next few slides:</a:t>
            </a:r>
          </a:p>
          <a:p>
            <a:endParaRPr lang="en-US" dirty="0"/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9B8BA1A-3F89-4660-9258-322F501D5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609B5-B52F-49ED-89C8-9B03CBF6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  <p:extLst>
      <p:ext uri="{BB962C8B-B14F-4D97-AF65-F5344CB8AC3E}">
        <p14:creationId xmlns:p14="http://schemas.microsoft.com/office/powerpoint/2010/main" val="33346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613" y="381000"/>
            <a:ext cx="7200900" cy="52772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Design principles – 100%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613" y="1052736"/>
            <a:ext cx="8237859" cy="2104256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The </a:t>
            </a:r>
            <a:r>
              <a:rPr lang="en-US" sz="180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100% rule 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states that the WBS includes 100% of the work defined by the project scope and captures all deliverables – internal, external, interim – in terms of the work to be completed. </a:t>
            </a:r>
          </a:p>
          <a:p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The rule applies at all levels within the hierarchy: the sum of the work at the "child" level must equal 100% of the work represented by the "parent" and the WBS should not include any work that falls outside the actual scope of the project, that is, </a:t>
            </a: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it cannot include more than 100% of the work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074" name="Picture 2" descr="http://www.exceltemp.com/wp-content/uploads/2014/07/WB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980" y="3012976"/>
            <a:ext cx="5524040" cy="30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347864" y="6078762"/>
            <a:ext cx="244827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b="0" dirty="0"/>
              <a:t>http://www.exceltemp.com/wp-content/uploads/2014/07/WBS.jpg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7638CB-9A78-432B-BBF3-011746B77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7AAFC-36F6-449E-9737-FB6C5CE60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  <p:extLst>
      <p:ext uri="{BB962C8B-B14F-4D97-AF65-F5344CB8AC3E}">
        <p14:creationId xmlns:p14="http://schemas.microsoft.com/office/powerpoint/2010/main" val="122026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613" y="381000"/>
            <a:ext cx="7200900" cy="52772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Design principles – mutually exclusive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1118320"/>
            <a:ext cx="7200900" cy="2094656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It is important that there is </a:t>
            </a:r>
            <a:r>
              <a:rPr lang="en-US" sz="1800" b="1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no</a:t>
            </a:r>
            <a:r>
              <a:rPr lang="en-US" sz="1800" b="1" dirty="0"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overlap</a:t>
            </a:r>
            <a:r>
              <a:rPr lang="en-US" sz="1800" b="1" dirty="0"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in scope definition between different elements of a work breakdown structure. This ambiguity could result in duplicated work or miscommunications about responsibility and authority. </a:t>
            </a:r>
          </a:p>
          <a:p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Such overlap could also cause confusion regarding project cost accounting. If the WBS element names are ambiguous, a </a:t>
            </a:r>
            <a:r>
              <a:rPr lang="en-US" sz="180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WBS dictionary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 can help clarify the distinctions between WBS elements.</a:t>
            </a:r>
          </a:p>
        </p:txBody>
      </p:sp>
      <p:pic>
        <p:nvPicPr>
          <p:cNvPr id="4098" name="Picture 2" descr="http://image.slidesharecdn.com/projectscopemanagement5ver-150330184729-conversion-gate01/95/project-scope-management-pmbok-5th-edition-24-638.jpg?cb=142774128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79" b="7942"/>
          <a:stretch/>
        </p:blipFill>
        <p:spPr bwMode="auto">
          <a:xfrm>
            <a:off x="1520138" y="3212975"/>
            <a:ext cx="6076950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470381" y="6026803"/>
            <a:ext cx="41764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mage.slidesharecdn.com/projectscopemanagement5ver-150330184729-conversion-gate01/95/project-scope-management-pmbok-5th-edition-24-638.jpg?cb=1427741284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DE62071-A22D-4EC5-8008-3B72BD83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718F2-9D13-495B-B3E7-A679106C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  <p:extLst>
      <p:ext uri="{BB962C8B-B14F-4D97-AF65-F5344CB8AC3E}">
        <p14:creationId xmlns:p14="http://schemas.microsoft.com/office/powerpoint/2010/main" val="34558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613" y="375138"/>
            <a:ext cx="7200900" cy="52772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Design principles – plan outcomes, not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310" y="1268760"/>
            <a:ext cx="7200900" cy="3168352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 the work breakdown structure designer </a:t>
            </a: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attempts to capture any action-oriented details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 in the WBS, he/she will likely include either </a:t>
            </a:r>
            <a:r>
              <a:rPr lang="en-US" sz="1800" b="1" dirty="0">
                <a:latin typeface="Calibri" panose="020F0502020204030204" pitchFamily="34" charset="0"/>
                <a:cs typeface="Arial" panose="020B0604020202020204" pitchFamily="34" charset="0"/>
              </a:rPr>
              <a:t>too many actions 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or </a:t>
            </a:r>
            <a:r>
              <a:rPr lang="en-US" sz="1800" b="1" dirty="0">
                <a:latin typeface="Calibri" panose="020F0502020204030204" pitchFamily="34" charset="0"/>
                <a:cs typeface="Arial" panose="020B0604020202020204" pitchFamily="34" charset="0"/>
              </a:rPr>
              <a:t>too few actions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Too many actions will exceed 100% of the parent's scope and too few will fall short of 100% of the parent's scope. The best way to adhere to the 100% rule is to define WBS elements in terms of </a:t>
            </a:r>
            <a:r>
              <a:rPr lang="en-US" sz="1800" b="1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outcomes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 or results, not actions. </a:t>
            </a:r>
          </a:p>
          <a:p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This also ensures that the WBS is not overly prescriptive of methods, allowing for greater ingenuity and creative thinking on the part of the project participants.</a:t>
            </a: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BA1083-6C42-4966-B101-25E371EC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C4DCF-B0B4-43D2-8C17-B0F8F1DDD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  <p:extLst>
      <p:ext uri="{BB962C8B-B14F-4D97-AF65-F5344CB8AC3E}">
        <p14:creationId xmlns:p14="http://schemas.microsoft.com/office/powerpoint/2010/main" val="408142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613" y="381000"/>
            <a:ext cx="7200900" cy="52772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Design principles – level of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310" y="1268760"/>
            <a:ext cx="7200900" cy="4104456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work package </a:t>
            </a: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at the activity level is a task that: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can be realistically and confidently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estimated</a:t>
            </a: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makes no sense practically to break down any further;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produces a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deliverable</a:t>
            </a: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 which is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measurable</a:t>
            </a: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; and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forms a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unique package of work</a:t>
            </a: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 which can be outsourced or contracted out.</a:t>
            </a:r>
          </a:p>
          <a:p>
            <a:pPr lvl="1"/>
            <a:endParaRPr lang="en-US" sz="24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One must decide when to stop dividing work into smaller elements. This will assist in determining the duration of activities </a:t>
            </a:r>
            <a:r>
              <a:rPr lang="en-US" sz="2400" b="1" dirty="0">
                <a:latin typeface="Calibri" panose="020F0502020204030204" pitchFamily="34" charset="0"/>
                <a:cs typeface="Arial" panose="020B0604020202020204" pitchFamily="34" charset="0"/>
              </a:rPr>
              <a:t>necessary</a:t>
            </a:r>
            <a:r>
              <a:rPr lang="en-US" sz="2400" dirty="0">
                <a:latin typeface="Calibri" panose="020F0502020204030204" pitchFamily="34" charset="0"/>
                <a:cs typeface="Arial" panose="020B0604020202020204" pitchFamily="34" charset="0"/>
              </a:rPr>
              <a:t> to produce a deliverable defined by the WBS. 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B5854E9-5FFD-4AF7-A0C1-DBF839F6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2684A-5669-41D9-AE7B-DDFF6B85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  <p:extLst>
      <p:ext uri="{BB962C8B-B14F-4D97-AF65-F5344CB8AC3E}">
        <p14:creationId xmlns:p14="http://schemas.microsoft.com/office/powerpoint/2010/main" val="81794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613" y="342866"/>
            <a:ext cx="7200900" cy="52772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Design principles – level of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310" y="1268760"/>
            <a:ext cx="7200900" cy="4752528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There are several </a:t>
            </a: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"rules of thumb"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 used when determining the appropriate duration of an activity or group of activities necessary to produce a specific deliverable defined by the WBS.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 first is the </a:t>
            </a:r>
            <a:r>
              <a:rPr lang="en-US" sz="2000" b="1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"80-hour rule" 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which means that no single activity or group of activities at the lowest level of detail of the WBS to produce a single deliverable should be 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more than 80 hours of effort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 second rule of thumb is that no activity or group of activities at the lowest level of detail of the WBS should be longer than a single reporting period. Thus, if the project team is reporting progress monthly, then no single activity or series of activities should be longer than one month long. 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In general, no task is defined at 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less than 8 hours to complete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 last one is the </a:t>
            </a: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"if it makes sense"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 rule. Applying this rule of thumb, one can apply </a:t>
            </a: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"common sense"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 when creating the duration of a single activity or group of activities necessary to produce a deliverable defined by the WBS.</a:t>
            </a:r>
          </a:p>
          <a:p>
            <a:endParaRPr lang="en-US" sz="1800" dirty="0"/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7F3125E-086E-4702-A9AE-3CA2A4497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7678-3EBA-402E-A7C8-401477025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  <p:extLst>
      <p:ext uri="{BB962C8B-B14F-4D97-AF65-F5344CB8AC3E}">
        <p14:creationId xmlns:p14="http://schemas.microsoft.com/office/powerpoint/2010/main" val="293132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558702"/>
            <a:ext cx="5040610" cy="455712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Calibri" panose="020F0502020204030204" pitchFamily="34" charset="0"/>
              </a:rPr>
              <a:t>Why is the WBS so Important ?</a:t>
            </a:r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3497263" y="3284538"/>
            <a:ext cx="2160587" cy="6492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WBS</a:t>
            </a:r>
          </a:p>
        </p:txBody>
      </p:sp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6388100" y="3284538"/>
            <a:ext cx="2160588" cy="6492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Risk</a:t>
            </a: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606425" y="3284538"/>
            <a:ext cx="2160588" cy="6492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Staffing</a:t>
            </a:r>
          </a:p>
        </p:txBody>
      </p:sp>
      <p:sp>
        <p:nvSpPr>
          <p:cNvPr id="29702" name="Rectangle 7"/>
          <p:cNvSpPr>
            <a:spLocks noChangeArrowheads="1"/>
          </p:cNvSpPr>
          <p:nvPr/>
        </p:nvSpPr>
        <p:spPr bwMode="auto">
          <a:xfrm>
            <a:off x="3357563" y="4664075"/>
            <a:ext cx="2376487" cy="6492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Network</a:t>
            </a:r>
          </a:p>
          <a:p>
            <a:pPr algn="ctr"/>
            <a:r>
              <a:rPr lang="en-US" dirty="0"/>
              <a:t> Diagram</a:t>
            </a:r>
          </a:p>
        </p:txBody>
      </p:sp>
      <p:sp>
        <p:nvSpPr>
          <p:cNvPr id="29703" name="Rectangle 8"/>
          <p:cNvSpPr>
            <a:spLocks noChangeArrowheads="1"/>
          </p:cNvSpPr>
          <p:nvPr/>
        </p:nvSpPr>
        <p:spPr bwMode="auto">
          <a:xfrm>
            <a:off x="3359150" y="1889125"/>
            <a:ext cx="2376488" cy="6492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Estimating</a:t>
            </a:r>
          </a:p>
        </p:txBody>
      </p:sp>
      <p:sp>
        <p:nvSpPr>
          <p:cNvPr id="29704" name="AutoShape 9"/>
          <p:cNvSpPr>
            <a:spLocks noChangeArrowheads="1"/>
          </p:cNvSpPr>
          <p:nvPr/>
        </p:nvSpPr>
        <p:spPr bwMode="auto">
          <a:xfrm>
            <a:off x="5751513" y="3500438"/>
            <a:ext cx="492125" cy="288925"/>
          </a:xfrm>
          <a:prstGeom prst="rightArrow">
            <a:avLst>
              <a:gd name="adj1" fmla="val 50000"/>
              <a:gd name="adj2" fmla="val 42582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9705" name="AutoShape 18"/>
          <p:cNvSpPr>
            <a:spLocks noChangeArrowheads="1"/>
          </p:cNvSpPr>
          <p:nvPr/>
        </p:nvSpPr>
        <p:spPr bwMode="auto">
          <a:xfrm rot="-5400000">
            <a:off x="4310063" y="2767013"/>
            <a:ext cx="492125" cy="288925"/>
          </a:xfrm>
          <a:prstGeom prst="rightArrow">
            <a:avLst>
              <a:gd name="adj1" fmla="val 50000"/>
              <a:gd name="adj2" fmla="val 42582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9706" name="AutoShape 19"/>
          <p:cNvSpPr>
            <a:spLocks noChangeArrowheads="1"/>
          </p:cNvSpPr>
          <p:nvPr/>
        </p:nvSpPr>
        <p:spPr bwMode="auto">
          <a:xfrm rot="5400000">
            <a:off x="4319588" y="4167188"/>
            <a:ext cx="492125" cy="288925"/>
          </a:xfrm>
          <a:prstGeom prst="rightArrow">
            <a:avLst>
              <a:gd name="adj1" fmla="val 50000"/>
              <a:gd name="adj2" fmla="val 42582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9707" name="AutoShape 20"/>
          <p:cNvSpPr>
            <a:spLocks noChangeArrowheads="1"/>
          </p:cNvSpPr>
          <p:nvPr/>
        </p:nvSpPr>
        <p:spPr bwMode="auto">
          <a:xfrm rot="10800000">
            <a:off x="2881313" y="3500438"/>
            <a:ext cx="492125" cy="288925"/>
          </a:xfrm>
          <a:prstGeom prst="rightArrow">
            <a:avLst>
              <a:gd name="adj1" fmla="val 50000"/>
              <a:gd name="adj2" fmla="val 42582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9708" name="Oval 21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8B872-3141-4BF5-9C93-607807D27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23164C-5431-49A4-BDD9-8CC0D44EC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76672"/>
            <a:ext cx="7200900" cy="455712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Calibri" panose="020F0502020204030204" pitchFamily="34" charset="0"/>
              </a:rPr>
              <a:t>WBS Dictionary - explained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340768"/>
            <a:ext cx="72009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Used to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control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 what work is done and when;</a:t>
            </a:r>
          </a:p>
          <a:p>
            <a:pPr eaLnBrk="1" hangingPunct="1"/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Used to prevent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scope creep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pPr eaLnBrk="1" hangingPunct="1"/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Used to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understand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 the effort for each task;</a:t>
            </a:r>
          </a:p>
          <a:p>
            <a:pPr eaLnBrk="1" hangingPunct="1"/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Physically the WBS dictionary is written when the WBS work packages are posted on a wall or white board in a logical sequence relative to one another to reflect the flow of work.  When they are removed in numerical order, the WBS Dictionary is generated;</a:t>
            </a:r>
          </a:p>
          <a:p>
            <a:pPr eaLnBrk="1" hangingPunct="1"/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Entries in the dictionary are referred to as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task descriptions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; and,</a:t>
            </a:r>
          </a:p>
          <a:p>
            <a:pPr eaLnBrk="1" hangingPunct="1"/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Frequently they are arranged on color coded work packages to clearly identify the hierarchy of the task.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86785-FAF0-45AB-8D86-E9726FBD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EBE19C-B218-4DE4-B648-F4F7C50D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70146"/>
            <a:ext cx="8229600" cy="418952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>
                <a:latin typeface="Calibri" panose="020F0502020204030204" pitchFamily="34" charset="0"/>
              </a:rPr>
              <a:t>WBS Dictionary</a:t>
            </a:r>
          </a:p>
        </p:txBody>
      </p:sp>
      <p:graphicFrame>
        <p:nvGraphicFramePr>
          <p:cNvPr id="31892" name="Group 148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085732143"/>
              </p:ext>
            </p:extLst>
          </p:nvPr>
        </p:nvGraphicFramePr>
        <p:xfrm>
          <a:off x="457200" y="1128713"/>
          <a:ext cx="8229600" cy="50596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5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WBS Dictionary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(Task Description)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Project name:_________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Task #:_______________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Date Issued:___________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Person Assigned:_______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Task Description: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(what work is authorized)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Quantified Objectives: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(See the description in the project charter)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Product Description: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(what is the result of the work package?)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Acceptance Criteria: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(how will the team member be able to check their work?)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Deliverables: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(See the description in the project charter)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Assumptions: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5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Resources Assigned: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5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Duration: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92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Cost: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5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Due Date: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5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Interdependencies:  Before this task______________  After this task______________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5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Approved by:  Project Manager________________________  Date_______________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1B44E-C899-4C2B-A207-AE824BE6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0B3018-5CD9-4FF8-9070-87CA6B6D178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C9B9C-4731-4392-886B-3A04A40C8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76672"/>
            <a:ext cx="2530624" cy="418952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>
                <a:latin typeface="Calibri" panose="020F0502020204030204" pitchFamily="34" charset="0"/>
              </a:rPr>
              <a:t>WBS Dictionary </a:t>
            </a:r>
          </a:p>
        </p:txBody>
      </p:sp>
      <p:pic>
        <p:nvPicPr>
          <p:cNvPr id="5" name="Table Placeholder 4"/>
          <p:cNvPicPr>
            <a:picLocks noGrp="1" noChangeAspect="1"/>
          </p:cNvPicPr>
          <p:nvPr>
            <p:ph type="tbl" idx="1"/>
          </p:nvPr>
        </p:nvPicPr>
        <p:blipFill rotWithShape="1">
          <a:blip r:embed="rId3"/>
          <a:srcRect l="11335" t="29930" r="69183" b="28954"/>
          <a:stretch/>
        </p:blipFill>
        <p:spPr>
          <a:xfrm>
            <a:off x="1015507" y="1124744"/>
            <a:ext cx="7124846" cy="42290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33462" y="5353818"/>
            <a:ext cx="266429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0" dirty="0"/>
              <a:t>doit.maryland.gov/sdlc/formservertemplates/wbs.doc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50425F-F869-4BB1-A0E9-817C6431C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0B3018-5CD9-4FF8-9070-87CA6B6D178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BE0C57-D805-41BA-B9B0-2C661B87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  <p:extLst>
      <p:ext uri="{BB962C8B-B14F-4D97-AF65-F5344CB8AC3E}">
        <p14:creationId xmlns:p14="http://schemas.microsoft.com/office/powerpoint/2010/main" val="3268913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434524"/>
            <a:ext cx="7200900" cy="54620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WBS Dictionary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1371600"/>
            <a:ext cx="7488882" cy="41148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</a:rPr>
              <a:t>In your group, take one task from your WBS that you created earlier and create a WBS dictionary for it.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24E03-ABC9-4E63-8205-E262D5D2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DE86D-5A63-4B90-9510-55F2E95F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  <p:extLst>
      <p:ext uri="{BB962C8B-B14F-4D97-AF65-F5344CB8AC3E}">
        <p14:creationId xmlns:p14="http://schemas.microsoft.com/office/powerpoint/2010/main" val="610232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2613" y="260648"/>
            <a:ext cx="7200900" cy="52772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Calibri" panose="020F0502020204030204" pitchFamily="34" charset="0"/>
              </a:rPr>
              <a:t>Work Authorization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582613" y="1052736"/>
            <a:ext cx="8021835" cy="48965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Once the scope has been decomposed into useful work packages, the next natural step is to get </a:t>
            </a: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formal agreement between stakeholders 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regarding project content known as the </a:t>
            </a:r>
            <a:r>
              <a:rPr lang="en-US" sz="1800" b="1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work authorization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.  </a:t>
            </a:r>
            <a:r>
              <a:rPr lang="en-US" sz="1800" b="1" dirty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If the client is external, this likely includes the contract Sign-Off.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Project management contracts to be valid require and consist of at least:</a:t>
            </a:r>
          </a:p>
          <a:p>
            <a:pPr marL="342900" indent="-342900"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Possessing the legal right to contract;</a:t>
            </a:r>
          </a:p>
          <a:p>
            <a:pPr marL="342900" indent="-342900"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Being of legal age to contract </a:t>
            </a:r>
            <a:r>
              <a:rPr lang="en-US" sz="1600" i="1" dirty="0">
                <a:latin typeface="Calibri" panose="020F0502020204030204" pitchFamily="34" charset="0"/>
                <a:cs typeface="Arial" panose="020B0604020202020204" pitchFamily="34" charset="0"/>
              </a:rPr>
              <a:t>(18yo in Ontario and Qu</a:t>
            </a:r>
            <a:r>
              <a:rPr lang="en-CA" sz="1600" i="1" dirty="0" err="1">
                <a:latin typeface="Calibri" panose="020F0502020204030204" pitchFamily="34" charset="0"/>
                <a:cs typeface="Arial" panose="020B0604020202020204" pitchFamily="34" charset="0"/>
              </a:rPr>
              <a:t>ébec</a:t>
            </a:r>
            <a:r>
              <a:rPr lang="en-CA" sz="1600" i="1" dirty="0">
                <a:latin typeface="Calibri" panose="020F0502020204030204" pitchFamily="34" charset="0"/>
                <a:cs typeface="Arial" panose="020B0604020202020204" pitchFamily="34" charset="0"/>
              </a:rPr>
              <a:t> and 19 or 21yo in other </a:t>
            </a:r>
            <a:r>
              <a:rPr lang="en-US" sz="1600" i="1" dirty="0">
                <a:latin typeface="Calibri" panose="020F0502020204030204" pitchFamily="34" charset="0"/>
                <a:cs typeface="Arial" panose="020B0604020202020204" pitchFamily="34" charset="0"/>
              </a:rPr>
              <a:t>jurisdictions in Canada)</a:t>
            </a: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pPr marL="342900" indent="-342900"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Being of sound mind at the time of signing;</a:t>
            </a:r>
          </a:p>
          <a:p>
            <a:pPr marL="342900" indent="-342900"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Valid and Legal Consideration for both parties;</a:t>
            </a:r>
          </a:p>
          <a:p>
            <a:pPr marL="342900" indent="-342900"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A legal scope of work; and,</a:t>
            </a:r>
          </a:p>
          <a:p>
            <a:pPr marL="342900" indent="-342900"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Offer and acceptance.</a:t>
            </a: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7BC75-15CC-40FF-A254-D0DFD9CF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581BB8-0537-493B-86CB-0DBE414D6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10308"/>
            <a:ext cx="7200900" cy="52772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Calibri" panose="020F0502020204030204" pitchFamily="34" charset="0"/>
              </a:rPr>
              <a:t>Work Authorization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899592" y="1621345"/>
            <a:ext cx="7272858" cy="41148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Project management </a:t>
            </a:r>
            <a:r>
              <a:rPr lang="en-US" sz="2000" b="1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contracts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 also likely contain many of the following </a:t>
            </a:r>
            <a:r>
              <a:rPr lang="en-US" sz="1600" i="1" dirty="0">
                <a:latin typeface="Calibri" panose="020F0502020204030204" pitchFamily="34" charset="0"/>
                <a:cs typeface="Arial" panose="020B0604020202020204" pitchFamily="34" charset="0"/>
              </a:rPr>
              <a:t>(but not limited to)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0" indent="0" eaLnBrk="1" hangingPunct="1">
              <a:buFont typeface="Wingdings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Excusable delays;</a:t>
            </a:r>
          </a:p>
          <a:p>
            <a:pPr marL="0" indent="0" eaLnBrk="1" hangingPunct="1">
              <a:buFont typeface="Wingdings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Allowable costs;</a:t>
            </a:r>
          </a:p>
          <a:p>
            <a:pPr marL="0" indent="0" eaLnBrk="1" hangingPunct="1">
              <a:buFont typeface="Wingdings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Statements of liquidated damages </a:t>
            </a:r>
            <a:r>
              <a:rPr lang="en-US" sz="1600" i="1" dirty="0">
                <a:latin typeface="Calibri" panose="020F0502020204030204" pitchFamily="34" charset="0"/>
                <a:cs typeface="Arial" panose="020B0604020202020204" pitchFamily="34" charset="0"/>
              </a:rPr>
              <a:t>(non-performance clauses);</a:t>
            </a:r>
          </a:p>
          <a:p>
            <a:pPr marL="0" indent="0" eaLnBrk="1" hangingPunct="1">
              <a:buFont typeface="Wingdings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Criteria for Inspection;</a:t>
            </a:r>
          </a:p>
          <a:p>
            <a:pPr marL="0" indent="0" eaLnBrk="1" hangingPunct="1">
              <a:buFont typeface="Wingdings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Responsibility for correction of defects; and,</a:t>
            </a:r>
          </a:p>
          <a:p>
            <a:pPr marL="0" indent="0" eaLnBrk="1" hangingPunct="1">
              <a:buFont typeface="Wingdings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Dispute resolution mechanisms.</a:t>
            </a:r>
          </a:p>
          <a:p>
            <a:pPr marL="0" indent="0" eaLnBrk="1" hangingPunct="1">
              <a:buFontTx/>
              <a:buNone/>
            </a:pPr>
            <a:endParaRPr lang="en-US" sz="1800" dirty="0"/>
          </a:p>
          <a:p>
            <a:pPr marL="0" indent="0" eaLnBrk="1" hangingPunct="1">
              <a:buFontTx/>
              <a:buNone/>
            </a:pPr>
            <a:endParaRPr lang="en-US" sz="2000" dirty="0"/>
          </a:p>
          <a:p>
            <a:pPr marL="0" indent="0" eaLnBrk="1" hangingPunct="1">
              <a:buFontTx/>
              <a:buNone/>
            </a:pPr>
            <a:endParaRPr lang="en-US" sz="2000" dirty="0"/>
          </a:p>
          <a:p>
            <a:pPr marL="0" indent="0" eaLnBrk="1" hangingPunct="1">
              <a:buFontTx/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947E5-54F7-4FF2-B1CD-399F65BF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61969-AD4B-46C2-B595-AA38642CE61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AE54DF-D688-4510-BC93-91DC65FF6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G.R. Labbé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d Line Business 16x9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9 - Control circuit diagrams</Template>
  <TotalTime>9710</TotalTime>
  <Words>1674</Words>
  <Application>Microsoft Office PowerPoint</Application>
  <PresentationFormat>On-screen Show (4:3)</PresentationFormat>
  <Paragraphs>171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Wingdings</vt:lpstr>
      <vt:lpstr>Red Line Business 16x9</vt:lpstr>
      <vt:lpstr>work breakdown structures Lecture 5</vt:lpstr>
      <vt:lpstr>Work Breakdown Structure</vt:lpstr>
      <vt:lpstr>Work Breakdown Structure</vt:lpstr>
      <vt:lpstr>Hierarchical Structure</vt:lpstr>
      <vt:lpstr>structure View</vt:lpstr>
      <vt:lpstr>Tabular View</vt:lpstr>
      <vt:lpstr>Creating a wbs</vt:lpstr>
      <vt:lpstr>Design principles – 100% Rule</vt:lpstr>
      <vt:lpstr>Design principles – mutually exclusive</vt:lpstr>
      <vt:lpstr>Design principles – plan outcomes, not actions</vt:lpstr>
      <vt:lpstr>Design principles – level of detail</vt:lpstr>
      <vt:lpstr>Design principles – level of detail</vt:lpstr>
      <vt:lpstr>Why is the WBS so Important ?</vt:lpstr>
      <vt:lpstr>WBS Dictionary - explained</vt:lpstr>
      <vt:lpstr>WBS Dictionary</vt:lpstr>
      <vt:lpstr>WBS Dictionary </vt:lpstr>
      <vt:lpstr>WBS Dictionary exercise</vt:lpstr>
      <vt:lpstr>Work Authorization</vt:lpstr>
      <vt:lpstr>Work Authorization</vt:lpstr>
    </vt:vector>
  </TitlesOfParts>
  <Company>Siemens VDO Automotive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Ray Schott</dc:creator>
  <cp:lastModifiedBy>Ozlu, Sinan</cp:lastModifiedBy>
  <cp:revision>139</cp:revision>
  <cp:lastPrinted>2025-10-01T03:56:34Z</cp:lastPrinted>
  <dcterms:created xsi:type="dcterms:W3CDTF">2007-11-18T01:57:53Z</dcterms:created>
  <dcterms:modified xsi:type="dcterms:W3CDTF">2025-10-01T13:34:37Z</dcterms:modified>
</cp:coreProperties>
</file>