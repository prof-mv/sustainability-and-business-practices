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3" r:id="rId1"/>
  </p:sldMasterIdLst>
  <p:notesMasterIdLst>
    <p:notesMasterId r:id="rId39"/>
  </p:notesMasterIdLst>
  <p:sldIdLst>
    <p:sldId id="256" r:id="rId2"/>
    <p:sldId id="295" r:id="rId3"/>
    <p:sldId id="259" r:id="rId4"/>
    <p:sldId id="305" r:id="rId5"/>
    <p:sldId id="257" r:id="rId6"/>
    <p:sldId id="269" r:id="rId7"/>
    <p:sldId id="270" r:id="rId8"/>
    <p:sldId id="271" r:id="rId9"/>
    <p:sldId id="260" r:id="rId10"/>
    <p:sldId id="263" r:id="rId11"/>
    <p:sldId id="264" r:id="rId12"/>
    <p:sldId id="265" r:id="rId13"/>
    <p:sldId id="266" r:id="rId14"/>
    <p:sldId id="267" r:id="rId15"/>
    <p:sldId id="279" r:id="rId16"/>
    <p:sldId id="274" r:id="rId17"/>
    <p:sldId id="275" r:id="rId18"/>
    <p:sldId id="276" r:id="rId19"/>
    <p:sldId id="277" r:id="rId20"/>
    <p:sldId id="278"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301" r:id="rId37"/>
    <p:sldId id="302"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p:scale>
          <a:sx n="70" d="100"/>
          <a:sy n="70" d="100"/>
        </p:scale>
        <p:origin x="1810" y="25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924FAC-8984-4736-A7E6-597788088544}" type="datetimeFigureOut">
              <a:rPr lang="en-US" smtClean="0"/>
              <a:t>11/20/2024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0FBEE9-6ACC-4DF2-B7AC-85F5E7397634}" type="slidenum">
              <a:rPr lang="en-US" smtClean="0"/>
              <a:t>‹#›</a:t>
            </a:fld>
            <a:endParaRPr lang="en-US" dirty="0"/>
          </a:p>
        </p:txBody>
      </p:sp>
    </p:spTree>
    <p:extLst>
      <p:ext uri="{BB962C8B-B14F-4D97-AF65-F5344CB8AC3E}">
        <p14:creationId xmlns:p14="http://schemas.microsoft.com/office/powerpoint/2010/main" val="352619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a:t>
            </a:fld>
            <a:endParaRPr lang="en-US" dirty="0"/>
          </a:p>
        </p:txBody>
      </p:sp>
    </p:spTree>
    <p:extLst>
      <p:ext uri="{BB962C8B-B14F-4D97-AF65-F5344CB8AC3E}">
        <p14:creationId xmlns:p14="http://schemas.microsoft.com/office/powerpoint/2010/main" val="607290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3</a:t>
            </a:fld>
            <a:endParaRPr lang="en-US" dirty="0"/>
          </a:p>
        </p:txBody>
      </p:sp>
    </p:spTree>
    <p:extLst>
      <p:ext uri="{BB962C8B-B14F-4D97-AF65-F5344CB8AC3E}">
        <p14:creationId xmlns:p14="http://schemas.microsoft.com/office/powerpoint/2010/main" val="2878399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4</a:t>
            </a:fld>
            <a:endParaRPr lang="en-US" dirty="0"/>
          </a:p>
        </p:txBody>
      </p:sp>
    </p:spTree>
    <p:extLst>
      <p:ext uri="{BB962C8B-B14F-4D97-AF65-F5344CB8AC3E}">
        <p14:creationId xmlns:p14="http://schemas.microsoft.com/office/powerpoint/2010/main" val="3790749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5</a:t>
            </a:fld>
            <a:endParaRPr lang="en-US" dirty="0"/>
          </a:p>
        </p:txBody>
      </p:sp>
    </p:spTree>
    <p:extLst>
      <p:ext uri="{BB962C8B-B14F-4D97-AF65-F5344CB8AC3E}">
        <p14:creationId xmlns:p14="http://schemas.microsoft.com/office/powerpoint/2010/main" val="104761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6</a:t>
            </a:fld>
            <a:endParaRPr lang="en-US" dirty="0"/>
          </a:p>
        </p:txBody>
      </p:sp>
    </p:spTree>
    <p:extLst>
      <p:ext uri="{BB962C8B-B14F-4D97-AF65-F5344CB8AC3E}">
        <p14:creationId xmlns:p14="http://schemas.microsoft.com/office/powerpoint/2010/main" val="286050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7</a:t>
            </a:fld>
            <a:endParaRPr lang="en-US" dirty="0"/>
          </a:p>
        </p:txBody>
      </p:sp>
    </p:spTree>
    <p:extLst>
      <p:ext uri="{BB962C8B-B14F-4D97-AF65-F5344CB8AC3E}">
        <p14:creationId xmlns:p14="http://schemas.microsoft.com/office/powerpoint/2010/main" val="3794310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8</a:t>
            </a:fld>
            <a:endParaRPr lang="en-US" dirty="0"/>
          </a:p>
        </p:txBody>
      </p:sp>
    </p:spTree>
    <p:extLst>
      <p:ext uri="{BB962C8B-B14F-4D97-AF65-F5344CB8AC3E}">
        <p14:creationId xmlns:p14="http://schemas.microsoft.com/office/powerpoint/2010/main" val="2687902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9</a:t>
            </a:fld>
            <a:endParaRPr lang="en-US" dirty="0"/>
          </a:p>
        </p:txBody>
      </p:sp>
    </p:spTree>
    <p:extLst>
      <p:ext uri="{BB962C8B-B14F-4D97-AF65-F5344CB8AC3E}">
        <p14:creationId xmlns:p14="http://schemas.microsoft.com/office/powerpoint/2010/main" val="320848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10</a:t>
            </a:fld>
            <a:endParaRPr lang="en-US" dirty="0"/>
          </a:p>
        </p:txBody>
      </p:sp>
    </p:spTree>
    <p:extLst>
      <p:ext uri="{BB962C8B-B14F-4D97-AF65-F5344CB8AC3E}">
        <p14:creationId xmlns:p14="http://schemas.microsoft.com/office/powerpoint/2010/main" val="169561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11</a:t>
            </a:fld>
            <a:endParaRPr lang="en-US" dirty="0"/>
          </a:p>
        </p:txBody>
      </p:sp>
    </p:spTree>
    <p:extLst>
      <p:ext uri="{BB962C8B-B14F-4D97-AF65-F5344CB8AC3E}">
        <p14:creationId xmlns:p14="http://schemas.microsoft.com/office/powerpoint/2010/main" val="3731660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12</a:t>
            </a:fld>
            <a:endParaRPr lang="en-US" dirty="0"/>
          </a:p>
        </p:txBody>
      </p:sp>
    </p:spTree>
    <p:extLst>
      <p:ext uri="{BB962C8B-B14F-4D97-AF65-F5344CB8AC3E}">
        <p14:creationId xmlns:p14="http://schemas.microsoft.com/office/powerpoint/2010/main" val="3999428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13</a:t>
            </a:fld>
            <a:endParaRPr lang="en-US" dirty="0"/>
          </a:p>
        </p:txBody>
      </p:sp>
    </p:spTree>
    <p:extLst>
      <p:ext uri="{BB962C8B-B14F-4D97-AF65-F5344CB8AC3E}">
        <p14:creationId xmlns:p14="http://schemas.microsoft.com/office/powerpoint/2010/main" val="1685732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14</a:t>
            </a:fld>
            <a:endParaRPr lang="en-US" dirty="0"/>
          </a:p>
        </p:txBody>
      </p:sp>
    </p:spTree>
    <p:extLst>
      <p:ext uri="{BB962C8B-B14F-4D97-AF65-F5344CB8AC3E}">
        <p14:creationId xmlns:p14="http://schemas.microsoft.com/office/powerpoint/2010/main" val="3592643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15</a:t>
            </a:fld>
            <a:endParaRPr lang="en-US" dirty="0"/>
          </a:p>
        </p:txBody>
      </p:sp>
    </p:spTree>
    <p:extLst>
      <p:ext uri="{BB962C8B-B14F-4D97-AF65-F5344CB8AC3E}">
        <p14:creationId xmlns:p14="http://schemas.microsoft.com/office/powerpoint/2010/main" val="2550612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16</a:t>
            </a:fld>
            <a:endParaRPr lang="en-US" dirty="0"/>
          </a:p>
        </p:txBody>
      </p:sp>
    </p:spTree>
    <p:extLst>
      <p:ext uri="{BB962C8B-B14F-4D97-AF65-F5344CB8AC3E}">
        <p14:creationId xmlns:p14="http://schemas.microsoft.com/office/powerpoint/2010/main" val="4129022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17</a:t>
            </a:fld>
            <a:endParaRPr lang="en-US" dirty="0"/>
          </a:p>
        </p:txBody>
      </p:sp>
    </p:spTree>
    <p:extLst>
      <p:ext uri="{BB962C8B-B14F-4D97-AF65-F5344CB8AC3E}">
        <p14:creationId xmlns:p14="http://schemas.microsoft.com/office/powerpoint/2010/main" val="2553044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18</a:t>
            </a:fld>
            <a:endParaRPr lang="en-US" dirty="0"/>
          </a:p>
        </p:txBody>
      </p:sp>
    </p:spTree>
    <p:extLst>
      <p:ext uri="{BB962C8B-B14F-4D97-AF65-F5344CB8AC3E}">
        <p14:creationId xmlns:p14="http://schemas.microsoft.com/office/powerpoint/2010/main" val="348116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19</a:t>
            </a:fld>
            <a:endParaRPr lang="en-US" dirty="0"/>
          </a:p>
        </p:txBody>
      </p:sp>
    </p:spTree>
    <p:extLst>
      <p:ext uri="{BB962C8B-B14F-4D97-AF65-F5344CB8AC3E}">
        <p14:creationId xmlns:p14="http://schemas.microsoft.com/office/powerpoint/2010/main" val="914193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20</a:t>
            </a:fld>
            <a:endParaRPr lang="en-US" dirty="0"/>
          </a:p>
        </p:txBody>
      </p:sp>
    </p:spTree>
    <p:extLst>
      <p:ext uri="{BB962C8B-B14F-4D97-AF65-F5344CB8AC3E}">
        <p14:creationId xmlns:p14="http://schemas.microsoft.com/office/powerpoint/2010/main" val="3978942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21</a:t>
            </a:fld>
            <a:endParaRPr lang="en-US" dirty="0"/>
          </a:p>
        </p:txBody>
      </p:sp>
    </p:spTree>
    <p:extLst>
      <p:ext uri="{BB962C8B-B14F-4D97-AF65-F5344CB8AC3E}">
        <p14:creationId xmlns:p14="http://schemas.microsoft.com/office/powerpoint/2010/main" val="3493657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22</a:t>
            </a:fld>
            <a:endParaRPr lang="en-US" dirty="0"/>
          </a:p>
        </p:txBody>
      </p:sp>
    </p:spTree>
    <p:extLst>
      <p:ext uri="{BB962C8B-B14F-4D97-AF65-F5344CB8AC3E}">
        <p14:creationId xmlns:p14="http://schemas.microsoft.com/office/powerpoint/2010/main" val="369881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23</a:t>
            </a:fld>
            <a:endParaRPr lang="en-US" dirty="0"/>
          </a:p>
        </p:txBody>
      </p:sp>
    </p:spTree>
    <p:extLst>
      <p:ext uri="{BB962C8B-B14F-4D97-AF65-F5344CB8AC3E}">
        <p14:creationId xmlns:p14="http://schemas.microsoft.com/office/powerpoint/2010/main" val="1127135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24</a:t>
            </a:fld>
            <a:endParaRPr lang="en-US" dirty="0"/>
          </a:p>
        </p:txBody>
      </p:sp>
    </p:spTree>
    <p:extLst>
      <p:ext uri="{BB962C8B-B14F-4D97-AF65-F5344CB8AC3E}">
        <p14:creationId xmlns:p14="http://schemas.microsoft.com/office/powerpoint/2010/main" val="2385710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25</a:t>
            </a:fld>
            <a:endParaRPr lang="en-US" dirty="0"/>
          </a:p>
        </p:txBody>
      </p:sp>
    </p:spTree>
    <p:extLst>
      <p:ext uri="{BB962C8B-B14F-4D97-AF65-F5344CB8AC3E}">
        <p14:creationId xmlns:p14="http://schemas.microsoft.com/office/powerpoint/2010/main" val="25238168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26</a:t>
            </a:fld>
            <a:endParaRPr lang="en-US" dirty="0"/>
          </a:p>
        </p:txBody>
      </p:sp>
    </p:spTree>
    <p:extLst>
      <p:ext uri="{BB962C8B-B14F-4D97-AF65-F5344CB8AC3E}">
        <p14:creationId xmlns:p14="http://schemas.microsoft.com/office/powerpoint/2010/main" val="2147279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27</a:t>
            </a:fld>
            <a:endParaRPr lang="en-US" dirty="0"/>
          </a:p>
        </p:txBody>
      </p:sp>
    </p:spTree>
    <p:extLst>
      <p:ext uri="{BB962C8B-B14F-4D97-AF65-F5344CB8AC3E}">
        <p14:creationId xmlns:p14="http://schemas.microsoft.com/office/powerpoint/2010/main" val="1530260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28</a:t>
            </a:fld>
            <a:endParaRPr lang="en-US" dirty="0"/>
          </a:p>
        </p:txBody>
      </p:sp>
    </p:spTree>
    <p:extLst>
      <p:ext uri="{BB962C8B-B14F-4D97-AF65-F5344CB8AC3E}">
        <p14:creationId xmlns:p14="http://schemas.microsoft.com/office/powerpoint/2010/main" val="39165682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29</a:t>
            </a:fld>
            <a:endParaRPr lang="en-US" dirty="0"/>
          </a:p>
        </p:txBody>
      </p:sp>
    </p:spTree>
    <p:extLst>
      <p:ext uri="{BB962C8B-B14F-4D97-AF65-F5344CB8AC3E}">
        <p14:creationId xmlns:p14="http://schemas.microsoft.com/office/powerpoint/2010/main" val="8478765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30</a:t>
            </a:fld>
            <a:endParaRPr lang="en-US" dirty="0"/>
          </a:p>
        </p:txBody>
      </p:sp>
    </p:spTree>
    <p:extLst>
      <p:ext uri="{BB962C8B-B14F-4D97-AF65-F5344CB8AC3E}">
        <p14:creationId xmlns:p14="http://schemas.microsoft.com/office/powerpoint/2010/main" val="27461426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31</a:t>
            </a:fld>
            <a:endParaRPr lang="en-US" dirty="0"/>
          </a:p>
        </p:txBody>
      </p:sp>
    </p:spTree>
    <p:extLst>
      <p:ext uri="{BB962C8B-B14F-4D97-AF65-F5344CB8AC3E}">
        <p14:creationId xmlns:p14="http://schemas.microsoft.com/office/powerpoint/2010/main" val="22808358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32</a:t>
            </a:fld>
            <a:endParaRPr lang="en-US" dirty="0"/>
          </a:p>
        </p:txBody>
      </p:sp>
    </p:spTree>
    <p:extLst>
      <p:ext uri="{BB962C8B-B14F-4D97-AF65-F5344CB8AC3E}">
        <p14:creationId xmlns:p14="http://schemas.microsoft.com/office/powerpoint/2010/main" val="4070555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33</a:t>
            </a:fld>
            <a:endParaRPr lang="en-US" dirty="0"/>
          </a:p>
        </p:txBody>
      </p:sp>
    </p:spTree>
    <p:extLst>
      <p:ext uri="{BB962C8B-B14F-4D97-AF65-F5344CB8AC3E}">
        <p14:creationId xmlns:p14="http://schemas.microsoft.com/office/powerpoint/2010/main" val="22382981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34</a:t>
            </a:fld>
            <a:endParaRPr lang="en-US" dirty="0"/>
          </a:p>
        </p:txBody>
      </p:sp>
    </p:spTree>
    <p:extLst>
      <p:ext uri="{BB962C8B-B14F-4D97-AF65-F5344CB8AC3E}">
        <p14:creationId xmlns:p14="http://schemas.microsoft.com/office/powerpoint/2010/main" val="14432143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0FBEE9-6ACC-4DF2-B7AC-85F5E7397634}" type="slidenum">
              <a:rPr lang="en-US" smtClean="0"/>
              <a:t>35</a:t>
            </a:fld>
            <a:endParaRPr lang="en-US" dirty="0"/>
          </a:p>
        </p:txBody>
      </p:sp>
    </p:spTree>
    <p:extLst>
      <p:ext uri="{BB962C8B-B14F-4D97-AF65-F5344CB8AC3E}">
        <p14:creationId xmlns:p14="http://schemas.microsoft.com/office/powerpoint/2010/main" val="34561912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5" name="Footer Placeholder 4"/>
          <p:cNvSpPr>
            <a:spLocks noGrp="1"/>
          </p:cNvSpPr>
          <p:nvPr>
            <p:ph type="ftr" sz="quarter" idx="11"/>
          </p:nvPr>
        </p:nvSpPr>
        <p:spPr>
          <a:xfrm>
            <a:off x="2743973" y="5870576"/>
            <a:ext cx="3932137"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6" name="Slide Number Placeholder 5"/>
          <p:cNvSpPr>
            <a:spLocks noGrp="1"/>
          </p:cNvSpPr>
          <p:nvPr>
            <p:ph type="sldNum" sz="quarter" idx="12"/>
          </p:nvPr>
        </p:nvSpPr>
        <p:spPr>
          <a:xfrm>
            <a:off x="8040685" y="5870576"/>
            <a:ext cx="417516" cy="377825"/>
          </a:xfrm>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2676748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5" name="Footer Placeholder 4"/>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6" name="Slide Number Placeholder 5"/>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3121221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5" name="Footer Placeholder 4"/>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6" name="Slide Number Placeholder 5"/>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385832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6" name="Footer Placeholder 5"/>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7" name="Slide Number Placeholder 6"/>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2109137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8" name="Footer Placeholder 7"/>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9" name="Slide Number Placeholder 8"/>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221712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4" name="Footer Placeholder 3"/>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Slide Number Placeholder 4"/>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381099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3" name="Footer Placeholder 2"/>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Slide Number Placeholder 3"/>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256515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6" name="Footer Placeholder 5"/>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7" name="Slide Number Placeholder 6"/>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260387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dirty="0"/>
              <a:t>Click icon to add picture</a:t>
            </a:r>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6" name="Footer Placeholder 5"/>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7" name="Slide Number Placeholder 6"/>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1539069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dirty="0"/>
              <a:t>Click icon to add picture</a:t>
            </a:r>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fontAlgn="auto">
              <a:spcBef>
                <a:spcPts val="0"/>
              </a:spcBef>
              <a:spcAft>
                <a:spcPts val="0"/>
              </a:spcAft>
            </a:pPr>
            <a:r>
              <a:rPr lang="en-US">
                <a:solidFill>
                  <a:srgbClr val="C19859">
                    <a:lumMod val="20000"/>
                    <a:lumOff val="80000"/>
                  </a:srgbClr>
                </a:solidFill>
                <a:latin typeface="Century Gothic" panose="020B0502020202020204"/>
              </a:rPr>
              <a:t>Lecture 9</a:t>
            </a:r>
            <a:endParaRPr lang="en-US" dirty="0">
              <a:solidFill>
                <a:srgbClr val="C19859">
                  <a:lumMod val="20000"/>
                  <a:lumOff val="80000"/>
                </a:srgbClr>
              </a:solidFill>
              <a:latin typeface="Century Gothic" panose="020B0502020202020204"/>
            </a:endParaRPr>
          </a:p>
        </p:txBody>
      </p:sp>
      <p:sp>
        <p:nvSpPr>
          <p:cNvPr id="6" name="Footer Placeholder 5"/>
          <p:cNvSpPr>
            <a:spLocks noGrp="1"/>
          </p:cNvSpPr>
          <p:nvPr>
            <p:ph type="ftr" sz="quarter" idx="11"/>
          </p:nvPr>
        </p:nvSpPr>
        <p:spPr/>
        <p:txBody>
          <a:bodyPr/>
          <a:lstStyle/>
          <a:p>
            <a:pPr fontAlgn="auto">
              <a:spcBef>
                <a:spcPts val="0"/>
              </a:spcBef>
              <a:spcAft>
                <a:spcPts val="0"/>
              </a:spcAft>
            </a:pPr>
            <a:r>
              <a:rPr lang="en-CA">
                <a:solidFill>
                  <a:srgbClr val="C19859">
                    <a:lumMod val="20000"/>
                    <a:lumOff val="80000"/>
                  </a:srgbClr>
                </a:solidFill>
                <a:latin typeface="Century Gothic" panose="020B0502020202020204"/>
              </a:rPr>
              <a:t>G.R. Labbé</a:t>
            </a:r>
            <a:endParaRPr lang="en-US" dirty="0">
              <a:solidFill>
                <a:srgbClr val="C19859">
                  <a:lumMod val="20000"/>
                  <a:lumOff val="80000"/>
                </a:srgbClr>
              </a:solidFill>
              <a:latin typeface="Century Gothic" panose="020B0502020202020204"/>
            </a:endParaRPr>
          </a:p>
        </p:txBody>
      </p:sp>
      <p:sp>
        <p:nvSpPr>
          <p:cNvPr id="7" name="Slide Number Placeholder 6"/>
          <p:cNvSpPr>
            <a:spLocks noGrp="1"/>
          </p:cNvSpPr>
          <p:nvPr>
            <p:ph type="sldNum" sz="quarter" idx="12"/>
          </p:nvPr>
        </p:nvSpPr>
        <p:spPr/>
        <p:txBody>
          <a:bodyPr/>
          <a:lstStyle/>
          <a:p>
            <a:pPr fontAlgn="auto">
              <a:spcBef>
                <a:spcPts val="0"/>
              </a:spcBef>
              <a:spcAft>
                <a:spcPts val="0"/>
              </a:spcAft>
            </a:pPr>
            <a:fld id="{842422B5-12DA-40CC-AE4D-EB9F472458FF}" type="slidenum">
              <a:rPr lang="en-US" smtClean="0">
                <a:solidFill>
                  <a:srgbClr val="C19859">
                    <a:lumMod val="20000"/>
                    <a:lumOff val="80000"/>
                  </a:srgbClr>
                </a:solidFill>
                <a:latin typeface="Century Gothic" panose="020B0502020202020204"/>
              </a:rPr>
              <a:pPr fontAlgn="auto">
                <a:spcBef>
                  <a:spcPts val="0"/>
                </a:spcBef>
                <a:spcAft>
                  <a:spcPts val="0"/>
                </a:spcAft>
              </a:pPr>
              <a:t>‹#›</a:t>
            </a:fld>
            <a:endParaRPr lang="en-US" dirty="0">
              <a:solidFill>
                <a:srgbClr val="C19859">
                  <a:lumMod val="20000"/>
                  <a:lumOff val="80000"/>
                </a:srgbClr>
              </a:solidFill>
              <a:latin typeface="Century Gothic" panose="020B0502020202020204"/>
            </a:endParaRPr>
          </a:p>
        </p:txBody>
      </p:sp>
    </p:spTree>
    <p:extLst>
      <p:ext uri="{BB962C8B-B14F-4D97-AF65-F5344CB8AC3E}">
        <p14:creationId xmlns:p14="http://schemas.microsoft.com/office/powerpoint/2010/main" val="1435573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auto">
              <a:spcBef>
                <a:spcPts val="0"/>
              </a:spcBef>
              <a:spcAft>
                <a:spcPts val="0"/>
              </a:spcAft>
            </a:pPr>
            <a:r>
              <a:rPr lang="en-US">
                <a:solidFill>
                  <a:srgbClr val="C19859">
                    <a:lumMod val="20000"/>
                    <a:lumOff val="80000"/>
                  </a:srgbClr>
                </a:solidFill>
                <a:latin typeface="Century Gothic" panose="020B0502020202020204"/>
              </a:rPr>
              <a:t>Lecture 9</a:t>
            </a:r>
            <a:endParaRPr lang="en-US" dirty="0">
              <a:solidFill>
                <a:srgbClr val="C19859">
                  <a:lumMod val="20000"/>
                  <a:lumOff val="80000"/>
                </a:srgbClr>
              </a:solidFill>
              <a:latin typeface="Century Gothic" panose="020B0502020202020204"/>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CA">
                <a:solidFill>
                  <a:srgbClr val="C19859">
                    <a:lumMod val="20000"/>
                    <a:lumOff val="80000"/>
                  </a:srgbClr>
                </a:solidFill>
                <a:latin typeface="Century Gothic" panose="020B0502020202020204"/>
              </a:rPr>
              <a:t>G.R. Labbé</a:t>
            </a:r>
            <a:endParaRPr lang="en-US" dirty="0">
              <a:solidFill>
                <a:srgbClr val="C19859">
                  <a:lumMod val="20000"/>
                  <a:lumOff val="80000"/>
                </a:srgbClr>
              </a:solidFill>
              <a:latin typeface="Century Gothic" panose="020B050202020202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842422B5-12DA-40CC-AE4D-EB9F472458FF}" type="slidenum">
              <a:rPr lang="en-US" smtClean="0">
                <a:solidFill>
                  <a:srgbClr val="C19859">
                    <a:lumMod val="20000"/>
                    <a:lumOff val="80000"/>
                  </a:srgbClr>
                </a:solidFill>
                <a:latin typeface="Century Gothic" panose="020B0502020202020204"/>
              </a:rPr>
              <a:pPr fontAlgn="auto">
                <a:spcBef>
                  <a:spcPts val="0"/>
                </a:spcBef>
                <a:spcAft>
                  <a:spcPts val="0"/>
                </a:spcAft>
              </a:pPr>
              <a:t>‹#›</a:t>
            </a:fld>
            <a:endParaRPr lang="en-US" dirty="0">
              <a:solidFill>
                <a:srgbClr val="C19859">
                  <a:lumMod val="20000"/>
                  <a:lumOff val="80000"/>
                </a:srgbClr>
              </a:solidFill>
              <a:latin typeface="Century Gothic" panose="020B0502020202020204"/>
            </a:endParaRPr>
          </a:p>
        </p:txBody>
      </p:sp>
    </p:spTree>
    <p:extLst>
      <p:ext uri="{BB962C8B-B14F-4D97-AF65-F5344CB8AC3E}">
        <p14:creationId xmlns:p14="http://schemas.microsoft.com/office/powerpoint/2010/main" val="4795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auto">
              <a:spcBef>
                <a:spcPts val="0"/>
              </a:spcBef>
              <a:spcAft>
                <a:spcPts val="0"/>
              </a:spcAft>
            </a:pPr>
            <a:r>
              <a:rPr lang="en-US">
                <a:solidFill>
                  <a:srgbClr val="C19859">
                    <a:lumMod val="20000"/>
                    <a:lumOff val="80000"/>
                  </a:srgbClr>
                </a:solidFill>
                <a:latin typeface="Century Gothic" panose="020B0502020202020204"/>
              </a:rPr>
              <a:t>Lecture 9</a:t>
            </a:r>
            <a:endParaRPr lang="en-US" dirty="0">
              <a:solidFill>
                <a:srgbClr val="C19859">
                  <a:lumMod val="20000"/>
                  <a:lumOff val="80000"/>
                </a:srgbClr>
              </a:solidFill>
              <a:latin typeface="Century Gothic" panose="020B0502020202020204"/>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CA">
                <a:solidFill>
                  <a:srgbClr val="C19859">
                    <a:lumMod val="20000"/>
                    <a:lumOff val="80000"/>
                  </a:srgbClr>
                </a:solidFill>
                <a:latin typeface="Century Gothic" panose="020B0502020202020204"/>
              </a:rPr>
              <a:t>G.R. Labbé</a:t>
            </a:r>
            <a:endParaRPr lang="en-US" dirty="0">
              <a:solidFill>
                <a:srgbClr val="C19859">
                  <a:lumMod val="20000"/>
                  <a:lumOff val="80000"/>
                </a:srgbClr>
              </a:solidFill>
              <a:latin typeface="Century Gothic" panose="020B050202020202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842422B5-12DA-40CC-AE4D-EB9F472458FF}" type="slidenum">
              <a:rPr lang="en-US" smtClean="0">
                <a:solidFill>
                  <a:srgbClr val="C19859">
                    <a:lumMod val="20000"/>
                    <a:lumOff val="80000"/>
                  </a:srgbClr>
                </a:solidFill>
                <a:latin typeface="Century Gothic" panose="020B0502020202020204"/>
              </a:rPr>
              <a:pPr fontAlgn="auto">
                <a:spcBef>
                  <a:spcPts val="0"/>
                </a:spcBef>
                <a:spcAft>
                  <a:spcPts val="0"/>
                </a:spcAft>
              </a:pPr>
              <a:t>‹#›</a:t>
            </a:fld>
            <a:endParaRPr lang="en-US" dirty="0">
              <a:solidFill>
                <a:srgbClr val="C19859">
                  <a:lumMod val="20000"/>
                  <a:lumOff val="80000"/>
                </a:srgbClr>
              </a:solidFill>
              <a:latin typeface="Century Gothic" panose="020B0502020202020204"/>
            </a:endParaRPr>
          </a:p>
        </p:txBody>
      </p:sp>
    </p:spTree>
    <p:extLst>
      <p:ext uri="{BB962C8B-B14F-4D97-AF65-F5344CB8AC3E}">
        <p14:creationId xmlns:p14="http://schemas.microsoft.com/office/powerpoint/2010/main" val="1427013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auto">
              <a:spcBef>
                <a:spcPts val="0"/>
              </a:spcBef>
              <a:spcAft>
                <a:spcPts val="0"/>
              </a:spcAft>
            </a:pPr>
            <a:r>
              <a:rPr lang="en-US">
                <a:solidFill>
                  <a:srgbClr val="C19859">
                    <a:lumMod val="20000"/>
                    <a:lumOff val="80000"/>
                  </a:srgbClr>
                </a:solidFill>
                <a:latin typeface="Century Gothic" panose="020B0502020202020204"/>
              </a:rPr>
              <a:t>Lecture 9</a:t>
            </a:r>
            <a:endParaRPr lang="en-US" dirty="0">
              <a:solidFill>
                <a:srgbClr val="C19859">
                  <a:lumMod val="20000"/>
                  <a:lumOff val="80000"/>
                </a:srgbClr>
              </a:solidFill>
              <a:latin typeface="Century Gothic" panose="020B0502020202020204"/>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CA">
                <a:solidFill>
                  <a:srgbClr val="C19859">
                    <a:lumMod val="20000"/>
                    <a:lumOff val="80000"/>
                  </a:srgbClr>
                </a:solidFill>
                <a:latin typeface="Century Gothic" panose="020B0502020202020204"/>
              </a:rPr>
              <a:t>G.R. Labbé</a:t>
            </a:r>
            <a:endParaRPr lang="en-US" dirty="0">
              <a:solidFill>
                <a:srgbClr val="C19859">
                  <a:lumMod val="20000"/>
                  <a:lumOff val="80000"/>
                </a:srgbClr>
              </a:solidFill>
              <a:latin typeface="Century Gothic" panose="020B050202020202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842422B5-12DA-40CC-AE4D-EB9F472458FF}" type="slidenum">
              <a:rPr lang="en-US" smtClean="0">
                <a:solidFill>
                  <a:srgbClr val="C19859">
                    <a:lumMod val="20000"/>
                    <a:lumOff val="80000"/>
                  </a:srgbClr>
                </a:solidFill>
                <a:latin typeface="Century Gothic" panose="020B0502020202020204"/>
              </a:rPr>
              <a:pPr fontAlgn="auto">
                <a:spcBef>
                  <a:spcPts val="0"/>
                </a:spcBef>
                <a:spcAft>
                  <a:spcPts val="0"/>
                </a:spcAft>
              </a:pPr>
              <a:t>‹#›</a:t>
            </a:fld>
            <a:endParaRPr lang="en-US" dirty="0">
              <a:solidFill>
                <a:srgbClr val="C19859">
                  <a:lumMod val="20000"/>
                  <a:lumOff val="80000"/>
                </a:srgbClr>
              </a:solidFill>
              <a:latin typeface="Century Gothic" panose="020B0502020202020204"/>
            </a:endParaRPr>
          </a:p>
        </p:txBody>
      </p:sp>
    </p:spTree>
    <p:extLst>
      <p:ext uri="{BB962C8B-B14F-4D97-AF65-F5344CB8AC3E}">
        <p14:creationId xmlns:p14="http://schemas.microsoft.com/office/powerpoint/2010/main" val="1941100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auto">
              <a:spcBef>
                <a:spcPts val="0"/>
              </a:spcBef>
              <a:spcAft>
                <a:spcPts val="0"/>
              </a:spcAft>
            </a:pPr>
            <a:r>
              <a:rPr lang="en-US">
                <a:solidFill>
                  <a:srgbClr val="C19859">
                    <a:lumMod val="20000"/>
                    <a:lumOff val="80000"/>
                  </a:srgbClr>
                </a:solidFill>
                <a:latin typeface="Century Gothic" panose="020B0502020202020204"/>
              </a:rPr>
              <a:t>Lecture 9</a:t>
            </a:r>
            <a:endParaRPr lang="en-US" dirty="0">
              <a:solidFill>
                <a:srgbClr val="C19859">
                  <a:lumMod val="20000"/>
                  <a:lumOff val="80000"/>
                </a:srgbClr>
              </a:solidFill>
              <a:latin typeface="Century Gothic" panose="020B0502020202020204"/>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CA">
                <a:solidFill>
                  <a:srgbClr val="C19859">
                    <a:lumMod val="20000"/>
                    <a:lumOff val="80000"/>
                  </a:srgbClr>
                </a:solidFill>
                <a:latin typeface="Century Gothic" panose="020B0502020202020204"/>
              </a:rPr>
              <a:t>G.R. Labbé</a:t>
            </a:r>
            <a:endParaRPr lang="en-US" dirty="0">
              <a:solidFill>
                <a:srgbClr val="C19859">
                  <a:lumMod val="20000"/>
                  <a:lumOff val="80000"/>
                </a:srgbClr>
              </a:solidFill>
              <a:latin typeface="Century Gothic" panose="020B050202020202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842422B5-12DA-40CC-AE4D-EB9F472458FF}" type="slidenum">
              <a:rPr lang="en-US" smtClean="0">
                <a:solidFill>
                  <a:srgbClr val="C19859">
                    <a:lumMod val="20000"/>
                    <a:lumOff val="80000"/>
                  </a:srgbClr>
                </a:solidFill>
                <a:latin typeface="Century Gothic" panose="020B0502020202020204"/>
              </a:rPr>
              <a:pPr fontAlgn="auto">
                <a:spcBef>
                  <a:spcPts val="0"/>
                </a:spcBef>
                <a:spcAft>
                  <a:spcPts val="0"/>
                </a:spcAft>
              </a:pPr>
              <a:t>‹#›</a:t>
            </a:fld>
            <a:endParaRPr lang="en-US" dirty="0">
              <a:solidFill>
                <a:srgbClr val="C19859">
                  <a:lumMod val="20000"/>
                  <a:lumOff val="80000"/>
                </a:srgbClr>
              </a:solidFill>
              <a:latin typeface="Century Gothic" panose="020B0502020202020204"/>
            </a:endParaRPr>
          </a:p>
        </p:txBody>
      </p:sp>
    </p:spTree>
    <p:extLst>
      <p:ext uri="{BB962C8B-B14F-4D97-AF65-F5344CB8AC3E}">
        <p14:creationId xmlns:p14="http://schemas.microsoft.com/office/powerpoint/2010/main" val="9723642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auto">
              <a:spcBef>
                <a:spcPts val="0"/>
              </a:spcBef>
              <a:spcAft>
                <a:spcPts val="0"/>
              </a:spcAft>
            </a:pPr>
            <a:r>
              <a:rPr lang="en-US">
                <a:solidFill>
                  <a:srgbClr val="C19859">
                    <a:lumMod val="20000"/>
                    <a:lumOff val="80000"/>
                  </a:srgbClr>
                </a:solidFill>
                <a:latin typeface="Century Gothic" panose="020B0502020202020204"/>
              </a:rPr>
              <a:t>Lecture 9</a:t>
            </a:r>
            <a:endParaRPr lang="en-US" dirty="0">
              <a:solidFill>
                <a:srgbClr val="C19859">
                  <a:lumMod val="20000"/>
                  <a:lumOff val="80000"/>
                </a:srgbClr>
              </a:solidFill>
              <a:latin typeface="Century Gothic" panose="020B0502020202020204"/>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CA">
                <a:solidFill>
                  <a:srgbClr val="C19859">
                    <a:lumMod val="20000"/>
                    <a:lumOff val="80000"/>
                  </a:srgbClr>
                </a:solidFill>
                <a:latin typeface="Century Gothic" panose="020B0502020202020204"/>
              </a:rPr>
              <a:t>G.R. Labbé</a:t>
            </a:r>
            <a:endParaRPr lang="en-US" dirty="0">
              <a:solidFill>
                <a:srgbClr val="C19859">
                  <a:lumMod val="20000"/>
                  <a:lumOff val="80000"/>
                </a:srgbClr>
              </a:solidFill>
              <a:latin typeface="Century Gothic" panose="020B050202020202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842422B5-12DA-40CC-AE4D-EB9F472458FF}" type="slidenum">
              <a:rPr lang="en-US" smtClean="0">
                <a:solidFill>
                  <a:srgbClr val="C19859">
                    <a:lumMod val="20000"/>
                    <a:lumOff val="80000"/>
                  </a:srgbClr>
                </a:solidFill>
                <a:latin typeface="Century Gothic" panose="020B0502020202020204"/>
              </a:rPr>
              <a:pPr fontAlgn="auto">
                <a:spcBef>
                  <a:spcPts val="0"/>
                </a:spcBef>
                <a:spcAft>
                  <a:spcPts val="0"/>
                </a:spcAft>
              </a:pPr>
              <a:t>‹#›</a:t>
            </a:fld>
            <a:endParaRPr lang="en-US" dirty="0">
              <a:solidFill>
                <a:srgbClr val="C19859">
                  <a:lumMod val="20000"/>
                  <a:lumOff val="80000"/>
                </a:srgbClr>
              </a:solidFill>
              <a:latin typeface="Century Gothic" panose="020B0502020202020204"/>
            </a:endParaRPr>
          </a:p>
        </p:txBody>
      </p:sp>
    </p:spTree>
    <p:extLst>
      <p:ext uri="{BB962C8B-B14F-4D97-AF65-F5344CB8AC3E}">
        <p14:creationId xmlns:p14="http://schemas.microsoft.com/office/powerpoint/2010/main" val="1736002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5" name="Footer Placeholder 4"/>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6" name="Slide Number Placeholder 5"/>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1957329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srgbClr val="C19859">
                    <a:lumMod val="20000"/>
                    <a:lumOff val="80000"/>
                  </a:srgbClr>
                </a:solidFill>
              </a:rPr>
              <a:t>Lecture 9</a:t>
            </a:r>
            <a:endParaRPr lang="en-US" dirty="0">
              <a:solidFill>
                <a:srgbClr val="C19859">
                  <a:lumMod val="20000"/>
                  <a:lumOff val="80000"/>
                </a:srgbClr>
              </a:solidFill>
            </a:endParaRPr>
          </a:p>
        </p:txBody>
      </p:sp>
      <p:sp>
        <p:nvSpPr>
          <p:cNvPr id="5" name="Footer Placeholder 4"/>
          <p:cNvSpPr>
            <a:spLocks noGrp="1"/>
          </p:cNvSpPr>
          <p:nvPr>
            <p:ph type="ftr" sz="quarter" idx="11"/>
          </p:nvPr>
        </p:nvSpPr>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6" name="Slide Number Placeholder 5"/>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a:t>
            </a:fld>
            <a:endParaRPr lang="en-US" dirty="0">
              <a:solidFill>
                <a:srgbClr val="C19859">
                  <a:lumMod val="20000"/>
                  <a:lumOff val="80000"/>
                </a:srgbClr>
              </a:solidFill>
            </a:endParaRPr>
          </a:p>
        </p:txBody>
      </p:sp>
    </p:spTree>
    <p:extLst>
      <p:ext uri="{BB962C8B-B14F-4D97-AF65-F5344CB8AC3E}">
        <p14:creationId xmlns:p14="http://schemas.microsoft.com/office/powerpoint/2010/main" val="3742874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fontAlgn="auto">
              <a:spcBef>
                <a:spcPts val="0"/>
              </a:spcBef>
              <a:spcAft>
                <a:spcPts val="0"/>
              </a:spcAft>
            </a:pPr>
            <a:r>
              <a:rPr lang="en-US">
                <a:solidFill>
                  <a:srgbClr val="C19859">
                    <a:lumMod val="20000"/>
                    <a:lumOff val="80000"/>
                  </a:srgbClr>
                </a:solidFill>
                <a:latin typeface="Century Gothic" panose="020B0502020202020204"/>
              </a:rPr>
              <a:t>Lecture 9</a:t>
            </a:r>
            <a:endParaRPr lang="en-US" dirty="0">
              <a:solidFill>
                <a:srgbClr val="C19859">
                  <a:lumMod val="20000"/>
                  <a:lumOff val="80000"/>
                </a:srgbClr>
              </a:solidFill>
              <a:latin typeface="Century Gothic" panose="020B0502020202020204"/>
            </a:endParaRPr>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fontAlgn="auto">
              <a:spcBef>
                <a:spcPts val="0"/>
              </a:spcBef>
              <a:spcAft>
                <a:spcPts val="0"/>
              </a:spcAft>
            </a:pPr>
            <a:r>
              <a:rPr lang="en-CA">
                <a:solidFill>
                  <a:srgbClr val="C19859">
                    <a:lumMod val="20000"/>
                    <a:lumOff val="80000"/>
                  </a:srgbClr>
                </a:solidFill>
                <a:latin typeface="Century Gothic" panose="020B0502020202020204"/>
              </a:rPr>
              <a:t>G.R. Labbé</a:t>
            </a:r>
            <a:endParaRPr lang="en-US" dirty="0">
              <a:solidFill>
                <a:srgbClr val="C19859">
                  <a:lumMod val="20000"/>
                  <a:lumOff val="80000"/>
                </a:srgbClr>
              </a:solidFill>
              <a:latin typeface="Century Gothic" panose="020B0502020202020204"/>
            </a:endParaRPr>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fontAlgn="auto">
              <a:spcBef>
                <a:spcPts val="0"/>
              </a:spcBef>
              <a:spcAft>
                <a:spcPts val="0"/>
              </a:spcAft>
            </a:pPr>
            <a:fld id="{842422B5-12DA-40CC-AE4D-EB9F472458FF}" type="slidenum">
              <a:rPr lang="en-US" smtClean="0">
                <a:solidFill>
                  <a:srgbClr val="C19859">
                    <a:lumMod val="20000"/>
                    <a:lumOff val="80000"/>
                  </a:srgbClr>
                </a:solidFill>
                <a:latin typeface="Century Gothic" panose="020B0502020202020204"/>
              </a:rPr>
              <a:pPr fontAlgn="auto">
                <a:spcBef>
                  <a:spcPts val="0"/>
                </a:spcBef>
                <a:spcAft>
                  <a:spcPts val="0"/>
                </a:spcAft>
              </a:pPr>
              <a:t>‹#›</a:t>
            </a:fld>
            <a:endParaRPr lang="en-US" dirty="0">
              <a:solidFill>
                <a:srgbClr val="C19859">
                  <a:lumMod val="20000"/>
                  <a:lumOff val="80000"/>
                </a:srgbClr>
              </a:solidFill>
              <a:latin typeface="Century Gothic" panose="020B0502020202020204"/>
            </a:endParaRPr>
          </a:p>
        </p:txBody>
      </p:sp>
    </p:spTree>
    <p:extLst>
      <p:ext uri="{BB962C8B-B14F-4D97-AF65-F5344CB8AC3E}">
        <p14:creationId xmlns:p14="http://schemas.microsoft.com/office/powerpoint/2010/main" val="3715059504"/>
      </p:ext>
    </p:extLst>
  </p:cSld>
  <p:clrMap bg1="dk1" tx1="lt1" bg2="dk2" tx2="lt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820637" y="3182166"/>
            <a:ext cx="4968552" cy="673107"/>
          </a:xfrm>
          <a:noFill/>
          <a:ln>
            <a:noFill/>
          </a:ln>
        </p:spPr>
        <p:txBody>
          <a:bodyPr>
            <a:normAutofit fontScale="90000"/>
          </a:bodyPr>
          <a:lstStyle/>
          <a:p>
            <a:pPr algn="ctr" eaLnBrk="1" hangingPunct="1"/>
            <a:br>
              <a:rPr lang="en-US" sz="2400" dirty="0">
                <a:ln w="0">
                  <a:solidFill>
                    <a:schemeClr val="tx1"/>
                  </a:solidFill>
                </a:ln>
                <a:solidFill>
                  <a:schemeClr val="bg2">
                    <a:lumMod val="10000"/>
                  </a:schemeClr>
                </a:solidFill>
              </a:rPr>
            </a:br>
            <a:br>
              <a:rPr lang="en-US" sz="2400" dirty="0">
                <a:ln w="0">
                  <a:solidFill>
                    <a:schemeClr val="tx1"/>
                  </a:solidFill>
                </a:ln>
                <a:solidFill>
                  <a:schemeClr val="bg2">
                    <a:lumMod val="10000"/>
                  </a:schemeClr>
                </a:solidFill>
              </a:rPr>
            </a:br>
            <a:br>
              <a:rPr lang="en-US" sz="2400" dirty="0">
                <a:ln w="0">
                  <a:solidFill>
                    <a:schemeClr val="tx1"/>
                  </a:solidFill>
                </a:ln>
                <a:solidFill>
                  <a:schemeClr val="bg2">
                    <a:lumMod val="10000"/>
                  </a:schemeClr>
                </a:solidFill>
              </a:rPr>
            </a:br>
            <a:br>
              <a:rPr lang="en-US" sz="2400" dirty="0">
                <a:ln w="0">
                  <a:solidFill>
                    <a:schemeClr val="tx1"/>
                  </a:solidFill>
                </a:ln>
                <a:solidFill>
                  <a:schemeClr val="bg2">
                    <a:lumMod val="10000"/>
                  </a:schemeClr>
                </a:solidFill>
              </a:rPr>
            </a:br>
            <a:br>
              <a:rPr lang="en-US" sz="2400" dirty="0">
                <a:ln w="0">
                  <a:solidFill>
                    <a:schemeClr val="tx1"/>
                  </a:solidFill>
                </a:ln>
                <a:solidFill>
                  <a:schemeClr val="bg2">
                    <a:lumMod val="10000"/>
                  </a:schemeClr>
                </a:solidFill>
              </a:rPr>
            </a:br>
            <a:r>
              <a:rPr lang="en-US" sz="3600" b="1" dirty="0">
                <a:ln w="0">
                  <a:solidFill>
                    <a:schemeClr val="tx1"/>
                  </a:solidFill>
                </a:ln>
                <a:solidFill>
                  <a:schemeClr val="tx1">
                    <a:lumMod val="95000"/>
                    <a:lumOff val="5000"/>
                  </a:schemeClr>
                </a:solidFill>
                <a:latin typeface="+mn-lt"/>
              </a:rPr>
              <a:t>Negotiation </a:t>
            </a:r>
            <a:br>
              <a:rPr lang="en-US" sz="3600" b="1" dirty="0">
                <a:ln w="0">
                  <a:solidFill>
                    <a:schemeClr val="tx1"/>
                  </a:solidFill>
                </a:ln>
                <a:solidFill>
                  <a:schemeClr val="tx1">
                    <a:lumMod val="95000"/>
                    <a:lumOff val="5000"/>
                  </a:schemeClr>
                </a:solidFill>
                <a:latin typeface="+mn-lt"/>
              </a:rPr>
            </a:br>
            <a:r>
              <a:rPr lang="en-US" sz="3600" b="1" dirty="0">
                <a:ln w="0">
                  <a:solidFill>
                    <a:schemeClr val="tx1"/>
                  </a:solidFill>
                </a:ln>
                <a:solidFill>
                  <a:schemeClr val="tx1">
                    <a:lumMod val="95000"/>
                    <a:lumOff val="5000"/>
                  </a:schemeClr>
                </a:solidFill>
                <a:latin typeface="+mn-lt"/>
              </a:rPr>
              <a:t>and </a:t>
            </a:r>
            <a:br>
              <a:rPr lang="en-US" sz="3600" b="1" dirty="0">
                <a:ln w="0">
                  <a:solidFill>
                    <a:schemeClr val="tx1"/>
                  </a:solidFill>
                </a:ln>
                <a:solidFill>
                  <a:schemeClr val="tx1">
                    <a:lumMod val="95000"/>
                    <a:lumOff val="5000"/>
                  </a:schemeClr>
                </a:solidFill>
                <a:latin typeface="+mn-lt"/>
              </a:rPr>
            </a:br>
            <a:r>
              <a:rPr lang="en-US" sz="3600" b="1" dirty="0">
                <a:ln w="0">
                  <a:solidFill>
                    <a:schemeClr val="tx1"/>
                  </a:solidFill>
                </a:ln>
                <a:solidFill>
                  <a:schemeClr val="tx1">
                    <a:lumMod val="95000"/>
                    <a:lumOff val="5000"/>
                  </a:schemeClr>
                </a:solidFill>
                <a:latin typeface="+mn-lt"/>
              </a:rPr>
              <a:t>Conflict Management</a:t>
            </a:r>
          </a:p>
        </p:txBody>
      </p:sp>
      <p:pic>
        <p:nvPicPr>
          <p:cNvPr id="1026" name="Picture 2" descr="http://www.texasrestaurantlaw.com/file/2009/10/red-blue-guys-shaking-hand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737" y="535873"/>
            <a:ext cx="3024335" cy="26462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community.vitechcorp.com/home/image.axd?picture=%2F2013%2F10%2Fholding_back.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4585" y="3992142"/>
            <a:ext cx="3505572" cy="21968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27584" y="4365104"/>
            <a:ext cx="3198643" cy="954107"/>
          </a:xfrm>
          <a:prstGeom prst="rect">
            <a:avLst/>
          </a:prstGeom>
          <a:noFill/>
        </p:spPr>
        <p:txBody>
          <a:bodyPr wrap="square" rtlCol="0">
            <a:spAutoFit/>
          </a:bodyPr>
          <a:lstStyle/>
          <a:p>
            <a:pPr algn="ctr"/>
            <a:r>
              <a:rPr lang="en-CA" sz="2800" b="1" dirty="0"/>
              <a:t>Lecture 10</a:t>
            </a:r>
          </a:p>
          <a:p>
            <a:pPr algn="ctr"/>
            <a:r>
              <a:rPr lang="en-CA" sz="2800" b="1" dirty="0"/>
              <a:t>MGMT-3105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044" y="476672"/>
            <a:ext cx="7772400" cy="515143"/>
          </a:xfrm>
        </p:spPr>
        <p:txBody>
          <a:bodyPr>
            <a:noAutofit/>
          </a:bodyPr>
          <a:lstStyle/>
          <a:p>
            <a:pPr algn="ctr"/>
            <a:r>
              <a:rPr lang="en-US" sz="3200" b="1" dirty="0">
                <a:latin typeface="+mn-lt"/>
              </a:rPr>
              <a:t>Negotiation and the project manager</a:t>
            </a:r>
          </a:p>
        </p:txBody>
      </p:sp>
      <p:sp>
        <p:nvSpPr>
          <p:cNvPr id="4" name="TextBox 3"/>
          <p:cNvSpPr txBox="1"/>
          <p:nvPr/>
        </p:nvSpPr>
        <p:spPr>
          <a:xfrm>
            <a:off x="542800" y="1124744"/>
            <a:ext cx="7992888" cy="6186309"/>
          </a:xfrm>
          <a:prstGeom prst="rect">
            <a:avLst/>
          </a:prstGeom>
          <a:noFill/>
        </p:spPr>
        <p:txBody>
          <a:bodyPr wrap="square" rtlCol="0">
            <a:spAutoFit/>
          </a:bodyPr>
          <a:lstStyle/>
          <a:p>
            <a:r>
              <a:rPr lang="en-US" dirty="0">
                <a:latin typeface="+mn-lt"/>
              </a:rPr>
              <a:t>As a Project Manager your daily activities will frequently involve negotiation. These negotiations will be conducted internal and external to the organization. You will negotiate for or with:</a:t>
            </a:r>
          </a:p>
          <a:p>
            <a:endParaRPr lang="en-US" dirty="0">
              <a:latin typeface="+mn-lt"/>
            </a:endParaRPr>
          </a:p>
          <a:p>
            <a:pPr marL="342900" indent="-342900">
              <a:buFont typeface="+mj-lt"/>
              <a:buAutoNum type="arabicPeriod"/>
            </a:pPr>
            <a:r>
              <a:rPr lang="en-US" dirty="0">
                <a:solidFill>
                  <a:srgbClr val="FFC000"/>
                </a:solidFill>
                <a:latin typeface="+mn-lt"/>
              </a:rPr>
              <a:t>Resources</a:t>
            </a:r>
          </a:p>
          <a:p>
            <a:pPr marL="1714500" lvl="3" indent="-342900">
              <a:buFont typeface="Arial" panose="020B0604020202020204" pitchFamily="34" charset="0"/>
              <a:buChar char="•"/>
            </a:pPr>
            <a:r>
              <a:rPr lang="en-US" dirty="0">
                <a:latin typeface="+mn-lt"/>
              </a:rPr>
              <a:t>Material</a:t>
            </a:r>
          </a:p>
          <a:p>
            <a:pPr marL="1714500" lvl="3" indent="-342900">
              <a:buFont typeface="Arial" panose="020B0604020202020204" pitchFamily="34" charset="0"/>
              <a:buChar char="•"/>
            </a:pPr>
            <a:r>
              <a:rPr lang="en-US" dirty="0">
                <a:latin typeface="+mn-lt"/>
              </a:rPr>
              <a:t>Time</a:t>
            </a:r>
          </a:p>
          <a:p>
            <a:pPr marL="1714500" lvl="3" indent="-342900">
              <a:buFont typeface="Arial" panose="020B0604020202020204" pitchFamily="34" charset="0"/>
              <a:buChar char="•"/>
            </a:pPr>
            <a:r>
              <a:rPr lang="en-US" dirty="0">
                <a:latin typeface="+mn-lt"/>
              </a:rPr>
              <a:t>Equipment</a:t>
            </a:r>
          </a:p>
          <a:p>
            <a:pPr marL="1714500" lvl="3" indent="-342900">
              <a:buFont typeface="Arial" panose="020B0604020202020204" pitchFamily="34" charset="0"/>
              <a:buChar char="•"/>
            </a:pPr>
            <a:r>
              <a:rPr lang="en-US" dirty="0">
                <a:latin typeface="+mn-lt"/>
              </a:rPr>
              <a:t>Money</a:t>
            </a:r>
          </a:p>
          <a:p>
            <a:pPr marL="1714500" lvl="3" indent="-342900">
              <a:buFont typeface="Arial" panose="020B0604020202020204" pitchFamily="34" charset="0"/>
              <a:buChar char="•"/>
            </a:pPr>
            <a:endParaRPr lang="en-US" dirty="0">
              <a:latin typeface="+mn-lt"/>
            </a:endParaRPr>
          </a:p>
          <a:p>
            <a:pPr marL="342900" indent="-342900">
              <a:buFont typeface="+mj-lt"/>
              <a:buAutoNum type="arabicPeriod"/>
            </a:pPr>
            <a:r>
              <a:rPr lang="en-US" dirty="0">
                <a:solidFill>
                  <a:srgbClr val="FFC000"/>
                </a:solidFill>
                <a:latin typeface="+mn-lt"/>
              </a:rPr>
              <a:t>Contractors</a:t>
            </a:r>
          </a:p>
          <a:p>
            <a:pPr marL="1714500" lvl="3" indent="-342900">
              <a:buFont typeface="Arial" panose="020B0604020202020204" pitchFamily="34" charset="0"/>
              <a:buChar char="•"/>
            </a:pPr>
            <a:r>
              <a:rPr lang="en-US" dirty="0">
                <a:latin typeface="+mn-lt"/>
              </a:rPr>
              <a:t>Costs</a:t>
            </a:r>
          </a:p>
          <a:p>
            <a:pPr marL="1714500" lvl="3" indent="-342900">
              <a:buFont typeface="Arial" panose="020B0604020202020204" pitchFamily="34" charset="0"/>
              <a:buChar char="•"/>
            </a:pPr>
            <a:r>
              <a:rPr lang="en-US" dirty="0">
                <a:latin typeface="+mn-lt"/>
              </a:rPr>
              <a:t>Delivery Schedules</a:t>
            </a:r>
          </a:p>
          <a:p>
            <a:pPr marL="1714500" lvl="3" indent="-342900">
              <a:buFont typeface="Arial" panose="020B0604020202020204" pitchFamily="34" charset="0"/>
              <a:buChar char="•"/>
            </a:pPr>
            <a:r>
              <a:rPr lang="en-US" dirty="0">
                <a:latin typeface="+mn-lt"/>
              </a:rPr>
              <a:t>Quality of Material</a:t>
            </a:r>
          </a:p>
          <a:p>
            <a:pPr marL="1714500" lvl="3" indent="-342900">
              <a:buFont typeface="Arial" panose="020B0604020202020204" pitchFamily="34" charset="0"/>
              <a:buChar char="•"/>
            </a:pPr>
            <a:r>
              <a:rPr lang="en-US" dirty="0">
                <a:latin typeface="+mn-lt"/>
              </a:rPr>
              <a:t>Hours of Work</a:t>
            </a:r>
          </a:p>
          <a:p>
            <a:pPr marL="1714500" lvl="3" indent="-342900">
              <a:buFont typeface="Arial" panose="020B0604020202020204" pitchFamily="34" charset="0"/>
              <a:buChar char="•"/>
            </a:pPr>
            <a:endParaRPr lang="en-US" dirty="0">
              <a:latin typeface="+mn-lt"/>
            </a:endParaRPr>
          </a:p>
          <a:p>
            <a:pPr marL="342900" indent="-342900">
              <a:buFont typeface="+mj-lt"/>
              <a:buAutoNum type="arabicPeriod"/>
            </a:pPr>
            <a:r>
              <a:rPr lang="en-US" dirty="0">
                <a:solidFill>
                  <a:srgbClr val="FFC000"/>
                </a:solidFill>
                <a:latin typeface="+mn-lt"/>
              </a:rPr>
              <a:t>Department Managers</a:t>
            </a:r>
          </a:p>
          <a:p>
            <a:pPr marL="1714500" lvl="3" indent="-342900">
              <a:buFont typeface="Arial" panose="020B0604020202020204" pitchFamily="34" charset="0"/>
              <a:buChar char="•"/>
            </a:pPr>
            <a:r>
              <a:rPr lang="en-US" dirty="0">
                <a:latin typeface="+mn-lt"/>
              </a:rPr>
              <a:t>Manpower</a:t>
            </a:r>
          </a:p>
          <a:p>
            <a:pPr marL="1714500" lvl="3" indent="-342900">
              <a:buFont typeface="Arial" panose="020B0604020202020204" pitchFamily="34" charset="0"/>
              <a:buChar char="•"/>
            </a:pPr>
            <a:r>
              <a:rPr lang="en-US" dirty="0">
                <a:latin typeface="+mn-lt"/>
              </a:rPr>
              <a:t>Schedules</a:t>
            </a:r>
          </a:p>
          <a:p>
            <a:pPr marL="1714500" lvl="3" indent="-342900">
              <a:buFont typeface="Arial" panose="020B0604020202020204" pitchFamily="34" charset="0"/>
              <a:buChar char="•"/>
            </a:pPr>
            <a:endParaRPr lang="en-US" dirty="0"/>
          </a:p>
          <a:p>
            <a:pPr lvl="3"/>
            <a:endParaRPr lang="en-US" dirty="0"/>
          </a:p>
          <a:p>
            <a:pPr lvl="3"/>
            <a:endParaRPr lang="en-US" dirty="0"/>
          </a:p>
        </p:txBody>
      </p:sp>
      <p:pic>
        <p:nvPicPr>
          <p:cNvPr id="1026" name="Picture 2" descr="http://decodingpeople.co.uk/images/Negotiat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57" y="2708920"/>
            <a:ext cx="3441544" cy="2581158"/>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3" name="Slide Number Placeholder 2"/>
          <p:cNvSpPr>
            <a:spLocks noGrp="1"/>
          </p:cNvSpPr>
          <p:nvPr>
            <p:ph type="sldNum" sz="quarter" idx="12"/>
          </p:nvPr>
        </p:nvSpPr>
        <p:spPr>
          <a:xfrm>
            <a:off x="8726484" y="6446044"/>
            <a:ext cx="417516" cy="377825"/>
          </a:xfrm>
        </p:spPr>
        <p:txBody>
          <a:bodyPr/>
          <a:lstStyle/>
          <a:p>
            <a:pPr algn="ctr"/>
            <a:fld id="{842422B5-12DA-40CC-AE4D-EB9F472458FF}" type="slidenum">
              <a:rPr lang="en-US" smtClean="0">
                <a:solidFill>
                  <a:srgbClr val="C19859">
                    <a:lumMod val="20000"/>
                    <a:lumOff val="80000"/>
                  </a:srgbClr>
                </a:solidFill>
              </a:rPr>
              <a:pPr algn="ctr"/>
              <a:t>2</a:t>
            </a:fld>
            <a:endParaRPr lang="en-US" dirty="0">
              <a:solidFill>
                <a:srgbClr val="C19859">
                  <a:lumMod val="20000"/>
                  <a:lumOff val="80000"/>
                </a:srgbClr>
              </a:solidFill>
            </a:endParaRPr>
          </a:p>
        </p:txBody>
      </p:sp>
      <p:sp>
        <p:nvSpPr>
          <p:cNvPr id="6" name="Footer Placeholder 5"/>
          <p:cNvSpPr>
            <a:spLocks noGrp="1"/>
          </p:cNvSpPr>
          <p:nvPr>
            <p:ph type="ftr" sz="quarter" idx="11"/>
          </p:nvPr>
        </p:nvSpPr>
        <p:spPr>
          <a:xfrm>
            <a:off x="773409" y="6446044"/>
            <a:ext cx="1738536"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7" name="Date Placeholder 6">
            <a:extLst>
              <a:ext uri="{FF2B5EF4-FFF2-40B4-BE49-F238E27FC236}">
                <a16:creationId xmlns:a16="http://schemas.microsoft.com/office/drawing/2014/main" id="{C28F24E4-1A9B-467E-AE72-A441BDA893CA}"/>
              </a:ext>
            </a:extLst>
          </p:cNvPr>
          <p:cNvSpPr>
            <a:spLocks noGrp="1"/>
          </p:cNvSpPr>
          <p:nvPr>
            <p:ph type="dt" sz="half" idx="10"/>
          </p:nvPr>
        </p:nvSpPr>
        <p:spPr>
          <a:xfrm>
            <a:off x="6831083" y="6480175"/>
            <a:ext cx="1212173" cy="377825"/>
          </a:xfrm>
        </p:spPr>
        <p:txBody>
          <a:bodyPr/>
          <a:lstStyle/>
          <a:p>
            <a:r>
              <a:rPr lang="en-US" dirty="0">
                <a:solidFill>
                  <a:srgbClr val="C19859">
                    <a:lumMod val="20000"/>
                    <a:lumOff val="80000"/>
                  </a:srgbClr>
                </a:solidFill>
              </a:rPr>
              <a:t>Lecture 10</a:t>
            </a:r>
          </a:p>
        </p:txBody>
      </p:sp>
    </p:spTree>
    <p:extLst>
      <p:ext uri="{BB962C8B-B14F-4D97-AF65-F5344CB8AC3E}">
        <p14:creationId xmlns:p14="http://schemas.microsoft.com/office/powerpoint/2010/main" val="20585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10952" y="606426"/>
            <a:ext cx="8064896" cy="1456267"/>
          </a:xfrm>
        </p:spPr>
        <p:txBody>
          <a:bodyPr>
            <a:normAutofit/>
          </a:bodyPr>
          <a:lstStyle/>
          <a:p>
            <a:pPr algn="ctr" eaLnBrk="1" hangingPunct="1"/>
            <a:r>
              <a:rPr lang="en-US" sz="3200" b="1" dirty="0">
                <a:latin typeface="+mn-lt"/>
              </a:rPr>
              <a:t>Negotiation</a:t>
            </a:r>
            <a:br>
              <a:rPr lang="en-US" sz="3200" b="1" dirty="0">
                <a:latin typeface="+mn-lt"/>
              </a:rPr>
            </a:br>
            <a:r>
              <a:rPr lang="en-US" sz="3200" b="1" dirty="0">
                <a:latin typeface="+mn-lt"/>
              </a:rPr>
              <a:t>Fundamentals of your Mindset</a:t>
            </a:r>
          </a:p>
        </p:txBody>
      </p:sp>
      <p:sp>
        <p:nvSpPr>
          <p:cNvPr id="6147" name="Rectangle 3"/>
          <p:cNvSpPr>
            <a:spLocks noGrp="1" noChangeArrowheads="1"/>
          </p:cNvSpPr>
          <p:nvPr>
            <p:ph idx="1"/>
          </p:nvPr>
        </p:nvSpPr>
        <p:spPr>
          <a:xfrm>
            <a:off x="611560" y="2150525"/>
            <a:ext cx="8217024" cy="3870763"/>
          </a:xfrm>
        </p:spPr>
        <p:txBody>
          <a:bodyPr>
            <a:noAutofit/>
          </a:bodyPr>
          <a:lstStyle/>
          <a:p>
            <a:pPr eaLnBrk="1" hangingPunct="1">
              <a:buFont typeface="Wingdings" pitchFamily="2" charset="2"/>
              <a:buChar char="v"/>
            </a:pPr>
            <a:r>
              <a:rPr lang="en-US" b="1" dirty="0"/>
              <a:t>Separate the </a:t>
            </a:r>
            <a:r>
              <a:rPr lang="en-US" b="1" dirty="0">
                <a:solidFill>
                  <a:srgbClr val="00B050"/>
                </a:solidFill>
              </a:rPr>
              <a:t>people</a:t>
            </a:r>
            <a:r>
              <a:rPr lang="en-US" b="1" dirty="0"/>
              <a:t> from the </a:t>
            </a:r>
            <a:r>
              <a:rPr lang="en-US" b="1" dirty="0">
                <a:solidFill>
                  <a:srgbClr val="00B050"/>
                </a:solidFill>
              </a:rPr>
              <a:t>problem</a:t>
            </a:r>
            <a:r>
              <a:rPr lang="en-US" dirty="0"/>
              <a:t>.  </a:t>
            </a:r>
          </a:p>
          <a:p>
            <a:pPr lvl="1">
              <a:buFont typeface="Wingdings" pitchFamily="2" charset="2"/>
              <a:buChar char="v"/>
            </a:pPr>
            <a:r>
              <a:rPr lang="en-US" sz="1800" dirty="0"/>
              <a:t>All of us have egos.  All of us have fears and insecurities. Don't tap into the other guys’.  You will throw both sides of the negotiation out of control.</a:t>
            </a:r>
          </a:p>
          <a:p>
            <a:pPr lvl="1">
              <a:buNone/>
            </a:pPr>
            <a:endParaRPr lang="en-US" sz="1800" dirty="0"/>
          </a:p>
          <a:p>
            <a:pPr eaLnBrk="1" hangingPunct="1">
              <a:buFont typeface="Wingdings" pitchFamily="2" charset="2"/>
              <a:buChar char="v"/>
            </a:pPr>
            <a:r>
              <a:rPr lang="en-US" b="1" dirty="0"/>
              <a:t>Stick to business.  </a:t>
            </a:r>
          </a:p>
          <a:p>
            <a:pPr lvl="1">
              <a:buFont typeface="Wingdings" pitchFamily="2" charset="2"/>
              <a:buChar char="v"/>
            </a:pPr>
            <a:r>
              <a:rPr lang="en-US" sz="1800" dirty="0"/>
              <a:t>Keep the personalities out of it. This is not the time for a </a:t>
            </a:r>
            <a:r>
              <a:rPr lang="en-US" sz="1800" dirty="0">
                <a:solidFill>
                  <a:srgbClr val="00B050"/>
                </a:solidFill>
              </a:rPr>
              <a:t>charm offensive</a:t>
            </a:r>
            <a:r>
              <a:rPr lang="en-US" sz="1800" dirty="0"/>
              <a:t>.  Nobody will buy it.</a:t>
            </a:r>
          </a:p>
          <a:p>
            <a:pPr lvl="1">
              <a:buNone/>
            </a:pPr>
            <a:endParaRPr lang="en-US" sz="1800" dirty="0"/>
          </a:p>
          <a:p>
            <a:pPr eaLnBrk="1" hangingPunct="1">
              <a:buFont typeface="Wingdings" pitchFamily="2" charset="2"/>
              <a:buChar char="v"/>
            </a:pPr>
            <a:r>
              <a:rPr lang="en-US" b="1" dirty="0"/>
              <a:t>Put yourself in their shoes. </a:t>
            </a:r>
          </a:p>
          <a:p>
            <a:pPr lvl="1">
              <a:buFont typeface="Wingdings" pitchFamily="2" charset="2"/>
              <a:buChar char="v"/>
            </a:pPr>
            <a:r>
              <a:rPr lang="en-US" sz="1800" dirty="0"/>
              <a:t>Nobody likes to be </a:t>
            </a:r>
            <a:r>
              <a:rPr lang="en-US" sz="1800" dirty="0">
                <a:solidFill>
                  <a:srgbClr val="00B050"/>
                </a:solidFill>
              </a:rPr>
              <a:t>directly attacked</a:t>
            </a:r>
            <a:r>
              <a:rPr lang="en-US" sz="1800" dirty="0"/>
              <a:t>. This is an extremely ineffective strategy      can is usually counter-productive.</a:t>
            </a:r>
          </a:p>
        </p:txBody>
      </p:sp>
      <p:sp>
        <p:nvSpPr>
          <p:cNvPr id="2" name="Slide Number Placeholder 1"/>
          <p:cNvSpPr>
            <a:spLocks noGrp="1"/>
          </p:cNvSpPr>
          <p:nvPr>
            <p:ph type="sldNum" sz="quarter" idx="12"/>
          </p:nvPr>
        </p:nvSpPr>
        <p:spPr>
          <a:xfrm>
            <a:off x="8696938" y="6480175"/>
            <a:ext cx="417516" cy="377825"/>
          </a:xfrm>
        </p:spPr>
        <p:txBody>
          <a:bodyPr/>
          <a:lstStyle/>
          <a:p>
            <a:pPr algn="ctr"/>
            <a:fld id="{842422B5-12DA-40CC-AE4D-EB9F472458FF}" type="slidenum">
              <a:rPr lang="en-US" smtClean="0">
                <a:solidFill>
                  <a:srgbClr val="C19859">
                    <a:lumMod val="20000"/>
                    <a:lumOff val="80000"/>
                  </a:srgbClr>
                </a:solidFill>
              </a:rPr>
              <a:pPr algn="ctr"/>
              <a:t>3</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70720" y="6480174"/>
            <a:ext cx="1713048"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D376157E-F01F-450F-BBC5-9B7129280010}"/>
              </a:ext>
            </a:extLst>
          </p:cNvPr>
          <p:cNvSpPr>
            <a:spLocks noGrp="1"/>
          </p:cNvSpPr>
          <p:nvPr>
            <p:ph type="dt" sz="half" idx="10"/>
          </p:nvPr>
        </p:nvSpPr>
        <p:spPr>
          <a:xfrm>
            <a:off x="7020272" y="6480173"/>
            <a:ext cx="1212173" cy="377825"/>
          </a:xfrm>
        </p:spPr>
        <p:txBody>
          <a:bodyPr/>
          <a:lstStyle/>
          <a:p>
            <a:r>
              <a:rPr lang="en-US" dirty="0">
                <a:solidFill>
                  <a:srgbClr val="C19859">
                    <a:lumMod val="20000"/>
                    <a:lumOff val="80000"/>
                  </a:srgbClr>
                </a:solidFill>
              </a:rPr>
              <a:t>Lecture 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fade">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147">
                                            <p:txEl>
                                              <p:pRg st="4" end="4"/>
                                            </p:txEl>
                                          </p:spTgt>
                                        </p:tgtEl>
                                        <p:attrNameLst>
                                          <p:attrName>style.visibility</p:attrName>
                                        </p:attrNameLst>
                                      </p:cBhvr>
                                      <p:to>
                                        <p:strVal val="visible"/>
                                      </p:to>
                                    </p:set>
                                    <p:animEffect transition="in" filter="fade">
                                      <p:cBhvr>
                                        <p:cTn id="12" dur="1000"/>
                                        <p:tgtEl>
                                          <p:spTgt spid="6147">
                                            <p:txEl>
                                              <p:pRg st="4" end="4"/>
                                            </p:txEl>
                                          </p:spTgt>
                                        </p:tgtEl>
                                      </p:cBhvr>
                                    </p:animEffect>
                                    <p:anim calcmode="lin" valueType="num">
                                      <p:cBhvr>
                                        <p:cTn id="13" dur="1000" fill="hold"/>
                                        <p:tgtEl>
                                          <p:spTgt spid="614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14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6147">
                                            <p:txEl>
                                              <p:pRg st="7" end="7"/>
                                            </p:txEl>
                                          </p:spTgt>
                                        </p:tgtEl>
                                        <p:attrNameLst>
                                          <p:attrName>style.visibility</p:attrName>
                                        </p:attrNameLst>
                                      </p:cBhvr>
                                      <p:to>
                                        <p:strVal val="visible"/>
                                      </p:to>
                                    </p:set>
                                    <p:animEffect transition="in" filter="circle(in)">
                                      <p:cBhvr>
                                        <p:cTn id="19" dur="2000"/>
                                        <p:tgtEl>
                                          <p:spTgt spid="6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77922" y="674837"/>
            <a:ext cx="8229600" cy="720130"/>
          </a:xfrm>
        </p:spPr>
        <p:txBody>
          <a:bodyPr>
            <a:normAutofit/>
          </a:bodyPr>
          <a:lstStyle/>
          <a:p>
            <a:pPr algn="ctr" eaLnBrk="1" hangingPunct="1"/>
            <a:r>
              <a:rPr lang="en-US" sz="3200" b="1" dirty="0">
                <a:latin typeface="+mn-lt"/>
                <a:cs typeface="Arial" panose="020B0604020202020204" pitchFamily="34" charset="0"/>
              </a:rPr>
              <a:t>Negotiation – The basics in getting ready</a:t>
            </a:r>
          </a:p>
        </p:txBody>
      </p:sp>
      <p:sp>
        <p:nvSpPr>
          <p:cNvPr id="7171" name="Rectangle 3"/>
          <p:cNvSpPr>
            <a:spLocks noGrp="1" noChangeArrowheads="1"/>
          </p:cNvSpPr>
          <p:nvPr>
            <p:ph idx="1"/>
          </p:nvPr>
        </p:nvSpPr>
        <p:spPr>
          <a:xfrm>
            <a:off x="477484" y="1628017"/>
            <a:ext cx="8229600" cy="4195081"/>
          </a:xfrm>
        </p:spPr>
        <p:txBody>
          <a:bodyPr>
            <a:normAutofit/>
          </a:bodyPr>
          <a:lstStyle/>
          <a:p>
            <a:pPr marL="228600" indent="-228600" eaLnBrk="1" hangingPunct="1">
              <a:buFont typeface="Wingdings" pitchFamily="2" charset="2"/>
              <a:buChar char="Ø"/>
            </a:pPr>
            <a:r>
              <a:rPr lang="en-US" sz="1900" b="1" dirty="0">
                <a:solidFill>
                  <a:srgbClr val="FFFF00"/>
                </a:solidFill>
                <a:cs typeface="Arial" panose="020B0604020202020204" pitchFamily="34" charset="0"/>
              </a:rPr>
              <a:t>Negotiations are win-win or no win.</a:t>
            </a:r>
          </a:p>
          <a:p>
            <a:pPr marL="228600" indent="-228600" eaLnBrk="1" hangingPunct="1">
              <a:buFont typeface="Wingdings" pitchFamily="2" charset="2"/>
              <a:buChar char="Ø"/>
            </a:pPr>
            <a:r>
              <a:rPr lang="en-US" sz="1900" dirty="0">
                <a:cs typeface="Arial" panose="020B0604020202020204" pitchFamily="34" charset="0"/>
              </a:rPr>
              <a:t>Talk money </a:t>
            </a:r>
            <a:r>
              <a:rPr lang="en-US" sz="1900" dirty="0">
                <a:solidFill>
                  <a:srgbClr val="00B050"/>
                </a:solidFill>
                <a:cs typeface="Arial" panose="020B0604020202020204" pitchFamily="34" charset="0"/>
              </a:rPr>
              <a:t>last</a:t>
            </a:r>
            <a:r>
              <a:rPr lang="en-US" sz="1900" dirty="0">
                <a:cs typeface="Arial" panose="020B0604020202020204" pitchFamily="34" charset="0"/>
              </a:rPr>
              <a:t> if possible.</a:t>
            </a:r>
          </a:p>
          <a:p>
            <a:pPr marL="228600" indent="-228600" eaLnBrk="1" hangingPunct="1">
              <a:buFont typeface="Wingdings" pitchFamily="2" charset="2"/>
              <a:buChar char="Ø"/>
            </a:pPr>
            <a:r>
              <a:rPr lang="en-US" sz="1900" dirty="0">
                <a:cs typeface="Arial" panose="020B0604020202020204" pitchFamily="34" charset="0"/>
              </a:rPr>
              <a:t>Negotiations always begin well in advance of the actual discussions.</a:t>
            </a:r>
          </a:p>
          <a:p>
            <a:pPr marL="228600" indent="-228600" eaLnBrk="1" hangingPunct="1">
              <a:buFont typeface="Wingdings" pitchFamily="2" charset="2"/>
              <a:buChar char="Ø"/>
            </a:pPr>
            <a:r>
              <a:rPr lang="en-US" sz="1900" dirty="0">
                <a:cs typeface="Arial" panose="020B0604020202020204" pitchFamily="34" charset="0"/>
              </a:rPr>
              <a:t>The most important thing to know about any negotiation you go into is </a:t>
            </a:r>
            <a:r>
              <a:rPr lang="en-US" sz="1900" dirty="0">
                <a:solidFill>
                  <a:srgbClr val="00B050"/>
                </a:solidFill>
                <a:cs typeface="Arial" panose="020B0604020202020204" pitchFamily="34" charset="0"/>
              </a:rPr>
              <a:t>what the other side wants</a:t>
            </a:r>
            <a:r>
              <a:rPr lang="en-US" sz="1900" dirty="0">
                <a:cs typeface="Arial" panose="020B0604020202020204" pitchFamily="34" charset="0"/>
              </a:rPr>
              <a:t> and </a:t>
            </a:r>
            <a:r>
              <a:rPr lang="en-US" sz="1900" dirty="0">
                <a:solidFill>
                  <a:srgbClr val="00B050"/>
                </a:solidFill>
                <a:cs typeface="Arial" panose="020B0604020202020204" pitchFamily="34" charset="0"/>
              </a:rPr>
              <a:t>how to give it to them</a:t>
            </a:r>
            <a:r>
              <a:rPr lang="en-US" sz="1900" dirty="0">
                <a:cs typeface="Arial" panose="020B0604020202020204" pitchFamily="34" charset="0"/>
              </a:rPr>
              <a:t>. You already know what you want.</a:t>
            </a:r>
          </a:p>
          <a:p>
            <a:pPr marL="228600" indent="-228600" eaLnBrk="1" hangingPunct="1">
              <a:buFont typeface="Wingdings" pitchFamily="2" charset="2"/>
              <a:buChar char="Ø"/>
            </a:pPr>
            <a:r>
              <a:rPr lang="en-US" sz="1900" b="1" dirty="0">
                <a:solidFill>
                  <a:srgbClr val="FFFF00"/>
                </a:solidFill>
                <a:cs typeface="Arial" panose="020B0604020202020204" pitchFamily="34" charset="0"/>
              </a:rPr>
              <a:t>Negotiations are not just about the money. They are about the complete compensation package.</a:t>
            </a:r>
            <a:endParaRPr lang="en-US" sz="2000" dirty="0">
              <a:latin typeface="Arial" panose="020B0604020202020204" pitchFamily="34" charset="0"/>
              <a:cs typeface="Arial" panose="020B0604020202020204" pitchFamily="34" charset="0"/>
            </a:endParaRPr>
          </a:p>
        </p:txBody>
      </p:sp>
      <p:sp>
        <p:nvSpPr>
          <p:cNvPr id="7173" name="Oval 5"/>
          <p:cNvSpPr>
            <a:spLocks noChangeArrowheads="1"/>
          </p:cNvSpPr>
          <p:nvPr/>
        </p:nvSpPr>
        <p:spPr bwMode="auto">
          <a:xfrm>
            <a:off x="107504" y="6220620"/>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07084" y="6483351"/>
            <a:ext cx="417516" cy="377825"/>
          </a:xfrm>
        </p:spPr>
        <p:txBody>
          <a:bodyPr/>
          <a:lstStyle/>
          <a:p>
            <a:pPr algn="ctr"/>
            <a:fld id="{842422B5-12DA-40CC-AE4D-EB9F472458FF}" type="slidenum">
              <a:rPr lang="en-US" smtClean="0">
                <a:solidFill>
                  <a:srgbClr val="C19859">
                    <a:lumMod val="20000"/>
                    <a:lumOff val="80000"/>
                  </a:srgbClr>
                </a:solidFill>
              </a:rPr>
              <a:pPr algn="ctr"/>
              <a:t>4</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40090" y="6474803"/>
            <a:ext cx="1728192"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A744975D-5BE5-4111-92B2-56A991EC2FD1}"/>
              </a:ext>
            </a:extLst>
          </p:cNvPr>
          <p:cNvSpPr>
            <a:spLocks noGrp="1"/>
          </p:cNvSpPr>
          <p:nvPr>
            <p:ph type="dt" sz="half" idx="10"/>
          </p:nvPr>
        </p:nvSpPr>
        <p:spPr>
          <a:xfrm>
            <a:off x="6948264" y="6474803"/>
            <a:ext cx="1212173" cy="377825"/>
          </a:xfrm>
        </p:spPr>
        <p:txBody>
          <a:bodyPr/>
          <a:lstStyle/>
          <a:p>
            <a:r>
              <a:rPr lang="en-US" dirty="0">
                <a:solidFill>
                  <a:srgbClr val="C19859">
                    <a:lumMod val="20000"/>
                    <a:lumOff val="80000"/>
                  </a:srgbClr>
                </a:solidFill>
              </a:rPr>
              <a:t>Lecture 10</a:t>
            </a:r>
          </a:p>
        </p:txBody>
      </p:sp>
    </p:spTree>
    <p:extLst>
      <p:ext uri="{BB962C8B-B14F-4D97-AF65-F5344CB8AC3E}">
        <p14:creationId xmlns:p14="http://schemas.microsoft.com/office/powerpoint/2010/main" val="147350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77484" y="267526"/>
            <a:ext cx="8229600" cy="720130"/>
          </a:xfrm>
        </p:spPr>
        <p:txBody>
          <a:bodyPr>
            <a:normAutofit/>
          </a:bodyPr>
          <a:lstStyle/>
          <a:p>
            <a:pPr algn="ctr" eaLnBrk="1" hangingPunct="1"/>
            <a:r>
              <a:rPr lang="en-US" sz="3200" b="1" dirty="0">
                <a:latin typeface="+mn-lt"/>
                <a:cs typeface="Arial" panose="020B0604020202020204" pitchFamily="34" charset="0"/>
              </a:rPr>
              <a:t>Negotiation – The basics in getting ready</a:t>
            </a:r>
          </a:p>
        </p:txBody>
      </p:sp>
      <p:sp>
        <p:nvSpPr>
          <p:cNvPr id="7171" name="Rectangle 3"/>
          <p:cNvSpPr>
            <a:spLocks noGrp="1" noChangeArrowheads="1"/>
          </p:cNvSpPr>
          <p:nvPr>
            <p:ph idx="1"/>
          </p:nvPr>
        </p:nvSpPr>
        <p:spPr>
          <a:xfrm>
            <a:off x="477484" y="975593"/>
            <a:ext cx="8229600" cy="3528938"/>
          </a:xfrm>
        </p:spPr>
        <p:txBody>
          <a:bodyPr>
            <a:normAutofit/>
          </a:bodyPr>
          <a:lstStyle/>
          <a:p>
            <a:pPr marL="228600" indent="-228600" eaLnBrk="1" hangingPunct="1">
              <a:buFont typeface="Wingdings" pitchFamily="2" charset="2"/>
              <a:buChar char="Ø"/>
            </a:pPr>
            <a:r>
              <a:rPr lang="en-US" sz="1900" dirty="0">
                <a:cs typeface="Arial" panose="020B0604020202020204" pitchFamily="34" charset="0"/>
              </a:rPr>
              <a:t>There are </a:t>
            </a:r>
            <a:r>
              <a:rPr lang="en-US" sz="1900" dirty="0">
                <a:solidFill>
                  <a:srgbClr val="00B050"/>
                </a:solidFill>
                <a:cs typeface="Arial" panose="020B0604020202020204" pitchFamily="34" charset="0"/>
              </a:rPr>
              <a:t>3 stages </a:t>
            </a:r>
            <a:r>
              <a:rPr lang="en-US" sz="1900" dirty="0">
                <a:cs typeface="Arial" panose="020B0604020202020204" pitchFamily="34" charset="0"/>
              </a:rPr>
              <a:t>in the negotiation process: </a:t>
            </a:r>
            <a:r>
              <a:rPr lang="en-US" sz="1900" dirty="0">
                <a:solidFill>
                  <a:srgbClr val="FFC000"/>
                </a:solidFill>
                <a:cs typeface="Arial" panose="020B0604020202020204" pitchFamily="34" charset="0"/>
              </a:rPr>
              <a:t>Before</a:t>
            </a:r>
            <a:r>
              <a:rPr lang="en-US" sz="1900" dirty="0">
                <a:cs typeface="Arial" panose="020B0604020202020204" pitchFamily="34" charset="0"/>
              </a:rPr>
              <a:t>, </a:t>
            </a:r>
            <a:r>
              <a:rPr lang="en-US" sz="1900" dirty="0">
                <a:solidFill>
                  <a:srgbClr val="FFC000"/>
                </a:solidFill>
                <a:cs typeface="Arial" panose="020B0604020202020204" pitchFamily="34" charset="0"/>
              </a:rPr>
              <a:t>During</a:t>
            </a:r>
            <a:r>
              <a:rPr lang="en-US" sz="1900" dirty="0">
                <a:cs typeface="Arial" panose="020B0604020202020204" pitchFamily="34" charset="0"/>
              </a:rPr>
              <a:t>, and </a:t>
            </a:r>
            <a:r>
              <a:rPr lang="en-US" sz="1900" dirty="0">
                <a:solidFill>
                  <a:srgbClr val="FFC000"/>
                </a:solidFill>
                <a:cs typeface="Arial" panose="020B0604020202020204" pitchFamily="34" charset="0"/>
              </a:rPr>
              <a:t>After</a:t>
            </a:r>
            <a:r>
              <a:rPr lang="en-US" sz="1900" dirty="0">
                <a:cs typeface="Arial" panose="020B0604020202020204" pitchFamily="34" charset="0"/>
              </a:rPr>
              <a:t>. </a:t>
            </a:r>
          </a:p>
          <a:p>
            <a:pPr marL="228600" indent="-228600" eaLnBrk="1" hangingPunct="1">
              <a:buFont typeface="Wingdings" pitchFamily="2" charset="2"/>
              <a:buChar char="Ø"/>
            </a:pPr>
            <a:r>
              <a:rPr lang="en-US" sz="1900" dirty="0">
                <a:solidFill>
                  <a:srgbClr val="FFC000"/>
                </a:solidFill>
                <a:cs typeface="Arial" panose="020B0604020202020204" pitchFamily="34" charset="0"/>
              </a:rPr>
              <a:t>Before</a:t>
            </a:r>
            <a:r>
              <a:rPr lang="en-US" sz="1900" dirty="0">
                <a:cs typeface="Arial" panose="020B0604020202020204" pitchFamily="34" charset="0"/>
              </a:rPr>
              <a:t> always should be the biggest stage.</a:t>
            </a:r>
          </a:p>
          <a:p>
            <a:pPr marL="228600" indent="-228600" eaLnBrk="1" hangingPunct="1">
              <a:buFontTx/>
              <a:buNone/>
            </a:pPr>
            <a:endParaRPr lang="en-US" sz="2000" dirty="0">
              <a:latin typeface="Arial" panose="020B0604020202020204" pitchFamily="34" charset="0"/>
              <a:cs typeface="Arial" panose="020B0604020202020204" pitchFamily="34" charset="0"/>
            </a:endParaRPr>
          </a:p>
        </p:txBody>
      </p:sp>
      <p:pic>
        <p:nvPicPr>
          <p:cNvPr id="7172" name="Picture 4"/>
          <p:cNvPicPr>
            <a:picLocks noChangeAspect="1" noChangeArrowheads="1"/>
          </p:cNvPicPr>
          <p:nvPr/>
        </p:nvPicPr>
        <p:blipFill>
          <a:blip r:embed="rId3" cstate="print"/>
          <a:srcRect/>
          <a:stretch>
            <a:fillRect/>
          </a:stretch>
        </p:blipFill>
        <p:spPr bwMode="auto">
          <a:xfrm>
            <a:off x="253200" y="3370963"/>
            <a:ext cx="8678168" cy="2200275"/>
          </a:xfrm>
          <a:prstGeom prst="rect">
            <a:avLst/>
          </a:prstGeom>
          <a:noFill/>
          <a:ln w="9525">
            <a:noFill/>
            <a:miter lim="800000"/>
            <a:headEnd/>
            <a:tailEnd/>
          </a:ln>
        </p:spPr>
      </p:pic>
      <p:sp>
        <p:nvSpPr>
          <p:cNvPr id="7173" name="Oval 5"/>
          <p:cNvSpPr>
            <a:spLocks noChangeArrowheads="1"/>
          </p:cNvSpPr>
          <p:nvPr/>
        </p:nvSpPr>
        <p:spPr bwMode="auto">
          <a:xfrm>
            <a:off x="107504" y="6220620"/>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07084" y="6483351"/>
            <a:ext cx="417516" cy="377825"/>
          </a:xfrm>
        </p:spPr>
        <p:txBody>
          <a:bodyPr/>
          <a:lstStyle/>
          <a:p>
            <a:pPr algn="ctr"/>
            <a:fld id="{842422B5-12DA-40CC-AE4D-EB9F472458FF}" type="slidenum">
              <a:rPr lang="en-US" smtClean="0">
                <a:solidFill>
                  <a:srgbClr val="C19859">
                    <a:lumMod val="20000"/>
                    <a:lumOff val="80000"/>
                  </a:srgbClr>
                </a:solidFill>
              </a:rPr>
              <a:pPr algn="ctr"/>
              <a:t>5</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40090" y="6474803"/>
            <a:ext cx="1728192"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A744975D-5BE5-4111-92B2-56A991EC2FD1}"/>
              </a:ext>
            </a:extLst>
          </p:cNvPr>
          <p:cNvSpPr>
            <a:spLocks noGrp="1"/>
          </p:cNvSpPr>
          <p:nvPr>
            <p:ph type="dt" sz="half" idx="10"/>
          </p:nvPr>
        </p:nvSpPr>
        <p:spPr>
          <a:xfrm>
            <a:off x="6948264" y="6474803"/>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76651" y="476672"/>
            <a:ext cx="8165851" cy="731168"/>
          </a:xfrm>
        </p:spPr>
        <p:txBody>
          <a:bodyPr>
            <a:noAutofit/>
          </a:bodyPr>
          <a:lstStyle/>
          <a:p>
            <a:pPr algn="ctr" eaLnBrk="1" hangingPunct="1"/>
            <a:r>
              <a:rPr lang="en-US" sz="3200" b="1" u="sng" dirty="0">
                <a:latin typeface="+mn-lt"/>
              </a:rPr>
              <a:t>Gather Information about</a:t>
            </a:r>
            <a:br>
              <a:rPr lang="en-US" sz="3200" b="1" u="sng" dirty="0">
                <a:latin typeface="+mn-lt"/>
              </a:rPr>
            </a:br>
            <a:r>
              <a:rPr lang="en-US" sz="3200" b="1" u="sng" dirty="0">
                <a:latin typeface="+mn-lt"/>
              </a:rPr>
              <a:t>the other side</a:t>
            </a:r>
          </a:p>
        </p:txBody>
      </p:sp>
      <p:sp>
        <p:nvSpPr>
          <p:cNvPr id="8195" name="Rectangle 3"/>
          <p:cNvSpPr>
            <a:spLocks noGrp="1" noChangeArrowheads="1"/>
          </p:cNvSpPr>
          <p:nvPr>
            <p:ph idx="1"/>
          </p:nvPr>
        </p:nvSpPr>
        <p:spPr>
          <a:xfrm>
            <a:off x="857251" y="1722285"/>
            <a:ext cx="7404653" cy="4395192"/>
          </a:xfrm>
        </p:spPr>
        <p:txBody>
          <a:bodyPr>
            <a:normAutofit/>
          </a:bodyPr>
          <a:lstStyle/>
          <a:p>
            <a:pPr marL="0" indent="0" eaLnBrk="1" hangingPunct="1">
              <a:lnSpc>
                <a:spcPct val="90000"/>
              </a:lnSpc>
            </a:pPr>
            <a:r>
              <a:rPr lang="en-US" sz="2000" dirty="0"/>
              <a:t>   </a:t>
            </a:r>
            <a:r>
              <a:rPr lang="en-US" dirty="0"/>
              <a:t>Vital interests</a:t>
            </a:r>
          </a:p>
          <a:p>
            <a:pPr marL="0" indent="0" eaLnBrk="1" hangingPunct="1">
              <a:lnSpc>
                <a:spcPct val="90000"/>
              </a:lnSpc>
            </a:pPr>
            <a:r>
              <a:rPr lang="en-US" dirty="0"/>
              <a:t>   Goals, costs, strategies, positions, needs</a:t>
            </a:r>
          </a:p>
          <a:p>
            <a:pPr marL="0" indent="0" eaLnBrk="1" hangingPunct="1">
              <a:lnSpc>
                <a:spcPct val="90000"/>
              </a:lnSpc>
            </a:pPr>
            <a:r>
              <a:rPr lang="en-US" dirty="0"/>
              <a:t>   Product strengths</a:t>
            </a:r>
          </a:p>
          <a:p>
            <a:pPr marL="0" indent="0" eaLnBrk="1" hangingPunct="1">
              <a:lnSpc>
                <a:spcPct val="90000"/>
              </a:lnSpc>
            </a:pPr>
            <a:r>
              <a:rPr lang="en-US" dirty="0"/>
              <a:t>   Concession patterns- are they predictable?</a:t>
            </a:r>
          </a:p>
          <a:p>
            <a:pPr marL="0" indent="0" eaLnBrk="1" hangingPunct="1">
              <a:lnSpc>
                <a:spcPct val="90000"/>
              </a:lnSpc>
            </a:pPr>
            <a:r>
              <a:rPr lang="en-US" dirty="0"/>
              <a:t>   Tactics – what has been their negotiating style </a:t>
            </a:r>
            <a:r>
              <a:rPr lang="en-US" dirty="0">
                <a:solidFill>
                  <a:srgbClr val="FFC000"/>
                </a:solidFill>
              </a:rPr>
              <a:t>previously</a:t>
            </a:r>
          </a:p>
          <a:p>
            <a:pPr marL="0" indent="0" eaLnBrk="1" hangingPunct="1">
              <a:lnSpc>
                <a:spcPct val="90000"/>
              </a:lnSpc>
            </a:pPr>
            <a:r>
              <a:rPr lang="en-US" dirty="0"/>
              <a:t>   Bottom line- what do they </a:t>
            </a:r>
            <a:r>
              <a:rPr lang="en-US" dirty="0">
                <a:solidFill>
                  <a:srgbClr val="FFC000"/>
                </a:solidFill>
              </a:rPr>
              <a:t>have to </a:t>
            </a:r>
            <a:r>
              <a:rPr lang="en-US" dirty="0"/>
              <a:t>agree?</a:t>
            </a:r>
          </a:p>
          <a:p>
            <a:pPr marL="0" indent="0" eaLnBrk="1" hangingPunct="1">
              <a:lnSpc>
                <a:spcPct val="90000"/>
              </a:lnSpc>
            </a:pPr>
            <a:r>
              <a:rPr lang="en-US" dirty="0"/>
              <a:t>   Corporate </a:t>
            </a:r>
            <a:r>
              <a:rPr lang="en-US" dirty="0">
                <a:solidFill>
                  <a:srgbClr val="FFC000"/>
                </a:solidFill>
              </a:rPr>
              <a:t>deadlines</a:t>
            </a:r>
            <a:r>
              <a:rPr lang="en-US" dirty="0"/>
              <a:t> and time constraints</a:t>
            </a:r>
          </a:p>
          <a:p>
            <a:pPr marL="0" indent="0" eaLnBrk="1" hangingPunct="1">
              <a:lnSpc>
                <a:spcPct val="90000"/>
              </a:lnSpc>
            </a:pPr>
            <a:r>
              <a:rPr lang="en-US" dirty="0"/>
              <a:t>   Budget – how much can they afford?</a:t>
            </a:r>
          </a:p>
          <a:p>
            <a:pPr marL="0" indent="0" eaLnBrk="1" hangingPunct="1">
              <a:lnSpc>
                <a:spcPct val="90000"/>
              </a:lnSpc>
            </a:pPr>
            <a:r>
              <a:rPr lang="en-US" dirty="0"/>
              <a:t>   Geographic limitations</a:t>
            </a:r>
          </a:p>
          <a:p>
            <a:pPr marL="0" indent="0" eaLnBrk="1" hangingPunct="1">
              <a:lnSpc>
                <a:spcPct val="90000"/>
              </a:lnSpc>
            </a:pPr>
            <a:endParaRPr lang="en-US" dirty="0"/>
          </a:p>
          <a:p>
            <a:pPr marL="0" indent="0" algn="ctr" eaLnBrk="1" hangingPunct="1">
              <a:lnSpc>
                <a:spcPct val="90000"/>
              </a:lnSpc>
              <a:buFontTx/>
              <a:buNone/>
            </a:pPr>
            <a:r>
              <a:rPr lang="en-US" dirty="0">
                <a:solidFill>
                  <a:srgbClr val="FFFF00"/>
                </a:solidFill>
              </a:rPr>
              <a:t>Also know your company’s position, the players in the negotiation, and who holds the power. </a:t>
            </a:r>
            <a:r>
              <a:rPr lang="en-US" b="1" dirty="0">
                <a:solidFill>
                  <a:srgbClr val="FFFF00"/>
                </a:solidFill>
              </a:rPr>
              <a:t>Note that people behind the scenes hold influence</a:t>
            </a:r>
            <a:r>
              <a:rPr lang="en-US" dirty="0">
                <a:solidFill>
                  <a:srgbClr val="FFFF00"/>
                </a:solidFill>
              </a:rPr>
              <a:t>.</a:t>
            </a:r>
          </a:p>
        </p:txBody>
      </p:sp>
      <p:sp>
        <p:nvSpPr>
          <p:cNvPr id="819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26484" y="6472465"/>
            <a:ext cx="417516" cy="377825"/>
          </a:xfrm>
        </p:spPr>
        <p:txBody>
          <a:bodyPr/>
          <a:lstStyle/>
          <a:p>
            <a:pPr algn="ctr"/>
            <a:fld id="{842422B5-12DA-40CC-AE4D-EB9F472458FF}" type="slidenum">
              <a:rPr lang="en-US" smtClean="0">
                <a:solidFill>
                  <a:srgbClr val="C19859">
                    <a:lumMod val="20000"/>
                    <a:lumOff val="80000"/>
                  </a:srgbClr>
                </a:solidFill>
              </a:rPr>
              <a:pPr algn="ctr"/>
              <a:t>6</a:t>
            </a:fld>
            <a:endParaRPr lang="en-US" dirty="0">
              <a:solidFill>
                <a:srgbClr val="C19859">
                  <a:lumMod val="20000"/>
                  <a:lumOff val="80000"/>
                </a:srgbClr>
              </a:solidFill>
            </a:endParaRPr>
          </a:p>
        </p:txBody>
      </p:sp>
      <mc:AlternateContent xmlns:mc="http://schemas.openxmlformats.org/markup-compatibility/2006" xmlns:a14="http://schemas.microsoft.com/office/drawing/2010/main">
        <mc:Choice Requires="a14">
          <p:sp>
            <p:nvSpPr>
              <p:cNvPr id="3" name="Footer Placeholder 2"/>
              <p:cNvSpPr>
                <a:spLocks noGrp="1"/>
              </p:cNvSpPr>
              <p:nvPr>
                <p:ph type="ftr" sz="quarter" idx="11"/>
              </p:nvPr>
            </p:nvSpPr>
            <p:spPr>
              <a:xfrm>
                <a:off x="683568" y="6457157"/>
                <a:ext cx="1634235"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mc:Choice>
        <mc:Fallback xmlns="">
          <p:sp>
            <p:nvSpPr>
              <p:cNvPr id="3" name="Footer Placeholder 2"/>
              <p:cNvSpPr>
                <a:spLocks noGrp="1" noRot="1" noChangeAspect="1" noMove="1" noResize="1" noEditPoints="1" noAdjustHandles="1" noChangeArrowheads="1" noChangeShapeType="1" noTextEdit="1"/>
              </p:cNvSpPr>
              <p:nvPr>
                <p:ph type="ftr" sz="quarter" idx="11"/>
              </p:nvPr>
            </p:nvSpPr>
            <p:spPr>
              <a:xfrm>
                <a:off x="683568" y="6457157"/>
                <a:ext cx="1634235" cy="377825"/>
              </a:xfrm>
              <a:blipFill rotWithShape="1">
                <a:blip r:embed="rId3"/>
                <a:stretch>
                  <a:fillRect/>
                </a:stretch>
              </a:blipFill>
            </p:spPr>
            <p:txBody>
              <a:bodyPr/>
              <a:lstStyle/>
              <a:p>
                <a:r>
                  <a:rPr lang="en-CA">
                    <a:noFill/>
                  </a:rPr>
                  <a:t> </a:t>
                </a:r>
              </a:p>
            </p:txBody>
          </p:sp>
        </mc:Fallback>
      </mc:AlternateContent>
      <p:sp>
        <p:nvSpPr>
          <p:cNvPr id="4" name="Date Placeholder 3">
            <a:extLst>
              <a:ext uri="{FF2B5EF4-FFF2-40B4-BE49-F238E27FC236}">
                <a16:creationId xmlns:a16="http://schemas.microsoft.com/office/drawing/2014/main" id="{142BF154-DA61-4F0F-8138-4D53CBA29AC7}"/>
              </a:ext>
            </a:extLst>
          </p:cNvPr>
          <p:cNvSpPr>
            <a:spLocks noGrp="1"/>
          </p:cNvSpPr>
          <p:nvPr>
            <p:ph type="dt" sz="half" idx="10"/>
          </p:nvPr>
        </p:nvSpPr>
        <p:spPr>
          <a:xfrm>
            <a:off x="6826199" y="6381328"/>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0" dur="500"/>
                                        <p:tgtEl>
                                          <p:spTgt spid="819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3" dur="500"/>
                                        <p:tgtEl>
                                          <p:spTgt spid="819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blinds(horizontal)">
                                      <p:cBhvr>
                                        <p:cTn id="16" dur="500"/>
                                        <p:tgtEl>
                                          <p:spTgt spid="8195">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blinds(horizontal)">
                                      <p:cBhvr>
                                        <p:cTn id="19" dur="500"/>
                                        <p:tgtEl>
                                          <p:spTgt spid="8195">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22" dur="500"/>
                                        <p:tgtEl>
                                          <p:spTgt spid="8195">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Effect transition="in" filter="blinds(horizontal)">
                                      <p:cBhvr>
                                        <p:cTn id="25" dur="500"/>
                                        <p:tgtEl>
                                          <p:spTgt spid="8195">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8195">
                                            <p:txEl>
                                              <p:pRg st="7" end="7"/>
                                            </p:txEl>
                                          </p:spTgt>
                                        </p:tgtEl>
                                        <p:attrNameLst>
                                          <p:attrName>style.visibility</p:attrName>
                                        </p:attrNameLst>
                                      </p:cBhvr>
                                      <p:to>
                                        <p:strVal val="visible"/>
                                      </p:to>
                                    </p:set>
                                    <p:animEffect transition="in" filter="blinds(horizontal)">
                                      <p:cBhvr>
                                        <p:cTn id="28" dur="500"/>
                                        <p:tgtEl>
                                          <p:spTgt spid="8195">
                                            <p:txEl>
                                              <p:pRg st="7" end="7"/>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8195">
                                            <p:txEl>
                                              <p:pRg st="8" end="8"/>
                                            </p:txEl>
                                          </p:spTgt>
                                        </p:tgtEl>
                                        <p:attrNameLst>
                                          <p:attrName>style.visibility</p:attrName>
                                        </p:attrNameLst>
                                      </p:cBhvr>
                                      <p:to>
                                        <p:strVal val="visible"/>
                                      </p:to>
                                    </p:set>
                                    <p:animEffect transition="in" filter="blinds(horizontal)">
                                      <p:cBhvr>
                                        <p:cTn id="31" dur="500"/>
                                        <p:tgtEl>
                                          <p:spTgt spid="8195">
                                            <p:txEl>
                                              <p:pRg st="8" end="8"/>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8195">
                                            <p:txEl>
                                              <p:pRg st="10" end="10"/>
                                            </p:txEl>
                                          </p:spTgt>
                                        </p:tgtEl>
                                        <p:attrNameLst>
                                          <p:attrName>style.visibility</p:attrName>
                                        </p:attrNameLst>
                                      </p:cBhvr>
                                      <p:to>
                                        <p:strVal val="visible"/>
                                      </p:to>
                                    </p:set>
                                    <p:animEffect transition="in" filter="blinds(horizontal)">
                                      <p:cBhvr>
                                        <p:cTn id="34" dur="500"/>
                                        <p:tgtEl>
                                          <p:spTgt spid="8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621966" y="692698"/>
            <a:ext cx="6338267" cy="659160"/>
          </a:xfrm>
        </p:spPr>
        <p:txBody>
          <a:bodyPr>
            <a:normAutofit/>
          </a:bodyPr>
          <a:lstStyle/>
          <a:p>
            <a:pPr algn="ctr" eaLnBrk="1" hangingPunct="1"/>
            <a:r>
              <a:rPr lang="en-US" sz="3200" b="1" u="sng" dirty="0">
                <a:latin typeface="+mn-lt"/>
              </a:rPr>
              <a:t>Develop Strategy</a:t>
            </a:r>
          </a:p>
        </p:txBody>
      </p:sp>
      <p:sp>
        <p:nvSpPr>
          <p:cNvPr id="9219" name="Rectangle 3"/>
          <p:cNvSpPr>
            <a:spLocks noGrp="1" noChangeArrowheads="1"/>
          </p:cNvSpPr>
          <p:nvPr>
            <p:ph idx="1"/>
          </p:nvPr>
        </p:nvSpPr>
        <p:spPr>
          <a:xfrm>
            <a:off x="899592" y="1604144"/>
            <a:ext cx="7783016" cy="4896543"/>
          </a:xfrm>
        </p:spPr>
        <p:txBody>
          <a:bodyPr>
            <a:normAutofit/>
          </a:bodyPr>
          <a:lstStyle/>
          <a:p>
            <a:pPr eaLnBrk="1" hangingPunct="1">
              <a:lnSpc>
                <a:spcPct val="90000"/>
              </a:lnSpc>
            </a:pPr>
            <a:r>
              <a:rPr lang="en-US" dirty="0">
                <a:solidFill>
                  <a:srgbClr val="FFC000"/>
                </a:solidFill>
                <a:cs typeface="Arial" panose="020B0604020202020204" pitchFamily="34" charset="0"/>
              </a:rPr>
              <a:t>Aim high</a:t>
            </a:r>
            <a:r>
              <a:rPr lang="en-US" dirty="0">
                <a:cs typeface="Arial" panose="020B0604020202020204" pitchFamily="34" charset="0"/>
              </a:rPr>
              <a:t>.  Aim for more than one possible scenario that is win-win. </a:t>
            </a:r>
          </a:p>
          <a:p>
            <a:pPr eaLnBrk="1" hangingPunct="1">
              <a:lnSpc>
                <a:spcPct val="90000"/>
              </a:lnSpc>
            </a:pPr>
            <a:r>
              <a:rPr lang="en-US" dirty="0">
                <a:cs typeface="Arial" panose="020B0604020202020204" pitchFamily="34" charset="0"/>
              </a:rPr>
              <a:t>Be realistic.</a:t>
            </a:r>
          </a:p>
          <a:p>
            <a:pPr eaLnBrk="1" hangingPunct="1">
              <a:lnSpc>
                <a:spcPct val="90000"/>
              </a:lnSpc>
            </a:pPr>
            <a:r>
              <a:rPr lang="en-US" dirty="0">
                <a:cs typeface="Arial" panose="020B0604020202020204" pitchFamily="34" charset="0"/>
              </a:rPr>
              <a:t>Arrange your objectives by </a:t>
            </a:r>
            <a:r>
              <a:rPr lang="en-US" dirty="0">
                <a:solidFill>
                  <a:srgbClr val="FFC000"/>
                </a:solidFill>
                <a:cs typeface="Arial" panose="020B0604020202020204" pitchFamily="34" charset="0"/>
              </a:rPr>
              <a:t>priority</a:t>
            </a:r>
            <a:r>
              <a:rPr lang="en-US" dirty="0">
                <a:cs typeface="Arial" panose="020B0604020202020204" pitchFamily="34" charset="0"/>
              </a:rPr>
              <a:t>.</a:t>
            </a:r>
          </a:p>
          <a:p>
            <a:pPr eaLnBrk="1" hangingPunct="1">
              <a:lnSpc>
                <a:spcPct val="90000"/>
              </a:lnSpc>
            </a:pPr>
            <a:r>
              <a:rPr lang="en-US" dirty="0">
                <a:cs typeface="Arial" panose="020B0604020202020204" pitchFamily="34" charset="0"/>
              </a:rPr>
              <a:t>Know your </a:t>
            </a:r>
            <a:r>
              <a:rPr lang="en-US" dirty="0">
                <a:solidFill>
                  <a:srgbClr val="FFC000"/>
                </a:solidFill>
                <a:cs typeface="Arial" panose="020B0604020202020204" pitchFamily="34" charset="0"/>
              </a:rPr>
              <a:t>bottom line</a:t>
            </a:r>
            <a:r>
              <a:rPr lang="en-US" dirty="0">
                <a:cs typeface="Arial" panose="020B0604020202020204" pitchFamily="34" charset="0"/>
              </a:rPr>
              <a:t>.</a:t>
            </a:r>
          </a:p>
          <a:p>
            <a:pPr eaLnBrk="1" hangingPunct="1">
              <a:lnSpc>
                <a:spcPct val="90000"/>
              </a:lnSpc>
            </a:pPr>
            <a:r>
              <a:rPr lang="en-US" dirty="0">
                <a:cs typeface="Arial" panose="020B0604020202020204" pitchFamily="34" charset="0"/>
              </a:rPr>
              <a:t>Are </a:t>
            </a:r>
            <a:r>
              <a:rPr lang="en-US" dirty="0">
                <a:solidFill>
                  <a:srgbClr val="FFC000"/>
                </a:solidFill>
                <a:cs typeface="Arial" panose="020B0604020202020204" pitchFamily="34" charset="0"/>
              </a:rPr>
              <a:t>deadlock</a:t>
            </a:r>
            <a:r>
              <a:rPr lang="en-US" dirty="0">
                <a:cs typeface="Arial" panose="020B0604020202020204" pitchFamily="34" charset="0"/>
              </a:rPr>
              <a:t> or </a:t>
            </a:r>
            <a:r>
              <a:rPr lang="en-US" dirty="0">
                <a:solidFill>
                  <a:srgbClr val="FFC000"/>
                </a:solidFill>
                <a:cs typeface="Arial" panose="020B0604020202020204" pitchFamily="34" charset="0"/>
              </a:rPr>
              <a:t>termination</a:t>
            </a:r>
            <a:r>
              <a:rPr lang="en-US" dirty="0">
                <a:cs typeface="Arial" panose="020B0604020202020204" pitchFamily="34" charset="0"/>
              </a:rPr>
              <a:t> options for you in the negotiation? Are they tolerable outcomes?</a:t>
            </a:r>
          </a:p>
          <a:p>
            <a:pPr eaLnBrk="1" hangingPunct="1">
              <a:lnSpc>
                <a:spcPct val="90000"/>
              </a:lnSpc>
            </a:pPr>
            <a:r>
              <a:rPr lang="en-US" dirty="0">
                <a:cs typeface="Arial" panose="020B0604020202020204" pitchFamily="34" charset="0"/>
              </a:rPr>
              <a:t>Which items are </a:t>
            </a:r>
            <a:r>
              <a:rPr lang="en-US" dirty="0">
                <a:solidFill>
                  <a:srgbClr val="FFC000"/>
                </a:solidFill>
                <a:cs typeface="Arial" panose="020B0604020202020204" pitchFamily="34" charset="0"/>
              </a:rPr>
              <a:t>necessary</a:t>
            </a:r>
            <a:r>
              <a:rPr lang="en-US" dirty="0">
                <a:cs typeface="Arial" panose="020B0604020202020204" pitchFamily="34" charset="0"/>
              </a:rPr>
              <a:t> and which items are </a:t>
            </a:r>
            <a:r>
              <a:rPr lang="en-US" dirty="0">
                <a:solidFill>
                  <a:srgbClr val="FFC000"/>
                </a:solidFill>
                <a:cs typeface="Arial" panose="020B0604020202020204" pitchFamily="34" charset="0"/>
              </a:rPr>
              <a:t>expendable</a:t>
            </a:r>
            <a:r>
              <a:rPr lang="en-US" dirty="0">
                <a:cs typeface="Arial" panose="020B0604020202020204" pitchFamily="34" charset="0"/>
              </a:rPr>
              <a:t> for you?</a:t>
            </a:r>
          </a:p>
          <a:p>
            <a:pPr eaLnBrk="1" hangingPunct="1">
              <a:lnSpc>
                <a:spcPct val="90000"/>
              </a:lnSpc>
            </a:pPr>
            <a:r>
              <a:rPr lang="en-US" dirty="0">
                <a:cs typeface="Arial" panose="020B0604020202020204" pitchFamily="34" charset="0"/>
              </a:rPr>
              <a:t>Have several red herrings available.</a:t>
            </a:r>
          </a:p>
          <a:p>
            <a:pPr eaLnBrk="1" hangingPunct="1">
              <a:lnSpc>
                <a:spcPct val="90000"/>
              </a:lnSpc>
            </a:pPr>
            <a:r>
              <a:rPr lang="en-US" dirty="0">
                <a:cs typeface="Arial" panose="020B0604020202020204" pitchFamily="34" charset="0"/>
              </a:rPr>
              <a:t>Have an idea how you are going to help the other side negotiate </a:t>
            </a:r>
            <a:r>
              <a:rPr lang="en-US" dirty="0">
                <a:solidFill>
                  <a:srgbClr val="FFC000"/>
                </a:solidFill>
                <a:cs typeface="Arial" panose="020B0604020202020204" pitchFamily="34" charset="0"/>
              </a:rPr>
              <a:t>within their organization</a:t>
            </a:r>
            <a:r>
              <a:rPr lang="en-US" dirty="0">
                <a:cs typeface="Arial" panose="020B0604020202020204" pitchFamily="34" charset="0"/>
              </a:rPr>
              <a:t>.</a:t>
            </a:r>
          </a:p>
          <a:p>
            <a:pPr eaLnBrk="1" hangingPunct="1">
              <a:lnSpc>
                <a:spcPct val="90000"/>
              </a:lnSpc>
            </a:pPr>
            <a:r>
              <a:rPr lang="en-US" dirty="0">
                <a:cs typeface="Arial" panose="020B0604020202020204" pitchFamily="34" charset="0"/>
              </a:rPr>
              <a:t>Determine where your interests and the other side's interests </a:t>
            </a:r>
            <a:r>
              <a:rPr lang="en-US" dirty="0">
                <a:solidFill>
                  <a:srgbClr val="FFC000"/>
                </a:solidFill>
                <a:cs typeface="Arial" panose="020B0604020202020204" pitchFamily="34" charset="0"/>
              </a:rPr>
              <a:t>intersect</a:t>
            </a:r>
            <a:r>
              <a:rPr lang="en-US" dirty="0">
                <a:cs typeface="Arial" panose="020B0604020202020204" pitchFamily="34" charset="0"/>
              </a:rPr>
              <a:t>.</a:t>
            </a:r>
          </a:p>
          <a:p>
            <a:pPr eaLnBrk="1" hangingPunct="1">
              <a:lnSpc>
                <a:spcPct val="90000"/>
              </a:lnSpc>
            </a:pPr>
            <a:r>
              <a:rPr lang="en-US" b="1" dirty="0">
                <a:solidFill>
                  <a:srgbClr val="FFFF00"/>
                </a:solidFill>
                <a:cs typeface="Arial" panose="020B0604020202020204" pitchFamily="34" charset="0"/>
              </a:rPr>
              <a:t>Anticipate and brainstorm what questions you might be asked and how to potentially deal with them.</a:t>
            </a:r>
          </a:p>
        </p:txBody>
      </p:sp>
      <p:sp>
        <p:nvSpPr>
          <p:cNvPr id="922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26484" y="6480175"/>
            <a:ext cx="417516" cy="377825"/>
          </a:xfrm>
        </p:spPr>
        <p:txBody>
          <a:bodyPr/>
          <a:lstStyle/>
          <a:p>
            <a:pPr algn="ctr"/>
            <a:fld id="{842422B5-12DA-40CC-AE4D-EB9F472458FF}" type="slidenum">
              <a:rPr lang="en-US" smtClean="0">
                <a:solidFill>
                  <a:srgbClr val="C19859">
                    <a:lumMod val="20000"/>
                    <a:lumOff val="80000"/>
                  </a:srgbClr>
                </a:solidFill>
              </a:rPr>
              <a:pPr algn="ctr"/>
              <a:t>7</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626489" y="6446044"/>
            <a:ext cx="1771662"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3FE4A5F5-7BCE-46D4-8950-E62F23AFCC56}"/>
              </a:ext>
            </a:extLst>
          </p:cNvPr>
          <p:cNvSpPr>
            <a:spLocks noGrp="1"/>
          </p:cNvSpPr>
          <p:nvPr>
            <p:ph type="dt" sz="half" idx="10"/>
          </p:nvPr>
        </p:nvSpPr>
        <p:spPr>
          <a:xfrm>
            <a:off x="7129798" y="6475890"/>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ox(in)">
                                      <p:cBhvr>
                                        <p:cTn id="7" dur="500"/>
                                        <p:tgtEl>
                                          <p:spTgt spid="9219">
                                            <p:txEl>
                                              <p:pRg st="0" end="0"/>
                                            </p:txEl>
                                          </p:spTgt>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box(in)">
                                      <p:cBhvr>
                                        <p:cTn id="11" dur="3000"/>
                                        <p:tgtEl>
                                          <p:spTgt spid="9219">
                                            <p:txEl>
                                              <p:pRg st="1" end="1"/>
                                            </p:txEl>
                                          </p:spTgt>
                                        </p:tgtEl>
                                      </p:cBhvr>
                                    </p:animEffect>
                                  </p:childTnLst>
                                </p:cTn>
                              </p:par>
                            </p:childTnLst>
                          </p:cTn>
                        </p:par>
                        <p:par>
                          <p:cTn id="12" fill="hold">
                            <p:stCondLst>
                              <p:cond delay="3500"/>
                            </p:stCondLst>
                            <p:childTnLst>
                              <p:par>
                                <p:cTn id="13" presetID="4" presetClass="entr" presetSubtype="16" fill="hold" nodeType="after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animEffect transition="in" filter="box(in)">
                                      <p:cBhvr>
                                        <p:cTn id="15" dur="3000"/>
                                        <p:tgtEl>
                                          <p:spTgt spid="9219">
                                            <p:txEl>
                                              <p:pRg st="2" end="2"/>
                                            </p:txEl>
                                          </p:spTgt>
                                        </p:tgtEl>
                                      </p:cBhvr>
                                    </p:animEffect>
                                  </p:childTnLst>
                                </p:cTn>
                              </p:par>
                            </p:childTnLst>
                          </p:cTn>
                        </p:par>
                        <p:par>
                          <p:cTn id="16" fill="hold">
                            <p:stCondLst>
                              <p:cond delay="6500"/>
                            </p:stCondLst>
                            <p:childTnLst>
                              <p:par>
                                <p:cTn id="17" presetID="4" presetClass="entr" presetSubtype="16" fill="hold" nodeType="after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animEffect transition="in" filter="box(in)">
                                      <p:cBhvr>
                                        <p:cTn id="19" dur="3000"/>
                                        <p:tgtEl>
                                          <p:spTgt spid="9219">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9219">
                                            <p:txEl>
                                              <p:pRg st="4" end="4"/>
                                            </p:txEl>
                                          </p:spTgt>
                                        </p:tgtEl>
                                        <p:attrNameLst>
                                          <p:attrName>style.visibility</p:attrName>
                                        </p:attrNameLst>
                                      </p:cBhvr>
                                      <p:to>
                                        <p:strVal val="visible"/>
                                      </p:to>
                                    </p:set>
                                    <p:animEffect transition="in" filter="box(in)">
                                      <p:cBhvr>
                                        <p:cTn id="24" dur="3000"/>
                                        <p:tgtEl>
                                          <p:spTgt spid="9219">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9219">
                                            <p:txEl>
                                              <p:pRg st="5" end="5"/>
                                            </p:txEl>
                                          </p:spTgt>
                                        </p:tgtEl>
                                        <p:attrNameLst>
                                          <p:attrName>style.visibility</p:attrName>
                                        </p:attrNameLst>
                                      </p:cBhvr>
                                      <p:to>
                                        <p:strVal val="visible"/>
                                      </p:to>
                                    </p:set>
                                    <p:animEffect transition="in" filter="box(in)">
                                      <p:cBhvr>
                                        <p:cTn id="29" dur="3000"/>
                                        <p:tgtEl>
                                          <p:spTgt spid="9219">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9219">
                                            <p:txEl>
                                              <p:pRg st="6" end="6"/>
                                            </p:txEl>
                                          </p:spTgt>
                                        </p:tgtEl>
                                        <p:attrNameLst>
                                          <p:attrName>style.visibility</p:attrName>
                                        </p:attrNameLst>
                                      </p:cBhvr>
                                      <p:to>
                                        <p:strVal val="visible"/>
                                      </p:to>
                                    </p:set>
                                    <p:animEffect transition="in" filter="box(in)">
                                      <p:cBhvr>
                                        <p:cTn id="34" dur="3000"/>
                                        <p:tgtEl>
                                          <p:spTgt spid="9219">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9219">
                                            <p:txEl>
                                              <p:pRg st="7" end="7"/>
                                            </p:txEl>
                                          </p:spTgt>
                                        </p:tgtEl>
                                        <p:attrNameLst>
                                          <p:attrName>style.visibility</p:attrName>
                                        </p:attrNameLst>
                                      </p:cBhvr>
                                      <p:to>
                                        <p:strVal val="visible"/>
                                      </p:to>
                                    </p:set>
                                    <p:animEffect transition="in" filter="box(in)">
                                      <p:cBhvr>
                                        <p:cTn id="39" dur="3000"/>
                                        <p:tgtEl>
                                          <p:spTgt spid="9219">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9219">
                                            <p:txEl>
                                              <p:pRg st="8" end="8"/>
                                            </p:txEl>
                                          </p:spTgt>
                                        </p:tgtEl>
                                        <p:attrNameLst>
                                          <p:attrName>style.visibility</p:attrName>
                                        </p:attrNameLst>
                                      </p:cBhvr>
                                      <p:to>
                                        <p:strVal val="visible"/>
                                      </p:to>
                                    </p:set>
                                    <p:animEffect transition="in" filter="box(in)">
                                      <p:cBhvr>
                                        <p:cTn id="44" dur="3000"/>
                                        <p:tgtEl>
                                          <p:spTgt spid="9219">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9219">
                                            <p:txEl>
                                              <p:pRg st="9" end="9"/>
                                            </p:txEl>
                                          </p:spTgt>
                                        </p:tgtEl>
                                        <p:attrNameLst>
                                          <p:attrName>style.visibility</p:attrName>
                                        </p:attrNameLst>
                                      </p:cBhvr>
                                      <p:to>
                                        <p:strVal val="visible"/>
                                      </p:to>
                                    </p:set>
                                    <p:animEffect transition="in" filter="box(in)">
                                      <p:cBhvr>
                                        <p:cTn id="49" dur="3000"/>
                                        <p:tgtEl>
                                          <p:spTgt spid="9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56926" y="548680"/>
            <a:ext cx="8272661" cy="587152"/>
          </a:xfrm>
        </p:spPr>
        <p:txBody>
          <a:bodyPr>
            <a:noAutofit/>
          </a:bodyPr>
          <a:lstStyle/>
          <a:p>
            <a:pPr algn="ctr" eaLnBrk="1" hangingPunct="1"/>
            <a:r>
              <a:rPr lang="en-US" sz="3200" b="1" dirty="0">
                <a:latin typeface="+mn-lt"/>
              </a:rPr>
              <a:t>Write your Negotiation Plan</a:t>
            </a:r>
            <a:br>
              <a:rPr lang="en-US" sz="3200" b="1" dirty="0">
                <a:latin typeface="+mn-lt"/>
              </a:rPr>
            </a:br>
            <a:r>
              <a:rPr lang="en-US" sz="3200" b="1" dirty="0">
                <a:latin typeface="+mn-lt"/>
              </a:rPr>
              <a:t>and Prepare an Agenda</a:t>
            </a:r>
          </a:p>
        </p:txBody>
      </p:sp>
      <p:sp>
        <p:nvSpPr>
          <p:cNvPr id="10243" name="Rectangle 3"/>
          <p:cNvSpPr>
            <a:spLocks noGrp="1" noChangeArrowheads="1"/>
          </p:cNvSpPr>
          <p:nvPr>
            <p:ph idx="1"/>
          </p:nvPr>
        </p:nvSpPr>
        <p:spPr>
          <a:xfrm>
            <a:off x="539551" y="1484784"/>
            <a:ext cx="8507413" cy="4915123"/>
          </a:xfrm>
        </p:spPr>
        <p:txBody>
          <a:bodyPr>
            <a:noAutofit/>
          </a:bodyPr>
          <a:lstStyle/>
          <a:p>
            <a:pPr marL="0" indent="0" eaLnBrk="1" hangingPunct="1">
              <a:buFontTx/>
              <a:buNone/>
            </a:pPr>
            <a:r>
              <a:rPr lang="en-US" i="1" dirty="0">
                <a:solidFill>
                  <a:srgbClr val="00B050"/>
                </a:solidFill>
              </a:rPr>
              <a:t>Your plan includes</a:t>
            </a:r>
            <a:r>
              <a:rPr lang="en-US" i="1" dirty="0"/>
              <a:t>:</a:t>
            </a:r>
          </a:p>
          <a:p>
            <a:pPr marL="342900" indent="-342900"/>
            <a:r>
              <a:rPr lang="en-US" dirty="0"/>
              <a:t>your interests, the interests you expect the other side to have,</a:t>
            </a:r>
          </a:p>
          <a:p>
            <a:pPr marL="342900" indent="-342900"/>
            <a:r>
              <a:rPr lang="en-US" dirty="0"/>
              <a:t>your desired outcomes, your estimates of the other sides desired outcomes,</a:t>
            </a:r>
          </a:p>
          <a:p>
            <a:pPr marL="342900" indent="-342900"/>
            <a:r>
              <a:rPr lang="en-US" dirty="0"/>
              <a:t>your authority limits in relation to possible outcomes, the other sides authority limits in relation to possible outcomes, </a:t>
            </a:r>
          </a:p>
          <a:p>
            <a:pPr marL="342900" indent="-342900"/>
            <a:r>
              <a:rPr lang="en-US" dirty="0"/>
              <a:t>any additional information either you or the other side might require such as a fact sheet.</a:t>
            </a:r>
          </a:p>
          <a:p>
            <a:pPr marL="0" indent="0" eaLnBrk="1" hangingPunct="1">
              <a:buFontTx/>
              <a:buNone/>
            </a:pPr>
            <a:r>
              <a:rPr lang="en-US" i="1" dirty="0">
                <a:solidFill>
                  <a:srgbClr val="00B050"/>
                </a:solidFill>
              </a:rPr>
              <a:t>Your agenda includes</a:t>
            </a:r>
            <a:r>
              <a:rPr lang="en-US" i="1" dirty="0"/>
              <a:t>:</a:t>
            </a:r>
          </a:p>
          <a:p>
            <a:pPr marL="342900" indent="-342900" eaLnBrk="1" hangingPunct="1">
              <a:buFont typeface="Arial" panose="020B0604020202020204" pitchFamily="34" charset="0"/>
              <a:buChar char="•"/>
            </a:pPr>
            <a:r>
              <a:rPr lang="en-US" dirty="0"/>
              <a:t>The goal of the meeting</a:t>
            </a:r>
          </a:p>
          <a:p>
            <a:pPr marL="342900" indent="-342900" eaLnBrk="1" hangingPunct="1">
              <a:buFont typeface="Arial" panose="020B0604020202020204" pitchFamily="34" charset="0"/>
              <a:buChar char="•"/>
            </a:pPr>
            <a:r>
              <a:rPr lang="en-US" dirty="0"/>
              <a:t>Published in advance </a:t>
            </a:r>
            <a:r>
              <a:rPr lang="en-US" i="1" dirty="0"/>
              <a:t>(if to your advantage duration of the meeting)</a:t>
            </a:r>
            <a:r>
              <a:rPr lang="en-US" dirty="0"/>
              <a:t>.</a:t>
            </a:r>
          </a:p>
          <a:p>
            <a:pPr marL="342900" indent="-342900" eaLnBrk="1" hangingPunct="1">
              <a:buFont typeface="Arial" panose="020B0604020202020204" pitchFamily="34" charset="0"/>
              <a:buChar char="•"/>
            </a:pPr>
            <a:r>
              <a:rPr lang="en-US" dirty="0"/>
              <a:t>The invitees</a:t>
            </a:r>
          </a:p>
          <a:p>
            <a:pPr marL="342900" indent="-342900" eaLnBrk="1" hangingPunct="1">
              <a:buFont typeface="Arial" panose="020B0604020202020204" pitchFamily="34" charset="0"/>
              <a:buChar char="•"/>
            </a:pPr>
            <a:r>
              <a:rPr lang="en-US" dirty="0"/>
              <a:t>The meeting location</a:t>
            </a:r>
          </a:p>
        </p:txBody>
      </p:sp>
      <p:sp>
        <p:nvSpPr>
          <p:cNvPr id="1024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18709" y="6463282"/>
            <a:ext cx="417516" cy="377825"/>
          </a:xfrm>
        </p:spPr>
        <p:txBody>
          <a:bodyPr/>
          <a:lstStyle/>
          <a:p>
            <a:pPr algn="ctr"/>
            <a:fld id="{842422B5-12DA-40CC-AE4D-EB9F472458FF}" type="slidenum">
              <a:rPr lang="en-US" smtClean="0">
                <a:solidFill>
                  <a:srgbClr val="C19859">
                    <a:lumMod val="20000"/>
                    <a:lumOff val="80000"/>
                  </a:srgbClr>
                </a:solidFill>
              </a:rPr>
              <a:pPr algn="ctr"/>
              <a:t>8</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51039"/>
            <a:ext cx="1728193"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9C24D97D-5D28-4C82-BD83-F4C427EC4080}"/>
              </a:ext>
            </a:extLst>
          </p:cNvPr>
          <p:cNvSpPr>
            <a:spLocks noGrp="1"/>
          </p:cNvSpPr>
          <p:nvPr>
            <p:ph type="dt" sz="half" idx="10"/>
          </p:nvPr>
        </p:nvSpPr>
        <p:spPr>
          <a:xfrm>
            <a:off x="6948264" y="6453030"/>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7" dur="500"/>
                                        <p:tgtEl>
                                          <p:spTgt spid="102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2" dur="500"/>
                                        <p:tgtEl>
                                          <p:spTgt spid="10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7" dur="500"/>
                                        <p:tgtEl>
                                          <p:spTgt spid="102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22" dur="500"/>
                                        <p:tgtEl>
                                          <p:spTgt spid="1024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27" dur="500"/>
                                        <p:tgtEl>
                                          <p:spTgt spid="1024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243">
                                            <p:txEl>
                                              <p:pRg st="6" end="6"/>
                                            </p:txEl>
                                          </p:spTgt>
                                        </p:tgtEl>
                                        <p:attrNameLst>
                                          <p:attrName>style.visibility</p:attrName>
                                        </p:attrNameLst>
                                      </p:cBhvr>
                                      <p:to>
                                        <p:strVal val="visible"/>
                                      </p:to>
                                    </p:set>
                                    <p:animEffect transition="in" filter="box(in)">
                                      <p:cBhvr>
                                        <p:cTn id="32" dur="500"/>
                                        <p:tgtEl>
                                          <p:spTgt spid="10243">
                                            <p:txEl>
                                              <p:pRg st="6" end="6"/>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10243">
                                            <p:txEl>
                                              <p:pRg st="7" end="7"/>
                                            </p:txEl>
                                          </p:spTgt>
                                        </p:tgtEl>
                                        <p:attrNameLst>
                                          <p:attrName>style.visibility</p:attrName>
                                        </p:attrNameLst>
                                      </p:cBhvr>
                                      <p:to>
                                        <p:strVal val="visible"/>
                                      </p:to>
                                    </p:set>
                                    <p:animEffect transition="in" filter="box(in)">
                                      <p:cBhvr>
                                        <p:cTn id="35" dur="500"/>
                                        <p:tgtEl>
                                          <p:spTgt spid="10243">
                                            <p:txEl>
                                              <p:pRg st="7" end="7"/>
                                            </p:txEl>
                                          </p:spTgt>
                                        </p:tgtEl>
                                      </p:cBhvr>
                                    </p:animEffect>
                                  </p:childTnLst>
                                </p:cTn>
                              </p:par>
                              <p:par>
                                <p:cTn id="36" presetID="4" presetClass="entr" presetSubtype="16" fill="hold" nodeType="withEffect">
                                  <p:stCondLst>
                                    <p:cond delay="0"/>
                                  </p:stCondLst>
                                  <p:childTnLst>
                                    <p:set>
                                      <p:cBhvr>
                                        <p:cTn id="37" dur="1" fill="hold">
                                          <p:stCondLst>
                                            <p:cond delay="0"/>
                                          </p:stCondLst>
                                        </p:cTn>
                                        <p:tgtEl>
                                          <p:spTgt spid="10243">
                                            <p:txEl>
                                              <p:pRg st="8" end="8"/>
                                            </p:txEl>
                                          </p:spTgt>
                                        </p:tgtEl>
                                        <p:attrNameLst>
                                          <p:attrName>style.visibility</p:attrName>
                                        </p:attrNameLst>
                                      </p:cBhvr>
                                      <p:to>
                                        <p:strVal val="visible"/>
                                      </p:to>
                                    </p:set>
                                    <p:animEffect transition="in" filter="box(in)">
                                      <p:cBhvr>
                                        <p:cTn id="38" dur="500"/>
                                        <p:tgtEl>
                                          <p:spTgt spid="10243">
                                            <p:txEl>
                                              <p:pRg st="8" end="8"/>
                                            </p:txEl>
                                          </p:spTgt>
                                        </p:tgtEl>
                                      </p:cBhvr>
                                    </p:animEffect>
                                  </p:childTnLst>
                                </p:cTn>
                              </p:par>
                              <p:par>
                                <p:cTn id="39" presetID="4" presetClass="entr" presetSubtype="16" fill="hold" nodeType="withEffect">
                                  <p:stCondLst>
                                    <p:cond delay="0"/>
                                  </p:stCondLst>
                                  <p:childTnLst>
                                    <p:set>
                                      <p:cBhvr>
                                        <p:cTn id="40" dur="1" fill="hold">
                                          <p:stCondLst>
                                            <p:cond delay="0"/>
                                          </p:stCondLst>
                                        </p:cTn>
                                        <p:tgtEl>
                                          <p:spTgt spid="10243">
                                            <p:txEl>
                                              <p:pRg st="9" end="9"/>
                                            </p:txEl>
                                          </p:spTgt>
                                        </p:tgtEl>
                                        <p:attrNameLst>
                                          <p:attrName>style.visibility</p:attrName>
                                        </p:attrNameLst>
                                      </p:cBhvr>
                                      <p:to>
                                        <p:strVal val="visible"/>
                                      </p:to>
                                    </p:set>
                                    <p:animEffect transition="in" filter="box(in)">
                                      <p:cBhvr>
                                        <p:cTn id="41" dur="500"/>
                                        <p:tgtEl>
                                          <p:spTgt spid="102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448606" y="685801"/>
            <a:ext cx="5789587" cy="1456267"/>
          </a:xfrm>
        </p:spPr>
        <p:txBody>
          <a:bodyPr>
            <a:normAutofit/>
          </a:bodyPr>
          <a:lstStyle/>
          <a:p>
            <a:pPr algn="ctr" eaLnBrk="1" hangingPunct="1"/>
            <a:r>
              <a:rPr lang="en-US" sz="3200" b="1" dirty="0">
                <a:latin typeface="+mn-lt"/>
              </a:rPr>
              <a:t>Negotiations - Questions</a:t>
            </a:r>
          </a:p>
        </p:txBody>
      </p:sp>
      <p:sp>
        <p:nvSpPr>
          <p:cNvPr id="11267" name="Rectangle 3"/>
          <p:cNvSpPr>
            <a:spLocks noGrp="1" noChangeArrowheads="1"/>
          </p:cNvSpPr>
          <p:nvPr>
            <p:ph idx="1"/>
          </p:nvPr>
        </p:nvSpPr>
        <p:spPr>
          <a:xfrm>
            <a:off x="827584" y="1916832"/>
            <a:ext cx="7772400" cy="3649133"/>
          </a:xfrm>
        </p:spPr>
        <p:txBody>
          <a:bodyPr>
            <a:normAutofit/>
          </a:bodyPr>
          <a:lstStyle/>
          <a:p>
            <a:pPr eaLnBrk="1" hangingPunct="1">
              <a:buFont typeface="Wingdings" pitchFamily="2" charset="2"/>
              <a:buChar char="v"/>
            </a:pPr>
            <a:r>
              <a:rPr lang="en-US" dirty="0"/>
              <a:t>When entering a negotiation, every negotiator needs to ask themselves 3 questions:</a:t>
            </a:r>
          </a:p>
          <a:p>
            <a:pPr lvl="1" eaLnBrk="1" hangingPunct="1">
              <a:buFont typeface="Wingdings" panose="05000000000000000000" pitchFamily="2" charset="2"/>
              <a:buChar char="ü"/>
            </a:pPr>
            <a:r>
              <a:rPr lang="en-US" sz="1800" dirty="0"/>
              <a:t>How much power do I have?</a:t>
            </a:r>
          </a:p>
          <a:p>
            <a:pPr lvl="1" eaLnBrk="1" hangingPunct="1">
              <a:buFont typeface="Wingdings" panose="05000000000000000000" pitchFamily="2" charset="2"/>
              <a:buChar char="ü"/>
            </a:pPr>
            <a:r>
              <a:rPr lang="en-US" sz="1800" dirty="0"/>
              <a:t>What sort of time pressures are there?</a:t>
            </a:r>
          </a:p>
          <a:p>
            <a:pPr lvl="1" eaLnBrk="1" hangingPunct="1">
              <a:buFont typeface="Wingdings" panose="05000000000000000000" pitchFamily="2" charset="2"/>
              <a:buChar char="ü"/>
            </a:pPr>
            <a:r>
              <a:rPr lang="en-US" sz="1800" dirty="0"/>
              <a:t>Do I trust my opponent?</a:t>
            </a:r>
          </a:p>
        </p:txBody>
      </p:sp>
      <p:sp>
        <p:nvSpPr>
          <p:cNvPr id="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07823" y="6446044"/>
            <a:ext cx="417516" cy="377825"/>
          </a:xfrm>
        </p:spPr>
        <p:txBody>
          <a:bodyPr/>
          <a:lstStyle/>
          <a:p>
            <a:pPr algn="ctr"/>
            <a:fld id="{842422B5-12DA-40CC-AE4D-EB9F472458FF}" type="slidenum">
              <a:rPr lang="en-US" smtClean="0">
                <a:solidFill>
                  <a:srgbClr val="C19859">
                    <a:lumMod val="20000"/>
                    <a:lumOff val="80000"/>
                  </a:srgbClr>
                </a:solidFill>
              </a:rPr>
              <a:pPr algn="ctr"/>
              <a:t>9</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56119"/>
            <a:ext cx="1872208"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98594DA5-8CF8-43D7-8FE0-83CBE996C940}"/>
              </a:ext>
            </a:extLst>
          </p:cNvPr>
          <p:cNvSpPr>
            <a:spLocks noGrp="1"/>
          </p:cNvSpPr>
          <p:nvPr>
            <p:ph type="dt" sz="half" idx="10"/>
          </p:nvPr>
        </p:nvSpPr>
        <p:spPr>
          <a:xfrm>
            <a:off x="6876256" y="6446043"/>
            <a:ext cx="1212173" cy="377825"/>
          </a:xfrm>
        </p:spPr>
        <p:txBody>
          <a:bodyPr/>
          <a:lstStyle/>
          <a:p>
            <a:r>
              <a:rPr lang="en-US" dirty="0">
                <a:solidFill>
                  <a:srgbClr val="C19859">
                    <a:lumMod val="20000"/>
                    <a:lumOff val="80000"/>
                  </a:srgbClr>
                </a:solidFill>
              </a:rPr>
              <a:t>Lecture 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animEffect transition="in" filter="fade">
                                      <p:cBhvr>
                                        <p:cTn id="7" dur="500"/>
                                        <p:tgtEl>
                                          <p:spTgt spid="112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267">
                                            <p:txEl>
                                              <p:pRg st="2" end="2"/>
                                            </p:txEl>
                                          </p:spTgt>
                                        </p:tgtEl>
                                        <p:attrNameLst>
                                          <p:attrName>style.visibility</p:attrName>
                                        </p:attrNameLst>
                                      </p:cBhvr>
                                      <p:to>
                                        <p:strVal val="visible"/>
                                      </p:to>
                                    </p:set>
                                    <p:anim calcmode="lin" valueType="num">
                                      <p:cBhvr additive="base">
                                        <p:cTn id="12"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1267">
                                            <p:txEl>
                                              <p:pRg st="3" end="3"/>
                                            </p:txEl>
                                          </p:spTgt>
                                        </p:tgtEl>
                                        <p:attrNameLst>
                                          <p:attrName>style.visibility</p:attrName>
                                        </p:attrNameLst>
                                      </p:cBhvr>
                                      <p:to>
                                        <p:strVal val="visible"/>
                                      </p:to>
                                    </p:set>
                                    <p:animEffect transition="in" filter="wipe(down)">
                                      <p:cBhvr>
                                        <p:cTn id="18" dur="500"/>
                                        <p:tgtEl>
                                          <p:spTgt spid="11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a:xfrm>
            <a:off x="1802102" y="609600"/>
            <a:ext cx="5514950" cy="443136"/>
          </a:xfrm>
          <a:noFill/>
        </p:spPr>
        <p:txBody>
          <a:bodyPr>
            <a:noAutofit/>
          </a:bodyPr>
          <a:lstStyle/>
          <a:p>
            <a:pPr algn="ctr"/>
            <a:r>
              <a:rPr lang="en-US" sz="3200" b="1" dirty="0">
                <a:latin typeface="+mn-lt"/>
              </a:rPr>
              <a:t>Negotiation - Questions</a:t>
            </a:r>
            <a:endParaRPr lang="en-US" sz="3200" b="1" dirty="0">
              <a:solidFill>
                <a:schemeClr val="tx1"/>
              </a:solidFill>
              <a:latin typeface="+mn-lt"/>
            </a:endParaRPr>
          </a:p>
        </p:txBody>
      </p:sp>
      <p:sp>
        <p:nvSpPr>
          <p:cNvPr id="9221" name="Rectangle 5"/>
          <p:cNvSpPr>
            <a:spLocks noGrp="1" noChangeArrowheads="1"/>
          </p:cNvSpPr>
          <p:nvPr>
            <p:ph idx="1"/>
          </p:nvPr>
        </p:nvSpPr>
        <p:spPr>
          <a:xfrm>
            <a:off x="857251" y="1473533"/>
            <a:ext cx="7404653" cy="4611216"/>
          </a:xfrm>
          <a:noFill/>
        </p:spPr>
        <p:txBody>
          <a:bodyPr>
            <a:noAutofit/>
          </a:bodyPr>
          <a:lstStyle/>
          <a:p>
            <a:pPr marL="0" indent="0" eaLnBrk="1" hangingPunct="1">
              <a:buFontTx/>
              <a:buNone/>
            </a:pPr>
            <a:r>
              <a:rPr lang="en-US" b="1" dirty="0">
                <a:solidFill>
                  <a:srgbClr val="FFFF00"/>
                </a:solidFill>
              </a:rPr>
              <a:t>Question:</a:t>
            </a:r>
            <a:r>
              <a:rPr lang="en-US" dirty="0">
                <a:solidFill>
                  <a:schemeClr val="tx2">
                    <a:lumMod val="10000"/>
                    <a:lumOff val="90000"/>
                  </a:schemeClr>
                </a:solidFill>
              </a:rPr>
              <a:t>	Who </a:t>
            </a:r>
            <a:r>
              <a:rPr lang="en-US" dirty="0">
                <a:solidFill>
                  <a:srgbClr val="00B050"/>
                </a:solidFill>
              </a:rPr>
              <a:t>controls a conversation</a:t>
            </a:r>
            <a:r>
              <a:rPr lang="en-US" dirty="0">
                <a:solidFill>
                  <a:schemeClr val="tx2">
                    <a:lumMod val="10000"/>
                    <a:lumOff val="90000"/>
                  </a:schemeClr>
                </a:solidFill>
              </a:rPr>
              <a:t>, generally?</a:t>
            </a:r>
            <a:endParaRPr lang="en-US" dirty="0">
              <a:solidFill>
                <a:schemeClr val="tx1"/>
              </a:solidFill>
            </a:endParaRPr>
          </a:p>
          <a:p>
            <a:pPr marL="0" indent="0" eaLnBrk="1" hangingPunct="1">
              <a:buFontTx/>
              <a:buNone/>
            </a:pPr>
            <a:endParaRPr lang="en-US" dirty="0"/>
          </a:p>
          <a:p>
            <a:pPr marL="0" indent="0" eaLnBrk="1" hangingPunct="1">
              <a:buFontTx/>
              <a:buNone/>
            </a:pPr>
            <a:r>
              <a:rPr lang="en-US" b="1" dirty="0">
                <a:solidFill>
                  <a:srgbClr val="FFFF00"/>
                </a:solidFill>
              </a:rPr>
              <a:t>Answer:</a:t>
            </a:r>
            <a:r>
              <a:rPr lang="en-US" dirty="0">
                <a:solidFill>
                  <a:schemeClr val="tx2">
                    <a:lumMod val="10000"/>
                    <a:lumOff val="90000"/>
                  </a:schemeClr>
                </a:solidFill>
              </a:rPr>
              <a:t>  		</a:t>
            </a:r>
            <a:r>
              <a:rPr lang="en-US" dirty="0"/>
              <a:t>Generally, </a:t>
            </a:r>
            <a:r>
              <a:rPr lang="en-US" dirty="0">
                <a:solidFill>
                  <a:srgbClr val="00B050"/>
                </a:solidFill>
              </a:rPr>
              <a:t>the person asking the questions</a:t>
            </a:r>
            <a:r>
              <a:rPr lang="en-US" dirty="0"/>
              <a:t>, because they 				control the </a:t>
            </a:r>
            <a:r>
              <a:rPr lang="en-US" dirty="0">
                <a:solidFill>
                  <a:srgbClr val="00B050"/>
                </a:solidFill>
              </a:rPr>
              <a:t>direction</a:t>
            </a:r>
            <a:r>
              <a:rPr lang="en-US" dirty="0"/>
              <a:t> of the conversation. You want to ask most 			of the questions in any negotiation regardless of your 					relative positions. </a:t>
            </a:r>
          </a:p>
          <a:p>
            <a:pPr marL="0" indent="0" eaLnBrk="1" hangingPunct="1">
              <a:buFontTx/>
              <a:buNone/>
            </a:pPr>
            <a:r>
              <a:rPr lang="en-US" dirty="0">
                <a:solidFill>
                  <a:srgbClr val="FFC000"/>
                </a:solidFill>
              </a:rPr>
              <a:t>For example, when negotiating your salary.</a:t>
            </a:r>
            <a:r>
              <a:rPr lang="en-US" dirty="0"/>
              <a:t> </a:t>
            </a:r>
          </a:p>
          <a:p>
            <a:pPr marL="0" indent="0" eaLnBrk="1" hangingPunct="1">
              <a:buFontTx/>
              <a:buNone/>
            </a:pPr>
            <a:r>
              <a:rPr lang="en-US" dirty="0"/>
              <a:t>			Remember also that people are conditioned from birth to 			</a:t>
            </a:r>
            <a:r>
              <a:rPr lang="en-US" dirty="0">
                <a:solidFill>
                  <a:srgbClr val="00B050"/>
                </a:solidFill>
              </a:rPr>
              <a:t>	answer questions</a:t>
            </a:r>
            <a:r>
              <a:rPr lang="en-US" dirty="0"/>
              <a:t>. They will provide useful information in a 			negotiation if you can think quickly regarding what to do next 			with what you are handed.</a:t>
            </a:r>
          </a:p>
          <a:p>
            <a:pPr marL="0" indent="0" eaLnBrk="1" hangingPunct="1">
              <a:buFontTx/>
              <a:buNone/>
            </a:pPr>
            <a:endParaRPr lang="en-US" dirty="0"/>
          </a:p>
          <a:p>
            <a:pPr marL="0" indent="0" algn="ctr" eaLnBrk="1" hangingPunct="1">
              <a:buFontTx/>
              <a:buNone/>
            </a:pPr>
            <a:r>
              <a:rPr lang="en-US" b="1" dirty="0"/>
              <a:t>One way or another though, you need to politely try to gain the advantage of directing the discussion.  It is a key to your success. Just knowing when your counterpart is doing it to you is empowering as well.</a:t>
            </a:r>
          </a:p>
          <a:p>
            <a:pPr marL="0" indent="0" algn="ctr" eaLnBrk="1" hangingPunct="1">
              <a:buFontTx/>
              <a:buNone/>
            </a:pPr>
            <a:r>
              <a:rPr lang="en-US" b="1" dirty="0">
                <a:solidFill>
                  <a:srgbClr val="FFFF00"/>
                </a:solidFill>
              </a:rPr>
              <a:t>So be patient. You will get your turn.</a:t>
            </a:r>
          </a:p>
        </p:txBody>
      </p:sp>
      <p:sp>
        <p:nvSpPr>
          <p:cNvPr id="2" name="Slide Number Placeholder 1"/>
          <p:cNvSpPr>
            <a:spLocks noGrp="1"/>
          </p:cNvSpPr>
          <p:nvPr>
            <p:ph type="sldNum" sz="quarter" idx="12"/>
          </p:nvPr>
        </p:nvSpPr>
        <p:spPr>
          <a:xfrm>
            <a:off x="8707823" y="6461580"/>
            <a:ext cx="417516" cy="377825"/>
          </a:xfrm>
        </p:spPr>
        <p:txBody>
          <a:bodyPr/>
          <a:lstStyle/>
          <a:p>
            <a:pPr algn="ctr"/>
            <a:fld id="{842422B5-12DA-40CC-AE4D-EB9F472458FF}" type="slidenum">
              <a:rPr lang="en-US" smtClean="0">
                <a:solidFill>
                  <a:srgbClr val="C19859">
                    <a:lumMod val="20000"/>
                    <a:lumOff val="80000"/>
                  </a:srgbClr>
                </a:solidFill>
              </a:rPr>
              <a:pPr algn="ctr"/>
              <a:t>10</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64026" y="6461579"/>
            <a:ext cx="1791749"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01A7D2C0-88BF-498D-AF77-5105FB32DB29}"/>
              </a:ext>
            </a:extLst>
          </p:cNvPr>
          <p:cNvSpPr>
            <a:spLocks noGrp="1"/>
          </p:cNvSpPr>
          <p:nvPr>
            <p:ph type="dt" sz="half" idx="10"/>
          </p:nvPr>
        </p:nvSpPr>
        <p:spPr>
          <a:xfrm>
            <a:off x="7317052" y="6461578"/>
            <a:ext cx="1212173" cy="377825"/>
          </a:xfrm>
        </p:spPr>
        <p:txBody>
          <a:bodyPr/>
          <a:lstStyle/>
          <a:p>
            <a:r>
              <a:rPr lang="en-US" dirty="0">
                <a:solidFill>
                  <a:srgbClr val="C19859">
                    <a:lumMod val="20000"/>
                    <a:lumOff val="80000"/>
                  </a:srgbClr>
                </a:solidFill>
              </a:rPr>
              <a:t>Lecture 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9221">
                                            <p:txEl>
                                              <p:pRg st="2" end="2"/>
                                            </p:txEl>
                                          </p:spTgt>
                                        </p:tgtEl>
                                        <p:attrNameLst>
                                          <p:attrName>style.visibility</p:attrName>
                                        </p:attrNameLst>
                                      </p:cBhvr>
                                      <p:to>
                                        <p:strVal val="visible"/>
                                      </p:to>
                                    </p:set>
                                    <p:animEffect transition="in" filter="wipe(down)">
                                      <p:cBhvr>
                                        <p:cTn id="7" dur="580">
                                          <p:stCondLst>
                                            <p:cond delay="0"/>
                                          </p:stCondLst>
                                        </p:cTn>
                                        <p:tgtEl>
                                          <p:spTgt spid="9221">
                                            <p:txEl>
                                              <p:pRg st="2" end="2"/>
                                            </p:txEl>
                                          </p:spTgt>
                                        </p:tgtEl>
                                      </p:cBhvr>
                                    </p:animEffect>
                                    <p:anim calcmode="lin" valueType="num">
                                      <p:cBhvr>
                                        <p:cTn id="8" dur="1822" tmFilter="0,0; 0.14,0.36; 0.43,0.73; 0.71,0.91; 1.0,1.0">
                                          <p:stCondLst>
                                            <p:cond delay="0"/>
                                          </p:stCondLst>
                                        </p:cTn>
                                        <p:tgtEl>
                                          <p:spTgt spid="9221">
                                            <p:txEl>
                                              <p:pRg st="2" end="2"/>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221">
                                            <p:txEl>
                                              <p:pRg st="2" end="2"/>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221">
                                            <p:txEl>
                                              <p:pRg st="2" end="2"/>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221">
                                            <p:txEl>
                                              <p:pRg st="2" end="2"/>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221">
                                            <p:txEl>
                                              <p:pRg st="2" end="2"/>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9221">
                                            <p:txEl>
                                              <p:pRg st="2" end="2"/>
                                            </p:txEl>
                                          </p:spTgt>
                                        </p:tgtEl>
                                      </p:cBhvr>
                                      <p:to x="100000" y="60000"/>
                                    </p:animScale>
                                    <p:animScale>
                                      <p:cBhvr>
                                        <p:cTn id="14" dur="166" decel="50000">
                                          <p:stCondLst>
                                            <p:cond delay="676"/>
                                          </p:stCondLst>
                                        </p:cTn>
                                        <p:tgtEl>
                                          <p:spTgt spid="9221">
                                            <p:txEl>
                                              <p:pRg st="2" end="2"/>
                                            </p:txEl>
                                          </p:spTgt>
                                        </p:tgtEl>
                                      </p:cBhvr>
                                      <p:to x="100000" y="100000"/>
                                    </p:animScale>
                                    <p:animScale>
                                      <p:cBhvr>
                                        <p:cTn id="15" dur="26">
                                          <p:stCondLst>
                                            <p:cond delay="1312"/>
                                          </p:stCondLst>
                                        </p:cTn>
                                        <p:tgtEl>
                                          <p:spTgt spid="9221">
                                            <p:txEl>
                                              <p:pRg st="2" end="2"/>
                                            </p:txEl>
                                          </p:spTgt>
                                        </p:tgtEl>
                                      </p:cBhvr>
                                      <p:to x="100000" y="80000"/>
                                    </p:animScale>
                                    <p:animScale>
                                      <p:cBhvr>
                                        <p:cTn id="16" dur="166" decel="50000">
                                          <p:stCondLst>
                                            <p:cond delay="1338"/>
                                          </p:stCondLst>
                                        </p:cTn>
                                        <p:tgtEl>
                                          <p:spTgt spid="9221">
                                            <p:txEl>
                                              <p:pRg st="2" end="2"/>
                                            </p:txEl>
                                          </p:spTgt>
                                        </p:tgtEl>
                                      </p:cBhvr>
                                      <p:to x="100000" y="100000"/>
                                    </p:animScale>
                                    <p:animScale>
                                      <p:cBhvr>
                                        <p:cTn id="17" dur="26">
                                          <p:stCondLst>
                                            <p:cond delay="1642"/>
                                          </p:stCondLst>
                                        </p:cTn>
                                        <p:tgtEl>
                                          <p:spTgt spid="9221">
                                            <p:txEl>
                                              <p:pRg st="2" end="2"/>
                                            </p:txEl>
                                          </p:spTgt>
                                        </p:tgtEl>
                                      </p:cBhvr>
                                      <p:to x="100000" y="90000"/>
                                    </p:animScale>
                                    <p:animScale>
                                      <p:cBhvr>
                                        <p:cTn id="18" dur="166" decel="50000">
                                          <p:stCondLst>
                                            <p:cond delay="1668"/>
                                          </p:stCondLst>
                                        </p:cTn>
                                        <p:tgtEl>
                                          <p:spTgt spid="9221">
                                            <p:txEl>
                                              <p:pRg st="2" end="2"/>
                                            </p:txEl>
                                          </p:spTgt>
                                        </p:tgtEl>
                                      </p:cBhvr>
                                      <p:to x="100000" y="100000"/>
                                    </p:animScale>
                                    <p:animScale>
                                      <p:cBhvr>
                                        <p:cTn id="19" dur="26">
                                          <p:stCondLst>
                                            <p:cond delay="1808"/>
                                          </p:stCondLst>
                                        </p:cTn>
                                        <p:tgtEl>
                                          <p:spTgt spid="9221">
                                            <p:txEl>
                                              <p:pRg st="2" end="2"/>
                                            </p:txEl>
                                          </p:spTgt>
                                        </p:tgtEl>
                                      </p:cBhvr>
                                      <p:to x="100000" y="95000"/>
                                    </p:animScale>
                                    <p:animScale>
                                      <p:cBhvr>
                                        <p:cTn id="20" dur="166" decel="50000">
                                          <p:stCondLst>
                                            <p:cond delay="1834"/>
                                          </p:stCondLst>
                                        </p:cTn>
                                        <p:tgtEl>
                                          <p:spTgt spid="9221">
                                            <p:txEl>
                                              <p:pRg st="2" end="2"/>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9221">
                                            <p:txEl>
                                              <p:pRg st="3" end="3"/>
                                            </p:txEl>
                                          </p:spTgt>
                                        </p:tgtEl>
                                        <p:attrNameLst>
                                          <p:attrName>style.visibility</p:attrName>
                                        </p:attrNameLst>
                                      </p:cBhvr>
                                      <p:to>
                                        <p:strVal val="visible"/>
                                      </p:to>
                                    </p:set>
                                    <p:animEffect transition="in" filter="wipe(down)">
                                      <p:cBhvr>
                                        <p:cTn id="25" dur="580">
                                          <p:stCondLst>
                                            <p:cond delay="0"/>
                                          </p:stCondLst>
                                        </p:cTn>
                                        <p:tgtEl>
                                          <p:spTgt spid="9221">
                                            <p:txEl>
                                              <p:pRg st="3" end="3"/>
                                            </p:txEl>
                                          </p:spTgt>
                                        </p:tgtEl>
                                      </p:cBhvr>
                                    </p:animEffect>
                                    <p:anim calcmode="lin" valueType="num">
                                      <p:cBhvr>
                                        <p:cTn id="26" dur="1822" tmFilter="0,0; 0.14,0.36; 0.43,0.73; 0.71,0.91; 1.0,1.0">
                                          <p:stCondLst>
                                            <p:cond delay="0"/>
                                          </p:stCondLst>
                                        </p:cTn>
                                        <p:tgtEl>
                                          <p:spTgt spid="9221">
                                            <p:txEl>
                                              <p:pRg st="3" end="3"/>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9221">
                                            <p:txEl>
                                              <p:pRg st="3" end="3"/>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9221">
                                            <p:txEl>
                                              <p:pRg st="3" end="3"/>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9221">
                                            <p:txEl>
                                              <p:pRg st="3" end="3"/>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9221">
                                            <p:txEl>
                                              <p:pRg st="3" end="3"/>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9221">
                                            <p:txEl>
                                              <p:pRg st="3" end="3"/>
                                            </p:txEl>
                                          </p:spTgt>
                                        </p:tgtEl>
                                      </p:cBhvr>
                                      <p:to x="100000" y="60000"/>
                                    </p:animScale>
                                    <p:animScale>
                                      <p:cBhvr>
                                        <p:cTn id="32" dur="166" decel="50000">
                                          <p:stCondLst>
                                            <p:cond delay="676"/>
                                          </p:stCondLst>
                                        </p:cTn>
                                        <p:tgtEl>
                                          <p:spTgt spid="9221">
                                            <p:txEl>
                                              <p:pRg st="3" end="3"/>
                                            </p:txEl>
                                          </p:spTgt>
                                        </p:tgtEl>
                                      </p:cBhvr>
                                      <p:to x="100000" y="100000"/>
                                    </p:animScale>
                                    <p:animScale>
                                      <p:cBhvr>
                                        <p:cTn id="33" dur="26">
                                          <p:stCondLst>
                                            <p:cond delay="1312"/>
                                          </p:stCondLst>
                                        </p:cTn>
                                        <p:tgtEl>
                                          <p:spTgt spid="9221">
                                            <p:txEl>
                                              <p:pRg st="3" end="3"/>
                                            </p:txEl>
                                          </p:spTgt>
                                        </p:tgtEl>
                                      </p:cBhvr>
                                      <p:to x="100000" y="80000"/>
                                    </p:animScale>
                                    <p:animScale>
                                      <p:cBhvr>
                                        <p:cTn id="34" dur="166" decel="50000">
                                          <p:stCondLst>
                                            <p:cond delay="1338"/>
                                          </p:stCondLst>
                                        </p:cTn>
                                        <p:tgtEl>
                                          <p:spTgt spid="9221">
                                            <p:txEl>
                                              <p:pRg st="3" end="3"/>
                                            </p:txEl>
                                          </p:spTgt>
                                        </p:tgtEl>
                                      </p:cBhvr>
                                      <p:to x="100000" y="100000"/>
                                    </p:animScale>
                                    <p:animScale>
                                      <p:cBhvr>
                                        <p:cTn id="35" dur="26">
                                          <p:stCondLst>
                                            <p:cond delay="1642"/>
                                          </p:stCondLst>
                                        </p:cTn>
                                        <p:tgtEl>
                                          <p:spTgt spid="9221">
                                            <p:txEl>
                                              <p:pRg st="3" end="3"/>
                                            </p:txEl>
                                          </p:spTgt>
                                        </p:tgtEl>
                                      </p:cBhvr>
                                      <p:to x="100000" y="90000"/>
                                    </p:animScale>
                                    <p:animScale>
                                      <p:cBhvr>
                                        <p:cTn id="36" dur="166" decel="50000">
                                          <p:stCondLst>
                                            <p:cond delay="1668"/>
                                          </p:stCondLst>
                                        </p:cTn>
                                        <p:tgtEl>
                                          <p:spTgt spid="9221">
                                            <p:txEl>
                                              <p:pRg st="3" end="3"/>
                                            </p:txEl>
                                          </p:spTgt>
                                        </p:tgtEl>
                                      </p:cBhvr>
                                      <p:to x="100000" y="100000"/>
                                    </p:animScale>
                                    <p:animScale>
                                      <p:cBhvr>
                                        <p:cTn id="37" dur="26">
                                          <p:stCondLst>
                                            <p:cond delay="1808"/>
                                          </p:stCondLst>
                                        </p:cTn>
                                        <p:tgtEl>
                                          <p:spTgt spid="9221">
                                            <p:txEl>
                                              <p:pRg st="3" end="3"/>
                                            </p:txEl>
                                          </p:spTgt>
                                        </p:tgtEl>
                                      </p:cBhvr>
                                      <p:to x="100000" y="95000"/>
                                    </p:animScale>
                                    <p:animScale>
                                      <p:cBhvr>
                                        <p:cTn id="38" dur="166" decel="50000">
                                          <p:stCondLst>
                                            <p:cond delay="1834"/>
                                          </p:stCondLst>
                                        </p:cTn>
                                        <p:tgtEl>
                                          <p:spTgt spid="9221">
                                            <p:txEl>
                                              <p:pRg st="3" end="3"/>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9221">
                                            <p:txEl>
                                              <p:pRg st="4" end="4"/>
                                            </p:txEl>
                                          </p:spTgt>
                                        </p:tgtEl>
                                        <p:attrNameLst>
                                          <p:attrName>style.visibility</p:attrName>
                                        </p:attrNameLst>
                                      </p:cBhvr>
                                      <p:to>
                                        <p:strVal val="visible"/>
                                      </p:to>
                                    </p:set>
                                    <p:animEffect transition="in" filter="wipe(down)">
                                      <p:cBhvr>
                                        <p:cTn id="43" dur="580">
                                          <p:stCondLst>
                                            <p:cond delay="0"/>
                                          </p:stCondLst>
                                        </p:cTn>
                                        <p:tgtEl>
                                          <p:spTgt spid="9221">
                                            <p:txEl>
                                              <p:pRg st="4" end="4"/>
                                            </p:txEl>
                                          </p:spTgt>
                                        </p:tgtEl>
                                      </p:cBhvr>
                                    </p:animEffect>
                                    <p:anim calcmode="lin" valueType="num">
                                      <p:cBhvr>
                                        <p:cTn id="44" dur="1822" tmFilter="0,0; 0.14,0.36; 0.43,0.73; 0.71,0.91; 1.0,1.0">
                                          <p:stCondLst>
                                            <p:cond delay="0"/>
                                          </p:stCondLst>
                                        </p:cTn>
                                        <p:tgtEl>
                                          <p:spTgt spid="9221">
                                            <p:txEl>
                                              <p:pRg st="4" end="4"/>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9221">
                                            <p:txEl>
                                              <p:pRg st="4" end="4"/>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9221">
                                            <p:txEl>
                                              <p:pRg st="4" end="4"/>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9221">
                                            <p:txEl>
                                              <p:pRg st="4" end="4"/>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9221">
                                            <p:txEl>
                                              <p:pRg st="4" end="4"/>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9221">
                                            <p:txEl>
                                              <p:pRg st="4" end="4"/>
                                            </p:txEl>
                                          </p:spTgt>
                                        </p:tgtEl>
                                      </p:cBhvr>
                                      <p:to x="100000" y="60000"/>
                                    </p:animScale>
                                    <p:animScale>
                                      <p:cBhvr>
                                        <p:cTn id="50" dur="166" decel="50000">
                                          <p:stCondLst>
                                            <p:cond delay="676"/>
                                          </p:stCondLst>
                                        </p:cTn>
                                        <p:tgtEl>
                                          <p:spTgt spid="9221">
                                            <p:txEl>
                                              <p:pRg st="4" end="4"/>
                                            </p:txEl>
                                          </p:spTgt>
                                        </p:tgtEl>
                                      </p:cBhvr>
                                      <p:to x="100000" y="100000"/>
                                    </p:animScale>
                                    <p:animScale>
                                      <p:cBhvr>
                                        <p:cTn id="51" dur="26">
                                          <p:stCondLst>
                                            <p:cond delay="1312"/>
                                          </p:stCondLst>
                                        </p:cTn>
                                        <p:tgtEl>
                                          <p:spTgt spid="9221">
                                            <p:txEl>
                                              <p:pRg st="4" end="4"/>
                                            </p:txEl>
                                          </p:spTgt>
                                        </p:tgtEl>
                                      </p:cBhvr>
                                      <p:to x="100000" y="80000"/>
                                    </p:animScale>
                                    <p:animScale>
                                      <p:cBhvr>
                                        <p:cTn id="52" dur="166" decel="50000">
                                          <p:stCondLst>
                                            <p:cond delay="1338"/>
                                          </p:stCondLst>
                                        </p:cTn>
                                        <p:tgtEl>
                                          <p:spTgt spid="9221">
                                            <p:txEl>
                                              <p:pRg st="4" end="4"/>
                                            </p:txEl>
                                          </p:spTgt>
                                        </p:tgtEl>
                                      </p:cBhvr>
                                      <p:to x="100000" y="100000"/>
                                    </p:animScale>
                                    <p:animScale>
                                      <p:cBhvr>
                                        <p:cTn id="53" dur="26">
                                          <p:stCondLst>
                                            <p:cond delay="1642"/>
                                          </p:stCondLst>
                                        </p:cTn>
                                        <p:tgtEl>
                                          <p:spTgt spid="9221">
                                            <p:txEl>
                                              <p:pRg st="4" end="4"/>
                                            </p:txEl>
                                          </p:spTgt>
                                        </p:tgtEl>
                                      </p:cBhvr>
                                      <p:to x="100000" y="90000"/>
                                    </p:animScale>
                                    <p:animScale>
                                      <p:cBhvr>
                                        <p:cTn id="54" dur="166" decel="50000">
                                          <p:stCondLst>
                                            <p:cond delay="1668"/>
                                          </p:stCondLst>
                                        </p:cTn>
                                        <p:tgtEl>
                                          <p:spTgt spid="9221">
                                            <p:txEl>
                                              <p:pRg st="4" end="4"/>
                                            </p:txEl>
                                          </p:spTgt>
                                        </p:tgtEl>
                                      </p:cBhvr>
                                      <p:to x="100000" y="100000"/>
                                    </p:animScale>
                                    <p:animScale>
                                      <p:cBhvr>
                                        <p:cTn id="55" dur="26">
                                          <p:stCondLst>
                                            <p:cond delay="1808"/>
                                          </p:stCondLst>
                                        </p:cTn>
                                        <p:tgtEl>
                                          <p:spTgt spid="9221">
                                            <p:txEl>
                                              <p:pRg st="4" end="4"/>
                                            </p:txEl>
                                          </p:spTgt>
                                        </p:tgtEl>
                                      </p:cBhvr>
                                      <p:to x="100000" y="95000"/>
                                    </p:animScale>
                                    <p:animScale>
                                      <p:cBhvr>
                                        <p:cTn id="56" dur="166" decel="50000">
                                          <p:stCondLst>
                                            <p:cond delay="1834"/>
                                          </p:stCondLst>
                                        </p:cTn>
                                        <p:tgtEl>
                                          <p:spTgt spid="9221">
                                            <p:txEl>
                                              <p:pRg st="4" end="4"/>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37" presetClass="entr" presetSubtype="0" fill="hold" nodeType="clickEffect">
                                  <p:stCondLst>
                                    <p:cond delay="0"/>
                                  </p:stCondLst>
                                  <p:childTnLst>
                                    <p:set>
                                      <p:cBhvr>
                                        <p:cTn id="60" dur="1" fill="hold">
                                          <p:stCondLst>
                                            <p:cond delay="0"/>
                                          </p:stCondLst>
                                        </p:cTn>
                                        <p:tgtEl>
                                          <p:spTgt spid="9221">
                                            <p:txEl>
                                              <p:pRg st="6" end="6"/>
                                            </p:txEl>
                                          </p:spTgt>
                                        </p:tgtEl>
                                        <p:attrNameLst>
                                          <p:attrName>style.visibility</p:attrName>
                                        </p:attrNameLst>
                                      </p:cBhvr>
                                      <p:to>
                                        <p:strVal val="visible"/>
                                      </p:to>
                                    </p:set>
                                    <p:animEffect transition="in" filter="fade">
                                      <p:cBhvr>
                                        <p:cTn id="61" dur="1000"/>
                                        <p:tgtEl>
                                          <p:spTgt spid="9221">
                                            <p:txEl>
                                              <p:pRg st="6" end="6"/>
                                            </p:txEl>
                                          </p:spTgt>
                                        </p:tgtEl>
                                      </p:cBhvr>
                                    </p:animEffect>
                                    <p:anim calcmode="lin" valueType="num">
                                      <p:cBhvr>
                                        <p:cTn id="62" dur="1000" fill="hold"/>
                                        <p:tgtEl>
                                          <p:spTgt spid="9221">
                                            <p:txEl>
                                              <p:pRg st="6" end="6"/>
                                            </p:txEl>
                                          </p:spTgt>
                                        </p:tgtEl>
                                        <p:attrNameLst>
                                          <p:attrName>ppt_x</p:attrName>
                                        </p:attrNameLst>
                                      </p:cBhvr>
                                      <p:tavLst>
                                        <p:tav tm="0">
                                          <p:val>
                                            <p:strVal val="#ppt_x"/>
                                          </p:val>
                                        </p:tav>
                                        <p:tav tm="100000">
                                          <p:val>
                                            <p:strVal val="#ppt_x"/>
                                          </p:val>
                                        </p:tav>
                                      </p:tavLst>
                                    </p:anim>
                                    <p:anim calcmode="lin" valueType="num">
                                      <p:cBhvr>
                                        <p:cTn id="63" dur="900" decel="100000" fill="hold"/>
                                        <p:tgtEl>
                                          <p:spTgt spid="9221">
                                            <p:txEl>
                                              <p:pRg st="6" end="6"/>
                                            </p:txEl>
                                          </p:spTgt>
                                        </p:tgtEl>
                                        <p:attrNameLst>
                                          <p:attrName>ppt_y</p:attrName>
                                        </p:attrNameLst>
                                      </p:cBhvr>
                                      <p:tavLst>
                                        <p:tav tm="0">
                                          <p:val>
                                            <p:strVal val="#ppt_y+1"/>
                                          </p:val>
                                        </p:tav>
                                        <p:tav tm="100000">
                                          <p:val>
                                            <p:strVal val="#ppt_y-.03"/>
                                          </p:val>
                                        </p:tav>
                                      </p:tavLst>
                                    </p:anim>
                                    <p:anim calcmode="lin" valueType="num">
                                      <p:cBhvr>
                                        <p:cTn id="64" dur="100" accel="100000" fill="hold">
                                          <p:stCondLst>
                                            <p:cond delay="900"/>
                                          </p:stCondLst>
                                        </p:cTn>
                                        <p:tgtEl>
                                          <p:spTgt spid="9221">
                                            <p:txEl>
                                              <p:pRg st="6" end="6"/>
                                            </p:txEl>
                                          </p:spTgt>
                                        </p:tgtEl>
                                        <p:attrNameLst>
                                          <p:attrName>ppt_y</p:attrName>
                                        </p:attrNameLst>
                                      </p:cBhvr>
                                      <p:tavLst>
                                        <p:tav tm="0">
                                          <p:val>
                                            <p:strVal val="#ppt_y-.03"/>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37" presetClass="entr" presetSubtype="0" fill="hold" nodeType="clickEffect">
                                  <p:stCondLst>
                                    <p:cond delay="0"/>
                                  </p:stCondLst>
                                  <p:childTnLst>
                                    <p:set>
                                      <p:cBhvr>
                                        <p:cTn id="68" dur="1" fill="hold">
                                          <p:stCondLst>
                                            <p:cond delay="0"/>
                                          </p:stCondLst>
                                        </p:cTn>
                                        <p:tgtEl>
                                          <p:spTgt spid="9221">
                                            <p:txEl>
                                              <p:pRg st="7" end="7"/>
                                            </p:txEl>
                                          </p:spTgt>
                                        </p:tgtEl>
                                        <p:attrNameLst>
                                          <p:attrName>style.visibility</p:attrName>
                                        </p:attrNameLst>
                                      </p:cBhvr>
                                      <p:to>
                                        <p:strVal val="visible"/>
                                      </p:to>
                                    </p:set>
                                    <p:animEffect transition="in" filter="fade">
                                      <p:cBhvr>
                                        <p:cTn id="69" dur="1000"/>
                                        <p:tgtEl>
                                          <p:spTgt spid="9221">
                                            <p:txEl>
                                              <p:pRg st="7" end="7"/>
                                            </p:txEl>
                                          </p:spTgt>
                                        </p:tgtEl>
                                      </p:cBhvr>
                                    </p:animEffect>
                                    <p:anim calcmode="lin" valueType="num">
                                      <p:cBhvr>
                                        <p:cTn id="70" dur="1000" fill="hold"/>
                                        <p:tgtEl>
                                          <p:spTgt spid="9221">
                                            <p:txEl>
                                              <p:pRg st="7" end="7"/>
                                            </p:txEl>
                                          </p:spTgt>
                                        </p:tgtEl>
                                        <p:attrNameLst>
                                          <p:attrName>ppt_x</p:attrName>
                                        </p:attrNameLst>
                                      </p:cBhvr>
                                      <p:tavLst>
                                        <p:tav tm="0">
                                          <p:val>
                                            <p:strVal val="#ppt_x"/>
                                          </p:val>
                                        </p:tav>
                                        <p:tav tm="100000">
                                          <p:val>
                                            <p:strVal val="#ppt_x"/>
                                          </p:val>
                                        </p:tav>
                                      </p:tavLst>
                                    </p:anim>
                                    <p:anim calcmode="lin" valueType="num">
                                      <p:cBhvr>
                                        <p:cTn id="71" dur="900" decel="100000" fill="hold"/>
                                        <p:tgtEl>
                                          <p:spTgt spid="9221">
                                            <p:txEl>
                                              <p:pRg st="7" end="7"/>
                                            </p:txEl>
                                          </p:spTgt>
                                        </p:tgtEl>
                                        <p:attrNameLst>
                                          <p:attrName>ppt_y</p:attrName>
                                        </p:attrNameLst>
                                      </p:cBhvr>
                                      <p:tavLst>
                                        <p:tav tm="0">
                                          <p:val>
                                            <p:strVal val="#ppt_y+1"/>
                                          </p:val>
                                        </p:tav>
                                        <p:tav tm="100000">
                                          <p:val>
                                            <p:strVal val="#ppt_y-.03"/>
                                          </p:val>
                                        </p:tav>
                                      </p:tavLst>
                                    </p:anim>
                                    <p:anim calcmode="lin" valueType="num">
                                      <p:cBhvr>
                                        <p:cTn id="72" dur="100" accel="100000" fill="hold">
                                          <p:stCondLst>
                                            <p:cond delay="900"/>
                                          </p:stCondLst>
                                        </p:cTn>
                                        <p:tgtEl>
                                          <p:spTgt spid="9221">
                                            <p:txEl>
                                              <p:pRg st="7" end="7"/>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99669" y="541319"/>
            <a:ext cx="8053221" cy="817830"/>
          </a:xfrm>
        </p:spPr>
        <p:txBody>
          <a:bodyPr>
            <a:noAutofit/>
          </a:bodyPr>
          <a:lstStyle/>
          <a:p>
            <a:pPr algn="ctr" eaLnBrk="1" hangingPunct="1"/>
            <a:r>
              <a:rPr lang="en-US" sz="3200" b="1" dirty="0">
                <a:latin typeface="+mn-lt"/>
              </a:rPr>
              <a:t>Negotiations</a:t>
            </a:r>
            <a:br>
              <a:rPr lang="en-US" sz="3200" b="1" dirty="0">
                <a:latin typeface="+mn-lt"/>
              </a:rPr>
            </a:br>
            <a:r>
              <a:rPr lang="en-US" sz="3200" b="1" dirty="0">
                <a:latin typeface="+mn-lt"/>
              </a:rPr>
              <a:t>Advanced questioning techniques</a:t>
            </a:r>
          </a:p>
        </p:txBody>
      </p:sp>
      <p:sp>
        <p:nvSpPr>
          <p:cNvPr id="14339" name="Rectangle 3"/>
          <p:cNvSpPr>
            <a:spLocks noGrp="1" noChangeArrowheads="1"/>
          </p:cNvSpPr>
          <p:nvPr>
            <p:ph idx="1"/>
          </p:nvPr>
        </p:nvSpPr>
        <p:spPr>
          <a:xfrm>
            <a:off x="648023" y="1497371"/>
            <a:ext cx="7762057" cy="4889252"/>
          </a:xfrm>
        </p:spPr>
        <p:txBody>
          <a:bodyPr>
            <a:noAutofit/>
          </a:bodyPr>
          <a:lstStyle/>
          <a:p>
            <a:pPr eaLnBrk="1" hangingPunct="1"/>
            <a:r>
              <a:rPr lang="en-US" dirty="0"/>
              <a:t>Generally people </a:t>
            </a:r>
            <a:r>
              <a:rPr lang="en-US" dirty="0">
                <a:solidFill>
                  <a:srgbClr val="00B050"/>
                </a:solidFill>
              </a:rPr>
              <a:t>resist being interrogated</a:t>
            </a:r>
            <a:r>
              <a:rPr lang="en-US" dirty="0"/>
              <a:t>, so if you are going to ask most of the questions, remember </a:t>
            </a:r>
            <a:r>
              <a:rPr lang="en-US" dirty="0">
                <a:solidFill>
                  <a:srgbClr val="FFC000"/>
                </a:solidFill>
              </a:rPr>
              <a:t>the negotiations must conclude in a win-win situation</a:t>
            </a:r>
            <a:r>
              <a:rPr lang="en-US" dirty="0"/>
              <a:t>. This implies that some of your questions may need to be </a:t>
            </a:r>
            <a:r>
              <a:rPr lang="en-US" dirty="0">
                <a:solidFill>
                  <a:srgbClr val="00B050"/>
                </a:solidFill>
              </a:rPr>
              <a:t>rhetorical</a:t>
            </a:r>
            <a:r>
              <a:rPr lang="en-US" dirty="0"/>
              <a:t> or </a:t>
            </a:r>
            <a:r>
              <a:rPr lang="en-US" dirty="0">
                <a:solidFill>
                  <a:srgbClr val="00B050"/>
                </a:solidFill>
              </a:rPr>
              <a:t>provide advantage to the other side</a:t>
            </a:r>
            <a:r>
              <a:rPr lang="en-US" dirty="0"/>
              <a:t>. Keep this in mind, or you will lose control of the questioning.</a:t>
            </a:r>
          </a:p>
          <a:p>
            <a:pPr eaLnBrk="1" hangingPunct="1"/>
            <a:r>
              <a:rPr lang="en-US" dirty="0"/>
              <a:t>One technique, which is effective but dangerous, is the concept of asking a </a:t>
            </a:r>
            <a:r>
              <a:rPr lang="en-US" dirty="0">
                <a:solidFill>
                  <a:srgbClr val="00B050"/>
                </a:solidFill>
              </a:rPr>
              <a:t>series of rhetorical questions that provide the same yes or no answer</a:t>
            </a:r>
            <a:r>
              <a:rPr lang="en-US" dirty="0"/>
              <a:t>. If asked quickly, politely, and professionally, they can be a useful technique:</a:t>
            </a:r>
          </a:p>
          <a:p>
            <a:pPr lvl="1" eaLnBrk="1" hangingPunct="1">
              <a:buFont typeface="Wingdings" pitchFamily="2" charset="2"/>
              <a:buChar char="ü"/>
            </a:pPr>
            <a:r>
              <a:rPr lang="en-US" sz="1800" dirty="0"/>
              <a:t>Are you available at that time?</a:t>
            </a:r>
          </a:p>
          <a:p>
            <a:pPr lvl="1" eaLnBrk="1" hangingPunct="1">
              <a:buFont typeface="Wingdings" pitchFamily="2" charset="2"/>
              <a:buChar char="ü"/>
            </a:pPr>
            <a:r>
              <a:rPr lang="en-US" sz="1800" dirty="0"/>
              <a:t>And is the equipment available at that time?</a:t>
            </a:r>
          </a:p>
          <a:p>
            <a:pPr lvl="1" eaLnBrk="1" hangingPunct="1">
              <a:buFont typeface="Wingdings" pitchFamily="2" charset="2"/>
              <a:buChar char="ü"/>
            </a:pPr>
            <a:r>
              <a:rPr lang="en-US" sz="1800" dirty="0"/>
              <a:t>And are the workers available at that time?</a:t>
            </a:r>
          </a:p>
          <a:p>
            <a:pPr lvl="1" eaLnBrk="1" hangingPunct="1">
              <a:buFont typeface="Wingdings" pitchFamily="2" charset="2"/>
              <a:buChar char="ü"/>
            </a:pPr>
            <a:r>
              <a:rPr lang="en-US" sz="1800" dirty="0"/>
              <a:t>How about supervision?</a:t>
            </a:r>
          </a:p>
          <a:p>
            <a:pPr lvl="1" eaLnBrk="1" hangingPunct="1">
              <a:buFont typeface="Wingdings" pitchFamily="2" charset="2"/>
              <a:buChar char="ü"/>
            </a:pPr>
            <a:r>
              <a:rPr lang="en-US" sz="1800" dirty="0"/>
              <a:t>Then perhaps we </a:t>
            </a:r>
            <a:r>
              <a:rPr lang="en-US" sz="1800" i="1" dirty="0"/>
              <a:t>should</a:t>
            </a:r>
            <a:r>
              <a:rPr lang="en-US" sz="1800" dirty="0"/>
              <a:t> consider moving the paint line on Saturday.</a:t>
            </a:r>
          </a:p>
        </p:txBody>
      </p:sp>
      <p:sp>
        <p:nvSpPr>
          <p:cNvPr id="1434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18709" y="6480175"/>
            <a:ext cx="417516" cy="377825"/>
          </a:xfrm>
        </p:spPr>
        <p:txBody>
          <a:bodyPr/>
          <a:lstStyle/>
          <a:p>
            <a:pPr algn="ctr"/>
            <a:fld id="{842422B5-12DA-40CC-AE4D-EB9F472458FF}" type="slidenum">
              <a:rPr lang="en-US" smtClean="0">
                <a:solidFill>
                  <a:srgbClr val="C19859">
                    <a:lumMod val="20000"/>
                    <a:lumOff val="80000"/>
                  </a:srgbClr>
                </a:solidFill>
              </a:rPr>
              <a:pPr algn="ctr"/>
              <a:t>11</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38534"/>
            <a:ext cx="1728192"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54633AB2-EAF8-41A6-ACA5-2B8BA727FC59}"/>
              </a:ext>
            </a:extLst>
          </p:cNvPr>
          <p:cNvSpPr>
            <a:spLocks noGrp="1"/>
          </p:cNvSpPr>
          <p:nvPr>
            <p:ph type="dt" sz="half" idx="10"/>
          </p:nvPr>
        </p:nvSpPr>
        <p:spPr>
          <a:xfrm>
            <a:off x="7316681" y="6445520"/>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7543" y="404664"/>
            <a:ext cx="8020104" cy="864096"/>
          </a:xfrm>
        </p:spPr>
        <p:txBody>
          <a:bodyPr>
            <a:noAutofit/>
          </a:bodyPr>
          <a:lstStyle/>
          <a:p>
            <a:pPr algn="ctr"/>
            <a:r>
              <a:rPr lang="en-US" sz="3200" b="1" dirty="0">
                <a:latin typeface="+mn-lt"/>
              </a:rPr>
              <a:t>Negotiation</a:t>
            </a:r>
            <a:br>
              <a:rPr lang="en-US" sz="3200" b="1" dirty="0">
                <a:latin typeface="+mn-lt"/>
              </a:rPr>
            </a:br>
            <a:r>
              <a:rPr lang="en-US" sz="3200" b="1" dirty="0">
                <a:latin typeface="+mn-lt"/>
              </a:rPr>
              <a:t>Language and Communication</a:t>
            </a:r>
            <a:endParaRPr lang="en-US" sz="3200" b="1" u="sng" dirty="0">
              <a:solidFill>
                <a:schemeClr val="tx1"/>
              </a:solidFill>
              <a:latin typeface="+mn-lt"/>
            </a:endParaRPr>
          </a:p>
        </p:txBody>
      </p:sp>
      <p:sp>
        <p:nvSpPr>
          <p:cNvPr id="16387" name="Rectangle 3"/>
          <p:cNvSpPr>
            <a:spLocks noGrp="1" noChangeArrowheads="1"/>
          </p:cNvSpPr>
          <p:nvPr>
            <p:ph idx="1"/>
          </p:nvPr>
        </p:nvSpPr>
        <p:spPr>
          <a:xfrm>
            <a:off x="1033901" y="1613438"/>
            <a:ext cx="6887389" cy="4896543"/>
          </a:xfrm>
        </p:spPr>
        <p:txBody>
          <a:bodyPr>
            <a:normAutofit fontScale="92500" lnSpcReduction="10000"/>
          </a:bodyPr>
          <a:lstStyle/>
          <a:p>
            <a:pPr marL="0" indent="0" eaLnBrk="1" hangingPunct="1">
              <a:lnSpc>
                <a:spcPct val="90000"/>
              </a:lnSpc>
              <a:buNone/>
            </a:pPr>
            <a:r>
              <a:rPr lang="en-US" sz="1900" dirty="0">
                <a:solidFill>
                  <a:srgbClr val="FFC000"/>
                </a:solidFill>
              </a:rPr>
              <a:t>Sample Statements:</a:t>
            </a:r>
          </a:p>
          <a:p>
            <a:pPr eaLnBrk="1" hangingPunct="1">
              <a:lnSpc>
                <a:spcPct val="90000"/>
              </a:lnSpc>
            </a:pPr>
            <a:r>
              <a:rPr lang="en-US" sz="1900" dirty="0"/>
              <a:t>When you want to establish your power early in the negotiation:</a:t>
            </a:r>
          </a:p>
          <a:p>
            <a:pPr eaLnBrk="1" hangingPunct="1">
              <a:lnSpc>
                <a:spcPct val="90000"/>
              </a:lnSpc>
              <a:buFontTx/>
              <a:buNone/>
            </a:pPr>
            <a:r>
              <a:rPr lang="en-US" sz="1900" dirty="0"/>
              <a:t>    </a:t>
            </a:r>
            <a:r>
              <a:rPr lang="en-US" sz="1900" b="1" dirty="0"/>
              <a:t> </a:t>
            </a:r>
            <a:r>
              <a:rPr lang="en-US" sz="1900" b="1" dirty="0">
                <a:solidFill>
                  <a:schemeClr val="accent2">
                    <a:lumMod val="60000"/>
                    <a:lumOff val="40000"/>
                  </a:schemeClr>
                </a:solidFill>
              </a:rPr>
              <a:t>"I'm sorry, but my colleagues and I cannot settle for that."</a:t>
            </a:r>
          </a:p>
          <a:p>
            <a:pPr eaLnBrk="1" hangingPunct="1">
              <a:lnSpc>
                <a:spcPct val="90000"/>
              </a:lnSpc>
            </a:pPr>
            <a:r>
              <a:rPr lang="en-US" sz="1900" dirty="0"/>
              <a:t>When you want to invoke the power of legitimacy:</a:t>
            </a:r>
          </a:p>
          <a:p>
            <a:pPr eaLnBrk="1" hangingPunct="1">
              <a:lnSpc>
                <a:spcPct val="90000"/>
              </a:lnSpc>
              <a:buFontTx/>
              <a:buNone/>
            </a:pPr>
            <a:r>
              <a:rPr lang="en-US" sz="1900" dirty="0"/>
              <a:t>     </a:t>
            </a:r>
            <a:r>
              <a:rPr lang="en-US" sz="1900" b="1" dirty="0">
                <a:solidFill>
                  <a:schemeClr val="accent2">
                    <a:lumMod val="60000"/>
                    <a:lumOff val="40000"/>
                  </a:schemeClr>
                </a:solidFill>
              </a:rPr>
              <a:t>"It doesn't apply in this case." or “That has never been the standard for this type of application."</a:t>
            </a:r>
          </a:p>
          <a:p>
            <a:pPr eaLnBrk="1" hangingPunct="1">
              <a:lnSpc>
                <a:spcPct val="90000"/>
              </a:lnSpc>
            </a:pPr>
            <a:r>
              <a:rPr lang="en-US" sz="1900" dirty="0"/>
              <a:t>When you want the other party to state their opening position:</a:t>
            </a:r>
          </a:p>
          <a:p>
            <a:pPr eaLnBrk="1" hangingPunct="1">
              <a:lnSpc>
                <a:spcPct val="90000"/>
              </a:lnSpc>
              <a:buFontTx/>
              <a:buNone/>
            </a:pPr>
            <a:r>
              <a:rPr lang="en-US" sz="1900" dirty="0"/>
              <a:t>     </a:t>
            </a:r>
            <a:r>
              <a:rPr lang="en-US" sz="1900" b="1" dirty="0">
                <a:solidFill>
                  <a:schemeClr val="accent2">
                    <a:lumMod val="60000"/>
                    <a:lumOff val="40000"/>
                  </a:schemeClr>
                </a:solidFill>
              </a:rPr>
              <a:t>"What are you looking for in these negotiations?"</a:t>
            </a:r>
          </a:p>
          <a:p>
            <a:pPr eaLnBrk="1" hangingPunct="1">
              <a:lnSpc>
                <a:spcPct val="90000"/>
              </a:lnSpc>
            </a:pPr>
            <a:r>
              <a:rPr lang="en-US" sz="1900" dirty="0"/>
              <a:t>When you want to find out how much authority the other party has:</a:t>
            </a:r>
          </a:p>
          <a:p>
            <a:pPr eaLnBrk="1" hangingPunct="1">
              <a:lnSpc>
                <a:spcPct val="90000"/>
              </a:lnSpc>
              <a:buFontTx/>
              <a:buNone/>
            </a:pPr>
            <a:r>
              <a:rPr lang="en-US" sz="1900" b="1" dirty="0"/>
              <a:t>     </a:t>
            </a:r>
            <a:r>
              <a:rPr lang="en-US" sz="1900" b="1" dirty="0">
                <a:solidFill>
                  <a:schemeClr val="accent2">
                    <a:lumMod val="60000"/>
                    <a:lumOff val="40000"/>
                  </a:schemeClr>
                </a:solidFill>
              </a:rPr>
              <a:t>"Do you have the authority to commit to that without checking it out at head office?"</a:t>
            </a:r>
          </a:p>
          <a:p>
            <a:pPr eaLnBrk="1" hangingPunct="1">
              <a:lnSpc>
                <a:spcPct val="90000"/>
              </a:lnSpc>
            </a:pPr>
            <a:r>
              <a:rPr lang="en-US" sz="1900" dirty="0"/>
              <a:t>When you don't want to say no outright for fear of breaking down discussions:</a:t>
            </a:r>
          </a:p>
          <a:p>
            <a:pPr eaLnBrk="1" hangingPunct="1">
              <a:lnSpc>
                <a:spcPct val="90000"/>
              </a:lnSpc>
              <a:buFontTx/>
              <a:buNone/>
            </a:pPr>
            <a:r>
              <a:rPr lang="en-US" sz="1900" b="1" dirty="0">
                <a:solidFill>
                  <a:schemeClr val="accent2">
                    <a:lumMod val="60000"/>
                    <a:lumOff val="40000"/>
                  </a:schemeClr>
                </a:solidFill>
              </a:rPr>
              <a:t>     "Let's set that aside for now. Let’s come back to it."</a:t>
            </a:r>
          </a:p>
          <a:p>
            <a:pPr eaLnBrk="1" hangingPunct="1">
              <a:lnSpc>
                <a:spcPct val="90000"/>
              </a:lnSpc>
            </a:pPr>
            <a:endParaRPr lang="en-US" sz="2000" b="1" dirty="0">
              <a:solidFill>
                <a:schemeClr val="accent2">
                  <a:lumMod val="60000"/>
                  <a:lumOff val="40000"/>
                </a:schemeClr>
              </a:solidFill>
            </a:endParaRPr>
          </a:p>
        </p:txBody>
      </p:sp>
      <p:sp>
        <p:nvSpPr>
          <p:cNvPr id="2" name="Slide Number Placeholder 1"/>
          <p:cNvSpPr>
            <a:spLocks noGrp="1"/>
          </p:cNvSpPr>
          <p:nvPr>
            <p:ph type="sldNum" sz="quarter" idx="12"/>
          </p:nvPr>
        </p:nvSpPr>
        <p:spPr>
          <a:xfrm>
            <a:off x="8712088" y="6480175"/>
            <a:ext cx="417516" cy="377825"/>
          </a:xfrm>
        </p:spPr>
        <p:txBody>
          <a:bodyPr/>
          <a:lstStyle/>
          <a:p>
            <a:pPr algn="ctr"/>
            <a:fld id="{842422B5-12DA-40CC-AE4D-EB9F472458FF}" type="slidenum">
              <a:rPr lang="en-US" smtClean="0">
                <a:solidFill>
                  <a:srgbClr val="C19859">
                    <a:lumMod val="20000"/>
                    <a:lumOff val="80000"/>
                  </a:srgbClr>
                </a:solidFill>
              </a:rPr>
              <a:pPr algn="ctr"/>
              <a:t>12</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68286"/>
            <a:ext cx="1666528"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0591F116-C0B6-4C3F-B9CE-41B05B0BE9D6}"/>
              </a:ext>
            </a:extLst>
          </p:cNvPr>
          <p:cNvSpPr>
            <a:spLocks noGrp="1"/>
          </p:cNvSpPr>
          <p:nvPr>
            <p:ph type="dt" sz="half" idx="10"/>
          </p:nvPr>
        </p:nvSpPr>
        <p:spPr>
          <a:xfrm>
            <a:off x="7275474" y="6468285"/>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276994" y="548680"/>
            <a:ext cx="6846145" cy="803175"/>
          </a:xfrm>
        </p:spPr>
        <p:txBody>
          <a:bodyPr>
            <a:noAutofit/>
          </a:bodyPr>
          <a:lstStyle/>
          <a:p>
            <a:pPr algn="ctr" eaLnBrk="1" hangingPunct="1"/>
            <a:r>
              <a:rPr lang="en-US" sz="3200" b="1" dirty="0">
                <a:latin typeface="+mn-lt"/>
              </a:rPr>
              <a:t>Negotiation</a:t>
            </a:r>
            <a:br>
              <a:rPr lang="en-US" sz="3200" b="1" dirty="0">
                <a:latin typeface="+mn-lt"/>
              </a:rPr>
            </a:br>
            <a:r>
              <a:rPr lang="en-US" sz="3200" b="1" dirty="0">
                <a:latin typeface="+mn-lt"/>
              </a:rPr>
              <a:t>Language and Communication</a:t>
            </a:r>
          </a:p>
        </p:txBody>
      </p:sp>
      <p:sp>
        <p:nvSpPr>
          <p:cNvPr id="17411" name="Rectangle 3"/>
          <p:cNvSpPr>
            <a:spLocks noGrp="1" noChangeArrowheads="1"/>
          </p:cNvSpPr>
          <p:nvPr>
            <p:ph idx="1"/>
          </p:nvPr>
        </p:nvSpPr>
        <p:spPr>
          <a:xfrm>
            <a:off x="899592" y="1484784"/>
            <a:ext cx="7600950" cy="5112567"/>
          </a:xfrm>
        </p:spPr>
        <p:txBody>
          <a:bodyPr>
            <a:normAutofit/>
          </a:bodyPr>
          <a:lstStyle/>
          <a:p>
            <a:pPr eaLnBrk="1" hangingPunct="1"/>
            <a:r>
              <a:rPr lang="en-US" dirty="0"/>
              <a:t>When you want to sound a little incompetent:</a:t>
            </a:r>
          </a:p>
          <a:p>
            <a:pPr eaLnBrk="1" hangingPunct="1">
              <a:buFontTx/>
              <a:buNone/>
            </a:pPr>
            <a:r>
              <a:rPr lang="en-US" b="1" dirty="0"/>
              <a:t>     </a:t>
            </a:r>
            <a:r>
              <a:rPr lang="en-US" b="1" dirty="0">
                <a:solidFill>
                  <a:schemeClr val="accent2">
                    <a:lumMod val="60000"/>
                    <a:lumOff val="40000"/>
                  </a:schemeClr>
                </a:solidFill>
              </a:rPr>
              <a:t>"I get these things confused. Is this what we just agreed upon?"</a:t>
            </a:r>
          </a:p>
          <a:p>
            <a:pPr eaLnBrk="1" hangingPunct="1"/>
            <a:r>
              <a:rPr lang="en-US" dirty="0"/>
              <a:t>When you want to buy time and apply pressure:</a:t>
            </a:r>
          </a:p>
          <a:p>
            <a:pPr eaLnBrk="1" hangingPunct="1">
              <a:buFontTx/>
              <a:buNone/>
            </a:pPr>
            <a:r>
              <a:rPr lang="en-US" dirty="0"/>
              <a:t>     </a:t>
            </a:r>
            <a:r>
              <a:rPr lang="en-US" b="1" dirty="0">
                <a:solidFill>
                  <a:schemeClr val="accent2">
                    <a:lumMod val="60000"/>
                    <a:lumOff val="40000"/>
                  </a:schemeClr>
                </a:solidFill>
              </a:rPr>
              <a:t>"Let me take that to my director. I'll be right back."</a:t>
            </a:r>
          </a:p>
          <a:p>
            <a:pPr eaLnBrk="1" hangingPunct="1"/>
            <a:r>
              <a:rPr lang="en-US" dirty="0"/>
              <a:t>When you want to propose instead of demand:</a:t>
            </a:r>
          </a:p>
          <a:p>
            <a:pPr eaLnBrk="1" hangingPunct="1">
              <a:buFontTx/>
              <a:buNone/>
            </a:pPr>
            <a:r>
              <a:rPr lang="en-US" dirty="0"/>
              <a:t>     </a:t>
            </a:r>
            <a:r>
              <a:rPr lang="en-US" b="1" dirty="0">
                <a:solidFill>
                  <a:schemeClr val="accent2">
                    <a:lumMod val="60000"/>
                    <a:lumOff val="40000"/>
                  </a:schemeClr>
                </a:solidFill>
              </a:rPr>
              <a:t>"May I suggest this alternative?"</a:t>
            </a:r>
          </a:p>
          <a:p>
            <a:pPr eaLnBrk="1" hangingPunct="1"/>
            <a:r>
              <a:rPr lang="en-US" dirty="0"/>
              <a:t>When you want to appease the other party:</a:t>
            </a:r>
          </a:p>
          <a:p>
            <a:pPr eaLnBrk="1" hangingPunct="1">
              <a:buFontTx/>
              <a:buNone/>
            </a:pPr>
            <a:r>
              <a:rPr lang="en-US" dirty="0"/>
              <a:t>     </a:t>
            </a:r>
            <a:r>
              <a:rPr lang="en-US" b="1" dirty="0">
                <a:solidFill>
                  <a:schemeClr val="accent2">
                    <a:lumMod val="60000"/>
                    <a:lumOff val="40000"/>
                  </a:schemeClr>
                </a:solidFill>
              </a:rPr>
              <a:t>"Good point. I'm glad you asked that."</a:t>
            </a:r>
          </a:p>
          <a:p>
            <a:pPr eaLnBrk="1" hangingPunct="1"/>
            <a:r>
              <a:rPr lang="en-US" dirty="0"/>
              <a:t>When you want the other party to save face:</a:t>
            </a:r>
          </a:p>
          <a:p>
            <a:pPr eaLnBrk="1" hangingPunct="1">
              <a:buFontTx/>
              <a:buNone/>
            </a:pPr>
            <a:r>
              <a:rPr lang="en-US" dirty="0"/>
              <a:t>     </a:t>
            </a:r>
            <a:r>
              <a:rPr lang="en-US" b="1" dirty="0">
                <a:solidFill>
                  <a:schemeClr val="accent2">
                    <a:lumMod val="60000"/>
                    <a:lumOff val="40000"/>
                  </a:schemeClr>
                </a:solidFill>
              </a:rPr>
              <a:t>"I absolutely cannot budge on price, but here is what I can do..."</a:t>
            </a:r>
          </a:p>
          <a:p>
            <a:pPr eaLnBrk="1" hangingPunct="1"/>
            <a:r>
              <a:rPr lang="en-US" dirty="0"/>
              <a:t>When you want to uncover the other side's needs:</a:t>
            </a:r>
          </a:p>
          <a:p>
            <a:pPr eaLnBrk="1" hangingPunct="1">
              <a:buFontTx/>
              <a:buNone/>
            </a:pPr>
            <a:r>
              <a:rPr lang="en-US" dirty="0"/>
              <a:t>     </a:t>
            </a:r>
            <a:r>
              <a:rPr lang="en-US" b="1" dirty="0">
                <a:solidFill>
                  <a:schemeClr val="accent2">
                    <a:lumMod val="60000"/>
                    <a:lumOff val="40000"/>
                  </a:schemeClr>
                </a:solidFill>
              </a:rPr>
              <a:t>"What do you think?"  "What would you like to see happen?"</a:t>
            </a:r>
          </a:p>
        </p:txBody>
      </p:sp>
      <p:sp>
        <p:nvSpPr>
          <p:cNvPr id="2" name="Slide Number Placeholder 1"/>
          <p:cNvSpPr>
            <a:spLocks noGrp="1"/>
          </p:cNvSpPr>
          <p:nvPr>
            <p:ph type="sldNum" sz="quarter" idx="12"/>
          </p:nvPr>
        </p:nvSpPr>
        <p:spPr>
          <a:xfrm>
            <a:off x="8726484" y="6480175"/>
            <a:ext cx="417516" cy="377825"/>
          </a:xfrm>
        </p:spPr>
        <p:txBody>
          <a:bodyPr/>
          <a:lstStyle/>
          <a:p>
            <a:pPr algn="ctr"/>
            <a:fld id="{842422B5-12DA-40CC-AE4D-EB9F472458FF}" type="slidenum">
              <a:rPr lang="en-US" smtClean="0">
                <a:solidFill>
                  <a:srgbClr val="C19859">
                    <a:lumMod val="20000"/>
                    <a:lumOff val="80000"/>
                  </a:srgbClr>
                </a:solidFill>
              </a:rPr>
              <a:pPr algn="ctr"/>
              <a:t>13</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61256" y="6480174"/>
            <a:ext cx="1866528"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D472FCCF-E4D8-493D-A453-130F65FC137E}"/>
              </a:ext>
            </a:extLst>
          </p:cNvPr>
          <p:cNvSpPr>
            <a:spLocks noGrp="1"/>
          </p:cNvSpPr>
          <p:nvPr>
            <p:ph type="dt" sz="half" idx="10"/>
          </p:nvPr>
        </p:nvSpPr>
        <p:spPr>
          <a:xfrm>
            <a:off x="7129798" y="6480175"/>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39958" y="237827"/>
            <a:ext cx="8380513" cy="936104"/>
          </a:xfrm>
        </p:spPr>
        <p:txBody>
          <a:bodyPr>
            <a:noAutofit/>
          </a:bodyPr>
          <a:lstStyle/>
          <a:p>
            <a:pPr algn="ctr" eaLnBrk="1" hangingPunct="1"/>
            <a:r>
              <a:rPr lang="en-US" sz="3200" b="1" dirty="0">
                <a:latin typeface="+mn-lt"/>
              </a:rPr>
              <a:t>Negotiation</a:t>
            </a:r>
            <a:br>
              <a:rPr lang="en-US" sz="3200" b="1" dirty="0">
                <a:latin typeface="+mn-lt"/>
              </a:rPr>
            </a:br>
            <a:r>
              <a:rPr lang="en-US" sz="3200" b="1" dirty="0">
                <a:latin typeface="+mn-lt"/>
              </a:rPr>
              <a:t>Not the words, but what they are saying</a:t>
            </a:r>
          </a:p>
        </p:txBody>
      </p:sp>
      <p:sp>
        <p:nvSpPr>
          <p:cNvPr id="18435" name="Rectangle 3"/>
          <p:cNvSpPr>
            <a:spLocks noGrp="1" noChangeArrowheads="1"/>
          </p:cNvSpPr>
          <p:nvPr>
            <p:ph idx="1"/>
          </p:nvPr>
        </p:nvSpPr>
        <p:spPr>
          <a:xfrm>
            <a:off x="771525" y="1173931"/>
            <a:ext cx="7600950" cy="5328592"/>
          </a:xfrm>
        </p:spPr>
        <p:txBody>
          <a:bodyPr>
            <a:normAutofit/>
          </a:bodyPr>
          <a:lstStyle/>
          <a:p>
            <a:pPr eaLnBrk="1" hangingPunct="1">
              <a:lnSpc>
                <a:spcPct val="90000"/>
              </a:lnSpc>
            </a:pPr>
            <a:r>
              <a:rPr lang="en-US" dirty="0"/>
              <a:t>"To tell you the truth..." </a:t>
            </a:r>
            <a:r>
              <a:rPr lang="en-US" i="1" dirty="0">
                <a:solidFill>
                  <a:schemeClr val="accent2">
                    <a:lumMod val="60000"/>
                    <a:lumOff val="40000"/>
                  </a:schemeClr>
                </a:solidFill>
              </a:rPr>
              <a:t>(lying)</a:t>
            </a:r>
          </a:p>
          <a:p>
            <a:pPr eaLnBrk="1" hangingPunct="1">
              <a:lnSpc>
                <a:spcPct val="90000"/>
              </a:lnSpc>
            </a:pPr>
            <a:r>
              <a:rPr lang="en-US" dirty="0"/>
              <a:t>"To be brutally honest..." </a:t>
            </a:r>
            <a:r>
              <a:rPr lang="en-US" i="1" dirty="0">
                <a:solidFill>
                  <a:schemeClr val="accent2">
                    <a:lumMod val="60000"/>
                    <a:lumOff val="40000"/>
                  </a:schemeClr>
                </a:solidFill>
              </a:rPr>
              <a:t>(lying)</a:t>
            </a:r>
          </a:p>
          <a:p>
            <a:pPr eaLnBrk="1" hangingPunct="1">
              <a:lnSpc>
                <a:spcPct val="90000"/>
              </a:lnSpc>
            </a:pPr>
            <a:r>
              <a:rPr lang="en-US" dirty="0"/>
              <a:t>"Off the record..." </a:t>
            </a:r>
            <a:r>
              <a:rPr lang="en-US" i="1" dirty="0">
                <a:solidFill>
                  <a:schemeClr val="accent2">
                    <a:lumMod val="60000"/>
                    <a:lumOff val="40000"/>
                  </a:schemeClr>
                </a:solidFill>
              </a:rPr>
              <a:t>(nothing is ever off the record. The negotiation is always on.)</a:t>
            </a:r>
          </a:p>
          <a:p>
            <a:pPr eaLnBrk="1" hangingPunct="1">
              <a:lnSpc>
                <a:spcPct val="90000"/>
              </a:lnSpc>
            </a:pPr>
            <a:r>
              <a:rPr lang="en-US" dirty="0"/>
              <a:t>"Just between you and I...." </a:t>
            </a:r>
            <a:r>
              <a:rPr lang="en-US" i="1" dirty="0">
                <a:solidFill>
                  <a:schemeClr val="accent2">
                    <a:lumMod val="60000"/>
                    <a:lumOff val="40000"/>
                  </a:schemeClr>
                </a:solidFill>
              </a:rPr>
              <a:t>(a secret is something you tell only one other person. Think about it)</a:t>
            </a:r>
          </a:p>
          <a:p>
            <a:pPr eaLnBrk="1" hangingPunct="1">
              <a:lnSpc>
                <a:spcPct val="90000"/>
              </a:lnSpc>
            </a:pPr>
            <a:r>
              <a:rPr lang="en-US" dirty="0"/>
              <a:t>"I'd love to, but....."  </a:t>
            </a:r>
            <a:r>
              <a:rPr lang="en-US" i="1" dirty="0">
                <a:solidFill>
                  <a:schemeClr val="accent2">
                    <a:lumMod val="60000"/>
                    <a:lumOff val="40000"/>
                  </a:schemeClr>
                </a:solidFill>
              </a:rPr>
              <a:t>(no they wouldn't)</a:t>
            </a:r>
          </a:p>
          <a:p>
            <a:pPr eaLnBrk="1" hangingPunct="1">
              <a:lnSpc>
                <a:spcPct val="90000"/>
              </a:lnSpc>
            </a:pPr>
            <a:r>
              <a:rPr lang="en-US" dirty="0"/>
              <a:t>"Oh, before I forget..."  </a:t>
            </a:r>
            <a:r>
              <a:rPr lang="en-US" i="1" dirty="0">
                <a:solidFill>
                  <a:schemeClr val="accent2">
                    <a:lumMod val="60000"/>
                    <a:lumOff val="40000"/>
                  </a:schemeClr>
                </a:solidFill>
              </a:rPr>
              <a:t>(Listen carefully to what comes next, that is set up lingo)</a:t>
            </a:r>
          </a:p>
          <a:p>
            <a:pPr eaLnBrk="1" hangingPunct="1">
              <a:lnSpc>
                <a:spcPct val="90000"/>
              </a:lnSpc>
            </a:pPr>
            <a:endParaRPr lang="en-US" dirty="0"/>
          </a:p>
          <a:p>
            <a:pPr eaLnBrk="1" hangingPunct="1">
              <a:lnSpc>
                <a:spcPct val="90000"/>
              </a:lnSpc>
            </a:pPr>
            <a:r>
              <a:rPr lang="en-US" sz="2400" b="1" dirty="0">
                <a:solidFill>
                  <a:srgbClr val="FFFF00"/>
                </a:solidFill>
              </a:rPr>
              <a:t>CONGRUENCE: </a:t>
            </a:r>
            <a:r>
              <a:rPr lang="en-US" b="1" dirty="0">
                <a:solidFill>
                  <a:schemeClr val="tx1">
                    <a:lumMod val="95000"/>
                  </a:schemeClr>
                </a:solidFill>
              </a:rPr>
              <a:t>When a person's words and body gestures are in sync, there is congruence. When they are out of sink, the listener will, often sub-consciously, interpret the meaning of the communication based upon non-verbal signals and body language.</a:t>
            </a:r>
          </a:p>
          <a:p>
            <a:pPr eaLnBrk="1" hangingPunct="1">
              <a:lnSpc>
                <a:spcPct val="90000"/>
              </a:lnSpc>
            </a:pPr>
            <a:endParaRPr lang="en-US" sz="2000" dirty="0"/>
          </a:p>
        </p:txBody>
      </p:sp>
      <p:sp>
        <p:nvSpPr>
          <p:cNvPr id="1843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07823" y="6480175"/>
            <a:ext cx="417516" cy="377825"/>
          </a:xfrm>
        </p:spPr>
        <p:txBody>
          <a:bodyPr/>
          <a:lstStyle/>
          <a:p>
            <a:pPr algn="ctr"/>
            <a:fld id="{842422B5-12DA-40CC-AE4D-EB9F472458FF}" type="slidenum">
              <a:rPr lang="en-US" smtClean="0">
                <a:solidFill>
                  <a:srgbClr val="C19859">
                    <a:lumMod val="20000"/>
                    <a:lumOff val="80000"/>
                  </a:srgbClr>
                </a:solidFill>
              </a:rPr>
              <a:pPr algn="ctr"/>
              <a:t>14</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59746" y="6446044"/>
            <a:ext cx="1840045"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AB49DA00-DB1D-4058-9B03-2E21F82DB9AE}"/>
              </a:ext>
            </a:extLst>
          </p:cNvPr>
          <p:cNvSpPr>
            <a:spLocks noGrp="1"/>
          </p:cNvSpPr>
          <p:nvPr>
            <p:ph type="dt" sz="half" idx="10"/>
          </p:nvPr>
        </p:nvSpPr>
        <p:spPr>
          <a:xfrm>
            <a:off x="7465642" y="6453030"/>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8435">
                                            <p:txEl>
                                              <p:pRg st="7" end="7"/>
                                            </p:txEl>
                                          </p:spTgt>
                                        </p:tgtEl>
                                        <p:attrNameLst>
                                          <p:attrName>style.visibility</p:attrName>
                                        </p:attrNameLst>
                                      </p:cBhvr>
                                      <p:to>
                                        <p:strVal val="visible"/>
                                      </p:to>
                                    </p:set>
                                    <p:animEffect transition="in" filter="circle(in)">
                                      <p:cBhvr>
                                        <p:cTn id="7" dur="2000"/>
                                        <p:tgtEl>
                                          <p:spTgt spid="184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2636113" y="4581128"/>
            <a:ext cx="3857980" cy="954107"/>
          </a:xfrm>
          <a:prstGeom prst="rect">
            <a:avLst/>
          </a:prstGeom>
          <a:noFill/>
          <a:ln w="9525">
            <a:noFill/>
            <a:miter lim="800000"/>
            <a:headEnd/>
            <a:tailEnd/>
          </a:ln>
        </p:spPr>
        <p:txBody>
          <a:bodyPr wrap="none">
            <a:spAutoFit/>
          </a:bodyPr>
          <a:lstStyle/>
          <a:p>
            <a:pPr algn="ctr"/>
            <a:endParaRPr lang="en-US" sz="2400" dirty="0">
              <a:solidFill>
                <a:srgbClr val="FFC000"/>
              </a:solidFill>
            </a:endParaRPr>
          </a:p>
          <a:p>
            <a:pPr algn="ctr"/>
            <a:r>
              <a:rPr lang="en-US" sz="3200" b="1" dirty="0">
                <a:latin typeface="+mn-lt"/>
              </a:rPr>
              <a:t>Conflict Management</a:t>
            </a:r>
          </a:p>
        </p:txBody>
      </p:sp>
      <p:pic>
        <p:nvPicPr>
          <p:cNvPr id="2052" name="Picture 4" descr="http://www.relatieplein.com/images/conflictmanagemen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4763" y="980728"/>
            <a:ext cx="6120680" cy="383562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a:xfrm>
            <a:off x="8726484" y="6480175"/>
            <a:ext cx="417516" cy="377825"/>
          </a:xfrm>
        </p:spPr>
        <p:txBody>
          <a:bodyPr/>
          <a:lstStyle/>
          <a:p>
            <a:pPr algn="ctr"/>
            <a:fld id="{842422B5-12DA-40CC-AE4D-EB9F472458FF}" type="slidenum">
              <a:rPr lang="en-US" smtClean="0">
                <a:solidFill>
                  <a:srgbClr val="C19859">
                    <a:lumMod val="20000"/>
                    <a:lumOff val="80000"/>
                  </a:srgbClr>
                </a:solidFill>
              </a:rPr>
              <a:pPr algn="ctr"/>
              <a:t>15</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61256" y="6480174"/>
            <a:ext cx="1722512"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2C0633EF-1F4A-4777-AA6E-BD9E7A2262F8}"/>
              </a:ext>
            </a:extLst>
          </p:cNvPr>
          <p:cNvSpPr>
            <a:spLocks noGrp="1"/>
          </p:cNvSpPr>
          <p:nvPr>
            <p:ph type="dt" sz="half" idx="10"/>
          </p:nvPr>
        </p:nvSpPr>
        <p:spPr>
          <a:xfrm>
            <a:off x="7170571" y="6470996"/>
            <a:ext cx="1212173" cy="377825"/>
          </a:xfrm>
        </p:spPr>
        <p:txBody>
          <a:bodyPr/>
          <a:lstStyle/>
          <a:p>
            <a:r>
              <a:rPr lang="en-US" dirty="0">
                <a:solidFill>
                  <a:srgbClr val="C19859">
                    <a:lumMod val="20000"/>
                    <a:lumOff val="80000"/>
                  </a:srgbClr>
                </a:solidFill>
              </a:rPr>
              <a:t>Lecture 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dissolve">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609602"/>
            <a:ext cx="7772400" cy="619744"/>
          </a:xfrm>
        </p:spPr>
        <p:txBody>
          <a:bodyPr>
            <a:normAutofit/>
          </a:bodyPr>
          <a:lstStyle/>
          <a:p>
            <a:pPr eaLnBrk="1" hangingPunct="1"/>
            <a:r>
              <a:rPr lang="en-US" b="1" dirty="0">
                <a:solidFill>
                  <a:srgbClr val="92D050"/>
                </a:solidFill>
              </a:rPr>
              <a:t>Conflict Management</a:t>
            </a:r>
          </a:p>
        </p:txBody>
      </p:sp>
      <p:sp>
        <p:nvSpPr>
          <p:cNvPr id="24579" name="Rectangle 3"/>
          <p:cNvSpPr>
            <a:spLocks noGrp="1" noChangeArrowheads="1"/>
          </p:cNvSpPr>
          <p:nvPr>
            <p:ph idx="1"/>
          </p:nvPr>
        </p:nvSpPr>
        <p:spPr>
          <a:xfrm>
            <a:off x="457200" y="1229346"/>
            <a:ext cx="7772400" cy="5079974"/>
          </a:xfrm>
        </p:spPr>
        <p:txBody>
          <a:bodyPr>
            <a:normAutofit/>
          </a:bodyPr>
          <a:lstStyle/>
          <a:p>
            <a:pPr marL="0" indent="0" eaLnBrk="1" hangingPunct="1">
              <a:lnSpc>
                <a:spcPct val="90000"/>
              </a:lnSpc>
              <a:buFontTx/>
              <a:buNone/>
            </a:pPr>
            <a:r>
              <a:rPr lang="en-US" sz="1800" b="1" dirty="0"/>
              <a:t>Conflict</a:t>
            </a:r>
            <a:r>
              <a:rPr lang="en-US" sz="1800" dirty="0"/>
              <a:t> is a </a:t>
            </a:r>
            <a:r>
              <a:rPr lang="en-US" sz="1800" b="1" u="sng" dirty="0">
                <a:solidFill>
                  <a:srgbClr val="FFFF00"/>
                </a:solidFill>
              </a:rPr>
              <a:t>process</a:t>
            </a:r>
            <a:r>
              <a:rPr lang="en-US" sz="1800" dirty="0"/>
              <a:t> that begins when you perceive that someone </a:t>
            </a:r>
            <a:br>
              <a:rPr lang="en-US" sz="1800" dirty="0"/>
            </a:br>
            <a:r>
              <a:rPr lang="en-US" sz="1800" dirty="0"/>
              <a:t>has frustrated or is about to frustrate a major concern of yours.</a:t>
            </a:r>
          </a:p>
          <a:p>
            <a:pPr marL="0" indent="0" eaLnBrk="1" hangingPunct="1">
              <a:lnSpc>
                <a:spcPct val="90000"/>
              </a:lnSpc>
              <a:buFontTx/>
              <a:buNone/>
            </a:pPr>
            <a:endParaRPr lang="en-US" sz="1800" dirty="0"/>
          </a:p>
          <a:p>
            <a:pPr marL="0" indent="0" eaLnBrk="1" hangingPunct="1">
              <a:lnSpc>
                <a:spcPct val="90000"/>
              </a:lnSpc>
              <a:buFontTx/>
              <a:buNone/>
            </a:pPr>
            <a:r>
              <a:rPr lang="en-US" sz="1800" dirty="0"/>
              <a:t>Conflict contains a dynamic aspect.  Conflicts </a:t>
            </a:r>
            <a:r>
              <a:rPr lang="en-US" sz="1800" dirty="0">
                <a:solidFill>
                  <a:srgbClr val="00B0F0"/>
                </a:solidFill>
              </a:rPr>
              <a:t>evolve</a:t>
            </a:r>
            <a:r>
              <a:rPr lang="en-US" sz="1800" dirty="0"/>
              <a:t>.</a:t>
            </a:r>
          </a:p>
          <a:p>
            <a:pPr marL="0" indent="0" eaLnBrk="1" hangingPunct="1">
              <a:lnSpc>
                <a:spcPct val="90000"/>
              </a:lnSpc>
              <a:buFontTx/>
              <a:buNone/>
            </a:pPr>
            <a:endParaRPr lang="en-US" sz="1800" dirty="0"/>
          </a:p>
          <a:p>
            <a:pPr marL="0" indent="0" eaLnBrk="1" hangingPunct="1">
              <a:lnSpc>
                <a:spcPct val="90000"/>
              </a:lnSpc>
              <a:buFontTx/>
              <a:buNone/>
            </a:pPr>
            <a:r>
              <a:rPr lang="en-US" sz="1800" dirty="0"/>
              <a:t>Further, the causes of a conflict may change over time.  The original reason why two individuals or groups developed a conflict initially may no longer have any validity – but they are still stuck in conflict.</a:t>
            </a:r>
          </a:p>
          <a:p>
            <a:pPr marL="0" indent="0" eaLnBrk="1" hangingPunct="1">
              <a:lnSpc>
                <a:spcPct val="90000"/>
              </a:lnSpc>
              <a:buFontTx/>
              <a:buNone/>
            </a:pPr>
            <a:endParaRPr lang="en-US" sz="1800" dirty="0"/>
          </a:p>
          <a:p>
            <a:pPr marL="0" indent="0" eaLnBrk="1" hangingPunct="1">
              <a:lnSpc>
                <a:spcPct val="90000"/>
              </a:lnSpc>
              <a:buFontTx/>
              <a:buNone/>
            </a:pPr>
            <a:r>
              <a:rPr lang="en-US" sz="1800" dirty="0"/>
              <a:t>Because conflict is dynamic and evolving, once a conflict has occurred, </a:t>
            </a:r>
            <a:r>
              <a:rPr lang="en-US" sz="1800" dirty="0">
                <a:solidFill>
                  <a:srgbClr val="FFC000"/>
                </a:solidFill>
              </a:rPr>
              <a:t>the reasons behind it may no longer matter</a:t>
            </a:r>
            <a:r>
              <a:rPr lang="en-US" sz="1800" dirty="0"/>
              <a:t>.</a:t>
            </a:r>
          </a:p>
          <a:p>
            <a:pPr marL="0" indent="0" eaLnBrk="1" hangingPunct="1">
              <a:lnSpc>
                <a:spcPct val="90000"/>
              </a:lnSpc>
              <a:buFontTx/>
              <a:buNone/>
            </a:pPr>
            <a:endParaRPr lang="en-US" sz="1800" dirty="0"/>
          </a:p>
          <a:p>
            <a:pPr marL="0" indent="0" eaLnBrk="1" hangingPunct="1">
              <a:lnSpc>
                <a:spcPct val="90000"/>
              </a:lnSpc>
              <a:buFontTx/>
              <a:buNone/>
            </a:pPr>
            <a:r>
              <a:rPr lang="en-US" sz="1800" dirty="0"/>
              <a:t>Conflict is </a:t>
            </a:r>
            <a:r>
              <a:rPr lang="en-US" sz="1800" b="1" i="1" dirty="0">
                <a:solidFill>
                  <a:srgbClr val="00B0F0"/>
                </a:solidFill>
              </a:rPr>
              <a:t>perceptual</a:t>
            </a:r>
            <a:r>
              <a:rPr lang="en-US" sz="1800" dirty="0"/>
              <a:t> in nature.  In other words, it doesn't really matter if one party wronged the other or not, so long as one party perceives the wronging to have occurred.</a:t>
            </a:r>
          </a:p>
        </p:txBody>
      </p:sp>
      <p:sp>
        <p:nvSpPr>
          <p:cNvPr id="2458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3076" name="Picture 4" descr="http://therapyduo.com/img/11/couple_communication_errors_281x30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1669" y="476672"/>
            <a:ext cx="2257521" cy="248247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a:xfrm>
            <a:off x="8652999" y="6436859"/>
            <a:ext cx="417516" cy="377825"/>
          </a:xfrm>
        </p:spPr>
        <p:txBody>
          <a:bodyPr/>
          <a:lstStyle/>
          <a:p>
            <a:pPr algn="ctr"/>
            <a:fld id="{842422B5-12DA-40CC-AE4D-EB9F472458FF}" type="slidenum">
              <a:rPr lang="en-US" smtClean="0">
                <a:solidFill>
                  <a:srgbClr val="C19859">
                    <a:lumMod val="20000"/>
                    <a:lumOff val="80000"/>
                  </a:srgbClr>
                </a:solidFill>
              </a:rPr>
              <a:pPr algn="ctr"/>
              <a:t>16</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36858"/>
            <a:ext cx="2232248"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38E18B0C-1131-4C0E-BB18-5E12A1FB7F53}"/>
              </a:ext>
            </a:extLst>
          </p:cNvPr>
          <p:cNvSpPr>
            <a:spLocks noGrp="1"/>
          </p:cNvSpPr>
          <p:nvPr>
            <p:ph type="dt" sz="half" idx="10"/>
          </p:nvPr>
        </p:nvSpPr>
        <p:spPr>
          <a:xfrm>
            <a:off x="7129798" y="6441600"/>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609601"/>
            <a:ext cx="7772400" cy="555079"/>
          </a:xfrm>
        </p:spPr>
        <p:txBody>
          <a:bodyPr>
            <a:normAutofit/>
          </a:bodyPr>
          <a:lstStyle/>
          <a:p>
            <a:pPr eaLnBrk="1" hangingPunct="1"/>
            <a:r>
              <a:rPr lang="en-US" b="1" dirty="0">
                <a:solidFill>
                  <a:srgbClr val="92D050"/>
                </a:solidFill>
              </a:rPr>
              <a:t>A) Goal-Oriented Conflict</a:t>
            </a:r>
          </a:p>
        </p:txBody>
      </p:sp>
      <p:sp>
        <p:nvSpPr>
          <p:cNvPr id="26627" name="Rectangle 3"/>
          <p:cNvSpPr>
            <a:spLocks noGrp="1" noChangeArrowheads="1"/>
          </p:cNvSpPr>
          <p:nvPr>
            <p:ph idx="1"/>
          </p:nvPr>
        </p:nvSpPr>
        <p:spPr>
          <a:xfrm>
            <a:off x="457200" y="1556792"/>
            <a:ext cx="7772400" cy="4234409"/>
          </a:xfrm>
        </p:spPr>
        <p:txBody>
          <a:bodyPr>
            <a:normAutofit fontScale="92500" lnSpcReduction="20000"/>
          </a:bodyPr>
          <a:lstStyle/>
          <a:p>
            <a:pPr marL="0" indent="0" eaLnBrk="1" hangingPunct="1">
              <a:lnSpc>
                <a:spcPct val="90000"/>
              </a:lnSpc>
              <a:buFontTx/>
              <a:buNone/>
            </a:pPr>
            <a:r>
              <a:rPr lang="en-US" sz="2000" dirty="0"/>
              <a:t>This type of conflict is associated with:</a:t>
            </a:r>
          </a:p>
          <a:p>
            <a:pPr marL="0" indent="0" eaLnBrk="1" hangingPunct="1">
              <a:lnSpc>
                <a:spcPct val="90000"/>
              </a:lnSpc>
              <a:buFontTx/>
              <a:buNone/>
            </a:pPr>
            <a:endParaRPr lang="en-US" sz="2000" dirty="0"/>
          </a:p>
          <a:p>
            <a:pPr marL="0" indent="0" eaLnBrk="1" hangingPunct="1">
              <a:lnSpc>
                <a:spcPct val="90000"/>
              </a:lnSpc>
              <a:buFont typeface="Wingdings" pitchFamily="2" charset="2"/>
              <a:buChar char="Ø"/>
            </a:pPr>
            <a:r>
              <a:rPr lang="en-US" sz="2000" dirty="0"/>
              <a:t>   disagreements regarding end results desired</a:t>
            </a:r>
          </a:p>
          <a:p>
            <a:pPr marL="0" indent="0" eaLnBrk="1" hangingPunct="1">
              <a:lnSpc>
                <a:spcPct val="90000"/>
              </a:lnSpc>
              <a:buFont typeface="Wingdings" pitchFamily="2" charset="2"/>
              <a:buChar char="Ø"/>
            </a:pPr>
            <a:r>
              <a:rPr lang="en-US" sz="2000" dirty="0"/>
              <a:t>   project scope outcomes</a:t>
            </a:r>
          </a:p>
          <a:p>
            <a:pPr marL="0" indent="0" eaLnBrk="1" hangingPunct="1">
              <a:lnSpc>
                <a:spcPct val="90000"/>
              </a:lnSpc>
              <a:buFont typeface="Wingdings" pitchFamily="2" charset="2"/>
              <a:buChar char="Ø"/>
            </a:pPr>
            <a:r>
              <a:rPr lang="en-US" sz="2000" dirty="0"/>
              <a:t>   performance specifications and criteria</a:t>
            </a:r>
          </a:p>
          <a:p>
            <a:pPr marL="0" indent="0" eaLnBrk="1" hangingPunct="1">
              <a:lnSpc>
                <a:spcPct val="90000"/>
              </a:lnSpc>
              <a:buFont typeface="Wingdings" pitchFamily="2" charset="2"/>
              <a:buChar char="Ø"/>
            </a:pPr>
            <a:r>
              <a:rPr lang="en-US" sz="2000" dirty="0"/>
              <a:t>   project priorities and objectives</a:t>
            </a:r>
          </a:p>
          <a:p>
            <a:pPr marL="0" indent="0" eaLnBrk="1" hangingPunct="1">
              <a:lnSpc>
                <a:spcPct val="90000"/>
              </a:lnSpc>
              <a:buFontTx/>
              <a:buNone/>
            </a:pPr>
            <a:endParaRPr lang="en-US" sz="2000" dirty="0"/>
          </a:p>
          <a:p>
            <a:pPr marL="0" indent="0" eaLnBrk="1" hangingPunct="1">
              <a:lnSpc>
                <a:spcPct val="90000"/>
              </a:lnSpc>
              <a:buFontTx/>
              <a:buNone/>
            </a:pPr>
            <a:r>
              <a:rPr lang="en-US" sz="2000" dirty="0"/>
              <a:t>It is fueled by </a:t>
            </a:r>
            <a:r>
              <a:rPr lang="en-US" sz="2000" dirty="0">
                <a:solidFill>
                  <a:srgbClr val="00B0F0"/>
                </a:solidFill>
              </a:rPr>
              <a:t>vague or incomplete goals </a:t>
            </a:r>
            <a:r>
              <a:rPr lang="en-US" sz="2000" dirty="0"/>
              <a:t>that allow project members to make their own interpretations.</a:t>
            </a:r>
          </a:p>
          <a:p>
            <a:pPr marL="0" indent="0" eaLnBrk="1" hangingPunct="1">
              <a:lnSpc>
                <a:spcPct val="90000"/>
              </a:lnSpc>
              <a:buFontTx/>
              <a:buNone/>
            </a:pPr>
            <a:endParaRPr lang="en-US" sz="2000" dirty="0"/>
          </a:p>
          <a:p>
            <a:pPr marL="0" indent="0" eaLnBrk="1" hangingPunct="1">
              <a:lnSpc>
                <a:spcPct val="90000"/>
              </a:lnSpc>
              <a:buFontTx/>
              <a:buNone/>
            </a:pPr>
            <a:r>
              <a:rPr lang="en-US" sz="2000" dirty="0"/>
              <a:t>Often this type of conflict brings to light the </a:t>
            </a:r>
            <a:r>
              <a:rPr lang="en-US" sz="2000" dirty="0">
                <a:solidFill>
                  <a:srgbClr val="00B0F0"/>
                </a:solidFill>
              </a:rPr>
              <a:t>hidden agenda </a:t>
            </a:r>
            <a:r>
              <a:rPr lang="en-US" sz="2000" dirty="0"/>
              <a:t>that individual team members might have regarding their role in the project and how they perceive their ideal role in the work ahead.</a:t>
            </a:r>
          </a:p>
        </p:txBody>
      </p:sp>
      <p:sp>
        <p:nvSpPr>
          <p:cNvPr id="26628"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4098" name="Picture 2" descr="http://sytereitz.com/wp-content/uploads/2012/04/Conflic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6096" y="332656"/>
            <a:ext cx="3456384" cy="244827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a:xfrm>
            <a:off x="8683722" y="6438334"/>
            <a:ext cx="417516" cy="377825"/>
          </a:xfrm>
        </p:spPr>
        <p:txBody>
          <a:bodyPr/>
          <a:lstStyle/>
          <a:p>
            <a:pPr algn="ctr"/>
            <a:fld id="{842422B5-12DA-40CC-AE4D-EB9F472458FF}" type="slidenum">
              <a:rPr lang="en-US" smtClean="0">
                <a:solidFill>
                  <a:srgbClr val="C19859">
                    <a:lumMod val="20000"/>
                    <a:lumOff val="80000"/>
                  </a:srgbClr>
                </a:solidFill>
              </a:rPr>
              <a:pPr algn="ctr"/>
              <a:t>17</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683568" y="6438334"/>
            <a:ext cx="1810544"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7557D586-A11D-4949-863A-DD0AC8DA8C5C}"/>
              </a:ext>
            </a:extLst>
          </p:cNvPr>
          <p:cNvSpPr>
            <a:spLocks noGrp="1"/>
          </p:cNvSpPr>
          <p:nvPr>
            <p:ph type="dt" sz="half" idx="10"/>
          </p:nvPr>
        </p:nvSpPr>
        <p:spPr>
          <a:xfrm>
            <a:off x="6772223" y="6438333"/>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609601"/>
            <a:ext cx="7772400" cy="1019199"/>
          </a:xfrm>
        </p:spPr>
        <p:txBody>
          <a:bodyPr>
            <a:normAutofit/>
          </a:bodyPr>
          <a:lstStyle/>
          <a:p>
            <a:pPr eaLnBrk="1" hangingPunct="1"/>
            <a:r>
              <a:rPr lang="en-US" b="1" dirty="0">
                <a:solidFill>
                  <a:srgbClr val="92D050"/>
                </a:solidFill>
              </a:rPr>
              <a:t>B) Administrative Conflict</a:t>
            </a:r>
          </a:p>
        </p:txBody>
      </p:sp>
      <p:sp>
        <p:nvSpPr>
          <p:cNvPr id="27651" name="Rectangle 3"/>
          <p:cNvSpPr>
            <a:spLocks noGrp="1" noChangeArrowheads="1"/>
          </p:cNvSpPr>
          <p:nvPr>
            <p:ph idx="1"/>
          </p:nvPr>
        </p:nvSpPr>
        <p:spPr>
          <a:xfrm>
            <a:off x="457200" y="1700808"/>
            <a:ext cx="7772400" cy="4090393"/>
          </a:xfrm>
        </p:spPr>
        <p:txBody>
          <a:bodyPr>
            <a:normAutofit fontScale="92500" lnSpcReduction="20000"/>
          </a:bodyPr>
          <a:lstStyle/>
          <a:p>
            <a:pPr marL="0" indent="0" eaLnBrk="1" hangingPunct="1">
              <a:buFontTx/>
              <a:buNone/>
            </a:pPr>
            <a:r>
              <a:rPr lang="en-US" sz="2000" dirty="0"/>
              <a:t>This type of conflict is associated with:</a:t>
            </a:r>
          </a:p>
          <a:p>
            <a:pPr marL="0" indent="0" eaLnBrk="1" hangingPunct="1">
              <a:buFontTx/>
              <a:buNone/>
            </a:pPr>
            <a:endParaRPr lang="en-US" sz="2000" dirty="0"/>
          </a:p>
          <a:p>
            <a:pPr marL="0" indent="0" eaLnBrk="1" hangingPunct="1">
              <a:buFont typeface="Wingdings" pitchFamily="2" charset="2"/>
              <a:buChar char="Ø"/>
            </a:pPr>
            <a:r>
              <a:rPr lang="en-US" sz="2000" dirty="0"/>
              <a:t>   management hierarchy</a:t>
            </a:r>
          </a:p>
          <a:p>
            <a:pPr marL="0" indent="0" eaLnBrk="1" hangingPunct="1">
              <a:buFont typeface="Wingdings" pitchFamily="2" charset="2"/>
              <a:buChar char="Ø"/>
            </a:pPr>
            <a:r>
              <a:rPr lang="en-US" sz="2000" dirty="0"/>
              <a:t>   organizational structure</a:t>
            </a:r>
          </a:p>
          <a:p>
            <a:pPr marL="0" indent="0" eaLnBrk="1" hangingPunct="1">
              <a:buFont typeface="Wingdings" pitchFamily="2" charset="2"/>
              <a:buChar char="Ø"/>
            </a:pPr>
            <a:r>
              <a:rPr lang="en-US" sz="2000" dirty="0"/>
              <a:t>   company philosophy</a:t>
            </a:r>
          </a:p>
          <a:p>
            <a:pPr marL="0" indent="0" eaLnBrk="1" hangingPunct="1">
              <a:buFontTx/>
              <a:buNone/>
            </a:pPr>
            <a:endParaRPr lang="en-US" sz="2000" dirty="0"/>
          </a:p>
          <a:p>
            <a:pPr marL="0" indent="0" eaLnBrk="1" hangingPunct="1">
              <a:buFontTx/>
              <a:buNone/>
            </a:pPr>
            <a:r>
              <a:rPr lang="en-US" sz="2000" dirty="0"/>
              <a:t>They often center on </a:t>
            </a:r>
            <a:r>
              <a:rPr lang="en-US" sz="2000" b="1" dirty="0"/>
              <a:t>who</a:t>
            </a:r>
            <a:r>
              <a:rPr lang="en-US" sz="2000" dirty="0"/>
              <a:t> has </a:t>
            </a:r>
            <a:r>
              <a:rPr lang="en-US" sz="2000" dirty="0">
                <a:solidFill>
                  <a:srgbClr val="00B0F0"/>
                </a:solidFill>
              </a:rPr>
              <a:t>authority or administrative control </a:t>
            </a:r>
            <a:r>
              <a:rPr lang="en-US" sz="2000" dirty="0"/>
              <a:t>for functions, project tasks, and decisions.</a:t>
            </a:r>
          </a:p>
          <a:p>
            <a:pPr marL="0" indent="0" eaLnBrk="1" hangingPunct="1">
              <a:buFontTx/>
              <a:buNone/>
            </a:pPr>
            <a:endParaRPr lang="en-US" sz="2000" dirty="0"/>
          </a:p>
          <a:p>
            <a:pPr marL="0" indent="0" eaLnBrk="1" hangingPunct="1">
              <a:buFontTx/>
              <a:buNone/>
            </a:pPr>
            <a:r>
              <a:rPr lang="en-US" sz="2000" dirty="0">
                <a:solidFill>
                  <a:srgbClr val="00B0F0"/>
                </a:solidFill>
              </a:rPr>
              <a:t>Matrix organizational structures </a:t>
            </a:r>
            <a:r>
              <a:rPr lang="en-US" sz="2000" dirty="0"/>
              <a:t>frequently breed this type of conflict since each team member has two bosses.</a:t>
            </a:r>
          </a:p>
          <a:p>
            <a:pPr marL="0" indent="0" eaLnBrk="1" hangingPunct="1">
              <a:buFontTx/>
              <a:buNone/>
            </a:pPr>
            <a:endParaRPr lang="en-US" sz="2000" dirty="0"/>
          </a:p>
          <a:p>
            <a:pPr marL="0" indent="0" eaLnBrk="1" hangingPunct="1">
              <a:buFontTx/>
              <a:buNone/>
            </a:pPr>
            <a:endParaRPr lang="en-US" sz="2000" dirty="0"/>
          </a:p>
        </p:txBody>
      </p:sp>
      <p:sp>
        <p:nvSpPr>
          <p:cNvPr id="27652" name="Oval 4"/>
          <p:cNvSpPr>
            <a:spLocks noChangeArrowheads="1"/>
          </p:cNvSpPr>
          <p:nvPr/>
        </p:nvSpPr>
        <p:spPr bwMode="auto">
          <a:xfrm>
            <a:off x="96838" y="6165850"/>
            <a:ext cx="485775" cy="525463"/>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122" name="Picture 2" descr="http://entrepreneursw.com/wp-content/uploads/2015/04/conflict.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404664"/>
            <a:ext cx="3581400" cy="295275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a:xfrm>
            <a:off x="8657456" y="6428581"/>
            <a:ext cx="417516" cy="377825"/>
          </a:xfrm>
        </p:spPr>
        <p:txBody>
          <a:bodyPr/>
          <a:lstStyle/>
          <a:p>
            <a:pPr algn="ctr"/>
            <a:fld id="{842422B5-12DA-40CC-AE4D-EB9F472458FF}" type="slidenum">
              <a:rPr lang="en-US" smtClean="0">
                <a:solidFill>
                  <a:srgbClr val="C19859">
                    <a:lumMod val="20000"/>
                    <a:lumOff val="80000"/>
                  </a:srgbClr>
                </a:solidFill>
              </a:rPr>
              <a:pPr algn="ctr"/>
              <a:t>18</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28581"/>
            <a:ext cx="1738536"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9F643D4E-69C4-41DE-877B-8F1D0E08F11A}"/>
              </a:ext>
            </a:extLst>
          </p:cNvPr>
          <p:cNvSpPr>
            <a:spLocks noGrp="1"/>
          </p:cNvSpPr>
          <p:nvPr>
            <p:ph type="dt" sz="half" idx="10"/>
          </p:nvPr>
        </p:nvSpPr>
        <p:spPr>
          <a:xfrm>
            <a:off x="6989963" y="6428580"/>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hangingPunct="1"/>
            <a:r>
              <a:rPr lang="en-US" b="1" dirty="0">
                <a:solidFill>
                  <a:srgbClr val="92D050"/>
                </a:solidFill>
              </a:rPr>
              <a:t>C) Interpersonal Conflict</a:t>
            </a:r>
          </a:p>
        </p:txBody>
      </p:sp>
      <p:sp>
        <p:nvSpPr>
          <p:cNvPr id="28675" name="Rectangle 3"/>
          <p:cNvSpPr>
            <a:spLocks noGrp="1" noChangeArrowheads="1"/>
          </p:cNvSpPr>
          <p:nvPr>
            <p:ph idx="1"/>
          </p:nvPr>
        </p:nvSpPr>
        <p:spPr/>
        <p:txBody>
          <a:bodyPr/>
          <a:lstStyle/>
          <a:p>
            <a:pPr marL="0" indent="0" eaLnBrk="1" hangingPunct="1">
              <a:buFontTx/>
              <a:buNone/>
            </a:pPr>
            <a:r>
              <a:rPr lang="en-US" sz="2000" dirty="0"/>
              <a:t>These types of conflicts are associated with personality differences among project team members or may even involve other stakeholders.</a:t>
            </a:r>
          </a:p>
          <a:p>
            <a:pPr marL="0" indent="0" eaLnBrk="1" hangingPunct="1">
              <a:buFontTx/>
              <a:buNone/>
            </a:pPr>
            <a:endParaRPr lang="en-US" sz="2000" dirty="0"/>
          </a:p>
          <a:p>
            <a:pPr marL="0" indent="0" eaLnBrk="1" hangingPunct="1">
              <a:buFontTx/>
              <a:buNone/>
            </a:pPr>
            <a:r>
              <a:rPr lang="en-US" sz="2000" dirty="0"/>
              <a:t>Interpersonal conflict sources include:</a:t>
            </a:r>
          </a:p>
          <a:p>
            <a:pPr marL="0" indent="0" eaLnBrk="1" hangingPunct="1">
              <a:buFont typeface="Wingdings" pitchFamily="2" charset="2"/>
              <a:buChar char="Ø"/>
            </a:pPr>
            <a:r>
              <a:rPr lang="en-US" sz="2000" dirty="0"/>
              <a:t>   different work ethics</a:t>
            </a:r>
          </a:p>
          <a:p>
            <a:pPr marL="0" indent="0" eaLnBrk="1" hangingPunct="1">
              <a:buFont typeface="Wingdings" pitchFamily="2" charset="2"/>
              <a:buChar char="Ø"/>
            </a:pPr>
            <a:r>
              <a:rPr lang="en-US" sz="2000" dirty="0"/>
              <a:t>   different behavioral styles</a:t>
            </a:r>
          </a:p>
          <a:p>
            <a:pPr marL="0" indent="0" eaLnBrk="1" hangingPunct="1">
              <a:buFont typeface="Wingdings" pitchFamily="2" charset="2"/>
              <a:buChar char="Ø"/>
            </a:pPr>
            <a:r>
              <a:rPr lang="en-US" sz="2000" dirty="0"/>
              <a:t>   egos</a:t>
            </a:r>
          </a:p>
          <a:p>
            <a:pPr marL="0" indent="0" eaLnBrk="1" hangingPunct="1">
              <a:buFont typeface="Wingdings" pitchFamily="2" charset="2"/>
              <a:buChar char="Ø"/>
            </a:pPr>
            <a:r>
              <a:rPr lang="en-US" sz="2000" dirty="0"/>
              <a:t>   personalities that do not mesh easily</a:t>
            </a:r>
          </a:p>
        </p:txBody>
      </p:sp>
      <p:sp>
        <p:nvSpPr>
          <p:cNvPr id="2867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6146" name="Picture 2" descr="http://4.bp.blogspot.com/-bnIIyJQV8J4/US6EwWSSnAI/AAAAAAAAK5A/0neyuD6c8xQ/s1600/interpersonal+conflic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4128" y="3462849"/>
            <a:ext cx="3120281" cy="233910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a:xfrm>
            <a:off x="8696938" y="6446044"/>
            <a:ext cx="417516" cy="377825"/>
          </a:xfrm>
        </p:spPr>
        <p:txBody>
          <a:bodyPr/>
          <a:lstStyle/>
          <a:p>
            <a:pPr algn="ctr"/>
            <a:fld id="{842422B5-12DA-40CC-AE4D-EB9F472458FF}" type="slidenum">
              <a:rPr lang="en-US" smtClean="0">
                <a:solidFill>
                  <a:srgbClr val="C19859">
                    <a:lumMod val="20000"/>
                    <a:lumOff val="80000"/>
                  </a:srgbClr>
                </a:solidFill>
              </a:rPr>
              <a:pPr algn="ctr"/>
              <a:t>19</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47383"/>
            <a:ext cx="1666528"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9789A3E1-6E69-46B4-B3ED-1B464B2DD3CF}"/>
              </a:ext>
            </a:extLst>
          </p:cNvPr>
          <p:cNvSpPr>
            <a:spLocks noGrp="1"/>
          </p:cNvSpPr>
          <p:nvPr>
            <p:ph type="dt" sz="half" idx="10"/>
          </p:nvPr>
        </p:nvSpPr>
        <p:spPr>
          <a:xfrm>
            <a:off x="7017427" y="6464460"/>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eaLnBrk="1" hangingPunct="1"/>
            <a:r>
              <a:rPr lang="en-US" b="1" dirty="0">
                <a:solidFill>
                  <a:srgbClr val="92D050"/>
                </a:solidFill>
              </a:rPr>
              <a:t>How Conflict is Perceived and Addressed</a:t>
            </a:r>
          </a:p>
        </p:txBody>
      </p:sp>
      <p:sp>
        <p:nvSpPr>
          <p:cNvPr id="28675" name="Rectangle 3"/>
          <p:cNvSpPr>
            <a:spLocks noGrp="1" noChangeArrowheads="1"/>
          </p:cNvSpPr>
          <p:nvPr>
            <p:ph idx="1"/>
          </p:nvPr>
        </p:nvSpPr>
        <p:spPr>
          <a:xfrm>
            <a:off x="457200" y="1772816"/>
            <a:ext cx="7772400" cy="4018385"/>
          </a:xfrm>
        </p:spPr>
        <p:txBody>
          <a:bodyPr>
            <a:normAutofit/>
          </a:bodyPr>
          <a:lstStyle/>
          <a:p>
            <a:pPr marL="0" indent="0" eaLnBrk="1" hangingPunct="1">
              <a:buFontTx/>
              <a:buNone/>
            </a:pPr>
            <a:r>
              <a:rPr lang="en-US" sz="2000" dirty="0"/>
              <a:t>There are </a:t>
            </a:r>
            <a:r>
              <a:rPr lang="en-US" sz="2000" dirty="0">
                <a:solidFill>
                  <a:srgbClr val="00B0F0"/>
                </a:solidFill>
              </a:rPr>
              <a:t>three</a:t>
            </a:r>
            <a:r>
              <a:rPr lang="en-US" sz="2000" dirty="0"/>
              <a:t> project management schools of thought regarding conflict.  They are:</a:t>
            </a:r>
          </a:p>
          <a:p>
            <a:pPr marL="457200" indent="-457200" eaLnBrk="1" hangingPunct="1">
              <a:buFont typeface="+mj-lt"/>
              <a:buAutoNum type="arabicPeriod"/>
            </a:pPr>
            <a:r>
              <a:rPr lang="en-US" sz="2000" dirty="0">
                <a:solidFill>
                  <a:srgbClr val="92D050"/>
                </a:solidFill>
              </a:rPr>
              <a:t>Traditional</a:t>
            </a:r>
            <a:r>
              <a:rPr lang="en-US" sz="2000" dirty="0"/>
              <a:t> (no conflict should be supported)</a:t>
            </a:r>
          </a:p>
          <a:p>
            <a:pPr marL="457200" indent="-457200" eaLnBrk="1" hangingPunct="1">
              <a:buFont typeface="+mj-lt"/>
              <a:buAutoNum type="arabicPeriod"/>
            </a:pPr>
            <a:r>
              <a:rPr lang="en-US" sz="2000" dirty="0">
                <a:solidFill>
                  <a:srgbClr val="92D050"/>
                </a:solidFill>
              </a:rPr>
              <a:t>Behavioral</a:t>
            </a:r>
            <a:r>
              <a:rPr lang="en-US" sz="2000" dirty="0"/>
              <a:t> (some is accepted, if inevitable)</a:t>
            </a:r>
          </a:p>
          <a:p>
            <a:pPr marL="457200" indent="-457200" eaLnBrk="1" hangingPunct="1">
              <a:buFont typeface="+mj-lt"/>
              <a:buAutoNum type="arabicPeriod"/>
            </a:pPr>
            <a:r>
              <a:rPr lang="en-US" sz="2000" dirty="0">
                <a:solidFill>
                  <a:srgbClr val="92D050"/>
                </a:solidFill>
              </a:rPr>
              <a:t>Interactionist</a:t>
            </a:r>
            <a:r>
              <a:rPr lang="en-US" sz="2000" dirty="0"/>
              <a:t> (limited amount of conflict is supported)</a:t>
            </a:r>
          </a:p>
          <a:p>
            <a:pPr marL="0" indent="0" eaLnBrk="1" hangingPunct="1">
              <a:buFont typeface="Wingdings" pitchFamily="2" charset="2"/>
              <a:buChar char="Ø"/>
            </a:pPr>
            <a:endParaRPr lang="en-US" sz="2000" dirty="0"/>
          </a:p>
          <a:p>
            <a:pPr marL="0" indent="0" eaLnBrk="1" hangingPunct="1">
              <a:buFont typeface="Wingdings" pitchFamily="2" charset="2"/>
              <a:buNone/>
            </a:pPr>
            <a:r>
              <a:rPr lang="en-US" sz="2000" dirty="0"/>
              <a:t>These 3 schools of thought vary dramatically in terms of how they view conflict, and how it should be dealt with.</a:t>
            </a:r>
          </a:p>
        </p:txBody>
      </p:sp>
      <p:sp>
        <p:nvSpPr>
          <p:cNvPr id="2970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96938" y="6480175"/>
            <a:ext cx="417516" cy="377825"/>
          </a:xfrm>
        </p:spPr>
        <p:txBody>
          <a:bodyPr/>
          <a:lstStyle/>
          <a:p>
            <a:pPr algn="ctr"/>
            <a:fld id="{842422B5-12DA-40CC-AE4D-EB9F472458FF}" type="slidenum">
              <a:rPr lang="en-US" smtClean="0">
                <a:solidFill>
                  <a:srgbClr val="C19859">
                    <a:lumMod val="20000"/>
                    <a:lumOff val="80000"/>
                  </a:srgbClr>
                </a:solidFill>
              </a:rPr>
              <a:pPr algn="ctr"/>
              <a:t>20</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46044"/>
            <a:ext cx="1656184"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CA79A24C-A089-4BA7-99DD-B5AF35D7AB07}"/>
              </a:ext>
            </a:extLst>
          </p:cNvPr>
          <p:cNvSpPr>
            <a:spLocks noGrp="1"/>
          </p:cNvSpPr>
          <p:nvPr>
            <p:ph type="dt" sz="half" idx="10"/>
          </p:nvPr>
        </p:nvSpPr>
        <p:spPr>
          <a:xfrm>
            <a:off x="6727638" y="6446043"/>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7" dur="500"/>
                                        <p:tgtEl>
                                          <p:spTgt spid="286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2" dur="500"/>
                                        <p:tgtEl>
                                          <p:spTgt spid="2867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675">
                                            <p:txEl>
                                              <p:pRg st="3" end="3"/>
                                            </p:txEl>
                                          </p:spTgt>
                                        </p:tgtEl>
                                        <p:attrNameLst>
                                          <p:attrName>style.visibility</p:attrName>
                                        </p:attrNameLst>
                                      </p:cBhvr>
                                      <p:to>
                                        <p:strVal val="visible"/>
                                      </p:to>
                                    </p:set>
                                    <p:animEffect transition="in" filter="blinds(horizontal)">
                                      <p:cBhvr>
                                        <p:cTn id="17" dur="500"/>
                                        <p:tgtEl>
                                          <p:spTgt spid="286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pPr eaLnBrk="1" hangingPunct="1"/>
            <a:r>
              <a:rPr lang="en-US" b="1" dirty="0">
                <a:solidFill>
                  <a:srgbClr val="92D050"/>
                </a:solidFill>
              </a:rPr>
              <a:t>1. The Traditional View of Conflict</a:t>
            </a:r>
          </a:p>
        </p:txBody>
      </p:sp>
      <p:sp>
        <p:nvSpPr>
          <p:cNvPr id="30723" name="Rectangle 3"/>
          <p:cNvSpPr>
            <a:spLocks noGrp="1" noChangeArrowheads="1"/>
          </p:cNvSpPr>
          <p:nvPr>
            <p:ph idx="1"/>
          </p:nvPr>
        </p:nvSpPr>
        <p:spPr/>
        <p:txBody>
          <a:bodyPr>
            <a:normAutofit/>
          </a:bodyPr>
          <a:lstStyle/>
          <a:p>
            <a:pPr eaLnBrk="1" hangingPunct="1"/>
            <a:r>
              <a:rPr lang="en-US" sz="2000" dirty="0"/>
              <a:t>The </a:t>
            </a:r>
            <a:r>
              <a:rPr lang="en-US" sz="2000" i="1" dirty="0">
                <a:solidFill>
                  <a:srgbClr val="00B0F0"/>
                </a:solidFill>
              </a:rPr>
              <a:t>Traditionalist</a:t>
            </a:r>
            <a:r>
              <a:rPr lang="en-US" sz="2000" dirty="0"/>
              <a:t> view of conflict is to view it as having a negative effect on organizations.</a:t>
            </a:r>
          </a:p>
          <a:p>
            <a:pPr eaLnBrk="1" hangingPunct="1"/>
            <a:r>
              <a:rPr lang="en-US" sz="2000" dirty="0"/>
              <a:t>Those that adhere to this theory perceive </a:t>
            </a:r>
            <a:r>
              <a:rPr lang="en-US" sz="2000" dirty="0">
                <a:solidFill>
                  <a:srgbClr val="92D050"/>
                </a:solidFill>
              </a:rPr>
              <a:t>all conflict to be bad</a:t>
            </a:r>
            <a:r>
              <a:rPr lang="en-US" sz="2000" dirty="0"/>
              <a:t>.  They believe that when conflict occurs it should be resolved as quickly and painlessly as possible.</a:t>
            </a:r>
          </a:p>
          <a:p>
            <a:pPr eaLnBrk="1" hangingPunct="1"/>
            <a:r>
              <a:rPr lang="en-US" sz="2000" dirty="0"/>
              <a:t>The emphasis of traditionalists is </a:t>
            </a:r>
            <a:r>
              <a:rPr lang="en-US" sz="2000" dirty="0">
                <a:solidFill>
                  <a:srgbClr val="00B0F0"/>
                </a:solidFill>
              </a:rPr>
              <a:t>conflict suppression</a:t>
            </a:r>
            <a:r>
              <a:rPr lang="en-US" sz="2000" dirty="0"/>
              <a:t> and </a:t>
            </a:r>
            <a:r>
              <a:rPr lang="en-US" sz="2000" dirty="0">
                <a:solidFill>
                  <a:srgbClr val="00B0F0"/>
                </a:solidFill>
              </a:rPr>
              <a:t>elimination</a:t>
            </a:r>
            <a:r>
              <a:rPr lang="en-US" sz="2000" dirty="0"/>
              <a:t>.</a:t>
            </a:r>
          </a:p>
          <a:p>
            <a:pPr eaLnBrk="1" hangingPunct="1"/>
            <a:r>
              <a:rPr lang="en-US" sz="2000" dirty="0"/>
              <a:t>This type of conflict management can have a very strong cultural bias.  Japanese business practices frequently promote this type of conflict resolution where saving face is a prime consideration.</a:t>
            </a:r>
          </a:p>
        </p:txBody>
      </p:sp>
      <p:sp>
        <p:nvSpPr>
          <p:cNvPr id="3072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76456" y="6443358"/>
            <a:ext cx="417516" cy="377825"/>
          </a:xfrm>
        </p:spPr>
        <p:txBody>
          <a:bodyPr/>
          <a:lstStyle/>
          <a:p>
            <a:pPr algn="ctr"/>
            <a:fld id="{842422B5-12DA-40CC-AE4D-EB9F472458FF}" type="slidenum">
              <a:rPr lang="en-US" smtClean="0">
                <a:solidFill>
                  <a:srgbClr val="C19859">
                    <a:lumMod val="20000"/>
                    <a:lumOff val="80000"/>
                  </a:srgbClr>
                </a:solidFill>
              </a:rPr>
              <a:pPr algn="ctr"/>
              <a:t>21</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46044"/>
            <a:ext cx="1666528"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17C86E68-4050-4367-9F3E-B172EE75586B}"/>
              </a:ext>
            </a:extLst>
          </p:cNvPr>
          <p:cNvSpPr>
            <a:spLocks noGrp="1"/>
          </p:cNvSpPr>
          <p:nvPr>
            <p:ph type="dt" sz="half" idx="10"/>
          </p:nvPr>
        </p:nvSpPr>
        <p:spPr>
          <a:xfrm>
            <a:off x="6836965" y="6446044"/>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eaLnBrk="1" hangingPunct="1"/>
            <a:r>
              <a:rPr lang="en-US" b="1" dirty="0">
                <a:solidFill>
                  <a:srgbClr val="92D050"/>
                </a:solidFill>
              </a:rPr>
              <a:t>2. The Behavioral View of Conflict</a:t>
            </a:r>
          </a:p>
        </p:txBody>
      </p:sp>
      <p:sp>
        <p:nvSpPr>
          <p:cNvPr id="31747" name="Rectangle 3"/>
          <p:cNvSpPr>
            <a:spLocks noGrp="1" noChangeArrowheads="1"/>
          </p:cNvSpPr>
          <p:nvPr>
            <p:ph idx="1"/>
          </p:nvPr>
        </p:nvSpPr>
        <p:spPr/>
        <p:txBody>
          <a:bodyPr>
            <a:normAutofit/>
          </a:bodyPr>
          <a:lstStyle/>
          <a:p>
            <a:pPr marL="288925" indent="-288925" eaLnBrk="1" hangingPunct="1"/>
            <a:r>
              <a:rPr lang="en-US" sz="2000" i="1" dirty="0">
                <a:solidFill>
                  <a:srgbClr val="00B0F0"/>
                </a:solidFill>
              </a:rPr>
              <a:t>Behaviorists</a:t>
            </a:r>
            <a:r>
              <a:rPr lang="en-US" sz="2000" dirty="0"/>
              <a:t> regard conflict as a </a:t>
            </a:r>
            <a:r>
              <a:rPr lang="en-US" sz="2000" dirty="0">
                <a:solidFill>
                  <a:srgbClr val="00B0F0"/>
                </a:solidFill>
              </a:rPr>
              <a:t>natural</a:t>
            </a:r>
            <a:r>
              <a:rPr lang="en-US" sz="2000" dirty="0"/>
              <a:t> and an </a:t>
            </a:r>
            <a:r>
              <a:rPr lang="en-US" sz="2000" dirty="0">
                <a:solidFill>
                  <a:srgbClr val="00B0F0"/>
                </a:solidFill>
              </a:rPr>
              <a:t>inevitable</a:t>
            </a:r>
            <a:r>
              <a:rPr lang="en-US" sz="2000" dirty="0"/>
              <a:t> part of organizational life.</a:t>
            </a:r>
          </a:p>
          <a:p>
            <a:pPr marL="288925" indent="-288925" eaLnBrk="1" hangingPunct="1"/>
            <a:endParaRPr lang="en-US" sz="2000" dirty="0"/>
          </a:p>
          <a:p>
            <a:pPr marL="288925" indent="-288925" eaLnBrk="1" hangingPunct="1"/>
            <a:r>
              <a:rPr lang="en-US" sz="2000" dirty="0"/>
              <a:t>Different points of view among functional departments including their having differing goals, attitudes, and beliefs are natural and permanent states among members of a company.</a:t>
            </a:r>
          </a:p>
          <a:p>
            <a:pPr marL="288925" indent="-288925" eaLnBrk="1" hangingPunct="1"/>
            <a:endParaRPr lang="en-US" sz="2000" dirty="0"/>
          </a:p>
          <a:p>
            <a:pPr marL="288925" indent="-288925" eaLnBrk="1" hangingPunct="1"/>
            <a:r>
              <a:rPr lang="en-US" sz="2000" dirty="0"/>
              <a:t>Behaviorists' solution for conflict is to accept it and </a:t>
            </a:r>
            <a:r>
              <a:rPr lang="en-US" sz="2000" dirty="0">
                <a:solidFill>
                  <a:srgbClr val="00B0F0"/>
                </a:solidFill>
              </a:rPr>
              <a:t>manage it </a:t>
            </a:r>
            <a:r>
              <a:rPr lang="en-US" sz="2000" dirty="0"/>
              <a:t>effectively rather than try to eliminate or suppress it.</a:t>
            </a:r>
          </a:p>
        </p:txBody>
      </p:sp>
      <p:sp>
        <p:nvSpPr>
          <p:cNvPr id="31748"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76456" y="6443357"/>
            <a:ext cx="417516" cy="377825"/>
          </a:xfrm>
        </p:spPr>
        <p:txBody>
          <a:bodyPr/>
          <a:lstStyle/>
          <a:p>
            <a:pPr algn="ctr"/>
            <a:fld id="{842422B5-12DA-40CC-AE4D-EB9F472458FF}" type="slidenum">
              <a:rPr lang="en-US" smtClean="0">
                <a:solidFill>
                  <a:srgbClr val="C19859">
                    <a:lumMod val="20000"/>
                    <a:lumOff val="80000"/>
                  </a:srgbClr>
                </a:solidFill>
              </a:rPr>
              <a:pPr algn="ctr"/>
              <a:t>22</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683568" y="6443358"/>
            <a:ext cx="1728192" cy="377825"/>
          </a:xfrm>
        </p:spPr>
        <p:txBody>
          <a:bodyPr/>
          <a:lstStyle/>
          <a:p>
            <a:pPr algn="ctr"/>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C33F4076-B506-481D-9523-B6DEF36E06DE}"/>
              </a:ext>
            </a:extLst>
          </p:cNvPr>
          <p:cNvSpPr>
            <a:spLocks noGrp="1"/>
          </p:cNvSpPr>
          <p:nvPr>
            <p:ph type="dt" sz="half" idx="10"/>
          </p:nvPr>
        </p:nvSpPr>
        <p:spPr>
          <a:xfrm>
            <a:off x="7017427" y="6443356"/>
            <a:ext cx="1212173" cy="377825"/>
          </a:xfrm>
        </p:spPr>
        <p:txBody>
          <a:bodyPr/>
          <a:lstStyle/>
          <a:p>
            <a:r>
              <a:rPr lang="en-US" b="1" dirty="0">
                <a:solidFill>
                  <a:srgbClr val="C19859">
                    <a:lumMod val="20000"/>
                    <a:lumOff val="80000"/>
                  </a:srgbClr>
                </a:solidFill>
              </a:rPr>
              <a:t>Lecture 10</a:t>
            </a:r>
            <a:endParaRPr lang="en-US" dirty="0">
              <a:solidFill>
                <a:srgbClr val="C19859">
                  <a:lumMod val="20000"/>
                  <a:lumOff val="80000"/>
                </a:srgbClr>
              </a:solidFil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b="1" dirty="0">
                <a:solidFill>
                  <a:srgbClr val="92D050"/>
                </a:solidFill>
              </a:rPr>
              <a:t>3. The Interactionist View of Conflict</a:t>
            </a:r>
          </a:p>
        </p:txBody>
      </p:sp>
      <p:sp>
        <p:nvSpPr>
          <p:cNvPr id="32771" name="Rectangle 3"/>
          <p:cNvSpPr>
            <a:spLocks noGrp="1" noChangeArrowheads="1"/>
          </p:cNvSpPr>
          <p:nvPr>
            <p:ph idx="1"/>
          </p:nvPr>
        </p:nvSpPr>
        <p:spPr/>
        <p:txBody>
          <a:bodyPr>
            <a:normAutofit/>
          </a:bodyPr>
          <a:lstStyle/>
          <a:p>
            <a:pPr eaLnBrk="1" hangingPunct="1"/>
            <a:r>
              <a:rPr lang="en-US" sz="2000" i="1" dirty="0"/>
              <a:t>Interactionists</a:t>
            </a:r>
            <a:r>
              <a:rPr lang="en-US" sz="2000" dirty="0"/>
              <a:t>, like behaviorists, believe that conflict is inevitable.</a:t>
            </a:r>
          </a:p>
          <a:p>
            <a:pPr eaLnBrk="1" hangingPunct="1"/>
            <a:r>
              <a:rPr lang="en-US" sz="2000" dirty="0"/>
              <a:t>However, interactionists see </a:t>
            </a:r>
            <a:r>
              <a:rPr lang="en-US" sz="2000" dirty="0">
                <a:solidFill>
                  <a:srgbClr val="00B0F0"/>
                </a:solidFill>
              </a:rPr>
              <a:t>conflict</a:t>
            </a:r>
            <a:r>
              <a:rPr lang="en-US" sz="2000" dirty="0"/>
              <a:t> as a </a:t>
            </a:r>
            <a:r>
              <a:rPr lang="en-US" sz="2000" dirty="0">
                <a:solidFill>
                  <a:srgbClr val="00B0F0"/>
                </a:solidFill>
              </a:rPr>
              <a:t>benefit to an organization</a:t>
            </a:r>
            <a:r>
              <a:rPr lang="en-US" sz="2000" dirty="0"/>
              <a:t>, and actually encourage a controlled amount of it to develop.</a:t>
            </a:r>
          </a:p>
          <a:p>
            <a:pPr eaLnBrk="1" hangingPunct="1"/>
            <a:r>
              <a:rPr lang="en-US" sz="2000" dirty="0"/>
              <a:t>Conflict in this view is seen to prevent an organization from becoming stagnant</a:t>
            </a:r>
          </a:p>
          <a:p>
            <a:pPr eaLnBrk="1" hangingPunct="1"/>
            <a:r>
              <a:rPr lang="en-US" sz="2000" dirty="0"/>
              <a:t>Conflict is theorized to introduce an </a:t>
            </a:r>
            <a:r>
              <a:rPr lang="en-US" sz="2000" dirty="0">
                <a:solidFill>
                  <a:srgbClr val="00B0F0"/>
                </a:solidFill>
              </a:rPr>
              <a:t>element of tension </a:t>
            </a:r>
            <a:r>
              <a:rPr lang="en-US" sz="2000" dirty="0"/>
              <a:t>that produces innovation, creativity, and higher productivity.</a:t>
            </a:r>
          </a:p>
          <a:p>
            <a:pPr eaLnBrk="1" hangingPunct="1"/>
            <a:r>
              <a:rPr lang="en-US" sz="2000" dirty="0"/>
              <a:t>Interactionists see a balance in conflict being required where too little leads to inertia and too much leads to chaos.</a:t>
            </a:r>
          </a:p>
        </p:txBody>
      </p:sp>
      <p:sp>
        <p:nvSpPr>
          <p:cNvPr id="32772"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04448" y="6425773"/>
            <a:ext cx="417516" cy="377825"/>
          </a:xfrm>
        </p:spPr>
        <p:txBody>
          <a:bodyPr/>
          <a:lstStyle/>
          <a:p>
            <a:pPr algn="ctr"/>
            <a:fld id="{842422B5-12DA-40CC-AE4D-EB9F472458FF}" type="slidenum">
              <a:rPr lang="en-US" smtClean="0">
                <a:solidFill>
                  <a:srgbClr val="C19859">
                    <a:lumMod val="20000"/>
                    <a:lumOff val="80000"/>
                  </a:srgbClr>
                </a:solidFill>
              </a:rPr>
              <a:pPr algn="ctr"/>
              <a:t>23</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25774"/>
            <a:ext cx="1944216"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D7EEFA90-4E5E-4819-B875-38BA527AC310}"/>
              </a:ext>
            </a:extLst>
          </p:cNvPr>
          <p:cNvSpPr>
            <a:spLocks noGrp="1"/>
          </p:cNvSpPr>
          <p:nvPr>
            <p:ph type="dt" sz="half" idx="10"/>
          </p:nvPr>
        </p:nvSpPr>
        <p:spPr>
          <a:xfrm>
            <a:off x="6732240" y="6421329"/>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609601"/>
            <a:ext cx="7772400" cy="1019199"/>
          </a:xfrm>
        </p:spPr>
        <p:txBody>
          <a:bodyPr>
            <a:normAutofit/>
          </a:bodyPr>
          <a:lstStyle/>
          <a:p>
            <a:pPr eaLnBrk="1" hangingPunct="1"/>
            <a:r>
              <a:rPr lang="en-US" b="1" dirty="0">
                <a:solidFill>
                  <a:srgbClr val="92D050"/>
                </a:solidFill>
              </a:rPr>
              <a:t>Sources of Conflict in a Project</a:t>
            </a:r>
          </a:p>
        </p:txBody>
      </p:sp>
      <p:sp>
        <p:nvSpPr>
          <p:cNvPr id="33795" name="Rectangle 3"/>
          <p:cNvSpPr>
            <a:spLocks noGrp="1" noChangeArrowheads="1"/>
          </p:cNvSpPr>
          <p:nvPr>
            <p:ph idx="1"/>
          </p:nvPr>
        </p:nvSpPr>
        <p:spPr>
          <a:xfrm>
            <a:off x="457200" y="1844824"/>
            <a:ext cx="7772400" cy="3946377"/>
          </a:xfrm>
        </p:spPr>
        <p:txBody>
          <a:bodyPr>
            <a:normAutofit fontScale="85000" lnSpcReduction="20000"/>
          </a:bodyPr>
          <a:lstStyle/>
          <a:p>
            <a:pPr marL="0" indent="0" eaLnBrk="1" hangingPunct="1">
              <a:lnSpc>
                <a:spcPct val="90000"/>
              </a:lnSpc>
              <a:buFontTx/>
              <a:buNone/>
            </a:pPr>
            <a:r>
              <a:rPr lang="en-US" sz="2000" dirty="0">
                <a:solidFill>
                  <a:srgbClr val="FFC000"/>
                </a:solidFill>
              </a:rPr>
              <a:t>Project conflict </a:t>
            </a:r>
            <a:r>
              <a:rPr lang="en-US" sz="2000" dirty="0"/>
              <a:t>arises out of </a:t>
            </a:r>
            <a:r>
              <a:rPr lang="en-US" sz="2000" dirty="0">
                <a:solidFill>
                  <a:srgbClr val="00B0F0"/>
                </a:solidFill>
              </a:rPr>
              <a:t>multiple sources </a:t>
            </a:r>
            <a:r>
              <a:rPr lang="en-US" sz="2000" dirty="0"/>
              <a:t>including but not limited to:</a:t>
            </a:r>
          </a:p>
          <a:p>
            <a:pPr marL="0" indent="0" eaLnBrk="1" hangingPunct="1">
              <a:lnSpc>
                <a:spcPct val="90000"/>
              </a:lnSpc>
            </a:pPr>
            <a:r>
              <a:rPr lang="en-US" sz="2000" dirty="0"/>
              <a:t>   violations of group or organizational norms</a:t>
            </a:r>
          </a:p>
          <a:p>
            <a:pPr marL="0" indent="0" eaLnBrk="1" hangingPunct="1">
              <a:lnSpc>
                <a:spcPct val="90000"/>
              </a:lnSpc>
            </a:pPr>
            <a:r>
              <a:rPr lang="en-US" sz="2000" dirty="0"/>
              <a:t>   disagreement over project goals</a:t>
            </a:r>
          </a:p>
          <a:p>
            <a:pPr marL="0" indent="0" eaLnBrk="1" hangingPunct="1">
              <a:lnSpc>
                <a:spcPct val="90000"/>
              </a:lnSpc>
            </a:pPr>
            <a:r>
              <a:rPr lang="en-US" sz="2000" dirty="0"/>
              <a:t>   personal slights</a:t>
            </a:r>
          </a:p>
          <a:p>
            <a:pPr marL="0" indent="0" eaLnBrk="1" hangingPunct="1">
              <a:lnSpc>
                <a:spcPct val="90000"/>
              </a:lnSpc>
            </a:pPr>
            <a:r>
              <a:rPr lang="en-US" sz="2000" dirty="0"/>
              <a:t>   threats to job security</a:t>
            </a:r>
          </a:p>
          <a:p>
            <a:pPr marL="0" indent="0" eaLnBrk="1" hangingPunct="1">
              <a:lnSpc>
                <a:spcPct val="90000"/>
              </a:lnSpc>
            </a:pPr>
            <a:r>
              <a:rPr lang="en-US" sz="2000" dirty="0"/>
              <a:t>   ambition and ego</a:t>
            </a:r>
          </a:p>
          <a:p>
            <a:pPr marL="0" indent="0" eaLnBrk="1" hangingPunct="1">
              <a:lnSpc>
                <a:spcPct val="90000"/>
              </a:lnSpc>
              <a:buFontTx/>
              <a:buNone/>
            </a:pPr>
            <a:r>
              <a:rPr lang="en-US" sz="2000" dirty="0"/>
              <a:t>etc...........</a:t>
            </a:r>
          </a:p>
          <a:p>
            <a:pPr marL="0" indent="0" eaLnBrk="1" hangingPunct="1">
              <a:lnSpc>
                <a:spcPct val="90000"/>
              </a:lnSpc>
            </a:pPr>
            <a:endParaRPr lang="en-US" sz="2000" dirty="0"/>
          </a:p>
          <a:p>
            <a:pPr marL="0" indent="0" eaLnBrk="1" hangingPunct="1">
              <a:lnSpc>
                <a:spcPct val="90000"/>
              </a:lnSpc>
              <a:buFontTx/>
              <a:buNone/>
            </a:pPr>
            <a:r>
              <a:rPr lang="en-US" sz="2000" dirty="0"/>
              <a:t>These can generally be summarized by dividing them into 2 separate types:</a:t>
            </a:r>
          </a:p>
          <a:p>
            <a:pPr marL="0" indent="0" eaLnBrk="1" hangingPunct="1">
              <a:lnSpc>
                <a:spcPct val="90000"/>
              </a:lnSpc>
              <a:buFontTx/>
              <a:buNone/>
            </a:pPr>
            <a:endParaRPr lang="en-US" sz="2000" dirty="0"/>
          </a:p>
          <a:p>
            <a:pPr marL="0" indent="0" eaLnBrk="1" hangingPunct="1">
              <a:lnSpc>
                <a:spcPct val="90000"/>
              </a:lnSpc>
            </a:pPr>
            <a:r>
              <a:rPr lang="en-US" sz="2000" dirty="0"/>
              <a:t>   </a:t>
            </a:r>
            <a:r>
              <a:rPr lang="en-US" sz="2000" b="1" dirty="0"/>
              <a:t>Organizational causes</a:t>
            </a:r>
          </a:p>
          <a:p>
            <a:pPr marL="0" indent="0" eaLnBrk="1" hangingPunct="1">
              <a:lnSpc>
                <a:spcPct val="90000"/>
              </a:lnSpc>
            </a:pPr>
            <a:r>
              <a:rPr lang="en-US" sz="2000" dirty="0"/>
              <a:t>   </a:t>
            </a:r>
            <a:r>
              <a:rPr lang="en-US" sz="2000" b="1" dirty="0"/>
              <a:t>Interpersonal causes</a:t>
            </a:r>
          </a:p>
          <a:p>
            <a:pPr marL="0" indent="0" eaLnBrk="1" hangingPunct="1">
              <a:lnSpc>
                <a:spcPct val="90000"/>
              </a:lnSpc>
            </a:pPr>
            <a:endParaRPr lang="en-US" sz="2000" dirty="0"/>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04448" y="6443357"/>
            <a:ext cx="417516" cy="377825"/>
          </a:xfrm>
        </p:spPr>
        <p:txBody>
          <a:bodyPr/>
          <a:lstStyle/>
          <a:p>
            <a:pPr algn="ctr"/>
            <a:fld id="{842422B5-12DA-40CC-AE4D-EB9F472458FF}" type="slidenum">
              <a:rPr lang="en-US" smtClean="0">
                <a:solidFill>
                  <a:srgbClr val="C19859">
                    <a:lumMod val="20000"/>
                    <a:lumOff val="80000"/>
                  </a:srgbClr>
                </a:solidFill>
              </a:rPr>
              <a:pPr algn="ctr"/>
              <a:t>24</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683568" y="6443358"/>
            <a:ext cx="1872208"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FA46D58E-A3F5-403A-BB4E-7C488E601967}"/>
              </a:ext>
            </a:extLst>
          </p:cNvPr>
          <p:cNvSpPr>
            <a:spLocks noGrp="1"/>
          </p:cNvSpPr>
          <p:nvPr>
            <p:ph type="dt" sz="half" idx="10"/>
          </p:nvPr>
        </p:nvSpPr>
        <p:spPr>
          <a:xfrm>
            <a:off x="6876256" y="6443358"/>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eaLnBrk="1" hangingPunct="1"/>
            <a:r>
              <a:rPr lang="en-US" b="1" u="sng" dirty="0">
                <a:solidFill>
                  <a:srgbClr val="92D050"/>
                </a:solidFill>
              </a:rPr>
              <a:t>Organizational</a:t>
            </a:r>
            <a:r>
              <a:rPr lang="en-US" b="1" dirty="0">
                <a:solidFill>
                  <a:srgbClr val="92D050"/>
                </a:solidFill>
              </a:rPr>
              <a:t> Causes of Conflict</a:t>
            </a:r>
          </a:p>
        </p:txBody>
      </p:sp>
      <p:sp>
        <p:nvSpPr>
          <p:cNvPr id="34819" name="Rectangle 3"/>
          <p:cNvSpPr>
            <a:spLocks noGrp="1" noChangeArrowheads="1"/>
          </p:cNvSpPr>
          <p:nvPr>
            <p:ph idx="1"/>
          </p:nvPr>
        </p:nvSpPr>
        <p:spPr>
          <a:xfrm>
            <a:off x="476563" y="1772816"/>
            <a:ext cx="7772400" cy="3735204"/>
          </a:xfrm>
        </p:spPr>
        <p:txBody>
          <a:bodyPr/>
          <a:lstStyle/>
          <a:p>
            <a:pPr eaLnBrk="1" hangingPunct="1">
              <a:buFontTx/>
              <a:buNone/>
            </a:pPr>
            <a:r>
              <a:rPr lang="en-US" sz="2000" dirty="0"/>
              <a:t>Some of the more common causes of organizational conflict include:</a:t>
            </a:r>
          </a:p>
          <a:p>
            <a:pPr eaLnBrk="1" hangingPunct="1">
              <a:buFontTx/>
              <a:buNone/>
            </a:pPr>
            <a:endParaRPr lang="en-US" sz="2000" dirty="0"/>
          </a:p>
          <a:p>
            <a:pPr marL="457200" indent="-457200" eaLnBrk="1" hangingPunct="1">
              <a:buFont typeface="+mj-lt"/>
              <a:buAutoNum type="alphaLcParenR"/>
            </a:pPr>
            <a:r>
              <a:rPr lang="en-US" sz="2000" dirty="0"/>
              <a:t>Reward systems</a:t>
            </a:r>
          </a:p>
          <a:p>
            <a:pPr marL="457200" indent="-457200" eaLnBrk="1" hangingPunct="1">
              <a:buFont typeface="+mj-lt"/>
              <a:buAutoNum type="alphaLcParenR"/>
            </a:pPr>
            <a:r>
              <a:rPr lang="en-US" sz="2000" dirty="0"/>
              <a:t>Scarce resources</a:t>
            </a:r>
          </a:p>
          <a:p>
            <a:pPr marL="457200" indent="-457200" eaLnBrk="1" hangingPunct="1">
              <a:buFont typeface="+mj-lt"/>
              <a:buAutoNum type="alphaLcParenR"/>
            </a:pPr>
            <a:r>
              <a:rPr lang="en-US" sz="2000" dirty="0"/>
              <a:t>Uncertainty</a:t>
            </a:r>
          </a:p>
          <a:p>
            <a:pPr marL="457200" indent="-457200" eaLnBrk="1" hangingPunct="1">
              <a:buFont typeface="+mj-lt"/>
              <a:buAutoNum type="alphaLcParenR"/>
            </a:pPr>
            <a:r>
              <a:rPr lang="en-US" sz="2000" dirty="0"/>
              <a:t>Different mind sets among departments</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97775" y="6439815"/>
            <a:ext cx="417516" cy="377825"/>
          </a:xfrm>
        </p:spPr>
        <p:txBody>
          <a:bodyPr/>
          <a:lstStyle/>
          <a:p>
            <a:pPr algn="ctr"/>
            <a:fld id="{842422B5-12DA-40CC-AE4D-EB9F472458FF}" type="slidenum">
              <a:rPr lang="en-US" smtClean="0">
                <a:solidFill>
                  <a:srgbClr val="C19859">
                    <a:lumMod val="20000"/>
                    <a:lumOff val="80000"/>
                  </a:srgbClr>
                </a:solidFill>
              </a:rPr>
              <a:pPr algn="ctr"/>
              <a:t>25</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34869"/>
            <a:ext cx="1800200"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4857B1DB-2D92-42DD-880E-1C94793BE126}"/>
              </a:ext>
            </a:extLst>
          </p:cNvPr>
          <p:cNvSpPr>
            <a:spLocks noGrp="1"/>
          </p:cNvSpPr>
          <p:nvPr>
            <p:ph type="dt" sz="half" idx="10"/>
          </p:nvPr>
        </p:nvSpPr>
        <p:spPr>
          <a:xfrm>
            <a:off x="7017427" y="6434868"/>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b="1" dirty="0">
                <a:solidFill>
                  <a:srgbClr val="92D050"/>
                </a:solidFill>
              </a:rPr>
              <a:t>a) Organizational Causes of Conflict – </a:t>
            </a:r>
            <a:br>
              <a:rPr lang="en-US" b="1" dirty="0">
                <a:solidFill>
                  <a:srgbClr val="92D050"/>
                </a:solidFill>
              </a:rPr>
            </a:br>
            <a:r>
              <a:rPr lang="en-US" b="1" dirty="0">
                <a:solidFill>
                  <a:srgbClr val="92D050"/>
                </a:solidFill>
              </a:rPr>
              <a:t>Reward Systems</a:t>
            </a:r>
          </a:p>
        </p:txBody>
      </p:sp>
      <p:sp>
        <p:nvSpPr>
          <p:cNvPr id="35843" name="Rectangle 3"/>
          <p:cNvSpPr>
            <a:spLocks noGrp="1" noChangeArrowheads="1"/>
          </p:cNvSpPr>
          <p:nvPr>
            <p:ph idx="1"/>
          </p:nvPr>
        </p:nvSpPr>
        <p:spPr/>
        <p:txBody>
          <a:bodyPr>
            <a:normAutofit lnSpcReduction="10000"/>
          </a:bodyPr>
          <a:lstStyle/>
          <a:p>
            <a:pPr eaLnBrk="1" hangingPunct="1"/>
            <a:r>
              <a:rPr lang="en-US" sz="2000" dirty="0">
                <a:solidFill>
                  <a:srgbClr val="00B0F0"/>
                </a:solidFill>
              </a:rPr>
              <a:t>Reward systems </a:t>
            </a:r>
            <a:r>
              <a:rPr lang="en-US" sz="2000" dirty="0"/>
              <a:t>are competitive processes some organizations have set up that pit one group or functional department against another.</a:t>
            </a:r>
          </a:p>
          <a:p>
            <a:pPr eaLnBrk="1" hangingPunct="1"/>
            <a:r>
              <a:rPr lang="en-US" sz="2000" dirty="0"/>
              <a:t>As an example, when functional managers are evaluated on the performance of their sub-ordinates within the department, they are loath to allow their best workers to become involved in </a:t>
            </a:r>
            <a:r>
              <a:rPr lang="en-US" sz="2000" dirty="0">
                <a:solidFill>
                  <a:srgbClr val="00B050"/>
                </a:solidFill>
              </a:rPr>
              <a:t>project work </a:t>
            </a:r>
            <a:r>
              <a:rPr lang="en-US" sz="2000" dirty="0"/>
              <a:t>for any length of time.  In these cases typically the functional manager reserves his </a:t>
            </a:r>
            <a:r>
              <a:rPr lang="en-US" sz="2000" dirty="0">
                <a:solidFill>
                  <a:srgbClr val="00B0F0"/>
                </a:solidFill>
              </a:rPr>
              <a:t>best workers </a:t>
            </a:r>
            <a:r>
              <a:rPr lang="en-US" sz="2000" dirty="0"/>
              <a:t>for department work and makes his </a:t>
            </a:r>
            <a:r>
              <a:rPr lang="en-US" sz="2000" dirty="0">
                <a:solidFill>
                  <a:srgbClr val="00B0F0"/>
                </a:solidFill>
              </a:rPr>
              <a:t>lesser performers</a:t>
            </a:r>
            <a:r>
              <a:rPr lang="en-US" sz="2000" dirty="0"/>
              <a:t> available for project work.  </a:t>
            </a:r>
          </a:p>
          <a:p>
            <a:pPr eaLnBrk="1" hangingPunct="1"/>
            <a:r>
              <a:rPr lang="en-US" sz="2000" dirty="0"/>
              <a:t>This also creates a justifiable tension between the </a:t>
            </a:r>
            <a:r>
              <a:rPr lang="en-US" sz="2000" b="1" dirty="0">
                <a:solidFill>
                  <a:srgbClr val="FFFF00"/>
                </a:solidFill>
              </a:rPr>
              <a:t>project manager </a:t>
            </a:r>
            <a:r>
              <a:rPr lang="en-US" sz="2000" dirty="0"/>
              <a:t>and the </a:t>
            </a:r>
            <a:r>
              <a:rPr lang="en-US" sz="2000" dirty="0">
                <a:solidFill>
                  <a:srgbClr val="FFFF00"/>
                </a:solidFill>
              </a:rPr>
              <a:t>functional manger </a:t>
            </a:r>
            <a:r>
              <a:rPr lang="en-US" sz="2000" dirty="0"/>
              <a:t>whom he perceives as putting his interests ahead of the organization.</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06567" y="6448976"/>
            <a:ext cx="417516" cy="377825"/>
          </a:xfrm>
        </p:spPr>
        <p:txBody>
          <a:bodyPr/>
          <a:lstStyle/>
          <a:p>
            <a:pPr algn="ctr"/>
            <a:fld id="{842422B5-12DA-40CC-AE4D-EB9F472458FF}" type="slidenum">
              <a:rPr lang="en-US" smtClean="0">
                <a:solidFill>
                  <a:srgbClr val="C19859">
                    <a:lumMod val="20000"/>
                    <a:lumOff val="80000"/>
                  </a:srgbClr>
                </a:solidFill>
              </a:rPr>
              <a:pPr algn="ctr"/>
              <a:t>26</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46044"/>
            <a:ext cx="1656184"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02DFCA79-914F-47E6-A8DE-0F46B621BFF7}"/>
              </a:ext>
            </a:extLst>
          </p:cNvPr>
          <p:cNvSpPr>
            <a:spLocks noGrp="1"/>
          </p:cNvSpPr>
          <p:nvPr>
            <p:ph type="dt" sz="half" idx="10"/>
          </p:nvPr>
        </p:nvSpPr>
        <p:spPr>
          <a:xfrm>
            <a:off x="6827096" y="6480175"/>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pPr eaLnBrk="1" hangingPunct="1"/>
            <a:r>
              <a:rPr lang="en-US" b="1" dirty="0">
                <a:solidFill>
                  <a:srgbClr val="92D050"/>
                </a:solidFill>
              </a:rPr>
              <a:t>B) Organizational Causes of Conflict – </a:t>
            </a:r>
            <a:br>
              <a:rPr lang="en-US" b="1" dirty="0">
                <a:solidFill>
                  <a:srgbClr val="92D050"/>
                </a:solidFill>
              </a:rPr>
            </a:br>
            <a:r>
              <a:rPr lang="en-US" b="1" dirty="0">
                <a:solidFill>
                  <a:srgbClr val="92D050"/>
                </a:solidFill>
              </a:rPr>
              <a:t>Scarce Resources</a:t>
            </a:r>
          </a:p>
        </p:txBody>
      </p:sp>
      <p:sp>
        <p:nvSpPr>
          <p:cNvPr id="36867" name="Rectangle 3"/>
          <p:cNvSpPr>
            <a:spLocks noGrp="1" noChangeArrowheads="1"/>
          </p:cNvSpPr>
          <p:nvPr>
            <p:ph idx="1"/>
          </p:nvPr>
        </p:nvSpPr>
        <p:spPr/>
        <p:txBody>
          <a:bodyPr/>
          <a:lstStyle/>
          <a:p>
            <a:pPr eaLnBrk="1" hangingPunct="1"/>
            <a:r>
              <a:rPr lang="en-US" sz="2000" dirty="0"/>
              <a:t>Organizations are typically characterized by several different groups vying for access to the </a:t>
            </a:r>
            <a:r>
              <a:rPr lang="en-US" sz="2000" dirty="0">
                <a:solidFill>
                  <a:srgbClr val="00B0F0"/>
                </a:solidFill>
              </a:rPr>
              <a:t>same resources </a:t>
            </a:r>
            <a:r>
              <a:rPr lang="en-US" sz="2000" dirty="0"/>
              <a:t>at any given time.</a:t>
            </a:r>
          </a:p>
          <a:p>
            <a:pPr eaLnBrk="1" hangingPunct="1"/>
            <a:r>
              <a:rPr lang="en-US" sz="2000" dirty="0"/>
              <a:t>If scarce resources are the natural state within organizations, groups will be in conflict as they seek to gain an advantage in their distribution.</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69454" y="6446043"/>
            <a:ext cx="417516" cy="377825"/>
          </a:xfrm>
        </p:spPr>
        <p:txBody>
          <a:bodyPr/>
          <a:lstStyle/>
          <a:p>
            <a:pPr algn="ctr"/>
            <a:fld id="{842422B5-12DA-40CC-AE4D-EB9F472458FF}" type="slidenum">
              <a:rPr lang="en-US" smtClean="0">
                <a:solidFill>
                  <a:srgbClr val="C19859">
                    <a:lumMod val="20000"/>
                    <a:lumOff val="80000"/>
                  </a:srgbClr>
                </a:solidFill>
              </a:rPr>
              <a:pPr algn="ctr"/>
              <a:t>27</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5535" y="6446044"/>
            <a:ext cx="1730241"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70D03BE4-98D9-4CBB-9B7F-9D6F7906DA24}"/>
              </a:ext>
            </a:extLst>
          </p:cNvPr>
          <p:cNvSpPr>
            <a:spLocks noGrp="1"/>
          </p:cNvSpPr>
          <p:nvPr>
            <p:ph type="dt" sz="half" idx="10"/>
          </p:nvPr>
        </p:nvSpPr>
        <p:spPr>
          <a:xfrm>
            <a:off x="7017427" y="6446042"/>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normAutofit/>
          </a:bodyPr>
          <a:lstStyle/>
          <a:p>
            <a:pPr eaLnBrk="1" hangingPunct="1"/>
            <a:r>
              <a:rPr lang="en-US" b="1" dirty="0">
                <a:solidFill>
                  <a:srgbClr val="92D050"/>
                </a:solidFill>
              </a:rPr>
              <a:t>C) Organizational Causes of Conflict - Uncertainty</a:t>
            </a:r>
          </a:p>
        </p:txBody>
      </p:sp>
      <p:sp>
        <p:nvSpPr>
          <p:cNvPr id="37891" name="Rectangle 3"/>
          <p:cNvSpPr>
            <a:spLocks noGrp="1" noChangeArrowheads="1"/>
          </p:cNvSpPr>
          <p:nvPr>
            <p:ph idx="1"/>
          </p:nvPr>
        </p:nvSpPr>
        <p:spPr/>
        <p:txBody>
          <a:bodyPr>
            <a:normAutofit lnSpcReduction="10000"/>
          </a:bodyPr>
          <a:lstStyle/>
          <a:p>
            <a:pPr eaLnBrk="1" hangingPunct="1"/>
            <a:r>
              <a:rPr lang="en-US" sz="2000" dirty="0"/>
              <a:t>In the project environment of a weak matrix company, it is easy to see how it can be </a:t>
            </a:r>
            <a:r>
              <a:rPr lang="en-US" sz="2000" dirty="0">
                <a:solidFill>
                  <a:srgbClr val="00B0F0"/>
                </a:solidFill>
              </a:rPr>
              <a:t>unclear who may be in charge </a:t>
            </a:r>
            <a:r>
              <a:rPr lang="en-US" sz="2000" dirty="0"/>
              <a:t>of any task as the lines for the formal channels of authority are blurred.</a:t>
            </a:r>
          </a:p>
          <a:p>
            <a:pPr eaLnBrk="1" hangingPunct="1"/>
            <a:r>
              <a:rPr lang="en-US" sz="2000" dirty="0"/>
              <a:t>Project managers and their teams can find themselves in the fragile position of having a lot of autonomy, but also responsibility to the functional heads that provide the resources.</a:t>
            </a:r>
          </a:p>
          <a:p>
            <a:pPr eaLnBrk="1" hangingPunct="1"/>
            <a:r>
              <a:rPr lang="en-US" sz="2000" dirty="0"/>
              <a:t>Generally, when an employee is in this state of organizational conflict, the employee will most likely side with the 1 of the 2 nominal "bosses" he or she has that has "power of the performance appraisal".  In other words, the one who has the greatest immediate impact on the employee's pay cheque.</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26484" y="6446043"/>
            <a:ext cx="417516" cy="377825"/>
          </a:xfrm>
        </p:spPr>
        <p:txBody>
          <a:bodyPr/>
          <a:lstStyle/>
          <a:p>
            <a:pPr algn="ctr"/>
            <a:fld id="{842422B5-12DA-40CC-AE4D-EB9F472458FF}" type="slidenum">
              <a:rPr lang="en-US" smtClean="0">
                <a:solidFill>
                  <a:srgbClr val="C19859">
                    <a:lumMod val="20000"/>
                    <a:lumOff val="80000"/>
                  </a:srgbClr>
                </a:solidFill>
              </a:rPr>
              <a:pPr algn="ctr"/>
              <a:t>28</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46044"/>
            <a:ext cx="1728192"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03A062BF-0A3E-4DA8-AE7B-3FF5798C6B58}"/>
              </a:ext>
            </a:extLst>
          </p:cNvPr>
          <p:cNvSpPr>
            <a:spLocks noGrp="1"/>
          </p:cNvSpPr>
          <p:nvPr>
            <p:ph type="dt" sz="half" idx="10"/>
          </p:nvPr>
        </p:nvSpPr>
        <p:spPr>
          <a:xfrm>
            <a:off x="7017427" y="6446042"/>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pPr eaLnBrk="1" hangingPunct="1"/>
            <a:r>
              <a:rPr lang="en-US" b="1" dirty="0">
                <a:solidFill>
                  <a:srgbClr val="92D050"/>
                </a:solidFill>
              </a:rPr>
              <a:t>D) Organizational Causes of Conflict </a:t>
            </a:r>
            <a:br>
              <a:rPr lang="en-US" b="1" dirty="0">
                <a:solidFill>
                  <a:srgbClr val="92D050"/>
                </a:solidFill>
              </a:rPr>
            </a:br>
            <a:r>
              <a:rPr lang="en-US" b="1" dirty="0">
                <a:solidFill>
                  <a:srgbClr val="92D050"/>
                </a:solidFill>
              </a:rPr>
              <a:t>-Different mind sets among departments-</a:t>
            </a:r>
          </a:p>
        </p:txBody>
      </p:sp>
      <p:sp>
        <p:nvSpPr>
          <p:cNvPr id="38915" name="Rectangle 3"/>
          <p:cNvSpPr>
            <a:spLocks noGrp="1" noChangeArrowheads="1"/>
          </p:cNvSpPr>
          <p:nvPr>
            <p:ph idx="1"/>
          </p:nvPr>
        </p:nvSpPr>
        <p:spPr/>
        <p:txBody>
          <a:bodyPr>
            <a:normAutofit/>
          </a:bodyPr>
          <a:lstStyle/>
          <a:p>
            <a:pPr marL="0" indent="0" eaLnBrk="1" hangingPunct="1">
              <a:buFontTx/>
              <a:buNone/>
            </a:pPr>
            <a:r>
              <a:rPr lang="en-US" sz="2000" dirty="0">
                <a:solidFill>
                  <a:srgbClr val="00B0F0"/>
                </a:solidFill>
              </a:rPr>
              <a:t>Different mind sets </a:t>
            </a:r>
            <a:r>
              <a:rPr lang="en-US" sz="2000" dirty="0"/>
              <a:t>develop among </a:t>
            </a:r>
            <a:r>
              <a:rPr lang="en-US" sz="2000" dirty="0">
                <a:solidFill>
                  <a:srgbClr val="00B0F0"/>
                </a:solidFill>
              </a:rPr>
              <a:t>different functional departments </a:t>
            </a:r>
            <a:r>
              <a:rPr lang="en-US" sz="2000" dirty="0"/>
              <a:t>because they have different primary interests.  Marketing cares about sales, finance cares about margins, R&amp;D cares about the product content etc.;</a:t>
            </a:r>
          </a:p>
          <a:p>
            <a:pPr marL="0" indent="0" eaLnBrk="1" hangingPunct="1">
              <a:buFontTx/>
              <a:buNone/>
            </a:pPr>
            <a:endParaRPr lang="en-US" sz="2000" dirty="0"/>
          </a:p>
          <a:p>
            <a:pPr marL="0" indent="0" eaLnBrk="1" hangingPunct="1">
              <a:buFontTx/>
              <a:buNone/>
            </a:pPr>
            <a:r>
              <a:rPr lang="en-US" sz="2000" dirty="0"/>
              <a:t>What is interesting is that typically new members of a functional group adopt the attitudes and outlook prevailing within the group.  Thus, if there are biases against finance as "bean-counters", or R&amp;D guys as being unlimited in their desire to add cost via product features, these prevailing attitudes are </a:t>
            </a:r>
            <a:r>
              <a:rPr lang="en-US" sz="2000" dirty="0">
                <a:solidFill>
                  <a:srgbClr val="00B0F0"/>
                </a:solidFill>
              </a:rPr>
              <a:t>perpetuated</a:t>
            </a:r>
            <a:r>
              <a:rPr lang="en-US" sz="2000" dirty="0"/>
              <a:t>.</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97775" y="6443357"/>
            <a:ext cx="417516" cy="377825"/>
          </a:xfrm>
        </p:spPr>
        <p:txBody>
          <a:bodyPr/>
          <a:lstStyle/>
          <a:p>
            <a:pPr algn="ctr"/>
            <a:fld id="{842422B5-12DA-40CC-AE4D-EB9F472458FF}" type="slidenum">
              <a:rPr lang="en-US" smtClean="0">
                <a:solidFill>
                  <a:srgbClr val="C19859">
                    <a:lumMod val="20000"/>
                    <a:lumOff val="80000"/>
                  </a:srgbClr>
                </a:solidFill>
              </a:rPr>
              <a:pPr algn="ctr"/>
              <a:t>29</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43358"/>
            <a:ext cx="2016224"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CC1C141D-2573-4759-8945-8A3AA9D6E435}"/>
              </a:ext>
            </a:extLst>
          </p:cNvPr>
          <p:cNvSpPr>
            <a:spLocks noGrp="1"/>
          </p:cNvSpPr>
          <p:nvPr>
            <p:ph type="dt" sz="half" idx="10"/>
          </p:nvPr>
        </p:nvSpPr>
        <p:spPr>
          <a:xfrm>
            <a:off x="7024253" y="6443358"/>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rmAutofit/>
          </a:bodyPr>
          <a:lstStyle/>
          <a:p>
            <a:pPr eaLnBrk="1" hangingPunct="1"/>
            <a:r>
              <a:rPr lang="en-US" b="1" dirty="0">
                <a:solidFill>
                  <a:srgbClr val="92D050"/>
                </a:solidFill>
              </a:rPr>
              <a:t>Interpersonal Causes of Conflict</a:t>
            </a:r>
          </a:p>
        </p:txBody>
      </p:sp>
      <p:sp>
        <p:nvSpPr>
          <p:cNvPr id="39939" name="Rectangle 3"/>
          <p:cNvSpPr>
            <a:spLocks noGrp="1" noChangeArrowheads="1"/>
          </p:cNvSpPr>
          <p:nvPr>
            <p:ph idx="1"/>
          </p:nvPr>
        </p:nvSpPr>
        <p:spPr/>
        <p:txBody>
          <a:bodyPr/>
          <a:lstStyle/>
          <a:p>
            <a:pPr eaLnBrk="1" hangingPunct="1">
              <a:buFontTx/>
              <a:buNone/>
            </a:pPr>
            <a:r>
              <a:rPr lang="en-US" sz="2000" dirty="0"/>
              <a:t>Some of the more common causes of interpersonal conflict include:</a:t>
            </a:r>
          </a:p>
          <a:p>
            <a:pPr eaLnBrk="1" hangingPunct="1">
              <a:buFontTx/>
              <a:buNone/>
            </a:pPr>
            <a:endParaRPr lang="en-US" sz="2000" dirty="0"/>
          </a:p>
          <a:p>
            <a:pPr marL="457200" indent="-457200" eaLnBrk="1" hangingPunct="1">
              <a:buFont typeface="+mj-lt"/>
              <a:buAutoNum type="alphaLcParenR" startAt="5"/>
            </a:pPr>
            <a:r>
              <a:rPr lang="en-US" sz="2000" dirty="0"/>
              <a:t>   Misconceptions regarding the behavior of others</a:t>
            </a:r>
          </a:p>
          <a:p>
            <a:pPr marL="457200" indent="-457200" eaLnBrk="1" hangingPunct="1">
              <a:buFont typeface="+mj-lt"/>
              <a:buAutoNum type="alphaLcParenR" startAt="5"/>
            </a:pPr>
            <a:r>
              <a:rPr lang="en-US" sz="2000" dirty="0"/>
              <a:t>   Faulty communication</a:t>
            </a:r>
          </a:p>
          <a:p>
            <a:pPr marL="457200" indent="-457200" eaLnBrk="1" hangingPunct="1">
              <a:buFont typeface="+mj-lt"/>
              <a:buAutoNum type="alphaLcParenR" startAt="5"/>
            </a:pPr>
            <a:r>
              <a:rPr lang="en-US" sz="2000" dirty="0"/>
              <a:t>   Personal grudges</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06567" y="6446043"/>
            <a:ext cx="417516" cy="377825"/>
          </a:xfrm>
        </p:spPr>
        <p:txBody>
          <a:bodyPr/>
          <a:lstStyle/>
          <a:p>
            <a:pPr algn="ctr"/>
            <a:fld id="{842422B5-12DA-40CC-AE4D-EB9F472458FF}" type="slidenum">
              <a:rPr lang="en-US" smtClean="0">
                <a:solidFill>
                  <a:srgbClr val="C19859">
                    <a:lumMod val="20000"/>
                    <a:lumOff val="80000"/>
                  </a:srgbClr>
                </a:solidFill>
              </a:rPr>
              <a:pPr algn="ctr"/>
              <a:t>30</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46044"/>
            <a:ext cx="1728192"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3D352FD7-D911-46C2-84BB-A2D26A9336C7}"/>
              </a:ext>
            </a:extLst>
          </p:cNvPr>
          <p:cNvSpPr>
            <a:spLocks noGrp="1"/>
          </p:cNvSpPr>
          <p:nvPr>
            <p:ph type="dt" sz="half" idx="10"/>
          </p:nvPr>
        </p:nvSpPr>
        <p:spPr>
          <a:xfrm>
            <a:off x="7004821" y="6480175"/>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pPr eaLnBrk="1" hangingPunct="1"/>
            <a:r>
              <a:rPr lang="en-US" sz="2400" b="1" dirty="0">
                <a:solidFill>
                  <a:srgbClr val="92D050"/>
                </a:solidFill>
              </a:rPr>
              <a:t>E) Interpersonal Causes of Conflict</a:t>
            </a:r>
            <a:br>
              <a:rPr lang="en-US" sz="2400" b="1" dirty="0">
                <a:solidFill>
                  <a:srgbClr val="92D050"/>
                </a:solidFill>
              </a:rPr>
            </a:br>
            <a:r>
              <a:rPr lang="en-US" sz="2400" b="1" dirty="0">
                <a:solidFill>
                  <a:srgbClr val="92D050"/>
                </a:solidFill>
              </a:rPr>
              <a:t>-misconceptions regarding the behavior of others</a:t>
            </a:r>
            <a:br>
              <a:rPr lang="en-US" sz="2400" dirty="0"/>
            </a:br>
            <a:endParaRPr lang="en-US" sz="2400" dirty="0"/>
          </a:p>
        </p:txBody>
      </p:sp>
      <p:sp>
        <p:nvSpPr>
          <p:cNvPr id="40963" name="Rectangle 3"/>
          <p:cNvSpPr>
            <a:spLocks noGrp="1" noChangeArrowheads="1"/>
          </p:cNvSpPr>
          <p:nvPr>
            <p:ph idx="1"/>
          </p:nvPr>
        </p:nvSpPr>
        <p:spPr>
          <a:xfrm>
            <a:off x="457200" y="2076982"/>
            <a:ext cx="7772400" cy="4106331"/>
          </a:xfrm>
        </p:spPr>
        <p:txBody>
          <a:bodyPr>
            <a:normAutofit fontScale="92500" lnSpcReduction="10000"/>
          </a:bodyPr>
          <a:lstStyle/>
          <a:p>
            <a:pPr eaLnBrk="1" hangingPunct="1">
              <a:lnSpc>
                <a:spcPct val="90000"/>
              </a:lnSpc>
            </a:pPr>
            <a:r>
              <a:rPr lang="en-US" sz="2000" dirty="0"/>
              <a:t>When people perceive their interests have been thwarted by another individual or group, they can sometimes </a:t>
            </a:r>
            <a:r>
              <a:rPr lang="en-US" sz="2000" dirty="0">
                <a:solidFill>
                  <a:srgbClr val="00B0F0"/>
                </a:solidFill>
              </a:rPr>
              <a:t>suspect</a:t>
            </a:r>
            <a:r>
              <a:rPr lang="en-US" sz="2000" dirty="0"/>
              <a:t> a hidden agenda or personal vendetta.</a:t>
            </a:r>
          </a:p>
          <a:p>
            <a:pPr eaLnBrk="1" hangingPunct="1">
              <a:lnSpc>
                <a:spcPct val="90000"/>
              </a:lnSpc>
            </a:pPr>
            <a:r>
              <a:rPr lang="en-US" sz="2000" dirty="0"/>
              <a:t>Sometimes it is </a:t>
            </a:r>
            <a:r>
              <a:rPr lang="en-US" sz="2000" dirty="0">
                <a:solidFill>
                  <a:srgbClr val="FFFF00"/>
                </a:solidFill>
              </a:rPr>
              <a:t>paranoia</a:t>
            </a:r>
            <a:r>
              <a:rPr lang="en-US" sz="2000" dirty="0"/>
              <a:t>, and sometimes it is not.  Often people will think that others are simply doing what is most politically or personally expedient for them.</a:t>
            </a:r>
          </a:p>
          <a:p>
            <a:pPr eaLnBrk="1" hangingPunct="1">
              <a:lnSpc>
                <a:spcPct val="90000"/>
              </a:lnSpc>
            </a:pPr>
            <a:r>
              <a:rPr lang="en-US" sz="2000" dirty="0"/>
              <a:t>Sometimes the position is "he or she doesn't like me, or he or she doesn't understand".  This is often used as a </a:t>
            </a:r>
            <a:r>
              <a:rPr lang="en-US" sz="2000" dirty="0">
                <a:solidFill>
                  <a:srgbClr val="00B0F0"/>
                </a:solidFill>
              </a:rPr>
              <a:t>defense mechanism </a:t>
            </a:r>
            <a:r>
              <a:rPr lang="en-US" sz="2000" dirty="0"/>
              <a:t>when people cannot see that 2 reasonable people can look at the same situation and draw different conclusions.</a:t>
            </a:r>
          </a:p>
          <a:p>
            <a:pPr eaLnBrk="1" hangingPunct="1">
              <a:lnSpc>
                <a:spcPct val="90000"/>
              </a:lnSpc>
            </a:pPr>
            <a:r>
              <a:rPr lang="en-US" sz="2000" dirty="0"/>
              <a:t>Most of us like this safe defense mechanism because it allows us to not challenge ourselves with the possibility that others might be correct and there could be a flaw in our logic.</a:t>
            </a:r>
          </a:p>
          <a:p>
            <a:pPr eaLnBrk="1" hangingPunct="1">
              <a:lnSpc>
                <a:spcPct val="90000"/>
              </a:lnSpc>
            </a:pPr>
            <a:r>
              <a:rPr lang="en-US" sz="2000" dirty="0"/>
              <a:t>People with </a:t>
            </a:r>
            <a:r>
              <a:rPr lang="en-US" sz="2000" dirty="0">
                <a:solidFill>
                  <a:srgbClr val="00B0F0"/>
                </a:solidFill>
              </a:rPr>
              <a:t>weak egos </a:t>
            </a:r>
            <a:r>
              <a:rPr lang="en-US" sz="2000" dirty="0"/>
              <a:t>most often fall into this trap.</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26484" y="6446043"/>
            <a:ext cx="417516" cy="377825"/>
          </a:xfrm>
        </p:spPr>
        <p:txBody>
          <a:bodyPr/>
          <a:lstStyle/>
          <a:p>
            <a:pPr algn="ctr"/>
            <a:fld id="{842422B5-12DA-40CC-AE4D-EB9F472458FF}" type="slidenum">
              <a:rPr lang="en-US" smtClean="0">
                <a:solidFill>
                  <a:srgbClr val="C19859">
                    <a:lumMod val="20000"/>
                    <a:lumOff val="80000"/>
                  </a:srgbClr>
                </a:solidFill>
              </a:rPr>
              <a:pPr algn="ctr"/>
              <a:t>31</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46044"/>
            <a:ext cx="1872208"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7CEB2262-8BF8-484A-9028-A3F8926C9447}"/>
              </a:ext>
            </a:extLst>
          </p:cNvPr>
          <p:cNvSpPr>
            <a:spLocks noGrp="1"/>
          </p:cNvSpPr>
          <p:nvPr>
            <p:ph type="dt" sz="half" idx="10"/>
          </p:nvPr>
        </p:nvSpPr>
        <p:spPr>
          <a:xfrm>
            <a:off x="7027681" y="6446042"/>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pPr eaLnBrk="1" hangingPunct="1"/>
            <a:r>
              <a:rPr lang="en-US" b="1" dirty="0">
                <a:solidFill>
                  <a:srgbClr val="92D050"/>
                </a:solidFill>
              </a:rPr>
              <a:t>F) Interpersonal Causes of Conflict</a:t>
            </a:r>
            <a:br>
              <a:rPr lang="en-US" b="1" dirty="0">
                <a:solidFill>
                  <a:srgbClr val="92D050"/>
                </a:solidFill>
              </a:rPr>
            </a:br>
            <a:r>
              <a:rPr lang="en-US" b="1" dirty="0">
                <a:solidFill>
                  <a:srgbClr val="92D050"/>
                </a:solidFill>
              </a:rPr>
              <a:t>-Faulty Communication</a:t>
            </a:r>
          </a:p>
        </p:txBody>
      </p:sp>
      <p:sp>
        <p:nvSpPr>
          <p:cNvPr id="41987" name="Rectangle 3"/>
          <p:cNvSpPr>
            <a:spLocks noGrp="1" noChangeArrowheads="1"/>
          </p:cNvSpPr>
          <p:nvPr>
            <p:ph idx="1"/>
          </p:nvPr>
        </p:nvSpPr>
        <p:spPr/>
        <p:txBody>
          <a:bodyPr>
            <a:normAutofit/>
          </a:bodyPr>
          <a:lstStyle/>
          <a:p>
            <a:pPr eaLnBrk="1" hangingPunct="1"/>
            <a:r>
              <a:rPr lang="en-US" sz="2000" dirty="0"/>
              <a:t>This conflict is often caused by </a:t>
            </a:r>
            <a:r>
              <a:rPr lang="en-US" sz="2000" dirty="0">
                <a:solidFill>
                  <a:srgbClr val="00B0F0"/>
                </a:solidFill>
              </a:rPr>
              <a:t>communicating</a:t>
            </a:r>
            <a:r>
              <a:rPr lang="en-US" sz="2000" dirty="0"/>
              <a:t> in a manner that is </a:t>
            </a:r>
            <a:r>
              <a:rPr lang="en-US" sz="2000" dirty="0">
                <a:solidFill>
                  <a:srgbClr val="00B0F0"/>
                </a:solidFill>
              </a:rPr>
              <a:t>ambiguous</a:t>
            </a:r>
            <a:r>
              <a:rPr lang="en-US" sz="2000" dirty="0"/>
              <a:t>, resulting in different interpretations.</a:t>
            </a:r>
          </a:p>
          <a:p>
            <a:pPr eaLnBrk="1" hangingPunct="1"/>
            <a:r>
              <a:rPr lang="en-US" sz="2000" dirty="0"/>
              <a:t>It can also be caused by differing values related to unintentionally communicating in ways that anger or annoy other parties.  </a:t>
            </a:r>
          </a:p>
          <a:p>
            <a:pPr eaLnBrk="1" hangingPunct="1"/>
            <a:r>
              <a:rPr lang="en-US" sz="2000" dirty="0"/>
              <a:t>E.g. Some team members can handle tough love type conversations and respond with improved performance.  Others will see it as destructive or unfair.  It is important to note that in this case it is not so much the content of the communication as the </a:t>
            </a:r>
            <a:r>
              <a:rPr lang="en-US" sz="2000" dirty="0">
                <a:solidFill>
                  <a:srgbClr val="00B0F0"/>
                </a:solidFill>
              </a:rPr>
              <a:t>style</a:t>
            </a:r>
            <a:r>
              <a:rPr lang="en-US" sz="2000" dirty="0"/>
              <a:t>.</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26484" y="6477489"/>
            <a:ext cx="417516" cy="377825"/>
          </a:xfrm>
        </p:spPr>
        <p:txBody>
          <a:bodyPr/>
          <a:lstStyle/>
          <a:p>
            <a:pPr algn="ctr"/>
            <a:fld id="{842422B5-12DA-40CC-AE4D-EB9F472458FF}" type="slidenum">
              <a:rPr lang="en-US" smtClean="0">
                <a:solidFill>
                  <a:srgbClr val="C19859">
                    <a:lumMod val="20000"/>
                    <a:lumOff val="80000"/>
                  </a:srgbClr>
                </a:solidFill>
              </a:rPr>
              <a:pPr algn="ctr"/>
              <a:t>32</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43358"/>
            <a:ext cx="1872208"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63BC48F2-4319-44D3-A11C-ED5578B56149}"/>
              </a:ext>
            </a:extLst>
          </p:cNvPr>
          <p:cNvSpPr>
            <a:spLocks noGrp="1"/>
          </p:cNvSpPr>
          <p:nvPr>
            <p:ph type="dt" sz="half" idx="10"/>
          </p:nvPr>
        </p:nvSpPr>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36458" y="908720"/>
            <a:ext cx="7772400" cy="1456267"/>
          </a:xfrm>
        </p:spPr>
        <p:txBody>
          <a:bodyPr>
            <a:normAutofit/>
          </a:bodyPr>
          <a:lstStyle/>
          <a:p>
            <a:pPr eaLnBrk="1" hangingPunct="1"/>
            <a:r>
              <a:rPr lang="en-US" b="1" dirty="0">
                <a:solidFill>
                  <a:srgbClr val="92D050"/>
                </a:solidFill>
              </a:rPr>
              <a:t>G) Interpersonal Causes of Conflict</a:t>
            </a:r>
            <a:br>
              <a:rPr lang="en-US" b="1" dirty="0">
                <a:solidFill>
                  <a:srgbClr val="92D050"/>
                </a:solidFill>
              </a:rPr>
            </a:br>
            <a:r>
              <a:rPr lang="en-US" b="1" dirty="0">
                <a:solidFill>
                  <a:srgbClr val="92D050"/>
                </a:solidFill>
              </a:rPr>
              <a:t>-personal grudges </a:t>
            </a:r>
            <a:br>
              <a:rPr lang="en-US" sz="2800" dirty="0"/>
            </a:br>
            <a:endParaRPr lang="en-US" sz="2800" dirty="0"/>
          </a:p>
        </p:txBody>
      </p:sp>
      <p:sp>
        <p:nvSpPr>
          <p:cNvPr id="43011" name="Rectangle 3"/>
          <p:cNvSpPr>
            <a:spLocks noGrp="1" noChangeArrowheads="1"/>
          </p:cNvSpPr>
          <p:nvPr>
            <p:ph idx="1"/>
          </p:nvPr>
        </p:nvSpPr>
        <p:spPr/>
        <p:txBody>
          <a:bodyPr/>
          <a:lstStyle/>
          <a:p>
            <a:pPr eaLnBrk="1" hangingPunct="1"/>
            <a:r>
              <a:rPr lang="en-US" sz="2000" dirty="0"/>
              <a:t>These attitudes arise out of </a:t>
            </a:r>
            <a:r>
              <a:rPr lang="en-US" sz="2000" dirty="0">
                <a:solidFill>
                  <a:srgbClr val="00B0F0"/>
                </a:solidFill>
              </a:rPr>
              <a:t>long-term experiences </a:t>
            </a:r>
            <a:r>
              <a:rPr lang="en-US" sz="2000" dirty="0"/>
              <a:t>or </a:t>
            </a:r>
            <a:r>
              <a:rPr lang="en-US" sz="2000" dirty="0">
                <a:solidFill>
                  <a:srgbClr val="00B0F0"/>
                </a:solidFill>
              </a:rPr>
              <a:t>lessons taught </a:t>
            </a:r>
            <a:r>
              <a:rPr lang="en-US" sz="2000" dirty="0"/>
              <a:t>at some time in the past.</a:t>
            </a:r>
          </a:p>
          <a:p>
            <a:pPr eaLnBrk="1" hangingPunct="1"/>
            <a:r>
              <a:rPr lang="en-US" sz="2000" dirty="0"/>
              <a:t>Often these attitudes can be sub-consciously held.</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676456" y="6480175"/>
            <a:ext cx="417516" cy="377825"/>
          </a:xfrm>
        </p:spPr>
        <p:txBody>
          <a:bodyPr/>
          <a:lstStyle/>
          <a:p>
            <a:pPr algn="ctr"/>
            <a:fld id="{842422B5-12DA-40CC-AE4D-EB9F472458FF}" type="slidenum">
              <a:rPr lang="en-US" smtClean="0">
                <a:solidFill>
                  <a:srgbClr val="C19859">
                    <a:lumMod val="20000"/>
                    <a:lumOff val="80000"/>
                  </a:srgbClr>
                </a:solidFill>
              </a:rPr>
              <a:pPr algn="ctr"/>
              <a:t>33</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46044"/>
            <a:ext cx="2016224"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20C10E14-AE87-4F27-AD86-868D19EDB1B0}"/>
              </a:ext>
            </a:extLst>
          </p:cNvPr>
          <p:cNvSpPr>
            <a:spLocks noGrp="1"/>
          </p:cNvSpPr>
          <p:nvPr>
            <p:ph type="dt" sz="half" idx="10"/>
          </p:nvPr>
        </p:nvSpPr>
        <p:spPr>
          <a:xfrm>
            <a:off x="7017427" y="6453506"/>
            <a:ext cx="1212173" cy="377825"/>
          </a:xfrm>
        </p:spPr>
        <p:txBody>
          <a:bodyPr/>
          <a:lstStyle/>
          <a:p>
            <a:r>
              <a:rPr lang="en-US" dirty="0">
                <a:solidFill>
                  <a:srgbClr val="C19859">
                    <a:lumMod val="20000"/>
                    <a:lumOff val="80000"/>
                  </a:srgbClr>
                </a:solidFill>
              </a:rPr>
              <a:t>Lecture 10</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sz="2400" b="1" dirty="0">
                <a:solidFill>
                  <a:srgbClr val="92D050"/>
                </a:solidFill>
              </a:rPr>
              <a:t>Sources of Conflicts in Projects and their Ranking by Intensity Level</a:t>
            </a:r>
          </a:p>
        </p:txBody>
      </p:sp>
      <p:sp>
        <p:nvSpPr>
          <p:cNvPr id="44035" name="Rectangle 3"/>
          <p:cNvSpPr>
            <a:spLocks noGrp="1" noChangeArrowheads="1"/>
          </p:cNvSpPr>
          <p:nvPr>
            <p:ph idx="1"/>
          </p:nvPr>
        </p:nvSpPr>
        <p:spPr>
          <a:xfrm>
            <a:off x="914400" y="1825624"/>
            <a:ext cx="7600950" cy="4915744"/>
          </a:xfrm>
        </p:spPr>
        <p:txBody>
          <a:bodyPr>
            <a:normAutofit/>
          </a:bodyPr>
          <a:lstStyle/>
          <a:p>
            <a:pPr marL="0" indent="0" eaLnBrk="1" hangingPunct="1">
              <a:lnSpc>
                <a:spcPct val="80000"/>
              </a:lnSpc>
              <a:buFontTx/>
              <a:buNone/>
            </a:pPr>
            <a:r>
              <a:rPr lang="en-US" sz="1800" dirty="0"/>
              <a:t>In order below, based upon data from PMBOK, are the </a:t>
            </a:r>
            <a:r>
              <a:rPr lang="en-US" sz="1800" dirty="0">
                <a:solidFill>
                  <a:srgbClr val="FFC000"/>
                </a:solidFill>
              </a:rPr>
              <a:t>most common </a:t>
            </a:r>
          </a:p>
          <a:p>
            <a:pPr marL="0" indent="0" eaLnBrk="1" hangingPunct="1">
              <a:lnSpc>
                <a:spcPct val="80000"/>
              </a:lnSpc>
              <a:buFontTx/>
              <a:buNone/>
            </a:pPr>
            <a:r>
              <a:rPr lang="en-US" sz="1800" dirty="0"/>
              <a:t>sources of </a:t>
            </a:r>
            <a:r>
              <a:rPr lang="en-US" sz="1800" dirty="0">
                <a:solidFill>
                  <a:srgbClr val="00B0F0"/>
                </a:solidFill>
              </a:rPr>
              <a:t>project conflict</a:t>
            </a:r>
            <a:r>
              <a:rPr lang="en-US" sz="1800" dirty="0"/>
              <a:t>:</a:t>
            </a:r>
          </a:p>
          <a:p>
            <a:pPr marL="0" indent="0" eaLnBrk="1" hangingPunct="1">
              <a:lnSpc>
                <a:spcPct val="80000"/>
              </a:lnSpc>
              <a:buFontTx/>
              <a:buAutoNum type="arabicPeriod"/>
            </a:pPr>
            <a:r>
              <a:rPr lang="en-US" sz="1800" dirty="0"/>
              <a:t>   schedules</a:t>
            </a:r>
          </a:p>
          <a:p>
            <a:pPr marL="0" indent="0" eaLnBrk="1" hangingPunct="1">
              <a:lnSpc>
                <a:spcPct val="80000"/>
              </a:lnSpc>
              <a:buFontTx/>
              <a:buAutoNum type="arabicPeriod"/>
            </a:pPr>
            <a:r>
              <a:rPr lang="en-US" sz="1800" dirty="0"/>
              <a:t>   project priorities</a:t>
            </a:r>
          </a:p>
          <a:p>
            <a:pPr marL="0" indent="0" eaLnBrk="1" hangingPunct="1">
              <a:lnSpc>
                <a:spcPct val="80000"/>
              </a:lnSpc>
              <a:buFontTx/>
              <a:buAutoNum type="arabicPeriod"/>
            </a:pPr>
            <a:r>
              <a:rPr lang="en-US" sz="1800" dirty="0"/>
              <a:t>   resources</a:t>
            </a:r>
          </a:p>
          <a:p>
            <a:pPr marL="0" indent="0" eaLnBrk="1" hangingPunct="1">
              <a:lnSpc>
                <a:spcPct val="80000"/>
              </a:lnSpc>
              <a:buFontTx/>
              <a:buAutoNum type="arabicPeriod"/>
            </a:pPr>
            <a:r>
              <a:rPr lang="en-US" sz="1800" dirty="0"/>
              <a:t>   technical opinions</a:t>
            </a:r>
          </a:p>
          <a:p>
            <a:pPr marL="0" indent="0" eaLnBrk="1" hangingPunct="1">
              <a:lnSpc>
                <a:spcPct val="80000"/>
              </a:lnSpc>
              <a:buFontTx/>
              <a:buAutoNum type="arabicPeriod"/>
            </a:pPr>
            <a:r>
              <a:rPr lang="en-US" sz="1800" dirty="0"/>
              <a:t>   administrative procedures</a:t>
            </a:r>
          </a:p>
          <a:p>
            <a:pPr marL="0" indent="0" eaLnBrk="1" hangingPunct="1">
              <a:lnSpc>
                <a:spcPct val="80000"/>
              </a:lnSpc>
              <a:buFontTx/>
              <a:buAutoNum type="arabicPeriod"/>
            </a:pPr>
            <a:r>
              <a:rPr lang="en-US" sz="1800" dirty="0"/>
              <a:t>   cost</a:t>
            </a:r>
          </a:p>
          <a:p>
            <a:pPr marL="0" indent="0" eaLnBrk="1" hangingPunct="1">
              <a:lnSpc>
                <a:spcPct val="80000"/>
              </a:lnSpc>
              <a:buFontTx/>
              <a:buAutoNum type="arabicPeriod"/>
            </a:pPr>
            <a:r>
              <a:rPr lang="en-US" sz="1800" dirty="0"/>
              <a:t>   personality</a:t>
            </a:r>
          </a:p>
          <a:p>
            <a:pPr marL="0" indent="0" eaLnBrk="1" hangingPunct="1">
              <a:lnSpc>
                <a:spcPct val="80000"/>
              </a:lnSpc>
              <a:buFontTx/>
              <a:buNone/>
            </a:pPr>
            <a:r>
              <a:rPr lang="en-US" sz="1800" dirty="0"/>
              <a:t>Many project managers think that </a:t>
            </a:r>
            <a:r>
              <a:rPr lang="en-US" sz="1800" dirty="0">
                <a:solidFill>
                  <a:srgbClr val="FFC000"/>
                </a:solidFill>
              </a:rPr>
              <a:t>personality</a:t>
            </a:r>
            <a:r>
              <a:rPr lang="en-US" sz="1800" dirty="0"/>
              <a:t> is the main cause of </a:t>
            </a:r>
          </a:p>
          <a:p>
            <a:pPr marL="0" indent="0" eaLnBrk="1" hangingPunct="1">
              <a:lnSpc>
                <a:spcPct val="80000"/>
              </a:lnSpc>
              <a:buFontTx/>
              <a:buNone/>
            </a:pPr>
            <a:r>
              <a:rPr lang="en-US" sz="1800" dirty="0"/>
              <a:t>conflict on projects.  It only becomes personal when the root cause </a:t>
            </a:r>
          </a:p>
          <a:p>
            <a:pPr marL="0" indent="0" eaLnBrk="1" hangingPunct="1">
              <a:lnSpc>
                <a:spcPct val="80000"/>
              </a:lnSpc>
              <a:buFontTx/>
              <a:buNone/>
            </a:pPr>
            <a:r>
              <a:rPr lang="en-US" sz="1800" dirty="0"/>
              <a:t>of the conflict is not resolved.  Personality is very frequently the first diagnosis.</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26484" y="6443358"/>
            <a:ext cx="417516" cy="377825"/>
          </a:xfrm>
        </p:spPr>
        <p:txBody>
          <a:bodyPr/>
          <a:lstStyle/>
          <a:p>
            <a:pPr algn="ctr"/>
            <a:fld id="{842422B5-12DA-40CC-AE4D-EB9F472458FF}" type="slidenum">
              <a:rPr lang="en-US" smtClean="0">
                <a:solidFill>
                  <a:srgbClr val="C19859">
                    <a:lumMod val="20000"/>
                    <a:lumOff val="80000"/>
                  </a:srgbClr>
                </a:solidFill>
              </a:rPr>
              <a:pPr algn="ctr"/>
              <a:t>34</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827584" y="6446044"/>
            <a:ext cx="2160240"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5" name="Date Placeholder 4">
            <a:extLst>
              <a:ext uri="{FF2B5EF4-FFF2-40B4-BE49-F238E27FC236}">
                <a16:creationId xmlns:a16="http://schemas.microsoft.com/office/drawing/2014/main" id="{6845D7C2-F9AD-424F-8AD7-022431F961F0}"/>
              </a:ext>
            </a:extLst>
          </p:cNvPr>
          <p:cNvSpPr>
            <a:spLocks noGrp="1"/>
          </p:cNvSpPr>
          <p:nvPr>
            <p:ph type="dt" sz="half" idx="10"/>
          </p:nvPr>
        </p:nvSpPr>
        <p:spPr>
          <a:xfrm>
            <a:off x="7275713" y="6443357"/>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normAutofit/>
          </a:bodyPr>
          <a:lstStyle/>
          <a:p>
            <a:pPr eaLnBrk="1" hangingPunct="1"/>
            <a:r>
              <a:rPr lang="en-US" b="1" dirty="0">
                <a:solidFill>
                  <a:srgbClr val="92D050"/>
                </a:solidFill>
              </a:rPr>
              <a:t>Methods of Conflict Resolution</a:t>
            </a:r>
          </a:p>
        </p:txBody>
      </p:sp>
      <p:sp>
        <p:nvSpPr>
          <p:cNvPr id="45059" name="Rectangle 3"/>
          <p:cNvSpPr>
            <a:spLocks noGrp="1" noChangeArrowheads="1"/>
          </p:cNvSpPr>
          <p:nvPr>
            <p:ph idx="1"/>
          </p:nvPr>
        </p:nvSpPr>
        <p:spPr/>
        <p:txBody>
          <a:bodyPr>
            <a:normAutofit lnSpcReduction="10000"/>
          </a:bodyPr>
          <a:lstStyle/>
          <a:p>
            <a:pPr marL="609600" indent="-609600" eaLnBrk="1" hangingPunct="1">
              <a:lnSpc>
                <a:spcPct val="90000"/>
              </a:lnSpc>
              <a:buClr>
                <a:schemeClr val="bg1"/>
              </a:buClr>
            </a:pPr>
            <a:r>
              <a:rPr lang="en-US" sz="2000" dirty="0"/>
              <a:t>As published in PMBOK, the </a:t>
            </a:r>
            <a:r>
              <a:rPr lang="en-US" sz="2000" dirty="0">
                <a:solidFill>
                  <a:srgbClr val="00B0F0"/>
                </a:solidFill>
              </a:rPr>
              <a:t>main problem-solving techniques </a:t>
            </a:r>
            <a:r>
              <a:rPr lang="en-US" sz="2000" dirty="0"/>
              <a:t>for conflict resolution in project management are:</a:t>
            </a:r>
          </a:p>
          <a:p>
            <a:pPr marL="609600" indent="-609600" eaLnBrk="1" hangingPunct="1">
              <a:lnSpc>
                <a:spcPct val="90000"/>
              </a:lnSpc>
            </a:pPr>
            <a:endParaRPr lang="en-US" sz="2000" dirty="0"/>
          </a:p>
          <a:p>
            <a:pPr marL="609600" indent="-609600" eaLnBrk="1" hangingPunct="1">
              <a:lnSpc>
                <a:spcPct val="90000"/>
              </a:lnSpc>
              <a:buFontTx/>
              <a:buAutoNum type="arabicPeriod"/>
            </a:pPr>
            <a:r>
              <a:rPr lang="en-US" sz="2000" b="1" dirty="0">
                <a:solidFill>
                  <a:srgbClr val="FF0000"/>
                </a:solidFill>
              </a:rPr>
              <a:t>Confronting</a:t>
            </a:r>
            <a:r>
              <a:rPr lang="en-US" sz="2000" dirty="0"/>
              <a:t> </a:t>
            </a:r>
            <a:r>
              <a:rPr lang="en-US" sz="2000" i="1" dirty="0"/>
              <a:t>(Solving the real problem)</a:t>
            </a:r>
          </a:p>
          <a:p>
            <a:pPr marL="609600" indent="-609600" eaLnBrk="1" hangingPunct="1">
              <a:lnSpc>
                <a:spcPct val="90000"/>
              </a:lnSpc>
              <a:buFontTx/>
              <a:buAutoNum type="arabicPeriod"/>
            </a:pPr>
            <a:r>
              <a:rPr lang="en-US" sz="2000" b="1" dirty="0">
                <a:solidFill>
                  <a:srgbClr val="FF0000"/>
                </a:solidFill>
              </a:rPr>
              <a:t>Compromising</a:t>
            </a:r>
            <a:r>
              <a:rPr lang="en-US" sz="2000" dirty="0"/>
              <a:t> </a:t>
            </a:r>
            <a:r>
              <a:rPr lang="en-US" sz="2000" i="1" dirty="0"/>
              <a:t>(Finding solutions that bring some degree of satisfaction to both parties)</a:t>
            </a:r>
          </a:p>
          <a:p>
            <a:pPr marL="609600" indent="-609600" eaLnBrk="1" hangingPunct="1">
              <a:lnSpc>
                <a:spcPct val="90000"/>
              </a:lnSpc>
              <a:buFontTx/>
              <a:buAutoNum type="arabicPeriod"/>
            </a:pPr>
            <a:r>
              <a:rPr lang="en-US" sz="2000" b="1" dirty="0">
                <a:solidFill>
                  <a:srgbClr val="FF0000"/>
                </a:solidFill>
              </a:rPr>
              <a:t>Withdrawal or Avoidance</a:t>
            </a:r>
            <a:r>
              <a:rPr lang="en-US" sz="2000" dirty="0"/>
              <a:t> </a:t>
            </a:r>
            <a:r>
              <a:rPr lang="en-US" sz="2000" i="1" dirty="0"/>
              <a:t>(Retreating or Postponing a decision)</a:t>
            </a:r>
          </a:p>
          <a:p>
            <a:pPr marL="609600" indent="-609600" eaLnBrk="1" hangingPunct="1">
              <a:lnSpc>
                <a:spcPct val="90000"/>
              </a:lnSpc>
              <a:buFontTx/>
              <a:buAutoNum type="arabicPeriod"/>
            </a:pPr>
            <a:r>
              <a:rPr lang="en-US" sz="2000" b="1" dirty="0">
                <a:solidFill>
                  <a:srgbClr val="FF0000"/>
                </a:solidFill>
              </a:rPr>
              <a:t>Smoothing</a:t>
            </a:r>
            <a:r>
              <a:rPr lang="en-US" sz="2000" dirty="0"/>
              <a:t> </a:t>
            </a:r>
            <a:r>
              <a:rPr lang="en-US" sz="2000" i="1" dirty="0"/>
              <a:t>(Emphasizing areas of agreement rather than differences of opinion)</a:t>
            </a:r>
          </a:p>
          <a:p>
            <a:pPr marL="609600" indent="-609600" eaLnBrk="1" hangingPunct="1">
              <a:lnSpc>
                <a:spcPct val="90000"/>
              </a:lnSpc>
              <a:buFontTx/>
              <a:buAutoNum type="arabicPeriod"/>
            </a:pPr>
            <a:r>
              <a:rPr lang="en-US" sz="2000" b="1" dirty="0">
                <a:solidFill>
                  <a:srgbClr val="FF0000"/>
                </a:solidFill>
              </a:rPr>
              <a:t>Forcing</a:t>
            </a:r>
            <a:r>
              <a:rPr lang="en-US" sz="2000" dirty="0"/>
              <a:t> </a:t>
            </a:r>
            <a:r>
              <a:rPr lang="en-US" sz="2000" i="1" dirty="0"/>
              <a:t>(Pushing one viewpoint at the expense of another)</a:t>
            </a:r>
          </a:p>
          <a:p>
            <a:pPr marL="609600" indent="-609600" eaLnBrk="1" hangingPunct="1">
              <a:lnSpc>
                <a:spcPct val="90000"/>
              </a:lnSpc>
              <a:buFontTx/>
              <a:buNone/>
            </a:pPr>
            <a:endParaRPr lang="en-US" sz="2000" dirty="0"/>
          </a:p>
        </p:txBody>
      </p:sp>
      <p:sp>
        <p:nvSpPr>
          <p:cNvPr id="4506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Slide Number Placeholder 1"/>
          <p:cNvSpPr>
            <a:spLocks noGrp="1"/>
          </p:cNvSpPr>
          <p:nvPr>
            <p:ph type="sldNum" sz="quarter" idx="12"/>
          </p:nvPr>
        </p:nvSpPr>
        <p:spPr>
          <a:xfrm>
            <a:off x="8726484" y="6446044"/>
            <a:ext cx="417516" cy="377825"/>
          </a:xfrm>
        </p:spPr>
        <p:txBody>
          <a:bodyPr/>
          <a:lstStyle/>
          <a:p>
            <a:pPr algn="ctr"/>
            <a:fld id="{842422B5-12DA-40CC-AE4D-EB9F472458FF}" type="slidenum">
              <a:rPr lang="en-US" smtClean="0">
                <a:solidFill>
                  <a:srgbClr val="C19859">
                    <a:lumMod val="20000"/>
                    <a:lumOff val="80000"/>
                  </a:srgbClr>
                </a:solidFill>
              </a:rPr>
              <a:pPr algn="ctr"/>
              <a:t>35</a:t>
            </a:fld>
            <a:endParaRPr lang="en-US" dirty="0">
              <a:solidFill>
                <a:srgbClr val="C19859">
                  <a:lumMod val="20000"/>
                  <a:lumOff val="80000"/>
                </a:srgbClr>
              </a:solidFill>
            </a:endParaRPr>
          </a:p>
        </p:txBody>
      </p:sp>
      <p:sp>
        <p:nvSpPr>
          <p:cNvPr id="3" name="Footer Placeholder 2"/>
          <p:cNvSpPr>
            <a:spLocks noGrp="1"/>
          </p:cNvSpPr>
          <p:nvPr>
            <p:ph type="ftr" sz="quarter" idx="11"/>
          </p:nvPr>
        </p:nvSpPr>
        <p:spPr>
          <a:xfrm>
            <a:off x="755576" y="6460943"/>
            <a:ext cx="1800200" cy="377825"/>
          </a:xfrm>
        </p:spPr>
        <p:txBody>
          <a:bodyPr/>
          <a:lstStyle/>
          <a:p>
            <a:r>
              <a:rPr lang="en-CA">
                <a:solidFill>
                  <a:srgbClr val="C19859">
                    <a:lumMod val="20000"/>
                    <a:lumOff val="80000"/>
                  </a:srgbClr>
                </a:solidFill>
              </a:rPr>
              <a:t>G.R. Labbé</a:t>
            </a:r>
            <a:endParaRPr lang="en-US" dirty="0">
              <a:solidFill>
                <a:srgbClr val="C19859">
                  <a:lumMod val="20000"/>
                  <a:lumOff val="80000"/>
                </a:srgbClr>
              </a:solidFill>
            </a:endParaRPr>
          </a:p>
        </p:txBody>
      </p:sp>
      <p:sp>
        <p:nvSpPr>
          <p:cNvPr id="4" name="Date Placeholder 3">
            <a:extLst>
              <a:ext uri="{FF2B5EF4-FFF2-40B4-BE49-F238E27FC236}">
                <a16:creationId xmlns:a16="http://schemas.microsoft.com/office/drawing/2014/main" id="{4C4C921A-2DC7-4F83-892B-8D3DBB956539}"/>
              </a:ext>
            </a:extLst>
          </p:cNvPr>
          <p:cNvSpPr>
            <a:spLocks noGrp="1"/>
          </p:cNvSpPr>
          <p:nvPr>
            <p:ph type="dt" sz="half" idx="10"/>
          </p:nvPr>
        </p:nvSpPr>
        <p:spPr>
          <a:xfrm>
            <a:off x="7129798" y="6479359"/>
            <a:ext cx="1212173" cy="377825"/>
          </a:xfrm>
        </p:spPr>
        <p:txBody>
          <a:bodyPr/>
          <a:lstStyle/>
          <a:p>
            <a:r>
              <a:rPr lang="en-US" dirty="0">
                <a:solidFill>
                  <a:srgbClr val="C19859">
                    <a:lumMod val="20000"/>
                    <a:lumOff val="80000"/>
                  </a:srgbClr>
                </a:solidFill>
              </a:rPr>
              <a:t>Lecture 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7" dur="500"/>
                                        <p:tgtEl>
                                          <p:spTgt spid="450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12" dur="500"/>
                                        <p:tgtEl>
                                          <p:spTgt spid="4505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17" dur="500"/>
                                        <p:tgtEl>
                                          <p:spTgt spid="4505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22" dur="500"/>
                                        <p:tgtEl>
                                          <p:spTgt spid="4505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5059">
                                            <p:txEl>
                                              <p:pRg st="6" end="6"/>
                                            </p:txEl>
                                          </p:spTgt>
                                        </p:tgtEl>
                                        <p:attrNameLst>
                                          <p:attrName>style.visibility</p:attrName>
                                        </p:attrNameLst>
                                      </p:cBhvr>
                                      <p:to>
                                        <p:strVal val="visible"/>
                                      </p:to>
                                    </p:set>
                                    <p:animEffect transition="in" filter="blinds(horizontal)">
                                      <p:cBhvr>
                                        <p:cTn id="27" dur="500"/>
                                        <p:tgtEl>
                                          <p:spTgt spid="450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659159"/>
          </a:xfrm>
        </p:spPr>
        <p:txBody>
          <a:bodyPr/>
          <a:lstStyle/>
          <a:p>
            <a:r>
              <a:rPr lang="en-US" dirty="0"/>
              <a:t>Conflict Example 1</a:t>
            </a:r>
            <a:endParaRPr lang="en-CA" dirty="0"/>
          </a:p>
        </p:txBody>
      </p:sp>
      <p:sp>
        <p:nvSpPr>
          <p:cNvPr id="3" name="Content Placeholder 2"/>
          <p:cNvSpPr>
            <a:spLocks noGrp="1"/>
          </p:cNvSpPr>
          <p:nvPr>
            <p:ph idx="1"/>
          </p:nvPr>
        </p:nvSpPr>
        <p:spPr>
          <a:xfrm>
            <a:off x="457200" y="1484783"/>
            <a:ext cx="5266928" cy="4763615"/>
          </a:xfrm>
        </p:spPr>
        <p:txBody>
          <a:bodyPr>
            <a:normAutofit fontScale="92500" lnSpcReduction="10000"/>
          </a:bodyPr>
          <a:lstStyle/>
          <a:p>
            <a:pPr marL="0" indent="0">
              <a:buNone/>
            </a:pPr>
            <a:r>
              <a:rPr lang="en-CA" dirty="0"/>
              <a:t>Which </a:t>
            </a:r>
            <a:r>
              <a:rPr lang="en-CA" b="1" dirty="0"/>
              <a:t>cause</a:t>
            </a:r>
            <a:r>
              <a:rPr lang="en-CA" dirty="0"/>
              <a:t> of conflict could each of the following statements indicate?</a:t>
            </a:r>
          </a:p>
          <a:p>
            <a:r>
              <a:rPr lang="en-CA" dirty="0"/>
              <a:t>“I can’t talk to her after what her son said to my son.” </a:t>
            </a:r>
          </a:p>
          <a:p>
            <a:r>
              <a:rPr lang="en-CA" dirty="0"/>
              <a:t>“The sales management at this company are lazy. They always leave the office by 4:00.”</a:t>
            </a:r>
          </a:p>
          <a:p>
            <a:r>
              <a:rPr lang="en-CA" dirty="0"/>
              <a:t>“She barely looked at my report. She has probably already decided to ignore it.” </a:t>
            </a:r>
          </a:p>
          <a:p>
            <a:r>
              <a:rPr lang="en-CA" dirty="0"/>
              <a:t>“Our computers are too slow because their division always gets the best computers.”</a:t>
            </a:r>
          </a:p>
          <a:p>
            <a:r>
              <a:rPr lang="en-CA" dirty="0"/>
              <a:t>“The worse your project performs at the end of the year, the better my project looks”</a:t>
            </a:r>
          </a:p>
          <a:p>
            <a:r>
              <a:rPr lang="en-CA" dirty="0"/>
              <a:t>“Everybody else knew to submit that report. Why didn’t you?” </a:t>
            </a:r>
          </a:p>
          <a:p>
            <a:r>
              <a:rPr lang="en-US" dirty="0"/>
              <a:t>“Why should I do that for my project manager if my functional manager didn’t tell me?”</a:t>
            </a:r>
            <a:endParaRPr lang="en-CA" dirty="0"/>
          </a:p>
          <a:p>
            <a:endParaRPr lang="en-CA" dirty="0"/>
          </a:p>
        </p:txBody>
      </p:sp>
      <p:sp>
        <p:nvSpPr>
          <p:cNvPr id="4" name="Footer Placeholder 3"/>
          <p:cNvSpPr>
            <a:spLocks noGrp="1"/>
          </p:cNvSpPr>
          <p:nvPr>
            <p:ph type="ftr" sz="quarter" idx="11"/>
          </p:nvPr>
        </p:nvSpPr>
        <p:spPr/>
        <p:txBody>
          <a:bodyPr/>
          <a:lstStyle/>
          <a:p>
            <a:r>
              <a:rPr lang="en-US">
                <a:solidFill>
                  <a:srgbClr val="C19859">
                    <a:lumMod val="20000"/>
                    <a:lumOff val="80000"/>
                  </a:srgbClr>
                </a:solidFill>
              </a:rPr>
              <a:t>G. Labbe &amp; R. Schott</a:t>
            </a:r>
            <a:endParaRPr lang="en-US" dirty="0">
              <a:solidFill>
                <a:srgbClr val="C19859">
                  <a:lumMod val="20000"/>
                  <a:lumOff val="80000"/>
                </a:srgbClr>
              </a:solidFill>
            </a:endParaRPr>
          </a:p>
        </p:txBody>
      </p:sp>
      <p:sp>
        <p:nvSpPr>
          <p:cNvPr id="5" name="Slide Number Placeholder 4"/>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36</a:t>
            </a:fld>
            <a:endParaRPr lang="en-US" dirty="0">
              <a:solidFill>
                <a:srgbClr val="C19859">
                  <a:lumMod val="20000"/>
                  <a:lumOff val="80000"/>
                </a:srgbClr>
              </a:solidFill>
            </a:endParaRPr>
          </a:p>
        </p:txBody>
      </p:sp>
      <p:sp>
        <p:nvSpPr>
          <p:cNvPr id="6" name="Rectangle 3">
            <a:extLst>
              <a:ext uri="{FF2B5EF4-FFF2-40B4-BE49-F238E27FC236}">
                <a16:creationId xmlns:a16="http://schemas.microsoft.com/office/drawing/2014/main" id="{8AEFDC5F-CF84-B7F1-2D1E-1A27C6EC82EF}"/>
              </a:ext>
            </a:extLst>
          </p:cNvPr>
          <p:cNvSpPr txBox="1">
            <a:spLocks noChangeArrowheads="1"/>
          </p:cNvSpPr>
          <p:nvPr/>
        </p:nvSpPr>
        <p:spPr>
          <a:xfrm>
            <a:off x="6372200" y="1268760"/>
            <a:ext cx="2664296" cy="3649133"/>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eaLnBrk="1" hangingPunct="1">
              <a:buNone/>
            </a:pPr>
            <a:r>
              <a:rPr lang="en-US" sz="2000" dirty="0">
                <a:solidFill>
                  <a:srgbClr val="FFC000"/>
                </a:solidFill>
              </a:rPr>
              <a:t>Reward systems</a:t>
            </a:r>
          </a:p>
          <a:p>
            <a:pPr marL="0" indent="0" eaLnBrk="1" hangingPunct="1">
              <a:buNone/>
            </a:pPr>
            <a:r>
              <a:rPr lang="en-US" sz="2000" dirty="0">
                <a:solidFill>
                  <a:srgbClr val="FFC000"/>
                </a:solidFill>
              </a:rPr>
              <a:t>Scarce resources</a:t>
            </a:r>
          </a:p>
          <a:p>
            <a:pPr marL="0" indent="0" eaLnBrk="1" hangingPunct="1">
              <a:buNone/>
            </a:pPr>
            <a:r>
              <a:rPr lang="en-US" sz="2000" dirty="0">
                <a:solidFill>
                  <a:srgbClr val="FFC000"/>
                </a:solidFill>
              </a:rPr>
              <a:t>Uncertainty</a:t>
            </a:r>
          </a:p>
          <a:p>
            <a:pPr marL="0" indent="0" eaLnBrk="1" hangingPunct="1">
              <a:buNone/>
            </a:pPr>
            <a:r>
              <a:rPr lang="en-US" sz="2000" dirty="0">
                <a:solidFill>
                  <a:srgbClr val="FFC000"/>
                </a:solidFill>
              </a:rPr>
              <a:t>Different mind sets among departments</a:t>
            </a:r>
          </a:p>
          <a:p>
            <a:pPr fontAlgn="auto">
              <a:buFontTx/>
              <a:buNone/>
            </a:pPr>
            <a:r>
              <a:rPr lang="en-US" sz="2000" dirty="0">
                <a:solidFill>
                  <a:srgbClr val="FFC000"/>
                </a:solidFill>
              </a:rPr>
              <a:t>Misconceptions regarding the behavior of others</a:t>
            </a:r>
          </a:p>
          <a:p>
            <a:pPr fontAlgn="auto">
              <a:buFontTx/>
              <a:buNone/>
            </a:pPr>
            <a:r>
              <a:rPr lang="en-US" sz="2000" dirty="0">
                <a:solidFill>
                  <a:srgbClr val="FFC000"/>
                </a:solidFill>
              </a:rPr>
              <a:t>Faulty communication</a:t>
            </a:r>
          </a:p>
          <a:p>
            <a:pPr fontAlgn="auto">
              <a:buFontTx/>
              <a:buNone/>
            </a:pPr>
            <a:r>
              <a:rPr lang="en-US" sz="2000" dirty="0">
                <a:solidFill>
                  <a:srgbClr val="FFC000"/>
                </a:solidFill>
              </a:rPr>
              <a:t>Personal grudges</a:t>
            </a:r>
          </a:p>
        </p:txBody>
      </p:sp>
    </p:spTree>
    <p:extLst>
      <p:ext uri="{BB962C8B-B14F-4D97-AF65-F5344CB8AC3E}">
        <p14:creationId xmlns:p14="http://schemas.microsoft.com/office/powerpoint/2010/main" val="1916916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659159"/>
          </a:xfrm>
        </p:spPr>
        <p:txBody>
          <a:bodyPr/>
          <a:lstStyle/>
          <a:p>
            <a:r>
              <a:rPr lang="en-US" dirty="0"/>
              <a:t>Conflict Example 2</a:t>
            </a:r>
            <a:endParaRPr lang="en-CA" dirty="0"/>
          </a:p>
        </p:txBody>
      </p:sp>
      <p:sp>
        <p:nvSpPr>
          <p:cNvPr id="3" name="Content Placeholder 2"/>
          <p:cNvSpPr>
            <a:spLocks noGrp="1"/>
          </p:cNvSpPr>
          <p:nvPr>
            <p:ph idx="1"/>
          </p:nvPr>
        </p:nvSpPr>
        <p:spPr>
          <a:xfrm>
            <a:off x="457200" y="1484784"/>
            <a:ext cx="7772400" cy="4464496"/>
          </a:xfrm>
        </p:spPr>
        <p:txBody>
          <a:bodyPr>
            <a:normAutofit lnSpcReduction="10000"/>
          </a:bodyPr>
          <a:lstStyle/>
          <a:p>
            <a:pPr marL="0" indent="0">
              <a:buNone/>
            </a:pPr>
            <a:r>
              <a:rPr lang="en-CA" dirty="0"/>
              <a:t>Suppose the maintenance supervisors working on your project </a:t>
            </a:r>
            <a:r>
              <a:rPr lang="en-CA" dirty="0">
                <a:solidFill>
                  <a:srgbClr val="92D050"/>
                </a:solidFill>
              </a:rPr>
              <a:t>didn’t come to the first two morning meetings</a:t>
            </a:r>
            <a:r>
              <a:rPr lang="en-CA" dirty="0"/>
              <a:t>. How could this be an </a:t>
            </a:r>
            <a:r>
              <a:rPr lang="en-CA" dirty="0">
                <a:solidFill>
                  <a:srgbClr val="92D050"/>
                </a:solidFill>
              </a:rPr>
              <a:t>indication</a:t>
            </a:r>
            <a:r>
              <a:rPr lang="en-CA" dirty="0"/>
              <a:t> of </a:t>
            </a:r>
            <a:r>
              <a:rPr lang="en-CA" b="1" dirty="0"/>
              <a:t>any</a:t>
            </a:r>
            <a:r>
              <a:rPr lang="en-CA" dirty="0"/>
              <a:t> of the following </a:t>
            </a:r>
            <a:r>
              <a:rPr lang="en-CA" dirty="0">
                <a:solidFill>
                  <a:srgbClr val="92D050"/>
                </a:solidFill>
              </a:rPr>
              <a:t>causes of conflict</a:t>
            </a:r>
            <a:r>
              <a:rPr lang="en-CA" dirty="0"/>
              <a:t>?</a:t>
            </a:r>
          </a:p>
          <a:p>
            <a:pPr marL="0" indent="0">
              <a:buNone/>
            </a:pPr>
            <a:r>
              <a:rPr lang="en-CA" b="1" dirty="0"/>
              <a:t>Organizational </a:t>
            </a:r>
            <a:endParaRPr lang="en-CA" dirty="0"/>
          </a:p>
          <a:p>
            <a:r>
              <a:rPr lang="en-CA" dirty="0"/>
              <a:t>Rewards Systems</a:t>
            </a:r>
          </a:p>
          <a:p>
            <a:r>
              <a:rPr lang="en-CA" dirty="0"/>
              <a:t>Scarce Resources</a:t>
            </a:r>
          </a:p>
          <a:p>
            <a:r>
              <a:rPr lang="en-CA" dirty="0"/>
              <a:t>Uncertainty</a:t>
            </a:r>
          </a:p>
          <a:p>
            <a:r>
              <a:rPr lang="en-CA" dirty="0"/>
              <a:t>Different Mindsets</a:t>
            </a:r>
          </a:p>
          <a:p>
            <a:pPr marL="0" indent="0">
              <a:buNone/>
            </a:pPr>
            <a:r>
              <a:rPr lang="en-CA" b="1" dirty="0"/>
              <a:t>Interpersonal</a:t>
            </a:r>
            <a:endParaRPr lang="en-CA" dirty="0"/>
          </a:p>
          <a:p>
            <a:r>
              <a:rPr lang="en-CA" dirty="0"/>
              <a:t>Misconceptions</a:t>
            </a:r>
          </a:p>
          <a:p>
            <a:r>
              <a:rPr lang="en-CA" dirty="0"/>
              <a:t>Faulty Communications</a:t>
            </a:r>
          </a:p>
          <a:p>
            <a:r>
              <a:rPr lang="en-CA" dirty="0"/>
              <a:t>Personal Grudges</a:t>
            </a:r>
          </a:p>
        </p:txBody>
      </p:sp>
      <p:sp>
        <p:nvSpPr>
          <p:cNvPr id="4" name="Footer Placeholder 3"/>
          <p:cNvSpPr>
            <a:spLocks noGrp="1"/>
          </p:cNvSpPr>
          <p:nvPr>
            <p:ph type="ftr" sz="quarter" idx="11"/>
          </p:nvPr>
        </p:nvSpPr>
        <p:spPr/>
        <p:txBody>
          <a:bodyPr/>
          <a:lstStyle/>
          <a:p>
            <a:r>
              <a:rPr lang="en-US">
                <a:solidFill>
                  <a:srgbClr val="C19859">
                    <a:lumMod val="20000"/>
                    <a:lumOff val="80000"/>
                  </a:srgbClr>
                </a:solidFill>
              </a:rPr>
              <a:t>G. Labbe &amp; R. Schott</a:t>
            </a:r>
            <a:endParaRPr lang="en-US" dirty="0">
              <a:solidFill>
                <a:srgbClr val="C19859">
                  <a:lumMod val="20000"/>
                  <a:lumOff val="80000"/>
                </a:srgbClr>
              </a:solidFill>
            </a:endParaRPr>
          </a:p>
        </p:txBody>
      </p:sp>
      <p:sp>
        <p:nvSpPr>
          <p:cNvPr id="5" name="Slide Number Placeholder 4"/>
          <p:cNvSpPr>
            <a:spLocks noGrp="1"/>
          </p:cNvSpPr>
          <p:nvPr>
            <p:ph type="sldNum" sz="quarter" idx="12"/>
          </p:nvPr>
        </p:nvSpPr>
        <p:spPr/>
        <p:txBody>
          <a:bodyPr/>
          <a:lstStyle/>
          <a:p>
            <a:fld id="{842422B5-12DA-40CC-AE4D-EB9F472458FF}" type="slidenum">
              <a:rPr lang="en-US" smtClean="0">
                <a:solidFill>
                  <a:srgbClr val="C19859">
                    <a:lumMod val="20000"/>
                    <a:lumOff val="80000"/>
                  </a:srgbClr>
                </a:solidFill>
              </a:rPr>
              <a:pPr/>
              <a:t>37</a:t>
            </a:fld>
            <a:endParaRPr lang="en-US" dirty="0">
              <a:solidFill>
                <a:srgbClr val="C19859">
                  <a:lumMod val="20000"/>
                  <a:lumOff val="80000"/>
                </a:srgbClr>
              </a:solidFill>
            </a:endParaRPr>
          </a:p>
        </p:txBody>
      </p:sp>
    </p:spTree>
    <p:extLst>
      <p:ext uri="{BB962C8B-B14F-4D97-AF65-F5344CB8AC3E}">
        <p14:creationId xmlns:p14="http://schemas.microsoft.com/office/powerpoint/2010/main" val="2782892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3668</TotalTime>
  <Words>3562</Words>
  <Application>Microsoft Office PowerPoint</Application>
  <PresentationFormat>On-screen Show (4:3)</PresentationFormat>
  <Paragraphs>437</Paragraphs>
  <Slides>37</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Century Gothic</vt:lpstr>
      <vt:lpstr>Wingdings</vt:lpstr>
      <vt:lpstr>Celestial</vt:lpstr>
      <vt:lpstr>     Negotiation  and  Conflict Management</vt:lpstr>
      <vt:lpstr>Negotiation and the project manager</vt:lpstr>
      <vt:lpstr>Negotiation Fundamentals of your Mindset</vt:lpstr>
      <vt:lpstr>Negotiation – The basics in getting ready</vt:lpstr>
      <vt:lpstr>Negotiation – The basics in getting ready</vt:lpstr>
      <vt:lpstr>Gather Information about the other side</vt:lpstr>
      <vt:lpstr>Develop Strategy</vt:lpstr>
      <vt:lpstr>Write your Negotiation Plan and Prepare an Agenda</vt:lpstr>
      <vt:lpstr>Negotiations - Questions</vt:lpstr>
      <vt:lpstr>Negotiation - Questions</vt:lpstr>
      <vt:lpstr>Negotiations Advanced questioning techniques</vt:lpstr>
      <vt:lpstr>Negotiation Language and Communication</vt:lpstr>
      <vt:lpstr>Negotiation Language and Communication</vt:lpstr>
      <vt:lpstr>Negotiation Not the words, but what they are saying</vt:lpstr>
      <vt:lpstr>PowerPoint Presentation</vt:lpstr>
      <vt:lpstr>Conflict Management</vt:lpstr>
      <vt:lpstr>A) Goal-Oriented Conflict</vt:lpstr>
      <vt:lpstr>B) Administrative Conflict</vt:lpstr>
      <vt:lpstr>C) Interpersonal Conflict</vt:lpstr>
      <vt:lpstr>How Conflict is Perceived and Addressed</vt:lpstr>
      <vt:lpstr>1. The Traditional View of Conflict</vt:lpstr>
      <vt:lpstr>2. The Behavioral View of Conflict</vt:lpstr>
      <vt:lpstr>3. The Interactionist View of Conflict</vt:lpstr>
      <vt:lpstr>Sources of Conflict in a Project</vt:lpstr>
      <vt:lpstr>Organizational Causes of Conflict</vt:lpstr>
      <vt:lpstr>a) Organizational Causes of Conflict –  Reward Systems</vt:lpstr>
      <vt:lpstr>B) Organizational Causes of Conflict –  Scarce Resources</vt:lpstr>
      <vt:lpstr>C) Organizational Causes of Conflict - Uncertainty</vt:lpstr>
      <vt:lpstr>D) Organizational Causes of Conflict  -Different mind sets among departments-</vt:lpstr>
      <vt:lpstr>Interpersonal Causes of Conflict</vt:lpstr>
      <vt:lpstr>E) Interpersonal Causes of Conflict -misconceptions regarding the behavior of others </vt:lpstr>
      <vt:lpstr>F) Interpersonal Causes of Conflict -Faulty Communication</vt:lpstr>
      <vt:lpstr>G) Interpersonal Causes of Conflict -personal grudges  </vt:lpstr>
      <vt:lpstr>Sources of Conflicts in Projects and their Ranking by Intensity Level</vt:lpstr>
      <vt:lpstr>Methods of Conflict Resolution</vt:lpstr>
      <vt:lpstr>Conflict Example 1</vt:lpstr>
      <vt:lpstr>Conflict Example 2</vt:lpstr>
    </vt:vector>
  </TitlesOfParts>
  <Company>Siemens VDO Automotive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6  Lecture 1</dc:title>
  <dc:creator>Ray Schott</dc:creator>
  <cp:lastModifiedBy>Ozlu, Sinan</cp:lastModifiedBy>
  <cp:revision>110</cp:revision>
  <cp:lastPrinted>2024-11-20T20:01:53Z</cp:lastPrinted>
  <dcterms:created xsi:type="dcterms:W3CDTF">2007-11-27T02:07:12Z</dcterms:created>
  <dcterms:modified xsi:type="dcterms:W3CDTF">2024-11-21T03:52:18Z</dcterms:modified>
</cp:coreProperties>
</file>