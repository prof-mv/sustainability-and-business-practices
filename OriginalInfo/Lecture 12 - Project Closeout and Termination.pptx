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0"/>
  </p:notesMasterIdLst>
  <p:sldIdLst>
    <p:sldId id="256" r:id="rId2"/>
    <p:sldId id="308" r:id="rId3"/>
    <p:sldId id="309" r:id="rId4"/>
    <p:sldId id="310" r:id="rId5"/>
    <p:sldId id="311" r:id="rId6"/>
    <p:sldId id="356" r:id="rId7"/>
    <p:sldId id="312" r:id="rId8"/>
    <p:sldId id="313" r:id="rId9"/>
    <p:sldId id="358" r:id="rId10"/>
    <p:sldId id="314" r:id="rId11"/>
    <p:sldId id="315" r:id="rId12"/>
    <p:sldId id="316" r:id="rId13"/>
    <p:sldId id="317" r:id="rId14"/>
    <p:sldId id="318" r:id="rId15"/>
    <p:sldId id="319" r:id="rId16"/>
    <p:sldId id="320" r:id="rId17"/>
    <p:sldId id="321" r:id="rId18"/>
    <p:sldId id="304" r:id="rId19"/>
    <p:sldId id="322" r:id="rId20"/>
    <p:sldId id="323" r:id="rId21"/>
    <p:sldId id="331" r:id="rId22"/>
    <p:sldId id="332" r:id="rId23"/>
    <p:sldId id="324" r:id="rId24"/>
    <p:sldId id="325" r:id="rId25"/>
    <p:sldId id="326" r:id="rId26"/>
    <p:sldId id="327" r:id="rId27"/>
    <p:sldId id="328" r:id="rId28"/>
    <p:sldId id="329"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75" d="100"/>
          <a:sy n="75" d="100"/>
        </p:scale>
        <p:origin x="1666"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8B831-0B17-4C29-8F41-72B1BB51384A}" type="datetimeFigureOut">
              <a:rPr lang="en-US" smtClean="0"/>
              <a:t>12/3/2025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20571F-F916-495A-8049-134892DD36CE}" type="slidenum">
              <a:rPr lang="en-US" smtClean="0"/>
              <a:t>‹#›</a:t>
            </a:fld>
            <a:endParaRPr lang="en-US"/>
          </a:p>
        </p:txBody>
      </p:sp>
    </p:spTree>
    <p:extLst>
      <p:ext uri="{BB962C8B-B14F-4D97-AF65-F5344CB8AC3E}">
        <p14:creationId xmlns:p14="http://schemas.microsoft.com/office/powerpoint/2010/main" val="2382578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00100" y="2606040"/>
            <a:ext cx="7543800" cy="2743200"/>
          </a:xfrm>
        </p:spPr>
        <p:txBody>
          <a:bodyPr anchor="b">
            <a:normAutofit/>
          </a:bodyPr>
          <a:lstStyle>
            <a:lvl1pPr algn="l">
              <a:lnSpc>
                <a:spcPct val="80000"/>
              </a:lnSpc>
              <a:defRPr sz="5100">
                <a:solidFill>
                  <a:schemeClr val="tx1"/>
                </a:solidFill>
                <a:effectLst>
                  <a:outerShdw blurRad="38100" dist="25400" dir="18900000" algn="bl" rotWithShape="0">
                    <a:schemeClr val="bg1">
                      <a:alpha val="80000"/>
                    </a:schemeClr>
                  </a:outerShdw>
                </a:effectLst>
              </a:defRPr>
            </a:lvl1pPr>
          </a:lstStyle>
          <a:p>
            <a:r>
              <a:rPr lang="en-US"/>
              <a:t>Click to edit Master title style</a:t>
            </a:r>
          </a:p>
        </p:txBody>
      </p:sp>
      <p:sp>
        <p:nvSpPr>
          <p:cNvPr id="3" name="Subtitle 2"/>
          <p:cNvSpPr>
            <a:spLocks noGrp="1"/>
          </p:cNvSpPr>
          <p:nvPr>
            <p:ph type="subTitle" idx="1"/>
          </p:nvPr>
        </p:nvSpPr>
        <p:spPr>
          <a:xfrm>
            <a:off x="800100" y="5360437"/>
            <a:ext cx="7543800" cy="365760"/>
          </a:xfrm>
        </p:spPr>
        <p:txBody>
          <a:bodyPr>
            <a:normAutofit/>
          </a:bodyPr>
          <a:lstStyle>
            <a:lvl1pPr marL="0" indent="0" algn="l">
              <a:spcBef>
                <a:spcPts val="0"/>
              </a:spcBef>
              <a:buNone/>
              <a:defRPr sz="1500" b="1" cap="all" baseline="0">
                <a:solidFill>
                  <a:schemeClr val="accent1"/>
                </a:solidFill>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8" name="Rectangle 7"/>
          <p:cNvSpPr/>
          <p:nvPr userDrawn="1"/>
        </p:nvSpPr>
        <p:spPr>
          <a:xfrm>
            <a:off x="0" y="5888736"/>
            <a:ext cx="9144000" cy="109728"/>
          </a:xfrm>
          <a:prstGeom prst="rect">
            <a:avLst/>
          </a:prstGeom>
          <a:ln>
            <a:noFill/>
          </a:ln>
          <a:effectLst>
            <a:outerShdw blurRad="25400" dist="25400" dir="54000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9" name="Rectangle 8"/>
          <p:cNvSpPr/>
          <p:nvPr userDrawn="1"/>
        </p:nvSpPr>
        <p:spPr>
          <a:xfrm>
            <a:off x="0" y="5888736"/>
            <a:ext cx="9144000" cy="109728"/>
          </a:xfrm>
          <a:prstGeom prst="rect">
            <a:avLst/>
          </a:prstGeom>
          <a:ln>
            <a:noFill/>
          </a:ln>
          <a:effectLst>
            <a:innerShdw blurRad="25400" dist="12700" dir="16200000">
              <a:schemeClr val="accent1">
                <a:lumMod val="5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Tree>
    <p:extLst>
      <p:ext uri="{BB962C8B-B14F-4D97-AF65-F5344CB8AC3E}">
        <p14:creationId xmlns:p14="http://schemas.microsoft.com/office/powerpoint/2010/main" val="2006007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5" name="Footer Placeholder 4"/>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279788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bwMode="hidden">
          <a:xfrm>
            <a:off x="5815305" y="283"/>
            <a:ext cx="3326788" cy="6856286"/>
          </a:xfrm>
          <a:prstGeom prst="rect">
            <a:avLst/>
          </a:prstGeom>
        </p:spPr>
      </p:pic>
      <p:sp>
        <p:nvSpPr>
          <p:cNvPr id="2" name="Title 1"/>
          <p:cNvSpPr>
            <a:spLocks noGrp="1"/>
          </p:cNvSpPr>
          <p:nvPr>
            <p:ph type="title"/>
          </p:nvPr>
        </p:nvSpPr>
        <p:spPr>
          <a:xfrm>
            <a:off x="800100" y="1565829"/>
            <a:ext cx="4457700" cy="4114800"/>
          </a:xfrm>
        </p:spPr>
        <p:txBody>
          <a:bodyPr anchor="b">
            <a:normAutofit/>
          </a:bodyPr>
          <a:lstStyle>
            <a:lvl1pPr>
              <a:lnSpc>
                <a:spcPct val="80000"/>
              </a:lnSpc>
              <a:defRPr sz="4050">
                <a:effectLst>
                  <a:outerShdw blurRad="38100" dist="25400" dir="18900000" algn="bl" rotWithShape="0">
                    <a:schemeClr val="bg1">
                      <a:alpha val="80000"/>
                    </a:schemeClr>
                  </a:outerShdw>
                </a:effectLst>
              </a:defRPr>
            </a:lvl1pPr>
          </a:lstStyle>
          <a:p>
            <a:r>
              <a:rPr lang="en-US"/>
              <a:t>Click to edit Master title style</a:t>
            </a:r>
          </a:p>
        </p:txBody>
      </p:sp>
      <p:sp>
        <p:nvSpPr>
          <p:cNvPr id="3" name="Text Placeholder 2"/>
          <p:cNvSpPr>
            <a:spLocks noGrp="1"/>
          </p:cNvSpPr>
          <p:nvPr>
            <p:ph type="body" idx="1"/>
          </p:nvPr>
        </p:nvSpPr>
        <p:spPr>
          <a:xfrm>
            <a:off x="800101" y="5682344"/>
            <a:ext cx="4457700" cy="410547"/>
          </a:xfrm>
        </p:spPr>
        <p:txBody>
          <a:bodyPr>
            <a:normAutofit/>
          </a:bodyPr>
          <a:lstStyle>
            <a:lvl1pPr marL="0" indent="0">
              <a:spcBef>
                <a:spcPts val="0"/>
              </a:spcBef>
              <a:buNone/>
              <a:defRPr sz="1650" b="1" cap="all" baseline="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9" name="Rectangle 8"/>
          <p:cNvSpPr/>
          <p:nvPr userDrawn="1"/>
        </p:nvSpPr>
        <p:spPr>
          <a:xfrm>
            <a:off x="5780313" y="0"/>
            <a:ext cx="41148" cy="6858000"/>
          </a:xfrm>
          <a:prstGeom prst="rect">
            <a:avLst/>
          </a:prstGeom>
          <a:ln>
            <a:noFill/>
          </a:ln>
          <a:effectLst>
            <a:outerShdw blurRad="25400" dist="254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11" name="Rectangle 10"/>
          <p:cNvSpPr/>
          <p:nvPr userDrawn="1"/>
        </p:nvSpPr>
        <p:spPr>
          <a:xfrm>
            <a:off x="5780313" y="0"/>
            <a:ext cx="41148" cy="6858000"/>
          </a:xfrm>
          <a:prstGeom prst="rect">
            <a:avLst/>
          </a:prstGeom>
          <a:ln>
            <a:noFill/>
          </a:ln>
          <a:effectLst>
            <a:innerShdw blurRad="25400" dist="127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Tree>
    <p:extLst>
      <p:ext uri="{BB962C8B-B14F-4D97-AF65-F5344CB8AC3E}">
        <p14:creationId xmlns:p14="http://schemas.microsoft.com/office/powerpoint/2010/main" val="54097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1550" y="1825626"/>
            <a:ext cx="3543300" cy="4117975"/>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49" y="1825626"/>
            <a:ext cx="3543300" cy="4117975"/>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6" name="Footer Placeholder 5"/>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158945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971550" y="1828800"/>
            <a:ext cx="3545586" cy="641350"/>
          </a:xfrm>
        </p:spPr>
        <p:txBody>
          <a:bodyPr anchor="ctr">
            <a:normAutofit/>
          </a:bodyPr>
          <a:lstStyle>
            <a:lvl1pPr marL="0" indent="0">
              <a:spcBef>
                <a:spcPts val="0"/>
              </a:spcBef>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71550" y="2470151"/>
            <a:ext cx="3545586" cy="3473450"/>
          </a:xfrm>
        </p:spPr>
        <p:txBody>
          <a:bodyPr>
            <a:normAutofit/>
          </a:bodyPr>
          <a:lstStyle>
            <a:lvl1pPr>
              <a:defRPr sz="1500"/>
            </a:lvl1pPr>
            <a:lvl2pPr>
              <a:defRPr sz="1350"/>
            </a:lvl2pPr>
            <a:lvl3pPr>
              <a:defRPr sz="1200"/>
            </a:lvl3pPr>
            <a:lvl4pPr>
              <a:defRPr sz="1050"/>
            </a:lvl4pPr>
            <a:lvl5pPr>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5721" y="1828800"/>
            <a:ext cx="3545586" cy="641350"/>
          </a:xfrm>
        </p:spPr>
        <p:txBody>
          <a:bodyPr anchor="ctr">
            <a:normAutofit/>
          </a:bodyPr>
          <a:lstStyle>
            <a:lvl1pPr marL="0" indent="0">
              <a:spcBef>
                <a:spcPts val="0"/>
              </a:spcBef>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6864" y="2470151"/>
            <a:ext cx="3545586" cy="3473450"/>
          </a:xfrm>
        </p:spPr>
        <p:txBody>
          <a:bodyPr>
            <a:normAutofit/>
          </a:bodyPr>
          <a:lstStyle>
            <a:lvl1pPr>
              <a:defRPr sz="1500"/>
            </a:lvl1pPr>
            <a:lvl2pPr>
              <a:defRPr sz="1350"/>
            </a:lvl2pPr>
            <a:lvl3pPr>
              <a:defRPr sz="1200"/>
            </a:lvl3pPr>
            <a:lvl4pPr>
              <a:defRPr sz="1050"/>
            </a:lvl4pPr>
            <a:lvl5pPr>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8" name="Footer Placeholder 7"/>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9" name="Slide Number Placeholder 8"/>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47707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4" name="Footer Placeholder 3"/>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55416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3" name="Footer Placeholder 2"/>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4" name="Slide Number Placeholder 3"/>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9236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bwMode="hidden">
          <a:xfrm>
            <a:off x="5815305" y="283"/>
            <a:ext cx="3326788" cy="6856286"/>
          </a:xfrm>
          <a:prstGeom prst="rect">
            <a:avLst/>
          </a:prstGeom>
        </p:spPr>
      </p:pic>
      <p:sp>
        <p:nvSpPr>
          <p:cNvPr id="10" name="Rectangle 9"/>
          <p:cNvSpPr/>
          <p:nvPr userDrawn="1"/>
        </p:nvSpPr>
        <p:spPr>
          <a:xfrm>
            <a:off x="5780313" y="0"/>
            <a:ext cx="41148" cy="6858000"/>
          </a:xfrm>
          <a:prstGeom prst="rect">
            <a:avLst/>
          </a:prstGeom>
          <a:ln>
            <a:noFill/>
          </a:ln>
          <a:effectLst>
            <a:outerShdw blurRad="25400" dist="254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11" name="Rectangle 10"/>
          <p:cNvSpPr/>
          <p:nvPr userDrawn="1"/>
        </p:nvSpPr>
        <p:spPr>
          <a:xfrm>
            <a:off x="5780313" y="0"/>
            <a:ext cx="41148" cy="6858000"/>
          </a:xfrm>
          <a:prstGeom prst="rect">
            <a:avLst/>
          </a:prstGeom>
          <a:ln>
            <a:noFill/>
          </a:ln>
          <a:effectLst>
            <a:innerShdw blurRad="25400" dist="127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2" name="Title 1"/>
          <p:cNvSpPr>
            <a:spLocks noGrp="1"/>
          </p:cNvSpPr>
          <p:nvPr>
            <p:ph type="title"/>
          </p:nvPr>
        </p:nvSpPr>
        <p:spPr>
          <a:xfrm>
            <a:off x="6172201" y="2514600"/>
            <a:ext cx="2606040"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92727" y="685800"/>
            <a:ext cx="4594860" cy="5486400"/>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72200" y="4343400"/>
            <a:ext cx="2606040" cy="1188720"/>
          </a:xfrm>
        </p:spPr>
        <p:txBody>
          <a:bodyPr>
            <a:normAutofit/>
          </a:bodyPr>
          <a:lstStyle>
            <a:lvl1pPr marL="0" indent="0">
              <a:spcBef>
                <a:spcPts val="600"/>
              </a:spcBef>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6" name="Footer Placeholder 5"/>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82763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hidden">
          <a:xfrm>
            <a:off x="5815305" y="283"/>
            <a:ext cx="3326788" cy="6856286"/>
          </a:xfrm>
          <a:prstGeom prst="rect">
            <a:avLst/>
          </a:prstGeom>
        </p:spPr>
      </p:pic>
      <p:sp>
        <p:nvSpPr>
          <p:cNvPr id="9" name="Rectangle 8"/>
          <p:cNvSpPr/>
          <p:nvPr/>
        </p:nvSpPr>
        <p:spPr>
          <a:xfrm>
            <a:off x="5780313" y="0"/>
            <a:ext cx="41148" cy="6858000"/>
          </a:xfrm>
          <a:prstGeom prst="rect">
            <a:avLst/>
          </a:prstGeom>
          <a:ln>
            <a:noFill/>
          </a:ln>
          <a:effectLst>
            <a:outerShdw blurRad="25400" dist="254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10" name="Rectangle 9"/>
          <p:cNvSpPr/>
          <p:nvPr/>
        </p:nvSpPr>
        <p:spPr>
          <a:xfrm>
            <a:off x="5780313" y="0"/>
            <a:ext cx="41148" cy="6858000"/>
          </a:xfrm>
          <a:prstGeom prst="rect">
            <a:avLst/>
          </a:prstGeom>
          <a:ln>
            <a:noFill/>
          </a:ln>
          <a:effectLst>
            <a:innerShdw blurRad="25400" dist="127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2" name="Title 1"/>
          <p:cNvSpPr>
            <a:spLocks noGrp="1"/>
          </p:cNvSpPr>
          <p:nvPr>
            <p:ph type="title"/>
          </p:nvPr>
        </p:nvSpPr>
        <p:spPr>
          <a:xfrm>
            <a:off x="6172200" y="2514600"/>
            <a:ext cx="2606040"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0" y="1325880"/>
            <a:ext cx="5143500" cy="4206240"/>
          </a:xfrm>
          <a:solidFill>
            <a:schemeClr val="bg2"/>
          </a:solidFill>
          <a:effectLst>
            <a:outerShdw blurRad="63500" sx="101000" sy="101000" algn="ctr" rotWithShape="0">
              <a:prstClr val="black">
                <a:alpha val="15000"/>
              </a:prstClr>
            </a:outerShdw>
          </a:effectLst>
        </p:spPr>
        <p:txBody>
          <a:bodyPr>
            <a:normAutofit/>
          </a:bodyPr>
          <a:lstStyle>
            <a:lvl1pPr marL="0" indent="0" algn="ctr">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172200" y="4343400"/>
            <a:ext cx="2606040" cy="1188720"/>
          </a:xfrm>
        </p:spPr>
        <p:txBody>
          <a:bodyPr>
            <a:normAutofit/>
          </a:bodyPr>
          <a:lstStyle>
            <a:lvl1pPr marL="0" indent="0">
              <a:spcBef>
                <a:spcPts val="600"/>
              </a:spcBef>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6" name="Footer Placeholder 5"/>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12529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5" name="Footer Placeholder 4"/>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84206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50" y="382231"/>
            <a:ext cx="1028700" cy="556136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71550" y="382230"/>
            <a:ext cx="5897880" cy="556137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solidFill>
              </a:rPr>
              <a:t>Lecture 12</a:t>
            </a:r>
            <a:endParaRPr lang="en-US" dirty="0">
              <a:solidFill>
                <a:prstClr val="black"/>
              </a:solidFill>
            </a:endParaRPr>
          </a:p>
        </p:txBody>
      </p:sp>
      <p:sp>
        <p:nvSpPr>
          <p:cNvPr id="5" name="Footer Placeholder 4"/>
          <p:cNvSpPr>
            <a:spLocks noGrp="1"/>
          </p:cNvSpPr>
          <p:nvPr>
            <p:ph type="ftr" sz="quarter" idx="11"/>
          </p:nvPr>
        </p:nvSpPr>
        <p:spPr/>
        <p:txBody>
          <a:bodyPr/>
          <a:lstStyle/>
          <a:p>
            <a:r>
              <a:rPr lang="en-CA">
                <a:solidFill>
                  <a:prstClr val="black"/>
                </a:solidFill>
              </a:rPr>
              <a:t>G.R. Labbé</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044067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a:off x="0" y="6257036"/>
            <a:ext cx="9144000" cy="54864"/>
          </a:xfrm>
          <a:prstGeom prst="rect">
            <a:avLst/>
          </a:prstGeom>
          <a:ln>
            <a:noFill/>
          </a:ln>
          <a:effectLst>
            <a:outerShdw blurRad="25400" dist="25400" dir="54000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
        <p:nvSpPr>
          <p:cNvPr id="2" name="Title Placeholder 1"/>
          <p:cNvSpPr>
            <a:spLocks noGrp="1"/>
          </p:cNvSpPr>
          <p:nvPr>
            <p:ph type="title"/>
          </p:nvPr>
        </p:nvSpPr>
        <p:spPr>
          <a:xfrm>
            <a:off x="971550" y="381000"/>
            <a:ext cx="7200900"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71550" y="1828800"/>
            <a:ext cx="72009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7128" y="6419462"/>
            <a:ext cx="1013537" cy="238902"/>
          </a:xfrm>
          <a:prstGeom prst="rect">
            <a:avLst/>
          </a:prstGeom>
        </p:spPr>
        <p:txBody>
          <a:bodyPr vert="horz" lIns="91440" tIns="45720" rIns="91440" bIns="45720" rtlCol="0" anchor="ctr"/>
          <a:lstStyle>
            <a:lvl1pPr algn="r">
              <a:defRPr sz="750">
                <a:solidFill>
                  <a:schemeClr val="tx1"/>
                </a:solidFill>
              </a:defRPr>
            </a:lvl1pPr>
          </a:lstStyle>
          <a:p>
            <a:pPr fontAlgn="auto">
              <a:spcBef>
                <a:spcPts val="0"/>
              </a:spcBef>
              <a:spcAft>
                <a:spcPts val="0"/>
              </a:spcAft>
            </a:pPr>
            <a:r>
              <a:rPr lang="en-US">
                <a:solidFill>
                  <a:prstClr val="black"/>
                </a:solidFill>
                <a:latin typeface="Cambria"/>
              </a:rPr>
              <a:t>Lecture 12</a:t>
            </a:r>
            <a:endParaRPr lang="en-US" dirty="0">
              <a:solidFill>
                <a:prstClr val="black"/>
              </a:solidFill>
              <a:latin typeface="Cambria"/>
            </a:endParaRPr>
          </a:p>
        </p:txBody>
      </p:sp>
      <p:sp>
        <p:nvSpPr>
          <p:cNvPr id="5" name="Footer Placeholder 4"/>
          <p:cNvSpPr>
            <a:spLocks noGrp="1"/>
          </p:cNvSpPr>
          <p:nvPr>
            <p:ph type="ftr" sz="quarter" idx="3"/>
          </p:nvPr>
        </p:nvSpPr>
        <p:spPr>
          <a:xfrm>
            <a:off x="971550" y="6419462"/>
            <a:ext cx="3886200" cy="238902"/>
          </a:xfrm>
          <a:prstGeom prst="rect">
            <a:avLst/>
          </a:prstGeom>
        </p:spPr>
        <p:txBody>
          <a:bodyPr vert="horz" lIns="91440" tIns="45720" rIns="91440" bIns="45720" rtlCol="0" anchor="ctr"/>
          <a:lstStyle>
            <a:lvl1pPr algn="l">
              <a:defRPr sz="750">
                <a:solidFill>
                  <a:schemeClr val="tx1"/>
                </a:solidFill>
              </a:defRPr>
            </a:lvl1pPr>
          </a:lstStyle>
          <a:p>
            <a:pPr fontAlgn="auto">
              <a:spcBef>
                <a:spcPts val="0"/>
              </a:spcBef>
              <a:spcAft>
                <a:spcPts val="0"/>
              </a:spcAft>
            </a:pPr>
            <a:r>
              <a:rPr lang="en-CA">
                <a:solidFill>
                  <a:prstClr val="black"/>
                </a:solidFill>
                <a:latin typeface="Cambria"/>
              </a:rPr>
              <a:t>G.R. Labbé</a:t>
            </a:r>
            <a:endParaRPr lang="en-US" dirty="0">
              <a:solidFill>
                <a:prstClr val="black"/>
              </a:solidFill>
              <a:latin typeface="Cambria"/>
            </a:endParaRPr>
          </a:p>
        </p:txBody>
      </p:sp>
      <p:sp>
        <p:nvSpPr>
          <p:cNvPr id="6" name="Slide Number Placeholder 5"/>
          <p:cNvSpPr>
            <a:spLocks noGrp="1"/>
          </p:cNvSpPr>
          <p:nvPr>
            <p:ph type="sldNum" sz="quarter" idx="4"/>
          </p:nvPr>
        </p:nvSpPr>
        <p:spPr>
          <a:xfrm>
            <a:off x="7648769" y="6419462"/>
            <a:ext cx="523681" cy="238902"/>
          </a:xfrm>
          <a:prstGeom prst="rect">
            <a:avLst/>
          </a:prstGeom>
        </p:spPr>
        <p:txBody>
          <a:bodyPr vert="horz" lIns="91440" tIns="45720" rIns="91440" bIns="45720" rtlCol="0" anchor="ctr"/>
          <a:lstStyle>
            <a:lvl1pPr algn="r">
              <a:defRPr sz="750">
                <a:solidFill>
                  <a:schemeClr val="tx1"/>
                </a:solidFill>
              </a:defRPr>
            </a:lvl1pPr>
          </a:lstStyle>
          <a:p>
            <a:pPr fontAlgn="auto">
              <a:spcBef>
                <a:spcPts val="0"/>
              </a:spcBef>
              <a:spcAft>
                <a:spcPts val="0"/>
              </a:spcAft>
            </a:pPr>
            <a:fld id="{E31375A4-56A4-47D6-9801-1991572033F7}" type="slidenum">
              <a:rPr lang="en-US" smtClean="0">
                <a:solidFill>
                  <a:prstClr val="black"/>
                </a:solidFill>
                <a:latin typeface="Cambria"/>
              </a:rPr>
              <a:pPr fontAlgn="auto">
                <a:spcBef>
                  <a:spcPts val="0"/>
                </a:spcBef>
                <a:spcAft>
                  <a:spcPts val="0"/>
                </a:spcAft>
              </a:pPr>
              <a:t>‹#›</a:t>
            </a:fld>
            <a:endParaRPr lang="en-US" dirty="0">
              <a:solidFill>
                <a:prstClr val="black"/>
              </a:solidFill>
              <a:latin typeface="Cambria"/>
            </a:endParaRPr>
          </a:p>
        </p:txBody>
      </p:sp>
      <p:sp>
        <p:nvSpPr>
          <p:cNvPr id="8" name="Rectangle 7"/>
          <p:cNvSpPr/>
          <p:nvPr userDrawn="1"/>
        </p:nvSpPr>
        <p:spPr>
          <a:xfrm>
            <a:off x="0" y="6257036"/>
            <a:ext cx="9144000" cy="54864"/>
          </a:xfrm>
          <a:prstGeom prst="rect">
            <a:avLst/>
          </a:prstGeom>
          <a:ln>
            <a:noFill/>
          </a:ln>
          <a:effectLst>
            <a:innerShdw blurRad="25400" dist="12700" dir="16200000">
              <a:schemeClr val="accent1">
                <a:lumMod val="5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endParaRPr>
          </a:p>
        </p:txBody>
      </p:sp>
    </p:spTree>
    <p:extLst>
      <p:ext uri="{BB962C8B-B14F-4D97-AF65-F5344CB8AC3E}">
        <p14:creationId xmlns:p14="http://schemas.microsoft.com/office/powerpoint/2010/main" val="4164881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685800" rtl="0" eaLnBrk="1" latinLnBrk="0" hangingPunct="1">
        <a:lnSpc>
          <a:spcPct val="90000"/>
        </a:lnSpc>
        <a:spcBef>
          <a:spcPct val="0"/>
        </a:spcBef>
        <a:buNone/>
        <a:defRPr sz="2400" b="1" kern="1200" cap="all" baseline="0">
          <a:solidFill>
            <a:schemeClr val="accent1"/>
          </a:solidFill>
          <a:effectLst>
            <a:outerShdw blurRad="38100" dist="25400" dir="18900000" algn="bl" rotWithShape="0">
              <a:schemeClr val="bg1">
                <a:alpha val="80000"/>
              </a:schemeClr>
            </a:outerShdw>
          </a:effectLst>
          <a:latin typeface="+mj-lt"/>
          <a:ea typeface="+mj-ea"/>
          <a:cs typeface="+mj-cs"/>
        </a:defRPr>
      </a:lvl1pPr>
    </p:titleStyle>
    <p:bodyStyle>
      <a:lvl1pPr marL="205740" indent="-171450" algn="l" defTabSz="685800" rtl="0" eaLnBrk="1" latinLnBrk="0" hangingPunct="1">
        <a:lnSpc>
          <a:spcPct val="90000"/>
        </a:lnSpc>
        <a:spcBef>
          <a:spcPts val="1350"/>
        </a:spcBef>
        <a:buClr>
          <a:schemeClr val="accent1"/>
        </a:buClr>
        <a:buFont typeface="Arial" pitchFamily="34" charset="0"/>
        <a:buChar char="•"/>
        <a:defRPr sz="1500" kern="1200">
          <a:solidFill>
            <a:schemeClr val="tx1"/>
          </a:solidFill>
          <a:latin typeface="+mn-lt"/>
          <a:ea typeface="+mn-ea"/>
          <a:cs typeface="+mn-cs"/>
        </a:defRPr>
      </a:lvl1pPr>
      <a:lvl2pPr marL="445770" indent="-171450" algn="l" defTabSz="685800" rtl="0" eaLnBrk="1" latinLnBrk="0" hangingPunct="1">
        <a:lnSpc>
          <a:spcPct val="90000"/>
        </a:lnSpc>
        <a:spcBef>
          <a:spcPts val="750"/>
        </a:spcBef>
        <a:buClr>
          <a:schemeClr val="accent1"/>
        </a:buClr>
        <a:buFont typeface="Arial" pitchFamily="34" charset="0"/>
        <a:buChar char="•"/>
        <a:defRPr sz="1350" kern="1200">
          <a:solidFill>
            <a:schemeClr val="tx1"/>
          </a:solidFill>
          <a:latin typeface="+mn-lt"/>
          <a:ea typeface="+mn-ea"/>
          <a:cs typeface="+mn-cs"/>
        </a:defRPr>
      </a:lvl2pPr>
      <a:lvl3pPr marL="685800" indent="-171450" algn="l" defTabSz="685800" rtl="0" eaLnBrk="1" latinLnBrk="0" hangingPunct="1">
        <a:lnSpc>
          <a:spcPct val="90000"/>
        </a:lnSpc>
        <a:spcBef>
          <a:spcPts val="600"/>
        </a:spcBef>
        <a:buClr>
          <a:schemeClr val="accent1"/>
        </a:buClr>
        <a:buFont typeface="Arial" pitchFamily="34" charset="0"/>
        <a:buChar char="•"/>
        <a:defRPr sz="1200" kern="1200">
          <a:solidFill>
            <a:schemeClr val="tx1"/>
          </a:solidFill>
          <a:latin typeface="+mn-lt"/>
          <a:ea typeface="+mn-ea"/>
          <a:cs typeface="+mn-cs"/>
        </a:defRPr>
      </a:lvl3pPr>
      <a:lvl4pPr marL="92583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4pPr>
      <a:lvl5pPr marL="116586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5pPr>
      <a:lvl6pPr marL="137160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6pPr>
      <a:lvl7pPr marL="157734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7pPr>
      <a:lvl8pPr marL="178308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8pPr>
      <a:lvl9pPr marL="198882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636267" y="424276"/>
            <a:ext cx="7992888" cy="550912"/>
          </a:xfrm>
        </p:spPr>
        <p:txBody>
          <a:bodyPr>
            <a:noAutofit/>
          </a:bodyPr>
          <a:lstStyle/>
          <a:p>
            <a:pPr algn="ctr" eaLnBrk="1" hangingPunct="1"/>
            <a:r>
              <a:rPr lang="en-US" sz="3600" dirty="0">
                <a:latin typeface="Calibri" panose="020F0502020204030204" pitchFamily="34" charset="0"/>
                <a:cs typeface="Arial" panose="020B0604020202020204" pitchFamily="34" charset="0"/>
              </a:rPr>
              <a:t>Project Closeout and Termination</a:t>
            </a:r>
          </a:p>
        </p:txBody>
      </p:sp>
      <p:pic>
        <p:nvPicPr>
          <p:cNvPr id="4" name="Picture 3" descr="dsp-projectmanagement-800x370.jpg"/>
          <p:cNvPicPr>
            <a:picLocks noChangeAspect="1"/>
          </p:cNvPicPr>
          <p:nvPr/>
        </p:nvPicPr>
        <p:blipFill>
          <a:blip r:embed="rId2" cstate="print"/>
          <a:stretch>
            <a:fillRect/>
          </a:stretch>
        </p:blipFill>
        <p:spPr>
          <a:xfrm>
            <a:off x="821926" y="1412776"/>
            <a:ext cx="7620000" cy="3524250"/>
          </a:xfrm>
          <a:prstGeom prst="rect">
            <a:avLst/>
          </a:prstGeom>
        </p:spPr>
      </p:pic>
      <p:sp>
        <p:nvSpPr>
          <p:cNvPr id="2" name="Rectangle 1"/>
          <p:cNvSpPr/>
          <p:nvPr/>
        </p:nvSpPr>
        <p:spPr>
          <a:xfrm>
            <a:off x="788812" y="5334544"/>
            <a:ext cx="3677957" cy="400110"/>
          </a:xfrm>
          <a:prstGeom prst="rect">
            <a:avLst/>
          </a:prstGeom>
        </p:spPr>
        <p:txBody>
          <a:bodyPr wrap="square">
            <a:spAutoFit/>
          </a:bodyPr>
          <a:lstStyle/>
          <a:p>
            <a:r>
              <a:rPr lang="en-US" sz="2000" b="1" dirty="0">
                <a:solidFill>
                  <a:schemeClr val="accent1">
                    <a:lumMod val="75000"/>
                  </a:schemeClr>
                </a:solidFill>
                <a:latin typeface="Calibri" panose="020F0502020204030204" pitchFamily="34" charset="0"/>
              </a:rPr>
              <a:t>G.R. Labbé</a:t>
            </a:r>
            <a:endParaRPr lang="en-US" sz="2000" b="1" dirty="0">
              <a:solidFill>
                <a:schemeClr val="accent1">
                  <a:lumMod val="75000"/>
                </a:schemeClr>
              </a:solidFill>
            </a:endParaRPr>
          </a:p>
        </p:txBody>
      </p:sp>
    </p:spTree>
    <p:extLst>
      <p:ext uri="{BB962C8B-B14F-4D97-AF65-F5344CB8AC3E}">
        <p14:creationId xmlns:p14="http://schemas.microsoft.com/office/powerpoint/2010/main" val="3942452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71550" y="381000"/>
            <a:ext cx="7200900" cy="527720"/>
          </a:xfrm>
        </p:spPr>
        <p:txBody>
          <a:bodyPr>
            <a:noAutofit/>
          </a:bodyPr>
          <a:lstStyle/>
          <a:p>
            <a:pPr eaLnBrk="1" hangingPunct="1"/>
            <a:r>
              <a:rPr lang="en-US" sz="3600" dirty="0">
                <a:latin typeface="Calibri" panose="020F0502020204030204" pitchFamily="34" charset="0"/>
                <a:cs typeface="Arial" panose="020B0604020202020204" pitchFamily="34" charset="0"/>
              </a:rPr>
              <a:t>Introduction</a:t>
            </a:r>
          </a:p>
        </p:txBody>
      </p:sp>
      <p:sp>
        <p:nvSpPr>
          <p:cNvPr id="5123" name="Rectangle 3"/>
          <p:cNvSpPr>
            <a:spLocks noGrp="1" noChangeArrowheads="1"/>
          </p:cNvSpPr>
          <p:nvPr>
            <p:ph idx="1"/>
          </p:nvPr>
        </p:nvSpPr>
        <p:spPr>
          <a:xfrm>
            <a:off x="971550" y="1556792"/>
            <a:ext cx="7200900" cy="4114800"/>
          </a:xfrm>
        </p:spPr>
        <p:txBody>
          <a:bodyPr>
            <a:normAutofit/>
          </a:bodyPr>
          <a:lstStyle/>
          <a:p>
            <a:pPr marL="34290" indent="0" eaLnBrk="1" hangingPunct="1">
              <a:buNone/>
            </a:pPr>
            <a:r>
              <a:rPr lang="en-US" sz="2000" dirty="0">
                <a:latin typeface="Calibri" panose="020F0502020204030204" pitchFamily="34" charset="0"/>
                <a:cs typeface="Arial" panose="020B0604020202020204" pitchFamily="34" charset="0"/>
              </a:rPr>
              <a:t>One of the unique characteristics about a </a:t>
            </a:r>
            <a:r>
              <a:rPr lang="en-US" sz="2000" b="1" dirty="0">
                <a:latin typeface="Calibri" panose="020F0502020204030204" pitchFamily="34" charset="0"/>
                <a:cs typeface="Arial" panose="020B0604020202020204" pitchFamily="34" charset="0"/>
              </a:rPr>
              <a:t>project</a:t>
            </a:r>
            <a:r>
              <a:rPr lang="en-US" sz="2000" dirty="0">
                <a:latin typeface="Calibri" panose="020F0502020204030204" pitchFamily="34" charset="0"/>
                <a:cs typeface="Arial" panose="020B0604020202020204" pitchFamily="34" charset="0"/>
              </a:rPr>
              <a:t> is that they are created with a </a:t>
            </a:r>
            <a:r>
              <a:rPr lang="en-US" sz="2000" dirty="0">
                <a:solidFill>
                  <a:srgbClr val="7030A0"/>
                </a:solidFill>
                <a:latin typeface="Calibri" panose="020F0502020204030204" pitchFamily="34" charset="0"/>
                <a:cs typeface="Arial" panose="020B0604020202020204" pitchFamily="34" charset="0"/>
              </a:rPr>
              <a:t>finite life</a:t>
            </a:r>
            <a:r>
              <a:rPr lang="en-US" sz="2000" dirty="0">
                <a:latin typeface="Calibri" panose="020F0502020204030204" pitchFamily="34" charset="0"/>
                <a:cs typeface="Arial" panose="020B0604020202020204" pitchFamily="34" charset="0"/>
              </a:rPr>
              <a:t>. When we are planning the project, we are also planning for its </a:t>
            </a:r>
            <a:r>
              <a:rPr lang="en-US" sz="2000" dirty="0">
                <a:solidFill>
                  <a:srgbClr val="00B050"/>
                </a:solidFill>
                <a:latin typeface="Calibri" panose="020F0502020204030204" pitchFamily="34" charset="0"/>
                <a:cs typeface="Arial" panose="020B0604020202020204" pitchFamily="34" charset="0"/>
              </a:rPr>
              <a:t>extinction</a:t>
            </a:r>
            <a:r>
              <a:rPr lang="en-US" sz="2000" dirty="0">
                <a:latin typeface="Calibri" panose="020F0502020204030204" pitchFamily="34" charset="0"/>
                <a:cs typeface="Arial" panose="020B0604020202020204" pitchFamily="34" charset="0"/>
              </a:rPr>
              <a:t>. </a:t>
            </a:r>
          </a:p>
        </p:txBody>
      </p:sp>
      <p:pic>
        <p:nvPicPr>
          <p:cNvPr id="5124" name="Picture 4"/>
          <p:cNvPicPr>
            <a:picLocks noChangeAspect="1" noChangeArrowheads="1"/>
          </p:cNvPicPr>
          <p:nvPr/>
        </p:nvPicPr>
        <p:blipFill>
          <a:blip r:embed="rId2" cstate="print"/>
          <a:srcRect/>
          <a:stretch>
            <a:fillRect/>
          </a:stretch>
        </p:blipFill>
        <p:spPr bwMode="auto">
          <a:xfrm>
            <a:off x="1709737" y="2848372"/>
            <a:ext cx="5724525" cy="26924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71128" y="404664"/>
            <a:ext cx="5194920" cy="576064"/>
          </a:xfrm>
        </p:spPr>
        <p:txBody>
          <a:bodyPr>
            <a:noAutofit/>
          </a:bodyPr>
          <a:lstStyle/>
          <a:p>
            <a:pPr eaLnBrk="1" hangingPunct="1"/>
            <a:r>
              <a:rPr lang="en-US" sz="3600" dirty="0">
                <a:latin typeface="Calibri" panose="020F0502020204030204" pitchFamily="34" charset="0"/>
                <a:cs typeface="Arial" panose="020B0604020202020204" pitchFamily="34" charset="0"/>
              </a:rPr>
              <a:t>Project Termination</a:t>
            </a:r>
          </a:p>
        </p:txBody>
      </p:sp>
      <p:sp>
        <p:nvSpPr>
          <p:cNvPr id="8195" name="Rectangle 3"/>
          <p:cNvSpPr>
            <a:spLocks noGrp="1" noChangeArrowheads="1"/>
          </p:cNvSpPr>
          <p:nvPr>
            <p:ph idx="1"/>
          </p:nvPr>
        </p:nvSpPr>
        <p:spPr>
          <a:xfrm>
            <a:off x="3635896" y="1301606"/>
            <a:ext cx="4936976" cy="4320480"/>
          </a:xfrm>
        </p:spPr>
        <p:txBody>
          <a:bodyPr>
            <a:normAutofit/>
          </a:bodyPr>
          <a:lstStyle/>
          <a:p>
            <a:pPr eaLnBrk="1" hangingPunct="1">
              <a:buFontTx/>
              <a:buNone/>
            </a:pPr>
            <a:r>
              <a:rPr lang="en-US" sz="2000" dirty="0">
                <a:solidFill>
                  <a:srgbClr val="FF0000"/>
                </a:solidFill>
                <a:latin typeface="Calibri" panose="020F0502020204030204" pitchFamily="34" charset="0"/>
                <a:cs typeface="Arial" panose="020B0604020202020204" pitchFamily="34" charset="0"/>
              </a:rPr>
              <a:t>Project Termination</a:t>
            </a:r>
            <a:r>
              <a:rPr lang="en-US" sz="2000" dirty="0">
                <a:latin typeface="Calibri" panose="020F0502020204030204" pitchFamily="34" charset="0"/>
                <a:cs typeface="Arial" panose="020B0604020202020204" pitchFamily="34" charset="0"/>
              </a:rPr>
              <a:t> is a process that provides for:</a:t>
            </a:r>
          </a:p>
          <a:p>
            <a:pPr eaLnBrk="1" hangingPunct="1"/>
            <a:r>
              <a:rPr lang="en-US" sz="2000" b="1" dirty="0">
                <a:latin typeface="Calibri" panose="020F0502020204030204" pitchFamily="34" charset="0"/>
                <a:cs typeface="Arial" panose="020B0604020202020204" pitchFamily="34" charset="0"/>
              </a:rPr>
              <a:t>Acceptance of the project </a:t>
            </a:r>
            <a:r>
              <a:rPr lang="en-US" sz="2000" dirty="0">
                <a:latin typeface="Calibri" panose="020F0502020204030204" pitchFamily="34" charset="0"/>
                <a:cs typeface="Arial" panose="020B0604020202020204" pitchFamily="34" charset="0"/>
              </a:rPr>
              <a:t>by the project's sponsor;</a:t>
            </a:r>
          </a:p>
          <a:p>
            <a:pPr eaLnBrk="1" hangingPunct="1"/>
            <a:r>
              <a:rPr lang="en-US" sz="2000" dirty="0">
                <a:latin typeface="Calibri" panose="020F0502020204030204" pitchFamily="34" charset="0"/>
                <a:cs typeface="Arial" panose="020B0604020202020204" pitchFamily="34" charset="0"/>
              </a:rPr>
              <a:t>Completion of various project </a:t>
            </a:r>
            <a:r>
              <a:rPr lang="en-US" sz="2000" b="1" dirty="0">
                <a:latin typeface="Calibri" panose="020F0502020204030204" pitchFamily="34" charset="0"/>
                <a:cs typeface="Arial" panose="020B0604020202020204" pitchFamily="34" charset="0"/>
              </a:rPr>
              <a:t>records</a:t>
            </a:r>
            <a:r>
              <a:rPr lang="en-US" sz="2000" dirty="0">
                <a:latin typeface="Calibri" panose="020F0502020204030204" pitchFamily="34" charset="0"/>
                <a:cs typeface="Arial" panose="020B0604020202020204" pitchFamily="34" charset="0"/>
              </a:rPr>
              <a:t>;</a:t>
            </a:r>
          </a:p>
          <a:p>
            <a:pPr eaLnBrk="1" hangingPunct="1"/>
            <a:r>
              <a:rPr lang="en-US" sz="2000" dirty="0">
                <a:latin typeface="Calibri" panose="020F0502020204030204" pitchFamily="34" charset="0"/>
                <a:cs typeface="Arial" panose="020B0604020202020204" pitchFamily="34" charset="0"/>
              </a:rPr>
              <a:t>Final revision and issue of </a:t>
            </a:r>
            <a:r>
              <a:rPr lang="en-US" sz="2000" b="1" dirty="0">
                <a:latin typeface="Calibri" panose="020F0502020204030204" pitchFamily="34" charset="0"/>
                <a:cs typeface="Arial" panose="020B0604020202020204" pitchFamily="34" charset="0"/>
              </a:rPr>
              <a:t>documentation</a:t>
            </a:r>
            <a:r>
              <a:rPr lang="en-US" sz="2000" dirty="0">
                <a:latin typeface="Calibri" panose="020F0502020204030204" pitchFamily="34" charset="0"/>
                <a:cs typeface="Arial" panose="020B0604020202020204" pitchFamily="34" charset="0"/>
              </a:rPr>
              <a:t> to reflect its final condition; and,</a:t>
            </a:r>
          </a:p>
          <a:p>
            <a:pPr eaLnBrk="1" hangingPunct="1"/>
            <a:r>
              <a:rPr lang="en-US" sz="2000" dirty="0">
                <a:latin typeface="Calibri" panose="020F0502020204030204" pitchFamily="34" charset="0"/>
                <a:cs typeface="Arial" panose="020B0604020202020204" pitchFamily="34" charset="0"/>
              </a:rPr>
              <a:t>The retention of </a:t>
            </a:r>
            <a:r>
              <a:rPr lang="en-US" sz="2000" b="1" dirty="0">
                <a:latin typeface="Calibri" panose="020F0502020204030204" pitchFamily="34" charset="0"/>
                <a:cs typeface="Arial" panose="020B0604020202020204" pitchFamily="34" charset="0"/>
              </a:rPr>
              <a:t>essential project documentation </a:t>
            </a:r>
            <a:r>
              <a:rPr lang="en-US" sz="2000" i="1" dirty="0">
                <a:latin typeface="Calibri" panose="020F0502020204030204" pitchFamily="34" charset="0"/>
                <a:cs typeface="Arial" panose="020B0604020202020204" pitchFamily="34" charset="0"/>
              </a:rPr>
              <a:t>(Lessons Learned).</a:t>
            </a:r>
          </a:p>
        </p:txBody>
      </p:sp>
      <p:sp>
        <p:nvSpPr>
          <p:cNvPr id="8196" name="Oval 4"/>
          <p:cNvSpPr>
            <a:spLocks noChangeArrowheads="1"/>
          </p:cNvSpPr>
          <p:nvPr/>
        </p:nvSpPr>
        <p:spPr bwMode="auto">
          <a:xfrm>
            <a:off x="96839" y="6381327"/>
            <a:ext cx="370706" cy="327447"/>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 name="Picture 4" descr="Project_Termination_Terminator.jpg"/>
          <p:cNvPicPr>
            <a:picLocks noChangeAspect="1"/>
          </p:cNvPicPr>
          <p:nvPr/>
        </p:nvPicPr>
        <p:blipFill>
          <a:blip r:embed="rId4" cstate="print"/>
          <a:stretch>
            <a:fillRect/>
          </a:stretch>
        </p:blipFill>
        <p:spPr>
          <a:xfrm>
            <a:off x="571128" y="1268760"/>
            <a:ext cx="2880320" cy="3555950"/>
          </a:xfrm>
          <a:prstGeom prst="rect">
            <a:avLst/>
          </a:prstGeom>
        </p:spPr>
      </p:pic>
      <p:pic>
        <p:nvPicPr>
          <p:cNvPr id="7" name="t2_terminator.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5613648" y="5878513"/>
            <a:ext cx="304800" cy="304800"/>
          </a:xfrm>
          <a:prstGeom prst="rect">
            <a:avLst/>
          </a:prstGeom>
        </p:spPr>
      </p:pic>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3</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55"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368252"/>
            <a:ext cx="8229600" cy="706090"/>
          </a:xfrm>
        </p:spPr>
        <p:txBody>
          <a:bodyPr>
            <a:normAutofit/>
          </a:bodyPr>
          <a:lstStyle/>
          <a:p>
            <a:pPr eaLnBrk="1" hangingPunct="1"/>
            <a:r>
              <a:rPr lang="en-US" sz="3600" dirty="0">
                <a:latin typeface="Calibri" panose="020F0502020204030204" pitchFamily="34" charset="0"/>
                <a:cs typeface="Arial" panose="020B0604020202020204" pitchFamily="34" charset="0"/>
              </a:rPr>
              <a:t>Types of Project Termination</a:t>
            </a:r>
          </a:p>
        </p:txBody>
      </p:sp>
      <p:sp>
        <p:nvSpPr>
          <p:cNvPr id="9219" name="Rectangle 3"/>
          <p:cNvSpPr>
            <a:spLocks noGrp="1" noChangeArrowheads="1"/>
          </p:cNvSpPr>
          <p:nvPr>
            <p:ph idx="1"/>
          </p:nvPr>
        </p:nvSpPr>
        <p:spPr>
          <a:xfrm>
            <a:off x="457200" y="1348572"/>
            <a:ext cx="8229600" cy="4709120"/>
          </a:xfrm>
        </p:spPr>
        <p:txBody>
          <a:bodyPr>
            <a:normAutofit/>
          </a:bodyPr>
          <a:lstStyle/>
          <a:p>
            <a:pPr marL="609600" indent="-609600" eaLnBrk="1" hangingPunct="1">
              <a:buNone/>
            </a:pPr>
            <a:endParaRPr lang="en-US" sz="2000" b="1" u="sng" dirty="0">
              <a:solidFill>
                <a:schemeClr val="accent1">
                  <a:lumMod val="75000"/>
                </a:schemeClr>
              </a:solidFill>
              <a:latin typeface="Calibri" panose="020F0502020204030204" pitchFamily="34" charset="0"/>
              <a:cs typeface="Arial" panose="020B0604020202020204" pitchFamily="34" charset="0"/>
            </a:endParaRPr>
          </a:p>
          <a:p>
            <a:pPr marL="609600" indent="-609600" eaLnBrk="1" hangingPunct="1">
              <a:buNone/>
            </a:pPr>
            <a:r>
              <a:rPr lang="en-US" sz="2000" u="sng" dirty="0">
                <a:solidFill>
                  <a:schemeClr val="accent1">
                    <a:lumMod val="75000"/>
                  </a:schemeClr>
                </a:solidFill>
                <a:latin typeface="Calibri" panose="020F0502020204030204" pitchFamily="34" charset="0"/>
                <a:cs typeface="Arial" panose="020B0604020202020204" pitchFamily="34" charset="0"/>
              </a:rPr>
              <a:t>Termination by </a:t>
            </a:r>
            <a:r>
              <a:rPr lang="en-US" sz="2000" b="1" u="sng" dirty="0">
                <a:solidFill>
                  <a:schemeClr val="accent1">
                    <a:lumMod val="75000"/>
                  </a:schemeClr>
                </a:solidFill>
                <a:latin typeface="Calibri" panose="020F0502020204030204" pitchFamily="34" charset="0"/>
                <a:cs typeface="Arial" panose="020B0604020202020204" pitchFamily="34" charset="0"/>
              </a:rPr>
              <a:t>Extinction</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This process occurs when the project is stopped due to either its </a:t>
            </a:r>
            <a:r>
              <a:rPr lang="en-US" sz="2000" dirty="0">
                <a:solidFill>
                  <a:srgbClr val="FF0000"/>
                </a:solidFill>
                <a:latin typeface="Calibri" panose="020F0502020204030204" pitchFamily="34" charset="0"/>
                <a:cs typeface="Arial" panose="020B0604020202020204" pitchFamily="34" charset="0"/>
              </a:rPr>
              <a:t>successful</a:t>
            </a:r>
            <a:r>
              <a:rPr lang="en-US" sz="2000" dirty="0">
                <a:latin typeface="Calibri" panose="020F0502020204030204" pitchFamily="34" charset="0"/>
                <a:cs typeface="Arial" panose="020B0604020202020204" pitchFamily="34" charset="0"/>
              </a:rPr>
              <a:t> or </a:t>
            </a:r>
            <a:r>
              <a:rPr lang="en-US" sz="2000" dirty="0">
                <a:solidFill>
                  <a:srgbClr val="FF0000"/>
                </a:solidFill>
                <a:latin typeface="Calibri" panose="020F0502020204030204" pitchFamily="34" charset="0"/>
                <a:cs typeface="Arial" panose="020B0604020202020204" pitchFamily="34" charset="0"/>
              </a:rPr>
              <a:t>unsuccessful</a:t>
            </a:r>
            <a:r>
              <a:rPr lang="en-US" sz="2000" dirty="0">
                <a:latin typeface="Calibri" panose="020F0502020204030204" pitchFamily="34" charset="0"/>
                <a:cs typeface="Arial" panose="020B0604020202020204" pitchFamily="34" charset="0"/>
              </a:rPr>
              <a:t> </a:t>
            </a:r>
            <a:r>
              <a:rPr lang="en-US" sz="2000" b="1" dirty="0">
                <a:latin typeface="Calibri" panose="020F0502020204030204" pitchFamily="34" charset="0"/>
                <a:cs typeface="Arial" panose="020B0604020202020204" pitchFamily="34" charset="0"/>
              </a:rPr>
              <a:t>conclusion</a:t>
            </a:r>
            <a:r>
              <a:rPr lang="en-US" sz="2000" dirty="0">
                <a:latin typeface="Calibri" panose="020F0502020204030204" pitchFamily="34" charset="0"/>
                <a:cs typeface="Arial" panose="020B0604020202020204" pitchFamily="34" charset="0"/>
              </a:rPr>
              <a:t>. </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The project's final budget is audited</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Team members receive new work assignments</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Any material assets the project employed are dispersed or transferred according to company or contractual terms</a:t>
            </a:r>
          </a:p>
        </p:txBody>
      </p:sp>
      <p:sp>
        <p:nvSpPr>
          <p:cNvPr id="9220" name="Oval 4"/>
          <p:cNvSpPr>
            <a:spLocks noChangeArrowheads="1"/>
          </p:cNvSpPr>
          <p:nvPr/>
        </p:nvSpPr>
        <p:spPr bwMode="auto">
          <a:xfrm>
            <a:off x="96839" y="6381327"/>
            <a:ext cx="360362" cy="327447"/>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4</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wipe(down)">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wipe(down)">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wipe(down)">
                                      <p:cBhvr>
                                        <p:cTn id="17" dur="500"/>
                                        <p:tgtEl>
                                          <p:spTgt spid="921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219">
                                            <p:txEl>
                                              <p:pRg st="4" end="4"/>
                                            </p:txEl>
                                          </p:spTgt>
                                        </p:tgtEl>
                                        <p:attrNameLst>
                                          <p:attrName>style.visibility</p:attrName>
                                        </p:attrNameLst>
                                      </p:cBhvr>
                                      <p:to>
                                        <p:strVal val="visible"/>
                                      </p:to>
                                    </p:set>
                                    <p:animEffect transition="in" filter="wipe(down)">
                                      <p:cBhvr>
                                        <p:cTn id="22" dur="500"/>
                                        <p:tgtEl>
                                          <p:spTgt spid="921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animEffect transition="in" filter="wipe(down)">
                                      <p:cBhvr>
                                        <p:cTn id="27"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368252"/>
            <a:ext cx="8229600" cy="706090"/>
          </a:xfrm>
        </p:spPr>
        <p:txBody>
          <a:bodyPr>
            <a:normAutofit/>
          </a:bodyPr>
          <a:lstStyle/>
          <a:p>
            <a:pPr eaLnBrk="1" hangingPunct="1"/>
            <a:r>
              <a:rPr lang="en-US" sz="3600" dirty="0">
                <a:latin typeface="Calibri" panose="020F0502020204030204" pitchFamily="34" charset="0"/>
                <a:cs typeface="Arial" panose="020B0604020202020204" pitchFamily="34" charset="0"/>
              </a:rPr>
              <a:t>Types of Project Termination</a:t>
            </a:r>
          </a:p>
        </p:txBody>
      </p:sp>
      <p:sp>
        <p:nvSpPr>
          <p:cNvPr id="9219" name="Rectangle 3"/>
          <p:cNvSpPr>
            <a:spLocks noGrp="1" noChangeArrowheads="1"/>
          </p:cNvSpPr>
          <p:nvPr>
            <p:ph idx="1"/>
          </p:nvPr>
        </p:nvSpPr>
        <p:spPr>
          <a:xfrm>
            <a:off x="457200" y="1348572"/>
            <a:ext cx="8229600" cy="4709120"/>
          </a:xfrm>
        </p:spPr>
        <p:txBody>
          <a:bodyPr>
            <a:normAutofit/>
          </a:bodyPr>
          <a:lstStyle/>
          <a:p>
            <a:pPr marL="609600" indent="-609600" eaLnBrk="1" hangingPunct="1">
              <a:lnSpc>
                <a:spcPct val="80000"/>
              </a:lnSpc>
              <a:buFont typeface="+mj-lt"/>
              <a:buAutoNum type="arabicParenR"/>
            </a:pPr>
            <a:endParaRPr lang="en-US" sz="2000" dirty="0">
              <a:latin typeface="Calibri" panose="020F0502020204030204" pitchFamily="34" charset="0"/>
              <a:cs typeface="Arial" panose="020B0604020202020204" pitchFamily="34" charset="0"/>
            </a:endParaRPr>
          </a:p>
          <a:p>
            <a:pPr marL="609600" indent="-609600" eaLnBrk="1" hangingPunct="1">
              <a:lnSpc>
                <a:spcPct val="80000"/>
              </a:lnSpc>
              <a:buNone/>
            </a:pPr>
            <a:r>
              <a:rPr lang="en-US" sz="2000" u="sng" dirty="0">
                <a:solidFill>
                  <a:schemeClr val="accent1">
                    <a:lumMod val="75000"/>
                  </a:schemeClr>
                </a:solidFill>
                <a:latin typeface="Calibri" panose="020F0502020204030204" pitchFamily="34" charset="0"/>
                <a:cs typeface="Arial" panose="020B0604020202020204" pitchFamily="34" charset="0"/>
              </a:rPr>
              <a:t>Termination by </a:t>
            </a:r>
            <a:r>
              <a:rPr lang="en-US" sz="2000" b="1" u="sng" dirty="0">
                <a:solidFill>
                  <a:schemeClr val="accent1">
                    <a:lumMod val="75000"/>
                  </a:schemeClr>
                </a:solidFill>
                <a:latin typeface="Calibri" panose="020F0502020204030204" pitchFamily="34" charset="0"/>
                <a:cs typeface="Arial" panose="020B0604020202020204" pitchFamily="34" charset="0"/>
              </a:rPr>
              <a:t>Addition</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This approach concludes a project by </a:t>
            </a:r>
            <a:r>
              <a:rPr lang="en-US" sz="2000" b="1" dirty="0">
                <a:latin typeface="Calibri" panose="020F0502020204030204" pitchFamily="34" charset="0"/>
                <a:cs typeface="Arial" panose="020B0604020202020204" pitchFamily="34" charset="0"/>
              </a:rPr>
              <a:t>institutionalizing</a:t>
            </a:r>
            <a:r>
              <a:rPr lang="en-US" sz="2000" dirty="0">
                <a:latin typeface="Calibri" panose="020F0502020204030204" pitchFamily="34" charset="0"/>
                <a:cs typeface="Arial" panose="020B0604020202020204" pitchFamily="34" charset="0"/>
              </a:rPr>
              <a:t> it as a formal part of the parent organization. </a:t>
            </a:r>
          </a:p>
          <a:p>
            <a:pPr marL="609600" indent="-609600" eaLnBrk="1" hangingPunct="1">
              <a:lnSpc>
                <a:spcPct val="80000"/>
              </a:lnSpc>
              <a:buFont typeface="Wingdings" pitchFamily="2" charset="2"/>
              <a:buChar char="Ø"/>
            </a:pPr>
            <a:r>
              <a:rPr lang="en-US" sz="2000" b="1" dirty="0">
                <a:latin typeface="Calibri" panose="020F0502020204030204" pitchFamily="34" charset="0"/>
                <a:cs typeface="Arial" panose="020B0604020202020204" pitchFamily="34" charset="0"/>
              </a:rPr>
              <a:t>For example</a:t>
            </a:r>
            <a:r>
              <a:rPr lang="en-US" sz="2000" dirty="0">
                <a:latin typeface="Calibri" panose="020F0502020204030204" pitchFamily="34" charset="0"/>
                <a:cs typeface="Arial" panose="020B0604020202020204" pitchFamily="34" charset="0"/>
              </a:rPr>
              <a:t>, suppose an automotive company has successfully introduced a new vehicle. The new cars are running down the new production line, the project team is then not disbanded, but changed into a support team for the running production. </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The project </a:t>
            </a:r>
            <a:r>
              <a:rPr lang="en-US" sz="2000" dirty="0">
                <a:solidFill>
                  <a:srgbClr val="7030A0"/>
                </a:solidFill>
                <a:latin typeface="Calibri" panose="020F0502020204030204" pitchFamily="34" charset="0"/>
                <a:cs typeface="Arial" panose="020B0604020202020204" pitchFamily="34" charset="0"/>
              </a:rPr>
              <a:t>has indeed been terminated</a:t>
            </a:r>
            <a:r>
              <a:rPr lang="en-US" sz="2000" dirty="0">
                <a:latin typeface="Calibri" panose="020F0502020204030204" pitchFamily="34" charset="0"/>
                <a:cs typeface="Arial" panose="020B0604020202020204" pitchFamily="34" charset="0"/>
              </a:rPr>
              <a:t>, but its success has led to its </a:t>
            </a:r>
            <a:r>
              <a:rPr lang="en-US" sz="2000" b="1" dirty="0">
                <a:latin typeface="Calibri" panose="020F0502020204030204" pitchFamily="34" charset="0"/>
                <a:cs typeface="Arial" panose="020B0604020202020204" pitchFamily="34" charset="0"/>
              </a:rPr>
              <a:t>addition</a:t>
            </a:r>
            <a:r>
              <a:rPr lang="en-US" sz="2000" dirty="0">
                <a:latin typeface="Calibri" panose="020F0502020204030204" pitchFamily="34" charset="0"/>
                <a:cs typeface="Arial" panose="020B0604020202020204" pitchFamily="34" charset="0"/>
              </a:rPr>
              <a:t> to the organizational structure of the organization.</a:t>
            </a:r>
            <a:r>
              <a:rPr lang="en-US" sz="2000" dirty="0">
                <a:latin typeface="Calibri" panose="020F0502020204030204" pitchFamily="34" charset="0"/>
              </a:rPr>
              <a:t>.</a:t>
            </a:r>
          </a:p>
        </p:txBody>
      </p:sp>
      <p:sp>
        <p:nvSpPr>
          <p:cNvPr id="9220" name="Oval 4"/>
          <p:cNvSpPr>
            <a:spLocks noChangeArrowheads="1"/>
          </p:cNvSpPr>
          <p:nvPr/>
        </p:nvSpPr>
        <p:spPr bwMode="auto">
          <a:xfrm>
            <a:off x="96839" y="6381327"/>
            <a:ext cx="360362" cy="327447"/>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320047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wipe(down)">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wipe(down)">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wipe(down)">
                                      <p:cBhvr>
                                        <p:cTn id="17" dur="500"/>
                                        <p:tgtEl>
                                          <p:spTgt spid="921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219">
                                            <p:txEl>
                                              <p:pRg st="4" end="4"/>
                                            </p:txEl>
                                          </p:spTgt>
                                        </p:tgtEl>
                                        <p:attrNameLst>
                                          <p:attrName>style.visibility</p:attrName>
                                        </p:attrNameLst>
                                      </p:cBhvr>
                                      <p:to>
                                        <p:strVal val="visible"/>
                                      </p:to>
                                    </p:set>
                                    <p:animEffect transition="in" filter="wipe(down)">
                                      <p:cBhvr>
                                        <p:cTn id="22"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title"/>
          </p:nvPr>
        </p:nvSpPr>
        <p:spPr>
          <a:xfrm>
            <a:off x="457200" y="274639"/>
            <a:ext cx="7931150" cy="634082"/>
          </a:xfrm>
        </p:spPr>
        <p:txBody>
          <a:bodyPr>
            <a:normAutofit fontScale="90000"/>
          </a:bodyPr>
          <a:lstStyle/>
          <a:p>
            <a:pPr algn="ctr" fontAlgn="auto">
              <a:spcAft>
                <a:spcPts val="0"/>
              </a:spcAft>
              <a:defRPr/>
            </a:pPr>
            <a:r>
              <a:rPr lang="en-US" sz="4000" dirty="0">
                <a:latin typeface="Calibri" panose="020F0502020204030204" pitchFamily="34" charset="0"/>
              </a:rPr>
              <a:t>What is:</a:t>
            </a:r>
          </a:p>
        </p:txBody>
      </p:sp>
      <p:sp>
        <p:nvSpPr>
          <p:cNvPr id="6147" name="Content Placeholder 3"/>
          <p:cNvSpPr>
            <a:spLocks noGrp="1"/>
          </p:cNvSpPr>
          <p:nvPr>
            <p:ph sz="half" idx="1"/>
          </p:nvPr>
        </p:nvSpPr>
        <p:spPr>
          <a:xfrm>
            <a:off x="457200" y="1139825"/>
            <a:ext cx="2601913" cy="676275"/>
          </a:xfrm>
        </p:spPr>
        <p:txBody>
          <a:bodyPr>
            <a:normAutofit/>
          </a:bodyPr>
          <a:lstStyle/>
          <a:p>
            <a:pPr fontAlgn="auto">
              <a:spcAft>
                <a:spcPts val="0"/>
              </a:spcAft>
              <a:buFont typeface="Wingdings 2"/>
              <a:buChar char=""/>
              <a:defRPr/>
            </a:pPr>
            <a:r>
              <a:rPr lang="en-US" sz="3200" b="1" dirty="0">
                <a:latin typeface="Calibri" panose="020F0502020204030204" pitchFamily="34" charset="0"/>
              </a:rPr>
              <a:t>a Project?</a:t>
            </a:r>
          </a:p>
        </p:txBody>
      </p:sp>
      <p:sp>
        <p:nvSpPr>
          <p:cNvPr id="6148" name="Content Placeholder 4"/>
          <p:cNvSpPr>
            <a:spLocks noGrp="1"/>
          </p:cNvSpPr>
          <p:nvPr>
            <p:ph sz="half" idx="2"/>
          </p:nvPr>
        </p:nvSpPr>
        <p:spPr>
          <a:xfrm>
            <a:off x="5003676" y="1139815"/>
            <a:ext cx="2732088" cy="555625"/>
          </a:xfrm>
        </p:spPr>
        <p:txBody>
          <a:bodyPr>
            <a:normAutofit/>
          </a:bodyPr>
          <a:lstStyle/>
          <a:p>
            <a:pPr fontAlgn="auto">
              <a:spcAft>
                <a:spcPts val="0"/>
              </a:spcAft>
              <a:buFont typeface="Wingdings 2"/>
              <a:buChar char=""/>
              <a:defRPr/>
            </a:pPr>
            <a:r>
              <a:rPr lang="en-US" sz="3200" b="1" dirty="0">
                <a:latin typeface="Calibri" panose="020F0502020204030204" pitchFamily="34" charset="0"/>
              </a:rPr>
              <a:t>a Process</a:t>
            </a:r>
            <a:r>
              <a:rPr lang="en-US" sz="3200" b="1" dirty="0"/>
              <a:t>?</a:t>
            </a:r>
          </a:p>
        </p:txBody>
      </p:sp>
      <p:sp>
        <p:nvSpPr>
          <p:cNvPr id="5" name="TextBox 4"/>
          <p:cNvSpPr txBox="1">
            <a:spLocks noChangeArrowheads="1"/>
          </p:cNvSpPr>
          <p:nvPr/>
        </p:nvSpPr>
        <p:spPr bwMode="auto">
          <a:xfrm>
            <a:off x="457200" y="1816100"/>
            <a:ext cx="3970784" cy="3785652"/>
          </a:xfrm>
          <a:prstGeom prst="rect">
            <a:avLst/>
          </a:prstGeom>
          <a:noFill/>
          <a:ln w="9525">
            <a:noFill/>
            <a:miter lim="800000"/>
            <a:headEnd/>
            <a:tailEnd/>
          </a:ln>
        </p:spPr>
        <p:txBody>
          <a:bodyPr wrap="square">
            <a:spAutoFit/>
          </a:bodyPr>
          <a:lstStyle/>
          <a:p>
            <a:r>
              <a:rPr lang="en-US" sz="2400" b="1" dirty="0">
                <a:solidFill>
                  <a:srgbClr val="FF0000"/>
                </a:solidFill>
                <a:latin typeface="Calibri" panose="020F0502020204030204" pitchFamily="34" charset="0"/>
              </a:rPr>
              <a:t>A project</a:t>
            </a:r>
            <a:r>
              <a:rPr lang="en-US" sz="2400" dirty="0">
                <a:solidFill>
                  <a:srgbClr val="FF0000"/>
                </a:solidFill>
                <a:latin typeface="Calibri" panose="020F0502020204030204" pitchFamily="34" charset="0"/>
              </a:rPr>
              <a:t> </a:t>
            </a:r>
            <a:r>
              <a:rPr lang="en-US" sz="2400" dirty="0">
                <a:latin typeface="Calibri" panose="020F0502020204030204" pitchFamily="34" charset="0"/>
              </a:rPr>
              <a:t>is a </a:t>
            </a:r>
            <a:r>
              <a:rPr lang="en-US" sz="2400" b="1" dirty="0">
                <a:solidFill>
                  <a:srgbClr val="FF0000"/>
                </a:solidFill>
                <a:latin typeface="Calibri" panose="020F0502020204030204" pitchFamily="34" charset="0"/>
              </a:rPr>
              <a:t>temporary</a:t>
            </a:r>
            <a:r>
              <a:rPr lang="en-US" sz="2400" dirty="0">
                <a:latin typeface="Calibri" panose="020F0502020204030204" pitchFamily="34" charset="0"/>
              </a:rPr>
              <a:t> and </a:t>
            </a:r>
            <a:r>
              <a:rPr lang="en-US" sz="2400" b="1" dirty="0">
                <a:solidFill>
                  <a:srgbClr val="FF0000"/>
                </a:solidFill>
                <a:latin typeface="Calibri" panose="020F0502020204030204" pitchFamily="34" charset="0"/>
              </a:rPr>
              <a:t>one-time</a:t>
            </a:r>
            <a:r>
              <a:rPr lang="en-US" sz="2400" dirty="0">
                <a:latin typeface="Calibri" panose="020F0502020204030204" pitchFamily="34" charset="0"/>
              </a:rPr>
              <a:t> endeavor. </a:t>
            </a:r>
          </a:p>
          <a:p>
            <a:r>
              <a:rPr lang="en-CA" sz="2400" dirty="0">
                <a:latin typeface="Calibri" panose="020F0502020204030204" pitchFamily="34" charset="0"/>
              </a:rPr>
              <a:t>A project is a sequence of </a:t>
            </a:r>
            <a:r>
              <a:rPr lang="en-CA" sz="2400" u="sng" dirty="0">
                <a:latin typeface="Calibri" panose="020F0502020204030204" pitchFamily="34" charset="0"/>
              </a:rPr>
              <a:t>unique</a:t>
            </a:r>
            <a:r>
              <a:rPr lang="en-CA" sz="2400" dirty="0">
                <a:latin typeface="Calibri" panose="020F0502020204030204" pitchFamily="34" charset="0"/>
              </a:rPr>
              <a:t>, </a:t>
            </a:r>
            <a:r>
              <a:rPr lang="en-CA" sz="2400" u="sng" dirty="0">
                <a:latin typeface="Calibri" panose="020F0502020204030204" pitchFamily="34" charset="0"/>
              </a:rPr>
              <a:t>complex</a:t>
            </a:r>
            <a:r>
              <a:rPr lang="en-CA" sz="2400" dirty="0">
                <a:latin typeface="Calibri" panose="020F0502020204030204" pitchFamily="34" charset="0"/>
              </a:rPr>
              <a:t>, and </a:t>
            </a:r>
            <a:r>
              <a:rPr lang="en-CA" sz="2400" u="sng" dirty="0">
                <a:latin typeface="Calibri" panose="020F0502020204030204" pitchFamily="34" charset="0"/>
              </a:rPr>
              <a:t>connected activities</a:t>
            </a:r>
            <a:r>
              <a:rPr lang="en-CA" sz="2400" dirty="0">
                <a:latin typeface="Calibri" panose="020F0502020204030204" pitchFamily="34" charset="0"/>
              </a:rPr>
              <a:t> having </a:t>
            </a:r>
            <a:r>
              <a:rPr lang="en-CA" sz="2400" u="sng" dirty="0">
                <a:latin typeface="Calibri" panose="020F0502020204030204" pitchFamily="34" charset="0"/>
              </a:rPr>
              <a:t>one goal </a:t>
            </a:r>
            <a:r>
              <a:rPr lang="en-CA" sz="2400" dirty="0">
                <a:latin typeface="Calibri" panose="020F0502020204030204" pitchFamily="34" charset="0"/>
              </a:rPr>
              <a:t>or </a:t>
            </a:r>
            <a:r>
              <a:rPr lang="en-CA" sz="2400" u="sng" dirty="0">
                <a:latin typeface="Calibri" panose="020F0502020204030204" pitchFamily="34" charset="0"/>
              </a:rPr>
              <a:t>purpose</a:t>
            </a:r>
            <a:r>
              <a:rPr lang="en-CA" sz="2400" dirty="0">
                <a:latin typeface="Calibri" panose="020F0502020204030204" pitchFamily="34" charset="0"/>
              </a:rPr>
              <a:t> and it must be completed by a </a:t>
            </a:r>
            <a:r>
              <a:rPr lang="en-CA" sz="2400" u="sng" dirty="0">
                <a:latin typeface="Calibri" panose="020F0502020204030204" pitchFamily="34" charset="0"/>
              </a:rPr>
              <a:t>specific time</a:t>
            </a:r>
            <a:r>
              <a:rPr lang="en-CA" sz="2400" dirty="0">
                <a:latin typeface="Calibri" panose="020F0502020204030204" pitchFamily="34" charset="0"/>
              </a:rPr>
              <a:t>, </a:t>
            </a:r>
            <a:r>
              <a:rPr lang="en-CA" sz="2400" u="sng" dirty="0">
                <a:latin typeface="Calibri" panose="020F0502020204030204" pitchFamily="34" charset="0"/>
              </a:rPr>
              <a:t>within budget</a:t>
            </a:r>
            <a:r>
              <a:rPr lang="en-CA" sz="2400" dirty="0">
                <a:latin typeface="Calibri" panose="020F0502020204030204" pitchFamily="34" charset="0"/>
              </a:rPr>
              <a:t>, and according to </a:t>
            </a:r>
            <a:r>
              <a:rPr lang="en-CA" sz="2400" u="sng" dirty="0">
                <a:latin typeface="Calibri" panose="020F0502020204030204" pitchFamily="34" charset="0"/>
              </a:rPr>
              <a:t>defined specification.</a:t>
            </a:r>
          </a:p>
        </p:txBody>
      </p:sp>
      <p:sp>
        <p:nvSpPr>
          <p:cNvPr id="6" name="TextBox 5"/>
          <p:cNvSpPr txBox="1">
            <a:spLocks noChangeArrowheads="1"/>
          </p:cNvSpPr>
          <p:nvPr/>
        </p:nvSpPr>
        <p:spPr bwMode="auto">
          <a:xfrm>
            <a:off x="5003800" y="1816100"/>
            <a:ext cx="3384550" cy="2677656"/>
          </a:xfrm>
          <a:prstGeom prst="rect">
            <a:avLst/>
          </a:prstGeom>
          <a:noFill/>
          <a:ln w="9525">
            <a:noFill/>
            <a:miter lim="800000"/>
            <a:headEnd/>
            <a:tailEnd/>
          </a:ln>
        </p:spPr>
        <p:txBody>
          <a:bodyPr>
            <a:spAutoFit/>
          </a:bodyPr>
          <a:lstStyle/>
          <a:p>
            <a:r>
              <a:rPr lang="en-US" sz="2400" b="1" dirty="0">
                <a:solidFill>
                  <a:srgbClr val="FF0000"/>
                </a:solidFill>
                <a:latin typeface="Calibri" panose="020F0502020204030204" pitchFamily="34" charset="0"/>
              </a:rPr>
              <a:t>A process</a:t>
            </a:r>
            <a:r>
              <a:rPr lang="en-US" sz="2400" dirty="0">
                <a:solidFill>
                  <a:srgbClr val="FF0000"/>
                </a:solidFill>
                <a:latin typeface="Calibri" panose="020F0502020204030204" pitchFamily="34" charset="0"/>
              </a:rPr>
              <a:t> </a:t>
            </a:r>
            <a:r>
              <a:rPr lang="en-US" sz="2400" dirty="0">
                <a:latin typeface="Calibri" panose="020F0502020204030204" pitchFamily="34" charset="0"/>
              </a:rPr>
              <a:t>is a </a:t>
            </a:r>
            <a:r>
              <a:rPr lang="en-US" sz="2400" b="1" dirty="0">
                <a:solidFill>
                  <a:srgbClr val="FF0000"/>
                </a:solidFill>
                <a:latin typeface="Calibri" panose="020F0502020204030204" pitchFamily="34" charset="0"/>
              </a:rPr>
              <a:t>permanent endeavor</a:t>
            </a:r>
            <a:r>
              <a:rPr lang="en-US" sz="2400" dirty="0">
                <a:latin typeface="Calibri" panose="020F0502020204030204" pitchFamily="34" charset="0"/>
              </a:rPr>
              <a:t>, designed to be repetitive, undertaken to create a unique product or service, which brings about beneficial change or added value</a:t>
            </a:r>
            <a:r>
              <a:rPr lang="en-US" dirty="0">
                <a:latin typeface="Calibri" panose="020F0502020204030204" pitchFamily="34" charset="0"/>
              </a:rPr>
              <a:t>.</a:t>
            </a:r>
            <a:endParaRPr lang="en-CA" dirty="0">
              <a:latin typeface="Calibri" panose="020F0502020204030204" pitchFamily="34" charset="0"/>
            </a:endParaRPr>
          </a:p>
        </p:txBody>
      </p:sp>
      <p:sp>
        <p:nvSpPr>
          <p:cNvPr id="7"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4" name="Footer Placeholder 3">
            <a:extLst>
              <a:ext uri="{FF2B5EF4-FFF2-40B4-BE49-F238E27FC236}">
                <a16:creationId xmlns:a16="http://schemas.microsoft.com/office/drawing/2014/main" id="{21FF5760-07EB-4D56-BCBD-427BD47A67BA}"/>
              </a:ext>
            </a:extLst>
          </p:cNvPr>
          <p:cNvSpPr>
            <a:spLocks noGrp="1"/>
          </p:cNvSpPr>
          <p:nvPr>
            <p:ph type="ftr" sz="quarter" idx="11"/>
          </p:nvPr>
        </p:nvSpPr>
        <p:spPr>
          <a:xfrm>
            <a:off x="1070258" y="6537552"/>
            <a:ext cx="3886200" cy="238902"/>
          </a:xfrm>
        </p:spPr>
        <p:txBody>
          <a:bodyPr/>
          <a:lstStyle/>
          <a:p>
            <a:r>
              <a:rPr lang="en-US">
                <a:solidFill>
                  <a:prstClr val="black"/>
                </a:solidFill>
              </a:rPr>
              <a:t>G.R. Labbé</a:t>
            </a:r>
          </a:p>
        </p:txBody>
      </p:sp>
      <p:sp>
        <p:nvSpPr>
          <p:cNvPr id="8" name="Slide Number Placeholder 7">
            <a:extLst>
              <a:ext uri="{FF2B5EF4-FFF2-40B4-BE49-F238E27FC236}">
                <a16:creationId xmlns:a16="http://schemas.microsoft.com/office/drawing/2014/main" id="{EAD43E54-4344-4F18-B4A4-9293BE3DF2D0}"/>
              </a:ext>
            </a:extLst>
          </p:cNvPr>
          <p:cNvSpPr>
            <a:spLocks noGrp="1"/>
          </p:cNvSpPr>
          <p:nvPr>
            <p:ph type="sldNum" sz="quarter" idx="12"/>
          </p:nvPr>
        </p:nvSpPr>
        <p:spPr/>
        <p:txBody>
          <a:bodyPr/>
          <a:lstStyle/>
          <a:p>
            <a:fld id="{E31375A4-56A4-47D6-9801-1991572033F7}" type="slidenum">
              <a:rPr lang="en-US" smtClean="0">
                <a:solidFill>
                  <a:prstClr val="black"/>
                </a:solidFill>
              </a:rPr>
              <a:pPr/>
              <a:t>6</a:t>
            </a:fld>
            <a:endParaRPr lang="en-US">
              <a:solidFill>
                <a:prstClr val="black"/>
              </a:solidFill>
            </a:endParaRPr>
          </a:p>
        </p:txBody>
      </p:sp>
      <p:sp>
        <p:nvSpPr>
          <p:cNvPr id="2" name="Date Placeholder 1">
            <a:extLst>
              <a:ext uri="{FF2B5EF4-FFF2-40B4-BE49-F238E27FC236}">
                <a16:creationId xmlns:a16="http://schemas.microsoft.com/office/drawing/2014/main" id="{A9C3DC1E-08DF-48A2-9941-2EBB53C4DC4E}"/>
              </a:ext>
            </a:extLst>
          </p:cNvPr>
          <p:cNvSpPr>
            <a:spLocks noGrp="1"/>
          </p:cNvSpPr>
          <p:nvPr>
            <p:ph type="dt" sz="half" idx="10"/>
          </p:nvPr>
        </p:nvSpPr>
        <p:spPr/>
        <p:txBody>
          <a:bodyPr/>
          <a:lstStyle/>
          <a:p>
            <a:r>
              <a:rPr lang="en-US">
                <a:solidFill>
                  <a:prstClr val="black"/>
                </a:solidFill>
              </a:rPr>
              <a:t>Lecture 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5"/>
                                        </p:tgtEl>
                                        <p:attrNameLst>
                                          <p:attrName>ppt_x</p:attrName>
                                          <p:attrName>ppt_y</p:attrName>
                                        </p:attrNameLst>
                                      </p:cBhvr>
                                    </p:animMotion>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Scale>
                                      <p:cBhvr>
                                        <p:cTn id="14"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6"/>
                                        </p:tgtEl>
                                        <p:attrNameLst>
                                          <p:attrName>ppt_x</p:attrName>
                                          <p:attrName>ppt_y</p:attrName>
                                        </p:attrNameLst>
                                      </p:cBhvr>
                                    </p:animMotion>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404882"/>
            <a:ext cx="8229600" cy="634082"/>
          </a:xfrm>
        </p:spPr>
        <p:txBody>
          <a:bodyPr>
            <a:normAutofit/>
          </a:bodyPr>
          <a:lstStyle/>
          <a:p>
            <a:pPr eaLnBrk="1" hangingPunct="1"/>
            <a:r>
              <a:rPr lang="en-US" sz="3600" dirty="0">
                <a:latin typeface="Calibri" panose="020F0502020204030204" pitchFamily="34" charset="0"/>
                <a:cs typeface="Arial" panose="020B0604020202020204" pitchFamily="34" charset="0"/>
              </a:rPr>
              <a:t>Types of Project Termination</a:t>
            </a:r>
          </a:p>
        </p:txBody>
      </p:sp>
      <p:sp>
        <p:nvSpPr>
          <p:cNvPr id="10243" name="Rectangle 3"/>
          <p:cNvSpPr>
            <a:spLocks noGrp="1" noChangeArrowheads="1"/>
          </p:cNvSpPr>
          <p:nvPr>
            <p:ph idx="1"/>
          </p:nvPr>
        </p:nvSpPr>
        <p:spPr>
          <a:xfrm>
            <a:off x="457200" y="1417639"/>
            <a:ext cx="8229600" cy="4459634"/>
          </a:xfrm>
        </p:spPr>
        <p:txBody>
          <a:bodyPr/>
          <a:lstStyle/>
          <a:p>
            <a:pPr marL="609600" indent="-609600" eaLnBrk="1" hangingPunct="1">
              <a:lnSpc>
                <a:spcPct val="80000"/>
              </a:lnSpc>
              <a:buNone/>
            </a:pPr>
            <a:r>
              <a:rPr lang="en-US" sz="2000" u="sng" dirty="0">
                <a:solidFill>
                  <a:schemeClr val="accent1">
                    <a:lumMod val="75000"/>
                  </a:schemeClr>
                </a:solidFill>
                <a:latin typeface="Calibri" panose="020F0502020204030204" pitchFamily="34" charset="0"/>
                <a:cs typeface="Arial" panose="020B0604020202020204" pitchFamily="34" charset="0"/>
              </a:rPr>
              <a:t>Termination by </a:t>
            </a:r>
            <a:r>
              <a:rPr lang="en-US" sz="2000" b="1" u="sng" dirty="0">
                <a:solidFill>
                  <a:schemeClr val="accent1">
                    <a:lumMod val="75000"/>
                  </a:schemeClr>
                </a:solidFill>
                <a:latin typeface="Calibri" panose="020F0502020204030204" pitchFamily="34" charset="0"/>
                <a:cs typeface="Arial" panose="020B0604020202020204" pitchFamily="34" charset="0"/>
              </a:rPr>
              <a:t>Integration.</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Integration represents a common, but exceedingly complicated method for dealing with successful projects. The project's resources, including the project team, are </a:t>
            </a:r>
            <a:r>
              <a:rPr lang="en-US" sz="2000" b="1" dirty="0">
                <a:latin typeface="Calibri" panose="020F0502020204030204" pitchFamily="34" charset="0"/>
                <a:cs typeface="Arial" panose="020B0604020202020204" pitchFamily="34" charset="0"/>
              </a:rPr>
              <a:t>reintegrated</a:t>
            </a:r>
            <a:r>
              <a:rPr lang="en-US" sz="2000" dirty="0">
                <a:latin typeface="Calibri" panose="020F0502020204030204" pitchFamily="34" charset="0"/>
                <a:cs typeface="Arial" panose="020B0604020202020204" pitchFamily="34" charset="0"/>
              </a:rPr>
              <a:t> within the organization's existing structure following the conclusion of the project. Both in matrix and project organizations, </a:t>
            </a:r>
            <a:r>
              <a:rPr lang="en-US" sz="2000" b="1" dirty="0">
                <a:latin typeface="Calibri" panose="020F0502020204030204" pitchFamily="34" charset="0"/>
                <a:cs typeface="Arial" panose="020B0604020202020204" pitchFamily="34" charset="0"/>
              </a:rPr>
              <a:t>personnel released from project assignments are reabsorbed within their functional departments </a:t>
            </a:r>
            <a:r>
              <a:rPr lang="en-US" sz="2000" dirty="0">
                <a:latin typeface="Calibri" panose="020F0502020204030204" pitchFamily="34" charset="0"/>
                <a:cs typeface="Arial" panose="020B0604020202020204" pitchFamily="34" charset="0"/>
              </a:rPr>
              <a:t>to perform other duties or simply wait for new project assignments. </a:t>
            </a:r>
          </a:p>
          <a:p>
            <a:pPr marL="609600" indent="-609600" eaLnBrk="1" hangingPunct="1">
              <a:lnSpc>
                <a:spcPct val="80000"/>
              </a:lnSpc>
              <a:buFont typeface="Wingdings" pitchFamily="2" charset="2"/>
              <a:buChar char="Ø"/>
            </a:pPr>
            <a:r>
              <a:rPr lang="en-US" sz="2000" dirty="0">
                <a:latin typeface="Calibri" panose="020F0502020204030204" pitchFamily="34" charset="0"/>
                <a:cs typeface="Arial" panose="020B0604020202020204" pitchFamily="34" charset="0"/>
              </a:rPr>
              <a:t>In many organizations, it is not uncommon to lose key organizational members at this point. They may have so relished the atmosphere and performance within the project team that the idea of reintegration within the old organization holds no appeal for them, and they leave the company for fresh project challenges.</a:t>
            </a:r>
          </a:p>
        </p:txBody>
      </p:sp>
      <p:sp>
        <p:nvSpPr>
          <p:cNvPr id="10244" name="Oval 4"/>
          <p:cNvSpPr>
            <a:spLocks noChangeArrowheads="1"/>
          </p:cNvSpPr>
          <p:nvPr/>
        </p:nvSpPr>
        <p:spPr bwMode="auto">
          <a:xfrm>
            <a:off x="96839" y="6386191"/>
            <a:ext cx="360362" cy="322583"/>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7</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0" y="249563"/>
            <a:ext cx="2117488" cy="15881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1266" name="Rectangle 2"/>
          <p:cNvSpPr>
            <a:spLocks noGrp="1" noChangeArrowheads="1"/>
          </p:cNvSpPr>
          <p:nvPr>
            <p:ph type="title"/>
          </p:nvPr>
        </p:nvSpPr>
        <p:spPr>
          <a:xfrm>
            <a:off x="457201" y="404664"/>
            <a:ext cx="8229600" cy="692696"/>
          </a:xfrm>
        </p:spPr>
        <p:txBody>
          <a:bodyPr>
            <a:normAutofit/>
          </a:bodyPr>
          <a:lstStyle/>
          <a:p>
            <a:pPr eaLnBrk="1" hangingPunct="1"/>
            <a:r>
              <a:rPr lang="en-US" sz="3600" dirty="0">
                <a:latin typeface="Calibri" panose="020F0502020204030204" pitchFamily="34" charset="0"/>
                <a:cs typeface="Arial" panose="020B0604020202020204" pitchFamily="34" charset="0"/>
              </a:rPr>
              <a:t>Types of Project Termination</a:t>
            </a:r>
          </a:p>
        </p:txBody>
      </p:sp>
      <p:sp>
        <p:nvSpPr>
          <p:cNvPr id="11267" name="Rectangle 3"/>
          <p:cNvSpPr>
            <a:spLocks noGrp="1" noChangeArrowheads="1"/>
          </p:cNvSpPr>
          <p:nvPr>
            <p:ph idx="1"/>
          </p:nvPr>
        </p:nvSpPr>
        <p:spPr>
          <a:xfrm>
            <a:off x="457201" y="2420888"/>
            <a:ext cx="7786696" cy="3384376"/>
          </a:xfrm>
        </p:spPr>
        <p:txBody>
          <a:bodyPr/>
          <a:lstStyle/>
          <a:p>
            <a:pPr marL="609600" indent="-609600" eaLnBrk="1" hangingPunct="1">
              <a:lnSpc>
                <a:spcPct val="80000"/>
              </a:lnSpc>
              <a:buNone/>
            </a:pPr>
            <a:r>
              <a:rPr lang="en-US" sz="2000" u="sng" dirty="0">
                <a:solidFill>
                  <a:schemeClr val="accent1">
                    <a:lumMod val="75000"/>
                  </a:schemeClr>
                </a:solidFill>
                <a:latin typeface="Calibri" panose="020F0502020204030204" pitchFamily="34" charset="0"/>
                <a:cs typeface="Arial" panose="020B0604020202020204" pitchFamily="34" charset="0"/>
              </a:rPr>
              <a:t>Termination by </a:t>
            </a:r>
            <a:r>
              <a:rPr lang="en-US" sz="2000" b="1" u="sng" dirty="0">
                <a:solidFill>
                  <a:schemeClr val="accent1">
                    <a:lumMod val="75000"/>
                  </a:schemeClr>
                </a:solidFill>
                <a:latin typeface="Calibri" panose="020F0502020204030204" pitchFamily="34" charset="0"/>
                <a:cs typeface="Arial" panose="020B0604020202020204" pitchFamily="34" charset="0"/>
              </a:rPr>
              <a:t>Starvation</a:t>
            </a:r>
          </a:p>
          <a:p>
            <a:pPr marL="609600" indent="-609600" eaLnBrk="1" hangingPunct="1">
              <a:lnSpc>
                <a:spcPct val="80000"/>
              </a:lnSpc>
              <a:buFont typeface="Wingdings" pitchFamily="2" charset="2"/>
              <a:buChar char="Ø"/>
            </a:pPr>
            <a:r>
              <a:rPr lang="en-US" sz="2400" dirty="0">
                <a:latin typeface="Calibri" panose="020F0502020204030204" pitchFamily="34" charset="0"/>
                <a:cs typeface="Arial" panose="020B0604020202020204" pitchFamily="34" charset="0"/>
              </a:rPr>
              <a:t>This can happen for a number of reasons. There may be </a:t>
            </a:r>
            <a:r>
              <a:rPr lang="en-US" sz="2400" dirty="0">
                <a:solidFill>
                  <a:srgbClr val="7030A0"/>
                </a:solidFill>
                <a:latin typeface="Calibri" panose="020F0502020204030204" pitchFamily="34" charset="0"/>
                <a:cs typeface="Arial" panose="020B0604020202020204" pitchFamily="34" charset="0"/>
              </a:rPr>
              <a:t>political reasons</a:t>
            </a:r>
            <a:r>
              <a:rPr lang="en-US" sz="2400" dirty="0">
                <a:latin typeface="Calibri" panose="020F0502020204030204" pitchFamily="34" charset="0"/>
                <a:cs typeface="Arial" panose="020B0604020202020204" pitchFamily="34" charset="0"/>
              </a:rPr>
              <a:t> for keeping a project officially </a:t>
            </a:r>
            <a:r>
              <a:rPr lang="en-US" sz="2400" b="1" dirty="0">
                <a:latin typeface="Calibri" panose="020F0502020204030204" pitchFamily="34" charset="0"/>
                <a:cs typeface="Arial" panose="020B0604020202020204" pitchFamily="34" charset="0"/>
              </a:rPr>
              <a:t>"on the books"</a:t>
            </a:r>
            <a:r>
              <a:rPr lang="en-US" sz="2400" dirty="0">
                <a:latin typeface="Calibri" panose="020F0502020204030204" pitchFamily="34" charset="0"/>
                <a:cs typeface="Arial" panose="020B0604020202020204" pitchFamily="34" charset="0"/>
              </a:rPr>
              <a:t>, even though the organization does not intend it to succeed or anticipates it will ever be finished. </a:t>
            </a:r>
          </a:p>
          <a:p>
            <a:pPr marL="609600" indent="-609600" eaLnBrk="1" hangingPunct="1">
              <a:lnSpc>
                <a:spcPct val="80000"/>
              </a:lnSpc>
              <a:buFont typeface="Wingdings" pitchFamily="2" charset="2"/>
              <a:buChar char="Ø"/>
            </a:pPr>
            <a:r>
              <a:rPr lang="en-US" sz="2400" dirty="0">
                <a:latin typeface="Calibri" panose="020F0502020204030204" pitchFamily="34" charset="0"/>
                <a:cs typeface="Arial" panose="020B0604020202020204" pitchFamily="34" charset="0"/>
              </a:rPr>
              <a:t>The project may have a </a:t>
            </a:r>
            <a:r>
              <a:rPr lang="en-US" sz="2400" dirty="0">
                <a:solidFill>
                  <a:srgbClr val="7030A0"/>
                </a:solidFill>
                <a:latin typeface="Calibri" panose="020F0502020204030204" pitchFamily="34" charset="0"/>
                <a:cs typeface="Arial" panose="020B0604020202020204" pitchFamily="34" charset="0"/>
              </a:rPr>
              <a:t>powerful sponsor </a:t>
            </a:r>
            <a:r>
              <a:rPr lang="en-US" sz="2400" dirty="0">
                <a:latin typeface="Calibri" panose="020F0502020204030204" pitchFamily="34" charset="0"/>
                <a:cs typeface="Arial" panose="020B0604020202020204" pitchFamily="34" charset="0"/>
              </a:rPr>
              <a:t>who must be placated with the maintenance of his or her "pet project". </a:t>
            </a:r>
          </a:p>
        </p:txBody>
      </p:sp>
      <p:sp>
        <p:nvSpPr>
          <p:cNvPr id="11268" name="Oval 4"/>
          <p:cNvSpPr>
            <a:spLocks noChangeArrowheads="1"/>
          </p:cNvSpPr>
          <p:nvPr/>
        </p:nvSpPr>
        <p:spPr bwMode="auto">
          <a:xfrm>
            <a:off x="96839" y="6410325"/>
            <a:ext cx="360362" cy="298450"/>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8</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0" y="249563"/>
            <a:ext cx="2117488" cy="15881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1266" name="Rectangle 2"/>
          <p:cNvSpPr>
            <a:spLocks noGrp="1" noChangeArrowheads="1"/>
          </p:cNvSpPr>
          <p:nvPr>
            <p:ph type="title"/>
          </p:nvPr>
        </p:nvSpPr>
        <p:spPr>
          <a:xfrm>
            <a:off x="457201" y="404664"/>
            <a:ext cx="8229600" cy="692696"/>
          </a:xfrm>
        </p:spPr>
        <p:txBody>
          <a:bodyPr>
            <a:normAutofit/>
          </a:bodyPr>
          <a:lstStyle/>
          <a:p>
            <a:pPr eaLnBrk="1" hangingPunct="1"/>
            <a:r>
              <a:rPr lang="en-US" sz="3600" dirty="0">
                <a:latin typeface="Calibri" panose="020F0502020204030204" pitchFamily="34" charset="0"/>
                <a:cs typeface="Arial" panose="020B0604020202020204" pitchFamily="34" charset="0"/>
              </a:rPr>
              <a:t>Types of Project Termination</a:t>
            </a:r>
          </a:p>
        </p:txBody>
      </p:sp>
      <p:sp>
        <p:nvSpPr>
          <p:cNvPr id="11267" name="Rectangle 3"/>
          <p:cNvSpPr>
            <a:spLocks noGrp="1" noChangeArrowheads="1"/>
          </p:cNvSpPr>
          <p:nvPr>
            <p:ph idx="1"/>
          </p:nvPr>
        </p:nvSpPr>
        <p:spPr>
          <a:xfrm>
            <a:off x="457201" y="2420888"/>
            <a:ext cx="7859215" cy="3384376"/>
          </a:xfrm>
        </p:spPr>
        <p:txBody>
          <a:bodyPr>
            <a:normAutofit/>
          </a:bodyPr>
          <a:lstStyle/>
          <a:p>
            <a:pPr marL="609600" indent="-609600" eaLnBrk="1" hangingPunct="1">
              <a:lnSpc>
                <a:spcPct val="80000"/>
              </a:lnSpc>
              <a:buNone/>
            </a:pPr>
            <a:r>
              <a:rPr lang="en-US" sz="2000" u="sng" dirty="0">
                <a:solidFill>
                  <a:schemeClr val="accent1">
                    <a:lumMod val="75000"/>
                  </a:schemeClr>
                </a:solidFill>
                <a:latin typeface="Calibri" panose="020F0502020204030204" pitchFamily="34" charset="0"/>
                <a:cs typeface="Arial" panose="020B0604020202020204" pitchFamily="34" charset="0"/>
              </a:rPr>
              <a:t>Termination by </a:t>
            </a:r>
            <a:r>
              <a:rPr lang="en-US" sz="2000" b="1" u="sng" dirty="0">
                <a:solidFill>
                  <a:schemeClr val="accent1">
                    <a:lumMod val="75000"/>
                  </a:schemeClr>
                </a:solidFill>
                <a:latin typeface="Calibri" panose="020F0502020204030204" pitchFamily="34" charset="0"/>
                <a:cs typeface="Arial" panose="020B0604020202020204" pitchFamily="34" charset="0"/>
              </a:rPr>
              <a:t>Starvation</a:t>
            </a:r>
          </a:p>
          <a:p>
            <a:pPr marL="609600" indent="-609600" eaLnBrk="1" hangingPunct="1">
              <a:lnSpc>
                <a:spcPct val="80000"/>
              </a:lnSpc>
              <a:buFont typeface="Wingdings" pitchFamily="2" charset="2"/>
              <a:buChar char="Ø"/>
            </a:pPr>
            <a:r>
              <a:rPr lang="en-US" sz="2400" dirty="0">
                <a:latin typeface="Calibri" panose="020F0502020204030204" pitchFamily="34" charset="0"/>
                <a:cs typeface="Arial" panose="020B0604020202020204" pitchFamily="34" charset="0"/>
              </a:rPr>
              <a:t>Another reason may be because of </a:t>
            </a:r>
            <a:r>
              <a:rPr lang="en-US" sz="2400" b="1" dirty="0">
                <a:latin typeface="Calibri" panose="020F0502020204030204" pitchFamily="34" charset="0"/>
                <a:cs typeface="Arial" panose="020B0604020202020204" pitchFamily="34" charset="0"/>
              </a:rPr>
              <a:t>general budget cuts</a:t>
            </a:r>
            <a:r>
              <a:rPr lang="en-US" sz="2400" dirty="0">
                <a:latin typeface="Calibri" panose="020F0502020204030204" pitchFamily="34" charset="0"/>
                <a:cs typeface="Arial" panose="020B0604020202020204" pitchFamily="34" charset="0"/>
              </a:rPr>
              <a:t>,</a:t>
            </a:r>
            <a:r>
              <a:rPr lang="en-US" sz="2400" b="1" dirty="0">
                <a:latin typeface="Calibri" panose="020F0502020204030204" pitchFamily="34" charset="0"/>
                <a:cs typeface="Arial" panose="020B0604020202020204" pitchFamily="34" charset="0"/>
              </a:rPr>
              <a:t> </a:t>
            </a:r>
            <a:r>
              <a:rPr lang="en-US" sz="2400" dirty="0">
                <a:latin typeface="Calibri" panose="020F0502020204030204" pitchFamily="34" charset="0"/>
                <a:cs typeface="Arial" panose="020B0604020202020204" pitchFamily="34" charset="0"/>
              </a:rPr>
              <a:t>an organization may keep a number of projects on file so that when the economic situation improves, they can be </a:t>
            </a:r>
            <a:r>
              <a:rPr lang="en-US" sz="2400" dirty="0">
                <a:solidFill>
                  <a:srgbClr val="7030A0"/>
                </a:solidFill>
                <a:latin typeface="Calibri" panose="020F0502020204030204" pitchFamily="34" charset="0"/>
                <a:cs typeface="Arial" panose="020B0604020202020204" pitchFamily="34" charset="0"/>
              </a:rPr>
              <a:t>reactivated</a:t>
            </a:r>
            <a:r>
              <a:rPr lang="en-US" sz="2400" dirty="0">
                <a:latin typeface="Calibri" panose="020F0502020204030204" pitchFamily="34" charset="0"/>
                <a:cs typeface="Arial" panose="020B0604020202020204" pitchFamily="34" charset="0"/>
              </a:rPr>
              <a:t>. </a:t>
            </a:r>
          </a:p>
          <a:p>
            <a:pPr marL="609600" indent="-609600" eaLnBrk="1" hangingPunct="1">
              <a:lnSpc>
                <a:spcPct val="80000"/>
              </a:lnSpc>
              <a:buFont typeface="Wingdings" pitchFamily="2" charset="2"/>
              <a:buChar char="Ø"/>
            </a:pPr>
            <a:r>
              <a:rPr lang="en-US" sz="2400" dirty="0">
                <a:latin typeface="Calibri" panose="020F0502020204030204" pitchFamily="34" charset="0"/>
                <a:cs typeface="Arial" panose="020B0604020202020204" pitchFamily="34" charset="0"/>
              </a:rPr>
              <a:t>An argument can be made that termination by starvation is not an outright act of termination at all, but rather a willful form of neglect by slowly decreasing the project budget to the point where the project cannot possibly remain viable.</a:t>
            </a:r>
          </a:p>
        </p:txBody>
      </p:sp>
      <p:sp>
        <p:nvSpPr>
          <p:cNvPr id="11268" name="Oval 4"/>
          <p:cNvSpPr>
            <a:spLocks noChangeArrowheads="1"/>
          </p:cNvSpPr>
          <p:nvPr/>
        </p:nvSpPr>
        <p:spPr bwMode="auto">
          <a:xfrm>
            <a:off x="96839" y="6410325"/>
            <a:ext cx="360362" cy="298450"/>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3819343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1" y="398175"/>
            <a:ext cx="7200900" cy="1143000"/>
          </a:xfrm>
        </p:spPr>
        <p:txBody>
          <a:bodyPr>
            <a:normAutofit/>
          </a:bodyPr>
          <a:lstStyle/>
          <a:p>
            <a:pPr eaLnBrk="1" hangingPunct="1"/>
            <a:r>
              <a:rPr lang="en-US" sz="3600" dirty="0">
                <a:latin typeface="Calibri" panose="020F0502020204030204" pitchFamily="34" charset="0"/>
                <a:cs typeface="Arial" panose="020B0604020202020204" pitchFamily="34" charset="0"/>
              </a:rPr>
              <a:t>Natural Termination</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The Closeout Process</a:t>
            </a:r>
          </a:p>
        </p:txBody>
      </p:sp>
      <p:sp>
        <p:nvSpPr>
          <p:cNvPr id="12291" name="Rectangle 3"/>
          <p:cNvSpPr>
            <a:spLocks noGrp="1" noChangeArrowheads="1"/>
          </p:cNvSpPr>
          <p:nvPr>
            <p:ph idx="1"/>
          </p:nvPr>
        </p:nvSpPr>
        <p:spPr>
          <a:xfrm>
            <a:off x="462654" y="1700808"/>
            <a:ext cx="8229600" cy="3888431"/>
          </a:xfrm>
        </p:spPr>
        <p:txBody>
          <a:bodyPr>
            <a:normAutofit fontScale="55000" lnSpcReduction="20000"/>
          </a:bodyPr>
          <a:lstStyle/>
          <a:p>
            <a:pPr eaLnBrk="1" hangingPunct="1">
              <a:buFontTx/>
              <a:buNone/>
            </a:pPr>
            <a:endParaRPr lang="en-US" sz="2900" b="1" u="sng" dirty="0">
              <a:solidFill>
                <a:schemeClr val="accent1">
                  <a:lumMod val="75000"/>
                </a:schemeClr>
              </a:solidFill>
              <a:latin typeface="Calibri" panose="020F0502020204030204" pitchFamily="34" charset="0"/>
              <a:cs typeface="Arial" panose="020B0604020202020204" pitchFamily="34" charset="0"/>
            </a:endParaRPr>
          </a:p>
          <a:p>
            <a:pPr eaLnBrk="1" hangingPunct="1">
              <a:buFontTx/>
              <a:buNone/>
            </a:pPr>
            <a:r>
              <a:rPr lang="en-US" sz="5100" b="1" u="sng" dirty="0">
                <a:solidFill>
                  <a:schemeClr val="accent1">
                    <a:lumMod val="75000"/>
                  </a:schemeClr>
                </a:solidFill>
                <a:latin typeface="Calibri" panose="020F0502020204030204" pitchFamily="34" charset="0"/>
                <a:cs typeface="Arial" panose="020B0604020202020204" pitchFamily="34" charset="0"/>
              </a:rPr>
              <a:t>The Seven Elements of Project Closeout</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Verify Scope</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Closeout Contracts</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Closeout Administration</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Conduct a Lessons Learned Review</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Build a Project History File</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Create the Final Project Report</a:t>
            </a:r>
          </a:p>
          <a:p>
            <a:pPr marL="457200" indent="-457200" eaLnBrk="1" hangingPunct="1">
              <a:buFont typeface="+mj-lt"/>
              <a:buAutoNum type="arabicPeriod"/>
            </a:pPr>
            <a:r>
              <a:rPr lang="en-CA" sz="3200" dirty="0">
                <a:latin typeface="Calibri" panose="020F0502020204030204" pitchFamily="34" charset="0"/>
                <a:cs typeface="Arial" panose="020B0604020202020204" pitchFamily="34" charset="0"/>
              </a:rPr>
              <a:t>Celebrate Success</a:t>
            </a:r>
            <a:br>
              <a:rPr lang="en-CA" sz="3200" dirty="0">
                <a:latin typeface="Calibri" panose="020F0502020204030204" pitchFamily="34" charset="0"/>
                <a:cs typeface="Arial" panose="020B0604020202020204" pitchFamily="34" charset="0"/>
              </a:rPr>
            </a:br>
            <a:br>
              <a:rPr lang="en-CA" sz="2400" dirty="0">
                <a:latin typeface="Arial" panose="020B0604020202020204" pitchFamily="34" charset="0"/>
                <a:cs typeface="Arial" panose="020B0604020202020204" pitchFamily="34" charset="0"/>
              </a:rPr>
            </a:br>
            <a:br>
              <a:rPr lang="en-CA" sz="2400" dirty="0"/>
            </a:br>
            <a:endParaRPr lang="en-US" sz="2400" dirty="0"/>
          </a:p>
          <a:p>
            <a:pPr marL="514350" indent="-514350" eaLnBrk="1" hangingPunct="1">
              <a:buFont typeface="+mj-lt"/>
              <a:buAutoNum type="arabicParenR"/>
            </a:pPr>
            <a:endParaRPr lang="en-US" dirty="0"/>
          </a:p>
        </p:txBody>
      </p:sp>
      <p:sp>
        <p:nvSpPr>
          <p:cNvPr id="5" name="Oval 4"/>
          <p:cNvSpPr>
            <a:spLocks noChangeArrowheads="1"/>
          </p:cNvSpPr>
          <p:nvPr/>
        </p:nvSpPr>
        <p:spPr bwMode="auto">
          <a:xfrm>
            <a:off x="96839" y="6374979"/>
            <a:ext cx="360362" cy="333796"/>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10</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613" y="423865"/>
            <a:ext cx="8208912" cy="1066130"/>
          </a:xfrm>
        </p:spPr>
        <p:txBody>
          <a:bodyPr>
            <a:noAutofit/>
          </a:bodyPr>
          <a:lstStyle/>
          <a:p>
            <a:r>
              <a:rPr lang="en-US" sz="3600" dirty="0">
                <a:latin typeface="Calibri" panose="020F0502020204030204" pitchFamily="34" charset="0"/>
                <a:cs typeface="Arial" panose="020B0604020202020204" pitchFamily="34" charset="0"/>
              </a:rPr>
              <a:t>The Seven Elements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of Project Closeout</a:t>
            </a:r>
            <a:endParaRPr lang="en-CA" sz="36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582613" y="2276872"/>
            <a:ext cx="7949828" cy="3600400"/>
          </a:xfrm>
        </p:spPr>
        <p:txBody>
          <a:bodyPr>
            <a:normAutofit lnSpcReduction="10000"/>
          </a:bodyPr>
          <a:lstStyle/>
          <a:p>
            <a:pPr marL="34290" indent="0">
              <a:buNone/>
            </a:pPr>
            <a:r>
              <a:rPr lang="en-CA" sz="2600" b="1" dirty="0">
                <a:solidFill>
                  <a:schemeClr val="accent1">
                    <a:lumMod val="75000"/>
                  </a:schemeClr>
                </a:solidFill>
                <a:latin typeface="Calibri" panose="020F0502020204030204" pitchFamily="34" charset="0"/>
                <a:cs typeface="Arial" panose="020B0604020202020204" pitchFamily="34" charset="0"/>
              </a:rPr>
              <a:t>1) Verify Scope</a:t>
            </a:r>
            <a:br>
              <a:rPr lang="en-CA" sz="2000" b="1" dirty="0">
                <a:solidFill>
                  <a:schemeClr val="accent1">
                    <a:lumMod val="75000"/>
                  </a:schemeClr>
                </a:solidFill>
                <a:latin typeface="Calibri" panose="020F0502020204030204" pitchFamily="34" charset="0"/>
                <a:cs typeface="Arial" panose="020B0604020202020204" pitchFamily="34" charset="0"/>
              </a:rPr>
            </a:br>
            <a:endParaRPr lang="en-CA" sz="2000" dirty="0">
              <a:solidFill>
                <a:schemeClr val="accent1">
                  <a:lumMod val="75000"/>
                </a:schemeClr>
              </a:solidFill>
              <a:latin typeface="Calibri" panose="020F0502020204030204" pitchFamily="34" charset="0"/>
              <a:cs typeface="Arial" panose="020B0604020202020204" pitchFamily="34" charset="0"/>
            </a:endParaRPr>
          </a:p>
          <a:p>
            <a:r>
              <a:rPr lang="en-CA" sz="2000" dirty="0">
                <a:latin typeface="Calibri" panose="020F0502020204030204" pitchFamily="34" charset="0"/>
                <a:cs typeface="Arial" panose="020B0604020202020204" pitchFamily="34" charset="0"/>
              </a:rPr>
              <a:t>Review </a:t>
            </a:r>
            <a:r>
              <a:rPr lang="en-CA" sz="2000" dirty="0">
                <a:solidFill>
                  <a:srgbClr val="FF0000"/>
                </a:solidFill>
                <a:latin typeface="Calibri" panose="020F0502020204030204" pitchFamily="34" charset="0"/>
                <a:cs typeface="Arial" panose="020B0604020202020204" pitchFamily="34" charset="0"/>
              </a:rPr>
              <a:t>original</a:t>
            </a:r>
            <a:r>
              <a:rPr lang="en-CA" sz="2000" dirty="0">
                <a:latin typeface="Calibri" panose="020F0502020204030204" pitchFamily="34" charset="0"/>
                <a:cs typeface="Arial" panose="020B0604020202020204" pitchFamily="34" charset="0"/>
              </a:rPr>
              <a:t> </a:t>
            </a:r>
            <a:r>
              <a:rPr lang="en-CA" sz="2000" b="1" dirty="0">
                <a:solidFill>
                  <a:srgbClr val="FF0000"/>
                </a:solidFill>
                <a:latin typeface="Calibri" panose="020F0502020204030204" pitchFamily="34" charset="0"/>
                <a:cs typeface="Arial" panose="020B0604020202020204" pitchFamily="34" charset="0"/>
              </a:rPr>
              <a:t>scope statement</a:t>
            </a:r>
            <a:r>
              <a:rPr lang="en-CA" sz="2000" dirty="0">
                <a:latin typeface="Calibri" panose="020F0502020204030204" pitchFamily="34" charset="0"/>
                <a:cs typeface="Arial" panose="020B0604020202020204" pitchFamily="34" charset="0"/>
              </a:rPr>
              <a:t>: Did the project meet the original scope requirements?</a:t>
            </a:r>
          </a:p>
          <a:p>
            <a:r>
              <a:rPr lang="en-CA" sz="2000" dirty="0">
                <a:latin typeface="Calibri" panose="020F0502020204030204" pitchFamily="34" charset="0"/>
                <a:cs typeface="Arial" panose="020B0604020202020204" pitchFamily="34" charset="0"/>
              </a:rPr>
              <a:t>Identify &amp; resolve any </a:t>
            </a:r>
            <a:r>
              <a:rPr lang="en-CA" sz="2000" b="1" dirty="0">
                <a:latin typeface="Calibri" panose="020F0502020204030204" pitchFamily="34" charset="0"/>
                <a:cs typeface="Arial" panose="020B0604020202020204" pitchFamily="34" charset="0"/>
              </a:rPr>
              <a:t>discrepancies</a:t>
            </a:r>
            <a:r>
              <a:rPr lang="en-CA" sz="2000" dirty="0">
                <a:latin typeface="Calibri" panose="020F0502020204030204" pitchFamily="34" charset="0"/>
                <a:cs typeface="Arial" panose="020B0604020202020204" pitchFamily="34" charset="0"/>
              </a:rPr>
              <a:t> between the original and final scope statements.</a:t>
            </a:r>
          </a:p>
          <a:p>
            <a:r>
              <a:rPr lang="en-CA" sz="2000" dirty="0">
                <a:latin typeface="Calibri" panose="020F0502020204030204" pitchFamily="34" charset="0"/>
                <a:cs typeface="Arial" panose="020B0604020202020204" pitchFamily="34" charset="0"/>
              </a:rPr>
              <a:t>Verify all </a:t>
            </a:r>
            <a:r>
              <a:rPr lang="en-CA" sz="2000" b="1" dirty="0">
                <a:solidFill>
                  <a:srgbClr val="FF0000"/>
                </a:solidFill>
                <a:latin typeface="Calibri" panose="020F0502020204030204" pitchFamily="34" charset="0"/>
                <a:cs typeface="Arial" panose="020B0604020202020204" pitchFamily="34" charset="0"/>
              </a:rPr>
              <a:t>deliverables </a:t>
            </a:r>
            <a:r>
              <a:rPr lang="en-CA" sz="2000" dirty="0">
                <a:latin typeface="Calibri" panose="020F0502020204030204" pitchFamily="34" charset="0"/>
                <a:cs typeface="Arial" panose="020B0604020202020204" pitchFamily="34" charset="0"/>
              </a:rPr>
              <a:t>agreed upon are available.</a:t>
            </a:r>
          </a:p>
          <a:p>
            <a:r>
              <a:rPr lang="en-CA" sz="2000" dirty="0">
                <a:latin typeface="Calibri" panose="020F0502020204030204" pitchFamily="34" charset="0"/>
                <a:cs typeface="Arial" panose="020B0604020202020204" pitchFamily="34" charset="0"/>
              </a:rPr>
              <a:t>Assess customer satisfaction to ensure that the customer agrees that the project has been completed successfully.</a:t>
            </a:r>
            <a:br>
              <a:rPr lang="en-CA" sz="2000" dirty="0">
                <a:latin typeface="Calibri" panose="020F0502020204030204" pitchFamily="34" charset="0"/>
                <a:cs typeface="Arial" panose="020B0604020202020204" pitchFamily="34" charset="0"/>
              </a:rPr>
            </a:br>
            <a:endParaRPr lang="en-CA" sz="2000" dirty="0">
              <a:latin typeface="Calibri" panose="020F0502020204030204" pitchFamily="34" charset="0"/>
              <a:cs typeface="Arial" panose="020B0604020202020204" pitchFamily="34" charset="0"/>
            </a:endParaRP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 name="Picture 4" descr="canstock10136154.jpg"/>
          <p:cNvPicPr>
            <a:picLocks noChangeAspect="1"/>
          </p:cNvPicPr>
          <p:nvPr/>
        </p:nvPicPr>
        <p:blipFill>
          <a:blip r:embed="rId2" cstate="print"/>
          <a:stretch>
            <a:fillRect/>
          </a:stretch>
        </p:blipFill>
        <p:spPr>
          <a:xfrm>
            <a:off x="5652120" y="493381"/>
            <a:ext cx="2520330" cy="1898649"/>
          </a:xfrm>
          <a:prstGeom prst="rect">
            <a:avLst/>
          </a:prstGeom>
        </p:spPr>
      </p:pic>
      <p:sp>
        <p:nvSpPr>
          <p:cNvPr id="6" name="Footer Placeholder 5"/>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11</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984" y="404664"/>
            <a:ext cx="8229600" cy="1268760"/>
          </a:xfrm>
        </p:spPr>
        <p:txBody>
          <a:bodyPr>
            <a:normAutofit/>
          </a:bodyPr>
          <a:lstStyle/>
          <a:p>
            <a:r>
              <a:rPr lang="en-US" sz="3600" dirty="0">
                <a:latin typeface="Calibri" panose="020F0502020204030204" pitchFamily="34" charset="0"/>
                <a:cs typeface="Arial" panose="020B0604020202020204" pitchFamily="34" charset="0"/>
              </a:rPr>
              <a:t>The Seven Elements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of Project Closeout</a:t>
            </a:r>
            <a:endParaRPr lang="en-CA" sz="36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460984" y="2357307"/>
            <a:ext cx="8229600" cy="3845024"/>
          </a:xfrm>
        </p:spPr>
        <p:txBody>
          <a:bodyPr>
            <a:normAutofit/>
          </a:bodyPr>
          <a:lstStyle/>
          <a:p>
            <a:pPr marL="34290" indent="0">
              <a:buNone/>
            </a:pPr>
            <a:r>
              <a:rPr lang="en-CA" sz="2400" b="1" dirty="0">
                <a:solidFill>
                  <a:schemeClr val="accent1">
                    <a:lumMod val="75000"/>
                  </a:schemeClr>
                </a:solidFill>
                <a:latin typeface="Calibri" panose="020F0502020204030204" pitchFamily="34" charset="0"/>
                <a:cs typeface="Arial" panose="020B0604020202020204" pitchFamily="34" charset="0"/>
              </a:rPr>
              <a:t>2) Closeout Contracts</a:t>
            </a:r>
            <a:br>
              <a:rPr lang="en-CA" sz="2400" b="1" dirty="0">
                <a:solidFill>
                  <a:schemeClr val="accent1">
                    <a:lumMod val="75000"/>
                  </a:schemeClr>
                </a:solidFill>
                <a:latin typeface="Calibri" panose="020F0502020204030204" pitchFamily="34" charset="0"/>
                <a:cs typeface="Arial" panose="020B0604020202020204" pitchFamily="34" charset="0"/>
              </a:rPr>
            </a:br>
            <a:br>
              <a:rPr lang="en-CA" sz="2400" b="1" dirty="0">
                <a:solidFill>
                  <a:schemeClr val="accent1">
                    <a:lumMod val="75000"/>
                  </a:schemeClr>
                </a:solidFill>
                <a:latin typeface="Calibri" panose="020F0502020204030204" pitchFamily="34" charset="0"/>
                <a:cs typeface="Arial" panose="020B0604020202020204" pitchFamily="34" charset="0"/>
              </a:rPr>
            </a:br>
            <a:r>
              <a:rPr lang="en-CA" sz="2000" dirty="0">
                <a:latin typeface="Calibri" panose="020F0502020204030204" pitchFamily="34" charset="0"/>
                <a:cs typeface="Arial" panose="020B0604020202020204" pitchFamily="34" charset="0"/>
              </a:rPr>
              <a:t>Ensure that all </a:t>
            </a:r>
            <a:r>
              <a:rPr lang="en-CA" sz="2000" dirty="0">
                <a:solidFill>
                  <a:srgbClr val="7030A0"/>
                </a:solidFill>
                <a:latin typeface="Calibri" panose="020F0502020204030204" pitchFamily="34" charset="0"/>
                <a:cs typeface="Arial" panose="020B0604020202020204" pitchFamily="34" charset="0"/>
              </a:rPr>
              <a:t>open issues </a:t>
            </a:r>
            <a:r>
              <a:rPr lang="en-CA" sz="2000" dirty="0">
                <a:latin typeface="Calibri" panose="020F0502020204030204" pitchFamily="34" charset="0"/>
                <a:cs typeface="Arial" panose="020B0604020202020204" pitchFamily="34" charset="0"/>
              </a:rPr>
              <a:t>are resolved with the customer.</a:t>
            </a:r>
          </a:p>
          <a:p>
            <a:r>
              <a:rPr lang="en-CA" sz="2000" dirty="0">
                <a:latin typeface="Calibri" panose="020F0502020204030204" pitchFamily="34" charset="0"/>
                <a:cs typeface="Arial" panose="020B0604020202020204" pitchFamily="34" charset="0"/>
              </a:rPr>
              <a:t>Return or destroy all customer's </a:t>
            </a:r>
            <a:r>
              <a:rPr lang="en-CA" sz="2000" b="1" dirty="0">
                <a:latin typeface="Calibri" panose="020F0502020204030204" pitchFamily="34" charset="0"/>
                <a:cs typeface="Arial" panose="020B0604020202020204" pitchFamily="34" charset="0"/>
              </a:rPr>
              <a:t>proprietary documents </a:t>
            </a:r>
            <a:r>
              <a:rPr lang="en-CA" sz="2000" dirty="0">
                <a:latin typeface="Calibri" panose="020F0502020204030204" pitchFamily="34" charset="0"/>
                <a:cs typeface="Arial" panose="020B0604020202020204" pitchFamily="34" charset="0"/>
              </a:rPr>
              <a:t>at the customer's direction.</a:t>
            </a:r>
          </a:p>
          <a:p>
            <a:r>
              <a:rPr lang="en-CA" sz="2000" dirty="0">
                <a:latin typeface="Calibri" panose="020F0502020204030204" pitchFamily="34" charset="0"/>
                <a:cs typeface="Arial" panose="020B0604020202020204" pitchFamily="34" charset="0"/>
              </a:rPr>
              <a:t>When the customer is happy, </a:t>
            </a:r>
            <a:r>
              <a:rPr lang="en-CA" sz="2000" b="1" dirty="0">
                <a:latin typeface="Calibri" panose="020F0502020204030204" pitchFamily="34" charset="0"/>
                <a:cs typeface="Arial" panose="020B0604020202020204" pitchFamily="34" charset="0"/>
              </a:rPr>
              <a:t>receive final payments</a:t>
            </a:r>
            <a:r>
              <a:rPr lang="en-CA" sz="2000" dirty="0">
                <a:latin typeface="Calibri" panose="020F0502020204030204" pitchFamily="34" charset="0"/>
                <a:cs typeface="Arial" panose="020B0604020202020204" pitchFamily="34" charset="0"/>
              </a:rPr>
              <a:t>.</a:t>
            </a:r>
          </a:p>
          <a:p>
            <a:r>
              <a:rPr lang="en-CA" sz="2000" dirty="0">
                <a:latin typeface="Calibri" panose="020F0502020204030204" pitchFamily="34" charset="0"/>
                <a:cs typeface="Arial" panose="020B0604020202020204" pitchFamily="34" charset="0"/>
              </a:rPr>
              <a:t>Remember that the client is a potential future customer.</a:t>
            </a:r>
          </a:p>
          <a:p>
            <a:r>
              <a:rPr lang="en-CA" sz="2000" dirty="0">
                <a:latin typeface="Calibri" panose="020F0502020204030204" pitchFamily="34" charset="0"/>
                <a:cs typeface="Arial" panose="020B0604020202020204" pitchFamily="34" charset="0"/>
              </a:rPr>
              <a:t>It is essential that they leave the project feeling good about the experience.</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 name="Picture 4" descr="contract_salesman_signature_pen_md_wm.jpg"/>
          <p:cNvPicPr>
            <a:picLocks noChangeAspect="1"/>
          </p:cNvPicPr>
          <p:nvPr/>
        </p:nvPicPr>
        <p:blipFill>
          <a:blip r:embed="rId2" cstate="print"/>
          <a:stretch>
            <a:fillRect/>
          </a:stretch>
        </p:blipFill>
        <p:spPr>
          <a:xfrm>
            <a:off x="6084168" y="540157"/>
            <a:ext cx="2448322" cy="2448322"/>
          </a:xfrm>
          <a:prstGeom prst="rect">
            <a:avLst/>
          </a:prstGeom>
        </p:spPr>
      </p:pic>
      <p:sp>
        <p:nvSpPr>
          <p:cNvPr id="6" name="Footer Placeholder 5"/>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12</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460" y="430076"/>
            <a:ext cx="8229600" cy="1027335"/>
          </a:xfrm>
        </p:spPr>
        <p:txBody>
          <a:bodyPr>
            <a:noAutofit/>
          </a:bodyPr>
          <a:lstStyle/>
          <a:p>
            <a:r>
              <a:rPr lang="en-US" sz="3600" dirty="0">
                <a:latin typeface="Calibri" panose="020F0502020204030204" pitchFamily="34" charset="0"/>
                <a:cs typeface="Arial" panose="020B0604020202020204" pitchFamily="34" charset="0"/>
              </a:rPr>
              <a:t>The Seven Elements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of Project Closeout</a:t>
            </a:r>
            <a:endParaRPr lang="en-CA" sz="36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484913" y="2132857"/>
            <a:ext cx="8229600" cy="3816424"/>
          </a:xfrm>
        </p:spPr>
        <p:txBody>
          <a:bodyPr>
            <a:normAutofit lnSpcReduction="10000"/>
          </a:bodyPr>
          <a:lstStyle/>
          <a:p>
            <a:pPr marL="34290" indent="0">
              <a:buNone/>
            </a:pPr>
            <a:r>
              <a:rPr lang="en-CA" sz="2400" b="1" dirty="0">
                <a:solidFill>
                  <a:schemeClr val="accent1">
                    <a:lumMod val="75000"/>
                  </a:schemeClr>
                </a:solidFill>
                <a:latin typeface="Calibri" panose="020F0502020204030204" pitchFamily="34" charset="0"/>
                <a:cs typeface="Arial" panose="020B0604020202020204" pitchFamily="34" charset="0"/>
              </a:rPr>
              <a:t>3) Closeout Administration</a:t>
            </a:r>
          </a:p>
          <a:p>
            <a:r>
              <a:rPr lang="en-CA" sz="2000" dirty="0">
                <a:latin typeface="Calibri" panose="020F0502020204030204" pitchFamily="34" charset="0"/>
                <a:cs typeface="Arial" panose="020B0604020202020204" pitchFamily="34" charset="0"/>
              </a:rPr>
              <a:t>Return all </a:t>
            </a:r>
            <a:r>
              <a:rPr lang="en-CA" sz="2000" b="1" dirty="0">
                <a:latin typeface="Calibri" panose="020F0502020204030204" pitchFamily="34" charset="0"/>
                <a:cs typeface="Arial" panose="020B0604020202020204" pitchFamily="34" charset="0"/>
              </a:rPr>
              <a:t>personnel</a:t>
            </a:r>
            <a:r>
              <a:rPr lang="en-CA" sz="2000" dirty="0">
                <a:latin typeface="Calibri" panose="020F0502020204030204" pitchFamily="34" charset="0"/>
                <a:cs typeface="Arial" panose="020B0604020202020204" pitchFamily="34" charset="0"/>
              </a:rPr>
              <a:t> loaned to project</a:t>
            </a:r>
          </a:p>
          <a:p>
            <a:r>
              <a:rPr lang="en-CA" sz="2000" dirty="0">
                <a:latin typeface="Calibri" panose="020F0502020204030204" pitchFamily="34" charset="0"/>
                <a:cs typeface="Arial" panose="020B0604020202020204" pitchFamily="34" charset="0"/>
              </a:rPr>
              <a:t>Complete personnel performance evaluations.</a:t>
            </a:r>
          </a:p>
          <a:p>
            <a:pPr>
              <a:buNone/>
            </a:pPr>
            <a:endParaRPr lang="en-CA" sz="2000" dirty="0">
              <a:latin typeface="Calibri" panose="020F0502020204030204" pitchFamily="34" charset="0"/>
              <a:cs typeface="Arial" panose="020B0604020202020204" pitchFamily="34" charset="0"/>
            </a:endParaRPr>
          </a:p>
          <a:p>
            <a:pPr marL="34290" indent="0">
              <a:buNone/>
            </a:pPr>
            <a:r>
              <a:rPr lang="en-CA" sz="2400" b="1" dirty="0">
                <a:solidFill>
                  <a:schemeClr val="accent1">
                    <a:lumMod val="75000"/>
                  </a:schemeClr>
                </a:solidFill>
                <a:latin typeface="Calibri" panose="020F0502020204030204" pitchFamily="34" charset="0"/>
                <a:cs typeface="Arial" panose="020B0604020202020204" pitchFamily="34" charset="0"/>
              </a:rPr>
              <a:t>4) Conduct a Lessons Learned Review</a:t>
            </a:r>
          </a:p>
          <a:p>
            <a:r>
              <a:rPr lang="en-CA" sz="2000" dirty="0">
                <a:latin typeface="Calibri" panose="020F0502020204030204" pitchFamily="34" charset="0"/>
                <a:cs typeface="Arial" panose="020B0604020202020204" pitchFamily="34" charset="0"/>
              </a:rPr>
              <a:t>Conduct a </a:t>
            </a:r>
            <a:r>
              <a:rPr lang="en-CA" sz="2000" dirty="0">
                <a:solidFill>
                  <a:srgbClr val="7030A0"/>
                </a:solidFill>
                <a:latin typeface="Calibri" panose="020F0502020204030204" pitchFamily="34" charset="0"/>
                <a:cs typeface="Arial" panose="020B0604020202020204" pitchFamily="34" charset="0"/>
              </a:rPr>
              <a:t>survey</a:t>
            </a:r>
            <a:r>
              <a:rPr lang="en-CA" sz="2000" dirty="0">
                <a:latin typeface="Calibri" panose="020F0502020204030204" pitchFamily="34" charset="0"/>
                <a:cs typeface="Arial" panose="020B0604020202020204" pitchFamily="34" charset="0"/>
              </a:rPr>
              <a:t> of all individuals that were on the project.</a:t>
            </a:r>
          </a:p>
          <a:p>
            <a:r>
              <a:rPr lang="en-CA" sz="2000" dirty="0">
                <a:latin typeface="Calibri" panose="020F0502020204030204" pitchFamily="34" charset="0"/>
                <a:cs typeface="Arial" panose="020B0604020202020204" pitchFamily="34" charset="0"/>
              </a:rPr>
              <a:t>Hold the </a:t>
            </a:r>
            <a:r>
              <a:rPr lang="en-CA" sz="2000" b="1" dirty="0">
                <a:latin typeface="Calibri" panose="020F0502020204030204" pitchFamily="34" charset="0"/>
                <a:cs typeface="Arial" panose="020B0604020202020204" pitchFamily="34" charset="0"/>
              </a:rPr>
              <a:t>Lessons Learned meeting </a:t>
            </a:r>
            <a:r>
              <a:rPr lang="en-CA" sz="2000" dirty="0">
                <a:latin typeface="Calibri" panose="020F0502020204030204" pitchFamily="34" charset="0"/>
                <a:cs typeface="Arial" panose="020B0604020202020204" pitchFamily="34" charset="0"/>
              </a:rPr>
              <a:t>and be critical about yourselves. Now is not the time to reflect on what went right. This is the time to dissect </a:t>
            </a:r>
            <a:r>
              <a:rPr lang="en-CA" sz="2000" dirty="0">
                <a:solidFill>
                  <a:srgbClr val="FF0000"/>
                </a:solidFill>
                <a:latin typeface="Calibri" panose="020F0502020204030204" pitchFamily="34" charset="0"/>
                <a:cs typeface="Arial" panose="020B0604020202020204" pitchFamily="34" charset="0"/>
              </a:rPr>
              <a:t>what went wrong </a:t>
            </a:r>
            <a:r>
              <a:rPr lang="en-CA" sz="2000" dirty="0">
                <a:latin typeface="Calibri" panose="020F0502020204030204" pitchFamily="34" charset="0"/>
                <a:cs typeface="Arial" panose="020B0604020202020204" pitchFamily="34" charset="0"/>
              </a:rPr>
              <a:t>and why it did.</a:t>
            </a:r>
            <a:br>
              <a:rPr lang="en-CA" sz="2000" dirty="0">
                <a:latin typeface="Calibri" panose="020F0502020204030204" pitchFamily="34" charset="0"/>
                <a:cs typeface="Arial" panose="020B0604020202020204" pitchFamily="34" charset="0"/>
              </a:rPr>
            </a:br>
            <a:endParaRPr lang="en-CA" sz="2000" dirty="0">
              <a:latin typeface="Calibri" panose="020F0502020204030204" pitchFamily="34" charset="0"/>
              <a:cs typeface="Arial" panose="020B0604020202020204" pitchFamily="34" charset="0"/>
            </a:endParaRP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pic>
        <p:nvPicPr>
          <p:cNvPr id="5" name="Picture 4" descr="padrc3b5es-de-projeto-estruturais.png"/>
          <p:cNvPicPr>
            <a:picLocks noChangeAspect="1"/>
          </p:cNvPicPr>
          <p:nvPr/>
        </p:nvPicPr>
        <p:blipFill>
          <a:blip r:embed="rId2" cstate="print"/>
          <a:stretch>
            <a:fillRect/>
          </a:stretch>
        </p:blipFill>
        <p:spPr>
          <a:xfrm>
            <a:off x="5865252" y="805199"/>
            <a:ext cx="2843808" cy="3201315"/>
          </a:xfrm>
          <a:prstGeom prst="rect">
            <a:avLst/>
          </a:prstGeom>
        </p:spPr>
      </p:pic>
      <p:sp>
        <p:nvSpPr>
          <p:cNvPr id="6" name="Footer Placeholder 5"/>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13</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1052736"/>
          </a:xfrm>
        </p:spPr>
        <p:txBody>
          <a:bodyPr/>
          <a:lstStyle/>
          <a:p>
            <a:r>
              <a:rPr lang="en-US" sz="3200" dirty="0">
                <a:latin typeface="Calibri" panose="020F0502020204030204" pitchFamily="34" charset="0"/>
                <a:cs typeface="Arial" panose="020B0604020202020204" pitchFamily="34" charset="0"/>
              </a:rPr>
              <a:t>The Seven Elements</a:t>
            </a:r>
            <a:br>
              <a:rPr lang="en-US" sz="3200" dirty="0">
                <a:latin typeface="Calibri" panose="020F0502020204030204" pitchFamily="34" charset="0"/>
                <a:cs typeface="Arial" panose="020B0604020202020204" pitchFamily="34" charset="0"/>
              </a:rPr>
            </a:br>
            <a:r>
              <a:rPr lang="en-US" sz="3200" dirty="0">
                <a:latin typeface="Calibri" panose="020F0502020204030204" pitchFamily="34" charset="0"/>
                <a:cs typeface="Arial" panose="020B0604020202020204" pitchFamily="34" charset="0"/>
              </a:rPr>
              <a:t>of Project Closeout</a:t>
            </a:r>
            <a:endParaRPr lang="en-CA" sz="32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457200" y="1628800"/>
            <a:ext cx="8229600" cy="4196381"/>
          </a:xfrm>
        </p:spPr>
        <p:txBody>
          <a:bodyPr>
            <a:normAutofit fontScale="92500" lnSpcReduction="20000"/>
          </a:bodyPr>
          <a:lstStyle/>
          <a:p>
            <a:pPr marL="34290" indent="0">
              <a:buNone/>
            </a:pPr>
            <a:r>
              <a:rPr lang="en-CA" sz="2400" b="1" dirty="0">
                <a:solidFill>
                  <a:schemeClr val="accent1">
                    <a:lumMod val="75000"/>
                  </a:schemeClr>
                </a:solidFill>
                <a:latin typeface="Calibri" panose="020F0502020204030204" pitchFamily="34" charset="0"/>
                <a:cs typeface="Arial" panose="020B0604020202020204" pitchFamily="34" charset="0"/>
              </a:rPr>
              <a:t>5) Build a Project History File </a:t>
            </a:r>
            <a:r>
              <a:rPr lang="en-CA" sz="2400" dirty="0">
                <a:solidFill>
                  <a:schemeClr val="tx1">
                    <a:lumMod val="85000"/>
                    <a:lumOff val="15000"/>
                  </a:schemeClr>
                </a:solidFill>
                <a:latin typeface="Calibri" panose="020F0502020204030204" pitchFamily="34" charset="0"/>
                <a:cs typeface="Arial" panose="020B0604020202020204" pitchFamily="34" charset="0"/>
              </a:rPr>
              <a:t>by </a:t>
            </a:r>
            <a:r>
              <a:rPr lang="en-CA" sz="2400" dirty="0">
                <a:solidFill>
                  <a:srgbClr val="FF0000"/>
                </a:solidFill>
                <a:latin typeface="Calibri" panose="020F0502020204030204" pitchFamily="34" charset="0"/>
                <a:cs typeface="Arial" panose="020B0604020202020204" pitchFamily="34" charset="0"/>
              </a:rPr>
              <a:t>documenting</a:t>
            </a:r>
            <a:r>
              <a:rPr lang="en-CA" sz="2400" dirty="0">
                <a:solidFill>
                  <a:schemeClr val="tx1">
                    <a:lumMod val="85000"/>
                    <a:lumOff val="15000"/>
                  </a:schemeClr>
                </a:solidFill>
                <a:latin typeface="Calibri" panose="020F0502020204030204" pitchFamily="34" charset="0"/>
                <a:cs typeface="Arial" panose="020B0604020202020204" pitchFamily="34" charset="0"/>
              </a:rPr>
              <a:t> the following things</a:t>
            </a:r>
            <a:br>
              <a:rPr lang="en-CA" sz="2000" b="1" dirty="0">
                <a:solidFill>
                  <a:schemeClr val="accent1">
                    <a:lumMod val="75000"/>
                  </a:schemeClr>
                </a:solidFill>
                <a:latin typeface="Calibri" panose="020F0502020204030204" pitchFamily="34" charset="0"/>
                <a:cs typeface="Arial" panose="020B0604020202020204" pitchFamily="34" charset="0"/>
              </a:rPr>
            </a:br>
            <a:endParaRPr lang="en-CA" sz="2000" dirty="0">
              <a:latin typeface="Calibri" panose="020F0502020204030204" pitchFamily="34" charset="0"/>
              <a:cs typeface="Arial" panose="020B0604020202020204" pitchFamily="34" charset="0"/>
            </a:endParaRPr>
          </a:p>
          <a:p>
            <a:r>
              <a:rPr lang="en-CA" sz="2000" dirty="0">
                <a:latin typeface="Calibri" panose="020F0502020204030204" pitchFamily="34" charset="0"/>
                <a:cs typeface="Arial" panose="020B0604020202020204" pitchFamily="34" charset="0"/>
              </a:rPr>
              <a:t>Planned &amp; actual </a:t>
            </a:r>
            <a:r>
              <a:rPr lang="en-CA" sz="2000" dirty="0">
                <a:solidFill>
                  <a:srgbClr val="00B050"/>
                </a:solidFill>
                <a:latin typeface="Calibri" panose="020F0502020204030204" pitchFamily="34" charset="0"/>
                <a:cs typeface="Arial" panose="020B0604020202020204" pitchFamily="34" charset="0"/>
              </a:rPr>
              <a:t>schedule duration</a:t>
            </a:r>
            <a:r>
              <a:rPr lang="en-CA" sz="2000" dirty="0">
                <a:latin typeface="Calibri" panose="020F0502020204030204" pitchFamily="34" charset="0"/>
                <a:cs typeface="Arial" panose="020B0604020202020204" pitchFamily="34" charset="0"/>
              </a:rPr>
              <a:t>, include reasons for any of the schedule changes;</a:t>
            </a:r>
          </a:p>
          <a:p>
            <a:r>
              <a:rPr lang="en-CA" sz="2000" dirty="0">
                <a:latin typeface="Calibri" panose="020F0502020204030204" pitchFamily="34" charset="0"/>
                <a:cs typeface="Arial" panose="020B0604020202020204" pitchFamily="34" charset="0"/>
              </a:rPr>
              <a:t>Planned &amp; actual </a:t>
            </a:r>
            <a:r>
              <a:rPr lang="en-CA" sz="2000" dirty="0">
                <a:solidFill>
                  <a:srgbClr val="00B050"/>
                </a:solidFill>
                <a:latin typeface="Calibri" panose="020F0502020204030204" pitchFamily="34" charset="0"/>
                <a:cs typeface="Arial" panose="020B0604020202020204" pitchFamily="34" charset="0"/>
              </a:rPr>
              <a:t>labor costs, budget performance</a:t>
            </a:r>
            <a:endParaRPr lang="en-CA" sz="2000" dirty="0">
              <a:latin typeface="Calibri" panose="020F0502020204030204" pitchFamily="34" charset="0"/>
              <a:cs typeface="Arial" panose="020B0604020202020204" pitchFamily="34" charset="0"/>
            </a:endParaRPr>
          </a:p>
          <a:p>
            <a:r>
              <a:rPr lang="en-CA" sz="2000" dirty="0">
                <a:latin typeface="Calibri" panose="020F0502020204030204" pitchFamily="34" charset="0"/>
                <a:cs typeface="Arial" panose="020B0604020202020204" pitchFamily="34" charset="0"/>
              </a:rPr>
              <a:t>All approved </a:t>
            </a:r>
            <a:r>
              <a:rPr lang="en-CA" sz="2000" dirty="0">
                <a:solidFill>
                  <a:srgbClr val="00B050"/>
                </a:solidFill>
                <a:latin typeface="Calibri" panose="020F0502020204030204" pitchFamily="34" charset="0"/>
                <a:cs typeface="Arial" panose="020B0604020202020204" pitchFamily="34" charset="0"/>
              </a:rPr>
              <a:t>changes to PM plan</a:t>
            </a:r>
            <a:r>
              <a:rPr lang="en-CA" sz="2000" dirty="0">
                <a:latin typeface="Calibri" panose="020F0502020204030204" pitchFamily="34" charset="0"/>
                <a:cs typeface="Arial" panose="020B0604020202020204" pitchFamily="34" charset="0"/>
              </a:rPr>
              <a:t>;</a:t>
            </a:r>
          </a:p>
          <a:p>
            <a:r>
              <a:rPr lang="en-CA" sz="2000" dirty="0">
                <a:latin typeface="Calibri" panose="020F0502020204030204" pitchFamily="34" charset="0"/>
                <a:cs typeface="Arial" panose="020B0604020202020204" pitchFamily="34" charset="0"/>
              </a:rPr>
              <a:t>All meetings </a:t>
            </a:r>
            <a:r>
              <a:rPr lang="en-CA" sz="2000" dirty="0">
                <a:solidFill>
                  <a:srgbClr val="00B050"/>
                </a:solidFill>
                <a:latin typeface="Calibri" panose="020F0502020204030204" pitchFamily="34" charset="0"/>
                <a:cs typeface="Arial" panose="020B0604020202020204" pitchFamily="34" charset="0"/>
              </a:rPr>
              <a:t>minutes</a:t>
            </a:r>
            <a:r>
              <a:rPr lang="en-CA" sz="2000" dirty="0">
                <a:latin typeface="Calibri" panose="020F0502020204030204" pitchFamily="34" charset="0"/>
                <a:cs typeface="Arial" panose="020B0604020202020204" pitchFamily="34" charset="0"/>
              </a:rPr>
              <a:t>;</a:t>
            </a:r>
          </a:p>
          <a:p>
            <a:r>
              <a:rPr lang="en-CA" sz="2000" dirty="0">
                <a:latin typeface="Calibri" panose="020F0502020204030204" pitchFamily="34" charset="0"/>
                <a:cs typeface="Arial" panose="020B0604020202020204" pitchFamily="34" charset="0"/>
              </a:rPr>
              <a:t>WBS, Risk assessments and mitigation plans;</a:t>
            </a:r>
          </a:p>
          <a:p>
            <a:r>
              <a:rPr lang="en-CA" sz="2000" dirty="0">
                <a:solidFill>
                  <a:srgbClr val="00B050"/>
                </a:solidFill>
                <a:latin typeface="Calibri" panose="020F0502020204030204" pitchFamily="34" charset="0"/>
                <a:cs typeface="Arial" panose="020B0604020202020204" pitchFamily="34" charset="0"/>
              </a:rPr>
              <a:t>Subcontractor</a:t>
            </a:r>
            <a:r>
              <a:rPr lang="en-CA" sz="2000" dirty="0">
                <a:latin typeface="Calibri" panose="020F0502020204030204" pitchFamily="34" charset="0"/>
                <a:cs typeface="Arial" panose="020B0604020202020204" pitchFamily="34" charset="0"/>
              </a:rPr>
              <a:t> performance records;</a:t>
            </a:r>
          </a:p>
          <a:p>
            <a:r>
              <a:rPr lang="en-CA" sz="2000" dirty="0">
                <a:solidFill>
                  <a:srgbClr val="7030A0"/>
                </a:solidFill>
                <a:latin typeface="Calibri" panose="020F0502020204030204" pitchFamily="34" charset="0"/>
                <a:cs typeface="Arial" panose="020B0604020202020204" pitchFamily="34" charset="0"/>
              </a:rPr>
              <a:t>Customer satisfaction </a:t>
            </a:r>
            <a:r>
              <a:rPr lang="en-CA" sz="2000" dirty="0">
                <a:latin typeface="Calibri" panose="020F0502020204030204" pitchFamily="34" charset="0"/>
                <a:cs typeface="Arial" panose="020B0604020202020204" pitchFamily="34" charset="0"/>
              </a:rPr>
              <a:t>records </a:t>
            </a:r>
          </a:p>
          <a:p>
            <a:r>
              <a:rPr lang="en-CA" sz="2000" dirty="0">
                <a:solidFill>
                  <a:srgbClr val="00B050"/>
                </a:solidFill>
                <a:latin typeface="Calibri" panose="020F0502020204030204" pitchFamily="34" charset="0"/>
                <a:cs typeface="Arial" panose="020B0604020202020204" pitchFamily="34" charset="0"/>
              </a:rPr>
              <a:t>Project reviews</a:t>
            </a:r>
            <a:endParaRPr lang="en-CA" sz="2000" dirty="0">
              <a:latin typeface="Calibri" panose="020F0502020204030204" pitchFamily="34" charset="0"/>
              <a:cs typeface="Arial" panose="020B0604020202020204" pitchFamily="34" charset="0"/>
            </a:endParaRPr>
          </a:p>
          <a:p>
            <a:r>
              <a:rPr lang="en-CA" sz="2000" b="1" dirty="0">
                <a:solidFill>
                  <a:schemeClr val="accent1">
                    <a:lumMod val="75000"/>
                  </a:schemeClr>
                </a:solidFill>
                <a:latin typeface="Calibri" panose="020F0502020204030204" pitchFamily="34" charset="0"/>
                <a:cs typeface="Arial" panose="020B0604020202020204" pitchFamily="34" charset="0"/>
              </a:rPr>
              <a:t>Anything else that you think should be included?</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5" name="Footer Placeholder 4"/>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14</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189" y="404664"/>
            <a:ext cx="8229600" cy="1052736"/>
          </a:xfrm>
        </p:spPr>
        <p:txBody>
          <a:bodyPr>
            <a:noAutofit/>
          </a:bodyPr>
          <a:lstStyle/>
          <a:p>
            <a:r>
              <a:rPr lang="en-US" sz="3600" dirty="0">
                <a:latin typeface="Calibri" panose="020F0502020204030204" pitchFamily="34" charset="0"/>
                <a:cs typeface="Arial" panose="020B0604020202020204" pitchFamily="34" charset="0"/>
              </a:rPr>
              <a:t>The Seven Elements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of Project Closeout</a:t>
            </a:r>
            <a:endParaRPr lang="en-CA" sz="36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595189" y="1556792"/>
            <a:ext cx="8424936" cy="4248472"/>
          </a:xfrm>
        </p:spPr>
        <p:txBody>
          <a:bodyPr>
            <a:normAutofit/>
          </a:bodyPr>
          <a:lstStyle/>
          <a:p>
            <a:pPr marL="34290" indent="0">
              <a:buNone/>
            </a:pPr>
            <a:r>
              <a:rPr lang="en-CA" sz="2400" b="1" dirty="0">
                <a:solidFill>
                  <a:schemeClr val="accent1">
                    <a:lumMod val="75000"/>
                  </a:schemeClr>
                </a:solidFill>
                <a:latin typeface="Calibri" panose="020F0502020204030204" pitchFamily="34" charset="0"/>
                <a:cs typeface="Arial" panose="020B0604020202020204" pitchFamily="34" charset="0"/>
              </a:rPr>
              <a:t>6) Create the Final Project report </a:t>
            </a:r>
            <a:r>
              <a:rPr lang="en-CA" sz="2400" dirty="0">
                <a:solidFill>
                  <a:schemeClr val="tx1">
                    <a:lumMod val="85000"/>
                    <a:lumOff val="15000"/>
                  </a:schemeClr>
                </a:solidFill>
                <a:latin typeface="Calibri" panose="020F0502020204030204" pitchFamily="34" charset="0"/>
                <a:cs typeface="Arial" panose="020B0604020202020204" pitchFamily="34" charset="0"/>
              </a:rPr>
              <a:t>by documenting</a:t>
            </a:r>
            <a:endParaRPr lang="en-CA" sz="2400" dirty="0">
              <a:solidFill>
                <a:schemeClr val="accent1">
                  <a:lumMod val="75000"/>
                </a:schemeClr>
              </a:solidFill>
              <a:latin typeface="Calibri" panose="020F0502020204030204" pitchFamily="34" charset="0"/>
              <a:cs typeface="Arial" panose="020B0604020202020204" pitchFamily="34" charset="0"/>
            </a:endParaRPr>
          </a:p>
          <a:p>
            <a:r>
              <a:rPr lang="en-CA" sz="2000" dirty="0">
                <a:latin typeface="Calibri" panose="020F0502020204030204" pitchFamily="34" charset="0"/>
                <a:cs typeface="Arial" panose="020B0604020202020204" pitchFamily="34" charset="0"/>
              </a:rPr>
              <a:t>The overall </a:t>
            </a:r>
            <a:r>
              <a:rPr lang="en-CA" sz="2000" b="1" dirty="0">
                <a:latin typeface="Calibri" panose="020F0502020204030204" pitchFamily="34" charset="0"/>
                <a:cs typeface="Arial" panose="020B0604020202020204" pitchFamily="34" charset="0"/>
              </a:rPr>
              <a:t>success</a:t>
            </a:r>
            <a:r>
              <a:rPr lang="en-CA" sz="2000" dirty="0">
                <a:latin typeface="Calibri" panose="020F0502020204030204" pitchFamily="34" charset="0"/>
                <a:cs typeface="Arial" panose="020B0604020202020204" pitchFamily="34" charset="0"/>
              </a:rPr>
              <a:t> of the project;</a:t>
            </a:r>
          </a:p>
          <a:p>
            <a:r>
              <a:rPr lang="en-CA" sz="2000" dirty="0">
                <a:latin typeface="Calibri" panose="020F0502020204030204" pitchFamily="34" charset="0"/>
                <a:cs typeface="Arial" panose="020B0604020202020204" pitchFamily="34" charset="0"/>
              </a:rPr>
              <a:t>The </a:t>
            </a:r>
            <a:r>
              <a:rPr lang="en-CA" sz="2000" dirty="0">
                <a:solidFill>
                  <a:srgbClr val="00B050"/>
                </a:solidFill>
                <a:latin typeface="Calibri" panose="020F0502020204030204" pitchFamily="34" charset="0"/>
                <a:cs typeface="Arial" panose="020B0604020202020204" pitchFamily="34" charset="0"/>
              </a:rPr>
              <a:t>organization</a:t>
            </a:r>
            <a:r>
              <a:rPr lang="en-CA" sz="2000" dirty="0">
                <a:latin typeface="Calibri" panose="020F0502020204030204" pitchFamily="34" charset="0"/>
                <a:cs typeface="Arial" panose="020B0604020202020204" pitchFamily="34" charset="0"/>
              </a:rPr>
              <a:t> of the project;</a:t>
            </a:r>
          </a:p>
          <a:p>
            <a:r>
              <a:rPr lang="en-CA" sz="2000" b="1" dirty="0">
                <a:latin typeface="Calibri" panose="020F0502020204030204" pitchFamily="34" charset="0"/>
                <a:cs typeface="Arial" panose="020B0604020202020204" pitchFamily="34" charset="0"/>
              </a:rPr>
              <a:t>Recommended changes </a:t>
            </a:r>
            <a:r>
              <a:rPr lang="en-CA" sz="2000" dirty="0">
                <a:latin typeface="Calibri" panose="020F0502020204030204" pitchFamily="34" charset="0"/>
                <a:cs typeface="Arial" panose="020B0604020202020204" pitchFamily="34" charset="0"/>
              </a:rPr>
              <a:t>for other similar projects;</a:t>
            </a:r>
          </a:p>
          <a:p>
            <a:r>
              <a:rPr lang="en-CA" sz="2000" b="1" dirty="0">
                <a:latin typeface="Calibri" panose="020F0502020204030204" pitchFamily="34" charset="0"/>
                <a:cs typeface="Arial" panose="020B0604020202020204" pitchFamily="34" charset="0"/>
              </a:rPr>
              <a:t>Techniques</a:t>
            </a:r>
            <a:r>
              <a:rPr lang="en-CA" sz="2000" dirty="0">
                <a:latin typeface="Calibri" panose="020F0502020204030204" pitchFamily="34" charset="0"/>
                <a:cs typeface="Arial" panose="020B0604020202020204" pitchFamily="34" charset="0"/>
              </a:rPr>
              <a:t> that were used to overcome obstacles;</a:t>
            </a:r>
          </a:p>
          <a:p>
            <a:r>
              <a:rPr lang="en-CA" sz="2000" dirty="0">
                <a:latin typeface="Calibri" panose="020F0502020204030204" pitchFamily="34" charset="0"/>
                <a:cs typeface="Arial" panose="020B0604020202020204" pitchFamily="34" charset="0"/>
              </a:rPr>
              <a:t>Project </a:t>
            </a:r>
            <a:r>
              <a:rPr lang="en-CA" sz="2000" b="1" dirty="0">
                <a:latin typeface="Calibri" panose="020F0502020204030204" pitchFamily="34" charset="0"/>
                <a:cs typeface="Arial" panose="020B0604020202020204" pitchFamily="34" charset="0"/>
              </a:rPr>
              <a:t>strengths</a:t>
            </a:r>
            <a:r>
              <a:rPr lang="en-CA" sz="2000" dirty="0">
                <a:latin typeface="Calibri" panose="020F0502020204030204" pitchFamily="34" charset="0"/>
                <a:cs typeface="Arial" panose="020B0604020202020204" pitchFamily="34" charset="0"/>
              </a:rPr>
              <a:t> &amp; </a:t>
            </a:r>
            <a:r>
              <a:rPr lang="en-CA" sz="2000" b="1" dirty="0">
                <a:latin typeface="Calibri" panose="020F0502020204030204" pitchFamily="34" charset="0"/>
                <a:cs typeface="Arial" panose="020B0604020202020204" pitchFamily="34" charset="0"/>
              </a:rPr>
              <a:t>weaknesses</a:t>
            </a:r>
            <a:r>
              <a:rPr lang="en-CA" sz="2000" dirty="0">
                <a:latin typeface="Calibri" panose="020F0502020204030204" pitchFamily="34" charset="0"/>
                <a:cs typeface="Arial" panose="020B0604020202020204" pitchFamily="34" charset="0"/>
              </a:rPr>
              <a:t>;</a:t>
            </a:r>
          </a:p>
          <a:p>
            <a:r>
              <a:rPr lang="en-CA" sz="2000" b="1" dirty="0">
                <a:latin typeface="Calibri" panose="020F0502020204030204" pitchFamily="34" charset="0"/>
                <a:cs typeface="Arial" panose="020B0604020202020204" pitchFamily="34" charset="0"/>
              </a:rPr>
              <a:t>Project team recommendations </a:t>
            </a:r>
            <a:r>
              <a:rPr lang="en-CA" sz="2000" dirty="0">
                <a:latin typeface="Calibri" panose="020F0502020204030204" pitchFamily="34" charset="0"/>
                <a:cs typeface="Arial" panose="020B0604020202020204" pitchFamily="34" charset="0"/>
              </a:rPr>
              <a:t>and opportunities for future improvements;</a:t>
            </a:r>
          </a:p>
          <a:p>
            <a:r>
              <a:rPr lang="en-CA" sz="2000" dirty="0">
                <a:latin typeface="Calibri" panose="020F0502020204030204" pitchFamily="34" charset="0"/>
                <a:cs typeface="Arial" panose="020B0604020202020204" pitchFamily="34" charset="0"/>
              </a:rPr>
              <a:t>Projected and actual </a:t>
            </a:r>
            <a:r>
              <a:rPr lang="en-CA" sz="2000" dirty="0">
                <a:solidFill>
                  <a:srgbClr val="00B050"/>
                </a:solidFill>
                <a:latin typeface="Calibri" panose="020F0502020204030204" pitchFamily="34" charset="0"/>
                <a:cs typeface="Arial" panose="020B0604020202020204" pitchFamily="34" charset="0"/>
              </a:rPr>
              <a:t>impact to the company</a:t>
            </a:r>
            <a:r>
              <a:rPr lang="en-CA" sz="2000" dirty="0">
                <a:latin typeface="Calibri" panose="020F0502020204030204" pitchFamily="34" charset="0"/>
                <a:cs typeface="Arial" panose="020B0604020202020204" pitchFamily="34" charset="0"/>
              </a:rPr>
              <a:t>; and,</a:t>
            </a:r>
          </a:p>
          <a:p>
            <a:r>
              <a:rPr lang="en-CA" sz="2000" dirty="0">
                <a:solidFill>
                  <a:srgbClr val="7030A0"/>
                </a:solidFill>
                <a:latin typeface="Calibri" panose="020F0502020204030204" pitchFamily="34" charset="0"/>
                <a:cs typeface="Arial" panose="020B0604020202020204" pitchFamily="34" charset="0"/>
              </a:rPr>
              <a:t>Project Team Members</a:t>
            </a:r>
            <a:r>
              <a:rPr lang="en-CA" sz="2000" dirty="0">
                <a:latin typeface="Calibri" panose="020F0502020204030204" pitchFamily="34" charset="0"/>
                <a:cs typeface="Arial" panose="020B0604020202020204" pitchFamily="34" charset="0"/>
              </a:rPr>
              <a:t>.</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5" name="Footer Placeholder 4"/>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15</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298" y="404664"/>
            <a:ext cx="8229600" cy="980728"/>
          </a:xfrm>
        </p:spPr>
        <p:txBody>
          <a:bodyPr>
            <a:noAutofit/>
          </a:bodyPr>
          <a:lstStyle/>
          <a:p>
            <a:r>
              <a:rPr lang="en-US" sz="3600" dirty="0">
                <a:latin typeface="Calibri" panose="020F0502020204030204" pitchFamily="34" charset="0"/>
                <a:cs typeface="Arial" panose="020B0604020202020204" pitchFamily="34" charset="0"/>
              </a:rPr>
              <a:t>The Seven Elements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of Project Closeout</a:t>
            </a:r>
            <a:endParaRPr lang="en-CA" sz="36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590082" y="1845027"/>
            <a:ext cx="7870350" cy="4114800"/>
          </a:xfrm>
        </p:spPr>
        <p:txBody>
          <a:bodyPr>
            <a:normAutofit/>
          </a:bodyPr>
          <a:lstStyle/>
          <a:p>
            <a:pPr marL="34290" indent="0">
              <a:buNone/>
            </a:pPr>
            <a:r>
              <a:rPr lang="en-CA" sz="2400" b="1" dirty="0">
                <a:solidFill>
                  <a:schemeClr val="accent1">
                    <a:lumMod val="75000"/>
                  </a:schemeClr>
                </a:solidFill>
                <a:latin typeface="Calibri" panose="020F0502020204030204" pitchFamily="34" charset="0"/>
                <a:cs typeface="Arial" panose="020B0604020202020204" pitchFamily="34" charset="0"/>
              </a:rPr>
              <a:t>7) Celebrate the projects’ Success</a:t>
            </a:r>
          </a:p>
          <a:p>
            <a:r>
              <a:rPr lang="en-CA" sz="2000" dirty="0">
                <a:latin typeface="Calibri" panose="020F0502020204030204" pitchFamily="34" charset="0"/>
                <a:cs typeface="Arial" panose="020B0604020202020204" pitchFamily="34" charset="0"/>
              </a:rPr>
              <a:t>Involve everyone that played a role on the project;</a:t>
            </a:r>
          </a:p>
          <a:p>
            <a:r>
              <a:rPr lang="en-CA" sz="2000" dirty="0">
                <a:latin typeface="Calibri" panose="020F0502020204030204" pitchFamily="34" charset="0"/>
                <a:cs typeface="Arial" panose="020B0604020202020204" pitchFamily="34" charset="0"/>
              </a:rPr>
              <a:t>Hold the gathering </a:t>
            </a:r>
            <a:r>
              <a:rPr lang="en-CA" sz="2000" dirty="0">
                <a:solidFill>
                  <a:srgbClr val="7030A0"/>
                </a:solidFill>
                <a:latin typeface="Calibri" panose="020F0502020204030204" pitchFamily="34" charset="0"/>
                <a:cs typeface="Arial" panose="020B0604020202020204" pitchFamily="34" charset="0"/>
              </a:rPr>
              <a:t>away from the normal working environment</a:t>
            </a:r>
            <a:r>
              <a:rPr lang="en-CA" sz="2000" dirty="0">
                <a:latin typeface="Calibri" panose="020F0502020204030204" pitchFamily="34" charset="0"/>
                <a:cs typeface="Arial" panose="020B0604020202020204" pitchFamily="34" charset="0"/>
              </a:rPr>
              <a:t>;</a:t>
            </a:r>
          </a:p>
          <a:p>
            <a:r>
              <a:rPr lang="en-CA" sz="2000" dirty="0">
                <a:latin typeface="Calibri" panose="020F0502020204030204" pitchFamily="34" charset="0"/>
                <a:cs typeface="Arial" panose="020B0604020202020204" pitchFamily="34" charset="0"/>
              </a:rPr>
              <a:t>Personally </a:t>
            </a:r>
            <a:r>
              <a:rPr lang="en-CA" sz="2000" dirty="0">
                <a:solidFill>
                  <a:srgbClr val="00B050"/>
                </a:solidFill>
                <a:latin typeface="Calibri" panose="020F0502020204030204" pitchFamily="34" charset="0"/>
                <a:cs typeface="Arial" panose="020B0604020202020204" pitchFamily="34" charset="0"/>
              </a:rPr>
              <a:t>recognize</a:t>
            </a:r>
            <a:r>
              <a:rPr lang="en-CA" sz="2000" dirty="0">
                <a:latin typeface="Calibri" panose="020F0502020204030204" pitchFamily="34" charset="0"/>
                <a:cs typeface="Arial" panose="020B0604020202020204" pitchFamily="34" charset="0"/>
              </a:rPr>
              <a:t> outstanding performers; and,</a:t>
            </a:r>
          </a:p>
          <a:p>
            <a:r>
              <a:rPr lang="en-CA" sz="2000" dirty="0">
                <a:latin typeface="Calibri" panose="020F0502020204030204" pitchFamily="34" charset="0"/>
                <a:cs typeface="Arial" panose="020B0604020202020204" pitchFamily="34" charset="0"/>
              </a:rPr>
              <a:t>Personally </a:t>
            </a:r>
            <a:r>
              <a:rPr lang="en-CA" sz="2000" dirty="0">
                <a:solidFill>
                  <a:srgbClr val="00B050"/>
                </a:solidFill>
                <a:latin typeface="Calibri" panose="020F0502020204030204" pitchFamily="34" charset="0"/>
                <a:cs typeface="Arial" panose="020B0604020202020204" pitchFamily="34" charset="0"/>
              </a:rPr>
              <a:t>express your appreciation </a:t>
            </a:r>
            <a:r>
              <a:rPr lang="en-CA" sz="2000" dirty="0">
                <a:latin typeface="Calibri" panose="020F0502020204030204" pitchFamily="34" charset="0"/>
                <a:cs typeface="Arial" panose="020B0604020202020204" pitchFamily="34" charset="0"/>
              </a:rPr>
              <a:t>to all project members. </a:t>
            </a:r>
          </a:p>
          <a:p>
            <a:pPr marL="34290" indent="0">
              <a:buNone/>
            </a:pPr>
            <a:endParaRPr lang="en-CA" sz="2000" dirty="0">
              <a:latin typeface="Calibri" panose="020F0502020204030204" pitchFamily="34" charset="0"/>
              <a:cs typeface="Arial" panose="020B0604020202020204" pitchFamily="34" charset="0"/>
            </a:endParaRPr>
          </a:p>
          <a:p>
            <a:pPr marL="34290" indent="0" algn="ctr">
              <a:buNone/>
            </a:pPr>
            <a:r>
              <a:rPr lang="en-CA" sz="2000" b="1" i="1" dirty="0">
                <a:solidFill>
                  <a:srgbClr val="FF0000"/>
                </a:solidFill>
                <a:latin typeface="Calibri" panose="020F0502020204030204" pitchFamily="34" charset="0"/>
                <a:cs typeface="Arial" panose="020B0604020202020204" pitchFamily="34" charset="0"/>
              </a:rPr>
              <a:t>Remember they are your team and the project</a:t>
            </a:r>
          </a:p>
          <a:p>
            <a:pPr marL="34290" indent="0" algn="ctr">
              <a:buNone/>
            </a:pPr>
            <a:r>
              <a:rPr lang="en-CA" sz="2000" b="1" i="1" dirty="0">
                <a:solidFill>
                  <a:srgbClr val="FF0000"/>
                </a:solidFill>
                <a:latin typeface="Calibri" panose="020F0502020204030204" pitchFamily="34" charset="0"/>
                <a:cs typeface="Arial" panose="020B0604020202020204" pitchFamily="34" charset="0"/>
              </a:rPr>
              <a:t>could not have succeeded without them.</a:t>
            </a:r>
          </a:p>
          <a:p>
            <a:pPr marL="34290" indent="0" algn="ctr">
              <a:buNone/>
            </a:pPr>
            <a:r>
              <a:rPr lang="en-CA" sz="2000" b="1" i="1" dirty="0">
                <a:solidFill>
                  <a:srgbClr val="FF0000"/>
                </a:solidFill>
                <a:latin typeface="Calibri" panose="020F0502020204030204" pitchFamily="34" charset="0"/>
                <a:cs typeface="Arial" panose="020B0604020202020204" pitchFamily="34" charset="0"/>
              </a:rPr>
              <a:t>This is a time to celebrate your team </a:t>
            </a:r>
            <a:r>
              <a:rPr lang="en-CA" sz="2000" b="1" i="1" u="sng" dirty="0">
                <a:solidFill>
                  <a:srgbClr val="FF0000"/>
                </a:solidFill>
                <a:latin typeface="Calibri" panose="020F0502020204030204" pitchFamily="34" charset="0"/>
                <a:cs typeface="Arial" panose="020B0604020202020204" pitchFamily="34" charset="0"/>
              </a:rPr>
              <a:t>NOT YOURSELF</a:t>
            </a:r>
            <a:r>
              <a:rPr lang="en-CA" sz="2000" b="1" dirty="0">
                <a:solidFill>
                  <a:srgbClr val="FF0000"/>
                </a:solidFill>
                <a:latin typeface="Calibri" panose="020F0502020204030204" pitchFamily="34" charset="0"/>
                <a:cs typeface="Arial" panose="020B0604020202020204" pitchFamily="34" charset="0"/>
              </a:rPr>
              <a:t>.</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5" name="Footer Placeholder 4"/>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16</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5530" y="439610"/>
            <a:ext cx="8229600" cy="1062111"/>
          </a:xfrm>
        </p:spPr>
        <p:txBody>
          <a:bodyPr>
            <a:noAutofit/>
          </a:bodyPr>
          <a:lstStyle/>
          <a:p>
            <a:pPr eaLnBrk="1" hangingPunct="1"/>
            <a:r>
              <a:rPr lang="en-US" sz="3600" dirty="0">
                <a:latin typeface="Calibri" panose="020F0502020204030204" pitchFamily="34" charset="0"/>
                <a:cs typeface="Arial" panose="020B0604020202020204" pitchFamily="34" charset="0"/>
              </a:rPr>
              <a:t>What Prevents Effective</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Project Closeout?</a:t>
            </a:r>
          </a:p>
        </p:txBody>
      </p:sp>
      <p:sp>
        <p:nvSpPr>
          <p:cNvPr id="22531" name="Rectangle 3"/>
          <p:cNvSpPr>
            <a:spLocks noGrp="1" noChangeArrowheads="1"/>
          </p:cNvSpPr>
          <p:nvPr>
            <p:ph idx="1"/>
          </p:nvPr>
        </p:nvSpPr>
        <p:spPr>
          <a:xfrm>
            <a:off x="457200" y="1844824"/>
            <a:ext cx="8229600" cy="3888432"/>
          </a:xfrm>
        </p:spPr>
        <p:txBody>
          <a:bodyPr>
            <a:normAutofit/>
          </a:bodyPr>
          <a:lstStyle/>
          <a:p>
            <a:pPr marL="442913" indent="-442913" eaLnBrk="1" hangingPunct="1">
              <a:lnSpc>
                <a:spcPct val="80000"/>
              </a:lnSpc>
              <a:buFontTx/>
              <a:buAutoNum type="arabicPeriod"/>
            </a:pPr>
            <a:r>
              <a:rPr lang="en-US" sz="2000" dirty="0">
                <a:latin typeface="Calibri" panose="020F0502020204030204" pitchFamily="34" charset="0"/>
                <a:cs typeface="Arial" panose="020B0604020202020204" pitchFamily="34" charset="0"/>
              </a:rPr>
              <a:t>Getting the project </a:t>
            </a:r>
            <a:r>
              <a:rPr lang="en-US" sz="2000" dirty="0">
                <a:solidFill>
                  <a:srgbClr val="00B050"/>
                </a:solidFill>
                <a:latin typeface="Calibri" panose="020F0502020204030204" pitchFamily="34" charset="0"/>
                <a:cs typeface="Arial" panose="020B0604020202020204" pitchFamily="34" charset="0"/>
              </a:rPr>
              <a:t>signed off </a:t>
            </a:r>
            <a:r>
              <a:rPr lang="en-US" sz="2000" dirty="0">
                <a:latin typeface="Calibri" panose="020F0502020204030204" pitchFamily="34" charset="0"/>
                <a:cs typeface="Arial" panose="020B0604020202020204" pitchFamily="34" charset="0"/>
              </a:rPr>
              <a:t>discourages </a:t>
            </a:r>
            <a:r>
              <a:rPr lang="en-US" sz="2000" dirty="0">
                <a:solidFill>
                  <a:srgbClr val="00B050"/>
                </a:solidFill>
                <a:latin typeface="Calibri" panose="020F0502020204030204" pitchFamily="34" charset="0"/>
                <a:cs typeface="Arial" panose="020B0604020202020204" pitchFamily="34" charset="0"/>
              </a:rPr>
              <a:t>other</a:t>
            </a:r>
            <a:r>
              <a:rPr lang="en-US" sz="2000" dirty="0">
                <a:latin typeface="Calibri" panose="020F0502020204030204" pitchFamily="34" charset="0"/>
                <a:cs typeface="Arial" panose="020B0604020202020204" pitchFamily="34" charset="0"/>
              </a:rPr>
              <a:t> closeout activities;</a:t>
            </a:r>
          </a:p>
          <a:p>
            <a:pPr marL="442913" indent="-442913" eaLnBrk="1" hangingPunct="1">
              <a:lnSpc>
                <a:spcPct val="80000"/>
              </a:lnSpc>
              <a:buFontTx/>
              <a:buAutoNum type="arabicPeriod"/>
            </a:pPr>
            <a:r>
              <a:rPr lang="en-US" sz="2000" dirty="0">
                <a:latin typeface="Calibri" panose="020F0502020204030204" pitchFamily="34" charset="0"/>
                <a:cs typeface="Arial" panose="020B0604020202020204" pitchFamily="34" charset="0"/>
              </a:rPr>
              <a:t>The assumed urgency of all projects pressures us to take shortcuts on the back-end;</a:t>
            </a:r>
          </a:p>
          <a:p>
            <a:pPr marL="442913" indent="-442913" eaLnBrk="1" hangingPunct="1">
              <a:lnSpc>
                <a:spcPct val="80000"/>
              </a:lnSpc>
              <a:buFontTx/>
              <a:buAutoNum type="arabicPeriod"/>
            </a:pPr>
            <a:r>
              <a:rPr lang="en-US" sz="2000" dirty="0">
                <a:latin typeface="Calibri" panose="020F0502020204030204" pitchFamily="34" charset="0"/>
                <a:cs typeface="Arial" panose="020B0604020202020204" pitchFamily="34" charset="0"/>
              </a:rPr>
              <a:t>Closeout activities are given a </a:t>
            </a:r>
            <a:r>
              <a:rPr lang="en-US" sz="2000" dirty="0">
                <a:solidFill>
                  <a:srgbClr val="7030A0"/>
                </a:solidFill>
                <a:latin typeface="Calibri" panose="020F0502020204030204" pitchFamily="34" charset="0"/>
                <a:cs typeface="Arial" panose="020B0604020202020204" pitchFamily="34" charset="0"/>
              </a:rPr>
              <a:t>low priority </a:t>
            </a:r>
            <a:r>
              <a:rPr lang="en-US" sz="2000" dirty="0">
                <a:latin typeface="Calibri" panose="020F0502020204030204" pitchFamily="34" charset="0"/>
                <a:cs typeface="Arial" panose="020B0604020202020204" pitchFamily="34" charset="0"/>
              </a:rPr>
              <a:t>and are easily ignored;</a:t>
            </a:r>
          </a:p>
          <a:p>
            <a:pPr marL="442913" indent="-442913" eaLnBrk="1" hangingPunct="1">
              <a:lnSpc>
                <a:spcPct val="80000"/>
              </a:lnSpc>
              <a:buFontTx/>
              <a:buAutoNum type="arabicPeriod"/>
            </a:pPr>
            <a:r>
              <a:rPr lang="en-US" sz="2000" dirty="0">
                <a:latin typeface="Calibri" panose="020F0502020204030204" pitchFamily="34" charset="0"/>
                <a:cs typeface="Arial" panose="020B0604020202020204" pitchFamily="34" charset="0"/>
              </a:rPr>
              <a:t>“Lessons Learned” analysis is simply viewed as a book-keeping process;</a:t>
            </a:r>
          </a:p>
          <a:p>
            <a:pPr marL="442913" indent="-442913" eaLnBrk="1" hangingPunct="1">
              <a:lnSpc>
                <a:spcPct val="80000"/>
              </a:lnSpc>
              <a:buFontTx/>
              <a:buAutoNum type="arabicPeriod"/>
            </a:pPr>
            <a:r>
              <a:rPr lang="en-US" sz="2000" dirty="0">
                <a:latin typeface="Calibri" panose="020F0502020204030204" pitchFamily="34" charset="0"/>
                <a:cs typeface="Arial" panose="020B0604020202020204" pitchFamily="34" charset="0"/>
              </a:rPr>
              <a:t>People may assume that because all projects are unique, the actual carryover from one project to another is minimal; </a:t>
            </a:r>
          </a:p>
          <a:p>
            <a:pPr marL="442913" indent="-442913" eaLnBrk="1" hangingPunct="1">
              <a:lnSpc>
                <a:spcPct val="80000"/>
              </a:lnSpc>
              <a:buFontTx/>
              <a:buAutoNum type="arabicPeriod"/>
            </a:pPr>
            <a:r>
              <a:rPr lang="en-US" sz="2000" dirty="0">
                <a:latin typeface="Calibri" panose="020F0502020204030204" pitchFamily="34" charset="0"/>
                <a:cs typeface="Arial" panose="020B0604020202020204" pitchFamily="34" charset="0"/>
              </a:rPr>
              <a:t>People want to move on to the </a:t>
            </a:r>
            <a:r>
              <a:rPr lang="en-US" sz="2000" dirty="0">
                <a:solidFill>
                  <a:srgbClr val="7030A0"/>
                </a:solidFill>
                <a:latin typeface="Calibri" panose="020F0502020204030204" pitchFamily="34" charset="0"/>
                <a:cs typeface="Arial" panose="020B0604020202020204" pitchFamily="34" charset="0"/>
              </a:rPr>
              <a:t>next challenge </a:t>
            </a:r>
            <a:r>
              <a:rPr lang="en-US" sz="2000" dirty="0">
                <a:latin typeface="Calibri" panose="020F0502020204030204" pitchFamily="34" charset="0"/>
                <a:cs typeface="Arial" panose="020B0604020202020204" pitchFamily="34" charset="0"/>
              </a:rPr>
              <a:t>rather than complete the last work of the project.</a:t>
            </a:r>
          </a:p>
        </p:txBody>
      </p:sp>
      <p:sp>
        <p:nvSpPr>
          <p:cNvPr id="22532"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17</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20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fade">
                                      <p:cBhvr>
                                        <p:cTn id="12" dur="2000"/>
                                        <p:tgtEl>
                                          <p:spTgt spid="22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fade">
                                      <p:cBhvr>
                                        <p:cTn id="17" dur="2000"/>
                                        <p:tgtEl>
                                          <p:spTgt spid="225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fade">
                                      <p:cBhvr>
                                        <p:cTn id="22" dur="2000"/>
                                        <p:tgtEl>
                                          <p:spTgt spid="225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fade">
                                      <p:cBhvr>
                                        <p:cTn id="27" dur="2000"/>
                                        <p:tgtEl>
                                          <p:spTgt spid="225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1">
                                            <p:txEl>
                                              <p:pRg st="5" end="5"/>
                                            </p:txEl>
                                          </p:spTgt>
                                        </p:tgtEl>
                                        <p:attrNameLst>
                                          <p:attrName>style.visibility</p:attrName>
                                        </p:attrNameLst>
                                      </p:cBhvr>
                                      <p:to>
                                        <p:strVal val="visible"/>
                                      </p:to>
                                    </p:set>
                                    <p:animEffect transition="in" filter="fade">
                                      <p:cBhvr>
                                        <p:cTn id="32" dur="20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71550" y="381000"/>
            <a:ext cx="7200900" cy="887760"/>
          </a:xfrm>
        </p:spPr>
        <p:txBody>
          <a:bodyPr>
            <a:normAutofit/>
          </a:bodyPr>
          <a:lstStyle/>
          <a:p>
            <a:pPr eaLnBrk="1" hangingPunct="1"/>
            <a:r>
              <a:rPr lang="en-US" sz="3600" dirty="0">
                <a:latin typeface="Calibri" panose="020F0502020204030204" pitchFamily="34" charset="0"/>
                <a:cs typeface="Arial" panose="020B0604020202020204" pitchFamily="34" charset="0"/>
              </a:rPr>
              <a:t>PROJECT FAILURE</a:t>
            </a:r>
          </a:p>
        </p:txBody>
      </p:sp>
      <p:sp>
        <p:nvSpPr>
          <p:cNvPr id="23555" name="Rectangle 3"/>
          <p:cNvSpPr>
            <a:spLocks noGrp="1" noChangeArrowheads="1"/>
          </p:cNvSpPr>
          <p:nvPr>
            <p:ph idx="1"/>
          </p:nvPr>
        </p:nvSpPr>
        <p:spPr>
          <a:xfrm>
            <a:off x="582612" y="1844824"/>
            <a:ext cx="7877819" cy="3124944"/>
          </a:xfrm>
        </p:spPr>
        <p:txBody>
          <a:bodyPr/>
          <a:lstStyle/>
          <a:p>
            <a:pPr lvl="1" eaLnBrk="1" hangingPunct="1">
              <a:spcBef>
                <a:spcPts val="1200"/>
              </a:spcBef>
            </a:pPr>
            <a:r>
              <a:rPr lang="en-US" sz="2800" b="1" dirty="0">
                <a:solidFill>
                  <a:srgbClr val="FF0000"/>
                </a:solidFill>
                <a:latin typeface="Calibri" panose="020F0502020204030204" pitchFamily="34" charset="0"/>
              </a:rPr>
              <a:t>Project failure </a:t>
            </a:r>
            <a:r>
              <a:rPr lang="en-US" sz="2800" dirty="0">
                <a:latin typeface="Calibri" panose="020F0502020204030204" pitchFamily="34" charset="0"/>
              </a:rPr>
              <a:t>occurs when a project does not deliver what was required, </a:t>
            </a:r>
          </a:p>
          <a:p>
            <a:pPr lvl="1" eaLnBrk="1" hangingPunct="1">
              <a:spcBef>
                <a:spcPts val="1200"/>
              </a:spcBef>
            </a:pPr>
            <a:r>
              <a:rPr lang="en-US" sz="2800" dirty="0">
                <a:latin typeface="Calibri" panose="020F0502020204030204" pitchFamily="34" charset="0"/>
              </a:rPr>
              <a:t>Failure is based on the </a:t>
            </a:r>
            <a:r>
              <a:rPr lang="en-US" sz="2800" dirty="0">
                <a:solidFill>
                  <a:srgbClr val="7030A0"/>
                </a:solidFill>
                <a:latin typeface="Calibri" panose="020F0502020204030204" pitchFamily="34" charset="0"/>
              </a:rPr>
              <a:t>acceptance criteria </a:t>
            </a:r>
            <a:r>
              <a:rPr lang="en-US" sz="2800" dirty="0">
                <a:latin typeface="Calibri" panose="020F0502020204030204" pitchFamily="34" charset="0"/>
              </a:rPr>
              <a:t>of the sponsors and </a:t>
            </a:r>
            <a:r>
              <a:rPr lang="en-US" sz="2800" b="1" dirty="0">
                <a:latin typeface="Calibri" panose="020F0502020204030204" pitchFamily="34" charset="0"/>
              </a:rPr>
              <a:t>customer</a:t>
            </a:r>
          </a:p>
          <a:p>
            <a:pPr lvl="1" eaLnBrk="1" hangingPunct="1">
              <a:spcBef>
                <a:spcPts val="1200"/>
              </a:spcBef>
            </a:pPr>
            <a:r>
              <a:rPr lang="en-US" sz="2800" dirty="0">
                <a:latin typeface="Calibri" panose="020F0502020204030204" pitchFamily="34" charset="0"/>
              </a:rPr>
              <a:t>Project failure can be triggered by </a:t>
            </a:r>
            <a:r>
              <a:rPr lang="en-US" sz="2800" dirty="0">
                <a:solidFill>
                  <a:srgbClr val="00B050"/>
                </a:solidFill>
                <a:latin typeface="Calibri" panose="020F0502020204030204" pitchFamily="34" charset="0"/>
              </a:rPr>
              <a:t>changes</a:t>
            </a:r>
            <a:r>
              <a:rPr lang="en-US" sz="2800" dirty="0">
                <a:latin typeface="Calibri" panose="020F0502020204030204" pitchFamily="34" charset="0"/>
              </a:rPr>
              <a:t> in </a:t>
            </a:r>
            <a:r>
              <a:rPr lang="en-US" sz="2800" b="1" dirty="0">
                <a:latin typeface="Calibri" panose="020F0502020204030204" pitchFamily="34" charset="0"/>
              </a:rPr>
              <a:t>scope</a:t>
            </a:r>
            <a:r>
              <a:rPr lang="en-US" sz="2800" dirty="0">
                <a:latin typeface="Calibri" panose="020F0502020204030204" pitchFamily="34" charset="0"/>
              </a:rPr>
              <a:t>, </a:t>
            </a:r>
            <a:r>
              <a:rPr lang="en-US" sz="2800" b="1" dirty="0">
                <a:latin typeface="Calibri" panose="020F0502020204030204" pitchFamily="34" charset="0"/>
              </a:rPr>
              <a:t>cost</a:t>
            </a:r>
            <a:r>
              <a:rPr lang="en-US" sz="2800" dirty="0">
                <a:latin typeface="Calibri" panose="020F0502020204030204" pitchFamily="34" charset="0"/>
              </a:rPr>
              <a:t> or </a:t>
            </a:r>
            <a:r>
              <a:rPr lang="en-US" sz="2800" b="1" dirty="0">
                <a:latin typeface="Calibri" panose="020F0502020204030204" pitchFamily="34" charset="0"/>
              </a:rPr>
              <a:t>time</a:t>
            </a:r>
          </a:p>
          <a:p>
            <a:pPr lvl="1" eaLnBrk="1" hangingPunct="1"/>
            <a:endParaRPr lang="en-US" sz="2000" b="1" dirty="0">
              <a:latin typeface="Calibri" panose="020F0502020204030204" pitchFamily="34" charset="0"/>
            </a:endParaRPr>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4095546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pPr eaLnBrk="1" hangingPunct="1"/>
            <a:r>
              <a:rPr lang="en-US" sz="3600" dirty="0">
                <a:latin typeface="Calibri" panose="020F0502020204030204" pitchFamily="34" charset="0"/>
                <a:cs typeface="Arial" panose="020B0604020202020204" pitchFamily="34" charset="0"/>
              </a:rPr>
              <a:t>EARLY WARNING SIGNS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OF PROJECT FAILURE</a:t>
            </a:r>
          </a:p>
        </p:txBody>
      </p:sp>
      <p:sp>
        <p:nvSpPr>
          <p:cNvPr id="23555" name="Rectangle 3"/>
          <p:cNvSpPr>
            <a:spLocks noGrp="1" noChangeArrowheads="1"/>
          </p:cNvSpPr>
          <p:nvPr>
            <p:ph idx="1"/>
          </p:nvPr>
        </p:nvSpPr>
        <p:spPr>
          <a:xfrm>
            <a:off x="582613" y="1844824"/>
            <a:ext cx="7128792" cy="3672408"/>
          </a:xfrm>
        </p:spPr>
        <p:txBody>
          <a:bodyPr/>
          <a:lstStyle/>
          <a:p>
            <a:pPr eaLnBrk="1" hangingPunct="1"/>
            <a:endParaRPr lang="en-US" b="1" dirty="0"/>
          </a:p>
          <a:p>
            <a:pPr lvl="1" eaLnBrk="1" hangingPunct="1">
              <a:spcBef>
                <a:spcPts val="1200"/>
              </a:spcBef>
            </a:pPr>
            <a:r>
              <a:rPr lang="en-US" sz="2800" dirty="0">
                <a:latin typeface="Calibri" panose="020F0502020204030204" pitchFamily="34" charset="0"/>
              </a:rPr>
              <a:t>LACK OF VIABLE COMMERCIAL OBJECTIVES.</a:t>
            </a:r>
          </a:p>
          <a:p>
            <a:pPr lvl="1" eaLnBrk="1" hangingPunct="1">
              <a:spcBef>
                <a:spcPts val="1200"/>
              </a:spcBef>
            </a:pPr>
            <a:r>
              <a:rPr lang="en-US" sz="2800" dirty="0">
                <a:latin typeface="Calibri" panose="020F0502020204030204" pitchFamily="34" charset="0"/>
              </a:rPr>
              <a:t>LACK OF SUFFICIENT </a:t>
            </a:r>
            <a:r>
              <a:rPr lang="en-US" sz="2800" dirty="0">
                <a:solidFill>
                  <a:srgbClr val="00B050"/>
                </a:solidFill>
                <a:latin typeface="Calibri" panose="020F0502020204030204" pitchFamily="34" charset="0"/>
              </a:rPr>
              <a:t>DECISION-MAKING AUTHORITY</a:t>
            </a:r>
            <a:r>
              <a:rPr lang="en-US" sz="2800" dirty="0">
                <a:latin typeface="Calibri" panose="020F0502020204030204" pitchFamily="34" charset="0"/>
              </a:rPr>
              <a:t>.</a:t>
            </a:r>
          </a:p>
          <a:p>
            <a:pPr lvl="1" eaLnBrk="1" hangingPunct="1">
              <a:spcBef>
                <a:spcPts val="1200"/>
              </a:spcBef>
            </a:pPr>
            <a:r>
              <a:rPr lang="en-US" sz="2800" dirty="0">
                <a:latin typeface="Calibri" panose="020F0502020204030204" pitchFamily="34" charset="0"/>
              </a:rPr>
              <a:t>MARKET VOLATILITY.</a:t>
            </a:r>
          </a:p>
          <a:p>
            <a:pPr lvl="1" eaLnBrk="1" hangingPunct="1">
              <a:spcBef>
                <a:spcPts val="1200"/>
              </a:spcBef>
            </a:pPr>
            <a:r>
              <a:rPr lang="en-US" sz="2800" dirty="0">
                <a:latin typeface="Calibri" panose="020F0502020204030204" pitchFamily="34" charset="0"/>
              </a:rPr>
              <a:t>LOW PRIORITY ASSIGNED TO THE PROJECT.</a:t>
            </a:r>
          </a:p>
        </p:txBody>
      </p:sp>
      <p:sp>
        <p:nvSpPr>
          <p:cNvPr id="2355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19</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 calcmode="lin" valueType="num">
                                      <p:cBhvr additive="base">
                                        <p:cTn id="7"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 calcmode="lin" valueType="num">
                                      <p:cBhvr additive="base">
                                        <p:cTn id="13"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anim calcmode="lin" valueType="num">
                                      <p:cBhvr additive="base">
                                        <p:cTn id="19"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555">
                                            <p:txEl>
                                              <p:pRg st="4" end="4"/>
                                            </p:txEl>
                                          </p:spTgt>
                                        </p:tgtEl>
                                        <p:attrNameLst>
                                          <p:attrName>style.visibility</p:attrName>
                                        </p:attrNameLst>
                                      </p:cBhvr>
                                      <p:to>
                                        <p:strVal val="visible"/>
                                      </p:to>
                                    </p:set>
                                    <p:anim calcmode="lin" valueType="num">
                                      <p:cBhvr additive="base">
                                        <p:cTn id="25"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043607" y="410308"/>
            <a:ext cx="6739905" cy="1143000"/>
          </a:xfrm>
        </p:spPr>
        <p:txBody>
          <a:bodyPr>
            <a:normAutofit/>
          </a:bodyPr>
          <a:lstStyle/>
          <a:p>
            <a:pPr eaLnBrk="1" hangingPunct="1"/>
            <a:r>
              <a:rPr lang="en-US" sz="3600" dirty="0">
                <a:latin typeface="Calibri" panose="020F0502020204030204" pitchFamily="34" charset="0"/>
                <a:cs typeface="Arial" panose="020B0604020202020204" pitchFamily="34" charset="0"/>
              </a:rPr>
              <a:t>WHEN </a:t>
            </a:r>
            <a:r>
              <a:rPr lang="en-US" sz="3600" b="0" dirty="0">
                <a:solidFill>
                  <a:srgbClr val="00B050"/>
                </a:solidFill>
                <a:latin typeface="Calibri" panose="020F0502020204030204" pitchFamily="34" charset="0"/>
                <a:cs typeface="Arial" panose="020B0604020202020204" pitchFamily="34" charset="0"/>
              </a:rPr>
              <a:t>SHOULD</a:t>
            </a:r>
            <a:r>
              <a:rPr lang="en-US" sz="3600" b="0" dirty="0">
                <a:latin typeface="Calibri" panose="020F0502020204030204" pitchFamily="34" charset="0"/>
                <a:cs typeface="Arial" panose="020B0604020202020204" pitchFamily="34" charset="0"/>
              </a:rPr>
              <a:t> WE CONSIDER </a:t>
            </a:r>
            <a:r>
              <a:rPr lang="en-US" sz="3600" dirty="0">
                <a:latin typeface="Calibri" panose="020F0502020204030204" pitchFamily="34" charset="0"/>
                <a:cs typeface="Arial" panose="020B0604020202020204" pitchFamily="34" charset="0"/>
              </a:rPr>
              <a:t>CANCELLING THE PROJECT?</a:t>
            </a:r>
          </a:p>
        </p:txBody>
      </p:sp>
      <p:sp>
        <p:nvSpPr>
          <p:cNvPr id="24579" name="Rectangle 3"/>
          <p:cNvSpPr>
            <a:spLocks noGrp="1" noChangeArrowheads="1"/>
          </p:cNvSpPr>
          <p:nvPr>
            <p:ph idx="1"/>
          </p:nvPr>
        </p:nvSpPr>
        <p:spPr>
          <a:xfrm>
            <a:off x="971549" y="1772816"/>
            <a:ext cx="7840663" cy="4248472"/>
          </a:xfrm>
        </p:spPr>
        <p:txBody>
          <a:bodyPr>
            <a:normAutofit/>
          </a:bodyPr>
          <a:lstStyle/>
          <a:p>
            <a:pPr eaLnBrk="1" hangingPunct="1">
              <a:lnSpc>
                <a:spcPct val="90000"/>
              </a:lnSpc>
            </a:pPr>
            <a:endParaRPr lang="en-US" dirty="0"/>
          </a:p>
          <a:p>
            <a:pPr eaLnBrk="1" hangingPunct="1">
              <a:lnSpc>
                <a:spcPct val="90000"/>
              </a:lnSpc>
            </a:pPr>
            <a:r>
              <a:rPr lang="en-US" sz="2800" dirty="0">
                <a:latin typeface="Calibri" panose="020F0502020204030204" pitchFamily="34" charset="0"/>
                <a:cs typeface="Arial" panose="020B0604020202020204" pitchFamily="34" charset="0"/>
              </a:rPr>
              <a:t>WHEN </a:t>
            </a:r>
            <a:r>
              <a:rPr lang="en-US" sz="2800" dirty="0">
                <a:solidFill>
                  <a:srgbClr val="00B050"/>
                </a:solidFill>
                <a:latin typeface="Calibri" panose="020F0502020204030204" pitchFamily="34" charset="0"/>
                <a:cs typeface="Arial" panose="020B0604020202020204" pitchFamily="34" charset="0"/>
              </a:rPr>
              <a:t>COSTS</a:t>
            </a:r>
            <a:r>
              <a:rPr lang="en-US" sz="2800" dirty="0">
                <a:latin typeface="Calibri" panose="020F0502020204030204" pitchFamily="34" charset="0"/>
                <a:cs typeface="Arial" panose="020B0604020202020204" pitchFamily="34" charset="0"/>
              </a:rPr>
              <a:t> EXCEED BUSINESS </a:t>
            </a:r>
            <a:r>
              <a:rPr lang="en-US" sz="2800" dirty="0">
                <a:solidFill>
                  <a:srgbClr val="00B050"/>
                </a:solidFill>
                <a:latin typeface="Calibri" panose="020F0502020204030204" pitchFamily="34" charset="0"/>
                <a:cs typeface="Arial" panose="020B0604020202020204" pitchFamily="34" charset="0"/>
              </a:rPr>
              <a:t>BENEFITS</a:t>
            </a:r>
            <a:r>
              <a:rPr lang="en-US" sz="2800" dirty="0">
                <a:latin typeface="Calibri" panose="020F0502020204030204" pitchFamily="34" charset="0"/>
                <a:cs typeface="Arial" panose="020B0604020202020204" pitchFamily="34" charset="0"/>
              </a:rPr>
              <a:t>.</a:t>
            </a:r>
          </a:p>
          <a:p>
            <a:pPr eaLnBrk="1" hangingPunct="1">
              <a:lnSpc>
                <a:spcPct val="90000"/>
              </a:lnSpc>
            </a:pPr>
            <a:r>
              <a:rPr lang="en-US" sz="2800" dirty="0">
                <a:latin typeface="Calibri" panose="020F0502020204030204" pitchFamily="34" charset="0"/>
                <a:cs typeface="Arial" panose="020B0604020202020204" pitchFamily="34" charset="0"/>
              </a:rPr>
              <a:t>WHEN THE PROJECT NO LONGER MEETS </a:t>
            </a:r>
            <a:r>
              <a:rPr lang="en-US" sz="2800" dirty="0">
                <a:solidFill>
                  <a:srgbClr val="00B050"/>
                </a:solidFill>
                <a:latin typeface="Calibri" panose="020F0502020204030204" pitchFamily="34" charset="0"/>
                <a:cs typeface="Arial" panose="020B0604020202020204" pitchFamily="34" charset="0"/>
              </a:rPr>
              <a:t>STRATEGIC FIT CRITERIA</a:t>
            </a:r>
            <a:r>
              <a:rPr lang="en-US" sz="2800" dirty="0">
                <a:latin typeface="Calibri" panose="020F0502020204030204" pitchFamily="34" charset="0"/>
                <a:cs typeface="Arial" panose="020B0604020202020204" pitchFamily="34" charset="0"/>
              </a:rPr>
              <a:t>.</a:t>
            </a:r>
          </a:p>
          <a:p>
            <a:pPr eaLnBrk="1" hangingPunct="1">
              <a:lnSpc>
                <a:spcPct val="90000"/>
              </a:lnSpc>
            </a:pPr>
            <a:r>
              <a:rPr lang="en-US" sz="2800" dirty="0">
                <a:latin typeface="Calibri" panose="020F0502020204030204" pitchFamily="34" charset="0"/>
                <a:cs typeface="Arial" panose="020B0604020202020204" pitchFamily="34" charset="0"/>
              </a:rPr>
              <a:t>WHEN </a:t>
            </a:r>
            <a:r>
              <a:rPr lang="en-US" sz="2800" dirty="0">
                <a:solidFill>
                  <a:srgbClr val="00B050"/>
                </a:solidFill>
                <a:latin typeface="Calibri" panose="020F0502020204030204" pitchFamily="34" charset="0"/>
                <a:cs typeface="Arial" panose="020B0604020202020204" pitchFamily="34" charset="0"/>
              </a:rPr>
              <a:t>DEADLINES</a:t>
            </a:r>
            <a:r>
              <a:rPr lang="en-US" sz="2800" dirty="0">
                <a:latin typeface="Calibri" panose="020F0502020204030204" pitchFamily="34" charset="0"/>
                <a:cs typeface="Arial" panose="020B0604020202020204" pitchFamily="34" charset="0"/>
              </a:rPr>
              <a:t> CONTINUE TO BE MISSED.</a:t>
            </a:r>
          </a:p>
          <a:p>
            <a:pPr eaLnBrk="1" hangingPunct="1">
              <a:lnSpc>
                <a:spcPct val="90000"/>
              </a:lnSpc>
            </a:pPr>
            <a:r>
              <a:rPr lang="en-US" sz="2800" dirty="0">
                <a:latin typeface="Calibri" panose="020F0502020204030204" pitchFamily="34" charset="0"/>
                <a:cs typeface="Arial" panose="020B0604020202020204" pitchFamily="34" charset="0"/>
              </a:rPr>
              <a:t>WHEN </a:t>
            </a:r>
            <a:r>
              <a:rPr lang="en-US" sz="2800" dirty="0">
                <a:solidFill>
                  <a:srgbClr val="00B050"/>
                </a:solidFill>
                <a:latin typeface="Calibri" panose="020F0502020204030204" pitchFamily="34" charset="0"/>
                <a:cs typeface="Arial" panose="020B0604020202020204" pitchFamily="34" charset="0"/>
              </a:rPr>
              <a:t>TECHNOLOGY EVOLVES </a:t>
            </a:r>
            <a:r>
              <a:rPr lang="en-US" sz="2800" dirty="0">
                <a:latin typeface="Calibri" panose="020F0502020204030204" pitchFamily="34" charset="0"/>
                <a:cs typeface="Arial" panose="020B0604020202020204" pitchFamily="34" charset="0"/>
              </a:rPr>
              <a:t>BEYOND THE PROJECT’S SCOPE.</a:t>
            </a:r>
          </a:p>
        </p:txBody>
      </p:sp>
      <p:sp>
        <p:nvSpPr>
          <p:cNvPr id="24580"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20</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fade">
                                      <p:cBhvr>
                                        <p:cTn id="7" dur="2000"/>
                                        <p:tgtEl>
                                          <p:spTgt spid="245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fade">
                                      <p:cBhvr>
                                        <p:cTn id="12" dur="2000"/>
                                        <p:tgtEl>
                                          <p:spTgt spid="24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579">
                                            <p:txEl>
                                              <p:pRg st="3" end="3"/>
                                            </p:txEl>
                                          </p:spTgt>
                                        </p:tgtEl>
                                        <p:attrNameLst>
                                          <p:attrName>style.visibility</p:attrName>
                                        </p:attrNameLst>
                                      </p:cBhvr>
                                      <p:to>
                                        <p:strVal val="visible"/>
                                      </p:to>
                                    </p:set>
                                    <p:animEffect transition="in" filter="fade">
                                      <p:cBhvr>
                                        <p:cTn id="17" dur="2000"/>
                                        <p:tgtEl>
                                          <p:spTgt spid="245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579">
                                            <p:txEl>
                                              <p:pRg st="4" end="4"/>
                                            </p:txEl>
                                          </p:spTgt>
                                        </p:tgtEl>
                                        <p:attrNameLst>
                                          <p:attrName>style.visibility</p:attrName>
                                        </p:attrNameLst>
                                      </p:cBhvr>
                                      <p:to>
                                        <p:strVal val="visible"/>
                                      </p:to>
                                    </p:set>
                                    <p:animEffect transition="in" filter="fade">
                                      <p:cBhvr>
                                        <p:cTn id="22" dur="20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71550" y="476672"/>
            <a:ext cx="7560840" cy="671736"/>
          </a:xfrm>
        </p:spPr>
        <p:txBody>
          <a:bodyPr>
            <a:normAutofit/>
          </a:bodyPr>
          <a:lstStyle/>
          <a:p>
            <a:r>
              <a:rPr lang="en-US" sz="3600" dirty="0">
                <a:latin typeface="Calibri" panose="020F0502020204030204" pitchFamily="34" charset="0"/>
                <a:cs typeface="Arial" panose="020B0604020202020204" pitchFamily="34" charset="0"/>
              </a:rPr>
              <a:t>Spectacular Project </a:t>
            </a:r>
            <a:r>
              <a:rPr lang="en-US" sz="3600" dirty="0">
                <a:solidFill>
                  <a:srgbClr val="7030A0"/>
                </a:solidFill>
                <a:latin typeface="Calibri" panose="020F0502020204030204" pitchFamily="34" charset="0"/>
                <a:cs typeface="Arial" panose="020B0604020202020204" pitchFamily="34" charset="0"/>
              </a:rPr>
              <a:t>Failures</a:t>
            </a:r>
          </a:p>
        </p:txBody>
      </p:sp>
      <p:sp>
        <p:nvSpPr>
          <p:cNvPr id="5" name="Content Placeholder 4"/>
          <p:cNvSpPr>
            <a:spLocks noGrp="1"/>
          </p:cNvSpPr>
          <p:nvPr>
            <p:ph idx="1"/>
          </p:nvPr>
        </p:nvSpPr>
        <p:spPr>
          <a:xfrm>
            <a:off x="971550" y="1556792"/>
            <a:ext cx="7488882" cy="4114800"/>
          </a:xfrm>
        </p:spPr>
        <p:txBody>
          <a:bodyPr>
            <a:normAutofit fontScale="77500" lnSpcReduction="20000"/>
          </a:bodyPr>
          <a:lstStyle/>
          <a:p>
            <a:pPr>
              <a:buNone/>
            </a:pPr>
            <a:r>
              <a:rPr lang="en-US" sz="2800" dirty="0">
                <a:latin typeface="Calibri" panose="020F0502020204030204" pitchFamily="34" charset="0"/>
                <a:cs typeface="Arial" panose="020B0604020202020204" pitchFamily="34" charset="0"/>
              </a:rPr>
              <a:t>Example 1</a:t>
            </a:r>
          </a:p>
          <a:p>
            <a:pPr>
              <a:buNone/>
            </a:pPr>
            <a:r>
              <a:rPr lang="en-US" sz="2800" dirty="0">
                <a:latin typeface="Calibri" panose="020F0502020204030204" pitchFamily="34" charset="0"/>
                <a:cs typeface="Arial" panose="020B0604020202020204" pitchFamily="34" charset="0"/>
              </a:rPr>
              <a:t>In March 1984 the Bank of America started project “</a:t>
            </a:r>
            <a:r>
              <a:rPr lang="en-US" sz="2800" dirty="0" err="1">
                <a:solidFill>
                  <a:srgbClr val="7030A0"/>
                </a:solidFill>
                <a:latin typeface="Calibri" panose="020F0502020204030204" pitchFamily="34" charset="0"/>
                <a:cs typeface="Arial" panose="020B0604020202020204" pitchFamily="34" charset="0"/>
              </a:rPr>
              <a:t>MasterNet</a:t>
            </a:r>
            <a:r>
              <a:rPr lang="en-US" sz="2800" dirty="0">
                <a:latin typeface="Calibri" panose="020F0502020204030204" pitchFamily="34" charset="0"/>
                <a:cs typeface="Arial" panose="020B0604020202020204" pitchFamily="34" charset="0"/>
              </a:rPr>
              <a:t>” to automate and modernize their Trust department. </a:t>
            </a:r>
            <a:r>
              <a:rPr lang="en-US" sz="2800" dirty="0" err="1">
                <a:latin typeface="Calibri" panose="020F0502020204030204" pitchFamily="34" charset="0"/>
                <a:cs typeface="Arial" panose="020B0604020202020204" pitchFamily="34" charset="0"/>
              </a:rPr>
              <a:t>BoA</a:t>
            </a:r>
            <a:r>
              <a:rPr lang="en-US" sz="2800" dirty="0">
                <a:latin typeface="Calibri" panose="020F0502020204030204" pitchFamily="34" charset="0"/>
                <a:cs typeface="Arial" panose="020B0604020202020204" pitchFamily="34" charset="0"/>
              </a:rPr>
              <a:t> planned to sell the system to other institutions after implementing it themselves.</a:t>
            </a:r>
          </a:p>
          <a:p>
            <a:pPr>
              <a:buNone/>
            </a:pPr>
            <a:r>
              <a:rPr lang="en-US" sz="2800" dirty="0">
                <a:latin typeface="Calibri" panose="020F0502020204030204" pitchFamily="34" charset="0"/>
                <a:cs typeface="Arial" panose="020B0604020202020204" pitchFamily="34" charset="0"/>
              </a:rPr>
              <a:t>Trials started in 1986. In 1987 the system was overbudget by $35 million, which would rise to $80 million.</a:t>
            </a:r>
          </a:p>
          <a:p>
            <a:pPr>
              <a:buNone/>
            </a:pPr>
            <a:r>
              <a:rPr lang="en-US" sz="2800" dirty="0">
                <a:latin typeface="Calibri" panose="020F0502020204030204" pitchFamily="34" charset="0"/>
                <a:cs typeface="Arial" panose="020B0604020202020204" pitchFamily="34" charset="0"/>
              </a:rPr>
              <a:t>In Feb 1988 hardware problems with </a:t>
            </a:r>
            <a:r>
              <a:rPr lang="en-US" sz="2800" dirty="0">
                <a:solidFill>
                  <a:schemeClr val="tx1">
                    <a:lumMod val="85000"/>
                    <a:lumOff val="15000"/>
                  </a:schemeClr>
                </a:solidFill>
                <a:latin typeface="Calibri" panose="020F0502020204030204" pitchFamily="34" charset="0"/>
                <a:cs typeface="Arial" panose="020B0604020202020204" pitchFamily="34" charset="0"/>
              </a:rPr>
              <a:t>project “</a:t>
            </a:r>
            <a:r>
              <a:rPr lang="en-US" sz="2800" dirty="0" err="1">
                <a:solidFill>
                  <a:schemeClr val="tx1">
                    <a:lumMod val="85000"/>
                    <a:lumOff val="15000"/>
                  </a:schemeClr>
                </a:solidFill>
                <a:latin typeface="Calibri" panose="020F0502020204030204" pitchFamily="34" charset="0"/>
                <a:cs typeface="Arial" panose="020B0604020202020204" pitchFamily="34" charset="0"/>
              </a:rPr>
              <a:t>MasterNet</a:t>
            </a:r>
            <a:r>
              <a:rPr lang="en-US" sz="2800" dirty="0">
                <a:solidFill>
                  <a:schemeClr val="tx1">
                    <a:lumMod val="85000"/>
                    <a:lumOff val="15000"/>
                  </a:schemeClr>
                </a:solidFill>
                <a:latin typeface="Calibri" panose="020F0502020204030204" pitchFamily="34" charset="0"/>
                <a:cs typeface="Arial" panose="020B0604020202020204" pitchFamily="34" charset="0"/>
              </a:rPr>
              <a:t>” </a:t>
            </a:r>
            <a:r>
              <a:rPr lang="en-US" sz="2800" dirty="0">
                <a:latin typeface="Calibri" panose="020F0502020204030204" pitchFamily="34" charset="0"/>
                <a:cs typeface="Arial" panose="020B0604020202020204" pitchFamily="34" charset="0"/>
              </a:rPr>
              <a:t>caused the Bank of America to lose control over several billion dollars in trust accounts. </a:t>
            </a:r>
          </a:p>
          <a:p>
            <a:pPr>
              <a:buNone/>
            </a:pPr>
            <a:r>
              <a:rPr lang="en-US" sz="2800" dirty="0">
                <a:latin typeface="Calibri" panose="020F0502020204030204" pitchFamily="34" charset="0"/>
                <a:cs typeface="Arial" panose="020B0604020202020204" pitchFamily="34" charset="0"/>
              </a:rPr>
              <a:t>All the money was eventually found, but 255 people </a:t>
            </a:r>
            <a:r>
              <a:rPr lang="en-US" sz="2800" b="1" dirty="0">
                <a:solidFill>
                  <a:srgbClr val="C00000"/>
                </a:solidFill>
                <a:latin typeface="Calibri" panose="020F0502020204030204" pitchFamily="34" charset="0"/>
                <a:cs typeface="Arial" panose="020B0604020202020204" pitchFamily="34" charset="0"/>
              </a:rPr>
              <a:t>(the entire Trust department)</a:t>
            </a:r>
            <a:r>
              <a:rPr lang="en-US" sz="2800" dirty="0">
                <a:latin typeface="Calibri" panose="020F0502020204030204" pitchFamily="34" charset="0"/>
                <a:cs typeface="Arial" panose="020B0604020202020204" pitchFamily="34" charset="0"/>
              </a:rPr>
              <a:t> were fired as all the depositors withdrew their money.</a:t>
            </a:r>
          </a:p>
        </p:txBody>
      </p:sp>
      <p:sp>
        <p:nvSpPr>
          <p:cNvPr id="2" name="Footer Placeholder 1"/>
          <p:cNvSpPr>
            <a:spLocks noGrp="1"/>
          </p:cNvSpPr>
          <p:nvPr>
            <p:ph type="ftr" sz="quarter" idx="11"/>
          </p:nvPr>
        </p:nvSpPr>
        <p:spPr/>
        <p:txBody>
          <a:bodyPr/>
          <a:lstStyle/>
          <a:p>
            <a:r>
              <a:rPr lang="en-CA">
                <a:solidFill>
                  <a:prstClr val="black"/>
                </a:solidFill>
              </a:rPr>
              <a:t>G.R. Labbé and R.W.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21</a:t>
            </a:fld>
            <a:endParaRPr lang="en-US" dirty="0">
              <a:solidFill>
                <a:prstClr val="black"/>
              </a:solidFill>
            </a:endParaRPr>
          </a:p>
        </p:txBody>
      </p:sp>
      <p:sp>
        <p:nvSpPr>
          <p:cNvPr id="4" name="Date Placeholder 3">
            <a:extLst>
              <a:ext uri="{FF2B5EF4-FFF2-40B4-BE49-F238E27FC236}">
                <a16:creationId xmlns:a16="http://schemas.microsoft.com/office/drawing/2014/main" id="{87C32306-5CB9-4401-928C-C6D373F2F0FB}"/>
              </a:ext>
            </a:extLst>
          </p:cNvPr>
          <p:cNvSpPr>
            <a:spLocks noGrp="1"/>
          </p:cNvSpPr>
          <p:nvPr>
            <p:ph type="dt" sz="half" idx="10"/>
          </p:nvPr>
        </p:nvSpPr>
        <p:spPr/>
        <p:txBody>
          <a:bodyPr/>
          <a:lstStyle/>
          <a:p>
            <a:r>
              <a:rPr lang="en-US">
                <a:solidFill>
                  <a:prstClr val="black"/>
                </a:solidFill>
              </a:rPr>
              <a:t>1007-21S</a:t>
            </a:r>
            <a:endParaRPr lang="en-US" dirty="0">
              <a:solidFill>
                <a:prstClr val="black"/>
              </a:solidFill>
            </a:endParaRPr>
          </a:p>
        </p:txBody>
      </p:sp>
    </p:spTree>
    <p:extLst>
      <p:ext uri="{BB962C8B-B14F-4D97-AF65-F5344CB8AC3E}">
        <p14:creationId xmlns:p14="http://schemas.microsoft.com/office/powerpoint/2010/main" val="3480733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4250" y="2780928"/>
            <a:ext cx="1809750" cy="1685925"/>
          </a:xfrm>
          <a:prstGeom prst="rect">
            <a:avLst/>
          </a:prstGeom>
        </p:spPr>
      </p:pic>
      <p:sp>
        <p:nvSpPr>
          <p:cNvPr id="24578" name="Rectangle 2"/>
          <p:cNvSpPr>
            <a:spLocks noGrp="1" noChangeArrowheads="1"/>
          </p:cNvSpPr>
          <p:nvPr>
            <p:ph type="title"/>
          </p:nvPr>
        </p:nvSpPr>
        <p:spPr>
          <a:xfrm>
            <a:off x="445068" y="431695"/>
            <a:ext cx="7655323" cy="771900"/>
          </a:xfrm>
        </p:spPr>
        <p:txBody>
          <a:bodyPr>
            <a:normAutofit/>
          </a:bodyPr>
          <a:lstStyle/>
          <a:p>
            <a:r>
              <a:rPr lang="en-US" sz="3600" dirty="0">
                <a:latin typeface="Calibri" panose="020F0502020204030204" pitchFamily="34" charset="0"/>
                <a:cs typeface="Arial" panose="020B0604020202020204" pitchFamily="34" charset="0"/>
              </a:rPr>
              <a:t>Spectacular Project Failures: F.I.A.</a:t>
            </a:r>
          </a:p>
        </p:txBody>
      </p:sp>
      <p:sp>
        <p:nvSpPr>
          <p:cNvPr id="5" name="Content Placeholder 4"/>
          <p:cNvSpPr>
            <a:spLocks noGrp="1"/>
          </p:cNvSpPr>
          <p:nvPr>
            <p:ph idx="1"/>
          </p:nvPr>
        </p:nvSpPr>
        <p:spPr>
          <a:xfrm>
            <a:off x="445069" y="1340768"/>
            <a:ext cx="7727381" cy="4968552"/>
          </a:xfrm>
        </p:spPr>
        <p:txBody>
          <a:bodyPr>
            <a:normAutofit/>
          </a:bodyPr>
          <a:lstStyle/>
          <a:p>
            <a:pPr>
              <a:buNone/>
            </a:pPr>
            <a:r>
              <a:rPr lang="en-US" sz="2400" dirty="0">
                <a:latin typeface="Calibri" panose="020F0502020204030204" pitchFamily="34" charset="0"/>
                <a:cs typeface="Arial" panose="020B0604020202020204" pitchFamily="34" charset="0"/>
              </a:rPr>
              <a:t>Example 2</a:t>
            </a:r>
          </a:p>
          <a:p>
            <a:pPr>
              <a:buNone/>
            </a:pPr>
            <a:r>
              <a:rPr lang="en-US" sz="2400" dirty="0">
                <a:latin typeface="Calibri" panose="020F0502020204030204" pitchFamily="34" charset="0"/>
                <a:cs typeface="Arial" panose="020B0604020202020204" pitchFamily="34" charset="0"/>
              </a:rPr>
              <a:t>In 1997, “</a:t>
            </a:r>
            <a:r>
              <a:rPr lang="en-CA" sz="2400" i="1" dirty="0"/>
              <a:t>Future Imagery Architecture</a:t>
            </a:r>
            <a:r>
              <a:rPr lang="en-CA" sz="2400" dirty="0"/>
              <a:t>”</a:t>
            </a:r>
            <a:r>
              <a:rPr lang="en-US" sz="2400" dirty="0">
                <a:latin typeface="Calibri" panose="020F0502020204030204" pitchFamily="34" charset="0"/>
                <a:cs typeface="Arial" panose="020B0604020202020204" pitchFamily="34" charset="0"/>
              </a:rPr>
              <a:t> $1 billion dollar per year project for new </a:t>
            </a:r>
            <a:r>
              <a:rPr lang="en-US" sz="2400" dirty="0">
                <a:solidFill>
                  <a:srgbClr val="7030A0"/>
                </a:solidFill>
                <a:latin typeface="Calibri" panose="020F0502020204030204" pitchFamily="34" charset="0"/>
                <a:cs typeface="Arial" panose="020B0604020202020204" pitchFamily="34" charset="0"/>
              </a:rPr>
              <a:t>US military spy satellites </a:t>
            </a:r>
            <a:r>
              <a:rPr lang="en-US" sz="2400" dirty="0">
                <a:latin typeface="Calibri" panose="020F0502020204030204" pitchFamily="34" charset="0"/>
                <a:cs typeface="Arial" panose="020B0604020202020204" pitchFamily="34" charset="0"/>
              </a:rPr>
              <a:t>using radar and optics</a:t>
            </a:r>
          </a:p>
          <a:p>
            <a:pPr>
              <a:buNone/>
            </a:pPr>
            <a:r>
              <a:rPr lang="en-US" sz="2400" dirty="0">
                <a:latin typeface="Calibri" panose="020F0502020204030204" pitchFamily="34" charset="0"/>
                <a:cs typeface="Arial" panose="020B0604020202020204" pitchFamily="34" charset="0"/>
              </a:rPr>
              <a:t>Bid won by </a:t>
            </a:r>
            <a:r>
              <a:rPr lang="en-US" sz="2400" b="1" dirty="0">
                <a:latin typeface="Calibri" panose="020F0502020204030204" pitchFamily="34" charset="0"/>
                <a:cs typeface="Arial" panose="020B0604020202020204" pitchFamily="34" charset="0"/>
              </a:rPr>
              <a:t>Boeing</a:t>
            </a:r>
            <a:r>
              <a:rPr lang="en-US" sz="2400" dirty="0">
                <a:latin typeface="Calibri" panose="020F0502020204030204" pitchFamily="34" charset="0"/>
                <a:cs typeface="Arial" panose="020B0604020202020204" pitchFamily="34" charset="0"/>
              </a:rPr>
              <a:t>, who had never built an imaging satellite before</a:t>
            </a:r>
          </a:p>
          <a:p>
            <a:pPr>
              <a:buNone/>
            </a:pPr>
            <a:r>
              <a:rPr lang="en-US" sz="2400" dirty="0">
                <a:latin typeface="Calibri" panose="020F0502020204030204" pitchFamily="34" charset="0"/>
                <a:cs typeface="Arial" panose="020B0604020202020204" pitchFamily="34" charset="0"/>
              </a:rPr>
              <a:t>During the bid stage Boeing </a:t>
            </a:r>
            <a:r>
              <a:rPr lang="en-US" sz="2400" b="1" dirty="0">
                <a:latin typeface="Calibri" panose="020F0502020204030204" pitchFamily="34" charset="0"/>
                <a:cs typeface="Arial" panose="020B0604020202020204" pitchFamily="34" charset="0"/>
              </a:rPr>
              <a:t>internally predicted </a:t>
            </a:r>
            <a:r>
              <a:rPr lang="en-US" sz="2400" dirty="0">
                <a:latin typeface="Calibri" panose="020F0502020204030204" pitchFamily="34" charset="0"/>
                <a:cs typeface="Arial" panose="020B0604020202020204" pitchFamily="34" charset="0"/>
              </a:rPr>
              <a:t>a </a:t>
            </a:r>
            <a:r>
              <a:rPr lang="en-US" sz="2400" dirty="0">
                <a:solidFill>
                  <a:srgbClr val="7030A0"/>
                </a:solidFill>
                <a:latin typeface="Calibri" panose="020F0502020204030204" pitchFamily="34" charset="0"/>
                <a:cs typeface="Arial" panose="020B0604020202020204" pitchFamily="34" charset="0"/>
              </a:rPr>
              <a:t>cost overrun</a:t>
            </a:r>
            <a:r>
              <a:rPr lang="en-US" sz="2400" dirty="0">
                <a:latin typeface="Calibri" panose="020F0502020204030204" pitchFamily="34" charset="0"/>
                <a:cs typeface="Arial" panose="020B0604020202020204" pitchFamily="34" charset="0"/>
              </a:rPr>
              <a:t> of $4 billion</a:t>
            </a:r>
          </a:p>
          <a:p>
            <a:pPr>
              <a:buNone/>
            </a:pPr>
            <a:r>
              <a:rPr lang="en-US" sz="2400" dirty="0">
                <a:latin typeface="Calibri" panose="020F0502020204030204" pitchFamily="34" charset="0"/>
                <a:cs typeface="Arial" panose="020B0604020202020204" pitchFamily="34" charset="0"/>
              </a:rPr>
              <a:t>Pentagon cost-estimator predicted the project would go overbudget</a:t>
            </a:r>
          </a:p>
          <a:p>
            <a:pPr>
              <a:buNone/>
            </a:pPr>
            <a:r>
              <a:rPr lang="en-US" sz="2400" dirty="0">
                <a:latin typeface="Calibri" panose="020F0502020204030204" pitchFamily="34" charset="0"/>
                <a:cs typeface="Arial" panose="020B0604020202020204" pitchFamily="34" charset="0"/>
              </a:rPr>
              <a:t>First satellite to be launched in 2004, but signs of failure in 2001</a:t>
            </a:r>
          </a:p>
          <a:p>
            <a:pPr>
              <a:buNone/>
            </a:pPr>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363095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4250" y="2780928"/>
            <a:ext cx="1809750" cy="1685925"/>
          </a:xfrm>
          <a:prstGeom prst="rect">
            <a:avLst/>
          </a:prstGeom>
        </p:spPr>
      </p:pic>
      <p:sp>
        <p:nvSpPr>
          <p:cNvPr id="24578" name="Rectangle 2"/>
          <p:cNvSpPr>
            <a:spLocks noGrp="1" noChangeArrowheads="1"/>
          </p:cNvSpPr>
          <p:nvPr>
            <p:ph type="title"/>
          </p:nvPr>
        </p:nvSpPr>
        <p:spPr>
          <a:xfrm>
            <a:off x="445068" y="431695"/>
            <a:ext cx="7655323" cy="771900"/>
          </a:xfrm>
        </p:spPr>
        <p:txBody>
          <a:bodyPr>
            <a:normAutofit/>
          </a:bodyPr>
          <a:lstStyle/>
          <a:p>
            <a:r>
              <a:rPr lang="en-US" sz="3600" dirty="0">
                <a:latin typeface="Calibri" panose="020F0502020204030204" pitchFamily="34" charset="0"/>
                <a:cs typeface="Arial" panose="020B0604020202020204" pitchFamily="34" charset="0"/>
              </a:rPr>
              <a:t>Spectacular Project Failures: F.I.A.</a:t>
            </a:r>
          </a:p>
        </p:txBody>
      </p:sp>
      <p:sp>
        <p:nvSpPr>
          <p:cNvPr id="5" name="Content Placeholder 4"/>
          <p:cNvSpPr>
            <a:spLocks noGrp="1"/>
          </p:cNvSpPr>
          <p:nvPr>
            <p:ph idx="1"/>
          </p:nvPr>
        </p:nvSpPr>
        <p:spPr>
          <a:xfrm>
            <a:off x="445069" y="1340768"/>
            <a:ext cx="8363272" cy="4968552"/>
          </a:xfrm>
        </p:spPr>
        <p:txBody>
          <a:bodyPr>
            <a:normAutofit/>
          </a:bodyPr>
          <a:lstStyle/>
          <a:p>
            <a:pPr>
              <a:buNone/>
            </a:pPr>
            <a:r>
              <a:rPr lang="en-US" sz="2400" dirty="0">
                <a:latin typeface="Calibri" panose="020F0502020204030204" pitchFamily="34" charset="0"/>
                <a:cs typeface="Arial" panose="020B0604020202020204" pitchFamily="34" charset="0"/>
              </a:rPr>
              <a:t>Boeing </a:t>
            </a:r>
            <a:r>
              <a:rPr lang="en-US" sz="2400" dirty="0">
                <a:solidFill>
                  <a:srgbClr val="7030A0"/>
                </a:solidFill>
                <a:latin typeface="Calibri" panose="020F0502020204030204" pitchFamily="34" charset="0"/>
                <a:cs typeface="Arial" panose="020B0604020202020204" pitchFamily="34" charset="0"/>
              </a:rPr>
              <a:t>cut back on testing </a:t>
            </a:r>
            <a:r>
              <a:rPr lang="en-US" sz="2400" dirty="0">
                <a:latin typeface="Calibri" panose="020F0502020204030204" pitchFamily="34" charset="0"/>
                <a:cs typeface="Arial" panose="020B0604020202020204" pitchFamily="34" charset="0"/>
              </a:rPr>
              <a:t>to save money</a:t>
            </a:r>
          </a:p>
          <a:p>
            <a:pPr>
              <a:buNone/>
            </a:pPr>
            <a:r>
              <a:rPr lang="en-US" sz="2400" dirty="0">
                <a:latin typeface="Calibri" panose="020F0502020204030204" pitchFamily="34" charset="0"/>
                <a:cs typeface="Arial" panose="020B0604020202020204" pitchFamily="34" charset="0"/>
              </a:rPr>
              <a:t>Defective parts caused delays. Gyroscope defects due to a </a:t>
            </a:r>
            <a:r>
              <a:rPr lang="en-US" sz="2400" dirty="0">
                <a:solidFill>
                  <a:srgbClr val="7030A0"/>
                </a:solidFill>
                <a:latin typeface="Calibri" panose="020F0502020204030204" pitchFamily="34" charset="0"/>
                <a:cs typeface="Arial" panose="020B0604020202020204" pitchFamily="34" charset="0"/>
              </a:rPr>
              <a:t>change in manufacturing process </a:t>
            </a:r>
            <a:r>
              <a:rPr lang="en-US" sz="2400" dirty="0">
                <a:latin typeface="Calibri" panose="020F0502020204030204" pitchFamily="34" charset="0"/>
                <a:cs typeface="Arial" panose="020B0604020202020204" pitchFamily="34" charset="0"/>
              </a:rPr>
              <a:t>by a subcontractor, not discovered for three years</a:t>
            </a:r>
          </a:p>
          <a:p>
            <a:pPr>
              <a:buNone/>
            </a:pPr>
            <a:r>
              <a:rPr lang="en-US" sz="2400" dirty="0">
                <a:latin typeface="Calibri" panose="020F0502020204030204" pitchFamily="34" charset="0"/>
                <a:cs typeface="Arial" panose="020B0604020202020204" pitchFamily="34" charset="0"/>
              </a:rPr>
              <a:t>(Tin used by suppliers, which creates “tin whiskers” in space)</a:t>
            </a:r>
          </a:p>
          <a:p>
            <a:pPr>
              <a:buNone/>
            </a:pPr>
            <a:r>
              <a:rPr lang="en-US" sz="2400" dirty="0">
                <a:latin typeface="Calibri" panose="020F0502020204030204" pitchFamily="34" charset="0"/>
                <a:cs typeface="Arial" panose="020B0604020202020204" pitchFamily="34" charset="0"/>
              </a:rPr>
              <a:t>Government ordered </a:t>
            </a:r>
            <a:r>
              <a:rPr lang="en-US" sz="2400" dirty="0">
                <a:solidFill>
                  <a:srgbClr val="7030A0"/>
                </a:solidFill>
                <a:latin typeface="Calibri" panose="020F0502020204030204" pitchFamily="34" charset="0"/>
                <a:cs typeface="Arial" panose="020B0604020202020204" pitchFamily="34" charset="0"/>
              </a:rPr>
              <a:t>design changes </a:t>
            </a:r>
            <a:r>
              <a:rPr lang="en-US" sz="2400" dirty="0">
                <a:latin typeface="Calibri" panose="020F0502020204030204" pitchFamily="34" charset="0"/>
                <a:cs typeface="Arial" panose="020B0604020202020204" pitchFamily="34" charset="0"/>
              </a:rPr>
              <a:t>to add functionality to satellites</a:t>
            </a:r>
          </a:p>
          <a:p>
            <a:pPr>
              <a:buNone/>
            </a:pPr>
            <a:r>
              <a:rPr lang="en-US" sz="2400" dirty="0">
                <a:latin typeface="Calibri" panose="020F0502020204030204" pitchFamily="34" charset="0"/>
                <a:cs typeface="Arial" panose="020B0604020202020204" pitchFamily="34" charset="0"/>
              </a:rPr>
              <a:t>Costs increased to </a:t>
            </a:r>
            <a:r>
              <a:rPr lang="en-US" sz="2400" b="1" dirty="0">
                <a:latin typeface="Calibri" panose="020F0502020204030204" pitchFamily="34" charset="0"/>
                <a:cs typeface="Arial" panose="020B0604020202020204" pitchFamily="34" charset="0"/>
              </a:rPr>
              <a:t>$18 billion </a:t>
            </a:r>
            <a:r>
              <a:rPr lang="en-US" sz="2400" dirty="0">
                <a:latin typeface="Calibri" panose="020F0502020204030204" pitchFamily="34" charset="0"/>
                <a:cs typeface="Arial" panose="020B0604020202020204" pitchFamily="34" charset="0"/>
              </a:rPr>
              <a:t>by 2005</a:t>
            </a:r>
          </a:p>
          <a:p>
            <a:pPr>
              <a:buNone/>
            </a:pPr>
            <a:r>
              <a:rPr lang="en-US" sz="2400" dirty="0">
                <a:latin typeface="Calibri" panose="020F0502020204030204" pitchFamily="34" charset="0"/>
                <a:cs typeface="Arial" panose="020B0604020202020204" pitchFamily="34" charset="0"/>
              </a:rPr>
              <a:t>“</a:t>
            </a:r>
            <a:r>
              <a:rPr lang="en-CA" sz="2400" b="1" dirty="0"/>
              <a:t>USA-193” launched in 2006</a:t>
            </a:r>
            <a:r>
              <a:rPr lang="en-CA" sz="2400" dirty="0"/>
              <a:t>, lost contact with ground within hours</a:t>
            </a:r>
          </a:p>
          <a:p>
            <a:pPr>
              <a:buNone/>
            </a:pPr>
            <a:r>
              <a:rPr lang="en-CA" sz="2400" b="1" dirty="0"/>
              <a:t>Destroyed in 2008</a:t>
            </a:r>
            <a:r>
              <a:rPr lang="en-CA" sz="2400" dirty="0"/>
              <a:t> by a missile fired from the USS </a:t>
            </a:r>
            <a:r>
              <a:rPr lang="en-CA" sz="2400" i="1" dirty="0"/>
              <a:t>Lake Erie</a:t>
            </a:r>
            <a:endParaRPr lang="en-CA" sz="2400" b="1" i="1" dirty="0"/>
          </a:p>
          <a:p>
            <a:pPr>
              <a:buNone/>
            </a:pPr>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1060327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45068" y="431695"/>
            <a:ext cx="8447411" cy="771900"/>
          </a:xfrm>
        </p:spPr>
        <p:txBody>
          <a:bodyPr>
            <a:normAutofit fontScale="90000"/>
          </a:bodyPr>
          <a:lstStyle/>
          <a:p>
            <a:r>
              <a:rPr lang="en-US" sz="3600" dirty="0">
                <a:latin typeface="Calibri" panose="020F0502020204030204" pitchFamily="34" charset="0"/>
                <a:cs typeface="Arial" panose="020B0604020202020204" pitchFamily="34" charset="0"/>
              </a:rPr>
              <a:t>Spectacular Project Failures: 1995 Canadian Firearms Registry</a:t>
            </a:r>
          </a:p>
        </p:txBody>
      </p:sp>
      <p:sp>
        <p:nvSpPr>
          <p:cNvPr id="5" name="Content Placeholder 4"/>
          <p:cNvSpPr>
            <a:spLocks noGrp="1"/>
          </p:cNvSpPr>
          <p:nvPr>
            <p:ph idx="1"/>
          </p:nvPr>
        </p:nvSpPr>
        <p:spPr>
          <a:xfrm>
            <a:off x="445069" y="1340768"/>
            <a:ext cx="8363272" cy="4968552"/>
          </a:xfrm>
        </p:spPr>
        <p:txBody>
          <a:bodyPr>
            <a:normAutofit lnSpcReduction="10000"/>
          </a:bodyPr>
          <a:lstStyle/>
          <a:p>
            <a:r>
              <a:rPr lang="en-US" sz="2400" dirty="0">
                <a:latin typeface="Calibri" panose="020F0502020204030204" pitchFamily="34" charset="0"/>
                <a:cs typeface="Arial" panose="020B0604020202020204" pitchFamily="34" charset="0"/>
              </a:rPr>
              <a:t>Example 3</a:t>
            </a:r>
          </a:p>
          <a:p>
            <a:r>
              <a:rPr lang="en-US" altLang="en-US" sz="2400" b="1" dirty="0">
                <a:latin typeface="Times" panose="02020603050405020304" pitchFamily="18" charset="0"/>
              </a:rPr>
              <a:t>Part of the Firearms Act of 1995</a:t>
            </a:r>
          </a:p>
          <a:p>
            <a:r>
              <a:rPr lang="en-US" altLang="en-US" sz="2400" dirty="0">
                <a:latin typeface="Times" panose="02020603050405020304" pitchFamily="18" charset="0"/>
              </a:rPr>
              <a:t>Estimated cost of </a:t>
            </a:r>
            <a:r>
              <a:rPr lang="en-US" altLang="en-US" sz="2400" b="1" dirty="0">
                <a:latin typeface="Times" panose="02020603050405020304" pitchFamily="18" charset="0"/>
              </a:rPr>
              <a:t>$119 million </a:t>
            </a:r>
            <a:r>
              <a:rPr lang="en-US" altLang="en-US" sz="2400" dirty="0">
                <a:latin typeface="Times" panose="02020603050405020304" pitchFamily="18" charset="0"/>
              </a:rPr>
              <a:t>to implement, and generate </a:t>
            </a:r>
            <a:r>
              <a:rPr lang="en-US" altLang="en-US" sz="2400" b="1" dirty="0">
                <a:latin typeface="Times" panose="02020603050405020304" pitchFamily="18" charset="0"/>
              </a:rPr>
              <a:t>$117 million </a:t>
            </a:r>
            <a:r>
              <a:rPr lang="en-US" altLang="en-US" sz="2400" dirty="0">
                <a:latin typeface="Times" panose="02020603050405020304" pitchFamily="18" charset="0"/>
              </a:rPr>
              <a:t>in licence fees</a:t>
            </a:r>
          </a:p>
          <a:p>
            <a:r>
              <a:rPr lang="en-US" altLang="en-US" sz="2400" dirty="0">
                <a:latin typeface="Times" panose="02020603050405020304" pitchFamily="18" charset="0"/>
              </a:rPr>
              <a:t>All firearms required registration, not just restricted. Included a </a:t>
            </a:r>
            <a:r>
              <a:rPr lang="en-US" altLang="en-US" sz="2400" b="1" dirty="0">
                <a:latin typeface="Times" panose="02020603050405020304" pitchFamily="18" charset="0"/>
              </a:rPr>
              <a:t>Long Gun Registry</a:t>
            </a:r>
          </a:p>
          <a:p>
            <a:r>
              <a:rPr lang="en-US" altLang="en-US" sz="2400" dirty="0">
                <a:latin typeface="Times" panose="02020603050405020304" pitchFamily="18" charset="0"/>
              </a:rPr>
              <a:t>By 2001 costs rose to </a:t>
            </a:r>
            <a:r>
              <a:rPr lang="en-US" altLang="en-US" sz="2400" b="1" dirty="0">
                <a:latin typeface="Times" panose="02020603050405020304" pitchFamily="18" charset="0"/>
              </a:rPr>
              <a:t>$527 million</a:t>
            </a:r>
            <a:r>
              <a:rPr lang="en-US" altLang="en-US" sz="2400" dirty="0">
                <a:latin typeface="Times" panose="02020603050405020304" pitchFamily="18" charset="0"/>
              </a:rPr>
              <a:t>. Difficulty tracking licence fees due to computer system used. </a:t>
            </a:r>
            <a:r>
              <a:rPr lang="en-CA" altLang="en-US" sz="2400" dirty="0">
                <a:latin typeface="Times" panose="02020603050405020304" pitchFamily="18" charset="0"/>
              </a:rPr>
              <a:t>$227 million in computer costs, including complicated application forms that slowed processing times; and $332 million for other programming costs, including money to pay staff to process the forms</a:t>
            </a:r>
            <a:endParaRPr lang="en-US" altLang="en-US" sz="2400" dirty="0">
              <a:latin typeface="Times" panose="02020603050405020304" pitchFamily="18" charset="0"/>
            </a:endParaRPr>
          </a:p>
          <a:p>
            <a:r>
              <a:rPr lang="en-US" altLang="en-US" sz="2400" dirty="0">
                <a:latin typeface="Times" panose="02020603050405020304" pitchFamily="18" charset="0"/>
              </a:rPr>
              <a:t>2002 audit predicted a total cost of </a:t>
            </a:r>
            <a:r>
              <a:rPr lang="en-US" altLang="en-US" sz="2400" b="1" dirty="0">
                <a:latin typeface="Times" panose="02020603050405020304" pitchFamily="18" charset="0"/>
              </a:rPr>
              <a:t>$1 billion</a:t>
            </a:r>
            <a:r>
              <a:rPr lang="en-US" altLang="en-US" sz="2400" dirty="0">
                <a:latin typeface="Times" panose="02020603050405020304" pitchFamily="18" charset="0"/>
              </a:rPr>
              <a:t>, with total fees of $140 million</a:t>
            </a:r>
          </a:p>
          <a:p>
            <a:endParaRPr lang="en-US" altLang="en-US" sz="2400" dirty="0">
              <a:latin typeface="Times" panose="02020603050405020304" pitchFamily="18" charset="0"/>
            </a:endParaRPr>
          </a:p>
          <a:p>
            <a:endParaRPr lang="en-US" altLang="en-US" sz="2400" dirty="0">
              <a:latin typeface="Times" panose="02020603050405020304" pitchFamily="18" charset="0"/>
            </a:endParaRPr>
          </a:p>
          <a:p>
            <a:endParaRPr lang="en-US" altLang="en-US" sz="2400" b="1" dirty="0">
              <a:latin typeface="Palatino" charset="0"/>
            </a:endParaRPr>
          </a:p>
          <a:p>
            <a:pPr>
              <a:buNone/>
            </a:pPr>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76324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4168" y="818500"/>
            <a:ext cx="2871205" cy="1512168"/>
          </a:xfrm>
          <a:prstGeom prst="rect">
            <a:avLst/>
          </a:prstGeom>
        </p:spPr>
      </p:pic>
      <p:sp>
        <p:nvSpPr>
          <p:cNvPr id="24578" name="Rectangle 2"/>
          <p:cNvSpPr>
            <a:spLocks noGrp="1" noChangeArrowheads="1"/>
          </p:cNvSpPr>
          <p:nvPr>
            <p:ph type="title"/>
          </p:nvPr>
        </p:nvSpPr>
        <p:spPr>
          <a:xfrm>
            <a:off x="445068" y="431695"/>
            <a:ext cx="8447411" cy="771900"/>
          </a:xfrm>
        </p:spPr>
        <p:txBody>
          <a:bodyPr>
            <a:normAutofit fontScale="90000"/>
          </a:bodyPr>
          <a:lstStyle/>
          <a:p>
            <a:r>
              <a:rPr lang="en-US" sz="3600" dirty="0">
                <a:latin typeface="Calibri" panose="020F0502020204030204" pitchFamily="34" charset="0"/>
                <a:cs typeface="Arial" panose="020B0604020202020204" pitchFamily="34" charset="0"/>
              </a:rPr>
              <a:t>Spectacular Project Failures: 1995 Canadian Firearms Registry</a:t>
            </a:r>
          </a:p>
        </p:txBody>
      </p:sp>
      <p:sp>
        <p:nvSpPr>
          <p:cNvPr id="5" name="Content Placeholder 4"/>
          <p:cNvSpPr>
            <a:spLocks noGrp="1"/>
          </p:cNvSpPr>
          <p:nvPr>
            <p:ph idx="1"/>
          </p:nvPr>
        </p:nvSpPr>
        <p:spPr>
          <a:xfrm>
            <a:off x="445069" y="1340768"/>
            <a:ext cx="8363272" cy="4968552"/>
          </a:xfrm>
        </p:spPr>
        <p:txBody>
          <a:bodyPr>
            <a:normAutofit fontScale="92500" lnSpcReduction="20000"/>
          </a:bodyPr>
          <a:lstStyle/>
          <a:p>
            <a:r>
              <a:rPr lang="en-US" altLang="en-US" sz="2400" dirty="0">
                <a:latin typeface="Times" panose="02020603050405020304" pitchFamily="18" charset="0"/>
              </a:rPr>
              <a:t>Failure to understand project </a:t>
            </a:r>
            <a:r>
              <a:rPr lang="en-US" altLang="en-US" sz="2400" b="1" dirty="0">
                <a:latin typeface="Times" panose="02020603050405020304" pitchFamily="18" charset="0"/>
              </a:rPr>
              <a:t>scope</a:t>
            </a:r>
          </a:p>
          <a:p>
            <a:r>
              <a:rPr lang="en-US" altLang="en-US" sz="2400" dirty="0">
                <a:latin typeface="Times" panose="02020603050405020304" pitchFamily="18" charset="0"/>
              </a:rPr>
              <a:t>Failure to plan for </a:t>
            </a:r>
            <a:r>
              <a:rPr lang="en-US" altLang="en-US" sz="2400" dirty="0">
                <a:solidFill>
                  <a:srgbClr val="7030A0"/>
                </a:solidFill>
                <a:latin typeface="Times" panose="02020603050405020304" pitchFamily="18" charset="0"/>
              </a:rPr>
              <a:t>inter-agency cooperation</a:t>
            </a:r>
          </a:p>
          <a:p>
            <a:r>
              <a:rPr lang="en-US" altLang="en-US" sz="2400" dirty="0">
                <a:latin typeface="Times" panose="02020603050405020304" pitchFamily="18" charset="0"/>
              </a:rPr>
              <a:t>Information criteria differed across agencies</a:t>
            </a:r>
          </a:p>
          <a:p>
            <a:r>
              <a:rPr lang="en-US" altLang="en-US" sz="2400" dirty="0">
                <a:latin typeface="Times" panose="02020603050405020304" pitchFamily="18" charset="0"/>
              </a:rPr>
              <a:t>Failure to </a:t>
            </a:r>
            <a:r>
              <a:rPr lang="en-US" altLang="en-US" sz="2400" dirty="0">
                <a:solidFill>
                  <a:srgbClr val="7030A0"/>
                </a:solidFill>
                <a:latin typeface="Times" panose="02020603050405020304" pitchFamily="18" charset="0"/>
              </a:rPr>
              <a:t>consult</a:t>
            </a:r>
            <a:r>
              <a:rPr lang="en-US" altLang="en-US" sz="2400" dirty="0">
                <a:latin typeface="Times" panose="02020603050405020304" pitchFamily="18" charset="0"/>
              </a:rPr>
              <a:t> with owners, provinces, or Natives</a:t>
            </a:r>
          </a:p>
          <a:p>
            <a:r>
              <a:rPr lang="en-US" altLang="en-US" sz="2400" dirty="0">
                <a:latin typeface="Times" panose="02020603050405020304" pitchFamily="18" charset="0"/>
              </a:rPr>
              <a:t>Government cover-up of costs</a:t>
            </a:r>
          </a:p>
          <a:p>
            <a:r>
              <a:rPr lang="en-US" altLang="en-US" sz="2400" dirty="0">
                <a:latin typeface="Times" panose="02020603050405020304" pitchFamily="18" charset="0"/>
              </a:rPr>
              <a:t>The program did not </a:t>
            </a:r>
            <a:r>
              <a:rPr lang="en-US" altLang="en-US" sz="2400" dirty="0">
                <a:solidFill>
                  <a:srgbClr val="7030A0"/>
                </a:solidFill>
                <a:latin typeface="Times" panose="02020603050405020304" pitchFamily="18" charset="0"/>
              </a:rPr>
              <a:t>collect information </a:t>
            </a:r>
            <a:r>
              <a:rPr lang="en-US" altLang="en-US" sz="2400" dirty="0">
                <a:latin typeface="Times" panose="02020603050405020304" pitchFamily="18" charset="0"/>
              </a:rPr>
              <a:t>on the effectiveness of the registry</a:t>
            </a:r>
          </a:p>
          <a:p>
            <a:r>
              <a:rPr lang="en-US" altLang="en-US" sz="2400" dirty="0">
                <a:latin typeface="Times" panose="02020603050405020304" pitchFamily="18" charset="0"/>
              </a:rPr>
              <a:t>RCMP told Auditor General they do not trust the information (2004)</a:t>
            </a:r>
          </a:p>
          <a:p>
            <a:r>
              <a:rPr lang="en-US" altLang="en-US" sz="2400" dirty="0">
                <a:latin typeface="Times" panose="02020603050405020304" pitchFamily="18" charset="0"/>
              </a:rPr>
              <a:t>Toronto Police Chief reports (2003) the system has not helped solve a single homicide</a:t>
            </a:r>
          </a:p>
          <a:p>
            <a:r>
              <a:rPr lang="en-US" altLang="en-US" sz="2400" dirty="0">
                <a:latin typeface="Times" panose="02020603050405020304" pitchFamily="18" charset="0"/>
              </a:rPr>
              <a:t>Police Association of Ontario said they fail to get information requested 95% of the time (2002)</a:t>
            </a:r>
          </a:p>
          <a:p>
            <a:r>
              <a:rPr lang="en-US" altLang="en-US" sz="2400" dirty="0">
                <a:latin typeface="Times" panose="02020603050405020304" pitchFamily="18" charset="0"/>
              </a:rPr>
              <a:t>Long Gun Registry </a:t>
            </a:r>
            <a:r>
              <a:rPr lang="en-US" altLang="en-US" sz="2400" b="1" dirty="0">
                <a:latin typeface="Times" panose="02020603050405020304" pitchFamily="18" charset="0"/>
              </a:rPr>
              <a:t>dissolved in 2012</a:t>
            </a:r>
            <a:r>
              <a:rPr lang="en-US" altLang="en-US" sz="2400" dirty="0">
                <a:latin typeface="Times" panose="02020603050405020304" pitchFamily="18" charset="0"/>
              </a:rPr>
              <a:t>, records destroyed in 2015</a:t>
            </a:r>
          </a:p>
          <a:p>
            <a:endParaRPr lang="en-US" altLang="en-US" sz="2400" dirty="0">
              <a:latin typeface="Times" panose="02020603050405020304" pitchFamily="18" charset="0"/>
            </a:endParaRPr>
          </a:p>
          <a:p>
            <a:endParaRPr lang="en-US" altLang="en-US" sz="2400" dirty="0">
              <a:latin typeface="Times" panose="02020603050405020304" pitchFamily="18" charset="0"/>
            </a:endParaRPr>
          </a:p>
          <a:p>
            <a:endParaRPr lang="en-US" altLang="en-US" sz="2400" b="1" dirty="0">
              <a:latin typeface="Palatino" charset="0"/>
            </a:endParaRPr>
          </a:p>
          <a:p>
            <a:pPr>
              <a:buNone/>
            </a:pPr>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1982077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45069" y="431694"/>
            <a:ext cx="4919019" cy="1423275"/>
          </a:xfrm>
        </p:spPr>
        <p:txBody>
          <a:bodyPr>
            <a:normAutofit/>
          </a:bodyPr>
          <a:lstStyle/>
          <a:p>
            <a:r>
              <a:rPr lang="en-US" sz="3600" dirty="0">
                <a:latin typeface="Calibri" panose="020F0502020204030204" pitchFamily="34" charset="0"/>
                <a:cs typeface="Arial" panose="020B0604020202020204" pitchFamily="34" charset="0"/>
              </a:rPr>
              <a:t>Spectacular Project Failures: </a:t>
            </a:r>
            <a:r>
              <a:rPr lang="en-US" sz="3600" dirty="0" err="1">
                <a:latin typeface="Calibri" panose="020F0502020204030204" pitchFamily="34" charset="0"/>
                <a:cs typeface="Arial" panose="020B0604020202020204" pitchFamily="34" charset="0"/>
              </a:rPr>
              <a:t>CHAnnel</a:t>
            </a:r>
            <a:endParaRPr lang="en-US" sz="3600" dirty="0">
              <a:latin typeface="Calibri" panose="020F0502020204030204" pitchFamily="34" charset="0"/>
              <a:cs typeface="Arial" panose="020B0604020202020204" pitchFamily="34" charset="0"/>
            </a:endParaRPr>
          </a:p>
        </p:txBody>
      </p:sp>
      <p:sp>
        <p:nvSpPr>
          <p:cNvPr id="5" name="Content Placeholder 4"/>
          <p:cNvSpPr>
            <a:spLocks noGrp="1"/>
          </p:cNvSpPr>
          <p:nvPr>
            <p:ph idx="1"/>
          </p:nvPr>
        </p:nvSpPr>
        <p:spPr>
          <a:xfrm>
            <a:off x="445069" y="2214662"/>
            <a:ext cx="8363272" cy="3707587"/>
          </a:xfrm>
        </p:spPr>
        <p:txBody>
          <a:bodyPr>
            <a:normAutofit/>
          </a:bodyPr>
          <a:lstStyle/>
          <a:p>
            <a:pPr>
              <a:buNone/>
            </a:pPr>
            <a:r>
              <a:rPr lang="en-US" sz="2400" dirty="0">
                <a:latin typeface="Calibri" panose="020F0502020204030204" pitchFamily="34" charset="0"/>
                <a:cs typeface="Arial" panose="020B0604020202020204" pitchFamily="34" charset="0"/>
              </a:rPr>
              <a:t>Example 4</a:t>
            </a:r>
          </a:p>
          <a:p>
            <a:pPr>
              <a:buNone/>
            </a:pPr>
            <a:r>
              <a:rPr lang="en-US" sz="2400" dirty="0">
                <a:latin typeface="Calibri" panose="020F0502020204030204" pitchFamily="34" charset="0"/>
                <a:cs typeface="Arial" panose="020B0604020202020204" pitchFamily="34" charset="0"/>
              </a:rPr>
              <a:t>The English Channel Tunnel was budgeted for in 1979 </a:t>
            </a:r>
            <a:r>
              <a:rPr lang="en-US" sz="2400" b="1" dirty="0">
                <a:latin typeface="Calibri" panose="020F0502020204030204" pitchFamily="34" charset="0"/>
                <a:cs typeface="Arial" panose="020B0604020202020204" pitchFamily="34" charset="0"/>
              </a:rPr>
              <a:t>$7 billion CAD</a:t>
            </a:r>
            <a:r>
              <a:rPr lang="en-US" sz="2400" dirty="0">
                <a:latin typeface="Calibri" panose="020F0502020204030204" pitchFamily="34" charset="0"/>
                <a:cs typeface="Arial" panose="020B0604020202020204" pitchFamily="34" charset="0"/>
              </a:rPr>
              <a:t> </a:t>
            </a:r>
            <a:r>
              <a:rPr lang="en-US" sz="2400" i="1" dirty="0">
                <a:latin typeface="Calibri" panose="020F0502020204030204" pitchFamily="34" charset="0"/>
                <a:cs typeface="Arial" panose="020B0604020202020204" pitchFamily="34" charset="0"/>
              </a:rPr>
              <a:t>(£4 billion)</a:t>
            </a:r>
            <a:r>
              <a:rPr lang="en-US" sz="2400" dirty="0">
                <a:latin typeface="Calibri" panose="020F0502020204030204" pitchFamily="34" charset="0"/>
                <a:cs typeface="Arial" panose="020B0604020202020204" pitchFamily="34" charset="0"/>
              </a:rPr>
              <a:t> </a:t>
            </a:r>
          </a:p>
          <a:p>
            <a:pPr>
              <a:buNone/>
            </a:pPr>
            <a:r>
              <a:rPr lang="en-US" sz="2400" dirty="0">
                <a:latin typeface="Calibri" panose="020F0502020204030204" pitchFamily="34" charset="0"/>
                <a:cs typeface="Arial" panose="020B0604020202020204" pitchFamily="34" charset="0"/>
              </a:rPr>
              <a:t>Construction began in 1988</a:t>
            </a:r>
          </a:p>
          <a:p>
            <a:pPr>
              <a:buNone/>
            </a:pPr>
            <a:r>
              <a:rPr lang="en-US" sz="2400" dirty="0">
                <a:latin typeface="Calibri" panose="020F0502020204030204" pitchFamily="34" charset="0"/>
                <a:cs typeface="Arial" panose="020B0604020202020204" pitchFamily="34" charset="0"/>
              </a:rPr>
              <a:t>Pilot hole complete in 1990</a:t>
            </a:r>
          </a:p>
          <a:p>
            <a:pPr>
              <a:buNone/>
            </a:pPr>
            <a:r>
              <a:rPr lang="en-US" sz="2400" dirty="0">
                <a:latin typeface="Calibri" panose="020F0502020204030204" pitchFamily="34" charset="0"/>
                <a:cs typeface="Arial" panose="020B0604020202020204" pitchFamily="34" charset="0"/>
              </a:rPr>
              <a:t>Opened in 1994 (one year late) for a total cost of </a:t>
            </a:r>
            <a:r>
              <a:rPr lang="en-US" sz="2400" b="1" dirty="0">
                <a:latin typeface="Calibri" panose="020F0502020204030204" pitchFamily="34" charset="0"/>
                <a:cs typeface="Arial" panose="020B0604020202020204" pitchFamily="34" charset="0"/>
              </a:rPr>
              <a:t>$13 billion CAD</a:t>
            </a:r>
          </a:p>
          <a:p>
            <a:pPr>
              <a:buNone/>
            </a:pPr>
            <a:r>
              <a:rPr lang="en-US" sz="2400" dirty="0">
                <a:latin typeface="Calibri" panose="020F0502020204030204" pitchFamily="34" charset="0"/>
                <a:cs typeface="Arial" panose="020B0604020202020204" pitchFamily="34" charset="0"/>
              </a:rPr>
              <a:t> </a:t>
            </a:r>
            <a:r>
              <a:rPr lang="en-US" sz="2400" i="1" dirty="0">
                <a:latin typeface="Calibri" panose="020F0502020204030204" pitchFamily="34" charset="0"/>
                <a:cs typeface="Arial" panose="020B0604020202020204" pitchFamily="34" charset="0"/>
              </a:rPr>
              <a:t>(£7.4 billion)</a:t>
            </a:r>
          </a:p>
          <a:p>
            <a:pPr>
              <a:buNone/>
            </a:pPr>
            <a:endParaRPr lang="en-US" sz="2400" i="1" dirty="0">
              <a:latin typeface="Calibri" panose="020F0502020204030204" pitchFamily="34" charset="0"/>
              <a:cs typeface="Arial" panose="020B0604020202020204" pitchFamily="34" charset="0"/>
            </a:endParaRPr>
          </a:p>
          <a:p>
            <a:pPr>
              <a:buNone/>
            </a:pPr>
            <a:endParaRPr lang="en-US" dirty="0"/>
          </a:p>
        </p:txBody>
      </p:sp>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26</a:t>
            </a:fld>
            <a:endParaRPr lang="en-US" dirty="0">
              <a:solidFill>
                <a:prstClr val="black"/>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6096" y="113170"/>
            <a:ext cx="2862667" cy="23471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60203" y="417013"/>
            <a:ext cx="6635080" cy="1080120"/>
          </a:xfrm>
        </p:spPr>
        <p:txBody>
          <a:bodyPr>
            <a:normAutofit/>
          </a:bodyPr>
          <a:lstStyle/>
          <a:p>
            <a:r>
              <a:rPr lang="en-US" sz="3600" dirty="0">
                <a:latin typeface="Calibri" panose="020F0502020204030204" pitchFamily="34" charset="0"/>
                <a:cs typeface="Arial" panose="020B0604020202020204" pitchFamily="34" charset="0"/>
              </a:rPr>
              <a:t>Spectacular Project Failures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Silver Medal Winner</a:t>
            </a:r>
          </a:p>
        </p:txBody>
      </p:sp>
      <p:sp>
        <p:nvSpPr>
          <p:cNvPr id="5" name="Content Placeholder 4"/>
          <p:cNvSpPr>
            <a:spLocks noGrp="1"/>
          </p:cNvSpPr>
          <p:nvPr>
            <p:ph idx="1"/>
          </p:nvPr>
        </p:nvSpPr>
        <p:spPr>
          <a:xfrm>
            <a:off x="457200" y="2360519"/>
            <a:ext cx="8229600" cy="3384376"/>
          </a:xfrm>
        </p:spPr>
        <p:txBody>
          <a:bodyPr/>
          <a:lstStyle/>
          <a:p>
            <a:pPr>
              <a:buNone/>
            </a:pPr>
            <a:endParaRPr lang="en-US" dirty="0"/>
          </a:p>
          <a:p>
            <a:pPr>
              <a:buNone/>
            </a:pPr>
            <a:r>
              <a:rPr lang="en-US" sz="2400" dirty="0">
                <a:latin typeface="Calibri" panose="020F0502020204030204" pitchFamily="34" charset="0"/>
                <a:cs typeface="Arial" panose="020B0604020202020204" pitchFamily="34" charset="0"/>
              </a:rPr>
              <a:t>In March 1997 Washington State ended a project aimed at</a:t>
            </a:r>
          </a:p>
          <a:p>
            <a:pPr>
              <a:buNone/>
            </a:pPr>
            <a:r>
              <a:rPr lang="en-US" sz="2400" dirty="0">
                <a:latin typeface="Calibri" panose="020F0502020204030204" pitchFamily="34" charset="0"/>
                <a:cs typeface="Arial" panose="020B0604020202020204" pitchFamily="34" charset="0"/>
              </a:rPr>
              <a:t>automating the registration and license renewal process.</a:t>
            </a:r>
          </a:p>
          <a:p>
            <a:pPr>
              <a:buNone/>
            </a:pPr>
            <a:r>
              <a:rPr lang="en-US" sz="2400" dirty="0">
                <a:latin typeface="Calibri" panose="020F0502020204030204" pitchFamily="34" charset="0"/>
                <a:cs typeface="Arial" panose="020B0604020202020204" pitchFamily="34" charset="0"/>
              </a:rPr>
              <a:t>At that time it was </a:t>
            </a:r>
            <a:r>
              <a:rPr lang="en-US" sz="2400" b="1" dirty="0">
                <a:solidFill>
                  <a:srgbClr val="FF0000"/>
                </a:solidFill>
                <a:latin typeface="Calibri" panose="020F0502020204030204" pitchFamily="34" charset="0"/>
                <a:cs typeface="Arial" panose="020B0604020202020204" pitchFamily="34" charset="0"/>
              </a:rPr>
              <a:t>2 years late and $51.5 million</a:t>
            </a:r>
            <a:r>
              <a:rPr lang="en-US" sz="2400" b="1" dirty="0">
                <a:latin typeface="Calibri" panose="020F0502020204030204" pitchFamily="34" charset="0"/>
                <a:cs typeface="Arial" panose="020B0604020202020204" pitchFamily="34" charset="0"/>
              </a:rPr>
              <a:t> </a:t>
            </a:r>
            <a:r>
              <a:rPr lang="en-US" sz="2400" dirty="0">
                <a:latin typeface="Calibri" panose="020F0502020204030204" pitchFamily="34" charset="0"/>
                <a:cs typeface="Arial" panose="020B0604020202020204" pitchFamily="34" charset="0"/>
              </a:rPr>
              <a:t>over budget. </a:t>
            </a:r>
          </a:p>
          <a:p>
            <a:pPr>
              <a:buNone/>
            </a:pPr>
            <a:r>
              <a:rPr lang="en-US" sz="2400" dirty="0">
                <a:solidFill>
                  <a:srgbClr val="FF0000"/>
                </a:solidFill>
                <a:latin typeface="Calibri" panose="020F0502020204030204" pitchFamily="34" charset="0"/>
                <a:cs typeface="Arial" panose="020B0604020202020204" pitchFamily="34" charset="0"/>
              </a:rPr>
              <a:t>Of which $40 million was spend without result.</a:t>
            </a:r>
          </a:p>
        </p:txBody>
      </p:sp>
      <p:pic>
        <p:nvPicPr>
          <p:cNvPr id="4" name="Picture 3" descr="silver.jpg"/>
          <p:cNvPicPr>
            <a:picLocks noChangeAspect="1"/>
          </p:cNvPicPr>
          <p:nvPr/>
        </p:nvPicPr>
        <p:blipFill>
          <a:blip r:embed="rId2" cstate="print"/>
          <a:stretch>
            <a:fillRect/>
          </a:stretch>
        </p:blipFill>
        <p:spPr>
          <a:xfrm>
            <a:off x="7125226" y="260648"/>
            <a:ext cx="1734351" cy="1895863"/>
          </a:xfrm>
          <a:prstGeom prst="rect">
            <a:avLst/>
          </a:prstGeom>
        </p:spPr>
      </p:pic>
      <p:sp>
        <p:nvSpPr>
          <p:cNvPr id="2" name="Footer Placeholder 1"/>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3" name="Slide Number Placeholder 2"/>
          <p:cNvSpPr>
            <a:spLocks noGrp="1"/>
          </p:cNvSpPr>
          <p:nvPr>
            <p:ph type="sldNum" sz="quarter" idx="12"/>
          </p:nvPr>
        </p:nvSpPr>
        <p:spPr/>
        <p:txBody>
          <a:bodyPr/>
          <a:lstStyle/>
          <a:p>
            <a:fld id="{E31375A4-56A4-47D6-9801-1991572033F7}" type="slidenum">
              <a:rPr lang="en-US" smtClean="0">
                <a:solidFill>
                  <a:prstClr val="black"/>
                </a:solidFill>
              </a:rPr>
              <a:pPr/>
              <a:t>27</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2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20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3"/>
            <a:ext cx="7488832" cy="1080120"/>
          </a:xfrm>
        </p:spPr>
        <p:txBody>
          <a:bodyPr>
            <a:normAutofit/>
          </a:bodyPr>
          <a:lstStyle/>
          <a:p>
            <a:r>
              <a:rPr lang="en-US" sz="3600" dirty="0">
                <a:latin typeface="Calibri" panose="020F0502020204030204" pitchFamily="34" charset="0"/>
                <a:cs typeface="Arial" panose="020B0604020202020204" pitchFamily="34" charset="0"/>
              </a:rPr>
              <a:t>Spectacular Project Failures:</a:t>
            </a:r>
            <a:br>
              <a:rPr lang="en-US" sz="3600" dirty="0">
                <a:latin typeface="Calibri" panose="020F0502020204030204" pitchFamily="34" charset="0"/>
                <a:cs typeface="Arial" panose="020B0604020202020204" pitchFamily="34" charset="0"/>
              </a:rPr>
            </a:br>
            <a:r>
              <a:rPr lang="en-US" sz="3600" dirty="0">
                <a:latin typeface="Calibri" panose="020F0502020204030204" pitchFamily="34" charset="0"/>
                <a:cs typeface="Arial" panose="020B0604020202020204" pitchFamily="34" charset="0"/>
              </a:rPr>
              <a:t>Project Taurus</a:t>
            </a:r>
            <a:endParaRPr lang="en-CA" sz="3600" dirty="0">
              <a:latin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457200" y="1862942"/>
            <a:ext cx="8136904" cy="4374369"/>
          </a:xfrm>
        </p:spPr>
        <p:txBody>
          <a:bodyPr>
            <a:noAutofit/>
          </a:bodyPr>
          <a:lstStyle/>
          <a:p>
            <a:pPr lvl="1"/>
            <a:r>
              <a:rPr lang="en-US" sz="2400" dirty="0">
                <a:latin typeface="Calibri" panose="020F0502020204030204" pitchFamily="34" charset="0"/>
                <a:cs typeface="Arial" panose="020B0604020202020204" pitchFamily="34" charset="0"/>
              </a:rPr>
              <a:t>Example 5</a:t>
            </a:r>
          </a:p>
          <a:p>
            <a:pPr lvl="1"/>
            <a:r>
              <a:rPr lang="en-CA" sz="2400" dirty="0">
                <a:latin typeface="Calibri" panose="020F0502020204030204" pitchFamily="34" charset="0"/>
                <a:cs typeface="Arial" panose="020B0604020202020204" pitchFamily="34" charset="0"/>
              </a:rPr>
              <a:t>Project Taurus – London Stock Exchange attempts to create a </a:t>
            </a:r>
            <a:r>
              <a:rPr lang="en-CA" sz="2400" dirty="0">
                <a:solidFill>
                  <a:srgbClr val="7030A0"/>
                </a:solidFill>
                <a:latin typeface="Calibri" panose="020F0502020204030204" pitchFamily="34" charset="0"/>
                <a:cs typeface="Arial" panose="020B0604020202020204" pitchFamily="34" charset="0"/>
              </a:rPr>
              <a:t>paperless share settlement system </a:t>
            </a:r>
            <a:r>
              <a:rPr lang="en-CA" sz="2400" dirty="0">
                <a:latin typeface="Calibri" panose="020F0502020204030204" pitchFamily="34" charset="0"/>
                <a:cs typeface="Arial" panose="020B0604020202020204" pitchFamily="34" charset="0"/>
              </a:rPr>
              <a:t>for </a:t>
            </a:r>
            <a:r>
              <a:rPr lang="en-CA" sz="2400" b="1" dirty="0">
                <a:latin typeface="Calibri" panose="020F0502020204030204" pitchFamily="34" charset="0"/>
                <a:cs typeface="Arial" panose="020B0604020202020204" pitchFamily="34" charset="0"/>
              </a:rPr>
              <a:t>£6 million </a:t>
            </a:r>
            <a:r>
              <a:rPr lang="en-CA" sz="2400" i="1" dirty="0">
                <a:latin typeface="Calibri" panose="020F0502020204030204" pitchFamily="34" charset="0"/>
                <a:cs typeface="Arial" panose="020B0604020202020204" pitchFamily="34" charset="0"/>
              </a:rPr>
              <a:t>($10.5 million CAD) </a:t>
            </a:r>
            <a:r>
              <a:rPr lang="en-CA" sz="2400" dirty="0">
                <a:latin typeface="Calibri" panose="020F0502020204030204" pitchFamily="34" charset="0"/>
                <a:cs typeface="Arial" panose="020B0604020202020204" pitchFamily="34" charset="0"/>
              </a:rPr>
              <a:t> in 1983</a:t>
            </a:r>
          </a:p>
          <a:p>
            <a:pPr lvl="1"/>
            <a:r>
              <a:rPr lang="en-CA" sz="2400" dirty="0">
                <a:latin typeface="Calibri" panose="020F0502020204030204" pitchFamily="34" charset="0"/>
                <a:cs typeface="Arial" panose="020B0604020202020204" pitchFamily="34" charset="0"/>
              </a:rPr>
              <a:t>Initial design was dropped in 1989, changed to a more complicated system purchased from the US</a:t>
            </a:r>
          </a:p>
          <a:p>
            <a:pPr lvl="1"/>
            <a:r>
              <a:rPr lang="en-CA" sz="2400" dirty="0">
                <a:latin typeface="Calibri" panose="020F0502020204030204" pitchFamily="34" charset="0"/>
                <a:cs typeface="Arial" panose="020B0604020202020204" pitchFamily="34" charset="0"/>
              </a:rPr>
              <a:t>Very different finance laws between Britain and the US</a:t>
            </a:r>
          </a:p>
          <a:p>
            <a:pPr lvl="1"/>
            <a:r>
              <a:rPr lang="en-CA" sz="2400" dirty="0">
                <a:latin typeface="Calibri" panose="020F0502020204030204" pitchFamily="34" charset="0"/>
                <a:cs typeface="Arial" panose="020B0604020202020204" pitchFamily="34" charset="0"/>
              </a:rPr>
              <a:t>The project is finally </a:t>
            </a:r>
            <a:r>
              <a:rPr lang="en-CA" sz="2400" dirty="0">
                <a:solidFill>
                  <a:srgbClr val="FF0000"/>
                </a:solidFill>
                <a:latin typeface="Calibri" panose="020F0502020204030204" pitchFamily="34" charset="0"/>
                <a:cs typeface="Arial" panose="020B0604020202020204" pitchFamily="34" charset="0"/>
              </a:rPr>
              <a:t>abandoned</a:t>
            </a:r>
            <a:r>
              <a:rPr lang="en-CA" sz="2400" dirty="0">
                <a:latin typeface="Calibri" panose="020F0502020204030204" pitchFamily="34" charset="0"/>
                <a:cs typeface="Arial" panose="020B0604020202020204" pitchFamily="34" charset="0"/>
              </a:rPr>
              <a:t> after 11 years and running up </a:t>
            </a:r>
            <a:r>
              <a:rPr lang="en-CA" sz="2400" b="1" dirty="0">
                <a:latin typeface="Calibri" panose="020F0502020204030204" pitchFamily="34" charset="0"/>
                <a:cs typeface="Arial" panose="020B0604020202020204" pitchFamily="34" charset="0"/>
              </a:rPr>
              <a:t>£792 million </a:t>
            </a:r>
            <a:r>
              <a:rPr lang="en-CA" sz="2400" i="1" dirty="0">
                <a:latin typeface="Calibri" panose="020F0502020204030204" pitchFamily="34" charset="0"/>
                <a:cs typeface="Arial" panose="020B0604020202020204" pitchFamily="34" charset="0"/>
              </a:rPr>
              <a:t>($1.4 billion CAD)</a:t>
            </a:r>
            <a:r>
              <a:rPr lang="en-CA" sz="2400" dirty="0">
                <a:latin typeface="Arial" panose="020B0604020202020204" pitchFamily="34" charset="0"/>
                <a:cs typeface="Arial" panose="020B0604020202020204" pitchFamily="34" charset="0"/>
              </a:rPr>
              <a:t> </a:t>
            </a:r>
            <a:r>
              <a:rPr lang="en-CA" sz="2400" dirty="0">
                <a:latin typeface="Calibri" panose="020F0502020204030204" pitchFamily="34" charset="0"/>
                <a:cs typeface="Arial" panose="020B0604020202020204" pitchFamily="34" charset="0"/>
              </a:rPr>
              <a:t>in costs.</a:t>
            </a:r>
          </a:p>
          <a:p>
            <a:pPr marL="274320" lvl="1" indent="0" algn="ctr">
              <a:buNone/>
            </a:pPr>
            <a:r>
              <a:rPr lang="en-CA" sz="2400" b="1" i="1" dirty="0">
                <a:solidFill>
                  <a:srgbClr val="FF0000"/>
                </a:solidFill>
                <a:latin typeface="Calibri" panose="020F0502020204030204" pitchFamily="34" charset="0"/>
                <a:cs typeface="Arial" panose="020B0604020202020204" pitchFamily="34" charset="0"/>
              </a:rPr>
              <a:t>(132 times the original budget)</a:t>
            </a:r>
            <a:endParaRPr lang="en-CA" sz="2400" b="1" dirty="0">
              <a:latin typeface="Calibri" panose="020F0502020204030204" pitchFamily="34" charset="0"/>
              <a:cs typeface="Arial" panose="020B0604020202020204" pitchFamily="34" charset="0"/>
            </a:endParaRPr>
          </a:p>
          <a:p>
            <a:pPr lvl="1"/>
            <a:endParaRPr lang="en-CA" sz="2250" i="1" dirty="0">
              <a:latin typeface="Calibri" panose="020F0502020204030204" pitchFamily="34" charset="0"/>
              <a:cs typeface="Arial" panose="020B0604020202020204" pitchFamily="34" charset="0"/>
            </a:endParaRPr>
          </a:p>
          <a:p>
            <a:pPr lvl="1"/>
            <a:endParaRPr lang="en-CA" sz="2250" i="1" dirty="0">
              <a:latin typeface="Calibri" panose="020F0502020204030204" pitchFamily="34" charset="0"/>
              <a:cs typeface="Arial" panose="020B0604020202020204" pitchFamily="34" charset="0"/>
            </a:endParaRPr>
          </a:p>
        </p:txBody>
      </p:sp>
      <p:sp>
        <p:nvSpPr>
          <p:cNvPr id="6" name="Footer Placeholder 5"/>
          <p:cNvSpPr>
            <a:spLocks noGrp="1"/>
          </p:cNvSpPr>
          <p:nvPr>
            <p:ph type="ftr" sz="quarter" idx="11"/>
          </p:nvPr>
        </p:nvSpPr>
        <p:spPr/>
        <p:txBody>
          <a:bodyPr/>
          <a:lstStyle/>
          <a:p>
            <a:r>
              <a:rPr lang="en-CA">
                <a:solidFill>
                  <a:prstClr val="black"/>
                </a:solidFill>
              </a:rPr>
              <a:t>G.R. Labbe and R. Schott</a:t>
            </a:r>
            <a:endParaRPr lang="en-US" dirty="0">
              <a:solidFill>
                <a:prstClr val="black"/>
              </a:solidFill>
            </a:endParaRP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28</a:t>
            </a:fld>
            <a:endParaRPr lang="en-US"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d Line Business 16x9">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4112</TotalTime>
  <Words>2283</Words>
  <Application>Microsoft Office PowerPoint</Application>
  <PresentationFormat>On-screen Show (4:3)</PresentationFormat>
  <Paragraphs>244</Paragraphs>
  <Slides>28</Slides>
  <Notes>0</Notes>
  <HiddenSlides>1</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vt:lpstr>
      <vt:lpstr>Palatino</vt:lpstr>
      <vt:lpstr>Times</vt:lpstr>
      <vt:lpstr>Wingdings</vt:lpstr>
      <vt:lpstr>Wingdings 2</vt:lpstr>
      <vt:lpstr>Red Line Business 16x9</vt:lpstr>
      <vt:lpstr>PowerPoint Presentation</vt:lpstr>
      <vt:lpstr>Introduction</vt:lpstr>
      <vt:lpstr>Project Termination</vt:lpstr>
      <vt:lpstr>Types of Project Termination</vt:lpstr>
      <vt:lpstr>Types of Project Termination</vt:lpstr>
      <vt:lpstr>What is:</vt:lpstr>
      <vt:lpstr>Types of Project Termination</vt:lpstr>
      <vt:lpstr>Types of Project Termination</vt:lpstr>
      <vt:lpstr>Types of Project Termination</vt:lpstr>
      <vt:lpstr>Natural Termination The Closeout Process</vt:lpstr>
      <vt:lpstr>The Seven Elements of Project Closeout</vt:lpstr>
      <vt:lpstr>The Seven Elements of Project Closeout</vt:lpstr>
      <vt:lpstr>The Seven Elements of Project Closeout</vt:lpstr>
      <vt:lpstr>The Seven Elements of Project Closeout</vt:lpstr>
      <vt:lpstr>The Seven Elements of Project Closeout</vt:lpstr>
      <vt:lpstr>The Seven Elements of Project Closeout</vt:lpstr>
      <vt:lpstr>What Prevents Effective Project Closeout?</vt:lpstr>
      <vt:lpstr>PROJECT FAILURE</vt:lpstr>
      <vt:lpstr>EARLY WARNING SIGNS OF PROJECT FAILURE</vt:lpstr>
      <vt:lpstr>WHEN SHOULD WE CONSIDER CANCELLING THE PROJECT?</vt:lpstr>
      <vt:lpstr>Spectacular Project Failures</vt:lpstr>
      <vt:lpstr>Spectacular Project Failures: F.I.A.</vt:lpstr>
      <vt:lpstr>Spectacular Project Failures: F.I.A.</vt:lpstr>
      <vt:lpstr>Spectacular Project Failures: 1995 Canadian Firearms Registry</vt:lpstr>
      <vt:lpstr>Spectacular Project Failures: 1995 Canadian Firearms Registry</vt:lpstr>
      <vt:lpstr>Spectacular Project Failures: CHAnnel</vt:lpstr>
      <vt:lpstr>Spectacular Project Failures Silver Medal Winner</vt:lpstr>
      <vt:lpstr>Spectacular Project Failures: Project Taurus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dc:title>
  <dc:creator>Martin Volkening</dc:creator>
  <cp:lastModifiedBy>Ozlu, Sinan</cp:lastModifiedBy>
  <cp:revision>143</cp:revision>
  <dcterms:created xsi:type="dcterms:W3CDTF">2008-01-02T01:15:43Z</dcterms:created>
  <dcterms:modified xsi:type="dcterms:W3CDTF">2025-12-03T05:40:18Z</dcterms:modified>
</cp:coreProperties>
</file>