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1" r:id="rId2"/>
    <p:sldId id="302" r:id="rId3"/>
    <p:sldId id="303" r:id="rId4"/>
    <p:sldId id="306" r:id="rId5"/>
    <p:sldId id="307" r:id="rId6"/>
    <p:sldId id="304" r:id="rId7"/>
    <p:sldId id="308" r:id="rId8"/>
    <p:sldId id="309" r:id="rId9"/>
    <p:sldId id="305"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863667" cy="6858000"/>
          </a:xfrm>
          <a:prstGeom prst="rect">
            <a:avLst/>
          </a:prstGeom>
        </p:spPr>
      </p:pic>
      <p:sp>
        <p:nvSpPr>
          <p:cNvPr id="2" name="Title 1"/>
          <p:cNvSpPr>
            <a:spLocks noGrp="1"/>
          </p:cNvSpPr>
          <p:nvPr>
            <p:ph type="ctrTitle"/>
          </p:nvPr>
        </p:nvSpPr>
        <p:spPr>
          <a:xfrm>
            <a:off x="3658631" y="1964267"/>
            <a:ext cx="7618971"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3658631" y="4385734"/>
            <a:ext cx="7618971"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003082" y="5870577"/>
            <a:ext cx="1616231" cy="377825"/>
          </a:xfrm>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a:xfrm>
            <a:off x="3658632" y="5870577"/>
            <a:ext cx="5242849" cy="377825"/>
          </a:xfrm>
        </p:spPr>
        <p:txBody>
          <a:bodyPr/>
          <a:lstStyle/>
          <a:p>
            <a:endParaRPr lang="en-CA"/>
          </a:p>
        </p:txBody>
      </p:sp>
      <p:sp>
        <p:nvSpPr>
          <p:cNvPr id="6" name="Slide Number Placeholder 5"/>
          <p:cNvSpPr>
            <a:spLocks noGrp="1"/>
          </p:cNvSpPr>
          <p:nvPr>
            <p:ph type="sldNum" sz="quarter" idx="12"/>
          </p:nvPr>
        </p:nvSpPr>
        <p:spPr>
          <a:xfrm>
            <a:off x="10720913" y="5870577"/>
            <a:ext cx="556688" cy="377825"/>
          </a:xfrm>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41379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216645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3" y="3308581"/>
            <a:ext cx="103632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09601" y="4777381"/>
            <a:ext cx="103632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17898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1" y="2142068"/>
            <a:ext cx="508406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88737" y="2142069"/>
            <a:ext cx="5084064"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BDF92B-9FA0-400F-BED6-716667B8871F}" type="datetimeFigureOut">
              <a:rPr lang="en-CA" smtClean="0"/>
              <a:t>2024-11-24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194904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991307" y="2218267"/>
            <a:ext cx="472080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870201"/>
            <a:ext cx="508406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81493" y="2218267"/>
            <a:ext cx="469130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88736" y="2870201"/>
            <a:ext cx="508406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BDF92B-9FA0-400F-BED6-716667B8871F}" type="datetimeFigureOut">
              <a:rPr lang="en-CA" smtClean="0"/>
              <a:t>2024-11-24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62992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1" y="609602"/>
            <a:ext cx="103632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BDF92B-9FA0-400F-BED6-716667B8871F}" type="datetimeFigureOut">
              <a:rPr lang="en-CA" smtClean="0"/>
              <a:t>2024-11-24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154115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Date Placeholder 1"/>
          <p:cNvSpPr>
            <a:spLocks noGrp="1"/>
          </p:cNvSpPr>
          <p:nvPr>
            <p:ph type="dt" sz="half" idx="10"/>
          </p:nvPr>
        </p:nvSpPr>
        <p:spPr/>
        <p:txBody>
          <a:bodyPr/>
          <a:lstStyle/>
          <a:p>
            <a:fld id="{C3BDF92B-9FA0-400F-BED6-716667B8871F}" type="datetimeFigureOut">
              <a:rPr lang="en-CA" smtClean="0"/>
              <a:t>2024-11-24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414365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15624" y="1557868"/>
            <a:ext cx="3817213"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808193" y="609601"/>
            <a:ext cx="6170633"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5624" y="2997201"/>
            <a:ext cx="3817213"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BDF92B-9FA0-400F-BED6-716667B8871F}" type="datetimeFigureOut">
              <a:rPr lang="en-CA" smtClean="0"/>
              <a:t>2024-11-24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8862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16171" y="1735672"/>
            <a:ext cx="5462939"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6705600" y="914400"/>
            <a:ext cx="42672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dirty="0"/>
              <a:t>Click icon to add picture</a:t>
            </a:r>
          </a:p>
        </p:txBody>
      </p:sp>
      <p:sp>
        <p:nvSpPr>
          <p:cNvPr id="4" name="Text Placeholder 3"/>
          <p:cNvSpPr>
            <a:spLocks noGrp="1"/>
          </p:cNvSpPr>
          <p:nvPr>
            <p:ph type="body" sz="half" idx="2"/>
          </p:nvPr>
        </p:nvSpPr>
        <p:spPr>
          <a:xfrm>
            <a:off x="616171" y="3107272"/>
            <a:ext cx="5462939"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BDF92B-9FA0-400F-BED6-716667B8871F}" type="datetimeFigureOut">
              <a:rPr lang="en-CA" smtClean="0"/>
              <a:t>2024-11-24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385042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1" y="4732865"/>
            <a:ext cx="103632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9201" y="932112"/>
            <a:ext cx="9144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dirty="0"/>
              <a:t>Click icon to add picture</a:t>
            </a:r>
          </a:p>
        </p:txBody>
      </p:sp>
      <p:sp>
        <p:nvSpPr>
          <p:cNvPr id="4" name="Text Placeholder 3"/>
          <p:cNvSpPr>
            <a:spLocks noGrp="1"/>
          </p:cNvSpPr>
          <p:nvPr>
            <p:ph type="body" sz="half" idx="2"/>
          </p:nvPr>
        </p:nvSpPr>
        <p:spPr>
          <a:xfrm>
            <a:off x="609601" y="5299603"/>
            <a:ext cx="103632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BDF92B-9FA0-400F-BED6-716667B8871F}" type="datetimeFigureOut">
              <a:rPr lang="en-CA" smtClean="0"/>
              <a:t>2024-11-24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77742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5" y="609603"/>
            <a:ext cx="103631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09603" y="4343400"/>
            <a:ext cx="103631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1934767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14" name="TextBox 13"/>
          <p:cNvSpPr txBox="1"/>
          <p:nvPr/>
        </p:nvSpPr>
        <p:spPr>
          <a:xfrm>
            <a:off x="562395" y="718114"/>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314401" y="2751671"/>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172154" y="609603"/>
            <a:ext cx="9455063"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318229" y="3352800"/>
            <a:ext cx="9168177"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16355" y="4343400"/>
            <a:ext cx="103632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168653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2" y="3291648"/>
            <a:ext cx="103632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760448"/>
            <a:ext cx="1036320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694775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11" name="TextBox 10"/>
          <p:cNvSpPr txBox="1"/>
          <p:nvPr/>
        </p:nvSpPr>
        <p:spPr>
          <a:xfrm>
            <a:off x="562395" y="718114"/>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10314401" y="2751671"/>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172154" y="609603"/>
            <a:ext cx="9455063"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09601" y="3886200"/>
            <a:ext cx="103632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09601" y="4775200"/>
            <a:ext cx="103632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074953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19254" y="609603"/>
            <a:ext cx="103632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19254" y="3505200"/>
            <a:ext cx="103632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19253" y="4343400"/>
            <a:ext cx="103632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331863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8" name="Title 1"/>
          <p:cNvSpPr>
            <a:spLocks noGrp="1"/>
          </p:cNvSpPr>
          <p:nvPr>
            <p:ph type="title"/>
          </p:nvPr>
        </p:nvSpPr>
        <p:spPr>
          <a:xfrm>
            <a:off x="609600" y="609602"/>
            <a:ext cx="103632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364687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Vertical Title 1"/>
          <p:cNvSpPr>
            <a:spLocks noGrp="1"/>
          </p:cNvSpPr>
          <p:nvPr>
            <p:ph type="title" orient="vert"/>
          </p:nvPr>
        </p:nvSpPr>
        <p:spPr>
          <a:xfrm>
            <a:off x="8737305" y="609601"/>
            <a:ext cx="2235495"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7986912"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DF92B-9FA0-400F-BED6-716667B8871F}" type="datetimeFigureOut">
              <a:rPr lang="en-CA" smtClean="0"/>
              <a:t>2024-11-24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9AA339E-196B-4855-8D23-65C330CEDDDF}" type="slidenum">
              <a:rPr lang="en-CA" smtClean="0"/>
              <a:t>‹#›</a:t>
            </a:fld>
            <a:endParaRPr lang="en-CA"/>
          </a:p>
        </p:txBody>
      </p:sp>
    </p:spTree>
    <p:extLst>
      <p:ext uri="{BB962C8B-B14F-4D97-AF65-F5344CB8AC3E}">
        <p14:creationId xmlns:p14="http://schemas.microsoft.com/office/powerpoint/2010/main" val="169109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2"/>
            <a:ext cx="103632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2142069"/>
            <a:ext cx="103632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98283" y="5870577"/>
            <a:ext cx="1616231"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3BDF92B-9FA0-400F-BED6-716667B8871F}" type="datetimeFigureOut">
              <a:rPr lang="en-CA" smtClean="0"/>
              <a:t>2024-11-24</a:t>
            </a:fld>
            <a:endParaRPr lang="en-CA"/>
          </a:p>
        </p:txBody>
      </p:sp>
      <p:sp>
        <p:nvSpPr>
          <p:cNvPr id="5" name="Footer Placeholder 4"/>
          <p:cNvSpPr>
            <a:spLocks noGrp="1"/>
          </p:cNvSpPr>
          <p:nvPr>
            <p:ph type="ftr" sz="quarter" idx="3"/>
          </p:nvPr>
        </p:nvSpPr>
        <p:spPr>
          <a:xfrm>
            <a:off x="609601" y="5870577"/>
            <a:ext cx="798708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CA"/>
          </a:p>
        </p:txBody>
      </p:sp>
      <p:sp>
        <p:nvSpPr>
          <p:cNvPr id="6" name="Slide Number Placeholder 5"/>
          <p:cNvSpPr>
            <a:spLocks noGrp="1"/>
          </p:cNvSpPr>
          <p:nvPr>
            <p:ph type="sldNum" sz="quarter" idx="4"/>
          </p:nvPr>
        </p:nvSpPr>
        <p:spPr>
          <a:xfrm>
            <a:off x="10416113" y="5870577"/>
            <a:ext cx="556688"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9AA339E-196B-4855-8D23-65C330CEDDDF}" type="slidenum">
              <a:rPr lang="en-CA" smtClean="0"/>
              <a:t>‹#›</a:t>
            </a:fld>
            <a:endParaRPr lang="en-CA"/>
          </a:p>
        </p:txBody>
      </p:sp>
    </p:spTree>
    <p:extLst>
      <p:ext uri="{BB962C8B-B14F-4D97-AF65-F5344CB8AC3E}">
        <p14:creationId xmlns:p14="http://schemas.microsoft.com/office/powerpoint/2010/main" val="35872360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uk.indeed.com/career-advice/cvs-cover-letters/interpersonal-skill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609602"/>
            <a:ext cx="7772400" cy="659159"/>
          </a:xfrm>
        </p:spPr>
        <p:txBody>
          <a:bodyPr>
            <a:normAutofit/>
          </a:bodyPr>
          <a:lstStyle/>
          <a:p>
            <a:r>
              <a:rPr lang="en-US" dirty="0"/>
              <a:t>Conflict Example 1</a:t>
            </a:r>
            <a:endParaRPr lang="en-CA" dirty="0"/>
          </a:p>
        </p:txBody>
      </p:sp>
      <p:sp>
        <p:nvSpPr>
          <p:cNvPr id="3" name="Content Placeholder 2"/>
          <p:cNvSpPr>
            <a:spLocks noGrp="1"/>
          </p:cNvSpPr>
          <p:nvPr>
            <p:ph idx="1"/>
          </p:nvPr>
        </p:nvSpPr>
        <p:spPr>
          <a:xfrm>
            <a:off x="1981200" y="1484784"/>
            <a:ext cx="5266928" cy="4763615"/>
          </a:xfrm>
        </p:spPr>
        <p:txBody>
          <a:bodyPr>
            <a:normAutofit fontScale="92500" lnSpcReduction="10000"/>
          </a:bodyPr>
          <a:lstStyle/>
          <a:p>
            <a:pPr marL="0" indent="0">
              <a:buNone/>
            </a:pPr>
            <a:r>
              <a:rPr lang="en-CA" dirty="0"/>
              <a:t>Which </a:t>
            </a:r>
            <a:r>
              <a:rPr lang="en-CA" b="1" dirty="0"/>
              <a:t>cause</a:t>
            </a:r>
            <a:r>
              <a:rPr lang="en-CA" dirty="0"/>
              <a:t> of conflict could each of the following statements indicate?</a:t>
            </a:r>
          </a:p>
          <a:p>
            <a:r>
              <a:rPr lang="en-CA" dirty="0"/>
              <a:t>“I can’t talk to her after what her son said to my son.” </a:t>
            </a:r>
          </a:p>
          <a:p>
            <a:r>
              <a:rPr lang="en-CA" dirty="0"/>
              <a:t>“The sales management at this company are lazy. They always leave the office by 4:00.”</a:t>
            </a:r>
          </a:p>
          <a:p>
            <a:r>
              <a:rPr lang="en-CA" dirty="0"/>
              <a:t>“She barely looked at my report. She has probably already decided to ignore it.” </a:t>
            </a:r>
          </a:p>
          <a:p>
            <a:r>
              <a:rPr lang="en-CA" dirty="0"/>
              <a:t>“Our computers are too slow because their division always gets the best computers.”</a:t>
            </a:r>
          </a:p>
          <a:p>
            <a:r>
              <a:rPr lang="en-CA" dirty="0"/>
              <a:t>“The worse your project performs at the end of the year, the better my project looks”</a:t>
            </a:r>
          </a:p>
          <a:p>
            <a:r>
              <a:rPr lang="en-CA" dirty="0"/>
              <a:t>“Everybody else knew to submit that report. Why didn’t you?” </a:t>
            </a:r>
          </a:p>
          <a:p>
            <a:r>
              <a:rPr lang="en-US" dirty="0"/>
              <a:t>“Why should I do that for my project manager if my functional manager didn’t tell me?”</a:t>
            </a:r>
            <a:endParaRPr lang="en-CA" dirty="0"/>
          </a:p>
          <a:p>
            <a:endParaRPr lang="en-CA" dirty="0"/>
          </a:p>
        </p:txBody>
      </p:sp>
      <p:sp>
        <p:nvSpPr>
          <p:cNvPr id="4" name="Footer Placeholder 3"/>
          <p:cNvSpPr>
            <a:spLocks noGrp="1"/>
          </p:cNvSpPr>
          <p:nvPr>
            <p:ph type="ftr" sz="quarter" idx="11"/>
          </p:nvPr>
        </p:nvSpPr>
        <p:spPr/>
        <p:txBody>
          <a:bodyPr/>
          <a:lstStyle/>
          <a:p>
            <a:r>
              <a:rPr lang="en-US">
                <a:solidFill>
                  <a:srgbClr val="C19859">
                    <a:lumMod val="20000"/>
                    <a:lumOff val="80000"/>
                  </a:srgbClr>
                </a:solidFill>
              </a:rPr>
              <a:t>G. Labbe &amp; R. Schott</a:t>
            </a:r>
            <a:endParaRPr lang="en-US" dirty="0">
              <a:solidFill>
                <a:srgbClr val="C19859">
                  <a:lumMod val="20000"/>
                  <a:lumOff val="80000"/>
                </a:srgbClr>
              </a:solidFill>
            </a:endParaRPr>
          </a:p>
        </p:txBody>
      </p:sp>
      <p:sp>
        <p:nvSpPr>
          <p:cNvPr id="5" name="Slide Number Placeholder 4"/>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1</a:t>
            </a:fld>
            <a:endParaRPr lang="en-US" dirty="0">
              <a:solidFill>
                <a:srgbClr val="C19859">
                  <a:lumMod val="20000"/>
                  <a:lumOff val="80000"/>
                </a:srgbClr>
              </a:solidFill>
            </a:endParaRPr>
          </a:p>
        </p:txBody>
      </p:sp>
      <p:sp>
        <p:nvSpPr>
          <p:cNvPr id="6" name="Rectangle 3">
            <a:extLst>
              <a:ext uri="{FF2B5EF4-FFF2-40B4-BE49-F238E27FC236}">
                <a16:creationId xmlns:a16="http://schemas.microsoft.com/office/drawing/2014/main" id="{8AEFDC5F-CF84-B7F1-2D1E-1A27C6EC82EF}"/>
              </a:ext>
            </a:extLst>
          </p:cNvPr>
          <p:cNvSpPr txBox="1">
            <a:spLocks noChangeArrowheads="1"/>
          </p:cNvSpPr>
          <p:nvPr/>
        </p:nvSpPr>
        <p:spPr>
          <a:xfrm>
            <a:off x="7896200" y="1268761"/>
            <a:ext cx="2664296" cy="3649133"/>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000" dirty="0">
                <a:solidFill>
                  <a:srgbClr val="FFC000"/>
                </a:solidFill>
              </a:rPr>
              <a:t>Reward systems</a:t>
            </a:r>
          </a:p>
          <a:p>
            <a:pPr marL="0" indent="0">
              <a:buNone/>
            </a:pPr>
            <a:r>
              <a:rPr lang="en-US" sz="2000" dirty="0">
                <a:solidFill>
                  <a:srgbClr val="FFC000"/>
                </a:solidFill>
              </a:rPr>
              <a:t>Scarce resources</a:t>
            </a:r>
          </a:p>
          <a:p>
            <a:pPr marL="0" indent="0">
              <a:buNone/>
            </a:pPr>
            <a:r>
              <a:rPr lang="en-US" sz="2000" dirty="0">
                <a:solidFill>
                  <a:srgbClr val="FFC000"/>
                </a:solidFill>
              </a:rPr>
              <a:t>Uncertainty</a:t>
            </a:r>
          </a:p>
          <a:p>
            <a:pPr marL="0" indent="0">
              <a:buNone/>
            </a:pPr>
            <a:r>
              <a:rPr lang="en-US" sz="2000" dirty="0">
                <a:solidFill>
                  <a:srgbClr val="FFC000"/>
                </a:solidFill>
              </a:rPr>
              <a:t>Different mind sets among departments</a:t>
            </a:r>
          </a:p>
          <a:p>
            <a:pPr fontAlgn="auto">
              <a:buFontTx/>
              <a:buNone/>
            </a:pPr>
            <a:r>
              <a:rPr lang="en-US" sz="2000" dirty="0">
                <a:solidFill>
                  <a:srgbClr val="FFC000"/>
                </a:solidFill>
              </a:rPr>
              <a:t>Misconceptions regarding the behavior of others</a:t>
            </a:r>
          </a:p>
          <a:p>
            <a:pPr fontAlgn="auto">
              <a:buFontTx/>
              <a:buNone/>
            </a:pPr>
            <a:r>
              <a:rPr lang="en-US" sz="2000" dirty="0">
                <a:solidFill>
                  <a:srgbClr val="FFC000"/>
                </a:solidFill>
              </a:rPr>
              <a:t>Faulty communication</a:t>
            </a:r>
          </a:p>
          <a:p>
            <a:pPr fontAlgn="auto">
              <a:buFontTx/>
              <a:buNone/>
            </a:pPr>
            <a:r>
              <a:rPr lang="en-US" sz="2000" dirty="0">
                <a:solidFill>
                  <a:srgbClr val="FFC000"/>
                </a:solidFill>
              </a:rPr>
              <a:t>Personal grudges</a:t>
            </a:r>
          </a:p>
        </p:txBody>
      </p:sp>
      <p:cxnSp>
        <p:nvCxnSpPr>
          <p:cNvPr id="8" name="Straight Connector 7">
            <a:extLst>
              <a:ext uri="{FF2B5EF4-FFF2-40B4-BE49-F238E27FC236}">
                <a16:creationId xmlns:a16="http://schemas.microsoft.com/office/drawing/2014/main" id="{4CF659D3-D0B7-B866-506F-5BD8B10572F5}"/>
              </a:ext>
            </a:extLst>
          </p:cNvPr>
          <p:cNvCxnSpPr/>
          <p:nvPr/>
        </p:nvCxnSpPr>
        <p:spPr>
          <a:xfrm flipV="1">
            <a:off x="7013643" y="1916349"/>
            <a:ext cx="963038" cy="1935804"/>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1759ABCD-707D-CA56-EA58-7BDCC50AF722}"/>
              </a:ext>
            </a:extLst>
          </p:cNvPr>
          <p:cNvCxnSpPr/>
          <p:nvPr/>
        </p:nvCxnSpPr>
        <p:spPr>
          <a:xfrm>
            <a:off x="7013643" y="2198451"/>
            <a:ext cx="963038" cy="2500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EB8BD8B-0EBA-6631-49BB-AAB933A5B14D}"/>
              </a:ext>
            </a:extLst>
          </p:cNvPr>
          <p:cNvCxnSpPr>
            <a:cxnSpLocks/>
          </p:cNvCxnSpPr>
          <p:nvPr/>
        </p:nvCxnSpPr>
        <p:spPr>
          <a:xfrm flipV="1">
            <a:off x="7013643" y="1484784"/>
            <a:ext cx="963038" cy="301912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CCCB236-8954-DF7B-81DB-0B1FF8BDF14B}"/>
              </a:ext>
            </a:extLst>
          </p:cNvPr>
          <p:cNvCxnSpPr/>
          <p:nvPr/>
        </p:nvCxnSpPr>
        <p:spPr>
          <a:xfrm>
            <a:off x="7013643" y="2830749"/>
            <a:ext cx="96303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8483555-BE5B-7589-49CD-3EBEB963112B}"/>
              </a:ext>
            </a:extLst>
          </p:cNvPr>
          <p:cNvCxnSpPr/>
          <p:nvPr/>
        </p:nvCxnSpPr>
        <p:spPr>
          <a:xfrm>
            <a:off x="6624536" y="3326860"/>
            <a:ext cx="1528864" cy="223736"/>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27859DD-CAE8-3AF5-281B-53D0BC9CA421}"/>
              </a:ext>
            </a:extLst>
          </p:cNvPr>
          <p:cNvCxnSpPr/>
          <p:nvPr/>
        </p:nvCxnSpPr>
        <p:spPr>
          <a:xfrm flipV="1">
            <a:off x="7013643" y="4250987"/>
            <a:ext cx="963038" cy="666907"/>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34CFE79-A1F8-BC0C-A7A0-C5F7AAC567AD}"/>
              </a:ext>
            </a:extLst>
          </p:cNvPr>
          <p:cNvCxnSpPr/>
          <p:nvPr/>
        </p:nvCxnSpPr>
        <p:spPr>
          <a:xfrm flipV="1">
            <a:off x="6624536" y="2305455"/>
            <a:ext cx="1352145" cy="328378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69167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609602"/>
            <a:ext cx="7772400" cy="659159"/>
          </a:xfrm>
        </p:spPr>
        <p:txBody>
          <a:bodyPr>
            <a:normAutofit/>
          </a:bodyPr>
          <a:lstStyle/>
          <a:p>
            <a:r>
              <a:rPr lang="en-US" dirty="0"/>
              <a:t>Conflict Example 2</a:t>
            </a:r>
            <a:endParaRPr lang="en-CA" dirty="0"/>
          </a:p>
        </p:txBody>
      </p:sp>
      <p:sp>
        <p:nvSpPr>
          <p:cNvPr id="3" name="Content Placeholder 2"/>
          <p:cNvSpPr>
            <a:spLocks noGrp="1"/>
          </p:cNvSpPr>
          <p:nvPr>
            <p:ph idx="1"/>
          </p:nvPr>
        </p:nvSpPr>
        <p:spPr>
          <a:xfrm>
            <a:off x="1981200" y="1484784"/>
            <a:ext cx="7772400" cy="4464496"/>
          </a:xfrm>
        </p:spPr>
        <p:txBody>
          <a:bodyPr>
            <a:normAutofit lnSpcReduction="10000"/>
          </a:bodyPr>
          <a:lstStyle/>
          <a:p>
            <a:pPr marL="0" indent="0">
              <a:buNone/>
            </a:pPr>
            <a:r>
              <a:rPr lang="en-CA" dirty="0"/>
              <a:t>Suppose the maintenance supervisors working on your project </a:t>
            </a:r>
            <a:r>
              <a:rPr lang="en-CA" dirty="0">
                <a:solidFill>
                  <a:srgbClr val="92D050"/>
                </a:solidFill>
              </a:rPr>
              <a:t>didn’t come to the first two morning meetings</a:t>
            </a:r>
            <a:r>
              <a:rPr lang="en-CA" dirty="0"/>
              <a:t>. How could this be an </a:t>
            </a:r>
            <a:r>
              <a:rPr lang="en-CA" dirty="0">
                <a:solidFill>
                  <a:srgbClr val="92D050"/>
                </a:solidFill>
              </a:rPr>
              <a:t>indication</a:t>
            </a:r>
            <a:r>
              <a:rPr lang="en-CA" dirty="0"/>
              <a:t> of </a:t>
            </a:r>
            <a:r>
              <a:rPr lang="en-CA" b="1" dirty="0"/>
              <a:t>any</a:t>
            </a:r>
            <a:r>
              <a:rPr lang="en-CA" dirty="0"/>
              <a:t> of the following </a:t>
            </a:r>
            <a:r>
              <a:rPr lang="en-CA" dirty="0">
                <a:solidFill>
                  <a:srgbClr val="92D050"/>
                </a:solidFill>
              </a:rPr>
              <a:t>causes of conflict</a:t>
            </a:r>
            <a:r>
              <a:rPr lang="en-CA" dirty="0"/>
              <a:t>?</a:t>
            </a:r>
          </a:p>
          <a:p>
            <a:pPr marL="0" indent="0">
              <a:buNone/>
            </a:pPr>
            <a:r>
              <a:rPr lang="en-CA" b="1" dirty="0"/>
              <a:t>Organizational </a:t>
            </a:r>
            <a:endParaRPr lang="en-CA" dirty="0"/>
          </a:p>
          <a:p>
            <a:r>
              <a:rPr lang="en-CA" dirty="0"/>
              <a:t>Rewards Systems</a:t>
            </a:r>
          </a:p>
          <a:p>
            <a:r>
              <a:rPr lang="en-CA" dirty="0"/>
              <a:t>Scarce Resources</a:t>
            </a:r>
          </a:p>
          <a:p>
            <a:r>
              <a:rPr lang="en-CA" dirty="0"/>
              <a:t>Uncertainty</a:t>
            </a:r>
          </a:p>
          <a:p>
            <a:r>
              <a:rPr lang="en-CA" dirty="0"/>
              <a:t>Different Mindsets</a:t>
            </a:r>
          </a:p>
          <a:p>
            <a:pPr marL="0" indent="0">
              <a:buNone/>
            </a:pPr>
            <a:r>
              <a:rPr lang="en-CA" b="1" dirty="0"/>
              <a:t>Interpersonal</a:t>
            </a:r>
            <a:endParaRPr lang="en-CA" dirty="0"/>
          </a:p>
          <a:p>
            <a:r>
              <a:rPr lang="en-CA" dirty="0"/>
              <a:t>Misconceptions</a:t>
            </a:r>
          </a:p>
          <a:p>
            <a:r>
              <a:rPr lang="en-CA" dirty="0"/>
              <a:t>Faulty Communications</a:t>
            </a:r>
          </a:p>
          <a:p>
            <a:r>
              <a:rPr lang="en-CA" dirty="0"/>
              <a:t>Personal Grudges</a:t>
            </a:r>
          </a:p>
        </p:txBody>
      </p:sp>
      <p:sp>
        <p:nvSpPr>
          <p:cNvPr id="4" name="Footer Placeholder 3"/>
          <p:cNvSpPr>
            <a:spLocks noGrp="1"/>
          </p:cNvSpPr>
          <p:nvPr>
            <p:ph type="ftr" sz="quarter" idx="11"/>
          </p:nvPr>
        </p:nvSpPr>
        <p:spPr/>
        <p:txBody>
          <a:bodyPr/>
          <a:lstStyle/>
          <a:p>
            <a:r>
              <a:rPr lang="en-US">
                <a:solidFill>
                  <a:srgbClr val="C19859">
                    <a:lumMod val="20000"/>
                    <a:lumOff val="80000"/>
                  </a:srgbClr>
                </a:solidFill>
              </a:rPr>
              <a:t>G. Labbe &amp; R. Schott</a:t>
            </a:r>
            <a:endParaRPr lang="en-US" dirty="0">
              <a:solidFill>
                <a:srgbClr val="C19859">
                  <a:lumMod val="20000"/>
                  <a:lumOff val="80000"/>
                </a:srgbClr>
              </a:solidFill>
            </a:endParaRPr>
          </a:p>
        </p:txBody>
      </p:sp>
      <p:sp>
        <p:nvSpPr>
          <p:cNvPr id="5" name="Slide Number Placeholder 4"/>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2</a:t>
            </a:fld>
            <a:endParaRPr lang="en-US" dirty="0">
              <a:solidFill>
                <a:srgbClr val="C19859">
                  <a:lumMod val="20000"/>
                  <a:lumOff val="80000"/>
                </a:srgbClr>
              </a:solidFill>
            </a:endParaRPr>
          </a:p>
        </p:txBody>
      </p:sp>
    </p:spTree>
    <p:extLst>
      <p:ext uri="{BB962C8B-B14F-4D97-AF65-F5344CB8AC3E}">
        <p14:creationId xmlns:p14="http://schemas.microsoft.com/office/powerpoint/2010/main" val="27828926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55A17-D051-A098-2371-A957600D73CE}"/>
              </a:ext>
            </a:extLst>
          </p:cNvPr>
          <p:cNvSpPr>
            <a:spLocks noGrp="1"/>
          </p:cNvSpPr>
          <p:nvPr>
            <p:ph type="title"/>
          </p:nvPr>
        </p:nvSpPr>
        <p:spPr/>
        <p:txBody>
          <a:bodyPr/>
          <a:lstStyle/>
          <a:p>
            <a:r>
              <a:rPr lang="en-CA" b="1" dirty="0"/>
              <a:t>1. Organizational Reward Systems</a:t>
            </a:r>
            <a:br>
              <a:rPr lang="en-CA" b="1" dirty="0"/>
            </a:br>
            <a:endParaRPr lang="en-CA" dirty="0"/>
          </a:p>
        </p:txBody>
      </p:sp>
      <p:sp>
        <p:nvSpPr>
          <p:cNvPr id="3" name="Content Placeholder 2">
            <a:extLst>
              <a:ext uri="{FF2B5EF4-FFF2-40B4-BE49-F238E27FC236}">
                <a16:creationId xmlns:a16="http://schemas.microsoft.com/office/drawing/2014/main" id="{4B6F09BC-E899-C1C8-D621-2BD9B9375257}"/>
              </a:ext>
            </a:extLst>
          </p:cNvPr>
          <p:cNvSpPr>
            <a:spLocks noGrp="1"/>
          </p:cNvSpPr>
          <p:nvPr>
            <p:ph idx="1"/>
          </p:nvPr>
        </p:nvSpPr>
        <p:spPr>
          <a:xfrm>
            <a:off x="838200" y="1825625"/>
            <a:ext cx="10515600" cy="4667250"/>
          </a:xfrm>
        </p:spPr>
        <p:txBody>
          <a:bodyPr>
            <a:normAutofit/>
          </a:bodyPr>
          <a:lstStyle/>
          <a:p>
            <a:pPr>
              <a:buFont typeface="Arial" panose="020B0604020202020204" pitchFamily="34" charset="0"/>
              <a:buChar char="•"/>
            </a:pPr>
            <a:r>
              <a:rPr lang="en-CA" sz="2800" b="1" dirty="0"/>
              <a:t>Cause of Conflict</a:t>
            </a:r>
            <a:r>
              <a:rPr lang="en-CA" sz="2800" dirty="0"/>
              <a:t>: If the reward system in the organization is not aligned with the supervisors’ contributions to the project, they may not see the value in attending the meetings.</a:t>
            </a:r>
          </a:p>
          <a:p>
            <a:pPr>
              <a:buFont typeface="Arial" panose="020B0604020202020204" pitchFamily="34" charset="0"/>
              <a:buChar char="•"/>
            </a:pPr>
            <a:r>
              <a:rPr lang="en-CA" sz="2800" b="1" dirty="0"/>
              <a:t>Explanation</a:t>
            </a:r>
            <a:r>
              <a:rPr lang="en-CA" sz="2800" dirty="0"/>
              <a:t>: For example, if they are rewarded for their hands-on work and meeting project deliverables but not for attending meetings or engaging with the team, they may prioritize tasks that directly contribute to their rewards, leading to their absence.</a:t>
            </a:r>
          </a:p>
        </p:txBody>
      </p:sp>
    </p:spTree>
    <p:extLst>
      <p:ext uri="{BB962C8B-B14F-4D97-AF65-F5344CB8AC3E}">
        <p14:creationId xmlns:p14="http://schemas.microsoft.com/office/powerpoint/2010/main" val="42606103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6FAD5F98-8AF4-9E2E-31B1-B73391E88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C3B30-937D-CCB5-AED7-8E7CD0FFA156}"/>
              </a:ext>
            </a:extLst>
          </p:cNvPr>
          <p:cNvSpPr>
            <a:spLocks noGrp="1"/>
          </p:cNvSpPr>
          <p:nvPr>
            <p:ph type="title"/>
          </p:nvPr>
        </p:nvSpPr>
        <p:spPr/>
        <p:txBody>
          <a:bodyPr/>
          <a:lstStyle/>
          <a:p>
            <a:r>
              <a:rPr lang="en-CA" b="1" dirty="0"/>
              <a:t>2. Scarce Resources</a:t>
            </a:r>
            <a:br>
              <a:rPr lang="en-CA" b="1" dirty="0"/>
            </a:br>
            <a:endParaRPr lang="en-CA" dirty="0"/>
          </a:p>
        </p:txBody>
      </p:sp>
      <p:sp>
        <p:nvSpPr>
          <p:cNvPr id="3" name="Content Placeholder 2">
            <a:extLst>
              <a:ext uri="{FF2B5EF4-FFF2-40B4-BE49-F238E27FC236}">
                <a16:creationId xmlns:a16="http://schemas.microsoft.com/office/drawing/2014/main" id="{6E25B6CE-BBB6-2503-6400-F624207D170F}"/>
              </a:ext>
            </a:extLst>
          </p:cNvPr>
          <p:cNvSpPr>
            <a:spLocks noGrp="1"/>
          </p:cNvSpPr>
          <p:nvPr>
            <p:ph idx="1"/>
          </p:nvPr>
        </p:nvSpPr>
        <p:spPr>
          <a:xfrm>
            <a:off x="838200" y="1825625"/>
            <a:ext cx="10515600" cy="4667250"/>
          </a:xfrm>
        </p:spPr>
        <p:txBody>
          <a:bodyPr>
            <a:normAutofit/>
          </a:bodyPr>
          <a:lstStyle/>
          <a:p>
            <a:pPr>
              <a:buFont typeface="Arial" panose="020B0604020202020204" pitchFamily="34" charset="0"/>
              <a:buChar char="•"/>
            </a:pPr>
            <a:r>
              <a:rPr lang="en-CA" sz="2800" b="1" dirty="0"/>
              <a:t>Cause of Conflict</a:t>
            </a:r>
            <a:r>
              <a:rPr lang="en-CA" sz="2800" dirty="0"/>
              <a:t>: There may be limited resources (e.g., time, personnel, equipment) for the maintenance supervisors, and they may feel that attending meetings takes away from time they could spend on critical work.</a:t>
            </a:r>
          </a:p>
          <a:p>
            <a:pPr>
              <a:buFont typeface="Arial" panose="020B0604020202020204" pitchFamily="34" charset="0"/>
              <a:buChar char="•"/>
            </a:pPr>
            <a:r>
              <a:rPr lang="en-CA" sz="2800" b="1" dirty="0"/>
              <a:t>Explanation</a:t>
            </a:r>
            <a:r>
              <a:rPr lang="en-CA" sz="2800" dirty="0"/>
              <a:t>: If the supervisors are understaffed or overworked, they might view attending meetings as an unnecessary use of limited time or resources, leading to frustration and absence.</a:t>
            </a:r>
          </a:p>
        </p:txBody>
      </p:sp>
    </p:spTree>
    <p:extLst>
      <p:ext uri="{BB962C8B-B14F-4D97-AF65-F5344CB8AC3E}">
        <p14:creationId xmlns:p14="http://schemas.microsoft.com/office/powerpoint/2010/main" val="25765834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3EF9AE9D-F97A-8166-B3E4-A83EB7BC2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1F6AF-ABA4-EB1C-074B-8E4202EF294B}"/>
              </a:ext>
            </a:extLst>
          </p:cNvPr>
          <p:cNvSpPr>
            <a:spLocks noGrp="1"/>
          </p:cNvSpPr>
          <p:nvPr>
            <p:ph type="title"/>
          </p:nvPr>
        </p:nvSpPr>
        <p:spPr/>
        <p:txBody>
          <a:bodyPr/>
          <a:lstStyle/>
          <a:p>
            <a:r>
              <a:rPr lang="en-CA" b="1" dirty="0"/>
              <a:t>3. Uncertainty</a:t>
            </a:r>
            <a:br>
              <a:rPr lang="en-CA" b="1" dirty="0"/>
            </a:br>
            <a:endParaRPr lang="en-CA" dirty="0"/>
          </a:p>
        </p:txBody>
      </p:sp>
      <p:sp>
        <p:nvSpPr>
          <p:cNvPr id="3" name="Content Placeholder 2">
            <a:extLst>
              <a:ext uri="{FF2B5EF4-FFF2-40B4-BE49-F238E27FC236}">
                <a16:creationId xmlns:a16="http://schemas.microsoft.com/office/drawing/2014/main" id="{642A3C41-0A98-0401-ECEF-27A66BAB6DDA}"/>
              </a:ext>
            </a:extLst>
          </p:cNvPr>
          <p:cNvSpPr>
            <a:spLocks noGrp="1"/>
          </p:cNvSpPr>
          <p:nvPr>
            <p:ph idx="1"/>
          </p:nvPr>
        </p:nvSpPr>
        <p:spPr>
          <a:xfrm>
            <a:off x="838200" y="1825625"/>
            <a:ext cx="10515600" cy="4667250"/>
          </a:xfrm>
        </p:spPr>
        <p:txBody>
          <a:bodyPr>
            <a:normAutofit/>
          </a:bodyPr>
          <a:lstStyle/>
          <a:p>
            <a:pPr>
              <a:buFont typeface="Arial" panose="020B0604020202020204" pitchFamily="34" charset="0"/>
              <a:buChar char="•"/>
            </a:pPr>
            <a:r>
              <a:rPr lang="en-CA" sz="2800" b="1" dirty="0"/>
              <a:t>Cause of Conflict</a:t>
            </a:r>
            <a:r>
              <a:rPr lang="en-CA" sz="2800" dirty="0"/>
              <a:t>: If the purpose or outcomes of the meetings are unclear, the supervisors may be uncertain about their importance or relevance.</a:t>
            </a:r>
          </a:p>
          <a:p>
            <a:pPr>
              <a:buFont typeface="Arial" panose="020B0604020202020204" pitchFamily="34" charset="0"/>
              <a:buChar char="•"/>
            </a:pPr>
            <a:r>
              <a:rPr lang="en-CA" sz="2800" b="1" dirty="0"/>
              <a:t>Explanation</a:t>
            </a:r>
            <a:r>
              <a:rPr lang="en-CA" sz="2800" dirty="0"/>
              <a:t>: If the supervisors don’t understand how the meetings relate to the success of their work or the project overall, they might decide that their time is better spent elsewhere, leading to avoidance of the meetings.</a:t>
            </a:r>
          </a:p>
        </p:txBody>
      </p:sp>
    </p:spTree>
    <p:extLst>
      <p:ext uri="{BB962C8B-B14F-4D97-AF65-F5344CB8AC3E}">
        <p14:creationId xmlns:p14="http://schemas.microsoft.com/office/powerpoint/2010/main" val="37507232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2B5E4-D08A-7586-DE7B-100C51CDAAD0}"/>
              </a:ext>
            </a:extLst>
          </p:cNvPr>
          <p:cNvSpPr>
            <a:spLocks noGrp="1"/>
          </p:cNvSpPr>
          <p:nvPr>
            <p:ph type="title"/>
          </p:nvPr>
        </p:nvSpPr>
        <p:spPr/>
        <p:txBody>
          <a:bodyPr/>
          <a:lstStyle/>
          <a:p>
            <a:r>
              <a:rPr lang="en-CA" b="1" dirty="0"/>
              <a:t>4. Different Mindsets</a:t>
            </a:r>
            <a:br>
              <a:rPr lang="en-CA" b="1" dirty="0"/>
            </a:br>
            <a:endParaRPr lang="en-CA" dirty="0"/>
          </a:p>
        </p:txBody>
      </p:sp>
      <p:sp>
        <p:nvSpPr>
          <p:cNvPr id="3" name="Content Placeholder 2">
            <a:extLst>
              <a:ext uri="{FF2B5EF4-FFF2-40B4-BE49-F238E27FC236}">
                <a16:creationId xmlns:a16="http://schemas.microsoft.com/office/drawing/2014/main" id="{275FEC9F-BA09-88E4-E2CF-72F34EB0C68A}"/>
              </a:ext>
            </a:extLst>
          </p:cNvPr>
          <p:cNvSpPr>
            <a:spLocks noGrp="1"/>
          </p:cNvSpPr>
          <p:nvPr>
            <p:ph idx="1"/>
          </p:nvPr>
        </p:nvSpPr>
        <p:spPr>
          <a:xfrm>
            <a:off x="838199" y="1825624"/>
            <a:ext cx="10951723" cy="4867005"/>
          </a:xfrm>
        </p:spPr>
        <p:txBody>
          <a:bodyPr>
            <a:normAutofit/>
          </a:bodyPr>
          <a:lstStyle/>
          <a:p>
            <a:pPr>
              <a:buFont typeface="Arial" panose="020B0604020202020204" pitchFamily="34" charset="0"/>
              <a:buChar char="•"/>
            </a:pPr>
            <a:r>
              <a:rPr lang="en-CA" sz="2800" b="1" dirty="0"/>
              <a:t>Cause of Conflict</a:t>
            </a:r>
            <a:r>
              <a:rPr lang="en-CA" sz="2800" dirty="0"/>
              <a:t>: The supervisors may have a different mindset regarding meetings and collaboration compared to the project manager or other team members.</a:t>
            </a:r>
          </a:p>
          <a:p>
            <a:pPr>
              <a:buFont typeface="Arial" panose="020B0604020202020204" pitchFamily="34" charset="0"/>
              <a:buChar char="•"/>
            </a:pPr>
            <a:r>
              <a:rPr lang="en-CA" sz="2800" b="1" dirty="0"/>
              <a:t>Explanation</a:t>
            </a:r>
            <a:r>
              <a:rPr lang="en-CA" sz="2800" dirty="0"/>
              <a:t>: If the maintenance supervisors prioritize practical, hands-on work over administrative tasks like meetings, they may not see the value in attending. Their mindset might be more task-oriented, while others focus on communication and planning through meetings.</a:t>
            </a:r>
          </a:p>
          <a:p>
            <a:endParaRPr lang="en-CA" sz="2800" dirty="0"/>
          </a:p>
        </p:txBody>
      </p:sp>
    </p:spTree>
    <p:extLst>
      <p:ext uri="{BB962C8B-B14F-4D97-AF65-F5344CB8AC3E}">
        <p14:creationId xmlns:p14="http://schemas.microsoft.com/office/powerpoint/2010/main" val="1437831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90DB1-F16E-A7C5-16E9-46EB5CD8D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E7BA5-545A-F657-B403-F11E39CEEA7C}"/>
              </a:ext>
            </a:extLst>
          </p:cNvPr>
          <p:cNvSpPr>
            <a:spLocks noGrp="1"/>
          </p:cNvSpPr>
          <p:nvPr>
            <p:ph type="title"/>
          </p:nvPr>
        </p:nvSpPr>
        <p:spPr/>
        <p:txBody>
          <a:bodyPr/>
          <a:lstStyle/>
          <a:p>
            <a:r>
              <a:rPr lang="en-CA" b="1" dirty="0"/>
              <a:t>5. Interpersonal Conflict</a:t>
            </a:r>
            <a:endParaRPr lang="en-CA" dirty="0"/>
          </a:p>
        </p:txBody>
      </p:sp>
      <p:sp>
        <p:nvSpPr>
          <p:cNvPr id="3" name="Content Placeholder 2">
            <a:extLst>
              <a:ext uri="{FF2B5EF4-FFF2-40B4-BE49-F238E27FC236}">
                <a16:creationId xmlns:a16="http://schemas.microsoft.com/office/drawing/2014/main" id="{9D2802AC-0F55-6547-64CB-8B30ED682C57}"/>
              </a:ext>
            </a:extLst>
          </p:cNvPr>
          <p:cNvSpPr>
            <a:spLocks noGrp="1"/>
          </p:cNvSpPr>
          <p:nvPr>
            <p:ph idx="1"/>
          </p:nvPr>
        </p:nvSpPr>
        <p:spPr>
          <a:xfrm>
            <a:off x="838199" y="1825624"/>
            <a:ext cx="10951723" cy="4867005"/>
          </a:xfrm>
        </p:spPr>
        <p:txBody>
          <a:bodyPr>
            <a:normAutofit/>
          </a:bodyPr>
          <a:lstStyle/>
          <a:p>
            <a:pPr>
              <a:buFont typeface="Arial" panose="020B0604020202020204" pitchFamily="34" charset="0"/>
              <a:buChar char="•"/>
            </a:pPr>
            <a:r>
              <a:rPr lang="en-CA" sz="2800" b="1" dirty="0"/>
              <a:t>Cause of Conflict</a:t>
            </a:r>
            <a:r>
              <a:rPr lang="en-CA" sz="2800" dirty="0"/>
              <a:t>: There could be personal or interpersonal issues between the supervisors and the project manager or other team members, causing the supervisors to avoid the meetings.</a:t>
            </a:r>
          </a:p>
          <a:p>
            <a:pPr>
              <a:buFont typeface="Arial" panose="020B0604020202020204" pitchFamily="34" charset="0"/>
              <a:buChar char="•"/>
            </a:pPr>
            <a:r>
              <a:rPr lang="en-CA" sz="2800" b="1" dirty="0"/>
              <a:t>Explanation</a:t>
            </a:r>
            <a:r>
              <a:rPr lang="en-CA" sz="2800" dirty="0"/>
              <a:t>: If there’s tension or negative interactions between individuals, the supervisors may not want to engage with those they are in conflict with, leading to non-attendance as a form of avoidance.</a:t>
            </a:r>
          </a:p>
          <a:p>
            <a:endParaRPr lang="en-CA" sz="2800" dirty="0"/>
          </a:p>
        </p:txBody>
      </p:sp>
    </p:spTree>
    <p:extLst>
      <p:ext uri="{BB962C8B-B14F-4D97-AF65-F5344CB8AC3E}">
        <p14:creationId xmlns:p14="http://schemas.microsoft.com/office/powerpoint/2010/main" val="2082186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5A96E-0CEE-6927-362F-5AEC266C9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44171-70A2-488A-0209-3AD5C28AC15B}"/>
              </a:ext>
            </a:extLst>
          </p:cNvPr>
          <p:cNvSpPr>
            <a:spLocks noGrp="1"/>
          </p:cNvSpPr>
          <p:nvPr>
            <p:ph type="title"/>
          </p:nvPr>
        </p:nvSpPr>
        <p:spPr/>
        <p:txBody>
          <a:bodyPr/>
          <a:lstStyle/>
          <a:p>
            <a:r>
              <a:rPr lang="en-CA" b="1" dirty="0"/>
              <a:t>6. Misconceptions</a:t>
            </a:r>
            <a:endParaRPr lang="en-CA" dirty="0"/>
          </a:p>
        </p:txBody>
      </p:sp>
      <p:sp>
        <p:nvSpPr>
          <p:cNvPr id="3" name="Content Placeholder 2">
            <a:extLst>
              <a:ext uri="{FF2B5EF4-FFF2-40B4-BE49-F238E27FC236}">
                <a16:creationId xmlns:a16="http://schemas.microsoft.com/office/drawing/2014/main" id="{BF520691-1069-6127-6CE9-6CF59306537D}"/>
              </a:ext>
            </a:extLst>
          </p:cNvPr>
          <p:cNvSpPr>
            <a:spLocks noGrp="1"/>
          </p:cNvSpPr>
          <p:nvPr>
            <p:ph idx="1"/>
          </p:nvPr>
        </p:nvSpPr>
        <p:spPr>
          <a:xfrm>
            <a:off x="838199" y="1825624"/>
            <a:ext cx="10951723" cy="4867005"/>
          </a:xfrm>
        </p:spPr>
        <p:txBody>
          <a:bodyPr>
            <a:normAutofit/>
          </a:bodyPr>
          <a:lstStyle/>
          <a:p>
            <a:pPr>
              <a:buFont typeface="Arial" panose="020B0604020202020204" pitchFamily="34" charset="0"/>
              <a:buChar char="•"/>
            </a:pPr>
            <a:r>
              <a:rPr lang="en-CA" sz="2800" b="1" dirty="0"/>
              <a:t>Cause of Conflict</a:t>
            </a:r>
            <a:r>
              <a:rPr lang="en-CA" sz="2800" dirty="0"/>
              <a:t>: The maintenance supervisors might have misconceptions about the purpose of the meetings or their role in them.</a:t>
            </a:r>
          </a:p>
          <a:p>
            <a:pPr>
              <a:buFont typeface="Arial" panose="020B0604020202020204" pitchFamily="34" charset="0"/>
              <a:buChar char="•"/>
            </a:pPr>
            <a:r>
              <a:rPr lang="en-CA" sz="2800" b="1" dirty="0"/>
              <a:t>Explanation</a:t>
            </a:r>
            <a:r>
              <a:rPr lang="en-CA" sz="2800" dirty="0"/>
              <a:t>: They might believe that their presence is not necessary or that the meetings are not relevant to their responsibilities. These misconceptions could lead them to skip the meetings without fully understanding their importance.</a:t>
            </a:r>
          </a:p>
          <a:p>
            <a:endParaRPr lang="en-CA" sz="2800" dirty="0"/>
          </a:p>
        </p:txBody>
      </p:sp>
    </p:spTree>
    <p:extLst>
      <p:ext uri="{BB962C8B-B14F-4D97-AF65-F5344CB8AC3E}">
        <p14:creationId xmlns:p14="http://schemas.microsoft.com/office/powerpoint/2010/main" val="4212637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1925-4B82-0246-BF1A-B319D5083FC3}"/>
              </a:ext>
            </a:extLst>
          </p:cNvPr>
          <p:cNvSpPr>
            <a:spLocks noGrp="1"/>
          </p:cNvSpPr>
          <p:nvPr>
            <p:ph type="title"/>
          </p:nvPr>
        </p:nvSpPr>
        <p:spPr/>
        <p:txBody>
          <a:bodyPr/>
          <a:lstStyle/>
          <a:p>
            <a:r>
              <a:rPr lang="en-CA" b="1" dirty="0"/>
              <a:t>7. Faulty Communications</a:t>
            </a:r>
            <a:endParaRPr lang="en-CA" dirty="0"/>
          </a:p>
        </p:txBody>
      </p:sp>
      <p:sp>
        <p:nvSpPr>
          <p:cNvPr id="3" name="Content Placeholder 2">
            <a:extLst>
              <a:ext uri="{FF2B5EF4-FFF2-40B4-BE49-F238E27FC236}">
                <a16:creationId xmlns:a16="http://schemas.microsoft.com/office/drawing/2014/main" id="{E944CCF1-075F-754F-1A34-008A9F237C61}"/>
              </a:ext>
            </a:extLst>
          </p:cNvPr>
          <p:cNvSpPr>
            <a:spLocks noGrp="1"/>
          </p:cNvSpPr>
          <p:nvPr>
            <p:ph idx="1"/>
          </p:nvPr>
        </p:nvSpPr>
        <p:spPr/>
        <p:txBody>
          <a:bodyPr>
            <a:normAutofit/>
          </a:bodyPr>
          <a:lstStyle/>
          <a:p>
            <a:pPr>
              <a:buFont typeface="Arial" panose="020B0604020202020204" pitchFamily="34" charset="0"/>
              <a:buChar char="•"/>
            </a:pPr>
            <a:r>
              <a:rPr lang="en-CA" sz="2800" b="1" dirty="0"/>
              <a:t>Cause of Conflict</a:t>
            </a:r>
            <a:r>
              <a:rPr lang="en-CA" sz="2800" dirty="0"/>
              <a:t>: There may have been a breakdown in communication regarding the meeting schedule or the expectation for the supervisors to attend.</a:t>
            </a:r>
          </a:p>
          <a:p>
            <a:pPr>
              <a:buFont typeface="Arial" panose="020B0604020202020204" pitchFamily="34" charset="0"/>
              <a:buChar char="•"/>
            </a:pPr>
            <a:r>
              <a:rPr lang="en-CA" sz="2800" b="1" dirty="0"/>
              <a:t>Explanation</a:t>
            </a:r>
            <a:r>
              <a:rPr lang="en-CA" sz="2800" dirty="0"/>
              <a:t>: If the supervisors were not properly informed about the meetings or there was a lack of clarity about the expectations, they might have simply not shown up due to poor communication from the project manager or other stakeholders.</a:t>
            </a:r>
          </a:p>
        </p:txBody>
      </p:sp>
    </p:spTree>
    <p:extLst>
      <p:ext uri="{BB962C8B-B14F-4D97-AF65-F5344CB8AC3E}">
        <p14:creationId xmlns:p14="http://schemas.microsoft.com/office/powerpoint/2010/main" val="30649694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4E04A-B656-3682-A292-C0C0114FB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C6813-A99B-12EC-3CD8-3782FF8D184B}"/>
              </a:ext>
            </a:extLst>
          </p:cNvPr>
          <p:cNvSpPr>
            <a:spLocks noGrp="1"/>
          </p:cNvSpPr>
          <p:nvPr>
            <p:ph type="title"/>
          </p:nvPr>
        </p:nvSpPr>
        <p:spPr/>
        <p:txBody>
          <a:bodyPr/>
          <a:lstStyle/>
          <a:p>
            <a:r>
              <a:rPr lang="en-CA" b="1" dirty="0"/>
              <a:t>8. Personal Grudges</a:t>
            </a:r>
            <a:br>
              <a:rPr lang="en-CA" b="1" dirty="0"/>
            </a:br>
            <a:endParaRPr lang="en-CA" dirty="0"/>
          </a:p>
        </p:txBody>
      </p:sp>
      <p:sp>
        <p:nvSpPr>
          <p:cNvPr id="3" name="Content Placeholder 2">
            <a:extLst>
              <a:ext uri="{FF2B5EF4-FFF2-40B4-BE49-F238E27FC236}">
                <a16:creationId xmlns:a16="http://schemas.microsoft.com/office/drawing/2014/main" id="{F0B05A08-9FA7-24D5-CE2B-98495AC8BD4C}"/>
              </a:ext>
            </a:extLst>
          </p:cNvPr>
          <p:cNvSpPr>
            <a:spLocks noGrp="1"/>
          </p:cNvSpPr>
          <p:nvPr>
            <p:ph idx="1"/>
          </p:nvPr>
        </p:nvSpPr>
        <p:spPr/>
        <p:txBody>
          <a:bodyPr>
            <a:normAutofit/>
          </a:bodyPr>
          <a:lstStyle/>
          <a:p>
            <a:pPr>
              <a:buFont typeface="Arial" panose="020B0604020202020204" pitchFamily="34" charset="0"/>
              <a:buChar char="•"/>
            </a:pPr>
            <a:r>
              <a:rPr lang="en-CA" sz="2800" b="1" dirty="0"/>
              <a:t>Cause of Conflict</a:t>
            </a:r>
            <a:r>
              <a:rPr lang="en-CA" sz="2800" dirty="0"/>
              <a:t>: The supervisors may have personal grudges against the project manager or other individuals organizing the meetings, leading to their deliberate absence.</a:t>
            </a:r>
          </a:p>
          <a:p>
            <a:pPr>
              <a:buFont typeface="Arial" panose="020B0604020202020204" pitchFamily="34" charset="0"/>
              <a:buChar char="•"/>
            </a:pPr>
            <a:r>
              <a:rPr lang="en-CA" sz="2800" b="1" dirty="0"/>
              <a:t>Explanation</a:t>
            </a:r>
            <a:r>
              <a:rPr lang="en-CA" sz="2800" dirty="0"/>
              <a:t>: If there’s a history of personal conflict, whether related to past interactions or ongoing issues, the supervisors might be refusing to attend the meetings as a form of silent protest or retaliation.</a:t>
            </a:r>
          </a:p>
        </p:txBody>
      </p:sp>
    </p:spTree>
    <p:extLst>
      <p:ext uri="{BB962C8B-B14F-4D97-AF65-F5344CB8AC3E}">
        <p14:creationId xmlns:p14="http://schemas.microsoft.com/office/powerpoint/2010/main" val="79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BFB49-36C3-A151-817B-CDDABF95C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AC3F3-F0CD-E289-2D75-9249B63FA80F}"/>
              </a:ext>
            </a:extLst>
          </p:cNvPr>
          <p:cNvSpPr>
            <a:spLocks noGrp="1"/>
          </p:cNvSpPr>
          <p:nvPr>
            <p:ph type="title"/>
          </p:nvPr>
        </p:nvSpPr>
        <p:spPr/>
        <p:txBody>
          <a:bodyPr/>
          <a:lstStyle/>
          <a:p>
            <a:r>
              <a:rPr lang="en-CA" b="1" dirty="0"/>
              <a:t>Disagreement over a task</a:t>
            </a:r>
            <a:br>
              <a:rPr lang="en-CA" b="1" dirty="0"/>
            </a:br>
            <a:endParaRPr lang="en-CA" dirty="0"/>
          </a:p>
        </p:txBody>
      </p:sp>
      <p:sp>
        <p:nvSpPr>
          <p:cNvPr id="3" name="Content Placeholder 2">
            <a:extLst>
              <a:ext uri="{FF2B5EF4-FFF2-40B4-BE49-F238E27FC236}">
                <a16:creationId xmlns:a16="http://schemas.microsoft.com/office/drawing/2014/main" id="{427D748A-B326-55C2-0CA6-0798BE641EAC}"/>
              </a:ext>
            </a:extLst>
          </p:cNvPr>
          <p:cNvSpPr>
            <a:spLocks noGrp="1"/>
          </p:cNvSpPr>
          <p:nvPr>
            <p:ph idx="1"/>
          </p:nvPr>
        </p:nvSpPr>
        <p:spPr>
          <a:xfrm>
            <a:off x="609600" y="2142069"/>
            <a:ext cx="10363200" cy="4482467"/>
          </a:xfrm>
        </p:spPr>
        <p:txBody>
          <a:bodyPr>
            <a:normAutofit fontScale="92500" lnSpcReduction="10000"/>
          </a:bodyPr>
          <a:lstStyle/>
          <a:p>
            <a:pPr marL="0" indent="0">
              <a:buNone/>
            </a:pPr>
            <a:r>
              <a:rPr lang="en-CA" sz="2800" b="0" i="0" dirty="0">
                <a:effectLst/>
                <a:latin typeface="Indeed Sans"/>
              </a:rPr>
              <a:t>Small-level disagreements frequently happen in the workplace. These task-based disagreements are a natural part of working life, from a singular dispute in a meeting to a difference of opinion on a particular topic. Knowing how to approach these conflicts can help deescalate potential issues within the team or department, such as:</a:t>
            </a:r>
          </a:p>
          <a:p>
            <a:pPr marL="0" indent="0">
              <a:buNone/>
            </a:pPr>
            <a:r>
              <a:rPr lang="en-CA" sz="2800" b="1" i="0" dirty="0">
                <a:effectLst/>
                <a:latin typeface="Indeed Sans"/>
              </a:rPr>
              <a:t>Conflict 1:</a:t>
            </a:r>
            <a:r>
              <a:rPr lang="en-CA" sz="2800" b="0" i="0" dirty="0">
                <a:effectLst/>
                <a:latin typeface="Indeed Sans"/>
              </a:rPr>
              <a:t> </a:t>
            </a:r>
            <a:r>
              <a:rPr lang="en-CA" sz="2800" b="0" i="1" dirty="0">
                <a:effectLst/>
                <a:latin typeface="Indeed Sans"/>
              </a:rPr>
              <a:t>You're in your weekly team meeting, deciding which marketing strategy to take on your next project. You and your colleague disagree about which is the best route. You think solution one offers the most significant benefits to your client, while your colleague feels solution two mutually benefits both companies. The discussion becomes heated, and you feel frustrated. Try finding a resolution that encompasses both your points.</a:t>
            </a:r>
            <a:endParaRPr lang="en-CA" sz="2800" dirty="0"/>
          </a:p>
        </p:txBody>
      </p:sp>
    </p:spTree>
    <p:extLst>
      <p:ext uri="{BB962C8B-B14F-4D97-AF65-F5344CB8AC3E}">
        <p14:creationId xmlns:p14="http://schemas.microsoft.com/office/powerpoint/2010/main" val="528425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EE67D-3028-CCF7-47E7-7A109381B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EE8CB-E3BA-FCA7-872E-833259912D75}"/>
              </a:ext>
            </a:extLst>
          </p:cNvPr>
          <p:cNvSpPr>
            <a:spLocks noGrp="1"/>
          </p:cNvSpPr>
          <p:nvPr>
            <p:ph type="title"/>
          </p:nvPr>
        </p:nvSpPr>
        <p:spPr/>
        <p:txBody>
          <a:bodyPr/>
          <a:lstStyle/>
          <a:p>
            <a:r>
              <a:rPr lang="en-CA" b="1" dirty="0"/>
              <a:t>RESOLUTION TO CONFLICT 1</a:t>
            </a:r>
            <a:br>
              <a:rPr lang="en-CA" b="1" dirty="0"/>
            </a:br>
            <a:endParaRPr lang="en-CA" dirty="0"/>
          </a:p>
        </p:txBody>
      </p:sp>
      <p:sp>
        <p:nvSpPr>
          <p:cNvPr id="3" name="Content Placeholder 2">
            <a:extLst>
              <a:ext uri="{FF2B5EF4-FFF2-40B4-BE49-F238E27FC236}">
                <a16:creationId xmlns:a16="http://schemas.microsoft.com/office/drawing/2014/main" id="{B72B7BAC-4E3C-D6F3-5318-88B651AD7BAD}"/>
              </a:ext>
            </a:extLst>
          </p:cNvPr>
          <p:cNvSpPr>
            <a:spLocks noGrp="1"/>
          </p:cNvSpPr>
          <p:nvPr>
            <p:ph idx="1"/>
          </p:nvPr>
        </p:nvSpPr>
        <p:spPr/>
        <p:txBody>
          <a:bodyPr>
            <a:normAutofit/>
          </a:bodyPr>
          <a:lstStyle/>
          <a:p>
            <a:pPr marL="0" indent="0">
              <a:buNone/>
            </a:pPr>
            <a:r>
              <a:rPr lang="en-CA" sz="2800" b="0" i="1" dirty="0">
                <a:effectLst/>
                <a:latin typeface="Indeed Sans"/>
              </a:rPr>
              <a:t>As a first measure, it's helpful to step back from the issue to stay calm and gain perspective. You can suggest to your colleague that you return to this at the end of the meeting or take a five-minute break to allow everyone time to think. Use this time to breathe and centre yourself. This simple step benefits both parties by creating space and time to return to the problem with a fresh outlook. You can easily prevent this type of conflict from escalating by confronting it early.</a:t>
            </a:r>
            <a:endParaRPr lang="en-CA" sz="2800" dirty="0"/>
          </a:p>
        </p:txBody>
      </p:sp>
    </p:spTree>
    <p:extLst>
      <p:ext uri="{BB962C8B-B14F-4D97-AF65-F5344CB8AC3E}">
        <p14:creationId xmlns:p14="http://schemas.microsoft.com/office/powerpoint/2010/main" val="3729798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EA0F-079C-1484-B670-E1DA04ACE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55DF5-7DF3-4CD8-94EE-9584D084D328}"/>
              </a:ext>
            </a:extLst>
          </p:cNvPr>
          <p:cNvSpPr>
            <a:spLocks noGrp="1"/>
          </p:cNvSpPr>
          <p:nvPr>
            <p:ph type="title"/>
          </p:nvPr>
        </p:nvSpPr>
        <p:spPr/>
        <p:txBody>
          <a:bodyPr/>
          <a:lstStyle/>
          <a:p>
            <a:r>
              <a:rPr lang="en-CA" sz="2800" b="1" i="0" dirty="0">
                <a:effectLst/>
                <a:latin typeface="Indeed Sans"/>
              </a:rPr>
              <a:t>Employee not meeting expectations</a:t>
            </a:r>
            <a:br>
              <a:rPr lang="en-CA" sz="2800" b="1" i="0" dirty="0">
                <a:effectLst/>
                <a:latin typeface="Indeed Sans"/>
              </a:rPr>
            </a:br>
            <a:br>
              <a:rPr lang="en-CA" b="1" dirty="0"/>
            </a:br>
            <a:endParaRPr lang="en-CA" dirty="0"/>
          </a:p>
        </p:txBody>
      </p:sp>
      <p:sp>
        <p:nvSpPr>
          <p:cNvPr id="3" name="Content Placeholder 2">
            <a:extLst>
              <a:ext uri="{FF2B5EF4-FFF2-40B4-BE49-F238E27FC236}">
                <a16:creationId xmlns:a16="http://schemas.microsoft.com/office/drawing/2014/main" id="{4A96C1FF-30DA-0F34-17D8-73CFBF22C16E}"/>
              </a:ext>
            </a:extLst>
          </p:cNvPr>
          <p:cNvSpPr>
            <a:spLocks noGrp="1"/>
          </p:cNvSpPr>
          <p:nvPr>
            <p:ph idx="1"/>
          </p:nvPr>
        </p:nvSpPr>
        <p:spPr>
          <a:xfrm>
            <a:off x="609600" y="1585609"/>
            <a:ext cx="10363200" cy="5038927"/>
          </a:xfrm>
        </p:spPr>
        <p:txBody>
          <a:bodyPr>
            <a:normAutofit lnSpcReduction="10000"/>
          </a:bodyPr>
          <a:lstStyle/>
          <a:p>
            <a:pPr marL="0" indent="0">
              <a:buNone/>
            </a:pPr>
            <a:r>
              <a:rPr lang="en-CA" sz="2800" b="0" i="0" dirty="0">
                <a:effectLst/>
                <a:latin typeface="Indeed Sans"/>
              </a:rPr>
              <a:t>Sometimes an employee may not meet the manager's expectations. This can include turning in work after the deadline to missing a task's essential details. There are many reasons these delegation conflicts occur, so it's vital that the manager listens to the employee and finds a solution that works for everyone, such as:</a:t>
            </a:r>
          </a:p>
          <a:p>
            <a:pPr marL="0" indent="0">
              <a:buNone/>
            </a:pPr>
            <a:r>
              <a:rPr lang="en-CA" sz="2800" b="1" i="0" dirty="0">
                <a:effectLst/>
                <a:latin typeface="Indeed Sans"/>
              </a:rPr>
              <a:t>Conflict 2:</a:t>
            </a:r>
            <a:r>
              <a:rPr lang="en-CA" sz="2800" b="0" i="0" dirty="0">
                <a:effectLst/>
                <a:latin typeface="Indeed Sans"/>
              </a:rPr>
              <a:t> </a:t>
            </a:r>
            <a:r>
              <a:rPr lang="en-CA" sz="2800" b="0" i="1" dirty="0">
                <a:effectLst/>
                <a:latin typeface="Indeed Sans"/>
              </a:rPr>
              <a:t>You're a manager of the payroll staff, and one employee has recently started turning in timesheets late. This problem affects more than just your department's performance, as it means other employees receive their paychecks late. You've also noticed that they're withdrawn from the team and seem more distanced from work. While you're annoyed about their work performance, you're also concerned about their welfare.</a:t>
            </a:r>
            <a:endParaRPr lang="en-CA" sz="2800" dirty="0"/>
          </a:p>
        </p:txBody>
      </p:sp>
    </p:spTree>
    <p:extLst>
      <p:ext uri="{BB962C8B-B14F-4D97-AF65-F5344CB8AC3E}">
        <p14:creationId xmlns:p14="http://schemas.microsoft.com/office/powerpoint/2010/main" val="1548756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CC595-B086-5132-151B-CB8201794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BA9D1-A4BA-FB33-049E-A2338ADBB5CF}"/>
              </a:ext>
            </a:extLst>
          </p:cNvPr>
          <p:cNvSpPr>
            <a:spLocks noGrp="1"/>
          </p:cNvSpPr>
          <p:nvPr>
            <p:ph type="title"/>
          </p:nvPr>
        </p:nvSpPr>
        <p:spPr/>
        <p:txBody>
          <a:bodyPr/>
          <a:lstStyle/>
          <a:p>
            <a:r>
              <a:rPr lang="en-CA" b="1" dirty="0"/>
              <a:t>RESOLUTION TO CONFLICT 2</a:t>
            </a:r>
            <a:br>
              <a:rPr lang="en-CA" b="1" dirty="0"/>
            </a:br>
            <a:endParaRPr lang="en-CA" dirty="0"/>
          </a:p>
        </p:txBody>
      </p:sp>
      <p:sp>
        <p:nvSpPr>
          <p:cNvPr id="3" name="Content Placeholder 2">
            <a:extLst>
              <a:ext uri="{FF2B5EF4-FFF2-40B4-BE49-F238E27FC236}">
                <a16:creationId xmlns:a16="http://schemas.microsoft.com/office/drawing/2014/main" id="{CE7D1214-F9D9-3A6C-02ED-688782E5305C}"/>
              </a:ext>
            </a:extLst>
          </p:cNvPr>
          <p:cNvSpPr>
            <a:spLocks noGrp="1"/>
          </p:cNvSpPr>
          <p:nvPr>
            <p:ph idx="1"/>
          </p:nvPr>
        </p:nvSpPr>
        <p:spPr>
          <a:xfrm>
            <a:off x="609600" y="1838529"/>
            <a:ext cx="10363200" cy="4727642"/>
          </a:xfrm>
        </p:spPr>
        <p:txBody>
          <a:bodyPr>
            <a:normAutofit fontScale="92500" lnSpcReduction="10000"/>
          </a:bodyPr>
          <a:lstStyle/>
          <a:p>
            <a:pPr marL="0" indent="0" algn="l">
              <a:buNone/>
            </a:pPr>
            <a:r>
              <a:rPr lang="en-CA" sz="2800" b="1" i="0" dirty="0">
                <a:effectLst/>
                <a:latin typeface="Indeed Sans"/>
              </a:rPr>
              <a:t>Resolution:</a:t>
            </a:r>
            <a:r>
              <a:rPr lang="en-CA" sz="2800" b="0" i="0" dirty="0">
                <a:effectLst/>
                <a:latin typeface="Indeed Sans"/>
              </a:rPr>
              <a:t> </a:t>
            </a:r>
            <a:r>
              <a:rPr lang="en-CA" sz="2800" b="0" i="1" dirty="0">
                <a:effectLst/>
                <a:latin typeface="Indeed Sans"/>
              </a:rPr>
              <a:t>In these situations, active listening is an excellent approach to resolving this workplace conflict. Active listening is a listening technique that involves observing the other person's verbal and non-verbal cues and providing an accurate paraphrase after they've spoken to show them you understand. Whilst active listening, it's vital to acknowledge the other person's perspective and defer judgement. Some useful phrases may include:</a:t>
            </a:r>
          </a:p>
          <a:p>
            <a:pPr marL="0" indent="0" algn="l">
              <a:buNone/>
            </a:pPr>
            <a:r>
              <a:rPr lang="en-CA" sz="2800" b="0" i="1" dirty="0">
                <a:effectLst/>
                <a:latin typeface="Indeed Sans"/>
              </a:rPr>
              <a:t>'Can you expand on this more for me?'</a:t>
            </a:r>
            <a:endParaRPr lang="en-CA" sz="2800" b="0" i="0" dirty="0">
              <a:effectLst/>
              <a:latin typeface="Indeed Sans"/>
            </a:endParaRPr>
          </a:p>
          <a:p>
            <a:pPr marL="0" indent="0" algn="l">
              <a:buNone/>
            </a:pPr>
            <a:r>
              <a:rPr lang="en-CA" sz="2800" b="0" i="1" dirty="0">
                <a:effectLst/>
                <a:latin typeface="Indeed Sans"/>
              </a:rPr>
              <a:t>'What would you like to see going forwards?'</a:t>
            </a:r>
            <a:endParaRPr lang="en-CA" sz="2800" b="0" i="0" dirty="0">
              <a:effectLst/>
              <a:latin typeface="Indeed Sans"/>
            </a:endParaRPr>
          </a:p>
          <a:p>
            <a:pPr marL="0" indent="0" algn="l">
              <a:buNone/>
            </a:pPr>
            <a:r>
              <a:rPr lang="en-CA" sz="2800" b="0" i="1" dirty="0">
                <a:effectLst/>
                <a:latin typeface="Indeed Sans"/>
              </a:rPr>
              <a:t>'Can I see if I've understood you correctly?'</a:t>
            </a:r>
            <a:endParaRPr lang="en-CA" sz="2800" b="0" i="0" dirty="0">
              <a:effectLst/>
              <a:latin typeface="Indeed Sans"/>
            </a:endParaRPr>
          </a:p>
          <a:p>
            <a:pPr marL="0" indent="0" algn="l">
              <a:buNone/>
            </a:pPr>
            <a:r>
              <a:rPr lang="en-CA" sz="2800" b="0" i="1" dirty="0">
                <a:effectLst/>
                <a:latin typeface="Indeed Sans"/>
              </a:rPr>
              <a:t>'How would you describe your feelings here?'</a:t>
            </a:r>
            <a:endParaRPr lang="en-CA" sz="2800" b="0" i="0" dirty="0">
              <a:effectLst/>
              <a:latin typeface="Indeed Sans"/>
            </a:endParaRPr>
          </a:p>
        </p:txBody>
      </p:sp>
    </p:spTree>
    <p:extLst>
      <p:ext uri="{BB962C8B-B14F-4D97-AF65-F5344CB8AC3E}">
        <p14:creationId xmlns:p14="http://schemas.microsoft.com/office/powerpoint/2010/main" val="1096568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49128-0968-3994-500D-9EDBDC0D4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1A2FC-F39F-F449-955F-09CE90BF60F6}"/>
              </a:ext>
            </a:extLst>
          </p:cNvPr>
          <p:cNvSpPr>
            <a:spLocks noGrp="1"/>
          </p:cNvSpPr>
          <p:nvPr>
            <p:ph type="title"/>
          </p:nvPr>
        </p:nvSpPr>
        <p:spPr/>
        <p:txBody>
          <a:bodyPr/>
          <a:lstStyle/>
          <a:p>
            <a:r>
              <a:rPr lang="en-CA" sz="2800" b="1" i="0" dirty="0">
                <a:effectLst/>
                <a:latin typeface="Indeed Sans"/>
              </a:rPr>
              <a:t>Experiencing creative differences</a:t>
            </a:r>
            <a:br>
              <a:rPr lang="en-CA" b="1" dirty="0"/>
            </a:br>
            <a:endParaRPr lang="en-CA" dirty="0"/>
          </a:p>
        </p:txBody>
      </p:sp>
      <p:sp>
        <p:nvSpPr>
          <p:cNvPr id="3" name="Content Placeholder 2">
            <a:extLst>
              <a:ext uri="{FF2B5EF4-FFF2-40B4-BE49-F238E27FC236}">
                <a16:creationId xmlns:a16="http://schemas.microsoft.com/office/drawing/2014/main" id="{BBE11FC2-84AE-E863-25BB-8EFD7439F653}"/>
              </a:ext>
            </a:extLst>
          </p:cNvPr>
          <p:cNvSpPr>
            <a:spLocks noGrp="1"/>
          </p:cNvSpPr>
          <p:nvPr>
            <p:ph idx="1"/>
          </p:nvPr>
        </p:nvSpPr>
        <p:spPr>
          <a:xfrm>
            <a:off x="609600" y="2142069"/>
            <a:ext cx="10363200" cy="4482467"/>
          </a:xfrm>
        </p:spPr>
        <p:txBody>
          <a:bodyPr>
            <a:normAutofit fontScale="92500" lnSpcReduction="20000"/>
          </a:bodyPr>
          <a:lstStyle/>
          <a:p>
            <a:pPr marL="0" indent="0">
              <a:buNone/>
            </a:pPr>
            <a:r>
              <a:rPr lang="en-CA" sz="2800" b="0" i="0" dirty="0">
                <a:effectLst/>
                <a:latin typeface="Indeed Sans"/>
              </a:rPr>
              <a:t>Working in a team with creatives can provide an excellent opportunity to grow your professional skill set. However, strong creative opinions can cause conflicting voices, each envisioning different directions for a project. Remember that every innovative idea has positive motivations for helping the project succeed, so use that enthusiasm to resolve these workplace conflicts, like:</a:t>
            </a:r>
          </a:p>
          <a:p>
            <a:pPr marL="0" indent="0">
              <a:buNone/>
            </a:pPr>
            <a:r>
              <a:rPr lang="en-CA" sz="2800" b="1" i="0" dirty="0">
                <a:effectLst/>
                <a:latin typeface="Indeed Sans"/>
              </a:rPr>
              <a:t>Conflict 3:</a:t>
            </a:r>
            <a:r>
              <a:rPr lang="en-CA" sz="2800" b="0" i="0" dirty="0">
                <a:effectLst/>
                <a:latin typeface="Indeed Sans"/>
              </a:rPr>
              <a:t> </a:t>
            </a:r>
            <a:r>
              <a:rPr lang="en-CA" sz="2800" b="0" i="1" dirty="0">
                <a:effectLst/>
                <a:latin typeface="Indeed Sans"/>
              </a:rPr>
              <a:t>You're on an architectural team designing a new school building. You're excited to have this opportunity. You're working with another person on the interior design elements, such as the final build's colour schemes and furniture. While you're worried about the overall aesthetic appeal for the students, your partner only seems to care about functionality. You feel like they're dismissing your ideas without even considering them, and it's causing friction between you.</a:t>
            </a:r>
            <a:endParaRPr lang="en-CA" sz="2800" dirty="0"/>
          </a:p>
        </p:txBody>
      </p:sp>
    </p:spTree>
    <p:extLst>
      <p:ext uri="{BB962C8B-B14F-4D97-AF65-F5344CB8AC3E}">
        <p14:creationId xmlns:p14="http://schemas.microsoft.com/office/powerpoint/2010/main" val="271499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FE27-5785-5167-7C6B-C6BA622F9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370E9-70DA-BC61-54A6-10BD0D7132E3}"/>
              </a:ext>
            </a:extLst>
          </p:cNvPr>
          <p:cNvSpPr>
            <a:spLocks noGrp="1"/>
          </p:cNvSpPr>
          <p:nvPr>
            <p:ph type="title"/>
          </p:nvPr>
        </p:nvSpPr>
        <p:spPr/>
        <p:txBody>
          <a:bodyPr/>
          <a:lstStyle/>
          <a:p>
            <a:r>
              <a:rPr lang="en-CA" b="1" dirty="0"/>
              <a:t>RESOLUTION TO CONFLICT 3</a:t>
            </a:r>
            <a:br>
              <a:rPr lang="en-CA" b="1" dirty="0"/>
            </a:br>
            <a:endParaRPr lang="en-CA" dirty="0"/>
          </a:p>
        </p:txBody>
      </p:sp>
      <p:sp>
        <p:nvSpPr>
          <p:cNvPr id="3" name="Content Placeholder 2">
            <a:extLst>
              <a:ext uri="{FF2B5EF4-FFF2-40B4-BE49-F238E27FC236}">
                <a16:creationId xmlns:a16="http://schemas.microsoft.com/office/drawing/2014/main" id="{FEA1EEA2-439F-A207-2E2A-DF953B1D9030}"/>
              </a:ext>
            </a:extLst>
          </p:cNvPr>
          <p:cNvSpPr>
            <a:spLocks noGrp="1"/>
          </p:cNvSpPr>
          <p:nvPr>
            <p:ph idx="1"/>
          </p:nvPr>
        </p:nvSpPr>
        <p:spPr/>
        <p:txBody>
          <a:bodyPr>
            <a:normAutofit/>
          </a:bodyPr>
          <a:lstStyle/>
          <a:p>
            <a:pPr marL="0" indent="0">
              <a:buNone/>
            </a:pPr>
            <a:r>
              <a:rPr lang="en-CA" sz="2800" b="1" i="0" dirty="0">
                <a:effectLst/>
                <a:latin typeface="Indeed Sans"/>
              </a:rPr>
              <a:t>Resolution:</a:t>
            </a:r>
            <a:r>
              <a:rPr lang="en-CA" sz="2800" b="0" i="0" dirty="0">
                <a:effectLst/>
                <a:latin typeface="Indeed Sans"/>
              </a:rPr>
              <a:t> </a:t>
            </a:r>
            <a:r>
              <a:rPr lang="en-CA" sz="2800" b="0" i="1" dirty="0">
                <a:effectLst/>
                <a:latin typeface="Indeed Sans"/>
              </a:rPr>
              <a:t>Resolve creative differences using your inventive outlooks to generate innovative solutions. Work together with your colleagues to incorporate ideas from both parties, compromising where necessary to highlight the most promising aspects from each perspective. Reframe your opposing creative mindsets as a challenge to further your creativity and critical thinking skills..</a:t>
            </a:r>
            <a:endParaRPr lang="en-CA" sz="2800" dirty="0"/>
          </a:p>
        </p:txBody>
      </p:sp>
    </p:spTree>
    <p:extLst>
      <p:ext uri="{BB962C8B-B14F-4D97-AF65-F5344CB8AC3E}">
        <p14:creationId xmlns:p14="http://schemas.microsoft.com/office/powerpoint/2010/main" val="345925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55090-5918-03B7-D993-A17C0382D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A3012-C15E-F9B9-5F00-3EA91DCDCC64}"/>
              </a:ext>
            </a:extLst>
          </p:cNvPr>
          <p:cNvSpPr>
            <a:spLocks noGrp="1"/>
          </p:cNvSpPr>
          <p:nvPr>
            <p:ph type="title"/>
          </p:nvPr>
        </p:nvSpPr>
        <p:spPr/>
        <p:txBody>
          <a:bodyPr/>
          <a:lstStyle/>
          <a:p>
            <a:r>
              <a:rPr lang="en-CA" sz="2800" b="1" i="0" dirty="0">
                <a:effectLst/>
                <a:latin typeface="Indeed Sans"/>
              </a:rPr>
              <a:t> Interpersonal conflicts</a:t>
            </a:r>
            <a:br>
              <a:rPr lang="en-CA" b="1" dirty="0"/>
            </a:br>
            <a:endParaRPr lang="en-CA" dirty="0"/>
          </a:p>
        </p:txBody>
      </p:sp>
      <p:sp>
        <p:nvSpPr>
          <p:cNvPr id="3" name="Content Placeholder 2">
            <a:extLst>
              <a:ext uri="{FF2B5EF4-FFF2-40B4-BE49-F238E27FC236}">
                <a16:creationId xmlns:a16="http://schemas.microsoft.com/office/drawing/2014/main" id="{E63ED6CC-F1CC-D9DE-40D5-7FB27DC574E3}"/>
              </a:ext>
            </a:extLst>
          </p:cNvPr>
          <p:cNvSpPr>
            <a:spLocks noGrp="1"/>
          </p:cNvSpPr>
          <p:nvPr>
            <p:ph idx="1"/>
          </p:nvPr>
        </p:nvSpPr>
        <p:spPr>
          <a:xfrm>
            <a:off x="609600" y="2142069"/>
            <a:ext cx="10363200" cy="4482467"/>
          </a:xfrm>
        </p:spPr>
        <p:txBody>
          <a:bodyPr>
            <a:normAutofit fontScale="92500" lnSpcReduction="20000"/>
          </a:bodyPr>
          <a:lstStyle/>
          <a:p>
            <a:r>
              <a:rPr lang="en-CA" sz="2800" b="0" i="0" dirty="0">
                <a:effectLst/>
                <a:latin typeface="Indeed Sans"/>
              </a:rPr>
              <a:t>Many professionals have found someone challenging to work with or encountered a colleague they disliked. Typically, having </a:t>
            </a:r>
            <a:r>
              <a:rPr lang="en-CA" sz="2800" b="0" i="0" u="none" strike="noStrike" dirty="0">
                <a:effectLst/>
                <a:latin typeface="Indeed Sans"/>
                <a:hlinkClick r:id="rId2">
                  <a:extLst>
                    <a:ext uri="{A12FA001-AC4F-418D-AE19-62706E023703}">
                      <ahyp:hlinkClr xmlns:ahyp="http://schemas.microsoft.com/office/drawing/2018/hyperlinkcolor" val="tx"/>
                    </a:ext>
                  </a:extLst>
                </a:hlinkClick>
              </a:rPr>
              <a:t>interpersonal skills</a:t>
            </a:r>
            <a:r>
              <a:rPr lang="en-CA" sz="2800" b="0" i="0" dirty="0">
                <a:effectLst/>
                <a:latin typeface="Indeed Sans"/>
              </a:rPr>
              <a:t> like communication, attention to detail and active listening can help teammates resolve conflicts, although if lacking, it can exacerbate the situation. Sometimes these escalate beyond the one-off disagreements and require professional mediation, like:</a:t>
            </a:r>
          </a:p>
          <a:p>
            <a:r>
              <a:rPr lang="en-CA" sz="2800" b="1" i="0" dirty="0">
                <a:effectLst/>
                <a:latin typeface="Indeed Sans"/>
              </a:rPr>
              <a:t>Conflict 4:</a:t>
            </a:r>
            <a:r>
              <a:rPr lang="en-CA" sz="2800" b="0" i="0" dirty="0">
                <a:effectLst/>
                <a:latin typeface="Indeed Sans"/>
              </a:rPr>
              <a:t> </a:t>
            </a:r>
            <a:r>
              <a:rPr lang="en-CA" sz="2800" b="0" i="1" dirty="0">
                <a:effectLst/>
                <a:latin typeface="Indeed Sans"/>
              </a:rPr>
              <a:t>You love working with everyone else on your team, but there are team members with who you conflict regularly. Before starting your new job, you knew them outside of work, so you're familiar with your opposing views. Now, you're working with them each day is introducing the problems again. You're also concerned that your past relationship might affect your professional performance.</a:t>
            </a:r>
            <a:endParaRPr lang="en-CA" sz="2800" dirty="0"/>
          </a:p>
        </p:txBody>
      </p:sp>
    </p:spTree>
    <p:extLst>
      <p:ext uri="{BB962C8B-B14F-4D97-AF65-F5344CB8AC3E}">
        <p14:creationId xmlns:p14="http://schemas.microsoft.com/office/powerpoint/2010/main" val="132871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739E-FE7F-707A-881C-64347D9C0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750CB-43C5-7C99-9821-4721EB54F80D}"/>
              </a:ext>
            </a:extLst>
          </p:cNvPr>
          <p:cNvSpPr>
            <a:spLocks noGrp="1"/>
          </p:cNvSpPr>
          <p:nvPr>
            <p:ph type="title"/>
          </p:nvPr>
        </p:nvSpPr>
        <p:spPr/>
        <p:txBody>
          <a:bodyPr/>
          <a:lstStyle/>
          <a:p>
            <a:r>
              <a:rPr lang="en-CA" b="1" dirty="0"/>
              <a:t>RESOLUTION TO CONFLICT 4</a:t>
            </a:r>
            <a:br>
              <a:rPr lang="en-CA" b="1" dirty="0"/>
            </a:br>
            <a:endParaRPr lang="en-CA" dirty="0"/>
          </a:p>
        </p:txBody>
      </p:sp>
      <p:sp>
        <p:nvSpPr>
          <p:cNvPr id="3" name="Content Placeholder 2">
            <a:extLst>
              <a:ext uri="{FF2B5EF4-FFF2-40B4-BE49-F238E27FC236}">
                <a16:creationId xmlns:a16="http://schemas.microsoft.com/office/drawing/2014/main" id="{AAF4FFD0-0B34-99B2-8781-AD8F57469310}"/>
              </a:ext>
            </a:extLst>
          </p:cNvPr>
          <p:cNvSpPr>
            <a:spLocks noGrp="1"/>
          </p:cNvSpPr>
          <p:nvPr>
            <p:ph idx="1"/>
          </p:nvPr>
        </p:nvSpPr>
        <p:spPr/>
        <p:txBody>
          <a:bodyPr>
            <a:normAutofit/>
          </a:bodyPr>
          <a:lstStyle/>
          <a:p>
            <a:pPr marL="0" indent="0">
              <a:buNone/>
            </a:pPr>
            <a:r>
              <a:rPr lang="en-CA" sz="2800" b="1" i="0" dirty="0">
                <a:effectLst/>
                <a:latin typeface="Indeed Sans"/>
              </a:rPr>
              <a:t>Resolution:</a:t>
            </a:r>
            <a:r>
              <a:rPr lang="en-CA" sz="2800" b="0" i="0" dirty="0">
                <a:effectLst/>
                <a:latin typeface="Indeed Sans"/>
              </a:rPr>
              <a:t> </a:t>
            </a:r>
            <a:r>
              <a:rPr lang="en-CA" sz="2800" b="0" i="1" dirty="0">
                <a:effectLst/>
                <a:latin typeface="Indeed Sans"/>
              </a:rPr>
              <a:t>When managing conflict, it's important to remember that our emotions influence our response and potentially escalate these situations. In interpersonal disputes, using a professional mediator or another neutral party can help you resolve the issue. This third party can mediate the conversation and ensure you keep working towards potential solutions.</a:t>
            </a:r>
            <a:endParaRPr lang="en-CA" sz="2800" dirty="0"/>
          </a:p>
        </p:txBody>
      </p:sp>
    </p:spTree>
    <p:extLst>
      <p:ext uri="{BB962C8B-B14F-4D97-AF65-F5344CB8AC3E}">
        <p14:creationId xmlns:p14="http://schemas.microsoft.com/office/powerpoint/2010/main" val="106970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11DE-758B-4F85-DF17-15D441ACC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3836C-C2DF-540E-5BDB-5F89EBFF7E35}"/>
              </a:ext>
            </a:extLst>
          </p:cNvPr>
          <p:cNvSpPr>
            <a:spLocks noGrp="1"/>
          </p:cNvSpPr>
          <p:nvPr>
            <p:ph type="title"/>
          </p:nvPr>
        </p:nvSpPr>
        <p:spPr/>
        <p:txBody>
          <a:bodyPr/>
          <a:lstStyle/>
          <a:p>
            <a:r>
              <a:rPr lang="en-CA" sz="2800" b="1" i="0" dirty="0">
                <a:effectLst/>
                <a:latin typeface="Indeed Sans"/>
              </a:rPr>
              <a:t>Discrimination</a:t>
            </a:r>
            <a:br>
              <a:rPr lang="en-CA" b="1" dirty="0"/>
            </a:br>
            <a:endParaRPr lang="en-CA" dirty="0"/>
          </a:p>
        </p:txBody>
      </p:sp>
      <p:sp>
        <p:nvSpPr>
          <p:cNvPr id="3" name="Content Placeholder 2">
            <a:extLst>
              <a:ext uri="{FF2B5EF4-FFF2-40B4-BE49-F238E27FC236}">
                <a16:creationId xmlns:a16="http://schemas.microsoft.com/office/drawing/2014/main" id="{DD216983-D0DE-8196-504E-5F7D24705542}"/>
              </a:ext>
            </a:extLst>
          </p:cNvPr>
          <p:cNvSpPr>
            <a:spLocks noGrp="1"/>
          </p:cNvSpPr>
          <p:nvPr>
            <p:ph idx="1"/>
          </p:nvPr>
        </p:nvSpPr>
        <p:spPr>
          <a:xfrm>
            <a:off x="609600" y="2142069"/>
            <a:ext cx="10363200" cy="4482467"/>
          </a:xfrm>
        </p:spPr>
        <p:txBody>
          <a:bodyPr>
            <a:normAutofit fontScale="92500" lnSpcReduction="10000"/>
          </a:bodyPr>
          <a:lstStyle/>
          <a:p>
            <a:pPr marL="0" indent="0">
              <a:buNone/>
            </a:pPr>
            <a:r>
              <a:rPr lang="en-CA" sz="2800" b="0" i="0" dirty="0">
                <a:effectLst/>
                <a:latin typeface="Indeed Sans"/>
              </a:rPr>
              <a:t>Discrimination is often the most serious of workplace conflicts and the Equality Act of 2010 was created to protect everyone from discrimination in the workplace. However, prejudice and discrimination come in many forms, including overt discrimination, indirect comments and micro-aggressions. Knowing how to navigate and resolve this type of conflict can help create a better team and understanding of each other, such as:</a:t>
            </a:r>
          </a:p>
          <a:p>
            <a:pPr marL="0" indent="0">
              <a:buNone/>
            </a:pPr>
            <a:r>
              <a:rPr lang="en-CA" sz="2800" b="1" i="0" dirty="0">
                <a:effectLst/>
                <a:latin typeface="Indeed Sans"/>
              </a:rPr>
              <a:t>Conflict 5:</a:t>
            </a:r>
            <a:r>
              <a:rPr lang="en-CA" sz="2800" b="0" i="0" dirty="0">
                <a:effectLst/>
                <a:latin typeface="Indeed Sans"/>
              </a:rPr>
              <a:t> </a:t>
            </a:r>
            <a:r>
              <a:rPr lang="en-CA" sz="2800" b="0" i="1" dirty="0">
                <a:effectLst/>
                <a:latin typeface="Indeed Sans"/>
              </a:rPr>
              <a:t>You find yourself passed over for a promotion again, only this time you know the other candidate was less qualified than yourself. When you ask for feedback, it's vague and indirect. You worry that there's another reason, besides performance, for their decision. You feel uncomfortable and think you ought to raise this with someone.</a:t>
            </a:r>
            <a:endParaRPr lang="en-CA" sz="2800" dirty="0"/>
          </a:p>
        </p:txBody>
      </p:sp>
    </p:spTree>
    <p:extLst>
      <p:ext uri="{BB962C8B-B14F-4D97-AF65-F5344CB8AC3E}">
        <p14:creationId xmlns:p14="http://schemas.microsoft.com/office/powerpoint/2010/main" val="27048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F88E9-A283-9D9F-B9A6-258F3D8E3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D4DDF-4570-7685-F9B8-5A2C363A6144}"/>
              </a:ext>
            </a:extLst>
          </p:cNvPr>
          <p:cNvSpPr>
            <a:spLocks noGrp="1"/>
          </p:cNvSpPr>
          <p:nvPr>
            <p:ph type="title"/>
          </p:nvPr>
        </p:nvSpPr>
        <p:spPr/>
        <p:txBody>
          <a:bodyPr/>
          <a:lstStyle/>
          <a:p>
            <a:r>
              <a:rPr lang="en-CA" b="1" dirty="0"/>
              <a:t>RESOLUTION TO CONFLICT 5</a:t>
            </a:r>
            <a:br>
              <a:rPr lang="en-CA" b="1" dirty="0"/>
            </a:br>
            <a:endParaRPr lang="en-CA" dirty="0"/>
          </a:p>
        </p:txBody>
      </p:sp>
      <p:sp>
        <p:nvSpPr>
          <p:cNvPr id="3" name="Content Placeholder 2">
            <a:extLst>
              <a:ext uri="{FF2B5EF4-FFF2-40B4-BE49-F238E27FC236}">
                <a16:creationId xmlns:a16="http://schemas.microsoft.com/office/drawing/2014/main" id="{B4785AB4-F491-11E0-D207-B889AD66303D}"/>
              </a:ext>
            </a:extLst>
          </p:cNvPr>
          <p:cNvSpPr>
            <a:spLocks noGrp="1"/>
          </p:cNvSpPr>
          <p:nvPr>
            <p:ph idx="1"/>
          </p:nvPr>
        </p:nvSpPr>
        <p:spPr/>
        <p:txBody>
          <a:bodyPr>
            <a:normAutofit/>
          </a:bodyPr>
          <a:lstStyle/>
          <a:p>
            <a:pPr marL="0" indent="0">
              <a:buNone/>
            </a:pPr>
            <a:r>
              <a:rPr lang="en-CA" sz="2800" b="1" i="0" dirty="0">
                <a:effectLst/>
                <a:latin typeface="Indeed Sans"/>
              </a:rPr>
              <a:t>Resolution:</a:t>
            </a:r>
            <a:r>
              <a:rPr lang="en-CA" sz="2800" b="0" i="0" dirty="0">
                <a:effectLst/>
                <a:latin typeface="Indeed Sans"/>
              </a:rPr>
              <a:t> </a:t>
            </a:r>
            <a:r>
              <a:rPr lang="en-CA" sz="2800" b="0" i="1" dirty="0">
                <a:effectLst/>
                <a:latin typeface="Indeed Sans"/>
              </a:rPr>
              <a:t>If you feel that you've experienced discrimination in the workplace, you likely want to involve a human resources (HR) team. You can talk to a manager you feel comfortable with or ask a colleague to come and support you in this process. You can also request a union representative to join you in meetings and ensure the company follows the correct procedure.</a:t>
            </a:r>
            <a:endParaRPr lang="en-CA" sz="2800" dirty="0"/>
          </a:p>
        </p:txBody>
      </p:sp>
    </p:spTree>
    <p:extLst>
      <p:ext uri="{BB962C8B-B14F-4D97-AF65-F5344CB8AC3E}">
        <p14:creationId xmlns:p14="http://schemas.microsoft.com/office/powerpoint/2010/main" val="3110067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DA11-8EDC-831A-09D9-9DFC16A0D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4997E-3392-4F71-2602-7F25390C22B4}"/>
              </a:ext>
            </a:extLst>
          </p:cNvPr>
          <p:cNvSpPr>
            <a:spLocks noGrp="1"/>
          </p:cNvSpPr>
          <p:nvPr>
            <p:ph type="title"/>
          </p:nvPr>
        </p:nvSpPr>
        <p:spPr/>
        <p:txBody>
          <a:bodyPr/>
          <a:lstStyle/>
          <a:p>
            <a:r>
              <a:rPr lang="en-CA" sz="2800" b="1" i="0" dirty="0">
                <a:effectLst/>
                <a:latin typeface="Indeed Sans"/>
              </a:rPr>
              <a:t>Different styles of working</a:t>
            </a:r>
            <a:br>
              <a:rPr lang="en-CA" b="1" dirty="0"/>
            </a:br>
            <a:endParaRPr lang="en-CA" dirty="0"/>
          </a:p>
        </p:txBody>
      </p:sp>
      <p:sp>
        <p:nvSpPr>
          <p:cNvPr id="3" name="Content Placeholder 2">
            <a:extLst>
              <a:ext uri="{FF2B5EF4-FFF2-40B4-BE49-F238E27FC236}">
                <a16:creationId xmlns:a16="http://schemas.microsoft.com/office/drawing/2014/main" id="{E3DC9FEC-25B2-6CEC-E5C9-9997D3480B6D}"/>
              </a:ext>
            </a:extLst>
          </p:cNvPr>
          <p:cNvSpPr>
            <a:spLocks noGrp="1"/>
          </p:cNvSpPr>
          <p:nvPr>
            <p:ph idx="1"/>
          </p:nvPr>
        </p:nvSpPr>
        <p:spPr>
          <a:xfrm>
            <a:off x="609600" y="2142069"/>
            <a:ext cx="10363200" cy="4482467"/>
          </a:xfrm>
        </p:spPr>
        <p:txBody>
          <a:bodyPr>
            <a:normAutofit fontScale="92500" lnSpcReduction="10000"/>
          </a:bodyPr>
          <a:lstStyle/>
          <a:p>
            <a:pPr marL="0" indent="0">
              <a:buNone/>
            </a:pPr>
            <a:r>
              <a:rPr lang="en-CA" sz="2800" b="0" i="0" dirty="0">
                <a:effectLst/>
                <a:latin typeface="Indeed Sans"/>
              </a:rPr>
              <a:t>When talking about different leadership techniques, consider your preferences for different work styles. Everyone has their methods for completing assignments, from how we manage our time to our approach to tasks. When we work closely with others, these individual differences can cause conflict, like:</a:t>
            </a:r>
          </a:p>
          <a:p>
            <a:pPr marL="0" indent="0">
              <a:buNone/>
            </a:pPr>
            <a:r>
              <a:rPr lang="en-CA" sz="2800" b="1" i="0" dirty="0">
                <a:effectLst/>
                <a:latin typeface="Indeed Sans"/>
              </a:rPr>
              <a:t>Conflict 6:</a:t>
            </a:r>
            <a:r>
              <a:rPr lang="en-CA" sz="2800" b="0" i="0" dirty="0">
                <a:effectLst/>
                <a:latin typeface="Indeed Sans"/>
              </a:rPr>
              <a:t> </a:t>
            </a:r>
            <a:r>
              <a:rPr lang="en-CA" sz="2800" b="0" i="1" dirty="0">
                <a:effectLst/>
                <a:latin typeface="Indeed Sans"/>
              </a:rPr>
              <a:t>Your manager has put you and your colleague together to work on producing a new staff handbook. Unfortunately, your different working styles cause conflict between you. While you prefer group work, they prefer to work by themselves. You like working to a tight deadline, whereas your colleague prefers to get things done ahead of time. You're spending more time arguing about how to write the handbook than writing the document.</a:t>
            </a:r>
            <a:endParaRPr lang="en-CA" sz="2800" dirty="0"/>
          </a:p>
        </p:txBody>
      </p:sp>
    </p:spTree>
    <p:extLst>
      <p:ext uri="{BB962C8B-B14F-4D97-AF65-F5344CB8AC3E}">
        <p14:creationId xmlns:p14="http://schemas.microsoft.com/office/powerpoint/2010/main" val="3533600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9AE3-9BD8-15FF-452D-B3C1C0A54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4BBAA-6561-4BA6-AF70-6E6D604AE1C9}"/>
              </a:ext>
            </a:extLst>
          </p:cNvPr>
          <p:cNvSpPr>
            <a:spLocks noGrp="1"/>
          </p:cNvSpPr>
          <p:nvPr>
            <p:ph type="title"/>
          </p:nvPr>
        </p:nvSpPr>
        <p:spPr/>
        <p:txBody>
          <a:bodyPr/>
          <a:lstStyle/>
          <a:p>
            <a:r>
              <a:rPr lang="en-CA" b="1" dirty="0"/>
              <a:t>RESOLUTION TO CONFLICT 6</a:t>
            </a:r>
            <a:br>
              <a:rPr lang="en-CA" b="1" dirty="0"/>
            </a:br>
            <a:endParaRPr lang="en-CA" dirty="0"/>
          </a:p>
        </p:txBody>
      </p:sp>
      <p:sp>
        <p:nvSpPr>
          <p:cNvPr id="3" name="Content Placeholder 2">
            <a:extLst>
              <a:ext uri="{FF2B5EF4-FFF2-40B4-BE49-F238E27FC236}">
                <a16:creationId xmlns:a16="http://schemas.microsoft.com/office/drawing/2014/main" id="{66D71FD4-9D77-7399-E592-023D9A7344CD}"/>
              </a:ext>
            </a:extLst>
          </p:cNvPr>
          <p:cNvSpPr>
            <a:spLocks noGrp="1"/>
          </p:cNvSpPr>
          <p:nvPr>
            <p:ph idx="1"/>
          </p:nvPr>
        </p:nvSpPr>
        <p:spPr>
          <a:xfrm>
            <a:off x="609600" y="2142069"/>
            <a:ext cx="10363200" cy="4463012"/>
          </a:xfrm>
        </p:spPr>
        <p:txBody>
          <a:bodyPr>
            <a:normAutofit fontScale="85000" lnSpcReduction="20000"/>
          </a:bodyPr>
          <a:lstStyle/>
          <a:p>
            <a:pPr marL="0" indent="0" algn="l">
              <a:buNone/>
            </a:pPr>
            <a:r>
              <a:rPr lang="en-CA" sz="2800" b="1" i="0" dirty="0">
                <a:effectLst/>
                <a:latin typeface="Indeed Sans"/>
              </a:rPr>
              <a:t>Resolution:</a:t>
            </a:r>
            <a:r>
              <a:rPr lang="en-CA" sz="2800" b="0" i="0" dirty="0">
                <a:effectLst/>
                <a:latin typeface="Indeed Sans"/>
              </a:rPr>
              <a:t> </a:t>
            </a:r>
            <a:r>
              <a:rPr lang="en-CA" sz="2800" b="0" i="1" dirty="0">
                <a:effectLst/>
                <a:latin typeface="Indeed Sans"/>
              </a:rPr>
              <a:t>If you're struggling to work with another person, try seeing things from their viewpoint or adopting the perceptual positioning technique. This method asks you to consider a situation from another person's perspective before acting. This is to encourage an empathetic response. In this technique, you imagine your situation from three </a:t>
            </a:r>
            <a:r>
              <a:rPr lang="en-CA" sz="2800" b="0" i="1" dirty="0" err="1">
                <a:effectLst/>
                <a:latin typeface="Indeed Sans"/>
              </a:rPr>
              <a:t>perspectives:</a:t>
            </a:r>
            <a:r>
              <a:rPr lang="en-CA" sz="2800" b="1" i="1" dirty="0" err="1">
                <a:effectLst/>
                <a:latin typeface="Indeed Sans"/>
              </a:rPr>
              <a:t>Yours</a:t>
            </a:r>
            <a:r>
              <a:rPr lang="en-CA" sz="2800" b="1" i="1" dirty="0">
                <a:effectLst/>
                <a:latin typeface="Indeed Sans"/>
              </a:rPr>
              <a:t>:</a:t>
            </a:r>
            <a:r>
              <a:rPr lang="en-CA" sz="2800" b="0" i="1" dirty="0">
                <a:effectLst/>
                <a:latin typeface="Indeed Sans"/>
              </a:rPr>
              <a:t> Check to appreciate your position and acknowledge how you're feeling</a:t>
            </a:r>
            <a:endParaRPr lang="en-CA" sz="2800" b="0" i="0" dirty="0">
              <a:effectLst/>
              <a:latin typeface="Indeed Sans"/>
            </a:endParaRPr>
          </a:p>
          <a:p>
            <a:pPr marL="0" indent="0" algn="l">
              <a:buNone/>
            </a:pPr>
            <a:r>
              <a:rPr lang="en-CA" sz="2800" b="1" i="1" dirty="0">
                <a:effectLst/>
                <a:latin typeface="Indeed Sans"/>
              </a:rPr>
              <a:t>Theirs:</a:t>
            </a:r>
            <a:r>
              <a:rPr lang="en-CA" sz="2800" b="0" i="1" dirty="0">
                <a:effectLst/>
                <a:latin typeface="Indeed Sans"/>
              </a:rPr>
              <a:t> Step into the other person's position, see the situation through their eyes, and remain compassionate about their emotions</a:t>
            </a:r>
            <a:endParaRPr lang="en-CA" sz="2800" b="0" i="0" dirty="0">
              <a:effectLst/>
              <a:latin typeface="Indeed Sans"/>
            </a:endParaRPr>
          </a:p>
          <a:p>
            <a:pPr marL="0" indent="0" algn="l">
              <a:buNone/>
            </a:pPr>
            <a:r>
              <a:rPr lang="en-CA" sz="2800" b="1" i="1" dirty="0">
                <a:effectLst/>
                <a:latin typeface="Indeed Sans"/>
              </a:rPr>
              <a:t>Observers: </a:t>
            </a:r>
            <a:r>
              <a:rPr lang="en-CA" sz="2800" b="0" i="1" dirty="0">
                <a:effectLst/>
                <a:latin typeface="Indeed Sans"/>
              </a:rPr>
              <a:t>Consider how an outsider sees your interaction and view your conflict objectively</a:t>
            </a:r>
            <a:endParaRPr lang="en-CA" sz="2800" b="0" i="0" dirty="0">
              <a:effectLst/>
              <a:latin typeface="Indeed Sans"/>
            </a:endParaRPr>
          </a:p>
          <a:p>
            <a:pPr marL="0" indent="0">
              <a:buNone/>
            </a:pPr>
            <a:r>
              <a:rPr lang="en-CA" sz="2800" b="0" i="1" dirty="0">
                <a:effectLst/>
                <a:latin typeface="Indeed Sans"/>
              </a:rPr>
              <a:t>You can complete this task with the person you have a conflict with and deepen your understanding of each other's working preferences to create a closer professional relationship.</a:t>
            </a:r>
            <a:endParaRPr lang="en-CA" sz="2800" dirty="0"/>
          </a:p>
        </p:txBody>
      </p:sp>
    </p:spTree>
    <p:extLst>
      <p:ext uri="{BB962C8B-B14F-4D97-AF65-F5344CB8AC3E}">
        <p14:creationId xmlns:p14="http://schemas.microsoft.com/office/powerpoint/2010/main" val="242822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Override1.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2.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3.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4.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5.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6.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7.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docProps/app.xml><?xml version="1.0" encoding="utf-8"?>
<Properties xmlns="http://schemas.openxmlformats.org/officeDocument/2006/extended-properties" xmlns:vt="http://schemas.openxmlformats.org/officeDocument/2006/docPropsVTypes">
  <Template/>
  <TotalTime>1341</TotalTime>
  <Words>2173</Words>
  <Application>Microsoft Office PowerPoint</Application>
  <PresentationFormat>Widescreen</PresentationFormat>
  <Paragraphs>92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Indeed Sans</vt:lpstr>
      <vt:lpstr>Celestial</vt:lpstr>
      <vt:lpstr>Conflict Example 1</vt:lpstr>
      <vt:lpstr>Conflict Example 2</vt:lpstr>
      <vt:lpstr>1. Organizational Reward Systems </vt:lpstr>
      <vt:lpstr>2. Scarce Resources </vt:lpstr>
      <vt:lpstr>3. Uncertainty </vt:lpstr>
      <vt:lpstr>4. Different Mindsets </vt:lpstr>
      <vt:lpstr>5. Interpersonal Conflict</vt:lpstr>
      <vt:lpstr>6. Misconceptions</vt:lpstr>
      <vt:lpstr>7. Faulty Communications</vt:lpstr>
      <vt:lpstr>8. Personal Grudges </vt:lpstr>
      <vt:lpstr>Disagreement over a task </vt:lpstr>
      <vt:lpstr>RESOLUTION TO CONFLICT 1 </vt:lpstr>
      <vt:lpstr>Employee not meeting expectations  </vt:lpstr>
      <vt:lpstr>RESOLUTION TO CONFLICT 2 </vt:lpstr>
      <vt:lpstr>Experiencing creative differences </vt:lpstr>
      <vt:lpstr>RESOLUTION TO CONFLICT 3 </vt:lpstr>
      <vt:lpstr> Interpersonal conflicts </vt:lpstr>
      <vt:lpstr>RESOLUTION TO CONFLICT 4 </vt:lpstr>
      <vt:lpstr>Discrimination </vt:lpstr>
      <vt:lpstr>RESOLUTION TO CONFLICT 5 </vt:lpstr>
      <vt:lpstr>Different styles of working </vt:lpstr>
      <vt:lpstr>RESOLUTION TO CONFLICT 6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Ozlu, Sinan</dc:creator>
  <cp:lastModifiedBy>Ozlu, Sinan</cp:lastModifiedBy>
  <cp:revision>12</cp:revision>
  <dcterms:created xsi:type="dcterms:W3CDTF">2024-11-21T03:52:57Z</dcterms:created>
  <dcterms:modified xsi:type="dcterms:W3CDTF">2024-11-25T03:57:30Z</dcterms:modified>
</cp:coreProperties>
</file>