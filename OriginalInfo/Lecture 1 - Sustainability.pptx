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29" r:id="rId1"/>
  </p:sldMasterIdLst>
  <p:notesMasterIdLst>
    <p:notesMasterId r:id="rId28"/>
  </p:notesMasterIdLst>
  <p:handoutMasterIdLst>
    <p:handoutMasterId r:id="rId29"/>
  </p:handoutMasterIdLst>
  <p:sldIdLst>
    <p:sldId id="256" r:id="rId2"/>
    <p:sldId id="257" r:id="rId3"/>
    <p:sldId id="520" r:id="rId4"/>
    <p:sldId id="560" r:id="rId5"/>
    <p:sldId id="261" r:id="rId6"/>
    <p:sldId id="260" r:id="rId7"/>
    <p:sldId id="269" r:id="rId8"/>
    <p:sldId id="274" r:id="rId9"/>
    <p:sldId id="270" r:id="rId10"/>
    <p:sldId id="276" r:id="rId11"/>
    <p:sldId id="271" r:id="rId12"/>
    <p:sldId id="275" r:id="rId13"/>
    <p:sldId id="272" r:id="rId14"/>
    <p:sldId id="263" r:id="rId15"/>
    <p:sldId id="277" r:id="rId16"/>
    <p:sldId id="634" r:id="rId17"/>
    <p:sldId id="635" r:id="rId18"/>
    <p:sldId id="558" r:id="rId19"/>
    <p:sldId id="589" r:id="rId20"/>
    <p:sldId id="565" r:id="rId21"/>
    <p:sldId id="564" r:id="rId22"/>
    <p:sldId id="590" r:id="rId23"/>
    <p:sldId id="636" r:id="rId24"/>
    <p:sldId id="563" r:id="rId25"/>
    <p:sldId id="594" r:id="rId26"/>
    <p:sldId id="465" r:id="rId2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76" autoAdjust="0"/>
    <p:restoredTop sz="99834" autoAdjust="0"/>
  </p:normalViewPr>
  <p:slideViewPr>
    <p:cSldViewPr>
      <p:cViewPr varScale="1">
        <p:scale>
          <a:sx n="83" d="100"/>
          <a:sy n="83" d="100"/>
        </p:scale>
        <p:origin x="1627"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8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59AC93D8-8544-4DAA-8261-02F138CCE258}" type="datetimeFigureOut">
              <a:rPr lang="en-CA"/>
              <a:pPr>
                <a:defRPr/>
              </a:pPr>
              <a:t>2025-09-02</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DE66989C-39AE-434E-A804-E9B504C3E54C}" type="slidenum">
              <a:rPr lang="en-CA"/>
              <a:pPr>
                <a:defRPr/>
              </a:pPr>
              <a:t>‹#›</a:t>
            </a:fld>
            <a:endParaRPr lang="en-CA"/>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6D887F7B-4F20-48DB-A87F-06C31334A83E}" type="datetimeFigureOut">
              <a:rPr lang="en-CA"/>
              <a:pPr>
                <a:defRPr/>
              </a:pPr>
              <a:t>2025-09-02</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43F0111-50CB-4CCF-AEE9-B4CCE52DA302}"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831D8F0B-756F-4926-92CE-DAE11D36836D}"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B103408B-DCBC-48DF-BEAF-FFEFF2A365FD}"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9A0BC9A8-AE10-4CF7-902D-AFCBC2D81657}"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751E6FB6-26DB-49CC-BA2E-5FAE3DAD35B0}"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ltLang="en-US"/>
          </a:p>
        </p:txBody>
      </p:sp>
      <p:sp>
        <p:nvSpPr>
          <p:cNvPr id="9" name="Slide Number Placeholder 5"/>
          <p:cNvSpPr>
            <a:spLocks noGrp="1"/>
          </p:cNvSpPr>
          <p:nvPr>
            <p:ph type="sldNum" sz="quarter" idx="12"/>
          </p:nvPr>
        </p:nvSpPr>
        <p:spPr/>
        <p:txBody>
          <a:bodyPr/>
          <a:lstStyle>
            <a:lvl1pPr>
              <a:defRPr/>
            </a:lvl1pPr>
          </a:lstStyle>
          <a:p>
            <a:pPr>
              <a:defRPr/>
            </a:pPr>
            <a:fld id="{EA589E5B-FAF2-4FBB-BED2-69D89CD5DDC4}"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ltLang="en-US"/>
          </a:p>
        </p:txBody>
      </p:sp>
      <p:sp>
        <p:nvSpPr>
          <p:cNvPr id="5" name="Slide Number Placeholder 5"/>
          <p:cNvSpPr>
            <a:spLocks noGrp="1"/>
          </p:cNvSpPr>
          <p:nvPr>
            <p:ph type="sldNum" sz="quarter" idx="12"/>
          </p:nvPr>
        </p:nvSpPr>
        <p:spPr/>
        <p:txBody>
          <a:bodyPr/>
          <a:lstStyle>
            <a:lvl1pPr>
              <a:defRPr/>
            </a:lvl1pPr>
          </a:lstStyle>
          <a:p>
            <a:pPr>
              <a:defRPr/>
            </a:pPr>
            <a:fld id="{9D2E47A3-548F-414F-849A-F197BC1EBCBE}"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ltLang="en-US"/>
          </a:p>
        </p:txBody>
      </p:sp>
      <p:sp>
        <p:nvSpPr>
          <p:cNvPr id="4" name="Slide Number Placeholder 5"/>
          <p:cNvSpPr>
            <a:spLocks noGrp="1"/>
          </p:cNvSpPr>
          <p:nvPr>
            <p:ph type="sldNum" sz="quarter" idx="12"/>
          </p:nvPr>
        </p:nvSpPr>
        <p:spPr/>
        <p:txBody>
          <a:bodyPr/>
          <a:lstStyle>
            <a:lvl1pPr>
              <a:defRPr/>
            </a:lvl1pPr>
          </a:lstStyle>
          <a:p>
            <a:pPr>
              <a:defRPr/>
            </a:pPr>
            <a:fld id="{14A9448D-4072-4D7C-8566-4D489217B026}"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DA1882EB-BF97-4048-A750-8D80A2D69784}"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278DD556-FFB5-42C6-976B-C72F8F631682}"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9A488067-F098-42D0-BD3C-E473F560CF01}"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213603FE-A4CB-4273-9FCE-526E726B5FC9}"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4" name="Footer Placeholder 13"/>
          <p:cNvSpPr>
            <a:spLocks noGrp="1"/>
          </p:cNvSpPr>
          <p:nvPr>
            <p:ph type="ftr" sz="quarter" idx="10"/>
          </p:nvPr>
        </p:nvSpPr>
        <p:spPr/>
        <p:txBody>
          <a:bodyPr/>
          <a:lstStyle>
            <a:lvl1pPr>
              <a:defRPr sz="1600" b="1"/>
            </a:lvl1pPr>
          </a:lstStyle>
          <a:p>
            <a:r>
              <a:rPr lang="en-US" dirty="0"/>
              <a:t>MACH 6002 – Design 2</a:t>
            </a:r>
          </a:p>
        </p:txBody>
      </p:sp>
      <p:sp>
        <p:nvSpPr>
          <p:cNvPr id="15" name="Slide Number Placeholder 14"/>
          <p:cNvSpPr>
            <a:spLocks noGrp="1"/>
          </p:cNvSpPr>
          <p:nvPr>
            <p:ph type="sldNum" sz="quarter" idx="11"/>
          </p:nvPr>
        </p:nvSpPr>
        <p:spPr/>
        <p:txBody>
          <a:bodyPr/>
          <a:lstStyle>
            <a:lvl1pPr>
              <a:defRPr sz="1600"/>
            </a:lvl1pPr>
          </a:lstStyle>
          <a:p>
            <a:fld id="{09F7631C-4E39-452F-916D-07BAEB3C89C7}" type="slidenum">
              <a:rPr lang="en-US" smtClean="0"/>
              <a:pPr/>
              <a:t>‹#›</a:t>
            </a:fld>
            <a:endParaRPr lang="en-US" dirty="0"/>
          </a:p>
        </p:txBody>
      </p:sp>
    </p:spTree>
    <p:extLst>
      <p:ext uri="{BB962C8B-B14F-4D97-AF65-F5344CB8AC3E}">
        <p14:creationId xmlns:p14="http://schemas.microsoft.com/office/powerpoint/2010/main" val="2845682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632C073F-751C-419D-B6CF-B4E5A04564B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epa.gov/Sustainability/"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Sustainable_design"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Sustainable_design"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762000" y="1066801"/>
            <a:ext cx="7772400" cy="894772"/>
          </a:xfrm>
        </p:spPr>
        <p:txBody>
          <a:bodyPr>
            <a:normAutofit/>
          </a:bodyPr>
          <a:lstStyle/>
          <a:p>
            <a:r>
              <a:rPr lang="en-US" b="1" dirty="0"/>
              <a:t>Sustainability</a:t>
            </a:r>
          </a:p>
        </p:txBody>
      </p:sp>
      <p:sp>
        <p:nvSpPr>
          <p:cNvPr id="4" name="Footer Placeholder 3"/>
          <p:cNvSpPr>
            <a:spLocks noGrp="1"/>
          </p:cNvSpPr>
          <p:nvPr>
            <p:ph type="ftr" sz="quarter" idx="10"/>
          </p:nvPr>
        </p:nvSpPr>
        <p:spPr/>
        <p:txBody>
          <a:bodyPr/>
          <a:lstStyle/>
          <a:p>
            <a:r>
              <a:rPr lang="en-US"/>
              <a:t>MACH 6002 – Design 2</a:t>
            </a:r>
            <a:endParaRPr lang="en-US" dirty="0"/>
          </a:p>
        </p:txBody>
      </p:sp>
      <p:pic>
        <p:nvPicPr>
          <p:cNvPr id="6" name="Picture 5"/>
          <p:cNvPicPr>
            <a:picLocks noChangeAspect="1"/>
          </p:cNvPicPr>
          <p:nvPr/>
        </p:nvPicPr>
        <p:blipFill>
          <a:blip r:embed="rId2"/>
          <a:stretch>
            <a:fillRect/>
          </a:stretch>
        </p:blipFill>
        <p:spPr>
          <a:xfrm>
            <a:off x="2514600" y="1961573"/>
            <a:ext cx="3921973" cy="3948897"/>
          </a:xfrm>
          <a:prstGeom prst="rect">
            <a:avLst/>
          </a:prstGeom>
        </p:spPr>
      </p:pic>
      <p:pic>
        <p:nvPicPr>
          <p:cNvPr id="3" name="Shape 62">
            <a:extLst>
              <a:ext uri="{FF2B5EF4-FFF2-40B4-BE49-F238E27FC236}">
                <a16:creationId xmlns:a16="http://schemas.microsoft.com/office/drawing/2014/main" id="{92C35060-D541-5F6D-41B2-82FB3A608E7B}"/>
              </a:ext>
            </a:extLst>
          </p:cNvPr>
          <p:cNvPicPr preferRelativeResize="0">
            <a:picLocks noChangeAspect="1" noChangeArrowheads="1"/>
          </p:cNvPicPr>
          <p:nvPr/>
        </p:nvPicPr>
        <p:blipFill>
          <a:blip r:embed="rId3"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B5763BF4-B1C6-E6F5-B599-7DF20BA245A8}"/>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DF2024DA-05F2-8EFC-F7F3-D330B30A14A5}"/>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3983764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a:t>MACH 6002 – Design 2</a:t>
            </a:r>
            <a:endParaRPr lang="en-US" dirty="0"/>
          </a:p>
        </p:txBody>
      </p:sp>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What is Sustainability?</a:t>
            </a:r>
          </a:p>
        </p:txBody>
      </p:sp>
      <p:sp>
        <p:nvSpPr>
          <p:cNvPr id="5" name="Subtitle 2"/>
          <p:cNvSpPr txBox="1">
            <a:spLocks/>
          </p:cNvSpPr>
          <p:nvPr/>
        </p:nvSpPr>
        <p:spPr>
          <a:xfrm>
            <a:off x="914400" y="1828800"/>
            <a:ext cx="76962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Clr>
                <a:schemeClr val="tx1"/>
              </a:buClr>
              <a:buNone/>
              <a:defRPr/>
            </a:pPr>
            <a:r>
              <a:rPr lang="en-US" sz="2800" b="1" dirty="0">
                <a:ea typeface="ＭＳ Ｐゴシック" pitchFamily="-65" charset="-128"/>
              </a:rPr>
              <a:t>Sustainability is defined by the EPA as:</a:t>
            </a:r>
          </a:p>
          <a:p>
            <a:pPr marL="511175" lvl="3" indent="0">
              <a:buClr>
                <a:schemeClr val="tx1"/>
              </a:buClr>
              <a:buNone/>
              <a:defRPr/>
            </a:pPr>
            <a:r>
              <a:rPr lang="en-US" sz="2400" dirty="0"/>
              <a:t>“meeting the needs of the present without compromising the ability of future generations to meet their own needs.”</a:t>
            </a:r>
            <a:endParaRPr lang="en-US" sz="2400" dirty="0">
              <a:ea typeface="ＭＳ Ｐゴシック" pitchFamily="-65" charset="-128"/>
            </a:endParaRPr>
          </a:p>
          <a:p>
            <a:pPr marL="0" indent="0">
              <a:buClr>
                <a:schemeClr val="tx1"/>
              </a:buClr>
              <a:buNone/>
              <a:defRPr/>
            </a:pPr>
            <a:r>
              <a:rPr lang="en-US" sz="2400" dirty="0">
                <a:ea typeface="ＭＳ Ｐゴシック" pitchFamily="-65" charset="-128"/>
              </a:rPr>
              <a:t>	</a:t>
            </a:r>
            <a:r>
              <a:rPr lang="en-US" sz="2400" dirty="0">
                <a:ea typeface="ＭＳ Ｐゴシック" pitchFamily="-65" charset="-128"/>
                <a:hlinkClick r:id="rId2"/>
              </a:rPr>
              <a:t>http://www.epa.gov/Sustainability/</a:t>
            </a:r>
            <a:endParaRPr lang="en-US" sz="2400" dirty="0">
              <a:ea typeface="ＭＳ Ｐゴシック" pitchFamily="-65" charset="-128"/>
            </a:endParaRPr>
          </a:p>
          <a:p>
            <a:pPr marL="0" indent="0">
              <a:buClr>
                <a:schemeClr val="tx1"/>
              </a:buClr>
              <a:buNone/>
              <a:defRPr/>
            </a:pPr>
            <a:endParaRPr lang="en-US" sz="2400" dirty="0">
              <a:ea typeface="ＭＳ Ｐゴシック" pitchFamily="-65" charset="-128"/>
            </a:endParaRPr>
          </a:p>
          <a:p>
            <a:pPr marL="571500" lvl="2" indent="-342900">
              <a:buClr>
                <a:schemeClr val="tx1"/>
              </a:buClr>
              <a:defRPr/>
            </a:pPr>
            <a:r>
              <a:rPr lang="en-US" dirty="0">
                <a:ea typeface="ＭＳ Ｐゴシック" pitchFamily="-65" charset="-128"/>
              </a:rPr>
              <a:t>It stems from a concept developed by Thomas Jefferson which basically means not leaving a debt for future generations.</a:t>
            </a:r>
            <a:endParaRPr lang="en-US" sz="2400" dirty="0">
              <a:ea typeface="ＭＳ Ｐゴシック" pitchFamily="-65" charset="-128"/>
            </a:endParaRPr>
          </a:p>
        </p:txBody>
      </p:sp>
      <p:pic>
        <p:nvPicPr>
          <p:cNvPr id="6" name="Shape 62">
            <a:extLst>
              <a:ext uri="{FF2B5EF4-FFF2-40B4-BE49-F238E27FC236}">
                <a16:creationId xmlns:a16="http://schemas.microsoft.com/office/drawing/2014/main" id="{E0CD0BA3-825B-DCE9-5E37-E532263F15C6}"/>
              </a:ext>
            </a:extLst>
          </p:cNvPr>
          <p:cNvPicPr preferRelativeResize="0">
            <a:picLocks noChangeAspect="1" noChangeArrowheads="1"/>
          </p:cNvPicPr>
          <p:nvPr/>
        </p:nvPicPr>
        <p:blipFill>
          <a:blip r:embed="rId3"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1F71775F-1A6A-8A31-0636-98F474C2698C}"/>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701149BE-0D0B-874D-C8F8-8A974E31004F}"/>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2616470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2531"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p:cNvSpPr txBox="1">
            <a:spLocks/>
          </p:cNvSpPr>
          <p:nvPr/>
        </p:nvSpPr>
        <p:spPr bwMode="auto">
          <a:xfrm>
            <a:off x="157163" y="836613"/>
            <a:ext cx="8834437" cy="5716587"/>
          </a:xfrm>
          <a:prstGeom prst="rect">
            <a:avLst/>
          </a:prstGeom>
          <a:noFill/>
          <a:ln>
            <a:noFill/>
          </a:ln>
        </p:spPr>
        <p:txBody>
          <a:bodyPr>
            <a:normAutofit fontScale="92500" lnSpcReduction="10000"/>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sz="3500" b="1" i="1" dirty="0"/>
              <a:t>Sustainable design </a:t>
            </a:r>
            <a:r>
              <a:rPr lang="en-US" sz="3500" dirty="0"/>
              <a:t>is the philosophy of designing physical objects, the built environment, and services to comply with the principles of social, economic and ecological sustainability. </a:t>
            </a:r>
            <a:r>
              <a:rPr lang="en-US" dirty="0"/>
              <a:t> </a:t>
            </a:r>
          </a:p>
          <a:p>
            <a:pPr marL="539496" indent="-457200">
              <a:defRPr/>
            </a:pPr>
            <a:r>
              <a:rPr lang="en-US" sz="2800" dirty="0"/>
              <a:t>The intention is to "eliminate [aim to minimize] negative environmental impact through skillful, sensitive design”</a:t>
            </a:r>
          </a:p>
          <a:p>
            <a:pPr marL="539496" indent="-457200">
              <a:defRPr/>
            </a:pPr>
            <a:r>
              <a:rPr lang="en-US" sz="2800" dirty="0"/>
              <a:t>Sustainable design must create projects that are meaningful innovations that can shift [social] behaviour. </a:t>
            </a:r>
          </a:p>
          <a:p>
            <a:pPr marL="539496" indent="-457200">
              <a:defRPr/>
            </a:pPr>
            <a:r>
              <a:rPr lang="en-US" sz="2800" dirty="0"/>
              <a:t>A dynamic balance between economy and society, intended to generate long-term relationships between user and object/service</a:t>
            </a:r>
          </a:p>
          <a:p>
            <a:pPr marL="539496" indent="-457200">
              <a:defRPr/>
            </a:pPr>
            <a:r>
              <a:rPr lang="en-US" sz="2800" dirty="0"/>
              <a:t>To be respectful and mindful of the environmental and social differences</a:t>
            </a:r>
            <a:endParaRPr lang="en-US" sz="1100" dirty="0"/>
          </a:p>
          <a:p>
            <a:pPr marL="82296" indent="0" algn="r">
              <a:buFont typeface="Arial" charset="0"/>
              <a:buNone/>
              <a:defRPr/>
            </a:pPr>
            <a:r>
              <a:rPr lang="en-US" sz="1100" dirty="0">
                <a:hlinkClick r:id="rId3"/>
              </a:rPr>
              <a:t>https://en.wikipedia.org/wiki/Sustainable_design</a:t>
            </a:r>
            <a:endParaRPr lang="en-US" sz="1100" dirty="0"/>
          </a:p>
        </p:txBody>
      </p:sp>
      <p:sp>
        <p:nvSpPr>
          <p:cNvPr id="2" name="Shape 63">
            <a:extLst>
              <a:ext uri="{FF2B5EF4-FFF2-40B4-BE49-F238E27FC236}">
                <a16:creationId xmlns:a16="http://schemas.microsoft.com/office/drawing/2014/main" id="{F9D0B0D3-BBD1-5F95-5572-08684E7B04F4}"/>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2619009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3555"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p:cNvSpPr txBox="1">
            <a:spLocks/>
          </p:cNvSpPr>
          <p:nvPr/>
        </p:nvSpPr>
        <p:spPr bwMode="auto">
          <a:xfrm>
            <a:off x="157163" y="836613"/>
            <a:ext cx="8910637" cy="5832475"/>
          </a:xfrm>
          <a:prstGeom prst="rect">
            <a:avLst/>
          </a:prstGeom>
          <a:noFill/>
          <a:ln>
            <a:noFill/>
          </a:ln>
        </p:spPr>
        <p:txBody>
          <a:bodyPr>
            <a:normAutofit fontScale="92500" lnSpcReduction="20000"/>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sz="3500" b="1" i="1" dirty="0"/>
              <a:t>Sustainable design principles…</a:t>
            </a:r>
          </a:p>
          <a:p>
            <a:pPr>
              <a:defRPr/>
            </a:pPr>
            <a:r>
              <a:rPr lang="en-US" sz="3000" dirty="0"/>
              <a:t>Low-impact materials: non-toxic sustainably produced or recycled materials that require less energy to process</a:t>
            </a:r>
          </a:p>
          <a:p>
            <a:pPr>
              <a:defRPr/>
            </a:pPr>
            <a:r>
              <a:rPr lang="en-US" sz="3000" dirty="0"/>
              <a:t>Energy efficiency: ideally use manufacturing processes and produce products which require less energy</a:t>
            </a:r>
          </a:p>
          <a:p>
            <a:pPr>
              <a:defRPr/>
            </a:pPr>
            <a:r>
              <a:rPr lang="en-US" sz="3000" b="1" i="1" dirty="0"/>
              <a:t>“Emotionally durable design”</a:t>
            </a:r>
            <a:r>
              <a:rPr lang="en-US" sz="3000" dirty="0"/>
              <a:t> reducing consumption and waste of resources by increasing the durability of relationships between people and products, through design – </a:t>
            </a:r>
            <a:r>
              <a:rPr lang="en-US" sz="3000" i="1" u="sng" dirty="0"/>
              <a:t>build things that last and that consumers want to own for a long time!</a:t>
            </a:r>
          </a:p>
          <a:p>
            <a:pPr>
              <a:defRPr/>
            </a:pPr>
            <a:r>
              <a:rPr lang="en-US" sz="3000" b="1" i="1" dirty="0"/>
              <a:t>“Design for reuse and recycling”</a:t>
            </a:r>
            <a:r>
              <a:rPr lang="en-US" sz="3000" dirty="0"/>
              <a:t> Products, processes, and systems should be designed for performance in a commercial 'afterlife – </a:t>
            </a:r>
            <a:r>
              <a:rPr lang="en-US" sz="3000" i="1" u="sng" dirty="0"/>
              <a:t>balancing act! Don’t compromise performance and service life in the process.</a:t>
            </a:r>
          </a:p>
          <a:p>
            <a:pPr marL="82296" indent="0" algn="r">
              <a:buFont typeface="Arial" charset="0"/>
              <a:buNone/>
              <a:defRPr/>
            </a:pPr>
            <a:endParaRPr lang="en-US" sz="600" dirty="0">
              <a:hlinkClick r:id="rId3"/>
            </a:endParaRPr>
          </a:p>
          <a:p>
            <a:pPr marL="82296" indent="0" algn="r">
              <a:buFont typeface="Arial" charset="0"/>
              <a:buNone/>
              <a:defRPr/>
            </a:pPr>
            <a:r>
              <a:rPr lang="en-US" sz="1100" dirty="0">
                <a:hlinkClick r:id="rId3"/>
              </a:rPr>
              <a:t>https://en.wikipedia.org/wiki/Sustainable_design</a:t>
            </a:r>
            <a:endParaRPr lang="en-US" sz="1100" dirty="0"/>
          </a:p>
        </p:txBody>
      </p:sp>
      <p:sp>
        <p:nvSpPr>
          <p:cNvPr id="2" name="Shape 63">
            <a:extLst>
              <a:ext uri="{FF2B5EF4-FFF2-40B4-BE49-F238E27FC236}">
                <a16:creationId xmlns:a16="http://schemas.microsoft.com/office/drawing/2014/main" id="{958049A9-5905-A6C3-59A5-6C73F8FDCCDB}"/>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945748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Sustainability</a:t>
            </a:r>
          </a:p>
        </p:txBody>
      </p:sp>
      <p:sp>
        <p:nvSpPr>
          <p:cNvPr id="5" name="Subtitle 2"/>
          <p:cNvSpPr txBox="1">
            <a:spLocks/>
          </p:cNvSpPr>
          <p:nvPr/>
        </p:nvSpPr>
        <p:spPr>
          <a:xfrm>
            <a:off x="914400" y="1828800"/>
            <a:ext cx="76962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71500" lvl="2" indent="-342900">
              <a:buClr>
                <a:schemeClr val="tx1"/>
              </a:buClr>
              <a:defRPr/>
            </a:pPr>
            <a:r>
              <a:rPr lang="en-US" dirty="0">
                <a:ea typeface="ＭＳ Ｐゴシック" pitchFamily="-65" charset="-128"/>
              </a:rPr>
              <a:t>There are four basic points to the sustainability platform:</a:t>
            </a:r>
          </a:p>
          <a:p>
            <a:pPr marL="1143000" lvl="3" indent="-457200">
              <a:buClr>
                <a:schemeClr val="tx1"/>
              </a:buClr>
              <a:buFontTx/>
              <a:buAutoNum type="arabicPeriod"/>
              <a:defRPr/>
            </a:pPr>
            <a:r>
              <a:rPr lang="en-US" sz="2400" dirty="0">
                <a:ea typeface="ＭＳ Ｐゴシック" pitchFamily="-65" charset="-128"/>
              </a:rPr>
              <a:t>Recycling.</a:t>
            </a:r>
          </a:p>
          <a:p>
            <a:pPr marL="1143000" lvl="3" indent="-457200">
              <a:buClr>
                <a:schemeClr val="tx1"/>
              </a:buClr>
              <a:buFontTx/>
              <a:buAutoNum type="arabicPeriod"/>
              <a:defRPr/>
            </a:pPr>
            <a:r>
              <a:rPr lang="en-US" sz="2400" dirty="0">
                <a:ea typeface="ＭＳ Ｐゴシック" pitchFamily="-65" charset="-128"/>
              </a:rPr>
              <a:t>Biodegradable polymers or polymers made from sustainable sources.</a:t>
            </a:r>
          </a:p>
          <a:p>
            <a:pPr marL="1143000" lvl="3" indent="-457200">
              <a:buClr>
                <a:schemeClr val="tx1"/>
              </a:buClr>
              <a:buFontTx/>
              <a:buAutoNum type="arabicPeriod"/>
              <a:defRPr/>
            </a:pPr>
            <a:r>
              <a:rPr lang="en-US" sz="2400" dirty="0">
                <a:ea typeface="ＭＳ Ｐゴシック" pitchFamily="-65" charset="-128"/>
              </a:rPr>
              <a:t>Reduction of the amount of material used in products.</a:t>
            </a:r>
          </a:p>
          <a:p>
            <a:pPr marL="1143000" lvl="3" indent="-457200">
              <a:buClr>
                <a:schemeClr val="tx1"/>
              </a:buClr>
              <a:buFontTx/>
              <a:buAutoNum type="arabicPeriod"/>
              <a:defRPr/>
            </a:pPr>
            <a:r>
              <a:rPr lang="en-US" sz="2400" dirty="0">
                <a:ea typeface="ＭＳ Ｐゴシック" pitchFamily="-65" charset="-128"/>
              </a:rPr>
              <a:t>Designing for recyclability.</a:t>
            </a:r>
          </a:p>
        </p:txBody>
      </p:sp>
      <p:pic>
        <p:nvPicPr>
          <p:cNvPr id="6" name="Shape 62">
            <a:extLst>
              <a:ext uri="{FF2B5EF4-FFF2-40B4-BE49-F238E27FC236}">
                <a16:creationId xmlns:a16="http://schemas.microsoft.com/office/drawing/2014/main" id="{2C68F001-4E3F-0F65-9459-C838A56D4DD6}"/>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AC0351DD-49B7-7B02-33AB-B00EAB1AEECD}"/>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33038C4A-71FE-EF27-A94E-45E33DDE3EC4}"/>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1194358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Recycling Codes</a:t>
            </a:r>
          </a:p>
        </p:txBody>
      </p:sp>
      <p:sp>
        <p:nvSpPr>
          <p:cNvPr id="8" name="Subtitle 2"/>
          <p:cNvSpPr txBox="1">
            <a:spLocks/>
          </p:cNvSpPr>
          <p:nvPr/>
        </p:nvSpPr>
        <p:spPr>
          <a:xfrm>
            <a:off x="914400" y="1828800"/>
            <a:ext cx="76962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defRPr/>
            </a:pPr>
            <a:r>
              <a:rPr lang="en-US" sz="2400" dirty="0">
                <a:ea typeface="ＭＳ Ｐゴシック" pitchFamily="-65" charset="-128"/>
              </a:rPr>
              <a:t>There are 7 primary recycling symbols.</a:t>
            </a:r>
          </a:p>
          <a:p>
            <a:pPr>
              <a:spcBef>
                <a:spcPts val="0"/>
              </a:spcBef>
              <a:defRPr/>
            </a:pPr>
            <a:r>
              <a:rPr lang="en-US" sz="2400" dirty="0">
                <a:ea typeface="ＭＳ Ｐゴシック" pitchFamily="-65" charset="-128"/>
              </a:rPr>
              <a:t>The most commonly recycled materials are PET (Polyester), polyethylene, and polypropylene.</a:t>
            </a:r>
          </a:p>
          <a:p>
            <a:pPr marL="0" indent="0">
              <a:spcBef>
                <a:spcPts val="0"/>
              </a:spcBef>
              <a:buNone/>
              <a:defRPr/>
            </a:pPr>
            <a:endParaRPr lang="en-US" sz="2400" dirty="0">
              <a:ea typeface="ＭＳ Ｐゴシック" pitchFamily="-65" charset="-128"/>
            </a:endParaRPr>
          </a:p>
          <a:p>
            <a:pPr>
              <a:spcBef>
                <a:spcPts val="0"/>
              </a:spcBef>
              <a:defRPr/>
            </a:pPr>
            <a:r>
              <a:rPr lang="en-US" sz="2400" dirty="0">
                <a:ea typeface="ＭＳ Ｐゴシック" pitchFamily="-65" charset="-128"/>
              </a:rPr>
              <a:t>Polyester is commonly recycled into carpeting and polyethylene bags are recycled into more bags. </a:t>
            </a:r>
          </a:p>
          <a:p>
            <a:pPr marL="0" indent="0">
              <a:spcBef>
                <a:spcPts val="0"/>
              </a:spcBef>
              <a:buNone/>
              <a:defRPr/>
            </a:pPr>
            <a:endParaRPr lang="en-US" sz="2400" dirty="0">
              <a:ea typeface="ＭＳ Ｐゴシック" pitchFamily="-65" charset="-128"/>
            </a:endParaRPr>
          </a:p>
          <a:p>
            <a:pPr>
              <a:spcBef>
                <a:spcPts val="0"/>
              </a:spcBef>
              <a:defRPr/>
            </a:pPr>
            <a:r>
              <a:rPr lang="en-US" sz="2400" dirty="0">
                <a:ea typeface="ＭＳ Ｐゴシック" pitchFamily="-65" charset="-128"/>
              </a:rPr>
              <a:t>Many times polyethylene and polypropylene recycled materials are mixed and molded into items like flower pots or plastic lumber.</a:t>
            </a:r>
          </a:p>
          <a:p>
            <a:pPr marL="1143000" lvl="3" indent="-457200">
              <a:buClr>
                <a:schemeClr val="tx1"/>
              </a:buClr>
              <a:buFontTx/>
              <a:buAutoNum type="arabicPeriod"/>
              <a:defRPr/>
            </a:pPr>
            <a:endParaRPr lang="en-US" sz="2400" dirty="0">
              <a:ea typeface="ＭＳ Ｐゴシック" pitchFamily="-65" charset="-128"/>
            </a:endParaRPr>
          </a:p>
        </p:txBody>
      </p:sp>
      <p:pic>
        <p:nvPicPr>
          <p:cNvPr id="5" name="Shape 62">
            <a:extLst>
              <a:ext uri="{FF2B5EF4-FFF2-40B4-BE49-F238E27FC236}">
                <a16:creationId xmlns:a16="http://schemas.microsoft.com/office/drawing/2014/main" id="{04784BB6-00DC-CC5C-D2F1-6183CAA85C92}"/>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6" name="Shape 63">
            <a:extLst>
              <a:ext uri="{FF2B5EF4-FFF2-40B4-BE49-F238E27FC236}">
                <a16:creationId xmlns:a16="http://schemas.microsoft.com/office/drawing/2014/main" id="{693F268A-9706-27C4-D2D0-6D7FE04E3908}"/>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7" name="Shape 63">
            <a:extLst>
              <a:ext uri="{FF2B5EF4-FFF2-40B4-BE49-F238E27FC236}">
                <a16:creationId xmlns:a16="http://schemas.microsoft.com/office/drawing/2014/main" id="{0B8EC198-1D2F-B0FD-335B-71F3B5EFB608}"/>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1895183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Recycling Codes</a:t>
            </a:r>
          </a:p>
        </p:txBody>
      </p:sp>
      <p:pic>
        <p:nvPicPr>
          <p:cNvPr id="7" name="Picture 6"/>
          <p:cNvPicPr>
            <a:picLocks noChangeAspect="1"/>
          </p:cNvPicPr>
          <p:nvPr/>
        </p:nvPicPr>
        <p:blipFill>
          <a:blip r:embed="rId2"/>
          <a:stretch>
            <a:fillRect/>
          </a:stretch>
        </p:blipFill>
        <p:spPr>
          <a:xfrm>
            <a:off x="676771" y="1524000"/>
            <a:ext cx="7942857" cy="4476190"/>
          </a:xfrm>
          <a:prstGeom prst="rect">
            <a:avLst/>
          </a:prstGeom>
        </p:spPr>
      </p:pic>
      <p:pic>
        <p:nvPicPr>
          <p:cNvPr id="5" name="Shape 62">
            <a:extLst>
              <a:ext uri="{FF2B5EF4-FFF2-40B4-BE49-F238E27FC236}">
                <a16:creationId xmlns:a16="http://schemas.microsoft.com/office/drawing/2014/main" id="{107103C2-8BF9-82C7-DBF7-84D2A71D3323}"/>
              </a:ext>
            </a:extLst>
          </p:cNvPr>
          <p:cNvPicPr preferRelativeResize="0">
            <a:picLocks noChangeAspect="1" noChangeArrowheads="1"/>
          </p:cNvPicPr>
          <p:nvPr/>
        </p:nvPicPr>
        <p:blipFill>
          <a:blip r:embed="rId3" cstate="print"/>
          <a:srcRect/>
          <a:stretch>
            <a:fillRect/>
          </a:stretch>
        </p:blipFill>
        <p:spPr bwMode="auto">
          <a:xfrm>
            <a:off x="8348663" y="128588"/>
            <a:ext cx="638175" cy="579437"/>
          </a:xfrm>
          <a:prstGeom prst="rect">
            <a:avLst/>
          </a:prstGeom>
          <a:noFill/>
          <a:ln w="9525">
            <a:noFill/>
            <a:miter lim="800000"/>
            <a:headEnd/>
            <a:tailEnd/>
          </a:ln>
        </p:spPr>
      </p:pic>
      <p:sp>
        <p:nvSpPr>
          <p:cNvPr id="6" name="Shape 63">
            <a:extLst>
              <a:ext uri="{FF2B5EF4-FFF2-40B4-BE49-F238E27FC236}">
                <a16:creationId xmlns:a16="http://schemas.microsoft.com/office/drawing/2014/main" id="{474FCE58-FF87-731A-C987-CCE59547E419}"/>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CFB999B5-CFE0-3652-9F98-690C57552D14}"/>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1463894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09F7631C-4E39-452F-916D-07BAEB3C89C7}" type="slidenum">
              <a:rPr lang="en-US" smtClean="0"/>
              <a:pPr/>
              <a:t>8</a:t>
            </a:fld>
            <a:endParaRPr lang="en-US"/>
          </a:p>
        </p:txBody>
      </p:sp>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Recycling</a:t>
            </a:r>
          </a:p>
        </p:txBody>
      </p:sp>
      <p:sp>
        <p:nvSpPr>
          <p:cNvPr id="5" name="Subtitle 2"/>
          <p:cNvSpPr txBox="1">
            <a:spLocks/>
          </p:cNvSpPr>
          <p:nvPr/>
        </p:nvSpPr>
        <p:spPr>
          <a:xfrm>
            <a:off x="914400" y="1828800"/>
            <a:ext cx="78486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en-US" sz="2400" dirty="0">
                <a:ea typeface="ＭＳ Ｐゴシック" pitchFamily="-65" charset="-128"/>
              </a:rPr>
              <a:t>There are two basic types of recycled plastic:</a:t>
            </a:r>
          </a:p>
          <a:p>
            <a:pPr indent="0">
              <a:buNone/>
              <a:defRPr/>
            </a:pPr>
            <a:r>
              <a:rPr lang="en-US" sz="2400" dirty="0">
                <a:ea typeface="ＭＳ Ｐゴシック" pitchFamily="-65" charset="-128"/>
              </a:rPr>
              <a:t>	Post-consumer</a:t>
            </a:r>
          </a:p>
          <a:p>
            <a:pPr indent="0">
              <a:buNone/>
              <a:defRPr/>
            </a:pPr>
            <a:r>
              <a:rPr lang="en-US" sz="2400" dirty="0">
                <a:ea typeface="ＭＳ Ｐゴシック" pitchFamily="-65" charset="-128"/>
              </a:rPr>
              <a:t>	Post-industrial </a:t>
            </a:r>
          </a:p>
          <a:p>
            <a:pPr marL="514350">
              <a:defRPr/>
            </a:pPr>
            <a:r>
              <a:rPr lang="en-US" sz="2400" b="1" dirty="0">
                <a:ea typeface="ＭＳ Ｐゴシック" pitchFamily="-65" charset="-128"/>
              </a:rPr>
              <a:t>Post-consumer</a:t>
            </a:r>
            <a:r>
              <a:rPr lang="en-US" sz="2400" dirty="0">
                <a:ea typeface="ＭＳ Ｐゴシック" pitchFamily="-65" charset="-128"/>
              </a:rPr>
              <a:t> is more difficult to deal with. It needs to be sorted, washed, ground, and sometimes re-extruded into pellets. It can contain materials like metal, labels, and biological material.</a:t>
            </a:r>
          </a:p>
          <a:p>
            <a:pPr marL="514350">
              <a:defRPr/>
            </a:pPr>
            <a:r>
              <a:rPr lang="en-US" sz="2400" b="1" dirty="0">
                <a:ea typeface="ＭＳ Ｐゴシック" pitchFamily="-65" charset="-128"/>
              </a:rPr>
              <a:t>Post-industrial</a:t>
            </a:r>
            <a:r>
              <a:rPr lang="en-US" sz="2400" dirty="0">
                <a:ea typeface="ＭＳ Ｐゴシック" pitchFamily="-65" charset="-128"/>
              </a:rPr>
              <a:t> is usually just regrind or contaminated material which is no longer useable by the original purchaser. </a:t>
            </a:r>
          </a:p>
          <a:p>
            <a:endParaRPr lang="en-US" sz="2400" dirty="0"/>
          </a:p>
        </p:txBody>
      </p:sp>
      <p:pic>
        <p:nvPicPr>
          <p:cNvPr id="6" name="Shape 62">
            <a:extLst>
              <a:ext uri="{FF2B5EF4-FFF2-40B4-BE49-F238E27FC236}">
                <a16:creationId xmlns:a16="http://schemas.microsoft.com/office/drawing/2014/main" id="{32D2020D-0C3C-85FD-AE2D-6ABFB4DBC01D}"/>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BD00064B-BA28-A137-FC6B-37F30980B5FF}"/>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8A67507D-3105-A247-1F80-A1467B5061B0}"/>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878808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Biodegradable</a:t>
            </a:r>
          </a:p>
        </p:txBody>
      </p:sp>
      <p:sp>
        <p:nvSpPr>
          <p:cNvPr id="5" name="Subtitle 2"/>
          <p:cNvSpPr txBox="1">
            <a:spLocks/>
          </p:cNvSpPr>
          <p:nvPr/>
        </p:nvSpPr>
        <p:spPr>
          <a:xfrm>
            <a:off x="914400" y="1828800"/>
            <a:ext cx="76962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sz="2400" dirty="0">
                <a:ea typeface="ＭＳ Ｐゴシック" panose="020B0600070205080204" pitchFamily="34" charset="-128"/>
              </a:rPr>
              <a:t>Many years ago, there were two primary plastic initiatives meant to deal with the accumulation of plastic waste; These were </a:t>
            </a:r>
            <a:r>
              <a:rPr lang="en-US" altLang="en-US" sz="2400" u="sng" dirty="0">
                <a:solidFill>
                  <a:srgbClr val="0070C0"/>
                </a:solidFill>
                <a:ea typeface="ＭＳ Ｐゴシック" panose="020B0600070205080204" pitchFamily="34" charset="-128"/>
              </a:rPr>
              <a:t>recycling</a:t>
            </a:r>
            <a:r>
              <a:rPr lang="en-US" altLang="en-US" sz="2400" dirty="0">
                <a:ea typeface="ＭＳ Ｐゴシック" panose="020B0600070205080204" pitchFamily="34" charset="-128"/>
              </a:rPr>
              <a:t> and </a:t>
            </a:r>
            <a:r>
              <a:rPr lang="en-US" altLang="en-US" sz="2400" u="sng" dirty="0">
                <a:solidFill>
                  <a:srgbClr val="0070C0"/>
                </a:solidFill>
                <a:ea typeface="ＭＳ Ｐゴシック" panose="020B0600070205080204" pitchFamily="34" charset="-128"/>
              </a:rPr>
              <a:t>biodegradability.</a:t>
            </a:r>
          </a:p>
          <a:p>
            <a:r>
              <a:rPr lang="en-US" altLang="en-US" sz="2400" dirty="0">
                <a:ea typeface="ＭＳ Ｐゴシック" panose="020B0600070205080204" pitchFamily="34" charset="-128"/>
              </a:rPr>
              <a:t>The two initiatives were directly opposed to each other because when you make an article out of recycled material, you may want it to last for a long time, like plastic lumber. </a:t>
            </a:r>
          </a:p>
          <a:p>
            <a:r>
              <a:rPr lang="en-US" altLang="en-US" sz="2400" dirty="0">
                <a:ea typeface="ＭＳ Ｐゴシック" panose="020B0600070205080204" pitchFamily="34" charset="-128"/>
              </a:rPr>
              <a:t>If biodegradable materials are mixed in with the materials being recycled, it very well may cause a premature failure of the product.</a:t>
            </a:r>
          </a:p>
        </p:txBody>
      </p:sp>
      <p:pic>
        <p:nvPicPr>
          <p:cNvPr id="6" name="Shape 62">
            <a:extLst>
              <a:ext uri="{FF2B5EF4-FFF2-40B4-BE49-F238E27FC236}">
                <a16:creationId xmlns:a16="http://schemas.microsoft.com/office/drawing/2014/main" id="{40EEFF0F-542A-D6DD-65F8-B1D75A4E4000}"/>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CEFFFF96-5127-4477-C272-3404024F2E85}"/>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B914DA06-C8C8-0C5A-FA02-70A9E30DE3CD}"/>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2175059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Biodegradable</a:t>
            </a:r>
          </a:p>
        </p:txBody>
      </p:sp>
      <p:sp>
        <p:nvSpPr>
          <p:cNvPr id="5" name="Subtitle 2"/>
          <p:cNvSpPr txBox="1">
            <a:spLocks/>
          </p:cNvSpPr>
          <p:nvPr/>
        </p:nvSpPr>
        <p:spPr>
          <a:xfrm>
            <a:off x="914400" y="1828800"/>
            <a:ext cx="79248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sz="2400" dirty="0">
                <a:ea typeface="ＭＳ Ｐゴシック" panose="020B0600070205080204" pitchFamily="34" charset="-128"/>
              </a:rPr>
              <a:t>At the time, the direction the industry chose was recycling.</a:t>
            </a:r>
          </a:p>
          <a:p>
            <a:r>
              <a:rPr lang="en-US" altLang="en-US" sz="2400" dirty="0">
                <a:ea typeface="ＭＳ Ｐゴシック" panose="020B0600070205080204" pitchFamily="34" charset="-128"/>
              </a:rPr>
              <a:t>Now, with the cost of oil rising, and the high demand for fossil fuels, biopolymers are rising to the forefront of the industry once again.</a:t>
            </a:r>
          </a:p>
          <a:p>
            <a:r>
              <a:rPr lang="en-US" altLang="en-US" sz="2400" dirty="0">
                <a:ea typeface="ＭＳ Ｐゴシック" panose="020B0600070205080204" pitchFamily="34" charset="-128"/>
              </a:rPr>
              <a:t>It’s not a hoax that we will eventually run out of fossil fuels, it’s a fact. </a:t>
            </a:r>
          </a:p>
          <a:p>
            <a:r>
              <a:rPr lang="en-US" altLang="en-US" sz="2400" dirty="0">
                <a:ea typeface="ＭＳ Ｐゴシック" panose="020B0600070205080204" pitchFamily="34" charset="-128"/>
              </a:rPr>
              <a:t>Our society may condemn plastics for the pollution it causes, but try to imagine life without them. </a:t>
            </a:r>
          </a:p>
          <a:p>
            <a:pPr lvl="1"/>
            <a:r>
              <a:rPr lang="en-US" altLang="en-US" sz="2400" dirty="0">
                <a:ea typeface="ＭＳ Ｐゴシック" panose="020B0600070205080204" pitchFamily="34" charset="-128"/>
              </a:rPr>
              <a:t>(Think convenience, safety, and durability)</a:t>
            </a:r>
          </a:p>
        </p:txBody>
      </p:sp>
      <p:pic>
        <p:nvPicPr>
          <p:cNvPr id="6" name="Shape 62">
            <a:extLst>
              <a:ext uri="{FF2B5EF4-FFF2-40B4-BE49-F238E27FC236}">
                <a16:creationId xmlns:a16="http://schemas.microsoft.com/office/drawing/2014/main" id="{23409F28-218A-AEA2-C7B9-D30EF0F7F2B5}"/>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2A2CC899-2B98-4151-0358-74B9D84FF986}"/>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74B52A96-B1BA-A274-D9F2-5BF9106AEEEA}"/>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2444702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Biodegradable</a:t>
            </a:r>
          </a:p>
        </p:txBody>
      </p:sp>
      <p:sp>
        <p:nvSpPr>
          <p:cNvPr id="5" name="Subtitle 2"/>
          <p:cNvSpPr txBox="1">
            <a:spLocks/>
          </p:cNvSpPr>
          <p:nvPr/>
        </p:nvSpPr>
        <p:spPr>
          <a:xfrm>
            <a:off x="914400" y="1828800"/>
            <a:ext cx="76962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sz="2400" dirty="0">
                <a:ea typeface="ＭＳ Ｐゴシック" panose="020B0600070205080204" pitchFamily="34" charset="-128"/>
              </a:rPr>
              <a:t>Some of the first plastic materials created were from agricultural sources – rubbers, cellulosic. </a:t>
            </a:r>
          </a:p>
          <a:p>
            <a:r>
              <a:rPr lang="en-US" altLang="en-US" sz="2400" dirty="0">
                <a:ea typeface="ＭＳ Ｐゴシック" panose="020B0600070205080204" pitchFamily="34" charset="-128"/>
              </a:rPr>
              <a:t>Today, many of the newer polymers that are being developed are being created from starches. Mainly corn and potato.</a:t>
            </a:r>
          </a:p>
          <a:p>
            <a:r>
              <a:rPr lang="en-US" altLang="en-US" sz="2400" dirty="0" err="1">
                <a:ea typeface="ＭＳ Ｐゴシック" panose="020B0600070205080204" pitchFamily="34" charset="-128"/>
              </a:rPr>
              <a:t>Polylactic</a:t>
            </a:r>
            <a:r>
              <a:rPr lang="en-US" altLang="en-US" sz="2400" dirty="0">
                <a:ea typeface="ＭＳ Ｐゴシック" panose="020B0600070205080204" pitchFamily="34" charset="-128"/>
              </a:rPr>
              <a:t> acid is produced from corn starch and has many properties similar to that of Polyester Terephthalate. It is more difficult to process and is more easily degraded by higher temperatures, but the material shows potential.</a:t>
            </a:r>
          </a:p>
        </p:txBody>
      </p:sp>
      <p:pic>
        <p:nvPicPr>
          <p:cNvPr id="6" name="Shape 62">
            <a:extLst>
              <a:ext uri="{FF2B5EF4-FFF2-40B4-BE49-F238E27FC236}">
                <a16:creationId xmlns:a16="http://schemas.microsoft.com/office/drawing/2014/main" id="{84CC6C1D-C30F-B889-A2A7-DA5832CE48DD}"/>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B7544324-216C-37FF-00C1-B36119715E92}"/>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A3CC6AD8-6DD9-41EE-3DF6-9891A0DBB40D}"/>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3048627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Biodegradable</a:t>
            </a:r>
          </a:p>
        </p:txBody>
      </p:sp>
      <p:sp>
        <p:nvSpPr>
          <p:cNvPr id="5" name="Subtitle 2"/>
          <p:cNvSpPr txBox="1">
            <a:spLocks/>
          </p:cNvSpPr>
          <p:nvPr/>
        </p:nvSpPr>
        <p:spPr>
          <a:xfrm>
            <a:off x="914400" y="1828800"/>
            <a:ext cx="76962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sz="2400" dirty="0">
                <a:ea typeface="ＭＳ Ｐゴシック" panose="020B0600070205080204" pitchFamily="34" charset="-128"/>
              </a:rPr>
              <a:t>Why do they take so long to break down?</a:t>
            </a:r>
          </a:p>
          <a:p>
            <a:r>
              <a:rPr lang="en-US" altLang="en-US" sz="2400" dirty="0">
                <a:ea typeface="ＭＳ Ｐゴシック" panose="020B0600070205080204" pitchFamily="34" charset="-128"/>
              </a:rPr>
              <a:t>Typically the degradation process is performed by microbes, in the presence of oxygen and moisture. The microbes eat the starches and cause the polymer matrix to break into smaller and smaller pieces.</a:t>
            </a:r>
          </a:p>
          <a:p>
            <a:r>
              <a:rPr lang="en-US" altLang="en-US" sz="2400" dirty="0">
                <a:ea typeface="ＭＳ Ｐゴシック" panose="020B0600070205080204" pitchFamily="34" charset="-128"/>
              </a:rPr>
              <a:t>In a landfill, both can be scarce. Nothing degrades well in a landfill. You can dig up newspapers decades old and still read the newsprint.</a:t>
            </a:r>
          </a:p>
        </p:txBody>
      </p:sp>
      <p:pic>
        <p:nvPicPr>
          <p:cNvPr id="6" name="Shape 62">
            <a:extLst>
              <a:ext uri="{FF2B5EF4-FFF2-40B4-BE49-F238E27FC236}">
                <a16:creationId xmlns:a16="http://schemas.microsoft.com/office/drawing/2014/main" id="{D205B9FA-3EED-2175-E701-261326603806}"/>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147CD1E3-C7FD-9741-FB55-60EADE03D4FF}"/>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679ED9C3-663E-A671-8C8C-D6A409437E11}"/>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449836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Material Reduction</a:t>
            </a:r>
          </a:p>
        </p:txBody>
      </p:sp>
      <p:sp>
        <p:nvSpPr>
          <p:cNvPr id="5" name="Subtitle 2"/>
          <p:cNvSpPr txBox="1">
            <a:spLocks/>
          </p:cNvSpPr>
          <p:nvPr/>
        </p:nvSpPr>
        <p:spPr>
          <a:xfrm>
            <a:off x="914400" y="1828800"/>
            <a:ext cx="76962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sz="2400" dirty="0">
                <a:ea typeface="ＭＳ Ｐゴシック" panose="020B0600070205080204" pitchFamily="34" charset="-128"/>
              </a:rPr>
              <a:t>Reducing the amount of plastic material that goes into a product (design stage) serves several purposes;</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The product will cost less</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There will be less material after use for recycling or disposal</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There will be more material available for other uses.</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Less energy is required to produce and transport the product.</a:t>
            </a:r>
          </a:p>
          <a:p>
            <a:r>
              <a:rPr lang="en-US" altLang="en-US" sz="2400" dirty="0">
                <a:ea typeface="ＭＳ Ｐゴシック" panose="020B0600070205080204" pitchFamily="34" charset="-128"/>
              </a:rPr>
              <a:t>If you go into product design, you must be conscious of the advantages or using less material in your products.</a:t>
            </a:r>
          </a:p>
          <a:p>
            <a:r>
              <a:rPr lang="en-US" altLang="en-US" sz="2400" dirty="0">
                <a:ea typeface="ＭＳ Ｐゴシック" panose="020B0600070205080204" pitchFamily="34" charset="-128"/>
              </a:rPr>
              <a:t>The improvement in material properties, processes, and designs makes the ability to reduce material content possible.</a:t>
            </a:r>
          </a:p>
        </p:txBody>
      </p:sp>
      <p:pic>
        <p:nvPicPr>
          <p:cNvPr id="6" name="Shape 62">
            <a:extLst>
              <a:ext uri="{FF2B5EF4-FFF2-40B4-BE49-F238E27FC236}">
                <a16:creationId xmlns:a16="http://schemas.microsoft.com/office/drawing/2014/main" id="{A39CD09A-A596-45F3-5811-21A16D17E909}"/>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45612265-7A29-CE1E-00F3-FF25BEC6440F}"/>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DBA57BAF-A61C-0A7D-9A78-C3B5520F7D83}"/>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3021574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Designing for Recyclability</a:t>
            </a:r>
          </a:p>
        </p:txBody>
      </p:sp>
      <p:sp>
        <p:nvSpPr>
          <p:cNvPr id="5" name="Subtitle 2"/>
          <p:cNvSpPr txBox="1">
            <a:spLocks/>
          </p:cNvSpPr>
          <p:nvPr/>
        </p:nvSpPr>
        <p:spPr>
          <a:xfrm>
            <a:off x="914400" y="1828800"/>
            <a:ext cx="76962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sz="2400" dirty="0">
                <a:ea typeface="ＭＳ Ｐゴシック" panose="020B0600070205080204" pitchFamily="34" charset="-128"/>
              </a:rPr>
              <a:t>This is an area where a plastics engineer can make a real impact if they know what they are doing.</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Try to make the assembly out of a single material or compatible materials.</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Make assemblies that can be easily disassembled.</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Avoid screws and metal fasteners in favor of snap or press fits if possible.</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Reduce the number of components.</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Avoid labels if possible.</a:t>
            </a:r>
          </a:p>
          <a:p>
            <a:pPr lvl="1">
              <a:buFont typeface="Arial" panose="020B0604020202020204" pitchFamily="34" charset="0"/>
              <a:buChar char="•"/>
            </a:pPr>
            <a:r>
              <a:rPr lang="en-US" altLang="en-US" sz="2000" dirty="0">
                <a:solidFill>
                  <a:srgbClr val="0070C0"/>
                </a:solidFill>
                <a:ea typeface="ＭＳ Ｐゴシック" panose="020B0600070205080204" pitchFamily="34" charset="-128"/>
              </a:rPr>
              <a:t>Try not to mix in thermosetting components in assemblies (thermoplastic elastomers instead of rubber seals)</a:t>
            </a:r>
          </a:p>
        </p:txBody>
      </p:sp>
      <p:pic>
        <p:nvPicPr>
          <p:cNvPr id="6" name="Shape 62">
            <a:extLst>
              <a:ext uri="{FF2B5EF4-FFF2-40B4-BE49-F238E27FC236}">
                <a16:creationId xmlns:a16="http://schemas.microsoft.com/office/drawing/2014/main" id="{1C9654F1-0CAF-D1F0-045C-4F56AA73B7C9}"/>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480CC304-1CBA-F077-6A41-20E8BC0BF48F}"/>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391667EC-558C-7B01-467B-149FD95914E7}"/>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879589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62000" y="533400"/>
            <a:ext cx="7772400" cy="11652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Designing for Recyclability</a:t>
            </a:r>
          </a:p>
        </p:txBody>
      </p:sp>
      <p:sp>
        <p:nvSpPr>
          <p:cNvPr id="5" name="Subtitle 2"/>
          <p:cNvSpPr txBox="1">
            <a:spLocks/>
          </p:cNvSpPr>
          <p:nvPr/>
        </p:nvSpPr>
        <p:spPr>
          <a:xfrm>
            <a:off x="914400" y="1828800"/>
            <a:ext cx="7696200" cy="3962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sz="2400" dirty="0">
                <a:ea typeface="ＭＳ Ｐゴシック" panose="020B0600070205080204" pitchFamily="34" charset="-128"/>
              </a:rPr>
              <a:t>You may not have the final word on the designs you produce, but you will at least be able to offer alternatives to make your product ‘greener’ and easier to take to its next use.</a:t>
            </a:r>
          </a:p>
          <a:p>
            <a:r>
              <a:rPr lang="en-US" altLang="en-US" sz="2400" dirty="0">
                <a:ea typeface="ＭＳ Ｐゴシック" panose="020B0600070205080204" pitchFamily="34" charset="-128"/>
              </a:rPr>
              <a:t>It used to be that products were designed for ‘end of life’. They were designed to last for a specified period of time and that was all the thought that was given to them.</a:t>
            </a:r>
          </a:p>
          <a:p>
            <a:r>
              <a:rPr lang="en-US" altLang="en-US" sz="2400" dirty="0">
                <a:ea typeface="ＭＳ Ｐゴシック" panose="020B0600070205080204" pitchFamily="34" charset="-128"/>
              </a:rPr>
              <a:t>Now many products are being designed with ‘next life’ in mind. What will it be able to be used for AFTER its intended use.</a:t>
            </a:r>
          </a:p>
        </p:txBody>
      </p:sp>
      <p:pic>
        <p:nvPicPr>
          <p:cNvPr id="6" name="Shape 62">
            <a:extLst>
              <a:ext uri="{FF2B5EF4-FFF2-40B4-BE49-F238E27FC236}">
                <a16:creationId xmlns:a16="http://schemas.microsoft.com/office/drawing/2014/main" id="{69CB00E6-B6B7-1973-B4F3-9E7B2FD83D53}"/>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 name="Shape 63">
            <a:extLst>
              <a:ext uri="{FF2B5EF4-FFF2-40B4-BE49-F238E27FC236}">
                <a16:creationId xmlns:a16="http://schemas.microsoft.com/office/drawing/2014/main" id="{33711C4C-8101-3E51-AE7B-50F318367ED9}"/>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8" name="Shape 63">
            <a:extLst>
              <a:ext uri="{FF2B5EF4-FFF2-40B4-BE49-F238E27FC236}">
                <a16:creationId xmlns:a16="http://schemas.microsoft.com/office/drawing/2014/main" id="{B615363F-31E9-64A2-664D-C5BBF398E3E5}"/>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3493192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Shape 62">
            <a:extLst>
              <a:ext uri="{FF2B5EF4-FFF2-40B4-BE49-F238E27FC236}">
                <a16:creationId xmlns:a16="http://schemas.microsoft.com/office/drawing/2014/main" id="{82338C59-6253-807C-EA8A-543498A82B9E}"/>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8663" y="128588"/>
            <a:ext cx="6381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Shape 63">
            <a:extLst>
              <a:ext uri="{FF2B5EF4-FFF2-40B4-BE49-F238E27FC236}">
                <a16:creationId xmlns:a16="http://schemas.microsoft.com/office/drawing/2014/main" id="{A0FDA511-78F7-A35C-CF96-C350CE25864B}"/>
              </a:ext>
            </a:extLst>
          </p:cNvPr>
          <p:cNvSpPr txBox="1">
            <a:spLocks noChangeArrowheads="1"/>
          </p:cNvSpPr>
          <p:nvPr/>
        </p:nvSpPr>
        <p:spPr bwMode="auto">
          <a:xfrm>
            <a:off x="0" y="6481763"/>
            <a:ext cx="9144000" cy="376237"/>
          </a:xfrm>
          <a:prstGeom prst="rect">
            <a:avLst/>
          </a:prstGeom>
          <a:solidFill>
            <a:srgbClr val="A61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 name="Content Placeholder 2">
            <a:extLst>
              <a:ext uri="{FF2B5EF4-FFF2-40B4-BE49-F238E27FC236}">
                <a16:creationId xmlns:a16="http://schemas.microsoft.com/office/drawing/2014/main" id="{FD31FDD8-F842-45FC-A1C1-34693E4BA3BF}"/>
              </a:ext>
            </a:extLst>
          </p:cNvPr>
          <p:cNvSpPr txBox="1">
            <a:spLocks/>
          </p:cNvSpPr>
          <p:nvPr/>
        </p:nvSpPr>
        <p:spPr bwMode="auto">
          <a:xfrm>
            <a:off x="152400" y="990600"/>
            <a:ext cx="8834438" cy="5362575"/>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pic>
        <p:nvPicPr>
          <p:cNvPr id="4102" name="Picture 2">
            <a:extLst>
              <a:ext uri="{FF2B5EF4-FFF2-40B4-BE49-F238E27FC236}">
                <a16:creationId xmlns:a16="http://schemas.microsoft.com/office/drawing/2014/main" id="{79FB09DF-3D8F-CB29-5022-C6C259712F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9144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hape 63">
            <a:extLst>
              <a:ext uri="{FF2B5EF4-FFF2-40B4-BE49-F238E27FC236}">
                <a16:creationId xmlns:a16="http://schemas.microsoft.com/office/drawing/2014/main" id="{0028FA14-D81A-E368-BF5D-9E43063C8FA5}"/>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Shape 62">
            <a:extLst>
              <a:ext uri="{FF2B5EF4-FFF2-40B4-BE49-F238E27FC236}">
                <a16:creationId xmlns:a16="http://schemas.microsoft.com/office/drawing/2014/main" id="{089AC087-B7BA-D279-0D70-35B209F5CF2B}"/>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8663" y="128588"/>
            <a:ext cx="6381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Shape 63">
            <a:extLst>
              <a:ext uri="{FF2B5EF4-FFF2-40B4-BE49-F238E27FC236}">
                <a16:creationId xmlns:a16="http://schemas.microsoft.com/office/drawing/2014/main" id="{C0FBE4F9-6A18-55C0-A34E-78CD5398F2F5}"/>
              </a:ext>
            </a:extLst>
          </p:cNvPr>
          <p:cNvSpPr txBox="1">
            <a:spLocks noChangeArrowheads="1"/>
          </p:cNvSpPr>
          <p:nvPr/>
        </p:nvSpPr>
        <p:spPr bwMode="auto">
          <a:xfrm>
            <a:off x="0" y="6481763"/>
            <a:ext cx="9144000" cy="376237"/>
          </a:xfrm>
          <a:prstGeom prst="rect">
            <a:avLst/>
          </a:prstGeom>
          <a:solidFill>
            <a:srgbClr val="A61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 name="Content Placeholder 2">
            <a:extLst>
              <a:ext uri="{FF2B5EF4-FFF2-40B4-BE49-F238E27FC236}">
                <a16:creationId xmlns:a16="http://schemas.microsoft.com/office/drawing/2014/main" id="{C38651FE-B37E-405A-A1D3-5B24C6F44C7C}"/>
              </a:ext>
            </a:extLst>
          </p:cNvPr>
          <p:cNvSpPr txBox="1">
            <a:spLocks/>
          </p:cNvSpPr>
          <p:nvPr/>
        </p:nvSpPr>
        <p:spPr bwMode="auto">
          <a:xfrm>
            <a:off x="152400" y="990600"/>
            <a:ext cx="8834438" cy="5362575"/>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pic>
        <p:nvPicPr>
          <p:cNvPr id="5126" name="Picture 2">
            <a:extLst>
              <a:ext uri="{FF2B5EF4-FFF2-40B4-BE49-F238E27FC236}">
                <a16:creationId xmlns:a16="http://schemas.microsoft.com/office/drawing/2014/main" id="{761A451A-BE58-028A-171A-7AD0D814D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14400"/>
            <a:ext cx="914400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hape 63">
            <a:extLst>
              <a:ext uri="{FF2B5EF4-FFF2-40B4-BE49-F238E27FC236}">
                <a16:creationId xmlns:a16="http://schemas.microsoft.com/office/drawing/2014/main" id="{C7C29C58-CB90-5E5B-63DB-F3B9E7199CE4}"/>
              </a:ext>
            </a:extLst>
          </p:cNvPr>
          <p:cNvSpPr txBox="1">
            <a:spLocks noChangeArrowheads="1"/>
          </p:cNvSpPr>
          <p:nvPr/>
        </p:nvSpPr>
        <p:spPr bwMode="auto">
          <a:xfrm>
            <a:off x="0" y="0"/>
            <a:ext cx="8243888" cy="836613"/>
          </a:xfrm>
          <a:prstGeom prst="rect">
            <a:avLst/>
          </a:prstGeom>
          <a:solidFill>
            <a:srgbClr val="A61C00"/>
          </a:solidFill>
          <a:ln w="9525">
            <a:noFill/>
            <a:miter lim="800000"/>
            <a:headEnd/>
            <a:tailEnd/>
          </a:ln>
        </p:spPr>
        <p:txBody>
          <a:bodyPr lIns="91425" tIns="91425" rIns="91425" bIns="91425" anchor="ctr"/>
          <a:lstStyle/>
          <a:p>
            <a:pPr algn="ctr">
              <a:buFont typeface="Arial" charset="0"/>
              <a:buNone/>
            </a:pPr>
            <a:r>
              <a:rPr lang="en-CA" altLang="en-US" sz="2800" b="1" dirty="0">
                <a:solidFill>
                  <a:schemeClr val="bg1"/>
                </a:solidFill>
              </a:rPr>
              <a:t>MGMT-3105 – Sustainability and Business Practices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4579"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p:cNvSpPr txBox="1">
            <a:spLocks/>
          </p:cNvSpPr>
          <p:nvPr/>
        </p:nvSpPr>
        <p:spPr bwMode="auto">
          <a:xfrm>
            <a:off x="157163" y="836613"/>
            <a:ext cx="8834437" cy="5716587"/>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b="1" i="1" dirty="0"/>
              <a:t>Sustainable design…the consumer’s perspective</a:t>
            </a:r>
          </a:p>
          <a:p>
            <a:pPr marL="0" indent="0">
              <a:buFont typeface="Arial" charset="0"/>
              <a:buNone/>
              <a:defRPr/>
            </a:pPr>
            <a:r>
              <a:rPr lang="en-US" dirty="0"/>
              <a:t>Often, environmentally conscious consumers are willing to pay “marginally” more money and willing to accept “marginally” inferior products (usually, fit, finish, possibly material selection) if the product is more environmentally friendly.</a:t>
            </a:r>
          </a:p>
          <a:p>
            <a:pPr marL="0" indent="0">
              <a:buFont typeface="Arial" charset="0"/>
              <a:buNone/>
              <a:defRPr/>
            </a:pPr>
            <a:endParaRPr lang="en-US" sz="2800" dirty="0"/>
          </a:p>
          <a:p>
            <a:pPr>
              <a:defRPr/>
            </a:pPr>
            <a:endParaRPr lang="en-US" sz="2800" dirty="0"/>
          </a:p>
        </p:txBody>
      </p:sp>
      <p:sp>
        <p:nvSpPr>
          <p:cNvPr id="7" name="TextBox 6"/>
          <p:cNvSpPr txBox="1"/>
          <p:nvPr/>
        </p:nvSpPr>
        <p:spPr>
          <a:xfrm>
            <a:off x="927100" y="4038600"/>
            <a:ext cx="7289800" cy="2216150"/>
          </a:xfrm>
          <a:prstGeom prst="rect">
            <a:avLst/>
          </a:prstGeom>
          <a:noFill/>
        </p:spPr>
        <p:txBody>
          <a:bodyPr tIns="0" bIns="0">
            <a:spAutoFit/>
          </a:bodyPr>
          <a:lstStyle/>
          <a:p>
            <a:pPr marL="82296" algn="ctr">
              <a:defRPr/>
            </a:pPr>
            <a:r>
              <a:rPr lang="en-US" sz="3600" b="1" i="1" dirty="0">
                <a:latin typeface="+mn-lt"/>
              </a:rPr>
              <a:t>I’m doing my part to save the planet and I’m willing to live with a product that isn’t perfectly shiny and contains recycled materials!</a:t>
            </a:r>
          </a:p>
        </p:txBody>
      </p:sp>
      <p:sp>
        <p:nvSpPr>
          <p:cNvPr id="2" name="Shape 63">
            <a:extLst>
              <a:ext uri="{FF2B5EF4-FFF2-40B4-BE49-F238E27FC236}">
                <a16:creationId xmlns:a16="http://schemas.microsoft.com/office/drawing/2014/main" id="{72C7015E-0602-DCDD-7AA8-4607C616D81F}"/>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5603"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25605" name="Content Placeholder 2"/>
          <p:cNvSpPr txBox="1">
            <a:spLocks/>
          </p:cNvSpPr>
          <p:nvPr/>
        </p:nvSpPr>
        <p:spPr bwMode="auto">
          <a:xfrm>
            <a:off x="157163" y="836613"/>
            <a:ext cx="8834437" cy="5716587"/>
          </a:xfrm>
          <a:prstGeom prst="rect">
            <a:avLst/>
          </a:prstGeom>
          <a:noFill/>
          <a:ln w="9525">
            <a:noFill/>
            <a:miter lim="800000"/>
            <a:headEnd/>
            <a:tailEnd/>
          </a:ln>
        </p:spPr>
        <p:txBody>
          <a:bodyPr/>
          <a:lstStyle/>
          <a:p>
            <a:pPr marL="80963">
              <a:spcBef>
                <a:spcPct val="20000"/>
              </a:spcBef>
              <a:buFont typeface="Arial" charset="0"/>
              <a:buNone/>
            </a:pPr>
            <a:r>
              <a:rPr lang="en-US" sz="3200" b="1" i="1">
                <a:latin typeface="Calibri" pitchFamily="34" charset="0"/>
              </a:rPr>
              <a:t>Sustainable design…the consumer’s perspective</a:t>
            </a:r>
          </a:p>
        </p:txBody>
      </p:sp>
      <p:pic>
        <p:nvPicPr>
          <p:cNvPr id="52227" name="Picture 3"/>
          <p:cNvPicPr>
            <a:picLocks noChangeAspect="1" noChangeArrowheads="1"/>
          </p:cNvPicPr>
          <p:nvPr/>
        </p:nvPicPr>
        <p:blipFill>
          <a:blip r:embed="rId3" cstate="print"/>
          <a:srcRect/>
          <a:stretch>
            <a:fillRect/>
          </a:stretch>
        </p:blipFill>
        <p:spPr bwMode="auto">
          <a:xfrm>
            <a:off x="6019800" y="1447800"/>
            <a:ext cx="2743200" cy="4903109"/>
          </a:xfrm>
          <a:prstGeom prst="rect">
            <a:avLst/>
          </a:prstGeom>
          <a:noFill/>
          <a:ln w="9525">
            <a:noFill/>
            <a:miter lim="800000"/>
            <a:headEnd/>
            <a:tailEnd/>
          </a:ln>
        </p:spPr>
      </p:pic>
      <p:pic>
        <p:nvPicPr>
          <p:cNvPr id="52228" name="Picture 4"/>
          <p:cNvPicPr>
            <a:picLocks noChangeAspect="1" noChangeArrowheads="1"/>
          </p:cNvPicPr>
          <p:nvPr/>
        </p:nvPicPr>
        <p:blipFill>
          <a:blip r:embed="rId4" cstate="print"/>
          <a:srcRect/>
          <a:stretch>
            <a:fillRect/>
          </a:stretch>
        </p:blipFill>
        <p:spPr bwMode="auto">
          <a:xfrm>
            <a:off x="4114800" y="1295400"/>
            <a:ext cx="1752600" cy="2400300"/>
          </a:xfrm>
          <a:prstGeom prst="rect">
            <a:avLst/>
          </a:prstGeom>
          <a:noFill/>
          <a:ln w="9525">
            <a:noFill/>
            <a:miter lim="800000"/>
            <a:headEnd/>
            <a:tailEnd/>
          </a:ln>
        </p:spPr>
      </p:pic>
      <p:pic>
        <p:nvPicPr>
          <p:cNvPr id="52229" name="Picture 5"/>
          <p:cNvPicPr>
            <a:picLocks noChangeAspect="1" noChangeArrowheads="1"/>
          </p:cNvPicPr>
          <p:nvPr/>
        </p:nvPicPr>
        <p:blipFill>
          <a:blip r:embed="rId5" cstate="print"/>
          <a:srcRect/>
          <a:stretch>
            <a:fillRect/>
          </a:stretch>
        </p:blipFill>
        <p:spPr bwMode="auto">
          <a:xfrm>
            <a:off x="152400" y="4495800"/>
            <a:ext cx="2352675" cy="1485900"/>
          </a:xfrm>
          <a:prstGeom prst="rect">
            <a:avLst/>
          </a:prstGeom>
          <a:noFill/>
          <a:ln w="9525">
            <a:noFill/>
            <a:miter lim="800000"/>
            <a:headEnd/>
            <a:tailEnd/>
          </a:ln>
        </p:spPr>
      </p:pic>
      <p:pic>
        <p:nvPicPr>
          <p:cNvPr id="2" name="Picture 3"/>
          <p:cNvPicPr>
            <a:picLocks noChangeAspect="1" noChangeArrowheads="1"/>
          </p:cNvPicPr>
          <p:nvPr/>
        </p:nvPicPr>
        <p:blipFill>
          <a:blip r:embed="rId6" cstate="print"/>
          <a:srcRect/>
          <a:stretch>
            <a:fillRect/>
          </a:stretch>
        </p:blipFill>
        <p:spPr bwMode="auto">
          <a:xfrm>
            <a:off x="2209800" y="1676400"/>
            <a:ext cx="1604962" cy="2051155"/>
          </a:xfrm>
          <a:prstGeom prst="rect">
            <a:avLst/>
          </a:prstGeom>
          <a:noFill/>
          <a:ln w="9525">
            <a:noFill/>
            <a:miter lim="800000"/>
            <a:headEnd/>
            <a:tailEnd/>
          </a:ln>
        </p:spPr>
      </p:pic>
      <p:pic>
        <p:nvPicPr>
          <p:cNvPr id="3" name="Picture 5" descr="Tea, Iced Tea, Thai Iced Tea, Beverage"/>
          <p:cNvPicPr>
            <a:picLocks noChangeAspect="1" noChangeArrowheads="1"/>
          </p:cNvPicPr>
          <p:nvPr/>
        </p:nvPicPr>
        <p:blipFill>
          <a:blip r:embed="rId7" cstate="print"/>
          <a:srcRect/>
          <a:stretch>
            <a:fillRect/>
          </a:stretch>
        </p:blipFill>
        <p:spPr bwMode="auto">
          <a:xfrm>
            <a:off x="152400" y="1752600"/>
            <a:ext cx="1626422" cy="2247901"/>
          </a:xfrm>
          <a:prstGeom prst="rect">
            <a:avLst/>
          </a:prstGeom>
          <a:noFill/>
        </p:spPr>
      </p:pic>
      <p:pic>
        <p:nvPicPr>
          <p:cNvPr id="52231" name="Picture 7" descr="Battery, Recycling, Energy, Batteries"/>
          <p:cNvPicPr>
            <a:picLocks noChangeAspect="1" noChangeArrowheads="1"/>
          </p:cNvPicPr>
          <p:nvPr/>
        </p:nvPicPr>
        <p:blipFill>
          <a:blip r:embed="rId8" cstate="print"/>
          <a:srcRect/>
          <a:stretch>
            <a:fillRect/>
          </a:stretch>
        </p:blipFill>
        <p:spPr bwMode="auto">
          <a:xfrm>
            <a:off x="2667000" y="4114800"/>
            <a:ext cx="3048000" cy="2020118"/>
          </a:xfrm>
          <a:prstGeom prst="rect">
            <a:avLst/>
          </a:prstGeom>
          <a:noFill/>
        </p:spPr>
      </p:pic>
      <p:sp>
        <p:nvSpPr>
          <p:cNvPr id="4" name="Shape 63">
            <a:extLst>
              <a:ext uri="{FF2B5EF4-FFF2-40B4-BE49-F238E27FC236}">
                <a16:creationId xmlns:a16="http://schemas.microsoft.com/office/drawing/2014/main" id="{D75A6AD6-331A-27C9-9748-2811A6D5A4E0}"/>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6627"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p:cNvSpPr txBox="1">
            <a:spLocks/>
          </p:cNvSpPr>
          <p:nvPr/>
        </p:nvSpPr>
        <p:spPr bwMode="auto">
          <a:xfrm>
            <a:off x="157163" y="836613"/>
            <a:ext cx="8834437" cy="5716587"/>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b="1" i="1" dirty="0"/>
              <a:t>Sustainable design…the consumer’s perspective</a:t>
            </a:r>
          </a:p>
          <a:p>
            <a:pPr marL="0" indent="0">
              <a:buFont typeface="Arial" charset="0"/>
              <a:buNone/>
              <a:defRPr/>
            </a:pPr>
            <a:r>
              <a:rPr lang="en-US" dirty="0"/>
              <a:t>However, performance/functionality cannot be negatively impacted. </a:t>
            </a:r>
          </a:p>
          <a:p>
            <a:pPr>
              <a:defRPr/>
            </a:pPr>
            <a:r>
              <a:rPr lang="en-US" sz="2800" dirty="0"/>
              <a:t>Consumers have a </a:t>
            </a:r>
            <a:r>
              <a:rPr lang="en-US" sz="2800" i="1" u="sng" dirty="0"/>
              <a:t>ZERO tolerance </a:t>
            </a:r>
            <a:r>
              <a:rPr lang="en-US" sz="2800" dirty="0"/>
              <a:t>for trade off here!</a:t>
            </a:r>
          </a:p>
          <a:p>
            <a:pPr>
              <a:defRPr/>
            </a:pPr>
            <a:r>
              <a:rPr lang="en-US" sz="2800" dirty="0"/>
              <a:t>They still need the product to work as well as lesser sustainably designed products because they bought that product to serve a function or address a need!</a:t>
            </a:r>
          </a:p>
          <a:p>
            <a:pPr>
              <a:defRPr/>
            </a:pPr>
            <a:endParaRPr lang="en-US" sz="2800" dirty="0"/>
          </a:p>
        </p:txBody>
      </p:sp>
      <p:sp>
        <p:nvSpPr>
          <p:cNvPr id="7" name="TextBox 6"/>
          <p:cNvSpPr txBox="1"/>
          <p:nvPr/>
        </p:nvSpPr>
        <p:spPr>
          <a:xfrm>
            <a:off x="1487488" y="5140325"/>
            <a:ext cx="6169025" cy="1108075"/>
          </a:xfrm>
          <a:prstGeom prst="rect">
            <a:avLst/>
          </a:prstGeom>
          <a:noFill/>
        </p:spPr>
        <p:txBody>
          <a:bodyPr tIns="0" bIns="0">
            <a:spAutoFit/>
          </a:bodyPr>
          <a:lstStyle/>
          <a:p>
            <a:pPr marL="82296" algn="ctr">
              <a:defRPr/>
            </a:pPr>
            <a:r>
              <a:rPr lang="en-US" sz="3600" b="1" i="1" dirty="0">
                <a:latin typeface="+mn-lt"/>
              </a:rPr>
              <a:t>Sure, I want to save the planet but it still has to work!</a:t>
            </a:r>
          </a:p>
        </p:txBody>
      </p:sp>
      <p:sp>
        <p:nvSpPr>
          <p:cNvPr id="2" name="Shape 63">
            <a:extLst>
              <a:ext uri="{FF2B5EF4-FFF2-40B4-BE49-F238E27FC236}">
                <a16:creationId xmlns:a16="http://schemas.microsoft.com/office/drawing/2014/main" id="{BC871504-B94E-FBC8-2D2D-E6AF1DF66CCE}"/>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7651"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p:cNvSpPr txBox="1">
            <a:spLocks/>
          </p:cNvSpPr>
          <p:nvPr/>
        </p:nvSpPr>
        <p:spPr bwMode="auto">
          <a:xfrm>
            <a:off x="157163" y="836613"/>
            <a:ext cx="8834437" cy="5716587"/>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b="1" i="1" dirty="0"/>
              <a:t>Sustainable design…the consumer’s perspective</a:t>
            </a:r>
          </a:p>
          <a:p>
            <a:pPr marL="0" indent="0">
              <a:buFont typeface="Arial" charset="0"/>
              <a:buNone/>
              <a:defRPr/>
            </a:pPr>
            <a:r>
              <a:rPr lang="en-US" dirty="0"/>
              <a:t>And it has to last as long as other products. </a:t>
            </a:r>
          </a:p>
          <a:p>
            <a:pPr>
              <a:defRPr/>
            </a:pPr>
            <a:r>
              <a:rPr lang="en-US" sz="2800" dirty="0"/>
              <a:t>Consumers have a </a:t>
            </a:r>
            <a:r>
              <a:rPr lang="en-US" sz="2800" i="1" u="sng" dirty="0"/>
              <a:t>ZERO tolerance </a:t>
            </a:r>
            <a:r>
              <a:rPr lang="en-US" sz="2800" dirty="0"/>
              <a:t>for trade off here too!</a:t>
            </a:r>
          </a:p>
          <a:p>
            <a:pPr>
              <a:defRPr/>
            </a:pPr>
            <a:r>
              <a:rPr lang="en-US" sz="2800" dirty="0"/>
              <a:t>If the design of a product is such that it becomes less robust and has a shorter service life to achieve a sustainable design, it will wear out and/or have to be replaced/serviced sooner.</a:t>
            </a:r>
          </a:p>
          <a:p>
            <a:pPr>
              <a:defRPr/>
            </a:pPr>
            <a:r>
              <a:rPr lang="en-US" sz="2800" dirty="0"/>
              <a:t>Remember, this too will consume resources…</a:t>
            </a:r>
          </a:p>
          <a:p>
            <a:pPr marL="0" indent="0">
              <a:buFont typeface="Arial" charset="0"/>
              <a:buNone/>
              <a:defRPr/>
            </a:pPr>
            <a:endParaRPr lang="en-US" dirty="0"/>
          </a:p>
          <a:p>
            <a:pPr marL="0" indent="0">
              <a:buFont typeface="Arial" charset="0"/>
              <a:buNone/>
              <a:defRPr/>
            </a:pPr>
            <a:endParaRPr lang="en-US" dirty="0"/>
          </a:p>
        </p:txBody>
      </p:sp>
      <p:sp>
        <p:nvSpPr>
          <p:cNvPr id="7" name="TextBox 6"/>
          <p:cNvSpPr txBox="1"/>
          <p:nvPr/>
        </p:nvSpPr>
        <p:spPr>
          <a:xfrm>
            <a:off x="2001838" y="5105400"/>
            <a:ext cx="5140325" cy="1108075"/>
          </a:xfrm>
          <a:prstGeom prst="rect">
            <a:avLst/>
          </a:prstGeom>
          <a:noFill/>
        </p:spPr>
        <p:txBody>
          <a:bodyPr tIns="0" bIns="0">
            <a:spAutoFit/>
          </a:bodyPr>
          <a:lstStyle/>
          <a:p>
            <a:pPr marL="82296" algn="ctr">
              <a:defRPr/>
            </a:pPr>
            <a:r>
              <a:rPr lang="en-US" sz="3600" b="1" i="1" dirty="0">
                <a:latin typeface="+mn-lt"/>
              </a:rPr>
              <a:t>Sort of defeats the purpose doesn’t it?</a:t>
            </a:r>
          </a:p>
        </p:txBody>
      </p:sp>
      <p:sp>
        <p:nvSpPr>
          <p:cNvPr id="2" name="Shape 63">
            <a:extLst>
              <a:ext uri="{FF2B5EF4-FFF2-40B4-BE49-F238E27FC236}">
                <a16:creationId xmlns:a16="http://schemas.microsoft.com/office/drawing/2014/main" id="{DF01CE7E-8663-5BDB-2568-B147805D3B15}"/>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9699"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p:cNvSpPr txBox="1">
            <a:spLocks/>
          </p:cNvSpPr>
          <p:nvPr/>
        </p:nvSpPr>
        <p:spPr bwMode="auto">
          <a:xfrm>
            <a:off x="152400" y="990600"/>
            <a:ext cx="8834438" cy="5362575"/>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sp>
        <p:nvSpPr>
          <p:cNvPr id="8" name="TextBox 7"/>
          <p:cNvSpPr txBox="1"/>
          <p:nvPr/>
        </p:nvSpPr>
        <p:spPr>
          <a:xfrm>
            <a:off x="152400" y="5546439"/>
            <a:ext cx="9144000" cy="830997"/>
          </a:xfrm>
          <a:prstGeom prst="rect">
            <a:avLst/>
          </a:prstGeom>
          <a:noFill/>
        </p:spPr>
        <p:txBody>
          <a:bodyPr wrap="square" rtlCol="0">
            <a:spAutoFit/>
          </a:bodyPr>
          <a:lstStyle/>
          <a:p>
            <a:r>
              <a:rPr lang="en-CA" b="1" u="sng" dirty="0">
                <a:effectLst>
                  <a:outerShdw blurRad="38100" dist="38100" dir="2700000" algn="tl">
                    <a:srgbClr val="000000">
                      <a:alpha val="43137"/>
                    </a:srgbClr>
                  </a:outerShdw>
                </a:effectLst>
                <a:latin typeface="+mj-lt"/>
              </a:rPr>
              <a:t>GM CAMI Assembly in Ingersoll, ON is landfill free!</a:t>
            </a:r>
          </a:p>
          <a:p>
            <a:r>
              <a:rPr lang="en-CA" dirty="0">
                <a:latin typeface="+mj-lt"/>
              </a:rPr>
              <a:t>They recycle, reuse or convert to energy all waste from daily operations </a:t>
            </a:r>
          </a:p>
        </p:txBody>
      </p:sp>
      <p:pic>
        <p:nvPicPr>
          <p:cNvPr id="1026" name="Picture 2" descr="https://clean50.com/wp-content/uploads/2019/08/CAMI-Landfill-Photo-scaled.jpg">
            <a:extLst>
              <a:ext uri="{FF2B5EF4-FFF2-40B4-BE49-F238E27FC236}">
                <a16:creationId xmlns:a16="http://schemas.microsoft.com/office/drawing/2014/main" id="{B0A50CCD-F5D1-4E24-AEF3-FD32D0C3A7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0988" y="907055"/>
            <a:ext cx="6037262" cy="4664814"/>
          </a:xfrm>
          <a:prstGeom prst="rect">
            <a:avLst/>
          </a:prstGeom>
          <a:noFill/>
          <a:extLst>
            <a:ext uri="{909E8E84-426E-40DD-AFC4-6F175D3DCCD1}">
              <a14:hiddenFill xmlns:a14="http://schemas.microsoft.com/office/drawing/2010/main">
                <a:solidFill>
                  <a:srgbClr val="FFFFFF"/>
                </a:solidFill>
              </a14:hiddenFill>
            </a:ext>
          </a:extLst>
        </p:spPr>
      </p:pic>
      <p:sp>
        <p:nvSpPr>
          <p:cNvPr id="2" name="Shape 63">
            <a:extLst>
              <a:ext uri="{FF2B5EF4-FFF2-40B4-BE49-F238E27FC236}">
                <a16:creationId xmlns:a16="http://schemas.microsoft.com/office/drawing/2014/main" id="{71476D4E-195C-84BC-B37A-C7484DCA7180}"/>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C369F-9C10-5415-A1E4-84676AEE50E4}"/>
            </a:ext>
          </a:extLst>
        </p:cNvPr>
        <p:cNvGrpSpPr/>
        <p:nvPr/>
      </p:nvGrpSpPr>
      <p:grpSpPr>
        <a:xfrm>
          <a:off x="0" y="0"/>
          <a:ext cx="0" cy="0"/>
          <a:chOff x="0" y="0"/>
          <a:chExt cx="0" cy="0"/>
        </a:xfrm>
      </p:grpSpPr>
      <p:pic>
        <p:nvPicPr>
          <p:cNvPr id="29698" name="Shape 62">
            <a:extLst>
              <a:ext uri="{FF2B5EF4-FFF2-40B4-BE49-F238E27FC236}">
                <a16:creationId xmlns:a16="http://schemas.microsoft.com/office/drawing/2014/main" id="{1D05DB73-89AE-1A80-1367-99134F4ED1E7}"/>
              </a:ext>
            </a:extLst>
          </p:cNvPr>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9699" name="Shape 63">
            <a:extLst>
              <a:ext uri="{FF2B5EF4-FFF2-40B4-BE49-F238E27FC236}">
                <a16:creationId xmlns:a16="http://schemas.microsoft.com/office/drawing/2014/main" id="{DFF186FA-A67E-91A3-41F2-39F8272FC232}"/>
              </a:ext>
            </a:extLst>
          </p:cNvPr>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a:extLst>
              <a:ext uri="{FF2B5EF4-FFF2-40B4-BE49-F238E27FC236}">
                <a16:creationId xmlns:a16="http://schemas.microsoft.com/office/drawing/2014/main" id="{1C4D90C3-7BD5-77D0-9870-3FF490FD002C}"/>
              </a:ext>
            </a:extLst>
          </p:cNvPr>
          <p:cNvSpPr txBox="1">
            <a:spLocks/>
          </p:cNvSpPr>
          <p:nvPr/>
        </p:nvSpPr>
        <p:spPr bwMode="auto">
          <a:xfrm>
            <a:off x="152400" y="990600"/>
            <a:ext cx="8834438" cy="5362575"/>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sp>
        <p:nvSpPr>
          <p:cNvPr id="2" name="Shape 63">
            <a:extLst>
              <a:ext uri="{FF2B5EF4-FFF2-40B4-BE49-F238E27FC236}">
                <a16:creationId xmlns:a16="http://schemas.microsoft.com/office/drawing/2014/main" id="{DCC6BF9D-9738-C945-5A9A-3D5FF93B9005}"/>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
        <p:nvSpPr>
          <p:cNvPr id="3" name="Content Placeholder 2">
            <a:extLst>
              <a:ext uri="{FF2B5EF4-FFF2-40B4-BE49-F238E27FC236}">
                <a16:creationId xmlns:a16="http://schemas.microsoft.com/office/drawing/2014/main" id="{92BAD6A8-E80E-9420-238E-B230FB22F9C6}"/>
              </a:ext>
            </a:extLst>
          </p:cNvPr>
          <p:cNvSpPr txBox="1">
            <a:spLocks/>
          </p:cNvSpPr>
          <p:nvPr/>
        </p:nvSpPr>
        <p:spPr bwMode="auto">
          <a:xfrm>
            <a:off x="157163" y="836613"/>
            <a:ext cx="8834437" cy="5716587"/>
          </a:xfrm>
          <a:prstGeom prst="rect">
            <a:avLst/>
          </a:prstGeom>
          <a:noFill/>
          <a:ln>
            <a:noFill/>
          </a:ln>
        </p:spPr>
        <p:txBody>
          <a:bodyPr>
            <a:normAutofit fontScale="70000" lnSpcReduction="20000"/>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b="1" i="1" dirty="0"/>
              <a:t>Sustainability in Project Management</a:t>
            </a:r>
          </a:p>
          <a:p>
            <a:pPr marL="0" indent="0">
              <a:buNone/>
              <a:defRPr/>
            </a:pPr>
            <a:endParaRPr lang="en-US" sz="2800" dirty="0"/>
          </a:p>
          <a:p>
            <a:pPr>
              <a:defRPr/>
            </a:pPr>
            <a:r>
              <a:rPr lang="en-US" sz="2800" dirty="0"/>
              <a:t>Choose eco-friendly and ethical suppliers.</a:t>
            </a:r>
          </a:p>
          <a:p>
            <a:pPr>
              <a:defRPr/>
            </a:pPr>
            <a:r>
              <a:rPr lang="en-US" sz="2800" dirty="0"/>
              <a:t>Include sustainability clauses in contracts.</a:t>
            </a:r>
          </a:p>
          <a:p>
            <a:pPr>
              <a:defRPr/>
            </a:pPr>
            <a:r>
              <a:rPr lang="en-US" sz="2800" dirty="0"/>
              <a:t>Perform Environmental &amp; Social Impact Assessment </a:t>
            </a:r>
          </a:p>
          <a:p>
            <a:pPr>
              <a:defRPr/>
            </a:pPr>
            <a:r>
              <a:rPr lang="en-US" sz="2800" dirty="0"/>
              <a:t>Minimize raw material use; prioritize recyclable/renewable/local resources.</a:t>
            </a:r>
          </a:p>
          <a:p>
            <a:pPr>
              <a:defRPr/>
            </a:pPr>
            <a:r>
              <a:rPr lang="en-US" sz="2800" dirty="0"/>
              <a:t>Design for energy and water efficiency.</a:t>
            </a:r>
          </a:p>
          <a:p>
            <a:pPr>
              <a:defRPr/>
            </a:pPr>
            <a:r>
              <a:rPr lang="en-US" sz="2800" dirty="0"/>
              <a:t>Apply circular economy principles (reuse, refurbish, recycle).</a:t>
            </a:r>
          </a:p>
          <a:p>
            <a:pPr>
              <a:defRPr/>
            </a:pPr>
            <a:r>
              <a:rPr lang="en-US" sz="2800" dirty="0"/>
              <a:t>Plan for product/service lifecycle (reuse or disposal after project end).</a:t>
            </a:r>
          </a:p>
          <a:p>
            <a:pPr>
              <a:defRPr/>
            </a:pPr>
            <a:r>
              <a:rPr lang="en-US" sz="2800" dirty="0"/>
              <a:t>Reduce carbon emissions from transport and operations.</a:t>
            </a:r>
          </a:p>
          <a:p>
            <a:pPr>
              <a:defRPr/>
            </a:pPr>
            <a:r>
              <a:rPr lang="en-US" sz="2800" dirty="0"/>
              <a:t>Use digital tools to cut down paper and travel.</a:t>
            </a:r>
          </a:p>
          <a:p>
            <a:pPr>
              <a:defRPr/>
            </a:pPr>
            <a:r>
              <a:rPr lang="en-US" sz="2800" dirty="0"/>
              <a:t>Implement waste management (segregation, recycling, safe disposal).</a:t>
            </a:r>
          </a:p>
          <a:p>
            <a:pPr>
              <a:defRPr/>
            </a:pPr>
            <a:r>
              <a:rPr lang="en-US" sz="2800" dirty="0"/>
              <a:t>Safeguard health, safety, and well-being of team and community.</a:t>
            </a:r>
          </a:p>
          <a:p>
            <a:pPr>
              <a:defRPr/>
            </a:pPr>
            <a:r>
              <a:rPr lang="en-US" sz="2800" dirty="0"/>
              <a:t>Support social responsibility (local hiring, fair wages, training).</a:t>
            </a:r>
          </a:p>
          <a:p>
            <a:pPr>
              <a:defRPr/>
            </a:pPr>
            <a:r>
              <a:rPr lang="en-US" sz="2800" dirty="0"/>
              <a:t>Track sustainability KPIs (carbon footprint, waste reduction %, energy saved).</a:t>
            </a:r>
          </a:p>
          <a:p>
            <a:pPr>
              <a:defRPr/>
            </a:pPr>
            <a:r>
              <a:rPr lang="en-US" sz="2800" dirty="0"/>
              <a:t>Monitor suppliers/contractors for sustainability compliance.</a:t>
            </a:r>
          </a:p>
          <a:p>
            <a:pPr>
              <a:defRPr/>
            </a:pPr>
            <a:r>
              <a:rPr lang="en-US" sz="2800" dirty="0"/>
              <a:t>Identify and mitigate environmental/social risks.</a:t>
            </a:r>
          </a:p>
          <a:p>
            <a:pPr>
              <a:defRPr/>
            </a:pPr>
            <a:r>
              <a:rPr lang="en-US" sz="2800" dirty="0"/>
              <a:t>Conduct sustainability audits when needed.</a:t>
            </a:r>
          </a:p>
        </p:txBody>
      </p:sp>
    </p:spTree>
    <p:extLst>
      <p:ext uri="{BB962C8B-B14F-4D97-AF65-F5344CB8AC3E}">
        <p14:creationId xmlns:p14="http://schemas.microsoft.com/office/powerpoint/2010/main" val="2713060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8675"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p:cNvSpPr txBox="1">
            <a:spLocks/>
          </p:cNvSpPr>
          <p:nvPr/>
        </p:nvSpPr>
        <p:spPr bwMode="auto">
          <a:xfrm>
            <a:off x="157163" y="836613"/>
            <a:ext cx="8834437" cy="5716587"/>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buFont typeface="Arial" charset="0"/>
              <a:buNone/>
              <a:defRPr/>
            </a:pPr>
            <a:r>
              <a:rPr lang="en-US" b="1" i="1" dirty="0"/>
              <a:t>Sustainable design…the global perspective</a:t>
            </a:r>
          </a:p>
          <a:p>
            <a:pPr>
              <a:defRPr/>
            </a:pPr>
            <a:r>
              <a:rPr lang="en-US" dirty="0"/>
              <a:t>I think that we can all agree that this planet has a finite supply of non-renewable resources.</a:t>
            </a:r>
          </a:p>
          <a:p>
            <a:pPr>
              <a:defRPr/>
            </a:pPr>
            <a:r>
              <a:rPr lang="en-US" dirty="0"/>
              <a:t>Let’s use these resources wisely to design products that have a longer service life and return a greater value to the consumer all while having less impact on the environment.</a:t>
            </a:r>
          </a:p>
        </p:txBody>
      </p:sp>
      <p:sp>
        <p:nvSpPr>
          <p:cNvPr id="7" name="TextBox 6"/>
          <p:cNvSpPr txBox="1"/>
          <p:nvPr/>
        </p:nvSpPr>
        <p:spPr>
          <a:xfrm>
            <a:off x="304800" y="4835525"/>
            <a:ext cx="6858000" cy="1108075"/>
          </a:xfrm>
          <a:prstGeom prst="rect">
            <a:avLst/>
          </a:prstGeom>
          <a:noFill/>
        </p:spPr>
        <p:txBody>
          <a:bodyPr tIns="0" bIns="0">
            <a:spAutoFit/>
          </a:bodyPr>
          <a:lstStyle/>
          <a:p>
            <a:pPr marL="82296" algn="ctr">
              <a:defRPr/>
            </a:pPr>
            <a:r>
              <a:rPr lang="en-US" sz="3600" b="1" i="1" dirty="0">
                <a:latin typeface="+mn-lt"/>
              </a:rPr>
              <a:t>Remember, our children will inherit the planet from us!</a:t>
            </a:r>
          </a:p>
        </p:txBody>
      </p:sp>
      <p:pic>
        <p:nvPicPr>
          <p:cNvPr id="28679" name="Picture 6"/>
          <p:cNvPicPr>
            <a:picLocks noChangeAspect="1" noChangeArrowheads="1"/>
          </p:cNvPicPr>
          <p:nvPr/>
        </p:nvPicPr>
        <p:blipFill>
          <a:blip r:embed="rId3" cstate="print"/>
          <a:srcRect/>
          <a:stretch>
            <a:fillRect/>
          </a:stretch>
        </p:blipFill>
        <p:spPr bwMode="auto">
          <a:xfrm>
            <a:off x="6516688" y="4222750"/>
            <a:ext cx="2143125" cy="2143125"/>
          </a:xfrm>
          <a:prstGeom prst="rect">
            <a:avLst/>
          </a:prstGeom>
          <a:noFill/>
          <a:ln w="9525">
            <a:noFill/>
            <a:miter lim="800000"/>
            <a:headEnd/>
            <a:tailEnd/>
          </a:ln>
        </p:spPr>
      </p:pic>
      <p:sp>
        <p:nvSpPr>
          <p:cNvPr id="2" name="Shape 63">
            <a:extLst>
              <a:ext uri="{FF2B5EF4-FFF2-40B4-BE49-F238E27FC236}">
                <a16:creationId xmlns:a16="http://schemas.microsoft.com/office/drawing/2014/main" id="{A10445C7-F363-37D9-8626-5C1961929322}"/>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29699"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p:cNvSpPr txBox="1">
            <a:spLocks/>
          </p:cNvSpPr>
          <p:nvPr/>
        </p:nvSpPr>
        <p:spPr bwMode="auto">
          <a:xfrm>
            <a:off x="152400" y="990600"/>
            <a:ext cx="8834438" cy="5362575"/>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496" indent="-457200">
              <a:defRPr/>
            </a:pPr>
            <a:endParaRPr lang="en-US" dirty="0"/>
          </a:p>
          <a:p>
            <a:pPr marL="539496" indent="-457200">
              <a:defRPr/>
            </a:pPr>
            <a:endParaRPr lang="en-US" dirty="0"/>
          </a:p>
          <a:p>
            <a:pPr marL="539496" indent="-457200">
              <a:defRPr/>
            </a:pPr>
            <a:endParaRPr lang="en-US" dirty="0"/>
          </a:p>
          <a:p>
            <a:pPr marL="539496" indent="-457200">
              <a:defRPr/>
            </a:pPr>
            <a:endParaRPr lang="en-US" dirty="0"/>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539496" indent="-457200">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sp>
        <p:nvSpPr>
          <p:cNvPr id="7" name="TextBox 6"/>
          <p:cNvSpPr txBox="1"/>
          <p:nvPr/>
        </p:nvSpPr>
        <p:spPr>
          <a:xfrm>
            <a:off x="228600" y="1771175"/>
            <a:ext cx="8758238" cy="4001095"/>
          </a:xfrm>
          <a:prstGeom prst="rect">
            <a:avLst/>
          </a:prstGeom>
          <a:noFill/>
        </p:spPr>
        <p:txBody>
          <a:bodyPr wrap="square" tIns="0" bIns="0">
            <a:spAutoFit/>
          </a:bodyPr>
          <a:lstStyle/>
          <a:p>
            <a:pPr marL="82296" algn="ctr">
              <a:defRPr/>
            </a:pPr>
            <a:r>
              <a:rPr lang="en-CA" sz="3200" dirty="0"/>
              <a:t>Sustainable design requires that our products last as long as possible. </a:t>
            </a:r>
          </a:p>
          <a:p>
            <a:pPr marL="539496" indent="-457200" algn="ctr">
              <a:buFont typeface="Arial" panose="020B0604020202020204" pitchFamily="34" charset="0"/>
              <a:buChar char="•"/>
              <a:defRPr/>
            </a:pPr>
            <a:endParaRPr lang="en-CA" sz="2800" b="1" i="1" dirty="0">
              <a:latin typeface="+mn-lt"/>
            </a:endParaRPr>
          </a:p>
          <a:p>
            <a:pPr marL="82296" algn="ctr">
              <a:defRPr/>
            </a:pPr>
            <a:r>
              <a:rPr lang="en-CA" sz="2800" b="1" i="1" dirty="0">
                <a:latin typeface="+mn-lt"/>
              </a:rPr>
              <a:t>but</a:t>
            </a:r>
          </a:p>
          <a:p>
            <a:pPr marL="82296" algn="ctr">
              <a:defRPr/>
            </a:pPr>
            <a:endParaRPr lang="en-US" sz="2800" b="1" i="1" dirty="0">
              <a:latin typeface="+mn-lt"/>
            </a:endParaRPr>
          </a:p>
          <a:p>
            <a:pPr marL="82296" algn="ctr">
              <a:defRPr/>
            </a:pPr>
            <a:r>
              <a:rPr lang="en-CA" sz="3200" dirty="0"/>
              <a:t>Business decisions may impede the efforts of the designer to ensure continued sales. This is referred to as “planned obsolescence</a:t>
            </a:r>
            <a:r>
              <a:rPr lang="en-CA" sz="4000" dirty="0"/>
              <a:t>” </a:t>
            </a:r>
            <a:endParaRPr lang="en-US" sz="4000" b="1" i="1" dirty="0">
              <a:latin typeface="+mn-lt"/>
            </a:endParaRPr>
          </a:p>
        </p:txBody>
      </p:sp>
      <p:sp>
        <p:nvSpPr>
          <p:cNvPr id="8" name="TextBox 7">
            <a:extLst>
              <a:ext uri="{FF2B5EF4-FFF2-40B4-BE49-F238E27FC236}">
                <a16:creationId xmlns:a16="http://schemas.microsoft.com/office/drawing/2014/main" id="{6092B015-4C5C-4CF7-8720-CBC62FA3E956}"/>
              </a:ext>
            </a:extLst>
          </p:cNvPr>
          <p:cNvSpPr txBox="1"/>
          <p:nvPr/>
        </p:nvSpPr>
        <p:spPr>
          <a:xfrm>
            <a:off x="1223963" y="965201"/>
            <a:ext cx="7407275" cy="677108"/>
          </a:xfrm>
          <a:prstGeom prst="rect">
            <a:avLst/>
          </a:prstGeom>
          <a:noFill/>
        </p:spPr>
        <p:txBody>
          <a:bodyPr tIns="0" bIns="0">
            <a:spAutoFit/>
          </a:bodyPr>
          <a:lstStyle/>
          <a:p>
            <a:pPr marL="82296" algn="ctr">
              <a:defRPr/>
            </a:pPr>
            <a:r>
              <a:rPr lang="en-US" sz="4400" b="1" i="1" dirty="0">
                <a:latin typeface="+mn-lt"/>
              </a:rPr>
              <a:t>Discussion</a:t>
            </a:r>
          </a:p>
        </p:txBody>
      </p:sp>
      <p:sp>
        <p:nvSpPr>
          <p:cNvPr id="13" name="TextBox 12">
            <a:extLst>
              <a:ext uri="{FF2B5EF4-FFF2-40B4-BE49-F238E27FC236}">
                <a16:creationId xmlns:a16="http://schemas.microsoft.com/office/drawing/2014/main" id="{79853B33-33FC-4195-9C0A-2EDBBD5A1399}"/>
              </a:ext>
            </a:extLst>
          </p:cNvPr>
          <p:cNvSpPr txBox="1"/>
          <p:nvPr/>
        </p:nvSpPr>
        <p:spPr>
          <a:xfrm>
            <a:off x="1143000" y="5833826"/>
            <a:ext cx="7407275" cy="492443"/>
          </a:xfrm>
          <a:prstGeom prst="rect">
            <a:avLst/>
          </a:prstGeom>
          <a:noFill/>
        </p:spPr>
        <p:txBody>
          <a:bodyPr tIns="0" bIns="0">
            <a:spAutoFit/>
          </a:bodyPr>
          <a:lstStyle/>
          <a:p>
            <a:pPr marL="82296" algn="ctr">
              <a:defRPr/>
            </a:pPr>
            <a:r>
              <a:rPr lang="en-US" sz="3200" b="1" i="1" dirty="0">
                <a:latin typeface="+mn-lt"/>
              </a:rPr>
              <a:t>Which one would you prefer?</a:t>
            </a:r>
          </a:p>
        </p:txBody>
      </p:sp>
      <p:sp>
        <p:nvSpPr>
          <p:cNvPr id="2" name="Shape 63">
            <a:extLst>
              <a:ext uri="{FF2B5EF4-FFF2-40B4-BE49-F238E27FC236}">
                <a16:creationId xmlns:a16="http://schemas.microsoft.com/office/drawing/2014/main" id="{B64DC67F-7B77-93B7-1DBE-4764FCF398A7}"/>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extLst>
      <p:ext uri="{BB962C8B-B14F-4D97-AF65-F5344CB8AC3E}">
        <p14:creationId xmlns:p14="http://schemas.microsoft.com/office/powerpoint/2010/main" val="890280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Shape 62"/>
          <p:cNvPicPr preferRelativeResize="0">
            <a:picLocks noChangeAspect="1" noChangeArrowheads="1"/>
          </p:cNvPicPr>
          <p:nvPr/>
        </p:nvPicPr>
        <p:blipFill>
          <a:blip r:embed="rId2" cstate="print"/>
          <a:srcRect/>
          <a:stretch>
            <a:fillRect/>
          </a:stretch>
        </p:blipFill>
        <p:spPr bwMode="auto">
          <a:xfrm>
            <a:off x="8348663" y="128588"/>
            <a:ext cx="638175" cy="579437"/>
          </a:xfrm>
          <a:prstGeom prst="rect">
            <a:avLst/>
          </a:prstGeom>
          <a:noFill/>
          <a:ln w="9525">
            <a:noFill/>
            <a:miter lim="800000"/>
            <a:headEnd/>
            <a:tailEnd/>
          </a:ln>
        </p:spPr>
      </p:pic>
      <p:sp>
        <p:nvSpPr>
          <p:cNvPr id="74755" name="Shape 63"/>
          <p:cNvSpPr txBox="1">
            <a:spLocks noChangeArrowheads="1"/>
          </p:cNvSpPr>
          <p:nvPr/>
        </p:nvSpPr>
        <p:spPr bwMode="auto">
          <a:xfrm>
            <a:off x="0" y="6481763"/>
            <a:ext cx="9144000" cy="376237"/>
          </a:xfrm>
          <a:prstGeom prst="rect">
            <a:avLst/>
          </a:prstGeom>
          <a:solidFill>
            <a:srgbClr val="A61C00"/>
          </a:solidFill>
          <a:ln w="9525">
            <a:noFill/>
            <a:miter lim="800000"/>
            <a:headEnd/>
            <a:tailEnd/>
          </a:ln>
        </p:spPr>
        <p:txBody>
          <a:bodyPr lIns="91425" tIns="91425" rIns="91425" bIns="91425"/>
          <a:lstStyle/>
          <a:p>
            <a:endParaRPr lang="en-US" altLang="en-US"/>
          </a:p>
        </p:txBody>
      </p:sp>
      <p:sp>
        <p:nvSpPr>
          <p:cNvPr id="6" name="Content Placeholder 2"/>
          <p:cNvSpPr txBox="1">
            <a:spLocks/>
          </p:cNvSpPr>
          <p:nvPr/>
        </p:nvSpPr>
        <p:spPr bwMode="auto">
          <a:xfrm>
            <a:off x="152400" y="990600"/>
            <a:ext cx="8834438" cy="5362575"/>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82296" indent="0" algn="ctr">
              <a:buFont typeface="Arial" charset="0"/>
              <a:buNone/>
              <a:defRPr/>
            </a:pPr>
            <a:r>
              <a:rPr lang="en-US" b="1" i="1" dirty="0"/>
              <a:t>Questions</a:t>
            </a:r>
            <a:r>
              <a:rPr lang="en-US" sz="3600" b="1" i="1" dirty="0"/>
              <a:t>?</a:t>
            </a:r>
          </a:p>
          <a:p>
            <a:pPr marL="82296" indent="0">
              <a:buFont typeface="Arial" charset="0"/>
              <a:buNone/>
              <a:defRPr/>
            </a:pPr>
            <a:endParaRPr lang="en-US" dirty="0"/>
          </a:p>
          <a:p>
            <a:pPr marL="82296" indent="0">
              <a:buFont typeface="Arial" charset="0"/>
              <a:buNone/>
              <a:defRPr/>
            </a:pPr>
            <a:endParaRPr lang="en-US" dirty="0">
              <a:effectLst>
                <a:outerShdw blurRad="38100" dist="38100" dir="2700000" algn="tl">
                  <a:srgbClr val="000000">
                    <a:alpha val="43137"/>
                  </a:srgbClr>
                </a:outerShdw>
              </a:effectLst>
            </a:endParaRPr>
          </a:p>
          <a:p>
            <a:pPr marL="82296" indent="0">
              <a:buFont typeface="Arial" charset="0"/>
              <a:buNone/>
              <a:defRPr/>
            </a:pPr>
            <a:endParaRPr lang="en-US" dirty="0">
              <a:effectLst>
                <a:outerShdw blurRad="38100" dist="38100" dir="2700000" algn="tl">
                  <a:srgbClr val="000000">
                    <a:alpha val="43137"/>
                  </a:srgbClr>
                </a:outerShdw>
              </a:effectLst>
            </a:endParaRPr>
          </a:p>
        </p:txBody>
      </p:sp>
      <p:pic>
        <p:nvPicPr>
          <p:cNvPr id="74758" name="Picture 2" descr="E:\Brent Stuff\1 - BWM DESIGN\Teaching\Questions Image.jpg"/>
          <p:cNvPicPr>
            <a:picLocks noChangeAspect="1" noChangeArrowheads="1"/>
          </p:cNvPicPr>
          <p:nvPr/>
        </p:nvPicPr>
        <p:blipFill>
          <a:blip r:embed="rId3" cstate="print"/>
          <a:srcRect/>
          <a:stretch>
            <a:fillRect/>
          </a:stretch>
        </p:blipFill>
        <p:spPr bwMode="auto">
          <a:xfrm>
            <a:off x="2895600" y="1609725"/>
            <a:ext cx="3257550" cy="4257675"/>
          </a:xfrm>
          <a:prstGeom prst="rect">
            <a:avLst/>
          </a:prstGeom>
          <a:noFill/>
          <a:ln w="9525">
            <a:noFill/>
            <a:miter lim="800000"/>
            <a:headEnd/>
            <a:tailEnd/>
          </a:ln>
        </p:spPr>
      </p:pic>
      <p:sp>
        <p:nvSpPr>
          <p:cNvPr id="2" name="Shape 63">
            <a:extLst>
              <a:ext uri="{FF2B5EF4-FFF2-40B4-BE49-F238E27FC236}">
                <a16:creationId xmlns:a16="http://schemas.microsoft.com/office/drawing/2014/main" id="{E0C6A671-1777-701E-C271-3E176EEC6DD0}"/>
              </a:ext>
            </a:extLst>
          </p:cNvPr>
          <p:cNvSpPr txBox="1">
            <a:spLocks noChangeArrowheads="1"/>
          </p:cNvSpPr>
          <p:nvPr/>
        </p:nvSpPr>
        <p:spPr bwMode="auto">
          <a:xfrm>
            <a:off x="0" y="-15082"/>
            <a:ext cx="8243888" cy="836613"/>
          </a:xfrm>
          <a:prstGeom prst="rect">
            <a:avLst/>
          </a:prstGeom>
          <a:solidFill>
            <a:srgbClr val="A61C00"/>
          </a:solidFill>
          <a:ln w="9525">
            <a:noFill/>
            <a:miter lim="800000"/>
            <a:headEnd/>
            <a:tailEnd/>
          </a:ln>
        </p:spPr>
        <p:txBody>
          <a:bodyPr lIns="91425" tIns="91425" rIns="91425" bIns="91425" anchor="ctr"/>
          <a:lstStyle/>
          <a:p>
            <a:pPr algn="ctr"/>
            <a:r>
              <a:rPr lang="en-CA" altLang="en-US" sz="2800" b="1" dirty="0">
                <a:solidFill>
                  <a:schemeClr val="bg1"/>
                </a:solidFill>
              </a:rPr>
              <a:t>MGMT-3105 – Sustainability and Business Practices</a:t>
            </a:r>
          </a:p>
        </p:txBody>
      </p:sp>
    </p:spTree>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Theme2</Template>
  <TotalTime>12357</TotalTime>
  <Words>1772</Words>
  <Application>Microsoft Office PowerPoint</Application>
  <PresentationFormat>On-screen Show (4:3)</PresentationFormat>
  <Paragraphs>190</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ＭＳ Ｐゴシック</vt:lpstr>
      <vt:lpstr>Arial</vt:lpstr>
      <vt:lpstr>Calibri</vt:lpstr>
      <vt:lpstr>Times New Roman</vt:lpstr>
      <vt:lpstr>Theme2</vt:lpstr>
      <vt:lpstr>Sustainability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BWM Design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 Quality, Sustainability, Reliability, and Safety</dc:title>
  <dc:creator>Brent Matthews</dc:creator>
  <cp:lastModifiedBy>Ozlu, Sinan</cp:lastModifiedBy>
  <cp:revision>563</cp:revision>
  <dcterms:created xsi:type="dcterms:W3CDTF">2001-07-03T17:12:31Z</dcterms:created>
  <dcterms:modified xsi:type="dcterms:W3CDTF">2025-09-03T03:22:47Z</dcterms:modified>
</cp:coreProperties>
</file>