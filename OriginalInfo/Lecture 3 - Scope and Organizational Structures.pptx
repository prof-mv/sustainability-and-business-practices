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8.jpg" ContentType="image/jpg"/>
  <Override PartName="/ppt/media/image9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64" r:id="rId3"/>
    <p:sldId id="310" r:id="rId4"/>
    <p:sldId id="300" r:id="rId5"/>
    <p:sldId id="311" r:id="rId6"/>
    <p:sldId id="267" r:id="rId7"/>
    <p:sldId id="268" r:id="rId8"/>
    <p:sldId id="269" r:id="rId9"/>
    <p:sldId id="270" r:id="rId10"/>
    <p:sldId id="271" r:id="rId11"/>
    <p:sldId id="272" r:id="rId12"/>
    <p:sldId id="312" r:id="rId13"/>
    <p:sldId id="306" r:id="rId14"/>
    <p:sldId id="307" r:id="rId15"/>
    <p:sldId id="308" r:id="rId16"/>
    <p:sldId id="309" r:id="rId17"/>
    <p:sldId id="301" r:id="rId18"/>
    <p:sldId id="258" r:id="rId19"/>
    <p:sldId id="302" r:id="rId20"/>
    <p:sldId id="260" r:id="rId21"/>
    <p:sldId id="261" r:id="rId22"/>
    <p:sldId id="262" r:id="rId23"/>
    <p:sldId id="303" r:id="rId24"/>
    <p:sldId id="304" r:id="rId25"/>
    <p:sldId id="305" r:id="rId26"/>
    <p:sldId id="299" r:id="rId27"/>
    <p:sldId id="274" r:id="rId28"/>
    <p:sldId id="275" r:id="rId29"/>
    <p:sldId id="276" r:id="rId30"/>
    <p:sldId id="277" r:id="rId31"/>
    <p:sldId id="278" r:id="rId32"/>
    <p:sldId id="280" r:id="rId33"/>
    <p:sldId id="282" r:id="rId34"/>
    <p:sldId id="283" r:id="rId35"/>
    <p:sldId id="313" r:id="rId36"/>
    <p:sldId id="314" r:id="rId37"/>
    <p:sldId id="286" r:id="rId38"/>
    <p:sldId id="287" r:id="rId39"/>
    <p:sldId id="288" r:id="rId40"/>
    <p:sldId id="289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B3958-B48C-469B-AE63-652B5E1C3505}" type="datetime3">
              <a:rPr lang="en-US" smtClean="0"/>
              <a:t>8 September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Professor G.R. Labbe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6BD32-22DF-4E73-8E9A-2D4065E95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6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F0E8F-438B-468D-BCC4-F5A1E13137D1}" type="datetime3">
              <a:rPr lang="en-US" smtClean="0"/>
              <a:t>8 September 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Professor G.R. Labbe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FED49-A771-40C9-B122-D3CCE3364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9504" y="1662516"/>
            <a:ext cx="103921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600" b="1" dirty="0">
                <a:solidFill>
                  <a:srgbClr val="0070C0"/>
                </a:solidFill>
                <a:latin typeface="Calibri" panose="020F0502020204030204" pitchFamily="34" charset="0"/>
              </a:rPr>
              <a:t>SCOPE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17574" y="325554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</a:rPr>
              <a:t>Scope, Charter and Organizational Structures</a:t>
            </a:r>
          </a:p>
          <a:p>
            <a:pPr algn="ctr"/>
            <a:endParaRPr lang="en-US" sz="2400" b="1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</a:rPr>
              <a:t>Lecture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416585" y="5681688"/>
            <a:ext cx="3500715" cy="309201"/>
          </a:xfrm>
        </p:spPr>
        <p:txBody>
          <a:bodyPr/>
          <a:lstStyle/>
          <a:p>
            <a:r>
              <a:rPr lang="en-US" dirty="0"/>
              <a:t>Lecture 3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1152" y="5680625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401121" y="589005"/>
            <a:ext cx="37289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000" b="1" i="0" u="none" strike="noStrike" kern="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25400" dir="18900000" algn="bl" rotWithShape="0">
                    <a:prstClr val="white">
                      <a:alpha val="80000"/>
                    </a:prst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+mj-cs"/>
              </a:rPr>
              <a:t>MGMT 3105-24F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7483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8887" y="2044992"/>
            <a:ext cx="963590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solidFill>
                  <a:srgbClr val="0070C0"/>
                </a:solidFill>
                <a:latin typeface="Calibri" panose="020F0502020204030204" pitchFamily="34" charset="0"/>
              </a:rPr>
              <a:t>PROJECT CHARTER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8167" y="27343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66" y="27343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18CF01-49AA-4225-B952-9CC1B8434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96884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561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0283" y="800392"/>
            <a:ext cx="35921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PMI’s Definition</a:t>
            </a:r>
            <a:endParaRPr lang="en-US" sz="4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0283" y="2465893"/>
            <a:ext cx="97258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A </a:t>
            </a: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Project Charter </a:t>
            </a:r>
            <a:r>
              <a:rPr lang="en-US" altLang="en-US" sz="2400" dirty="0">
                <a:latin typeface="Calibri" panose="020F0502020204030204" pitchFamily="34" charset="0"/>
              </a:rPr>
              <a:t>is the process of developing a document that 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formally authorizes</a:t>
            </a:r>
            <a:r>
              <a:rPr lang="en-US" altLang="en-US" sz="2400" dirty="0">
                <a:latin typeface="Calibri" panose="020F0502020204030204" pitchFamily="34" charset="0"/>
              </a:rPr>
              <a:t> a project and documenting initial requirements that satisfy the stakeholders’ needs and expectations.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</a:rPr>
              <a:t>The approval of the Project Charter formally initiates the Project.</a:t>
            </a: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68290" y="27342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6933" y="27343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8A6F7-08D0-4346-AF81-44B68A61C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96884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736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DF9EC2D-F13D-D3FF-E822-0EB992B1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86C8EB3-C169-0D83-A9B3-979A1CB3B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9301534" cy="3448595"/>
          </a:xfrm>
        </p:spPr>
        <p:txBody>
          <a:bodyPr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A Charter statement is one of the documents produced in 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planning phase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of a project being managed and should include: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the Project Description;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the Project Purpose;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Business Case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the Project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Deliverables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the Project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Milestones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the Project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Resources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the Project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Budget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(gross amount only)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; 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the Internal Stakeholders;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the External Stakeholders;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prstClr val="black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endParaRPr lang="en-CA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DE9DF09-B318-55DA-959A-277473707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9700" y="2049249"/>
            <a:ext cx="5110496" cy="3441520"/>
          </a:xfrm>
        </p:spPr>
        <p:txBody>
          <a:bodyPr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prstClr val="black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the Project Risks;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the Project Constraints;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the Team Members Roles and Responsibilities;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a Signed-Off approval of a review of the document with the customer, and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buClrTx/>
              <a:buSzTx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a Signed-Off approval of a review of the document with corporate management.</a:t>
            </a:r>
          </a:p>
          <a:p>
            <a:endParaRPr lang="en-CA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6D9-BAB2-4B29-90D0-7EEBF93F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F98EB-7E64-463A-A413-CEB841E24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8D8A4-78F7-4017-BE23-1F1F92E5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230C4-9C28-483B-88AC-25C4AB4267F5}"/>
              </a:ext>
            </a:extLst>
          </p:cNvPr>
          <p:cNvSpPr txBox="1"/>
          <p:nvPr/>
        </p:nvSpPr>
        <p:spPr>
          <a:xfrm>
            <a:off x="3044456" y="129964"/>
            <a:ext cx="61030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Charter Statement</a:t>
            </a:r>
          </a:p>
        </p:txBody>
      </p:sp>
    </p:spTree>
    <p:extLst>
      <p:ext uri="{BB962C8B-B14F-4D97-AF65-F5344CB8AC3E}">
        <p14:creationId xmlns:p14="http://schemas.microsoft.com/office/powerpoint/2010/main" val="295132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0779" y="318254"/>
            <a:ext cx="34905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Key Statements</a:t>
            </a:r>
            <a:endParaRPr lang="en-US" sz="4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2613" y="1221460"/>
            <a:ext cx="10083338" cy="423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Writing, maintaining, and using an effective </a:t>
            </a: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Project Charter </a:t>
            </a:r>
            <a:r>
              <a:rPr lang="en-US" altLang="en-US" sz="2400" dirty="0">
                <a:latin typeface="Calibri" panose="020F0502020204030204" pitchFamily="34" charset="0"/>
              </a:rPr>
              <a:t>is one 	of a      	project manager’s most important jobs.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When properly used, a Project Charter will be the 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single most important 	tool </a:t>
            </a:r>
            <a:r>
              <a:rPr lang="en-US" altLang="en-US" sz="2400" dirty="0">
                <a:latin typeface="Calibri" panose="020F0502020204030204" pitchFamily="34" charset="0"/>
              </a:rPr>
              <a:t>the project manager utilizes for managing the expectations of 	the 	project sponsor and all other stakeholders.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The Project Charter is used to set the 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project direction </a:t>
            </a:r>
            <a:r>
              <a:rPr lang="en-US" altLang="en-US" sz="2400" dirty="0">
                <a:latin typeface="Calibri" panose="020F0502020204030204" pitchFamily="34" charset="0"/>
              </a:rPr>
              <a:t>and defines the 	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measures of success</a:t>
            </a:r>
            <a:r>
              <a:rPr lang="en-US" altLang="en-US" sz="2400" dirty="0">
                <a:latin typeface="Calibri" panose="020F0502020204030204" pitchFamily="34" charset="0"/>
              </a:rPr>
              <a:t>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The Project Charter provides a consolidated and summary-level 	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overview of the project</a:t>
            </a:r>
            <a:r>
              <a:rPr lang="en-US" altLang="en-US" sz="2400" dirty="0">
                <a:latin typeface="Calibri" panose="020F0502020204030204" pitchFamily="34" charset="0"/>
              </a:rPr>
              <a:t>. It allows all stakeholders to agree and 	document project scope, objectives, timeframe, and deliverables.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A Project Charter is created at the beginning of a project, approved by 	the stakeholders, and signed off before work can begin.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Every project should have a Project Charter created and maintained.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</a:t>
            </a: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There is no official project without an approved Project Charter</a:t>
            </a: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59978" y="13793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11423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5913C-2238-43E6-8CF6-261053008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7536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2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2613" y="644452"/>
            <a:ext cx="944816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Five Inputs for Developing a Project Charter</a:t>
            </a:r>
            <a:endParaRPr lang="en-US" sz="4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5127" y="1748717"/>
            <a:ext cx="10855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Project Statement of Work (with client)</a:t>
            </a:r>
          </a:p>
          <a:p>
            <a:pPr lvl="2">
              <a:buSzTx/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</a:rPr>
              <a:t>  Document including the high-level description of the intended deliverables</a:t>
            </a:r>
          </a:p>
          <a:p>
            <a:pPr lvl="2">
              <a:buSzTx/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</a:rPr>
              <a:t>  Business Need and Product Scope Definition </a:t>
            </a:r>
          </a:p>
          <a:p>
            <a:pPr lvl="2">
              <a:buSzTx/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</a:rPr>
              <a:t>  This is our “Project Brief” document</a:t>
            </a:r>
          </a:p>
          <a:p>
            <a:pPr lvl="2">
              <a:buSzTx/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</a:rPr>
              <a:t>  Fewer details than the Scope Statement	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Business Case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Contract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Enterprise Environmental Factors (EFFs) (conditions we cannot control)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Organizational Process Assets (OPA) (business plans, processes, policies, 	protocols, and	knowledge)</a:t>
            </a: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68291" y="21169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46284-B9EA-441E-87B0-DA7FB1624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86126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827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2613" y="200910"/>
            <a:ext cx="79196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Typical Sections on a Project Charter</a:t>
            </a:r>
            <a:endParaRPr lang="en-US" sz="4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343" y="1082363"/>
            <a:ext cx="10880638" cy="4974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libri" panose="020F0502020204030204" pitchFamily="34" charset="0"/>
              </a:rPr>
              <a:t> Project Title and Description:</a:t>
            </a:r>
          </a:p>
          <a:p>
            <a:pPr>
              <a:lnSpc>
                <a:spcPct val="80000"/>
              </a:lnSpc>
            </a:pPr>
            <a:r>
              <a:rPr lang="en-US" sz="2200" dirty="0">
                <a:latin typeface="Calibri" panose="020F0502020204030204" pitchFamily="34" charset="0"/>
              </a:rPr>
              <a:t>	This section includes a simple, high-level description of what is the project.</a:t>
            </a:r>
          </a:p>
          <a:p>
            <a:pPr>
              <a:lnSpc>
                <a:spcPct val="80000"/>
              </a:lnSpc>
            </a:pPr>
            <a:endParaRPr lang="en-US" altLang="en-US" sz="2200" dirty="0">
              <a:latin typeface="Calibri" panose="020F0502020204030204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libri" panose="020F0502020204030204" pitchFamily="34" charset="0"/>
              </a:rPr>
              <a:t> Business Case:</a:t>
            </a:r>
          </a:p>
          <a:p>
            <a:pPr>
              <a:lnSpc>
                <a:spcPct val="80000"/>
              </a:lnSpc>
            </a:pPr>
            <a:r>
              <a:rPr lang="en-US" sz="2200" b="1" dirty="0">
                <a:latin typeface="Calibri" panose="020F0502020204030204" pitchFamily="34" charset="0"/>
              </a:rPr>
              <a:t>	</a:t>
            </a:r>
            <a:r>
              <a:rPr lang="en-US" sz="2200" dirty="0">
                <a:latin typeface="Calibri" panose="020F0502020204030204" pitchFamily="34" charset="0"/>
              </a:rPr>
              <a:t>This section of the charter explains </a:t>
            </a:r>
            <a:r>
              <a:rPr lang="en-US" sz="2200" dirty="0">
                <a:solidFill>
                  <a:srgbClr val="00B050"/>
                </a:solidFill>
                <a:latin typeface="Calibri" panose="020F0502020204030204" pitchFamily="34" charset="0"/>
              </a:rPr>
              <a:t>what business problem is being solved </a:t>
            </a:r>
            <a:r>
              <a:rPr lang="en-US" sz="2200" dirty="0">
                <a:latin typeface="Calibri" panose="020F0502020204030204" pitchFamily="34" charset="0"/>
              </a:rPr>
              <a:t>by the project.</a:t>
            </a:r>
          </a:p>
          <a:p>
            <a:pPr>
              <a:lnSpc>
                <a:spcPct val="80000"/>
              </a:lnSpc>
            </a:pPr>
            <a:r>
              <a:rPr lang="en-US" sz="2200" dirty="0">
                <a:latin typeface="Calibri" panose="020F0502020204030204" pitchFamily="34" charset="0"/>
              </a:rPr>
              <a:t>	It addresses the question of </a:t>
            </a:r>
            <a:r>
              <a:rPr lang="en-US" sz="2200" dirty="0">
                <a:solidFill>
                  <a:srgbClr val="00B050"/>
                </a:solidFill>
                <a:latin typeface="Calibri" panose="020F0502020204030204" pitchFamily="34" charset="0"/>
              </a:rPr>
              <a:t>why</a:t>
            </a:r>
            <a:r>
              <a:rPr lang="en-US" sz="2200" dirty="0">
                <a:latin typeface="Calibri" panose="020F0502020204030204" pitchFamily="34" charset="0"/>
              </a:rPr>
              <a:t> the project is being undertaken.</a:t>
            </a:r>
          </a:p>
          <a:p>
            <a:pPr>
              <a:lnSpc>
                <a:spcPct val="80000"/>
              </a:lnSpc>
            </a:pPr>
            <a:r>
              <a:rPr lang="en-US" sz="2200" dirty="0">
                <a:latin typeface="Calibri" panose="020F0502020204030204" pitchFamily="34" charset="0"/>
              </a:rPr>
              <a:t>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libri" panose="020F0502020204030204" pitchFamily="34" charset="0"/>
              </a:rPr>
              <a:t> Resources Preassigned:</a:t>
            </a:r>
          </a:p>
          <a:p>
            <a:pPr>
              <a:lnSpc>
                <a:spcPct val="80000"/>
              </a:lnSpc>
            </a:pPr>
            <a:r>
              <a:rPr lang="en-US" sz="2200" dirty="0">
                <a:latin typeface="Calibri" panose="020F0502020204030204" pitchFamily="34" charset="0"/>
              </a:rPr>
              <a:t>	In this section of the project charter, the </a:t>
            </a:r>
            <a:r>
              <a:rPr lang="en-US" sz="2200" dirty="0">
                <a:solidFill>
                  <a:srgbClr val="00B050"/>
                </a:solidFill>
                <a:latin typeface="Calibri" panose="020F0502020204030204" pitchFamily="34" charset="0"/>
              </a:rPr>
              <a:t>sponsor</a:t>
            </a:r>
            <a:r>
              <a:rPr lang="en-US" sz="2200" dirty="0">
                <a:latin typeface="Calibri" panose="020F0502020204030204" pitchFamily="34" charset="0"/>
              </a:rPr>
              <a:t> identifies how </a:t>
            </a:r>
            <a:r>
              <a:rPr lang="en-US" sz="2200" dirty="0">
                <a:solidFill>
                  <a:srgbClr val="00B050"/>
                </a:solidFill>
                <a:latin typeface="Calibri" panose="020F0502020204030204" pitchFamily="34" charset="0"/>
              </a:rPr>
              <a:t>many and what resources </a:t>
            </a:r>
            <a:r>
              <a:rPr lang="en-US" sz="2200" dirty="0">
                <a:latin typeface="Calibri" panose="020F0502020204030204" pitchFamily="34" charset="0"/>
              </a:rPr>
              <a:t>will 	be provided for the project. </a:t>
            </a:r>
          </a:p>
          <a:p>
            <a:pPr>
              <a:lnSpc>
                <a:spcPct val="80000"/>
              </a:lnSpc>
            </a:pPr>
            <a:endParaRPr lang="en-US" sz="2200" dirty="0">
              <a:latin typeface="Calibri" panose="020F0502020204030204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libri" panose="020F0502020204030204" pitchFamily="34" charset="0"/>
              </a:rPr>
              <a:t> Stakeholders:</a:t>
            </a:r>
          </a:p>
          <a:p>
            <a:pPr>
              <a:lnSpc>
                <a:spcPct val="80000"/>
              </a:lnSpc>
            </a:pPr>
            <a:r>
              <a:rPr lang="en-US" sz="2200" b="1" dirty="0">
                <a:latin typeface="Calibri" panose="020F0502020204030204" pitchFamily="34" charset="0"/>
              </a:rPr>
              <a:t>	</a:t>
            </a:r>
            <a:r>
              <a:rPr lang="en-US" sz="2200" dirty="0">
                <a:latin typeface="Calibri" panose="020F0502020204030204" pitchFamily="34" charset="0"/>
              </a:rPr>
              <a:t>This is the sponsor’s impression as to who are the stakeholders.</a:t>
            </a:r>
          </a:p>
          <a:p>
            <a:pPr>
              <a:lnSpc>
                <a:spcPct val="80000"/>
              </a:lnSpc>
            </a:pPr>
            <a:r>
              <a:rPr lang="en-US" sz="2200" dirty="0">
                <a:latin typeface="Calibri" panose="020F0502020204030204" pitchFamily="34" charset="0"/>
              </a:rPr>
              <a:t>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Calibri" panose="020F0502020204030204" pitchFamily="34" charset="0"/>
              </a:rPr>
              <a:t> Stakeholder Requirements as Known:</a:t>
            </a:r>
          </a:p>
          <a:p>
            <a:pPr>
              <a:lnSpc>
                <a:spcPct val="80000"/>
              </a:lnSpc>
            </a:pPr>
            <a:r>
              <a:rPr lang="en-US" sz="2200" b="1" dirty="0">
                <a:latin typeface="Calibri" panose="020F0502020204030204" pitchFamily="34" charset="0"/>
              </a:rPr>
              <a:t>	</a:t>
            </a:r>
            <a:r>
              <a:rPr lang="en-US" sz="2200" dirty="0">
                <a:latin typeface="Calibri" panose="020F0502020204030204" pitchFamily="34" charset="0"/>
              </a:rPr>
              <a:t>This section of the project charter identifies the </a:t>
            </a:r>
            <a:r>
              <a:rPr lang="en-US" sz="2200" dirty="0">
                <a:solidFill>
                  <a:srgbClr val="00B050"/>
                </a:solidFill>
                <a:latin typeface="Calibri" panose="020F0502020204030204" pitchFamily="34" charset="0"/>
              </a:rPr>
              <a:t>high-level requirements </a:t>
            </a:r>
            <a:r>
              <a:rPr lang="en-US" sz="2200" dirty="0">
                <a:latin typeface="Calibri" panose="020F0502020204030204" pitchFamily="34" charset="0"/>
              </a:rPr>
              <a:t>related to both project 	and product scope. Known stakeholder requirements are the requirements that have been used to justify the project.</a:t>
            </a: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01542" y="27343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7343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AF447-4E18-465A-82C8-ED3962FC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77181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862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2613" y="235126"/>
            <a:ext cx="79196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Typical Sections on a Project Charter</a:t>
            </a:r>
            <a:endParaRPr lang="en-US" sz="4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2613" y="1148637"/>
            <a:ext cx="10805823" cy="453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</a:rPr>
              <a:t> Product Description/Deliverables: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	</a:t>
            </a:r>
            <a:r>
              <a:rPr lang="en-US" sz="2400" dirty="0">
                <a:latin typeface="Calibri" panose="020F0502020204030204" pitchFamily="34" charset="0"/>
              </a:rPr>
              <a:t>This section includes the project sponsor’s indication of what specific product	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deliverables</a:t>
            </a:r>
            <a:r>
              <a:rPr lang="en-US" sz="2400" dirty="0">
                <a:latin typeface="Calibri" panose="020F0502020204030204" pitchFamily="34" charset="0"/>
              </a:rPr>
              <a:t> are wanted, and what will be the 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end result of the project</a:t>
            </a:r>
            <a:r>
              <a:rPr lang="en-US" sz="2400" dirty="0">
                <a:latin typeface="Calibri" panose="020F0502020204030204" pitchFamily="34" charset="0"/>
              </a:rPr>
              <a:t>.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Calibri" panose="020F0502020204030204" pitchFamily="34" charset="0"/>
              </a:rPr>
              <a:t>	A measure of project success is that all the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deliverables</a:t>
            </a:r>
            <a:r>
              <a:rPr lang="en-US" sz="2400" dirty="0">
                <a:latin typeface="Calibri" panose="020F0502020204030204" pitchFamily="34" charset="0"/>
              </a:rPr>
              <a:t> are met. 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</a:rPr>
              <a:t> Measurable Project Objectives: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	</a:t>
            </a:r>
            <a:r>
              <a:rPr lang="en-US" sz="2400" dirty="0">
                <a:latin typeface="Calibri" panose="020F0502020204030204" pitchFamily="34" charset="0"/>
              </a:rPr>
              <a:t>This section addresses how the project ties into the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organization’s strategic goals </a:t>
            </a:r>
            <a:r>
              <a:rPr lang="en-US" sz="2400" dirty="0">
                <a:latin typeface="Calibri" panose="020F0502020204030204" pitchFamily="34" charset="0"/>
              </a:rPr>
              <a:t>	and includes the project objectives that support those goals.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</a:rPr>
              <a:t> Summary Milestone schedule: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	</a:t>
            </a:r>
            <a:r>
              <a:rPr lang="en-US" sz="2400" dirty="0">
                <a:latin typeface="Calibri" panose="020F0502020204030204" pitchFamily="34" charset="0"/>
              </a:rPr>
              <a:t>Estimate the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length of time </a:t>
            </a:r>
            <a:r>
              <a:rPr lang="en-US" sz="2400" dirty="0">
                <a:latin typeface="Calibri" panose="020F0502020204030204" pitchFamily="34" charset="0"/>
              </a:rPr>
              <a:t>to complete the various phases of the project.</a:t>
            </a:r>
          </a:p>
          <a:p>
            <a:pPr lvl="1"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</a:rPr>
              <a:t> Summary Budget: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	</a:t>
            </a:r>
            <a:r>
              <a:rPr lang="en-US" sz="2400" dirty="0">
                <a:latin typeface="Calibri" panose="020F0502020204030204" pitchFamily="34" charset="0"/>
              </a:rPr>
              <a:t>Define the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proposed budget </a:t>
            </a:r>
            <a:r>
              <a:rPr lang="en-US" sz="2400" dirty="0">
                <a:latin typeface="Calibri" panose="020F0502020204030204" pitchFamily="34" charset="0"/>
              </a:rPr>
              <a:t>for the project. </a:t>
            </a:r>
            <a:r>
              <a:rPr lang="en-US" sz="2400" u="sng" dirty="0">
                <a:latin typeface="Calibri" panose="020F0502020204030204" pitchFamily="34" charset="0"/>
              </a:rPr>
              <a:t>Actual budget will be determined </a:t>
            </a: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400" u="sng" dirty="0">
                <a:latin typeface="Calibri" panose="020F0502020204030204" pitchFamily="34" charset="0"/>
              </a:rPr>
              <a:t>later once more planning has been completed</a:t>
            </a:r>
            <a:r>
              <a:rPr lang="en-US" sz="2400" dirty="0"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76604" y="21169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65A79-7835-40CB-BC9B-6F18DAC8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344" y="557228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476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2613" y="243439"/>
            <a:ext cx="79196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Typical Sections on a Project Charter</a:t>
            </a:r>
            <a:endParaRPr lang="en-US" sz="4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2613" y="1354860"/>
            <a:ext cx="10972078" cy="334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</a:rPr>
              <a:t> Project Approval Requirements: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	</a:t>
            </a:r>
            <a:r>
              <a:rPr lang="en-US" sz="2400" dirty="0">
                <a:latin typeface="Calibri" panose="020F0502020204030204" pitchFamily="34" charset="0"/>
              </a:rPr>
              <a:t>This section identifies what items need to be approved for the project, and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who will 	have sign-off</a:t>
            </a:r>
            <a:r>
              <a:rPr lang="en-US" sz="2400" dirty="0">
                <a:latin typeface="Calibri" panose="020F0502020204030204" pitchFamily="34" charset="0"/>
              </a:rPr>
              <a:t>.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</a:rPr>
              <a:t>High Level Project Risks</a:t>
            </a:r>
            <a:r>
              <a:rPr lang="en-US" sz="2400" dirty="0">
                <a:latin typeface="Calibri" panose="020F0502020204030204" pitchFamily="34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Calibri" panose="020F0502020204030204" pitchFamily="34" charset="0"/>
              </a:rPr>
              <a:t>	Potential threats and opportunities for the project are listed here. In-depth risk 	identification occurs later in the planning processes. 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</a:rPr>
              <a:t>Signatures: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	</a:t>
            </a:r>
            <a:r>
              <a:rPr lang="en-US" sz="2400" dirty="0">
                <a:latin typeface="Calibri" panose="020F0502020204030204" pitchFamily="34" charset="0"/>
              </a:rPr>
              <a:t>This is where all the involved parties sign-off on the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proposed project </a:t>
            </a:r>
            <a:r>
              <a:rPr lang="en-US" sz="2400" dirty="0">
                <a:latin typeface="Calibri" panose="020F0502020204030204" pitchFamily="34" charset="0"/>
              </a:rPr>
              <a:t>and 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authorize 	it to begin based upon the information presented</a:t>
            </a:r>
            <a:r>
              <a:rPr lang="en-US" sz="2400" dirty="0"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84916" y="19030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19030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E7510-4648-4A12-BDD3-6456FE17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9650" y="559688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48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582613" y="609199"/>
            <a:ext cx="663220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Outputs of the Project Charter</a:t>
            </a:r>
            <a:endParaRPr lang="en-US" sz="4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8244" y="1923112"/>
            <a:ext cx="766607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Calibri" panose="020F0502020204030204" pitchFamily="34" charset="0"/>
              </a:rPr>
              <a:t> Project Purpose or Justification;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Calibri" panose="020F0502020204030204" pitchFamily="34" charset="0"/>
              </a:rPr>
              <a:t> Measurable Project Objectives;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Calibri" panose="020F0502020204030204" pitchFamily="34" charset="0"/>
              </a:rPr>
              <a:t> High-level Requirements;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Calibri" panose="020F0502020204030204" pitchFamily="34" charset="0"/>
              </a:rPr>
              <a:t> High-level Project Description;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Calibri" panose="020F0502020204030204" pitchFamily="34" charset="0"/>
              </a:rPr>
              <a:t> High-level Risks;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Calibri" panose="020F0502020204030204" pitchFamily="34" charset="0"/>
              </a:rPr>
              <a:t> Summary Milestone Schedule; and,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Calibri" panose="020F0502020204030204" pitchFamily="34" charset="0"/>
              </a:rPr>
              <a:t> Summary Budget.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26480" y="21169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5B2FF-41B5-4390-9742-E1E358B65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86126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1026" name="Picture 2" descr="Project Charter Complete Guide: Template &amp; How To Make It">
            <a:extLst>
              <a:ext uri="{FF2B5EF4-FFF2-40B4-BE49-F238E27FC236}">
                <a16:creationId xmlns:a16="http://schemas.microsoft.com/office/drawing/2014/main" id="{CD1BB94B-4E62-FBBF-EFA6-B77A19D9E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180" y="440221"/>
            <a:ext cx="4074801" cy="584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71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582613" y="642449"/>
            <a:ext cx="748762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Benefits of Using a Project Charter</a:t>
            </a:r>
            <a:endParaRPr lang="en-US" sz="4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2613" y="1413063"/>
            <a:ext cx="1079422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r>
              <a:rPr lang="en-US" altLang="en-US" sz="3200" dirty="0">
                <a:solidFill>
                  <a:srgbClr val="00B050"/>
                </a:solidFill>
                <a:latin typeface="Calibri" panose="020F0502020204030204" pitchFamily="34" charset="0"/>
              </a:rPr>
              <a:t>Stakeholders</a:t>
            </a:r>
            <a:r>
              <a:rPr lang="en-US" altLang="en-US" sz="3200" dirty="0">
                <a:latin typeface="Calibri" panose="020F0502020204030204" pitchFamily="34" charset="0"/>
              </a:rPr>
              <a:t> are clearly defined;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Calibri" panose="020F0502020204030204" pitchFamily="34" charset="0"/>
              </a:rPr>
              <a:t> </a:t>
            </a:r>
            <a:r>
              <a:rPr lang="en-US" altLang="en-US" sz="3200" dirty="0">
                <a:solidFill>
                  <a:srgbClr val="00B050"/>
                </a:solidFill>
                <a:latin typeface="Calibri" panose="020F0502020204030204" pitchFamily="34" charset="0"/>
              </a:rPr>
              <a:t>Communication</a:t>
            </a:r>
            <a:r>
              <a:rPr lang="en-US" altLang="en-US" sz="3200" dirty="0">
                <a:latin typeface="Calibri" panose="020F0502020204030204" pitchFamily="34" charset="0"/>
              </a:rPr>
              <a:t> channels are defined;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Calibri" panose="020F0502020204030204" pitchFamily="34" charset="0"/>
              </a:rPr>
              <a:t> Roles and Responsibilities are outlined;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Calibri" panose="020F0502020204030204" pitchFamily="34" charset="0"/>
              </a:rPr>
              <a:t> </a:t>
            </a:r>
            <a:r>
              <a:rPr lang="en-US" altLang="en-US" sz="3200" dirty="0">
                <a:solidFill>
                  <a:srgbClr val="00B050"/>
                </a:solidFill>
                <a:latin typeface="Calibri" panose="020F0502020204030204" pitchFamily="34" charset="0"/>
              </a:rPr>
              <a:t>Scope</a:t>
            </a:r>
            <a:r>
              <a:rPr lang="en-US" altLang="en-US" sz="3200" dirty="0">
                <a:latin typeface="Calibri" panose="020F0502020204030204" pitchFamily="34" charset="0"/>
              </a:rPr>
              <a:t> is Defined – </a:t>
            </a:r>
            <a:r>
              <a:rPr lang="en-US" altLang="en-US" sz="3200" dirty="0">
                <a:highlight>
                  <a:srgbClr val="FFFF00"/>
                </a:highlight>
                <a:latin typeface="Calibri" panose="020F0502020204030204" pitchFamily="34" charset="0"/>
              </a:rPr>
              <a:t>Helps prevent “Scope Creep”</a:t>
            </a:r>
            <a:r>
              <a:rPr lang="en-US" altLang="en-US" sz="3200" dirty="0">
                <a:latin typeface="Calibri" panose="020F0502020204030204" pitchFamily="34" charset="0"/>
              </a:rPr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Calibri" panose="020F0502020204030204" pitchFamily="34" charset="0"/>
              </a:rPr>
              <a:t> Improved Project Management Processes in </a:t>
            </a:r>
            <a:r>
              <a:rPr lang="en-US" altLang="en-US" sz="3200" dirty="0">
                <a:solidFill>
                  <a:srgbClr val="00B050"/>
                </a:solidFill>
                <a:latin typeface="Calibri" panose="020F0502020204030204" pitchFamily="34" charset="0"/>
              </a:rPr>
              <a:t>later Phases</a:t>
            </a:r>
            <a:r>
              <a:rPr lang="en-US" altLang="en-US" sz="3200" dirty="0">
                <a:latin typeface="Calibri" panose="020F0502020204030204" pitchFamily="34" charset="0"/>
              </a:rPr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Calibri" panose="020F0502020204030204" pitchFamily="34" charset="0"/>
              </a:rPr>
              <a:t> Increased Probability of project success;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Calibri" panose="020F0502020204030204" pitchFamily="34" charset="0"/>
              </a:rPr>
              <a:t> “BUY IN” from </a:t>
            </a:r>
            <a:r>
              <a:rPr lang="en-US" altLang="en-US" sz="3200" dirty="0">
                <a:solidFill>
                  <a:srgbClr val="7030A0"/>
                </a:solidFill>
                <a:latin typeface="Calibri" panose="020F0502020204030204" pitchFamily="34" charset="0"/>
              </a:rPr>
              <a:t>Project Team Members</a:t>
            </a:r>
            <a:r>
              <a:rPr lang="en-US" altLang="en-US" sz="3200" dirty="0"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58034" y="21417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7343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C8D41-2BE3-4EA9-9D93-D563852C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5506" y="5679735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161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582613" y="708952"/>
            <a:ext cx="22179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Summary</a:t>
            </a:r>
            <a:endParaRPr lang="en-US" sz="4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0743" y="1558097"/>
            <a:ext cx="1093051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A </a:t>
            </a: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Project Charter </a:t>
            </a:r>
            <a:r>
              <a:rPr lang="en-US" altLang="en-US" sz="2400" dirty="0">
                <a:latin typeface="Calibri" panose="020F0502020204030204" pitchFamily="34" charset="0"/>
              </a:rPr>
              <a:t>officially 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initiates</a:t>
            </a:r>
            <a:r>
              <a:rPr lang="en-US" altLang="en-US" sz="2400" dirty="0">
                <a:latin typeface="Calibri" panose="020F0502020204030204" pitchFamily="34" charset="0"/>
              </a:rPr>
              <a:t> a Project;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Project Charters are a High-level view of the project objectives, deliverables, and 	scope;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Project Charters are living documents and need to be 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updated</a:t>
            </a:r>
            <a:r>
              <a:rPr lang="en-US" altLang="en-US" sz="2400" dirty="0">
                <a:latin typeface="Calibri" panose="020F0502020204030204" pitchFamily="34" charset="0"/>
              </a:rPr>
              <a:t> as the project 	moves forward;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There are standard inputs and tools &amp; techniques for building a Project Charter.  	“One Size” does not fit all; and,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</a:rPr>
              <a:t>     A well managed Project Charter will be the single most important tool for a Project 	Manager/Project Leader to manage project expectations.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84917" y="40000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40000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78C14-225E-4E91-AC6E-7DC810DFA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24894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45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3353205" y="908457"/>
            <a:ext cx="57049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Stakeholder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157685" y="2025015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</a:rPr>
              <a:t>What is a “Stakeholder"?</a:t>
            </a:r>
          </a:p>
          <a:p>
            <a:pPr algn="ctr"/>
            <a:endParaRPr lang="en-US" sz="32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3200" i="1" dirty="0">
                <a:highlight>
                  <a:srgbClr val="FFFF00"/>
                </a:highlight>
                <a:latin typeface="Calibri" panose="020F0502020204030204" pitchFamily="34" charset="0"/>
              </a:rPr>
              <a:t>Individuals or groups who have an active stake (interest) in the project and can potentially impact its development</a:t>
            </a:r>
            <a:r>
              <a:rPr lang="en-US" sz="3200" dirty="0">
                <a:highlight>
                  <a:srgbClr val="FFFF00"/>
                </a:highlight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26480" y="35655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35655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2E941-F7E7-4C57-8773-D538A0BC7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1166" y="5671422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2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2608603" y="330370"/>
            <a:ext cx="69747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Identifying Project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8701" y="1759112"/>
            <a:ext cx="3922826" cy="2363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latin typeface="Calibri" panose="020F0502020204030204" pitchFamily="34" charset="0"/>
              </a:rPr>
              <a:t>Internal: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libri" panose="020F0502020204030204" pitchFamily="34" charset="0"/>
              </a:rPr>
              <a:t>	Senior Management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libri" panose="020F0502020204030204" pitchFamily="34" charset="0"/>
              </a:rPr>
              <a:t>	Accountant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libri" panose="020F0502020204030204" pitchFamily="34" charset="0"/>
              </a:rPr>
              <a:t>	Team members</a:t>
            </a:r>
            <a:endParaRPr lang="en-US" sz="2800" i="1" dirty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Calibri" panose="020F0502020204030204" pitchFamily="34" charset="0"/>
              </a:rPr>
              <a:t>	I.T. Department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Calibri" panose="020F050202020403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01542" y="21169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E9150-D591-4BCF-B058-C1E5898B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1422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CC4A6A-5BFD-15FE-1973-C41F256086BA}"/>
              </a:ext>
            </a:extLst>
          </p:cNvPr>
          <p:cNvSpPr/>
          <p:nvPr/>
        </p:nvSpPr>
        <p:spPr>
          <a:xfrm>
            <a:off x="5504204" y="1690687"/>
            <a:ext cx="4261837" cy="280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latin typeface="Calibri" panose="020F0502020204030204" pitchFamily="34" charset="0"/>
              </a:rPr>
              <a:t>External: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libri" panose="020F0502020204030204" pitchFamily="34" charset="0"/>
              </a:rPr>
              <a:t>	Client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libri" panose="020F0502020204030204" pitchFamily="34" charset="0"/>
              </a:rPr>
              <a:t>	Competitors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libri" panose="020F0502020204030204" pitchFamily="34" charset="0"/>
              </a:rPr>
              <a:t>	Suppliers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libri" panose="020F0502020204030204" pitchFamily="34" charset="0"/>
              </a:rPr>
              <a:t>	Environmental Agencies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libri" panose="020F0502020204030204" pitchFamily="34" charset="0"/>
              </a:rPr>
              <a:t>	Government Agencies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alibri" panose="020F0502020204030204" pitchFamily="34" charset="0"/>
              </a:rPr>
              <a:t>	Research Laboratories</a:t>
            </a:r>
          </a:p>
        </p:txBody>
      </p:sp>
    </p:spTree>
    <p:extLst>
      <p:ext uri="{BB962C8B-B14F-4D97-AF65-F5344CB8AC3E}">
        <p14:creationId xmlns:p14="http://schemas.microsoft.com/office/powerpoint/2010/main" val="3755629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3846089" y="210590"/>
            <a:ext cx="47800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Manage Stakeholders</a:t>
            </a: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3715978" y="918476"/>
            <a:ext cx="5040312" cy="5041900"/>
            <a:chOff x="1383" y="1071"/>
            <a:chExt cx="3175" cy="3176"/>
          </a:xfrm>
          <a:solidFill>
            <a:schemeClr val="bg1"/>
          </a:solidFill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383" y="1071"/>
              <a:ext cx="3175" cy="3176"/>
            </a:xfrm>
            <a:prstGeom prst="rect">
              <a:avLst/>
            </a:prstGeom>
            <a:grpFill/>
            <a:ln w="9525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387" y="1075"/>
              <a:ext cx="3158" cy="3159"/>
            </a:xfrm>
            <a:prstGeom prst="ellipse">
              <a:avLst/>
            </a:prstGeom>
            <a:grp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2650" y="2338"/>
              <a:ext cx="632" cy="633"/>
            </a:xfrm>
            <a:prstGeom prst="ellipse">
              <a:avLst/>
            </a:prstGeom>
            <a:grp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2821" y="2466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874" y="2466"/>
              <a:ext cx="79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2909" y="2466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962" y="2466"/>
              <a:ext cx="70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j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997" y="2466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3041" y="2466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3085" y="2466"/>
              <a:ext cx="79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3111" y="2466"/>
              <a:ext cx="70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2690" y="2580"/>
              <a:ext cx="149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2786" y="2580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2830" y="2580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2883" y="2580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2935" y="2580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2988" y="2580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3032" y="2580"/>
              <a:ext cx="123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3111" y="2580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3155" y="2580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3207" y="2580"/>
              <a:ext cx="79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3242" y="2580"/>
              <a:ext cx="70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2848" y="2694"/>
              <a:ext cx="114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2909" y="2694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2953" y="2694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2997" y="2694"/>
              <a:ext cx="123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32" name="Group 38"/>
            <p:cNvGrpSpPr>
              <a:grpSpLocks/>
            </p:cNvGrpSpPr>
            <p:nvPr/>
          </p:nvGrpSpPr>
          <p:grpSpPr bwMode="auto">
            <a:xfrm>
              <a:off x="3137" y="1229"/>
              <a:ext cx="535" cy="1053"/>
              <a:chOff x="3137" y="1229"/>
              <a:chExt cx="535" cy="1053"/>
            </a:xfrm>
            <a:grpFill/>
          </p:grpSpPr>
          <p:sp>
            <p:nvSpPr>
              <p:cNvPr id="318" name="Line 30"/>
              <p:cNvSpPr>
                <a:spLocks noChangeShapeType="1"/>
              </p:cNvSpPr>
              <p:nvPr/>
            </p:nvSpPr>
            <p:spPr bwMode="auto">
              <a:xfrm flipH="1">
                <a:off x="3628" y="1229"/>
                <a:ext cx="44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9" name="Line 31"/>
              <p:cNvSpPr>
                <a:spLocks noChangeShapeType="1"/>
              </p:cNvSpPr>
              <p:nvPr/>
            </p:nvSpPr>
            <p:spPr bwMode="auto">
              <a:xfrm flipH="1">
                <a:off x="3558" y="1369"/>
                <a:ext cx="35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0" name="Line 32"/>
              <p:cNvSpPr>
                <a:spLocks noChangeShapeType="1"/>
              </p:cNvSpPr>
              <p:nvPr/>
            </p:nvSpPr>
            <p:spPr bwMode="auto">
              <a:xfrm flipH="1">
                <a:off x="3488" y="1510"/>
                <a:ext cx="35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1" name="Line 33"/>
              <p:cNvSpPr>
                <a:spLocks noChangeShapeType="1"/>
              </p:cNvSpPr>
              <p:nvPr/>
            </p:nvSpPr>
            <p:spPr bwMode="auto">
              <a:xfrm flipH="1">
                <a:off x="3418" y="1650"/>
                <a:ext cx="35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2" name="Line 34"/>
              <p:cNvSpPr>
                <a:spLocks noChangeShapeType="1"/>
              </p:cNvSpPr>
              <p:nvPr/>
            </p:nvSpPr>
            <p:spPr bwMode="auto">
              <a:xfrm flipH="1">
                <a:off x="3348" y="1790"/>
                <a:ext cx="35" cy="71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3" name="Line 35"/>
              <p:cNvSpPr>
                <a:spLocks noChangeShapeType="1"/>
              </p:cNvSpPr>
              <p:nvPr/>
            </p:nvSpPr>
            <p:spPr bwMode="auto">
              <a:xfrm flipH="1">
                <a:off x="3277" y="1931"/>
                <a:ext cx="36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4" name="Line 36"/>
              <p:cNvSpPr>
                <a:spLocks noChangeShapeType="1"/>
              </p:cNvSpPr>
              <p:nvPr/>
            </p:nvSpPr>
            <p:spPr bwMode="auto">
              <a:xfrm flipH="1">
                <a:off x="3207" y="2071"/>
                <a:ext cx="35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5" name="Line 37"/>
              <p:cNvSpPr>
                <a:spLocks noChangeShapeType="1"/>
              </p:cNvSpPr>
              <p:nvPr/>
            </p:nvSpPr>
            <p:spPr bwMode="auto">
              <a:xfrm flipH="1">
                <a:off x="3137" y="2212"/>
                <a:ext cx="35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3" name="Group 47"/>
            <p:cNvGrpSpPr>
              <a:grpSpLocks/>
            </p:cNvGrpSpPr>
            <p:nvPr/>
          </p:nvGrpSpPr>
          <p:grpSpPr bwMode="auto">
            <a:xfrm>
              <a:off x="2962" y="2966"/>
              <a:ext cx="0" cy="1176"/>
              <a:chOff x="2962" y="2966"/>
              <a:chExt cx="0" cy="1176"/>
            </a:xfrm>
            <a:grpFill/>
          </p:grpSpPr>
          <p:sp>
            <p:nvSpPr>
              <p:cNvPr id="310" name="Line 39"/>
              <p:cNvSpPr>
                <a:spLocks noChangeShapeType="1"/>
              </p:cNvSpPr>
              <p:nvPr/>
            </p:nvSpPr>
            <p:spPr bwMode="auto">
              <a:xfrm>
                <a:off x="2962" y="2966"/>
                <a:ext cx="0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1" name="Line 40"/>
              <p:cNvSpPr>
                <a:spLocks noChangeShapeType="1"/>
              </p:cNvSpPr>
              <p:nvPr/>
            </p:nvSpPr>
            <p:spPr bwMode="auto">
              <a:xfrm>
                <a:off x="2962" y="3124"/>
                <a:ext cx="0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2" name="Line 41"/>
              <p:cNvSpPr>
                <a:spLocks noChangeShapeType="1"/>
              </p:cNvSpPr>
              <p:nvPr/>
            </p:nvSpPr>
            <p:spPr bwMode="auto">
              <a:xfrm>
                <a:off x="2962" y="3282"/>
                <a:ext cx="0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3" name="Line 42"/>
              <p:cNvSpPr>
                <a:spLocks noChangeShapeType="1"/>
              </p:cNvSpPr>
              <p:nvPr/>
            </p:nvSpPr>
            <p:spPr bwMode="auto">
              <a:xfrm>
                <a:off x="2962" y="3440"/>
                <a:ext cx="0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4" name="Line 43"/>
              <p:cNvSpPr>
                <a:spLocks noChangeShapeType="1"/>
              </p:cNvSpPr>
              <p:nvPr/>
            </p:nvSpPr>
            <p:spPr bwMode="auto">
              <a:xfrm>
                <a:off x="2962" y="3598"/>
                <a:ext cx="0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5" name="Line 44"/>
              <p:cNvSpPr>
                <a:spLocks noChangeShapeType="1"/>
              </p:cNvSpPr>
              <p:nvPr/>
            </p:nvSpPr>
            <p:spPr bwMode="auto">
              <a:xfrm>
                <a:off x="2962" y="3756"/>
                <a:ext cx="0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6" name="Line 45"/>
              <p:cNvSpPr>
                <a:spLocks noChangeShapeType="1"/>
              </p:cNvSpPr>
              <p:nvPr/>
            </p:nvSpPr>
            <p:spPr bwMode="auto">
              <a:xfrm>
                <a:off x="2962" y="3914"/>
                <a:ext cx="0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7" name="Line 46"/>
              <p:cNvSpPr>
                <a:spLocks noChangeShapeType="1"/>
              </p:cNvSpPr>
              <p:nvPr/>
            </p:nvSpPr>
            <p:spPr bwMode="auto">
              <a:xfrm>
                <a:off x="2962" y="4072"/>
                <a:ext cx="0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4" name="Group 56"/>
            <p:cNvGrpSpPr>
              <a:grpSpLocks/>
            </p:cNvGrpSpPr>
            <p:nvPr/>
          </p:nvGrpSpPr>
          <p:grpSpPr bwMode="auto">
            <a:xfrm>
              <a:off x="3277" y="2334"/>
              <a:ext cx="1158" cy="237"/>
              <a:chOff x="3277" y="2334"/>
              <a:chExt cx="1158" cy="237"/>
            </a:xfrm>
            <a:grpFill/>
          </p:grpSpPr>
          <p:sp>
            <p:nvSpPr>
              <p:cNvPr id="302" name="Line 48"/>
              <p:cNvSpPr>
                <a:spLocks noChangeShapeType="1"/>
              </p:cNvSpPr>
              <p:nvPr/>
            </p:nvSpPr>
            <p:spPr bwMode="auto">
              <a:xfrm flipV="1">
                <a:off x="3277" y="2554"/>
                <a:ext cx="71" cy="17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3" name="Line 49"/>
              <p:cNvSpPr>
                <a:spLocks noChangeShapeType="1"/>
              </p:cNvSpPr>
              <p:nvPr/>
            </p:nvSpPr>
            <p:spPr bwMode="auto">
              <a:xfrm flipV="1">
                <a:off x="3427" y="2519"/>
                <a:ext cx="79" cy="17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4" name="Line 50"/>
              <p:cNvSpPr>
                <a:spLocks noChangeShapeType="1"/>
              </p:cNvSpPr>
              <p:nvPr/>
            </p:nvSpPr>
            <p:spPr bwMode="auto">
              <a:xfrm flipV="1">
                <a:off x="3584" y="2492"/>
                <a:ext cx="79" cy="9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5" name="Line 51"/>
              <p:cNvSpPr>
                <a:spLocks noChangeShapeType="1"/>
              </p:cNvSpPr>
              <p:nvPr/>
            </p:nvSpPr>
            <p:spPr bwMode="auto">
              <a:xfrm flipV="1">
                <a:off x="3734" y="2457"/>
                <a:ext cx="78" cy="18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6" name="Line 52"/>
              <p:cNvSpPr>
                <a:spLocks noChangeShapeType="1"/>
              </p:cNvSpPr>
              <p:nvPr/>
            </p:nvSpPr>
            <p:spPr bwMode="auto">
              <a:xfrm flipV="1">
                <a:off x="3891" y="2431"/>
                <a:ext cx="79" cy="9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7" name="Line 53"/>
              <p:cNvSpPr>
                <a:spLocks noChangeShapeType="1"/>
              </p:cNvSpPr>
              <p:nvPr/>
            </p:nvSpPr>
            <p:spPr bwMode="auto">
              <a:xfrm flipV="1">
                <a:off x="4049" y="2396"/>
                <a:ext cx="79" cy="17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" name="Line 54"/>
              <p:cNvSpPr>
                <a:spLocks noChangeShapeType="1"/>
              </p:cNvSpPr>
              <p:nvPr/>
            </p:nvSpPr>
            <p:spPr bwMode="auto">
              <a:xfrm flipV="1">
                <a:off x="4198" y="2369"/>
                <a:ext cx="79" cy="9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9" name="Line 55"/>
              <p:cNvSpPr>
                <a:spLocks noChangeShapeType="1"/>
              </p:cNvSpPr>
              <p:nvPr/>
            </p:nvSpPr>
            <p:spPr bwMode="auto">
              <a:xfrm flipV="1">
                <a:off x="4356" y="2334"/>
                <a:ext cx="79" cy="18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5" name="Group 65"/>
            <p:cNvGrpSpPr>
              <a:grpSpLocks/>
            </p:cNvGrpSpPr>
            <p:nvPr/>
          </p:nvGrpSpPr>
          <p:grpSpPr bwMode="auto">
            <a:xfrm>
              <a:off x="1734" y="2808"/>
              <a:ext cx="912" cy="755"/>
              <a:chOff x="1734" y="2808"/>
              <a:chExt cx="912" cy="755"/>
            </a:xfrm>
            <a:grpFill/>
          </p:grpSpPr>
          <p:sp>
            <p:nvSpPr>
              <p:cNvPr id="294" name="Line 57"/>
              <p:cNvSpPr>
                <a:spLocks noChangeShapeType="1"/>
              </p:cNvSpPr>
              <p:nvPr/>
            </p:nvSpPr>
            <p:spPr bwMode="auto">
              <a:xfrm flipH="1">
                <a:off x="2585" y="2808"/>
                <a:ext cx="61" cy="44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5" name="Line 58"/>
              <p:cNvSpPr>
                <a:spLocks noChangeShapeType="1"/>
              </p:cNvSpPr>
              <p:nvPr/>
            </p:nvSpPr>
            <p:spPr bwMode="auto">
              <a:xfrm flipH="1">
                <a:off x="2462" y="2905"/>
                <a:ext cx="61" cy="52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6" name="Line 59"/>
              <p:cNvSpPr>
                <a:spLocks noChangeShapeType="1"/>
              </p:cNvSpPr>
              <p:nvPr/>
            </p:nvSpPr>
            <p:spPr bwMode="auto">
              <a:xfrm flipH="1">
                <a:off x="2339" y="3010"/>
                <a:ext cx="61" cy="44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7" name="Line 60"/>
              <p:cNvSpPr>
                <a:spLocks noChangeShapeType="1"/>
              </p:cNvSpPr>
              <p:nvPr/>
            </p:nvSpPr>
            <p:spPr bwMode="auto">
              <a:xfrm flipH="1">
                <a:off x="2216" y="3106"/>
                <a:ext cx="62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8" name="Line 61"/>
              <p:cNvSpPr>
                <a:spLocks noChangeShapeType="1"/>
              </p:cNvSpPr>
              <p:nvPr/>
            </p:nvSpPr>
            <p:spPr bwMode="auto">
              <a:xfrm flipH="1">
                <a:off x="2093" y="3212"/>
                <a:ext cx="62" cy="44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9" name="Line 62"/>
              <p:cNvSpPr>
                <a:spLocks noChangeShapeType="1"/>
              </p:cNvSpPr>
              <p:nvPr/>
            </p:nvSpPr>
            <p:spPr bwMode="auto">
              <a:xfrm flipH="1">
                <a:off x="1971" y="3308"/>
                <a:ext cx="61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0" name="Line 63"/>
              <p:cNvSpPr>
                <a:spLocks noChangeShapeType="1"/>
              </p:cNvSpPr>
              <p:nvPr/>
            </p:nvSpPr>
            <p:spPr bwMode="auto">
              <a:xfrm flipH="1">
                <a:off x="1857" y="3414"/>
                <a:ext cx="61" cy="4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1" name="Line 64"/>
              <p:cNvSpPr>
                <a:spLocks noChangeShapeType="1"/>
              </p:cNvSpPr>
              <p:nvPr/>
            </p:nvSpPr>
            <p:spPr bwMode="auto">
              <a:xfrm flipH="1">
                <a:off x="1734" y="3510"/>
                <a:ext cx="61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6" name="Group 74"/>
            <p:cNvGrpSpPr>
              <a:grpSpLocks/>
            </p:cNvGrpSpPr>
            <p:nvPr/>
          </p:nvGrpSpPr>
          <p:grpSpPr bwMode="auto">
            <a:xfrm>
              <a:off x="1479" y="2334"/>
              <a:ext cx="1167" cy="237"/>
              <a:chOff x="1479" y="2334"/>
              <a:chExt cx="1167" cy="237"/>
            </a:xfrm>
            <a:grpFill/>
          </p:grpSpPr>
          <p:sp>
            <p:nvSpPr>
              <p:cNvPr id="286" name="Line 66"/>
              <p:cNvSpPr>
                <a:spLocks noChangeShapeType="1"/>
              </p:cNvSpPr>
              <p:nvPr/>
            </p:nvSpPr>
            <p:spPr bwMode="auto">
              <a:xfrm flipH="1" flipV="1">
                <a:off x="2567" y="2554"/>
                <a:ext cx="79" cy="17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7" name="Line 67"/>
              <p:cNvSpPr>
                <a:spLocks noChangeShapeType="1"/>
              </p:cNvSpPr>
              <p:nvPr/>
            </p:nvSpPr>
            <p:spPr bwMode="auto">
              <a:xfrm flipH="1" flipV="1">
                <a:off x="2409" y="2519"/>
                <a:ext cx="79" cy="17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8" name="Line 68"/>
              <p:cNvSpPr>
                <a:spLocks noChangeShapeType="1"/>
              </p:cNvSpPr>
              <p:nvPr/>
            </p:nvSpPr>
            <p:spPr bwMode="auto">
              <a:xfrm flipH="1" flipV="1">
                <a:off x="2251" y="2492"/>
                <a:ext cx="79" cy="9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9" name="Line 69"/>
              <p:cNvSpPr>
                <a:spLocks noChangeShapeType="1"/>
              </p:cNvSpPr>
              <p:nvPr/>
            </p:nvSpPr>
            <p:spPr bwMode="auto">
              <a:xfrm flipH="1" flipV="1">
                <a:off x="2102" y="2457"/>
                <a:ext cx="79" cy="18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0" name="Line 70"/>
              <p:cNvSpPr>
                <a:spLocks noChangeShapeType="1"/>
              </p:cNvSpPr>
              <p:nvPr/>
            </p:nvSpPr>
            <p:spPr bwMode="auto">
              <a:xfrm flipH="1" flipV="1">
                <a:off x="1944" y="2431"/>
                <a:ext cx="79" cy="9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1" name="Line 71"/>
              <p:cNvSpPr>
                <a:spLocks noChangeShapeType="1"/>
              </p:cNvSpPr>
              <p:nvPr/>
            </p:nvSpPr>
            <p:spPr bwMode="auto">
              <a:xfrm flipH="1" flipV="1">
                <a:off x="1786" y="2396"/>
                <a:ext cx="79" cy="17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2" name="Line 72"/>
              <p:cNvSpPr>
                <a:spLocks noChangeShapeType="1"/>
              </p:cNvSpPr>
              <p:nvPr/>
            </p:nvSpPr>
            <p:spPr bwMode="auto">
              <a:xfrm flipH="1" flipV="1">
                <a:off x="1637" y="2369"/>
                <a:ext cx="79" cy="9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3" name="Line 73"/>
              <p:cNvSpPr>
                <a:spLocks noChangeShapeType="1"/>
              </p:cNvSpPr>
              <p:nvPr/>
            </p:nvSpPr>
            <p:spPr bwMode="auto">
              <a:xfrm flipH="1" flipV="1">
                <a:off x="1479" y="2334"/>
                <a:ext cx="79" cy="18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7" name="Group 83"/>
            <p:cNvGrpSpPr>
              <a:grpSpLocks/>
            </p:cNvGrpSpPr>
            <p:nvPr/>
          </p:nvGrpSpPr>
          <p:grpSpPr bwMode="auto">
            <a:xfrm>
              <a:off x="2251" y="1308"/>
              <a:ext cx="553" cy="1026"/>
              <a:chOff x="2251" y="1308"/>
              <a:chExt cx="553" cy="1026"/>
            </a:xfrm>
            <a:grpFill/>
          </p:grpSpPr>
          <p:sp>
            <p:nvSpPr>
              <p:cNvPr id="278" name="Line 75"/>
              <p:cNvSpPr>
                <a:spLocks noChangeShapeType="1"/>
              </p:cNvSpPr>
              <p:nvPr/>
            </p:nvSpPr>
            <p:spPr bwMode="auto">
              <a:xfrm flipH="1" flipV="1">
                <a:off x="2760" y="2264"/>
                <a:ext cx="44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9" name="Line 76"/>
              <p:cNvSpPr>
                <a:spLocks noChangeShapeType="1"/>
              </p:cNvSpPr>
              <p:nvPr/>
            </p:nvSpPr>
            <p:spPr bwMode="auto">
              <a:xfrm flipH="1" flipV="1">
                <a:off x="2690" y="2124"/>
                <a:ext cx="35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0" name="Line 77"/>
              <p:cNvSpPr>
                <a:spLocks noChangeShapeType="1"/>
              </p:cNvSpPr>
              <p:nvPr/>
            </p:nvSpPr>
            <p:spPr bwMode="auto">
              <a:xfrm flipH="1" flipV="1">
                <a:off x="2611" y="1983"/>
                <a:ext cx="35" cy="71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1" name="Line 78"/>
              <p:cNvSpPr>
                <a:spLocks noChangeShapeType="1"/>
              </p:cNvSpPr>
              <p:nvPr/>
            </p:nvSpPr>
            <p:spPr bwMode="auto">
              <a:xfrm flipH="1" flipV="1">
                <a:off x="2541" y="1843"/>
                <a:ext cx="35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2" name="Line 79"/>
              <p:cNvSpPr>
                <a:spLocks noChangeShapeType="1"/>
              </p:cNvSpPr>
              <p:nvPr/>
            </p:nvSpPr>
            <p:spPr bwMode="auto">
              <a:xfrm flipH="1" flipV="1">
                <a:off x="2462" y="1703"/>
                <a:ext cx="35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3" name="Line 80"/>
              <p:cNvSpPr>
                <a:spLocks noChangeShapeType="1"/>
              </p:cNvSpPr>
              <p:nvPr/>
            </p:nvSpPr>
            <p:spPr bwMode="auto">
              <a:xfrm flipH="1" flipV="1">
                <a:off x="2392" y="1562"/>
                <a:ext cx="35" cy="71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4" name="Line 81"/>
              <p:cNvSpPr>
                <a:spLocks noChangeShapeType="1"/>
              </p:cNvSpPr>
              <p:nvPr/>
            </p:nvSpPr>
            <p:spPr bwMode="auto">
              <a:xfrm flipH="1" flipV="1">
                <a:off x="2313" y="1422"/>
                <a:ext cx="35" cy="70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5" name="Line 82"/>
              <p:cNvSpPr>
                <a:spLocks noChangeShapeType="1"/>
              </p:cNvSpPr>
              <p:nvPr/>
            </p:nvSpPr>
            <p:spPr bwMode="auto">
              <a:xfrm flipH="1" flipV="1">
                <a:off x="2251" y="1308"/>
                <a:ext cx="27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8" name="Group 93"/>
            <p:cNvGrpSpPr>
              <a:grpSpLocks/>
            </p:cNvGrpSpPr>
            <p:nvPr/>
          </p:nvGrpSpPr>
          <p:grpSpPr bwMode="auto">
            <a:xfrm>
              <a:off x="3199" y="2808"/>
              <a:ext cx="1026" cy="790"/>
              <a:chOff x="3199" y="2808"/>
              <a:chExt cx="1026" cy="790"/>
            </a:xfrm>
            <a:grpFill/>
          </p:grpSpPr>
          <p:sp>
            <p:nvSpPr>
              <p:cNvPr id="269" name="Line 84"/>
              <p:cNvSpPr>
                <a:spLocks noChangeShapeType="1"/>
              </p:cNvSpPr>
              <p:nvPr/>
            </p:nvSpPr>
            <p:spPr bwMode="auto">
              <a:xfrm>
                <a:off x="3199" y="2808"/>
                <a:ext cx="61" cy="44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Line 85"/>
              <p:cNvSpPr>
                <a:spLocks noChangeShapeType="1"/>
              </p:cNvSpPr>
              <p:nvPr/>
            </p:nvSpPr>
            <p:spPr bwMode="auto">
              <a:xfrm>
                <a:off x="3321" y="2896"/>
                <a:ext cx="62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Line 86"/>
              <p:cNvSpPr>
                <a:spLocks noChangeShapeType="1"/>
              </p:cNvSpPr>
              <p:nvPr/>
            </p:nvSpPr>
            <p:spPr bwMode="auto">
              <a:xfrm>
                <a:off x="3444" y="2992"/>
                <a:ext cx="62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2" name="Line 87"/>
              <p:cNvSpPr>
                <a:spLocks noChangeShapeType="1"/>
              </p:cNvSpPr>
              <p:nvPr/>
            </p:nvSpPr>
            <p:spPr bwMode="auto">
              <a:xfrm>
                <a:off x="3567" y="3089"/>
                <a:ext cx="61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Line 88"/>
              <p:cNvSpPr>
                <a:spLocks noChangeShapeType="1"/>
              </p:cNvSpPr>
              <p:nvPr/>
            </p:nvSpPr>
            <p:spPr bwMode="auto">
              <a:xfrm>
                <a:off x="3698" y="3185"/>
                <a:ext cx="62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Line 89"/>
              <p:cNvSpPr>
                <a:spLocks noChangeShapeType="1"/>
              </p:cNvSpPr>
              <p:nvPr/>
            </p:nvSpPr>
            <p:spPr bwMode="auto">
              <a:xfrm>
                <a:off x="3821" y="3282"/>
                <a:ext cx="62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5" name="Line 90"/>
              <p:cNvSpPr>
                <a:spLocks noChangeShapeType="1"/>
              </p:cNvSpPr>
              <p:nvPr/>
            </p:nvSpPr>
            <p:spPr bwMode="auto">
              <a:xfrm>
                <a:off x="3944" y="3378"/>
                <a:ext cx="61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Line 91"/>
              <p:cNvSpPr>
                <a:spLocks noChangeShapeType="1"/>
              </p:cNvSpPr>
              <p:nvPr/>
            </p:nvSpPr>
            <p:spPr bwMode="auto">
              <a:xfrm>
                <a:off x="4067" y="3475"/>
                <a:ext cx="70" cy="53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7" name="Line 92"/>
              <p:cNvSpPr>
                <a:spLocks noChangeShapeType="1"/>
              </p:cNvSpPr>
              <p:nvPr/>
            </p:nvSpPr>
            <p:spPr bwMode="auto">
              <a:xfrm>
                <a:off x="4198" y="3571"/>
                <a:ext cx="27" cy="27"/>
              </a:xfrm>
              <a:prstGeom prst="line">
                <a:avLst/>
              </a:prstGeom>
              <a:grp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9" name="Group 294"/>
            <p:cNvGrpSpPr>
              <a:grpSpLocks/>
            </p:cNvGrpSpPr>
            <p:nvPr/>
          </p:nvGrpSpPr>
          <p:grpSpPr bwMode="auto">
            <a:xfrm>
              <a:off x="1690" y="1378"/>
              <a:ext cx="2578" cy="2475"/>
              <a:chOff x="1690" y="1378"/>
              <a:chExt cx="2578" cy="2475"/>
            </a:xfrm>
            <a:grpFill/>
          </p:grpSpPr>
          <p:sp>
            <p:nvSpPr>
              <p:cNvPr id="69" name="Rectangle 94"/>
              <p:cNvSpPr>
                <a:spLocks noChangeArrowheads="1"/>
              </p:cNvSpPr>
              <p:nvPr/>
            </p:nvSpPr>
            <p:spPr bwMode="auto">
              <a:xfrm>
                <a:off x="2804" y="1378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0" name="Rectangle 95"/>
              <p:cNvSpPr>
                <a:spLocks noChangeArrowheads="1"/>
              </p:cNvSpPr>
              <p:nvPr/>
            </p:nvSpPr>
            <p:spPr bwMode="auto">
              <a:xfrm>
                <a:off x="2839" y="1378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1" name="Rectangle 96"/>
              <p:cNvSpPr>
                <a:spLocks noChangeArrowheads="1"/>
              </p:cNvSpPr>
              <p:nvPr/>
            </p:nvSpPr>
            <p:spPr bwMode="auto">
              <a:xfrm>
                <a:off x="2892" y="1378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2" name="Rectangle 97"/>
              <p:cNvSpPr>
                <a:spLocks noChangeArrowheads="1"/>
              </p:cNvSpPr>
              <p:nvPr/>
            </p:nvSpPr>
            <p:spPr bwMode="auto">
              <a:xfrm>
                <a:off x="2935" y="1378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3" name="Rectangle 98"/>
              <p:cNvSpPr>
                <a:spLocks noChangeArrowheads="1"/>
              </p:cNvSpPr>
              <p:nvPr/>
            </p:nvSpPr>
            <p:spPr bwMode="auto">
              <a:xfrm>
                <a:off x="2988" y="1378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4" name="Rectangle 99"/>
              <p:cNvSpPr>
                <a:spLocks noChangeArrowheads="1"/>
              </p:cNvSpPr>
              <p:nvPr/>
            </p:nvSpPr>
            <p:spPr bwMode="auto">
              <a:xfrm>
                <a:off x="3014" y="1378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5" name="Rectangle 100"/>
              <p:cNvSpPr>
                <a:spLocks noChangeArrowheads="1"/>
              </p:cNvSpPr>
              <p:nvPr/>
            </p:nvSpPr>
            <p:spPr bwMode="auto">
              <a:xfrm>
                <a:off x="3041" y="1378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6" name="Rectangle 101"/>
              <p:cNvSpPr>
                <a:spLocks noChangeArrowheads="1"/>
              </p:cNvSpPr>
              <p:nvPr/>
            </p:nvSpPr>
            <p:spPr bwMode="auto">
              <a:xfrm>
                <a:off x="3076" y="1378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7" name="Rectangle 102"/>
              <p:cNvSpPr>
                <a:spLocks noChangeArrowheads="1"/>
              </p:cNvSpPr>
              <p:nvPr/>
            </p:nvSpPr>
            <p:spPr bwMode="auto">
              <a:xfrm>
                <a:off x="3128" y="1378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8" name="Rectangle 103"/>
              <p:cNvSpPr>
                <a:spLocks noChangeArrowheads="1"/>
              </p:cNvSpPr>
              <p:nvPr/>
            </p:nvSpPr>
            <p:spPr bwMode="auto">
              <a:xfrm>
                <a:off x="2699" y="149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9" name="Rectangle 104"/>
              <p:cNvSpPr>
                <a:spLocks noChangeArrowheads="1"/>
              </p:cNvSpPr>
              <p:nvPr/>
            </p:nvSpPr>
            <p:spPr bwMode="auto">
              <a:xfrm>
                <a:off x="2751" y="149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0" name="Rectangle 105"/>
              <p:cNvSpPr>
                <a:spLocks noChangeArrowheads="1"/>
              </p:cNvSpPr>
              <p:nvPr/>
            </p:nvSpPr>
            <p:spPr bwMode="auto">
              <a:xfrm>
                <a:off x="2786" y="149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1" name="Rectangle 106"/>
              <p:cNvSpPr>
                <a:spLocks noChangeArrowheads="1"/>
              </p:cNvSpPr>
              <p:nvPr/>
            </p:nvSpPr>
            <p:spPr bwMode="auto">
              <a:xfrm>
                <a:off x="2830" y="149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2" name="Rectangle 107"/>
              <p:cNvSpPr>
                <a:spLocks noChangeArrowheads="1"/>
              </p:cNvSpPr>
              <p:nvPr/>
            </p:nvSpPr>
            <p:spPr bwMode="auto">
              <a:xfrm>
                <a:off x="2883" y="149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3" name="Rectangle 108"/>
              <p:cNvSpPr>
                <a:spLocks noChangeArrowheads="1"/>
              </p:cNvSpPr>
              <p:nvPr/>
            </p:nvSpPr>
            <p:spPr bwMode="auto">
              <a:xfrm>
                <a:off x="2927" y="149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h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4" name="Rectangle 109"/>
              <p:cNvSpPr>
                <a:spLocks noChangeArrowheads="1"/>
              </p:cNvSpPr>
              <p:nvPr/>
            </p:nvSpPr>
            <p:spPr bwMode="auto">
              <a:xfrm>
                <a:off x="2979" y="149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5" name="Rectangle 110"/>
              <p:cNvSpPr>
                <a:spLocks noChangeArrowheads="1"/>
              </p:cNvSpPr>
              <p:nvPr/>
            </p:nvSpPr>
            <p:spPr bwMode="auto">
              <a:xfrm>
                <a:off x="3032" y="1492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6" name="Rectangle 111"/>
              <p:cNvSpPr>
                <a:spLocks noChangeArrowheads="1"/>
              </p:cNvSpPr>
              <p:nvPr/>
            </p:nvSpPr>
            <p:spPr bwMode="auto">
              <a:xfrm>
                <a:off x="3067" y="149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7" name="Rectangle 112"/>
              <p:cNvSpPr>
                <a:spLocks noChangeArrowheads="1"/>
              </p:cNvSpPr>
              <p:nvPr/>
            </p:nvSpPr>
            <p:spPr bwMode="auto">
              <a:xfrm>
                <a:off x="3120" y="149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8" name="Rectangle 113"/>
              <p:cNvSpPr>
                <a:spLocks noChangeArrowheads="1"/>
              </p:cNvSpPr>
              <p:nvPr/>
            </p:nvSpPr>
            <p:spPr bwMode="auto">
              <a:xfrm>
                <a:off x="3163" y="149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9" name="Rectangle 114"/>
              <p:cNvSpPr>
                <a:spLocks noChangeArrowheads="1"/>
              </p:cNvSpPr>
              <p:nvPr/>
            </p:nvSpPr>
            <p:spPr bwMode="auto">
              <a:xfrm>
                <a:off x="3199" y="149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0" name="Rectangle 115"/>
              <p:cNvSpPr>
                <a:spLocks noChangeArrowheads="1"/>
              </p:cNvSpPr>
              <p:nvPr/>
            </p:nvSpPr>
            <p:spPr bwMode="auto">
              <a:xfrm>
                <a:off x="3690" y="1852"/>
                <a:ext cx="114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1" name="Rectangle 116"/>
              <p:cNvSpPr>
                <a:spLocks noChangeArrowheads="1"/>
              </p:cNvSpPr>
              <p:nvPr/>
            </p:nvSpPr>
            <p:spPr bwMode="auto">
              <a:xfrm>
                <a:off x="3769" y="185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2" name="Rectangle 117"/>
              <p:cNvSpPr>
                <a:spLocks noChangeArrowheads="1"/>
              </p:cNvSpPr>
              <p:nvPr/>
            </p:nvSpPr>
            <p:spPr bwMode="auto">
              <a:xfrm>
                <a:off x="3812" y="185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3" name="Rectangle 118"/>
              <p:cNvSpPr>
                <a:spLocks noChangeArrowheads="1"/>
              </p:cNvSpPr>
              <p:nvPr/>
            </p:nvSpPr>
            <p:spPr bwMode="auto">
              <a:xfrm>
                <a:off x="3848" y="185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4" name="Rectangle 119"/>
              <p:cNvSpPr>
                <a:spLocks noChangeArrowheads="1"/>
              </p:cNvSpPr>
              <p:nvPr/>
            </p:nvSpPr>
            <p:spPr bwMode="auto">
              <a:xfrm>
                <a:off x="3900" y="185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5" name="Rectangle 120"/>
              <p:cNvSpPr>
                <a:spLocks noChangeArrowheads="1"/>
              </p:cNvSpPr>
              <p:nvPr/>
            </p:nvSpPr>
            <p:spPr bwMode="auto">
              <a:xfrm>
                <a:off x="3944" y="185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6" name="Rectangle 121"/>
              <p:cNvSpPr>
                <a:spLocks noChangeArrowheads="1"/>
              </p:cNvSpPr>
              <p:nvPr/>
            </p:nvSpPr>
            <p:spPr bwMode="auto">
              <a:xfrm>
                <a:off x="3979" y="1852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7" name="Rectangle 122"/>
              <p:cNvSpPr>
                <a:spLocks noChangeArrowheads="1"/>
              </p:cNvSpPr>
              <p:nvPr/>
            </p:nvSpPr>
            <p:spPr bwMode="auto">
              <a:xfrm>
                <a:off x="3584" y="196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8" name="Rectangle 123"/>
              <p:cNvSpPr>
                <a:spLocks noChangeArrowheads="1"/>
              </p:cNvSpPr>
              <p:nvPr/>
            </p:nvSpPr>
            <p:spPr bwMode="auto">
              <a:xfrm>
                <a:off x="3620" y="19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9" name="Rectangle 124"/>
              <p:cNvSpPr>
                <a:spLocks noChangeArrowheads="1"/>
              </p:cNvSpPr>
              <p:nvPr/>
            </p:nvSpPr>
            <p:spPr bwMode="auto">
              <a:xfrm>
                <a:off x="3672" y="196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0" name="Rectangle 125"/>
              <p:cNvSpPr>
                <a:spLocks noChangeArrowheads="1"/>
              </p:cNvSpPr>
              <p:nvPr/>
            </p:nvSpPr>
            <p:spPr bwMode="auto">
              <a:xfrm>
                <a:off x="3707" y="19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1" name="Rectangle 126"/>
              <p:cNvSpPr>
                <a:spLocks noChangeArrowheads="1"/>
              </p:cNvSpPr>
              <p:nvPr/>
            </p:nvSpPr>
            <p:spPr bwMode="auto">
              <a:xfrm>
                <a:off x="3760" y="196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2" name="Rectangle 127"/>
              <p:cNvSpPr>
                <a:spLocks noChangeArrowheads="1"/>
              </p:cNvSpPr>
              <p:nvPr/>
            </p:nvSpPr>
            <p:spPr bwMode="auto">
              <a:xfrm>
                <a:off x="3795" y="1966"/>
                <a:ext cx="123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" name="Rectangle 128"/>
              <p:cNvSpPr>
                <a:spLocks noChangeArrowheads="1"/>
              </p:cNvSpPr>
              <p:nvPr/>
            </p:nvSpPr>
            <p:spPr bwMode="auto">
              <a:xfrm>
                <a:off x="3874" y="196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" name="Rectangle 129"/>
              <p:cNvSpPr>
                <a:spLocks noChangeArrowheads="1"/>
              </p:cNvSpPr>
              <p:nvPr/>
            </p:nvSpPr>
            <p:spPr bwMode="auto">
              <a:xfrm>
                <a:off x="3918" y="196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" name="Rectangle 130"/>
              <p:cNvSpPr>
                <a:spLocks noChangeArrowheads="1"/>
              </p:cNvSpPr>
              <p:nvPr/>
            </p:nvSpPr>
            <p:spPr bwMode="auto">
              <a:xfrm>
                <a:off x="3953" y="1966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" name="Rectangle 131"/>
              <p:cNvSpPr>
                <a:spLocks noChangeArrowheads="1"/>
              </p:cNvSpPr>
              <p:nvPr/>
            </p:nvSpPr>
            <p:spPr bwMode="auto">
              <a:xfrm>
                <a:off x="3979" y="19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" name="Rectangle 132"/>
              <p:cNvSpPr>
                <a:spLocks noChangeArrowheads="1"/>
              </p:cNvSpPr>
              <p:nvPr/>
            </p:nvSpPr>
            <p:spPr bwMode="auto">
              <a:xfrm>
                <a:off x="4032" y="19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" name="Rectangle 133"/>
              <p:cNvSpPr>
                <a:spLocks noChangeArrowheads="1"/>
              </p:cNvSpPr>
              <p:nvPr/>
            </p:nvSpPr>
            <p:spPr bwMode="auto">
              <a:xfrm>
                <a:off x="4084" y="1966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" name="Rectangle 134"/>
              <p:cNvSpPr>
                <a:spLocks noChangeArrowheads="1"/>
              </p:cNvSpPr>
              <p:nvPr/>
            </p:nvSpPr>
            <p:spPr bwMode="auto">
              <a:xfrm>
                <a:off x="3497" y="20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" name="Rectangle 135"/>
              <p:cNvSpPr>
                <a:spLocks noChangeArrowheads="1"/>
              </p:cNvSpPr>
              <p:nvPr/>
            </p:nvSpPr>
            <p:spPr bwMode="auto">
              <a:xfrm>
                <a:off x="3549" y="20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" name="Rectangle 136"/>
              <p:cNvSpPr>
                <a:spLocks noChangeArrowheads="1"/>
              </p:cNvSpPr>
              <p:nvPr/>
            </p:nvSpPr>
            <p:spPr bwMode="auto">
              <a:xfrm>
                <a:off x="3602" y="2080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" name="Rectangle 137"/>
              <p:cNvSpPr>
                <a:spLocks noChangeArrowheads="1"/>
              </p:cNvSpPr>
              <p:nvPr/>
            </p:nvSpPr>
            <p:spPr bwMode="auto">
              <a:xfrm>
                <a:off x="3628" y="20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" name="Rectangle 138"/>
              <p:cNvSpPr>
                <a:spLocks noChangeArrowheads="1"/>
              </p:cNvSpPr>
              <p:nvPr/>
            </p:nvSpPr>
            <p:spPr bwMode="auto">
              <a:xfrm>
                <a:off x="3690" y="2080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" name="Rectangle 139"/>
              <p:cNvSpPr>
                <a:spLocks noChangeArrowheads="1"/>
              </p:cNvSpPr>
              <p:nvPr/>
            </p:nvSpPr>
            <p:spPr bwMode="auto">
              <a:xfrm>
                <a:off x="3716" y="208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" name="Rectangle 140"/>
              <p:cNvSpPr>
                <a:spLocks noChangeArrowheads="1"/>
              </p:cNvSpPr>
              <p:nvPr/>
            </p:nvSpPr>
            <p:spPr bwMode="auto">
              <a:xfrm>
                <a:off x="3760" y="208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" name="Rectangle 141"/>
              <p:cNvSpPr>
                <a:spLocks noChangeArrowheads="1"/>
              </p:cNvSpPr>
              <p:nvPr/>
            </p:nvSpPr>
            <p:spPr bwMode="auto">
              <a:xfrm>
                <a:off x="3812" y="208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" name="Rectangle 142"/>
              <p:cNvSpPr>
                <a:spLocks noChangeArrowheads="1"/>
              </p:cNvSpPr>
              <p:nvPr/>
            </p:nvSpPr>
            <p:spPr bwMode="auto">
              <a:xfrm>
                <a:off x="3865" y="20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" name="Rectangle 143"/>
              <p:cNvSpPr>
                <a:spLocks noChangeArrowheads="1"/>
              </p:cNvSpPr>
              <p:nvPr/>
            </p:nvSpPr>
            <p:spPr bwMode="auto">
              <a:xfrm>
                <a:off x="3918" y="20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" name="Rectangle 144"/>
              <p:cNvSpPr>
                <a:spLocks noChangeArrowheads="1"/>
              </p:cNvSpPr>
              <p:nvPr/>
            </p:nvSpPr>
            <p:spPr bwMode="auto">
              <a:xfrm>
                <a:off x="3970" y="2080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" name="Rectangle 145"/>
              <p:cNvSpPr>
                <a:spLocks noChangeArrowheads="1"/>
              </p:cNvSpPr>
              <p:nvPr/>
            </p:nvSpPr>
            <p:spPr bwMode="auto">
              <a:xfrm>
                <a:off x="3997" y="20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1" name="Rectangle 146"/>
              <p:cNvSpPr>
                <a:spLocks noChangeArrowheads="1"/>
              </p:cNvSpPr>
              <p:nvPr/>
            </p:nvSpPr>
            <p:spPr bwMode="auto">
              <a:xfrm>
                <a:off x="4049" y="208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2" name="Rectangle 147"/>
              <p:cNvSpPr>
                <a:spLocks noChangeArrowheads="1"/>
              </p:cNvSpPr>
              <p:nvPr/>
            </p:nvSpPr>
            <p:spPr bwMode="auto">
              <a:xfrm>
                <a:off x="4093" y="2080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3" name="Rectangle 148"/>
              <p:cNvSpPr>
                <a:spLocks noChangeArrowheads="1"/>
              </p:cNvSpPr>
              <p:nvPr/>
            </p:nvSpPr>
            <p:spPr bwMode="auto">
              <a:xfrm>
                <a:off x="4128" y="208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4" name="Rectangle 149"/>
              <p:cNvSpPr>
                <a:spLocks noChangeArrowheads="1"/>
              </p:cNvSpPr>
              <p:nvPr/>
            </p:nvSpPr>
            <p:spPr bwMode="auto">
              <a:xfrm>
                <a:off x="3751" y="264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5" name="Rectangle 150"/>
              <p:cNvSpPr>
                <a:spLocks noChangeArrowheads="1"/>
              </p:cNvSpPr>
              <p:nvPr/>
            </p:nvSpPr>
            <p:spPr bwMode="auto">
              <a:xfrm>
                <a:off x="3786" y="264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6" name="Rectangle 151"/>
              <p:cNvSpPr>
                <a:spLocks noChangeArrowheads="1"/>
              </p:cNvSpPr>
              <p:nvPr/>
            </p:nvSpPr>
            <p:spPr bwMode="auto">
              <a:xfrm>
                <a:off x="3839" y="264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7" name="Rectangle 152"/>
              <p:cNvSpPr>
                <a:spLocks noChangeArrowheads="1"/>
              </p:cNvSpPr>
              <p:nvPr/>
            </p:nvSpPr>
            <p:spPr bwMode="auto">
              <a:xfrm>
                <a:off x="3883" y="264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8" name="Rectangle 153"/>
              <p:cNvSpPr>
                <a:spLocks noChangeArrowheads="1"/>
              </p:cNvSpPr>
              <p:nvPr/>
            </p:nvSpPr>
            <p:spPr bwMode="auto">
              <a:xfrm>
                <a:off x="3935" y="264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9" name="Rectangle 154"/>
              <p:cNvSpPr>
                <a:spLocks noChangeArrowheads="1"/>
              </p:cNvSpPr>
              <p:nvPr/>
            </p:nvSpPr>
            <p:spPr bwMode="auto">
              <a:xfrm>
                <a:off x="3962" y="2642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0" name="Rectangle 155"/>
              <p:cNvSpPr>
                <a:spLocks noChangeArrowheads="1"/>
              </p:cNvSpPr>
              <p:nvPr/>
            </p:nvSpPr>
            <p:spPr bwMode="auto">
              <a:xfrm>
                <a:off x="3988" y="264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1" name="Rectangle 156"/>
              <p:cNvSpPr>
                <a:spLocks noChangeArrowheads="1"/>
              </p:cNvSpPr>
              <p:nvPr/>
            </p:nvSpPr>
            <p:spPr bwMode="auto">
              <a:xfrm>
                <a:off x="4023" y="264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2" name="Rectangle 157"/>
              <p:cNvSpPr>
                <a:spLocks noChangeArrowheads="1"/>
              </p:cNvSpPr>
              <p:nvPr/>
            </p:nvSpPr>
            <p:spPr bwMode="auto">
              <a:xfrm>
                <a:off x="4076" y="2642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3" name="Rectangle 158"/>
              <p:cNvSpPr>
                <a:spLocks noChangeArrowheads="1"/>
              </p:cNvSpPr>
              <p:nvPr/>
            </p:nvSpPr>
            <p:spPr bwMode="auto">
              <a:xfrm>
                <a:off x="3628" y="275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Rectangle 159"/>
              <p:cNvSpPr>
                <a:spLocks noChangeArrowheads="1"/>
              </p:cNvSpPr>
              <p:nvPr/>
            </p:nvSpPr>
            <p:spPr bwMode="auto">
              <a:xfrm>
                <a:off x="3690" y="275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5" name="Rectangle 160"/>
              <p:cNvSpPr>
                <a:spLocks noChangeArrowheads="1"/>
              </p:cNvSpPr>
              <p:nvPr/>
            </p:nvSpPr>
            <p:spPr bwMode="auto">
              <a:xfrm>
                <a:off x="3716" y="275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Rectangle 161"/>
              <p:cNvSpPr>
                <a:spLocks noChangeArrowheads="1"/>
              </p:cNvSpPr>
              <p:nvPr/>
            </p:nvSpPr>
            <p:spPr bwMode="auto">
              <a:xfrm>
                <a:off x="3769" y="275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Rectangle 162"/>
              <p:cNvSpPr>
                <a:spLocks noChangeArrowheads="1"/>
              </p:cNvSpPr>
              <p:nvPr/>
            </p:nvSpPr>
            <p:spPr bwMode="auto">
              <a:xfrm>
                <a:off x="3821" y="275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8" name="Rectangle 163"/>
              <p:cNvSpPr>
                <a:spLocks noChangeArrowheads="1"/>
              </p:cNvSpPr>
              <p:nvPr/>
            </p:nvSpPr>
            <p:spPr bwMode="auto">
              <a:xfrm>
                <a:off x="3865" y="275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Rectangle 164"/>
              <p:cNvSpPr>
                <a:spLocks noChangeArrowheads="1"/>
              </p:cNvSpPr>
              <p:nvPr/>
            </p:nvSpPr>
            <p:spPr bwMode="auto">
              <a:xfrm>
                <a:off x="3918" y="275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0" name="Rectangle 165"/>
              <p:cNvSpPr>
                <a:spLocks noChangeArrowheads="1"/>
              </p:cNvSpPr>
              <p:nvPr/>
            </p:nvSpPr>
            <p:spPr bwMode="auto">
              <a:xfrm>
                <a:off x="3970" y="2756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1" name="Rectangle 166"/>
              <p:cNvSpPr>
                <a:spLocks noChangeArrowheads="1"/>
              </p:cNvSpPr>
              <p:nvPr/>
            </p:nvSpPr>
            <p:spPr bwMode="auto">
              <a:xfrm>
                <a:off x="3997" y="275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2" name="Rectangle 167"/>
              <p:cNvSpPr>
                <a:spLocks noChangeArrowheads="1"/>
              </p:cNvSpPr>
              <p:nvPr/>
            </p:nvSpPr>
            <p:spPr bwMode="auto">
              <a:xfrm>
                <a:off x="4049" y="275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3" name="Rectangle 168"/>
              <p:cNvSpPr>
                <a:spLocks noChangeArrowheads="1"/>
              </p:cNvSpPr>
              <p:nvPr/>
            </p:nvSpPr>
            <p:spPr bwMode="auto">
              <a:xfrm>
                <a:off x="4102" y="275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4" name="Rectangle 169"/>
              <p:cNvSpPr>
                <a:spLocks noChangeArrowheads="1"/>
              </p:cNvSpPr>
              <p:nvPr/>
            </p:nvSpPr>
            <p:spPr bwMode="auto">
              <a:xfrm>
                <a:off x="4137" y="275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5" name="Rectangle 170"/>
              <p:cNvSpPr>
                <a:spLocks noChangeArrowheads="1"/>
              </p:cNvSpPr>
              <p:nvPr/>
            </p:nvSpPr>
            <p:spPr bwMode="auto">
              <a:xfrm>
                <a:off x="4172" y="2756"/>
                <a:ext cx="61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'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6" name="Rectangle 171"/>
              <p:cNvSpPr>
                <a:spLocks noChangeArrowheads="1"/>
              </p:cNvSpPr>
              <p:nvPr/>
            </p:nvSpPr>
            <p:spPr bwMode="auto">
              <a:xfrm>
                <a:off x="4198" y="2756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7" name="Rectangle 172"/>
              <p:cNvSpPr>
                <a:spLocks noChangeArrowheads="1"/>
              </p:cNvSpPr>
              <p:nvPr/>
            </p:nvSpPr>
            <p:spPr bwMode="auto">
              <a:xfrm>
                <a:off x="3742" y="2870"/>
                <a:ext cx="14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Rectangle 173"/>
              <p:cNvSpPr>
                <a:spLocks noChangeArrowheads="1"/>
              </p:cNvSpPr>
              <p:nvPr/>
            </p:nvSpPr>
            <p:spPr bwMode="auto">
              <a:xfrm>
                <a:off x="3839" y="2870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Rectangle 174"/>
              <p:cNvSpPr>
                <a:spLocks noChangeArrowheads="1"/>
              </p:cNvSpPr>
              <p:nvPr/>
            </p:nvSpPr>
            <p:spPr bwMode="auto">
              <a:xfrm>
                <a:off x="3865" y="287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Rectangle 175"/>
              <p:cNvSpPr>
                <a:spLocks noChangeArrowheads="1"/>
              </p:cNvSpPr>
              <p:nvPr/>
            </p:nvSpPr>
            <p:spPr bwMode="auto">
              <a:xfrm>
                <a:off x="3909" y="287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Rectangle 176"/>
              <p:cNvSpPr>
                <a:spLocks noChangeArrowheads="1"/>
              </p:cNvSpPr>
              <p:nvPr/>
            </p:nvSpPr>
            <p:spPr bwMode="auto">
              <a:xfrm>
                <a:off x="3953" y="2870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Rectangle 177"/>
              <p:cNvSpPr>
                <a:spLocks noChangeArrowheads="1"/>
              </p:cNvSpPr>
              <p:nvPr/>
            </p:nvSpPr>
            <p:spPr bwMode="auto">
              <a:xfrm>
                <a:off x="3979" y="287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Rectangle 178"/>
              <p:cNvSpPr>
                <a:spLocks noChangeArrowheads="1"/>
              </p:cNvSpPr>
              <p:nvPr/>
            </p:nvSpPr>
            <p:spPr bwMode="auto">
              <a:xfrm>
                <a:off x="4032" y="287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Rectangle 179"/>
              <p:cNvSpPr>
                <a:spLocks noChangeArrowheads="1"/>
              </p:cNvSpPr>
              <p:nvPr/>
            </p:nvSpPr>
            <p:spPr bwMode="auto">
              <a:xfrm>
                <a:off x="3216" y="3352"/>
                <a:ext cx="123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5" name="Rectangle 180"/>
              <p:cNvSpPr>
                <a:spLocks noChangeArrowheads="1"/>
              </p:cNvSpPr>
              <p:nvPr/>
            </p:nvSpPr>
            <p:spPr bwMode="auto">
              <a:xfrm>
                <a:off x="3295" y="335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6" name="Rectangle 181"/>
              <p:cNvSpPr>
                <a:spLocks noChangeArrowheads="1"/>
              </p:cNvSpPr>
              <p:nvPr/>
            </p:nvSpPr>
            <p:spPr bwMode="auto">
              <a:xfrm>
                <a:off x="3339" y="335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7" name="Rectangle 182"/>
              <p:cNvSpPr>
                <a:spLocks noChangeArrowheads="1"/>
              </p:cNvSpPr>
              <p:nvPr/>
            </p:nvSpPr>
            <p:spPr bwMode="auto">
              <a:xfrm>
                <a:off x="3374" y="335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8" name="Rectangle 183"/>
              <p:cNvSpPr>
                <a:spLocks noChangeArrowheads="1"/>
              </p:cNvSpPr>
              <p:nvPr/>
            </p:nvSpPr>
            <p:spPr bwMode="auto">
              <a:xfrm>
                <a:off x="3418" y="335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Rectangle 184"/>
              <p:cNvSpPr>
                <a:spLocks noChangeArrowheads="1"/>
              </p:cNvSpPr>
              <p:nvPr/>
            </p:nvSpPr>
            <p:spPr bwMode="auto">
              <a:xfrm>
                <a:off x="3453" y="3352"/>
                <a:ext cx="123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0" name="Rectangle 185"/>
              <p:cNvSpPr>
                <a:spLocks noChangeArrowheads="1"/>
              </p:cNvSpPr>
              <p:nvPr/>
            </p:nvSpPr>
            <p:spPr bwMode="auto">
              <a:xfrm>
                <a:off x="3532" y="3352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1" name="Rectangle 186"/>
              <p:cNvSpPr>
                <a:spLocks noChangeArrowheads="1"/>
              </p:cNvSpPr>
              <p:nvPr/>
            </p:nvSpPr>
            <p:spPr bwMode="auto">
              <a:xfrm>
                <a:off x="3558" y="335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2" name="Rectangle 187"/>
              <p:cNvSpPr>
                <a:spLocks noChangeArrowheads="1"/>
              </p:cNvSpPr>
              <p:nvPr/>
            </p:nvSpPr>
            <p:spPr bwMode="auto">
              <a:xfrm>
                <a:off x="3611" y="335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3" name="Rectangle 188"/>
              <p:cNvSpPr>
                <a:spLocks noChangeArrowheads="1"/>
              </p:cNvSpPr>
              <p:nvPr/>
            </p:nvSpPr>
            <p:spPr bwMode="auto">
              <a:xfrm>
                <a:off x="3663" y="3352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Rectangle 189"/>
              <p:cNvSpPr>
                <a:spLocks noChangeArrowheads="1"/>
              </p:cNvSpPr>
              <p:nvPr/>
            </p:nvSpPr>
            <p:spPr bwMode="auto">
              <a:xfrm>
                <a:off x="3190" y="34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5" name="Rectangle 190"/>
              <p:cNvSpPr>
                <a:spLocks noChangeArrowheads="1"/>
              </p:cNvSpPr>
              <p:nvPr/>
            </p:nvSpPr>
            <p:spPr bwMode="auto">
              <a:xfrm>
                <a:off x="3251" y="346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Rectangle 191"/>
              <p:cNvSpPr>
                <a:spLocks noChangeArrowheads="1"/>
              </p:cNvSpPr>
              <p:nvPr/>
            </p:nvSpPr>
            <p:spPr bwMode="auto">
              <a:xfrm>
                <a:off x="3277" y="346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7" name="Rectangle 192"/>
              <p:cNvSpPr>
                <a:spLocks noChangeArrowheads="1"/>
              </p:cNvSpPr>
              <p:nvPr/>
            </p:nvSpPr>
            <p:spPr bwMode="auto">
              <a:xfrm>
                <a:off x="3321" y="346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8" name="Rectangle 193"/>
              <p:cNvSpPr>
                <a:spLocks noChangeArrowheads="1"/>
              </p:cNvSpPr>
              <p:nvPr/>
            </p:nvSpPr>
            <p:spPr bwMode="auto">
              <a:xfrm>
                <a:off x="3374" y="346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9" name="Rectangle 194"/>
              <p:cNvSpPr>
                <a:spLocks noChangeArrowheads="1"/>
              </p:cNvSpPr>
              <p:nvPr/>
            </p:nvSpPr>
            <p:spPr bwMode="auto">
              <a:xfrm>
                <a:off x="3427" y="34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0" name="Rectangle 195"/>
              <p:cNvSpPr>
                <a:spLocks noChangeArrowheads="1"/>
              </p:cNvSpPr>
              <p:nvPr/>
            </p:nvSpPr>
            <p:spPr bwMode="auto">
              <a:xfrm>
                <a:off x="3479" y="34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1" name="Rectangle 196"/>
              <p:cNvSpPr>
                <a:spLocks noChangeArrowheads="1"/>
              </p:cNvSpPr>
              <p:nvPr/>
            </p:nvSpPr>
            <p:spPr bwMode="auto">
              <a:xfrm>
                <a:off x="3532" y="3466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2" name="Rectangle 197"/>
              <p:cNvSpPr>
                <a:spLocks noChangeArrowheads="1"/>
              </p:cNvSpPr>
              <p:nvPr/>
            </p:nvSpPr>
            <p:spPr bwMode="auto">
              <a:xfrm>
                <a:off x="3558" y="34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3" name="Rectangle 198"/>
              <p:cNvSpPr>
                <a:spLocks noChangeArrowheads="1"/>
              </p:cNvSpPr>
              <p:nvPr/>
            </p:nvSpPr>
            <p:spPr bwMode="auto">
              <a:xfrm>
                <a:off x="3611" y="346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4" name="Rectangle 199"/>
              <p:cNvSpPr>
                <a:spLocks noChangeArrowheads="1"/>
              </p:cNvSpPr>
              <p:nvPr/>
            </p:nvSpPr>
            <p:spPr bwMode="auto">
              <a:xfrm>
                <a:off x="3655" y="346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5" name="Rectangle 200"/>
              <p:cNvSpPr>
                <a:spLocks noChangeArrowheads="1"/>
              </p:cNvSpPr>
              <p:nvPr/>
            </p:nvSpPr>
            <p:spPr bwMode="auto">
              <a:xfrm>
                <a:off x="3690" y="3466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6" name="Rectangle 201"/>
              <p:cNvSpPr>
                <a:spLocks noChangeArrowheads="1"/>
              </p:cNvSpPr>
              <p:nvPr/>
            </p:nvSpPr>
            <p:spPr bwMode="auto">
              <a:xfrm>
                <a:off x="3155" y="35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7" name="Rectangle 202"/>
              <p:cNvSpPr>
                <a:spLocks noChangeArrowheads="1"/>
              </p:cNvSpPr>
              <p:nvPr/>
            </p:nvSpPr>
            <p:spPr bwMode="auto">
              <a:xfrm>
                <a:off x="3207" y="3580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8" name="Rectangle 203"/>
              <p:cNvSpPr>
                <a:spLocks noChangeArrowheads="1"/>
              </p:cNvSpPr>
              <p:nvPr/>
            </p:nvSpPr>
            <p:spPr bwMode="auto">
              <a:xfrm>
                <a:off x="3242" y="3580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9" name="Rectangle 204"/>
              <p:cNvSpPr>
                <a:spLocks noChangeArrowheads="1"/>
              </p:cNvSpPr>
              <p:nvPr/>
            </p:nvSpPr>
            <p:spPr bwMode="auto">
              <a:xfrm>
                <a:off x="3277" y="358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0" name="Rectangle 205"/>
              <p:cNvSpPr>
                <a:spLocks noChangeArrowheads="1"/>
              </p:cNvSpPr>
              <p:nvPr/>
            </p:nvSpPr>
            <p:spPr bwMode="auto">
              <a:xfrm>
                <a:off x="3321" y="35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1" name="Rectangle 206"/>
              <p:cNvSpPr>
                <a:spLocks noChangeArrowheads="1"/>
              </p:cNvSpPr>
              <p:nvPr/>
            </p:nvSpPr>
            <p:spPr bwMode="auto">
              <a:xfrm>
                <a:off x="3374" y="35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2" name="Rectangle 207"/>
              <p:cNvSpPr>
                <a:spLocks noChangeArrowheads="1"/>
              </p:cNvSpPr>
              <p:nvPr/>
            </p:nvSpPr>
            <p:spPr bwMode="auto">
              <a:xfrm>
                <a:off x="3427" y="3580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3" name="Rectangle 208"/>
              <p:cNvSpPr>
                <a:spLocks noChangeArrowheads="1"/>
              </p:cNvSpPr>
              <p:nvPr/>
            </p:nvSpPr>
            <p:spPr bwMode="auto">
              <a:xfrm>
                <a:off x="3453" y="35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4" name="Rectangle 209"/>
              <p:cNvSpPr>
                <a:spLocks noChangeArrowheads="1"/>
              </p:cNvSpPr>
              <p:nvPr/>
            </p:nvSpPr>
            <p:spPr bwMode="auto">
              <a:xfrm>
                <a:off x="3506" y="358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5" name="Rectangle 210"/>
              <p:cNvSpPr>
                <a:spLocks noChangeArrowheads="1"/>
              </p:cNvSpPr>
              <p:nvPr/>
            </p:nvSpPr>
            <p:spPr bwMode="auto">
              <a:xfrm>
                <a:off x="3549" y="3580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6" name="Rectangle 211"/>
              <p:cNvSpPr>
                <a:spLocks noChangeArrowheads="1"/>
              </p:cNvSpPr>
              <p:nvPr/>
            </p:nvSpPr>
            <p:spPr bwMode="auto">
              <a:xfrm>
                <a:off x="3576" y="358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7" name="Rectangle 212"/>
              <p:cNvSpPr>
                <a:spLocks noChangeArrowheads="1"/>
              </p:cNvSpPr>
              <p:nvPr/>
            </p:nvSpPr>
            <p:spPr bwMode="auto">
              <a:xfrm>
                <a:off x="3620" y="35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8" name="Rectangle 213"/>
              <p:cNvSpPr>
                <a:spLocks noChangeArrowheads="1"/>
              </p:cNvSpPr>
              <p:nvPr/>
            </p:nvSpPr>
            <p:spPr bwMode="auto">
              <a:xfrm>
                <a:off x="3672" y="35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9" name="Rectangle 214"/>
              <p:cNvSpPr>
                <a:spLocks noChangeArrowheads="1"/>
              </p:cNvSpPr>
              <p:nvPr/>
            </p:nvSpPr>
            <p:spPr bwMode="auto">
              <a:xfrm>
                <a:off x="3725" y="3580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0" name="Rectangle 215"/>
              <p:cNvSpPr>
                <a:spLocks noChangeArrowheads="1"/>
              </p:cNvSpPr>
              <p:nvPr/>
            </p:nvSpPr>
            <p:spPr bwMode="auto">
              <a:xfrm>
                <a:off x="3190" y="3695"/>
                <a:ext cx="158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W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1" name="Rectangle 216"/>
              <p:cNvSpPr>
                <a:spLocks noChangeArrowheads="1"/>
              </p:cNvSpPr>
              <p:nvPr/>
            </p:nvSpPr>
            <p:spPr bwMode="auto">
              <a:xfrm>
                <a:off x="3277" y="3695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2" name="Rectangle 217"/>
              <p:cNvSpPr>
                <a:spLocks noChangeArrowheads="1"/>
              </p:cNvSpPr>
              <p:nvPr/>
            </p:nvSpPr>
            <p:spPr bwMode="auto">
              <a:xfrm>
                <a:off x="3321" y="3695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3" name="Rectangle 218"/>
              <p:cNvSpPr>
                <a:spLocks noChangeArrowheads="1"/>
              </p:cNvSpPr>
              <p:nvPr/>
            </p:nvSpPr>
            <p:spPr bwMode="auto">
              <a:xfrm>
                <a:off x="3374" y="3695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4" name="Rectangle 219"/>
              <p:cNvSpPr>
                <a:spLocks noChangeArrowheads="1"/>
              </p:cNvSpPr>
              <p:nvPr/>
            </p:nvSpPr>
            <p:spPr bwMode="auto">
              <a:xfrm>
                <a:off x="3427" y="3695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5" name="Rectangle 220"/>
              <p:cNvSpPr>
                <a:spLocks noChangeArrowheads="1"/>
              </p:cNvSpPr>
              <p:nvPr/>
            </p:nvSpPr>
            <p:spPr bwMode="auto">
              <a:xfrm>
                <a:off x="3479" y="3695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6" name="Rectangle 221"/>
              <p:cNvSpPr>
                <a:spLocks noChangeArrowheads="1"/>
              </p:cNvSpPr>
              <p:nvPr/>
            </p:nvSpPr>
            <p:spPr bwMode="auto">
              <a:xfrm>
                <a:off x="3523" y="3695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7" name="Rectangle 222"/>
              <p:cNvSpPr>
                <a:spLocks noChangeArrowheads="1"/>
              </p:cNvSpPr>
              <p:nvPr/>
            </p:nvSpPr>
            <p:spPr bwMode="auto">
              <a:xfrm>
                <a:off x="3567" y="3695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8" name="Rectangle 223"/>
              <p:cNvSpPr>
                <a:spLocks noChangeArrowheads="1"/>
              </p:cNvSpPr>
              <p:nvPr/>
            </p:nvSpPr>
            <p:spPr bwMode="auto">
              <a:xfrm>
                <a:off x="3602" y="3695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9" name="Rectangle 224"/>
              <p:cNvSpPr>
                <a:spLocks noChangeArrowheads="1"/>
              </p:cNvSpPr>
              <p:nvPr/>
            </p:nvSpPr>
            <p:spPr bwMode="auto">
              <a:xfrm>
                <a:off x="3655" y="3695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Rectangle 225"/>
              <p:cNvSpPr>
                <a:spLocks noChangeArrowheads="1"/>
              </p:cNvSpPr>
              <p:nvPr/>
            </p:nvSpPr>
            <p:spPr bwMode="auto">
              <a:xfrm>
                <a:off x="2330" y="335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1" name="Rectangle 226"/>
              <p:cNvSpPr>
                <a:spLocks noChangeArrowheads="1"/>
              </p:cNvSpPr>
              <p:nvPr/>
            </p:nvSpPr>
            <p:spPr bwMode="auto">
              <a:xfrm>
                <a:off x="2365" y="335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Rectangle 227"/>
              <p:cNvSpPr>
                <a:spLocks noChangeArrowheads="1"/>
              </p:cNvSpPr>
              <p:nvPr/>
            </p:nvSpPr>
            <p:spPr bwMode="auto">
              <a:xfrm>
                <a:off x="2418" y="335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3" name="Rectangle 228"/>
              <p:cNvSpPr>
                <a:spLocks noChangeArrowheads="1"/>
              </p:cNvSpPr>
              <p:nvPr/>
            </p:nvSpPr>
            <p:spPr bwMode="auto">
              <a:xfrm>
                <a:off x="2462" y="335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Rectangle 229"/>
              <p:cNvSpPr>
                <a:spLocks noChangeArrowheads="1"/>
              </p:cNvSpPr>
              <p:nvPr/>
            </p:nvSpPr>
            <p:spPr bwMode="auto">
              <a:xfrm>
                <a:off x="2514" y="335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5" name="Rectangle 230"/>
              <p:cNvSpPr>
                <a:spLocks noChangeArrowheads="1"/>
              </p:cNvSpPr>
              <p:nvPr/>
            </p:nvSpPr>
            <p:spPr bwMode="auto">
              <a:xfrm>
                <a:off x="2541" y="3352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Rectangle 231"/>
              <p:cNvSpPr>
                <a:spLocks noChangeArrowheads="1"/>
              </p:cNvSpPr>
              <p:nvPr/>
            </p:nvSpPr>
            <p:spPr bwMode="auto">
              <a:xfrm>
                <a:off x="2567" y="335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7" name="Rectangle 232"/>
              <p:cNvSpPr>
                <a:spLocks noChangeArrowheads="1"/>
              </p:cNvSpPr>
              <p:nvPr/>
            </p:nvSpPr>
            <p:spPr bwMode="auto">
              <a:xfrm>
                <a:off x="2602" y="335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8" name="Rectangle 233"/>
              <p:cNvSpPr>
                <a:spLocks noChangeArrowheads="1"/>
              </p:cNvSpPr>
              <p:nvPr/>
            </p:nvSpPr>
            <p:spPr bwMode="auto">
              <a:xfrm>
                <a:off x="2655" y="3352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9" name="Rectangle 234"/>
              <p:cNvSpPr>
                <a:spLocks noChangeArrowheads="1"/>
              </p:cNvSpPr>
              <p:nvPr/>
            </p:nvSpPr>
            <p:spPr bwMode="auto">
              <a:xfrm>
                <a:off x="2243" y="34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0" name="Rectangle 235"/>
              <p:cNvSpPr>
                <a:spLocks noChangeArrowheads="1"/>
              </p:cNvSpPr>
              <p:nvPr/>
            </p:nvSpPr>
            <p:spPr bwMode="auto">
              <a:xfrm>
                <a:off x="2304" y="346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1" name="Rectangle 236"/>
              <p:cNvSpPr>
                <a:spLocks noChangeArrowheads="1"/>
              </p:cNvSpPr>
              <p:nvPr/>
            </p:nvSpPr>
            <p:spPr bwMode="auto">
              <a:xfrm>
                <a:off x="2330" y="346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2" name="Rectangle 237"/>
              <p:cNvSpPr>
                <a:spLocks noChangeArrowheads="1"/>
              </p:cNvSpPr>
              <p:nvPr/>
            </p:nvSpPr>
            <p:spPr bwMode="auto">
              <a:xfrm>
                <a:off x="2374" y="346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3" name="Rectangle 238"/>
              <p:cNvSpPr>
                <a:spLocks noChangeArrowheads="1"/>
              </p:cNvSpPr>
              <p:nvPr/>
            </p:nvSpPr>
            <p:spPr bwMode="auto">
              <a:xfrm>
                <a:off x="2427" y="346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4" name="Rectangle 239"/>
              <p:cNvSpPr>
                <a:spLocks noChangeArrowheads="1"/>
              </p:cNvSpPr>
              <p:nvPr/>
            </p:nvSpPr>
            <p:spPr bwMode="auto">
              <a:xfrm>
                <a:off x="2479" y="34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5" name="Rectangle 240"/>
              <p:cNvSpPr>
                <a:spLocks noChangeArrowheads="1"/>
              </p:cNvSpPr>
              <p:nvPr/>
            </p:nvSpPr>
            <p:spPr bwMode="auto">
              <a:xfrm>
                <a:off x="2532" y="34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6" name="Rectangle 241"/>
              <p:cNvSpPr>
                <a:spLocks noChangeArrowheads="1"/>
              </p:cNvSpPr>
              <p:nvPr/>
            </p:nvSpPr>
            <p:spPr bwMode="auto">
              <a:xfrm>
                <a:off x="2585" y="3466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7" name="Rectangle 242"/>
              <p:cNvSpPr>
                <a:spLocks noChangeArrowheads="1"/>
              </p:cNvSpPr>
              <p:nvPr/>
            </p:nvSpPr>
            <p:spPr bwMode="auto">
              <a:xfrm>
                <a:off x="2611" y="346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8" name="Rectangle 243"/>
              <p:cNvSpPr>
                <a:spLocks noChangeArrowheads="1"/>
              </p:cNvSpPr>
              <p:nvPr/>
            </p:nvSpPr>
            <p:spPr bwMode="auto">
              <a:xfrm>
                <a:off x="2664" y="346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9" name="Rectangle 244"/>
              <p:cNvSpPr>
                <a:spLocks noChangeArrowheads="1"/>
              </p:cNvSpPr>
              <p:nvPr/>
            </p:nvSpPr>
            <p:spPr bwMode="auto">
              <a:xfrm>
                <a:off x="2707" y="346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0" name="Rectangle 245"/>
              <p:cNvSpPr>
                <a:spLocks noChangeArrowheads="1"/>
              </p:cNvSpPr>
              <p:nvPr/>
            </p:nvSpPr>
            <p:spPr bwMode="auto">
              <a:xfrm>
                <a:off x="2742" y="3466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1" name="Rectangle 246"/>
              <p:cNvSpPr>
                <a:spLocks noChangeArrowheads="1"/>
              </p:cNvSpPr>
              <p:nvPr/>
            </p:nvSpPr>
            <p:spPr bwMode="auto">
              <a:xfrm>
                <a:off x="2321" y="35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2" name="Rectangle 247"/>
              <p:cNvSpPr>
                <a:spLocks noChangeArrowheads="1"/>
              </p:cNvSpPr>
              <p:nvPr/>
            </p:nvSpPr>
            <p:spPr bwMode="auto">
              <a:xfrm>
                <a:off x="2374" y="3580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3" name="Rectangle 248"/>
              <p:cNvSpPr>
                <a:spLocks noChangeArrowheads="1"/>
              </p:cNvSpPr>
              <p:nvPr/>
            </p:nvSpPr>
            <p:spPr bwMode="auto">
              <a:xfrm>
                <a:off x="2409" y="3580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4" name="Rectangle 249"/>
              <p:cNvSpPr>
                <a:spLocks noChangeArrowheads="1"/>
              </p:cNvSpPr>
              <p:nvPr/>
            </p:nvSpPr>
            <p:spPr bwMode="auto">
              <a:xfrm>
                <a:off x="2444" y="358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" name="Rectangle 250"/>
              <p:cNvSpPr>
                <a:spLocks noChangeArrowheads="1"/>
              </p:cNvSpPr>
              <p:nvPr/>
            </p:nvSpPr>
            <p:spPr bwMode="auto">
              <a:xfrm>
                <a:off x="2488" y="3580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6" name="Rectangle 251"/>
              <p:cNvSpPr>
                <a:spLocks noChangeArrowheads="1"/>
              </p:cNvSpPr>
              <p:nvPr/>
            </p:nvSpPr>
            <p:spPr bwMode="auto">
              <a:xfrm>
                <a:off x="2514" y="358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7" name="Rectangle 252"/>
              <p:cNvSpPr>
                <a:spLocks noChangeArrowheads="1"/>
              </p:cNvSpPr>
              <p:nvPr/>
            </p:nvSpPr>
            <p:spPr bwMode="auto">
              <a:xfrm>
                <a:off x="2558" y="35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8" name="Rectangle 253"/>
              <p:cNvSpPr>
                <a:spLocks noChangeArrowheads="1"/>
              </p:cNvSpPr>
              <p:nvPr/>
            </p:nvSpPr>
            <p:spPr bwMode="auto">
              <a:xfrm>
                <a:off x="2611" y="358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9" name="Rectangle 254"/>
              <p:cNvSpPr>
                <a:spLocks noChangeArrowheads="1"/>
              </p:cNvSpPr>
              <p:nvPr/>
            </p:nvSpPr>
            <p:spPr bwMode="auto">
              <a:xfrm>
                <a:off x="1795" y="264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0" name="Rectangle 255"/>
              <p:cNvSpPr>
                <a:spLocks noChangeArrowheads="1"/>
              </p:cNvSpPr>
              <p:nvPr/>
            </p:nvSpPr>
            <p:spPr bwMode="auto">
              <a:xfrm>
                <a:off x="1848" y="264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1" name="Rectangle 256"/>
              <p:cNvSpPr>
                <a:spLocks noChangeArrowheads="1"/>
              </p:cNvSpPr>
              <p:nvPr/>
            </p:nvSpPr>
            <p:spPr bwMode="auto">
              <a:xfrm>
                <a:off x="1883" y="264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Rectangle 257"/>
              <p:cNvSpPr>
                <a:spLocks noChangeArrowheads="1"/>
              </p:cNvSpPr>
              <p:nvPr/>
            </p:nvSpPr>
            <p:spPr bwMode="auto">
              <a:xfrm>
                <a:off x="1936" y="2642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3" name="Rectangle 258"/>
              <p:cNvSpPr>
                <a:spLocks noChangeArrowheads="1"/>
              </p:cNvSpPr>
              <p:nvPr/>
            </p:nvSpPr>
            <p:spPr bwMode="auto">
              <a:xfrm>
                <a:off x="1988" y="2642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Rectangle 259"/>
              <p:cNvSpPr>
                <a:spLocks noChangeArrowheads="1"/>
              </p:cNvSpPr>
              <p:nvPr/>
            </p:nvSpPr>
            <p:spPr bwMode="auto">
              <a:xfrm>
                <a:off x="2014" y="2642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5" name="Rectangle 260"/>
              <p:cNvSpPr>
                <a:spLocks noChangeArrowheads="1"/>
              </p:cNvSpPr>
              <p:nvPr/>
            </p:nvSpPr>
            <p:spPr bwMode="auto">
              <a:xfrm>
                <a:off x="2058" y="2642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Rectangle 261"/>
              <p:cNvSpPr>
                <a:spLocks noChangeArrowheads="1"/>
              </p:cNvSpPr>
              <p:nvPr/>
            </p:nvSpPr>
            <p:spPr bwMode="auto">
              <a:xfrm>
                <a:off x="2085" y="2642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7" name="Rectangle 262"/>
              <p:cNvSpPr>
                <a:spLocks noChangeArrowheads="1"/>
              </p:cNvSpPr>
              <p:nvPr/>
            </p:nvSpPr>
            <p:spPr bwMode="auto">
              <a:xfrm>
                <a:off x="1690" y="275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Rectangle 263"/>
              <p:cNvSpPr>
                <a:spLocks noChangeArrowheads="1"/>
              </p:cNvSpPr>
              <p:nvPr/>
            </p:nvSpPr>
            <p:spPr bwMode="auto">
              <a:xfrm>
                <a:off x="1751" y="275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9" name="Rectangle 264"/>
              <p:cNvSpPr>
                <a:spLocks noChangeArrowheads="1"/>
              </p:cNvSpPr>
              <p:nvPr/>
            </p:nvSpPr>
            <p:spPr bwMode="auto">
              <a:xfrm>
                <a:off x="1778" y="275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0" name="Rectangle 265"/>
              <p:cNvSpPr>
                <a:spLocks noChangeArrowheads="1"/>
              </p:cNvSpPr>
              <p:nvPr/>
            </p:nvSpPr>
            <p:spPr bwMode="auto">
              <a:xfrm>
                <a:off x="1822" y="275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1" name="Rectangle 266"/>
              <p:cNvSpPr>
                <a:spLocks noChangeArrowheads="1"/>
              </p:cNvSpPr>
              <p:nvPr/>
            </p:nvSpPr>
            <p:spPr bwMode="auto">
              <a:xfrm>
                <a:off x="1874" y="275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2" name="Rectangle 267"/>
              <p:cNvSpPr>
                <a:spLocks noChangeArrowheads="1"/>
              </p:cNvSpPr>
              <p:nvPr/>
            </p:nvSpPr>
            <p:spPr bwMode="auto">
              <a:xfrm>
                <a:off x="1927" y="275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3" name="Rectangle 268"/>
              <p:cNvSpPr>
                <a:spLocks noChangeArrowheads="1"/>
              </p:cNvSpPr>
              <p:nvPr/>
            </p:nvSpPr>
            <p:spPr bwMode="auto">
              <a:xfrm>
                <a:off x="1979" y="275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4" name="Rectangle 269"/>
              <p:cNvSpPr>
                <a:spLocks noChangeArrowheads="1"/>
              </p:cNvSpPr>
              <p:nvPr/>
            </p:nvSpPr>
            <p:spPr bwMode="auto">
              <a:xfrm>
                <a:off x="2032" y="2756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l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5" name="Rectangle 270"/>
              <p:cNvSpPr>
                <a:spLocks noChangeArrowheads="1"/>
              </p:cNvSpPr>
              <p:nvPr/>
            </p:nvSpPr>
            <p:spPr bwMode="auto">
              <a:xfrm>
                <a:off x="2058" y="2756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6" name="Rectangle 271"/>
              <p:cNvSpPr>
                <a:spLocks noChangeArrowheads="1"/>
              </p:cNvSpPr>
              <p:nvPr/>
            </p:nvSpPr>
            <p:spPr bwMode="auto">
              <a:xfrm>
                <a:off x="2111" y="2756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7" name="Rectangle 272"/>
              <p:cNvSpPr>
                <a:spLocks noChangeArrowheads="1"/>
              </p:cNvSpPr>
              <p:nvPr/>
            </p:nvSpPr>
            <p:spPr bwMode="auto">
              <a:xfrm>
                <a:off x="2155" y="2756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8" name="Rectangle 273"/>
              <p:cNvSpPr>
                <a:spLocks noChangeArrowheads="1"/>
              </p:cNvSpPr>
              <p:nvPr/>
            </p:nvSpPr>
            <p:spPr bwMode="auto">
              <a:xfrm>
                <a:off x="2190" y="2756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9" name="Rectangle 274"/>
              <p:cNvSpPr>
                <a:spLocks noChangeArrowheads="1"/>
              </p:cNvSpPr>
              <p:nvPr/>
            </p:nvSpPr>
            <p:spPr bwMode="auto">
              <a:xfrm>
                <a:off x="1751" y="2870"/>
                <a:ext cx="114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0" name="Rectangle 275"/>
              <p:cNvSpPr>
                <a:spLocks noChangeArrowheads="1"/>
              </p:cNvSpPr>
              <p:nvPr/>
            </p:nvSpPr>
            <p:spPr bwMode="auto">
              <a:xfrm>
                <a:off x="1822" y="287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1" name="Rectangle 276"/>
              <p:cNvSpPr>
                <a:spLocks noChangeArrowheads="1"/>
              </p:cNvSpPr>
              <p:nvPr/>
            </p:nvSpPr>
            <p:spPr bwMode="auto">
              <a:xfrm>
                <a:off x="1865" y="287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2" name="Rectangle 277"/>
              <p:cNvSpPr>
                <a:spLocks noChangeArrowheads="1"/>
              </p:cNvSpPr>
              <p:nvPr/>
            </p:nvSpPr>
            <p:spPr bwMode="auto">
              <a:xfrm>
                <a:off x="1918" y="2870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3" name="Rectangle 278"/>
              <p:cNvSpPr>
                <a:spLocks noChangeArrowheads="1"/>
              </p:cNvSpPr>
              <p:nvPr/>
            </p:nvSpPr>
            <p:spPr bwMode="auto">
              <a:xfrm>
                <a:off x="1962" y="287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4" name="Rectangle 279"/>
              <p:cNvSpPr>
                <a:spLocks noChangeArrowheads="1"/>
              </p:cNvSpPr>
              <p:nvPr/>
            </p:nvSpPr>
            <p:spPr bwMode="auto">
              <a:xfrm>
                <a:off x="2014" y="2870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5" name="Rectangle 280"/>
              <p:cNvSpPr>
                <a:spLocks noChangeArrowheads="1"/>
              </p:cNvSpPr>
              <p:nvPr/>
            </p:nvSpPr>
            <p:spPr bwMode="auto">
              <a:xfrm>
                <a:off x="2041" y="2870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6" name="Rectangle 281"/>
              <p:cNvSpPr>
                <a:spLocks noChangeArrowheads="1"/>
              </p:cNvSpPr>
              <p:nvPr/>
            </p:nvSpPr>
            <p:spPr bwMode="auto">
              <a:xfrm>
                <a:off x="2093" y="2870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7" name="Rectangle 282"/>
              <p:cNvSpPr>
                <a:spLocks noChangeArrowheads="1"/>
              </p:cNvSpPr>
              <p:nvPr/>
            </p:nvSpPr>
            <p:spPr bwMode="auto">
              <a:xfrm>
                <a:off x="1874" y="1773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8" name="Rectangle 283"/>
              <p:cNvSpPr>
                <a:spLocks noChangeArrowheads="1"/>
              </p:cNvSpPr>
              <p:nvPr/>
            </p:nvSpPr>
            <p:spPr bwMode="auto">
              <a:xfrm>
                <a:off x="1909" y="1773"/>
                <a:ext cx="123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9" name="Rectangle 284"/>
              <p:cNvSpPr>
                <a:spLocks noChangeArrowheads="1"/>
              </p:cNvSpPr>
              <p:nvPr/>
            </p:nvSpPr>
            <p:spPr bwMode="auto">
              <a:xfrm>
                <a:off x="1988" y="1773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0" name="Rectangle 285"/>
              <p:cNvSpPr>
                <a:spLocks noChangeArrowheads="1"/>
              </p:cNvSpPr>
              <p:nvPr/>
            </p:nvSpPr>
            <p:spPr bwMode="auto">
              <a:xfrm>
                <a:off x="2041" y="1773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1" name="Rectangle 286"/>
              <p:cNvSpPr>
                <a:spLocks noChangeArrowheads="1"/>
              </p:cNvSpPr>
              <p:nvPr/>
            </p:nvSpPr>
            <p:spPr bwMode="auto">
              <a:xfrm>
                <a:off x="2067" y="1773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2" name="Rectangle 287"/>
              <p:cNvSpPr>
                <a:spLocks noChangeArrowheads="1"/>
              </p:cNvSpPr>
              <p:nvPr/>
            </p:nvSpPr>
            <p:spPr bwMode="auto">
              <a:xfrm>
                <a:off x="2111" y="1773"/>
                <a:ext cx="123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3" name="Rectangle 288"/>
              <p:cNvSpPr>
                <a:spLocks noChangeArrowheads="1"/>
              </p:cNvSpPr>
              <p:nvPr/>
            </p:nvSpPr>
            <p:spPr bwMode="auto">
              <a:xfrm>
                <a:off x="2199" y="1773"/>
                <a:ext cx="96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4" name="Rectangle 289"/>
              <p:cNvSpPr>
                <a:spLocks noChangeArrowheads="1"/>
              </p:cNvSpPr>
              <p:nvPr/>
            </p:nvSpPr>
            <p:spPr bwMode="auto">
              <a:xfrm>
                <a:off x="2243" y="1773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5" name="Rectangle 290"/>
              <p:cNvSpPr>
                <a:spLocks noChangeArrowheads="1"/>
              </p:cNvSpPr>
              <p:nvPr/>
            </p:nvSpPr>
            <p:spPr bwMode="auto">
              <a:xfrm>
                <a:off x="2295" y="1773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6" name="Rectangle 291"/>
              <p:cNvSpPr>
                <a:spLocks noChangeArrowheads="1"/>
              </p:cNvSpPr>
              <p:nvPr/>
            </p:nvSpPr>
            <p:spPr bwMode="auto">
              <a:xfrm>
                <a:off x="2321" y="1773"/>
                <a:ext cx="70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7" name="Rectangle 292"/>
              <p:cNvSpPr>
                <a:spLocks noChangeArrowheads="1"/>
              </p:cNvSpPr>
              <p:nvPr/>
            </p:nvSpPr>
            <p:spPr bwMode="auto">
              <a:xfrm>
                <a:off x="1848" y="1887"/>
                <a:ext cx="105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8" name="Rectangle 293"/>
              <p:cNvSpPr>
                <a:spLocks noChangeArrowheads="1"/>
              </p:cNvSpPr>
              <p:nvPr/>
            </p:nvSpPr>
            <p:spPr bwMode="auto">
              <a:xfrm>
                <a:off x="1909" y="1887"/>
                <a:ext cx="79" cy="1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0" name="Rectangle 295"/>
            <p:cNvSpPr>
              <a:spLocks noChangeArrowheads="1"/>
            </p:cNvSpPr>
            <p:nvPr/>
          </p:nvSpPr>
          <p:spPr bwMode="auto">
            <a:xfrm>
              <a:off x="1936" y="1887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296"/>
            <p:cNvSpPr>
              <a:spLocks noChangeArrowheads="1"/>
            </p:cNvSpPr>
            <p:nvPr/>
          </p:nvSpPr>
          <p:spPr bwMode="auto">
            <a:xfrm>
              <a:off x="1979" y="1887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k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297"/>
            <p:cNvSpPr>
              <a:spLocks noChangeArrowheads="1"/>
            </p:cNvSpPr>
            <p:nvPr/>
          </p:nvSpPr>
          <p:spPr bwMode="auto">
            <a:xfrm>
              <a:off x="2032" y="1887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298"/>
            <p:cNvSpPr>
              <a:spLocks noChangeArrowheads="1"/>
            </p:cNvSpPr>
            <p:nvPr/>
          </p:nvSpPr>
          <p:spPr bwMode="auto">
            <a:xfrm>
              <a:off x="2085" y="1887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299"/>
            <p:cNvSpPr>
              <a:spLocks noChangeArrowheads="1"/>
            </p:cNvSpPr>
            <p:nvPr/>
          </p:nvSpPr>
          <p:spPr bwMode="auto">
            <a:xfrm>
              <a:off x="2137" y="1887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300"/>
            <p:cNvSpPr>
              <a:spLocks noChangeArrowheads="1"/>
            </p:cNvSpPr>
            <p:nvPr/>
          </p:nvSpPr>
          <p:spPr bwMode="auto">
            <a:xfrm>
              <a:off x="2190" y="1887"/>
              <a:ext cx="70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301"/>
            <p:cNvSpPr>
              <a:spLocks noChangeArrowheads="1"/>
            </p:cNvSpPr>
            <p:nvPr/>
          </p:nvSpPr>
          <p:spPr bwMode="auto">
            <a:xfrm>
              <a:off x="2216" y="1887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302"/>
            <p:cNvSpPr>
              <a:spLocks noChangeArrowheads="1"/>
            </p:cNvSpPr>
            <p:nvPr/>
          </p:nvSpPr>
          <p:spPr bwMode="auto">
            <a:xfrm>
              <a:off x="2269" y="1887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303"/>
            <p:cNvSpPr>
              <a:spLocks noChangeArrowheads="1"/>
            </p:cNvSpPr>
            <p:nvPr/>
          </p:nvSpPr>
          <p:spPr bwMode="auto">
            <a:xfrm>
              <a:off x="2313" y="1887"/>
              <a:ext cx="79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304"/>
            <p:cNvSpPr>
              <a:spLocks noChangeArrowheads="1"/>
            </p:cNvSpPr>
            <p:nvPr/>
          </p:nvSpPr>
          <p:spPr bwMode="auto">
            <a:xfrm>
              <a:off x="2348" y="1887"/>
              <a:ext cx="70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305"/>
            <p:cNvSpPr>
              <a:spLocks noChangeArrowheads="1"/>
            </p:cNvSpPr>
            <p:nvPr/>
          </p:nvSpPr>
          <p:spPr bwMode="auto">
            <a:xfrm>
              <a:off x="1822" y="2001"/>
              <a:ext cx="149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306"/>
            <p:cNvSpPr>
              <a:spLocks noChangeArrowheads="1"/>
            </p:cNvSpPr>
            <p:nvPr/>
          </p:nvSpPr>
          <p:spPr bwMode="auto">
            <a:xfrm>
              <a:off x="1918" y="2001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307"/>
            <p:cNvSpPr>
              <a:spLocks noChangeArrowheads="1"/>
            </p:cNvSpPr>
            <p:nvPr/>
          </p:nvSpPr>
          <p:spPr bwMode="auto">
            <a:xfrm>
              <a:off x="1962" y="2001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308"/>
            <p:cNvSpPr>
              <a:spLocks noChangeArrowheads="1"/>
            </p:cNvSpPr>
            <p:nvPr/>
          </p:nvSpPr>
          <p:spPr bwMode="auto">
            <a:xfrm>
              <a:off x="2014" y="2001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309"/>
            <p:cNvSpPr>
              <a:spLocks noChangeArrowheads="1"/>
            </p:cNvSpPr>
            <p:nvPr/>
          </p:nvSpPr>
          <p:spPr bwMode="auto">
            <a:xfrm>
              <a:off x="2067" y="2001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310"/>
            <p:cNvSpPr>
              <a:spLocks noChangeArrowheads="1"/>
            </p:cNvSpPr>
            <p:nvPr/>
          </p:nvSpPr>
          <p:spPr bwMode="auto">
            <a:xfrm>
              <a:off x="2120" y="2001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311"/>
            <p:cNvSpPr>
              <a:spLocks noChangeArrowheads="1"/>
            </p:cNvSpPr>
            <p:nvPr/>
          </p:nvSpPr>
          <p:spPr bwMode="auto">
            <a:xfrm>
              <a:off x="2164" y="2001"/>
              <a:ext cx="123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312"/>
            <p:cNvSpPr>
              <a:spLocks noChangeArrowheads="1"/>
            </p:cNvSpPr>
            <p:nvPr/>
          </p:nvSpPr>
          <p:spPr bwMode="auto">
            <a:xfrm>
              <a:off x="2243" y="2001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313"/>
            <p:cNvSpPr>
              <a:spLocks noChangeArrowheads="1"/>
            </p:cNvSpPr>
            <p:nvPr/>
          </p:nvSpPr>
          <p:spPr bwMode="auto">
            <a:xfrm>
              <a:off x="2286" y="2001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314"/>
            <p:cNvSpPr>
              <a:spLocks noChangeArrowheads="1"/>
            </p:cNvSpPr>
            <p:nvPr/>
          </p:nvSpPr>
          <p:spPr bwMode="auto">
            <a:xfrm>
              <a:off x="2339" y="2001"/>
              <a:ext cx="79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315"/>
            <p:cNvSpPr>
              <a:spLocks noChangeArrowheads="1"/>
            </p:cNvSpPr>
            <p:nvPr/>
          </p:nvSpPr>
          <p:spPr bwMode="auto">
            <a:xfrm>
              <a:off x="2374" y="2001"/>
              <a:ext cx="70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316"/>
            <p:cNvSpPr>
              <a:spLocks noChangeArrowheads="1"/>
            </p:cNvSpPr>
            <p:nvPr/>
          </p:nvSpPr>
          <p:spPr bwMode="auto">
            <a:xfrm>
              <a:off x="1927" y="2115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317"/>
            <p:cNvSpPr>
              <a:spLocks noChangeArrowheads="1"/>
            </p:cNvSpPr>
            <p:nvPr/>
          </p:nvSpPr>
          <p:spPr bwMode="auto">
            <a:xfrm>
              <a:off x="1979" y="2115"/>
              <a:ext cx="79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318"/>
            <p:cNvSpPr>
              <a:spLocks noChangeArrowheads="1"/>
            </p:cNvSpPr>
            <p:nvPr/>
          </p:nvSpPr>
          <p:spPr bwMode="auto">
            <a:xfrm>
              <a:off x="2014" y="2115"/>
              <a:ext cx="79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319"/>
            <p:cNvSpPr>
              <a:spLocks noChangeArrowheads="1"/>
            </p:cNvSpPr>
            <p:nvPr/>
          </p:nvSpPr>
          <p:spPr bwMode="auto">
            <a:xfrm>
              <a:off x="2050" y="2115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320"/>
            <p:cNvSpPr>
              <a:spLocks noChangeArrowheads="1"/>
            </p:cNvSpPr>
            <p:nvPr/>
          </p:nvSpPr>
          <p:spPr bwMode="auto">
            <a:xfrm>
              <a:off x="2093" y="2115"/>
              <a:ext cx="79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321"/>
            <p:cNvSpPr>
              <a:spLocks noChangeArrowheads="1"/>
            </p:cNvSpPr>
            <p:nvPr/>
          </p:nvSpPr>
          <p:spPr bwMode="auto">
            <a:xfrm>
              <a:off x="2120" y="2115"/>
              <a:ext cx="96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322"/>
            <p:cNvSpPr>
              <a:spLocks noChangeArrowheads="1"/>
            </p:cNvSpPr>
            <p:nvPr/>
          </p:nvSpPr>
          <p:spPr bwMode="auto">
            <a:xfrm>
              <a:off x="2164" y="2115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323"/>
            <p:cNvSpPr>
              <a:spLocks noChangeArrowheads="1"/>
            </p:cNvSpPr>
            <p:nvPr/>
          </p:nvSpPr>
          <p:spPr bwMode="auto">
            <a:xfrm>
              <a:off x="2216" y="2115"/>
              <a:ext cx="105" cy="1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26" name="Date Placeholder 325"/>
          <p:cNvSpPr>
            <a:spLocks noGrp="1"/>
          </p:cNvSpPr>
          <p:nvPr>
            <p:ph type="dt" sz="half" idx="10"/>
          </p:nvPr>
        </p:nvSpPr>
        <p:spPr>
          <a:xfrm>
            <a:off x="8526105" y="19765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327" name="Footer Placeholder 326"/>
          <p:cNvSpPr>
            <a:spLocks noGrp="1"/>
          </p:cNvSpPr>
          <p:nvPr>
            <p:ph type="ftr" sz="quarter" idx="11"/>
          </p:nvPr>
        </p:nvSpPr>
        <p:spPr>
          <a:xfrm>
            <a:off x="102037" y="31005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08219-115A-4194-AA4B-9A92FF90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1422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108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2491578" y="373627"/>
            <a:ext cx="644407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spc="-40" dirty="0">
                <a:solidFill>
                  <a:srgbClr val="0070C0"/>
                </a:solidFill>
                <a:latin typeface="Calibri" panose="020F0502020204030204" pitchFamily="34" charset="0"/>
              </a:rPr>
              <a:t>M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AN</a:t>
            </a:r>
            <a:r>
              <a:rPr lang="en-US" sz="4000" b="1" spc="-100" dirty="0">
                <a:solidFill>
                  <a:srgbClr val="0070C0"/>
                </a:solidFill>
                <a:latin typeface="Calibri" panose="020F0502020204030204" pitchFamily="34" charset="0"/>
              </a:rPr>
              <a:t>A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GE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 AND CONTROL </a:t>
            </a:r>
          </a:p>
          <a:p>
            <a:pPr algn="ctr"/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S</a:t>
            </a:r>
            <a:r>
              <a:rPr lang="en-US" sz="4000" b="1" spc="-200" dirty="0">
                <a:solidFill>
                  <a:srgbClr val="0070C0"/>
                </a:solidFill>
                <a:latin typeface="Calibri" panose="020F0502020204030204" pitchFamily="34" charset="0"/>
              </a:rPr>
              <a:t>T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A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KE</a:t>
            </a:r>
            <a:r>
              <a:rPr lang="en-US" sz="4000" b="1" spc="-35" dirty="0">
                <a:solidFill>
                  <a:srgbClr val="0070C0"/>
                </a:solidFill>
                <a:latin typeface="Calibri" panose="020F0502020204030204" pitchFamily="34" charset="0"/>
              </a:rPr>
              <a:t>H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L</a:t>
            </a:r>
            <a:r>
              <a:rPr lang="en-US" sz="4000" b="1" spc="-35" dirty="0">
                <a:solidFill>
                  <a:srgbClr val="0070C0"/>
                </a:solidFill>
                <a:latin typeface="Calibri" panose="020F0502020204030204" pitchFamily="34" charset="0"/>
              </a:rPr>
              <a:t>D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ER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EN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G</a:t>
            </a:r>
            <a:r>
              <a:rPr lang="en-US" sz="4000" b="1" spc="-80" dirty="0">
                <a:solidFill>
                  <a:srgbClr val="0070C0"/>
                </a:solidFill>
                <a:latin typeface="Calibri" panose="020F0502020204030204" pitchFamily="34" charset="0"/>
              </a:rPr>
              <a:t>A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GEMENT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661833" y="1832517"/>
            <a:ext cx="10747682" cy="2000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330" marR="6350" indent="-34163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>
                <a:tab pos="3093085" algn="l"/>
              </a:tabLst>
            </a:pP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ni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ate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an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wi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the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70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ho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lde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th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.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	</a:t>
            </a:r>
          </a:p>
          <a:p>
            <a:pPr marL="354330" marR="6350" indent="-341630"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>
                <a:tab pos="3093085" algn="l"/>
              </a:tabLst>
            </a:pPr>
            <a:r>
              <a:rPr lang="en-US" sz="2400" spc="-145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u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th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in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3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6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7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the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project and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ini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z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resis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3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ce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sue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 f</a:t>
            </a:r>
            <a:r>
              <a:rPr lang="en-US" sz="2400" spc="-6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om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6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 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7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algn="ctr" fontAlgn="auto">
              <a:lnSpc>
                <a:spcPts val="2250"/>
              </a:lnSpc>
              <a:spcBef>
                <a:spcPts val="49"/>
              </a:spcBef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</a:endParaRPr>
          </a:p>
          <a:p>
            <a:pPr marL="12700" fontAlgn="auto">
              <a:spcBef>
                <a:spcPts val="0"/>
              </a:spcBef>
              <a:spcAft>
                <a:spcPts val="0"/>
              </a:spcAft>
            </a:pPr>
            <a:r>
              <a:rPr lang="en-US" sz="4000" b="1" spc="-1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4000" b="1" spc="-5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w?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159" y="4030126"/>
            <a:ext cx="10747682" cy="784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350" algn="ctr" fontAlgn="auto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spc="-1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3200" b="1" spc="-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3200" b="1" spc="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3200" b="1" spc="-4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3200" b="1" spc="-2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3200" b="1" spc="-1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3200" b="1" spc="-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b="1" spc="-4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3200" b="1" spc="-1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b="1" spc="-1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lang="en-US" sz="3200" b="1" spc="-2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em</a:t>
            </a:r>
            <a:r>
              <a:rPr lang="en-US" sz="3200" b="1" spc="-1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,</a:t>
            </a: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b="1" spc="-15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3200" b="1" spc="-1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alk</a:t>
            </a: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b="1" spc="-4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3200" b="1" spc="-1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b="1" spc="-1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lang="en-US" sz="3200" b="1" spc="-2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em</a:t>
            </a:r>
            <a:r>
              <a:rPr lang="en-US" sz="3200" b="1" spc="-1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,</a:t>
            </a: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b="1" spc="-1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co</a:t>
            </a:r>
            <a:r>
              <a:rPr lang="en-US" sz="3200" b="1" spc="-2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3200" b="1" spc="-2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mu</a:t>
            </a:r>
            <a:r>
              <a:rPr lang="en-US" sz="3200" b="1" spc="-3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3200" b="1" spc="-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3200" b="1" spc="-2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3200" b="1" spc="-4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3200" b="1" spc="-2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e with them.</a:t>
            </a:r>
          </a:p>
          <a:p>
            <a:pPr marL="12700" marR="6350" algn="ctr" fontAlgn="auto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spc="-1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Help</a:t>
            </a:r>
            <a:r>
              <a:rPr lang="en-US" sz="3200" b="1" spc="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b="1" spc="-1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th</a:t>
            </a:r>
            <a:r>
              <a:rPr lang="en-US" sz="3200" b="1" spc="-2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em</a:t>
            </a:r>
            <a:r>
              <a:rPr lang="en-US" sz="3200" b="1" spc="-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b="1" spc="-2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3200" b="1" spc="-1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3200" b="1" spc="-2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3200" b="1" spc="-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3200" b="1" spc="-1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,</a:t>
            </a:r>
            <a:r>
              <a:rPr lang="en-US" sz="3200" b="1" spc="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b="1" spc="-5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3200" b="1" spc="-2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eac</a:t>
            </a: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h them when</a:t>
            </a:r>
            <a:r>
              <a:rPr lang="en-US" sz="3200" b="1" spc="-5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b="1" spc="-20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needed</a:t>
            </a: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Franklin Gothic Book"/>
              </a:rPr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93228" y="27436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6838" y="25806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90F81-EA07-40E6-8100-CE989ED5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7536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1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05514" y="457850"/>
            <a:ext cx="37809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Scope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4008" y="1362858"/>
            <a:ext cx="10188916" cy="3639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A Scope statement is one of the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first documents 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produced in the Planning Phase of a project being managed and should include:</a:t>
            </a:r>
            <a:endParaRPr lang="en-US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500" dirty="0"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Project Statement;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Acceptance Criteria;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Validation/Testing Plan;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Project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Deliverables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Project Exclusions;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Project Constraints;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the Project Coordination;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a Signed-Off approval of a review of the document with the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customer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, 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a Signed-Off approval of a review of the document with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corporate management</a:t>
            </a: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9294" y="4968758"/>
            <a:ext cx="97840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Remember: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</a:rPr>
              <a:t>The Scope Statement needs to be specific and with as much detail as possible.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</a:rPr>
              <a:t>			Future changes here are to be avoided, but possible.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62746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601542" y="133236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62746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EE95-57C2-4059-95D8-D9BC24AC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9332" y="567599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197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4987" y="260064"/>
            <a:ext cx="82240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Project Scope Management Processes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2584" y="1076016"/>
            <a:ext cx="1054885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</a:rPr>
              <a:t>Planning scope:	</a:t>
            </a:r>
            <a:r>
              <a:rPr lang="en-US" sz="2000" dirty="0">
                <a:latin typeface="Calibri" panose="020F0502020204030204" pitchFamily="34" charset="0"/>
              </a:rPr>
              <a:t>Determining how the project’s scope and requirements will be 								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</a:rPr>
              <a:t>managed</a:t>
            </a:r>
            <a:r>
              <a:rPr lang="en-US" sz="2000" dirty="0">
                <a:latin typeface="Calibri" panose="020F0502020204030204" pitchFamily="34" charset="0"/>
              </a:rPr>
              <a:t>.</a:t>
            </a:r>
          </a:p>
          <a:p>
            <a:endParaRPr lang="en-US" sz="2000" b="1" dirty="0">
              <a:latin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</a:rPr>
              <a:t>Collecting		</a:t>
            </a:r>
            <a:r>
              <a:rPr lang="en-US" sz="2000" dirty="0">
                <a:latin typeface="Calibri" panose="020F0502020204030204" pitchFamily="34" charset="0"/>
              </a:rPr>
              <a:t>Defining and documenting the features and functions</a:t>
            </a:r>
          </a:p>
          <a:p>
            <a:r>
              <a:rPr lang="en-US" sz="2000" b="1" dirty="0">
                <a:latin typeface="Calibri" panose="020F0502020204030204" pitchFamily="34" charset="0"/>
              </a:rPr>
              <a:t>requirements: </a:t>
            </a:r>
            <a:r>
              <a:rPr lang="en-US" sz="2000" dirty="0">
                <a:latin typeface="Calibri" panose="020F0502020204030204" pitchFamily="34" charset="0"/>
              </a:rPr>
              <a:t>	of the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</a:rPr>
              <a:t>products produced during the project </a:t>
            </a:r>
            <a:r>
              <a:rPr lang="en-US" sz="2000" dirty="0">
                <a:latin typeface="Calibri" panose="020F0502020204030204" pitchFamily="34" charset="0"/>
              </a:rPr>
              <a:t>as well as 										the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</a:rPr>
              <a:t>processes</a:t>
            </a:r>
            <a:r>
              <a:rPr lang="en-US" sz="2000" dirty="0">
                <a:latin typeface="Calibri" panose="020F0502020204030204" pitchFamily="34" charset="0"/>
              </a:rPr>
              <a:t> used for creating them.</a:t>
            </a:r>
          </a:p>
          <a:p>
            <a:endParaRPr lang="en-US" sz="2000" b="1" dirty="0">
              <a:latin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</a:rPr>
              <a:t>Defining scope:</a:t>
            </a:r>
            <a:r>
              <a:rPr lang="en-US" sz="2000" dirty="0">
                <a:latin typeface="Calibri" panose="020F0502020204030204" pitchFamily="34" charset="0"/>
              </a:rPr>
              <a:t> 	Reviewing the Project Charter, requirements documents, and 									organizational process assets to create a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</a:rPr>
              <a:t>Scope Statement</a:t>
            </a:r>
            <a:r>
              <a:rPr lang="en-US" sz="2000" dirty="0">
                <a:latin typeface="Calibri" panose="020F0502020204030204" pitchFamily="34" charset="0"/>
              </a:rPr>
              <a:t>.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</a:rPr>
              <a:t>Creating WBS:</a:t>
            </a:r>
            <a:r>
              <a:rPr lang="en-US" sz="2000" dirty="0">
                <a:latin typeface="Calibri" panose="020F0502020204030204" pitchFamily="34" charset="0"/>
              </a:rPr>
              <a:t> 	Subdividing the major project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</a:rPr>
              <a:t>deliverables</a:t>
            </a:r>
            <a:r>
              <a:rPr lang="en-US" sz="2000" dirty="0">
                <a:latin typeface="Calibri" panose="020F0502020204030204" pitchFamily="34" charset="0"/>
              </a:rPr>
              <a:t> into smaller, more 									manageable components.</a:t>
            </a:r>
          </a:p>
          <a:p>
            <a:r>
              <a:rPr lang="en-US" sz="2000" b="1" dirty="0">
                <a:latin typeface="Calibri" panose="020F0502020204030204" pitchFamily="34" charset="0"/>
              </a:rPr>
              <a:t>Validating scope</a:t>
            </a:r>
            <a:r>
              <a:rPr lang="en-US" sz="2000" dirty="0">
                <a:latin typeface="Calibri" panose="020F0502020204030204" pitchFamily="34" charset="0"/>
              </a:rPr>
              <a:t>:	Formalizing acceptance of the project deliverables during Closing.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</a:rPr>
              <a:t>Control scope:	</a:t>
            </a:r>
            <a:r>
              <a:rPr lang="en-US" sz="2000" dirty="0">
                <a:latin typeface="Calibri" panose="020F0502020204030204" pitchFamily="34" charset="0"/>
              </a:rPr>
              <a:t>Controlling </a:t>
            </a:r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</a:rPr>
              <a:t>changes to project scope </a:t>
            </a:r>
            <a:r>
              <a:rPr lang="en-US" sz="2000" dirty="0">
                <a:latin typeface="Calibri" panose="020F0502020204030204" pitchFamily="34" charset="0"/>
              </a:rPr>
              <a:t>throughout the life of the 								project.</a:t>
            </a: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08676" y="49642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105463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43C49-1034-4570-AF63-FF7C54B6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9735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159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19835" y="567635"/>
            <a:ext cx="33523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Defining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892231" y="1571074"/>
            <a:ext cx="1040753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</a:rPr>
              <a:t>Scope Statements </a:t>
            </a:r>
            <a:r>
              <a:rPr lang="en-US" sz="2400" dirty="0">
                <a:latin typeface="Calibri" panose="020F0502020204030204" pitchFamily="34" charset="0"/>
              </a:rPr>
              <a:t>should include at least a 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product scope description</a:t>
            </a:r>
            <a:r>
              <a:rPr lang="en-US" sz="2400" dirty="0">
                <a:latin typeface="Calibri" panose="020F0502020204030204" pitchFamily="34" charset="0"/>
              </a:rPr>
              <a:t>, 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product user acceptance criteria</a:t>
            </a:r>
            <a:r>
              <a:rPr lang="en-US" sz="2400" dirty="0">
                <a:latin typeface="Calibri" panose="020F0502020204030204" pitchFamily="34" charset="0"/>
              </a:rPr>
              <a:t>, and detailed information on all 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project deliverables</a:t>
            </a:r>
            <a:r>
              <a:rPr lang="en-US" sz="2400" dirty="0">
                <a:latin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It should also document other scope-related information, such as the project boundaries, constraints, and assumptions.</a:t>
            </a: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The Scope Statement should also reference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supporting documents</a:t>
            </a:r>
            <a:r>
              <a:rPr lang="en-US" sz="2400" dirty="0">
                <a:latin typeface="Calibri" panose="020F0502020204030204" pitchFamily="34" charset="0"/>
              </a:rPr>
              <a:t>, such as product specifications.</a:t>
            </a: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As time progresses, the scope of a project should become clearer and more specific.</a:t>
            </a: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43352" y="110657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110657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CE7FC-E98F-4FAD-BA20-3F4C1EFE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9735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15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 l="29812" t="20416" r="30875" b="13250"/>
          <a:stretch>
            <a:fillRect/>
          </a:stretch>
        </p:blipFill>
        <p:spPr bwMode="auto">
          <a:xfrm>
            <a:off x="3524596" y="168625"/>
            <a:ext cx="5162204" cy="6435150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76866" y="638508"/>
            <a:ext cx="2947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</a:rPr>
              <a:t>Scope Statement Example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69244" y="47229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1437" y="31112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5B7F0-0DB5-41FB-9B2E-88E8F471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61429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90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4935" y="815816"/>
            <a:ext cx="29469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</a:rPr>
              <a:t>Scope Statement 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5" t="7692" r="13823" b="13187"/>
          <a:stretch/>
        </p:blipFill>
        <p:spPr>
          <a:xfrm>
            <a:off x="3441896" y="151999"/>
            <a:ext cx="5256584" cy="648072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76307" y="33528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3354" y="3352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A5570-0FFC-432C-BBC5-13B41180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2187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594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9154" y="638508"/>
            <a:ext cx="29469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</a:rPr>
              <a:t>Scope Statement Example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2253" t="8522" r="11780" b="5308"/>
          <a:stretch/>
        </p:blipFill>
        <p:spPr>
          <a:xfrm>
            <a:off x="3396115" y="249453"/>
            <a:ext cx="5256584" cy="6400729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93229" y="27343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571" y="27343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682D7-E539-4696-890A-6AD1AADB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50671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081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8491" y="160312"/>
            <a:ext cx="54586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Scope Management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9091" y="868198"/>
            <a:ext cx="1057378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>
                <a:latin typeface="Calibri" panose="020F0502020204030204" pitchFamily="34" charset="0"/>
                <a:cs typeface="Arial" panose="020B0604020202020204" pitchFamily="34" charset="0"/>
              </a:rPr>
              <a:t>A </a:t>
            </a:r>
            <a:r>
              <a:rPr lang="en-US" sz="2500" dirty="0">
                <a:solidFill>
                  <a:srgbClr val="7030A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Project Scope Management Plan </a:t>
            </a:r>
            <a:r>
              <a:rPr lang="en-US" sz="2500" dirty="0">
                <a:latin typeface="Calibri" panose="020F0502020204030204" pitchFamily="34" charset="0"/>
                <a:cs typeface="Arial" panose="020B0604020202020204" pitchFamily="34" charset="0"/>
              </a:rPr>
              <a:t>is the document that describes how scope and scope changes will be managed.</a:t>
            </a:r>
          </a:p>
          <a:p>
            <a:endParaRPr lang="en-US" sz="25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500" dirty="0">
                <a:latin typeface="Calibri" panose="020F0502020204030204" pitchFamily="34" charset="0"/>
                <a:cs typeface="Arial" panose="020B0604020202020204" pitchFamily="34" charset="0"/>
              </a:rPr>
              <a:t>A scope management plan provides advantages:</a:t>
            </a:r>
          </a:p>
          <a:p>
            <a:r>
              <a:rPr lang="en-US" sz="2500" dirty="0">
                <a:latin typeface="Calibri" panose="020F0502020204030204" pitchFamily="34" charset="0"/>
                <a:cs typeface="Arial" panose="020B0604020202020204" pitchFamily="34" charset="0"/>
              </a:rPr>
              <a:t>Less </a:t>
            </a:r>
            <a:r>
              <a:rPr lang="en-US" sz="25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scope creep</a:t>
            </a:r>
            <a:r>
              <a:rPr lang="en-US" sz="2500" dirty="0">
                <a:latin typeface="Calibri" panose="020F0502020204030204" pitchFamily="34" charset="0"/>
                <a:cs typeface="Arial" panose="020B0604020202020204" pitchFamily="34" charset="0"/>
              </a:rPr>
              <a:t>, fewer scope changes, less scope conflict, improved communications, and better customer satisfaction are achieved.</a:t>
            </a:r>
          </a:p>
          <a:p>
            <a:endParaRPr lang="en-US" sz="25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500" dirty="0">
                <a:latin typeface="Calibri" panose="020F0502020204030204" pitchFamily="34" charset="0"/>
                <a:cs typeface="Arial" panose="020B0604020202020204" pitchFamily="34" charset="0"/>
              </a:rPr>
              <a:t>The plan is often executed as an extension of the Management by Objectives (MBO) Philosophy which says an organization should: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Calibri" panose="020F0502020204030204" pitchFamily="34" charset="0"/>
                <a:cs typeface="Arial" panose="020B0604020202020204" pitchFamily="34" charset="0"/>
              </a:rPr>
              <a:t>Establish unambiguous and realistic </a:t>
            </a:r>
            <a:r>
              <a:rPr lang="en-US" sz="25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objectives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Periodically evaluate </a:t>
            </a:r>
            <a:r>
              <a:rPr lang="en-US" sz="2500" dirty="0">
                <a:latin typeface="Calibri" panose="020F0502020204030204" pitchFamily="34" charset="0"/>
                <a:cs typeface="Arial" panose="020B0604020202020204" pitchFamily="34" charset="0"/>
              </a:rPr>
              <a:t>if objectives are being met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Calibri" panose="020F0502020204030204" pitchFamily="34" charset="0"/>
                <a:cs typeface="Arial" panose="020B0604020202020204" pitchFamily="34" charset="0"/>
              </a:rPr>
              <a:t>Take corrective action</a:t>
            </a: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35074" y="50454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52281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2332A-F267-4958-BD9A-95680AB4B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7674" y="5679735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802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51358" y="432523"/>
            <a:ext cx="280371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Scope Creep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4363" y="1242562"/>
            <a:ext cx="9603274" cy="3862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Aft>
                <a:spcPts val="0"/>
              </a:spcAft>
            </a:pPr>
            <a:r>
              <a:rPr lang="en-CA" sz="2000" dirty="0"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Project scope creep is insidious and sneaking up suddenly and hitting you and your project where it hurts.</a:t>
            </a:r>
            <a:endParaRPr lang="en-US" sz="2000" dirty="0">
              <a:highlight>
                <a:srgbClr val="FF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fontAlgn="base">
              <a:spcAft>
                <a:spcPts val="0"/>
              </a:spcAft>
            </a:pPr>
            <a:r>
              <a:rPr lang="en-CA" sz="2000" dirty="0"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We all need to be careful about dealing with increasing or changing scope in order to avoid nasty surprises.</a:t>
            </a:r>
            <a:endParaRPr lang="en-US" sz="2000" dirty="0">
              <a:highlight>
                <a:srgbClr val="FF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fontAlgn="base">
              <a:spcAft>
                <a:spcPts val="0"/>
              </a:spcAft>
            </a:pPr>
            <a:r>
              <a:rPr lang="en-CA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Commonly speaking, scope creep is how a project’s requirements tend to </a:t>
            </a:r>
            <a:r>
              <a:rPr lang="en-CA" sz="2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</a:t>
            </a: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 a project lifecycle such as follows: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once started out as a single deliverable becomes five.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product that began with three essential features, now must have ten.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Midway through a project, the needs of customers change, prompting a reassessment of the project requirements.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24366-88D6-48AB-AC29-49B5ADB5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39914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45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51358" y="432523"/>
            <a:ext cx="280371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Scope Creep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4363" y="1242562"/>
            <a:ext cx="9603274" cy="4146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creep is typically caused by </a:t>
            </a:r>
            <a:r>
              <a:rPr lang="en-CA" sz="24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project stakeholders </a:t>
            </a: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changing requirements, or sometimes from internal </a:t>
            </a:r>
            <a:r>
              <a:rPr lang="en-CA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miscommunication</a:t>
            </a: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CA" sz="24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disagreements</a:t>
            </a: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it might result in project delays, roadblocks, or going over budget, scope creep is not necessarily a bad thing. </a:t>
            </a:r>
            <a:r>
              <a:rPr lang="en-CA" sz="2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Remember that change is inevitable</a:t>
            </a: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Customer needs to do change over time and delivering a project that answers their needs often means altering the scope.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creep is therefore a reality that every good project manager expects and plans for.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24366-88D6-48AB-AC29-49B5ADB5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39914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0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pic>
        <p:nvPicPr>
          <p:cNvPr id="4" name="Picture 3" descr="10 common causes scope creep infographic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98"/>
          <a:stretch/>
        </p:blipFill>
        <p:spPr bwMode="auto">
          <a:xfrm>
            <a:off x="2504492" y="217918"/>
            <a:ext cx="7183016" cy="6422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23734-A140-4C52-8F72-14DAF53C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07641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361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28086" y="2227319"/>
            <a:ext cx="1055981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7200" b="1" dirty="0">
                <a:solidFill>
                  <a:srgbClr val="0070C0"/>
                </a:solidFill>
                <a:latin typeface="Calibri" panose="020F0502020204030204" pitchFamily="34" charset="0"/>
              </a:rPr>
              <a:t>The Organizational Context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8167" y="35655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157" y="35655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75879A-5A3A-4344-8258-AEBBF79F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5385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000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8393" y="767141"/>
            <a:ext cx="495699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Organizational 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393" y="2233136"/>
            <a:ext cx="1069016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Every organization</a:t>
            </a:r>
            <a:r>
              <a:rPr lang="en-US" sz="2400" dirty="0">
                <a:latin typeface="Calibri" panose="020F0502020204030204" pitchFamily="34" charset="0"/>
              </a:rPr>
              <a:t> develops its own unique outlook, operating policies, procedures, patterns of thinking, attitudes, norms of behavior. They are often as unique as a fingerprint.</a:t>
            </a: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No two organizations no matter how similar in size, products, operating environment, profitability, ... are the same.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09854" y="35655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640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6FF3B5-9060-451D-B8FC-E332C7A2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52" y="5607641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402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831273" y="850268"/>
            <a:ext cx="69749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</a:rPr>
              <a:t>What is Organizational Culture?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831273" y="2127888"/>
            <a:ext cx="106735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Defined as: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highlight>
                  <a:srgbClr val="FFFF00"/>
                </a:highlight>
                <a:latin typeface="Calibri" panose="020F0502020204030204" pitchFamily="34" charset="0"/>
              </a:rPr>
              <a:t>“The solution to external and internal problems that has </a:t>
            </a:r>
            <a:r>
              <a:rPr lang="en-US" sz="2400" u="sng" dirty="0">
                <a:highlight>
                  <a:srgbClr val="FFFF00"/>
                </a:highlight>
                <a:latin typeface="Calibri" panose="020F0502020204030204" pitchFamily="34" charset="0"/>
              </a:rPr>
              <a:t>worked consistently</a:t>
            </a:r>
            <a:r>
              <a:rPr lang="en-US" sz="2400" dirty="0">
                <a:highlight>
                  <a:srgbClr val="FFFF00"/>
                </a:highlight>
                <a:latin typeface="Calibri" panose="020F0502020204030204" pitchFamily="34" charset="0"/>
              </a:rPr>
              <a:t> for a group and that is therefore taught to new members as the correct way to perceive, think about and feel in relation to these problems.”</a:t>
            </a:r>
          </a:p>
          <a:p>
            <a:endParaRPr lang="en-US" sz="2400" dirty="0">
              <a:latin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</a:rPr>
              <a:t>They develop over time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09854" y="27343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7343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3D48B-5EC9-4982-84B5-AE758F03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86126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25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582613" y="551010"/>
            <a:ext cx="113022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Key factors that affect the development of a 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613" y="1258896"/>
            <a:ext cx="110468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Technology: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400" i="1" dirty="0">
                <a:latin typeface="Calibri" panose="020F0502020204030204" pitchFamily="34" charset="0"/>
              </a:rPr>
              <a:t>(use of email, telephone, meetings);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Environment: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2400" i="1" dirty="0">
                <a:latin typeface="Calibri" panose="020F0502020204030204" pitchFamily="34" charset="0"/>
              </a:rPr>
              <a:t>(automotive, aerospace, government, CO2 emissions regulations, government subsidies);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Geographical Location:</a:t>
            </a:r>
          </a:p>
          <a:p>
            <a:pPr>
              <a:lnSpc>
                <a:spcPct val="80000"/>
              </a:lnSpc>
            </a:pPr>
            <a:r>
              <a:rPr lang="en-US" sz="2400" i="1" dirty="0">
                <a:latin typeface="Calibri" panose="020F0502020204030204" pitchFamily="34" charset="0"/>
              </a:rPr>
              <a:t>(Daimler-Chrysler merger failure, Mexican or Chinese LCC);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Reward Systems:</a:t>
            </a:r>
          </a:p>
          <a:p>
            <a:pPr>
              <a:lnSpc>
                <a:spcPct val="80000"/>
              </a:lnSpc>
            </a:pPr>
            <a:r>
              <a:rPr lang="en-US" sz="2400" i="1" dirty="0">
                <a:latin typeface="Calibri" panose="020F0502020204030204" pitchFamily="34" charset="0"/>
              </a:rPr>
              <a:t>(hourly pay, salary, bonus);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Rules and Procedures:</a:t>
            </a:r>
          </a:p>
          <a:p>
            <a:pPr>
              <a:lnSpc>
                <a:spcPct val="80000"/>
              </a:lnSpc>
            </a:pPr>
            <a:r>
              <a:rPr lang="en-US" sz="2400" i="1" dirty="0">
                <a:latin typeface="Calibri" panose="020F0502020204030204" pitchFamily="34" charset="0"/>
              </a:rPr>
              <a:t>(rule: 40 hrs/week, really expected: 45 hrs);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Key Organizational Members:</a:t>
            </a:r>
          </a:p>
          <a:p>
            <a:pPr>
              <a:lnSpc>
                <a:spcPct val="80000"/>
              </a:lnSpc>
            </a:pPr>
            <a:r>
              <a:rPr lang="en-US" sz="2400" i="1" dirty="0">
                <a:latin typeface="Calibri" panose="020F0502020204030204" pitchFamily="34" charset="0"/>
              </a:rPr>
              <a:t>(founder of the organization forms culture, Bill Gates); and,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latin typeface="Calibri" panose="020F0502020204030204" pitchFamily="34" charset="0"/>
              </a:rPr>
              <a:t>Critical Incidents:</a:t>
            </a:r>
          </a:p>
          <a:p>
            <a:pPr>
              <a:lnSpc>
                <a:spcPct val="80000"/>
              </a:lnSpc>
            </a:pPr>
            <a:r>
              <a:rPr lang="en-US" sz="2400" i="1" dirty="0">
                <a:latin typeface="Calibri" panose="020F0502020204030204" pitchFamily="34" charset="0"/>
              </a:rPr>
              <a:t>(become part of the company's lore, either for good or for bad).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16470" y="42467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4CE05-70B1-4D9F-8709-9DE579F0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99104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389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83313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582613" y="526072"/>
            <a:ext cx="74289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How does Culture Affect Projects?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613" y="2011689"/>
            <a:ext cx="10988703" cy="2936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b="1" i="1" u="sng" dirty="0">
                <a:latin typeface="Calibri" panose="020F0502020204030204" pitchFamily="34" charset="0"/>
              </a:rPr>
              <a:t>Department interaction: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Cultures favoring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cooperation</a:t>
            </a:r>
            <a:r>
              <a:rPr lang="en-US" sz="2400" dirty="0">
                <a:latin typeface="Calibri" panose="020F0502020204030204" pitchFamily="34" charset="0"/>
              </a:rPr>
              <a:t> between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functional groups</a:t>
            </a:r>
            <a:r>
              <a:rPr lang="en-US" sz="2400" dirty="0">
                <a:latin typeface="Calibri" panose="020F0502020204030204" pitchFamily="34" charset="0"/>
              </a:rPr>
              <a:t> and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new projects </a:t>
            </a:r>
            <a:r>
              <a:rPr lang="en-US" sz="2400" dirty="0">
                <a:latin typeface="Calibri" panose="020F0502020204030204" pitchFamily="34" charset="0"/>
              </a:rPr>
              <a:t>are much more </a:t>
            </a:r>
            <a:r>
              <a:rPr lang="en-US" sz="2400" b="1" dirty="0">
                <a:latin typeface="Calibri" panose="020F0502020204030204" pitchFamily="34" charset="0"/>
              </a:rPr>
              <a:t>successful</a:t>
            </a:r>
            <a:r>
              <a:rPr lang="en-US" sz="2400" dirty="0">
                <a:latin typeface="Calibri" panose="020F0502020204030204" pitchFamily="34" charset="0"/>
              </a:rPr>
              <a:t> than those that adopt a disinterested or even adversarial relationship.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 b="1" i="1" u="sng" dirty="0">
                <a:latin typeface="Calibri" panose="020F0502020204030204" pitchFamily="34" charset="0"/>
              </a:rPr>
              <a:t>Employee commitment to goals: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Projects depend on the commitment and motivation of the team members.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Team members must understand the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why</a:t>
            </a:r>
            <a:r>
              <a:rPr lang="en-US" sz="2400" dirty="0">
                <a:latin typeface="Calibri" panose="020F0502020204030204" pitchFamily="34" charset="0"/>
              </a:rPr>
              <a:t> in order to be motivated.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84916" y="35655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08A6E-9BEC-48C3-9CEF-E623E054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96884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73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582613" y="625825"/>
            <a:ext cx="74884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How does Culture Affect Projects?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613" y="1573835"/>
            <a:ext cx="10855700" cy="3322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b="1" i="1" u="sng" dirty="0">
                <a:latin typeface="Calibri" panose="020F0502020204030204" pitchFamily="34" charset="0"/>
              </a:rPr>
              <a:t>Project planning</a:t>
            </a:r>
            <a:br>
              <a:rPr lang="en-US" sz="2400" b="1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"Padding" of duration estimates when it is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not acceptable to be late</a:t>
            </a:r>
            <a:r>
              <a:rPr lang="en-US" sz="2400" dirty="0">
                <a:latin typeface="Calibri" panose="020F0502020204030204" pitchFamily="34" charset="0"/>
              </a:rPr>
              <a:t>, but it is acceptable to plan poorly.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 b="1" i="1" u="sng" dirty="0">
                <a:latin typeface="Calibri" panose="020F0502020204030204" pitchFamily="34" charset="0"/>
              </a:rPr>
              <a:t>Performance evaluation</a:t>
            </a:r>
            <a:br>
              <a:rPr lang="en-US" sz="2400" b="1" dirty="0">
                <a:latin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</a:rPr>
              <a:t>When a culture sends the signal that the goal of the firm is to 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create innovative new products</a:t>
            </a:r>
            <a:r>
              <a:rPr lang="en-US" sz="2400" dirty="0">
                <a:latin typeface="Calibri" panose="020F0502020204030204" pitchFamily="34" charset="0"/>
              </a:rPr>
              <a:t>, it reinforces a project management culture that is aggressive and offers potentially high payoffs </a:t>
            </a:r>
            <a:r>
              <a:rPr lang="en-US" sz="2400" i="1" dirty="0">
                <a:latin typeface="Calibri" panose="020F0502020204030204" pitchFamily="34" charset="0"/>
              </a:rPr>
              <a:t>(and the occasional significant loss!)</a:t>
            </a:r>
            <a:r>
              <a:rPr lang="en-US" sz="2400" dirty="0">
                <a:latin typeface="Calibri" panose="020F0502020204030204" pitchFamily="34" charset="0"/>
              </a:rPr>
              <a:t>.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18167" y="41962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41962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70DDD-F40E-44AD-9114-FDD1C82F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1422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88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2613" y="650764"/>
            <a:ext cx="53000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-35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sz="4000" b="1" spc="-40" dirty="0">
                <a:solidFill>
                  <a:srgbClr val="0070C0"/>
                </a:solidFill>
                <a:latin typeface="Calibri" panose="020F0502020204030204" pitchFamily="34" charset="0"/>
              </a:rPr>
              <a:t>rganizational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Structure</a:t>
            </a:r>
            <a:endParaRPr lang="en-US" sz="4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2613" y="1715617"/>
            <a:ext cx="1072269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7060" marR="635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spc="-25" dirty="0">
                <a:latin typeface="Calibri" panose="020F0502020204030204" pitchFamily="34" charset="0"/>
              </a:rPr>
              <a:t>H</a:t>
            </a:r>
            <a:r>
              <a:rPr lang="en-US" sz="3200" spc="-65" dirty="0">
                <a:latin typeface="Calibri" panose="020F0502020204030204" pitchFamily="34" charset="0"/>
              </a:rPr>
              <a:t>o</a:t>
            </a:r>
            <a:r>
              <a:rPr lang="en-US" sz="3200" dirty="0">
                <a:latin typeface="Calibri" panose="020F0502020204030204" pitchFamily="34" charset="0"/>
              </a:rPr>
              <a:t>w </a:t>
            </a:r>
            <a:r>
              <a:rPr lang="en-CA" sz="3200" spc="-10" dirty="0">
                <a:latin typeface="Calibri" panose="020F0502020204030204" pitchFamily="34" charset="0"/>
              </a:rPr>
              <a:t>are the lines of </a:t>
            </a:r>
            <a:r>
              <a:rPr lang="en-CA" sz="3200" spc="-10" dirty="0">
                <a:solidFill>
                  <a:srgbClr val="00B050"/>
                </a:solidFill>
                <a:latin typeface="Calibri" panose="020F0502020204030204" pitchFamily="34" charset="0"/>
              </a:rPr>
              <a:t>hierarchy</a:t>
            </a:r>
            <a:r>
              <a:rPr lang="en-CA" sz="3200" spc="-10" dirty="0">
                <a:latin typeface="Calibri" panose="020F0502020204030204" pitchFamily="34" charset="0"/>
              </a:rPr>
              <a:t> and </a:t>
            </a:r>
            <a:r>
              <a:rPr lang="en-CA" sz="3200" spc="-10" dirty="0">
                <a:solidFill>
                  <a:srgbClr val="00B050"/>
                </a:solidFill>
                <a:latin typeface="Calibri" panose="020F0502020204030204" pitchFamily="34" charset="0"/>
              </a:rPr>
              <a:t>communication</a:t>
            </a:r>
            <a:r>
              <a:rPr lang="en-US" sz="3200" spc="5" dirty="0">
                <a:latin typeface="Calibri" panose="020F0502020204030204" pitchFamily="34" charset="0"/>
              </a:rPr>
              <a:t> </a:t>
            </a:r>
            <a:r>
              <a:rPr lang="en-US" sz="3200" spc="-25" dirty="0">
                <a:latin typeface="Calibri" panose="020F0502020204030204" pitchFamily="34" charset="0"/>
              </a:rPr>
              <a:t>a</a:t>
            </a:r>
            <a:r>
              <a:rPr lang="en-US" sz="3200" spc="-15" dirty="0">
                <a:latin typeface="Calibri" panose="020F0502020204030204" pitchFamily="34" charset="0"/>
              </a:rPr>
              <a:t>r</a:t>
            </a:r>
            <a:r>
              <a:rPr lang="en-US" sz="3200" spc="-20" dirty="0">
                <a:latin typeface="Calibri" panose="020F0502020204030204" pitchFamily="34" charset="0"/>
              </a:rPr>
              <a:t>ran</a:t>
            </a:r>
            <a:r>
              <a:rPr lang="en-US" sz="3200" spc="5" dirty="0">
                <a:latin typeface="Calibri" panose="020F0502020204030204" pitchFamily="34" charset="0"/>
              </a:rPr>
              <a:t>g</a:t>
            </a:r>
            <a:r>
              <a:rPr lang="en-US" sz="3200" spc="-25" dirty="0">
                <a:latin typeface="Calibri" panose="020F0502020204030204" pitchFamily="34" charset="0"/>
              </a:rPr>
              <a:t>e</a:t>
            </a:r>
            <a:r>
              <a:rPr lang="en-US" sz="3200" spc="-20" dirty="0">
                <a:latin typeface="Calibri" panose="020F0502020204030204" pitchFamily="34" charset="0"/>
              </a:rPr>
              <a:t>d</a:t>
            </a:r>
            <a:r>
              <a:rPr lang="en-US" sz="3200" dirty="0">
                <a:latin typeface="Calibri" panose="020F0502020204030204" pitchFamily="34" charset="0"/>
              </a:rPr>
              <a:t> w</a:t>
            </a:r>
            <a:r>
              <a:rPr lang="en-US" sz="3200" spc="-5" dirty="0">
                <a:latin typeface="Calibri" panose="020F0502020204030204" pitchFamily="34" charset="0"/>
              </a:rPr>
              <a:t>i</a:t>
            </a:r>
            <a:r>
              <a:rPr lang="en-US" sz="3200" spc="-10" dirty="0">
                <a:latin typeface="Calibri" panose="020F0502020204030204" pitchFamily="34" charset="0"/>
              </a:rPr>
              <a:t>t</a:t>
            </a:r>
            <a:r>
              <a:rPr lang="en-US" sz="3200" spc="-5" dirty="0">
                <a:latin typeface="Calibri" panose="020F0502020204030204" pitchFamily="34" charset="0"/>
              </a:rPr>
              <a:t>hi</a:t>
            </a:r>
            <a:r>
              <a:rPr lang="en-US" sz="3200" spc="-20" dirty="0">
                <a:latin typeface="Calibri" panose="020F0502020204030204" pitchFamily="34" charset="0"/>
              </a:rPr>
              <a:t>n</a:t>
            </a:r>
            <a:r>
              <a:rPr lang="en-US" sz="3200" dirty="0">
                <a:latin typeface="Calibri" panose="020F0502020204030204" pitchFamily="34" charset="0"/>
              </a:rPr>
              <a:t> </a:t>
            </a:r>
            <a:r>
              <a:rPr lang="en-US" sz="3200" spc="-20" dirty="0">
                <a:latin typeface="Calibri" panose="020F0502020204030204" pitchFamily="34" charset="0"/>
              </a:rPr>
              <a:t>a</a:t>
            </a:r>
            <a:r>
              <a:rPr lang="en-US" sz="3200" dirty="0">
                <a:latin typeface="Calibri" panose="020F0502020204030204" pitchFamily="34" charset="0"/>
              </a:rPr>
              <a:t> </a:t>
            </a:r>
            <a:r>
              <a:rPr lang="en-US" sz="3200" spc="-30" dirty="0">
                <a:latin typeface="Calibri" panose="020F0502020204030204" pitchFamily="34" charset="0"/>
              </a:rPr>
              <a:t>c</a:t>
            </a:r>
            <a:r>
              <a:rPr lang="en-US" sz="3200" spc="-20" dirty="0">
                <a:latin typeface="Calibri" panose="020F0502020204030204" pitchFamily="34" charset="0"/>
              </a:rPr>
              <a:t>o</a:t>
            </a:r>
            <a:r>
              <a:rPr lang="en-US" sz="3200" spc="-60" dirty="0">
                <a:latin typeface="Calibri" panose="020F0502020204030204" pitchFamily="34" charset="0"/>
              </a:rPr>
              <a:t>m</a:t>
            </a:r>
            <a:r>
              <a:rPr lang="en-US" sz="3200" spc="5" dirty="0">
                <a:latin typeface="Calibri" panose="020F0502020204030204" pitchFamily="34" charset="0"/>
              </a:rPr>
              <a:t>p</a:t>
            </a:r>
            <a:r>
              <a:rPr lang="en-US" sz="3200" spc="-25" dirty="0">
                <a:latin typeface="Calibri" panose="020F0502020204030204" pitchFamily="34" charset="0"/>
              </a:rPr>
              <a:t>a</a:t>
            </a:r>
            <a:r>
              <a:rPr lang="en-US" sz="3200" spc="-75" dirty="0">
                <a:latin typeface="Calibri" panose="020F0502020204030204" pitchFamily="34" charset="0"/>
              </a:rPr>
              <a:t>n</a:t>
            </a:r>
            <a:r>
              <a:rPr lang="en-US" sz="3200" spc="-130" dirty="0">
                <a:latin typeface="Calibri" panose="020F0502020204030204" pitchFamily="34" charset="0"/>
              </a:rPr>
              <a:t>y</a:t>
            </a:r>
            <a:r>
              <a:rPr lang="en-US" sz="3200" dirty="0">
                <a:latin typeface="Calibri" panose="020F0502020204030204" pitchFamily="34" charset="0"/>
              </a:rPr>
              <a:t>?</a:t>
            </a:r>
          </a:p>
          <a:p>
            <a:pPr marL="149860" marR="6350">
              <a:lnSpc>
                <a:spcPct val="100000"/>
              </a:lnSpc>
            </a:pPr>
            <a:endParaRPr lang="en-US" sz="3200" dirty="0">
              <a:latin typeface="Calibri" panose="020F0502020204030204" pitchFamily="34" charset="0"/>
            </a:endParaRPr>
          </a:p>
          <a:p>
            <a:pPr marL="607060" marR="635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</a:rPr>
              <a:t>C</a:t>
            </a:r>
            <a:r>
              <a:rPr lang="en-US" sz="3200" spc="-20" dirty="0">
                <a:latin typeface="Calibri" panose="020F0502020204030204" pitchFamily="34" charset="0"/>
              </a:rPr>
              <a:t>o</a:t>
            </a:r>
            <a:r>
              <a:rPr lang="en-US" sz="3200" spc="-60" dirty="0">
                <a:latin typeface="Calibri" panose="020F0502020204030204" pitchFamily="34" charset="0"/>
              </a:rPr>
              <a:t>m</a:t>
            </a:r>
            <a:r>
              <a:rPr lang="en-US" sz="3200" spc="-25" dirty="0">
                <a:latin typeface="Calibri" panose="020F0502020204030204" pitchFamily="34" charset="0"/>
              </a:rPr>
              <a:t>pa</a:t>
            </a:r>
            <a:r>
              <a:rPr lang="en-US" sz="3200" spc="-70" dirty="0">
                <a:latin typeface="Calibri" panose="020F0502020204030204" pitchFamily="34" charset="0"/>
              </a:rPr>
              <a:t>n</a:t>
            </a:r>
            <a:r>
              <a:rPr lang="en-US" sz="3200" dirty="0">
                <a:latin typeface="Calibri" panose="020F0502020204030204" pitchFamily="34" charset="0"/>
              </a:rPr>
              <a:t>y</a:t>
            </a:r>
            <a:r>
              <a:rPr lang="en-US" sz="3200" spc="-5" dirty="0">
                <a:latin typeface="Calibri" panose="020F0502020204030204" pitchFamily="34" charset="0"/>
              </a:rPr>
              <a:t> </a:t>
            </a:r>
            <a:r>
              <a:rPr lang="en-US" sz="3200" spc="-15" dirty="0">
                <a:latin typeface="Calibri" panose="020F0502020204030204" pitchFamily="34" charset="0"/>
              </a:rPr>
              <a:t>s</a:t>
            </a:r>
            <a:r>
              <a:rPr lang="en-US" sz="3200" spc="-20" dirty="0">
                <a:latin typeface="Calibri" panose="020F0502020204030204" pitchFamily="34" charset="0"/>
              </a:rPr>
              <a:t>t</a:t>
            </a:r>
            <a:r>
              <a:rPr lang="en-US" sz="3200" spc="-15" dirty="0">
                <a:latin typeface="Calibri" panose="020F0502020204030204" pitchFamily="34" charset="0"/>
              </a:rPr>
              <a:t>ru</a:t>
            </a:r>
            <a:r>
              <a:rPr lang="en-US" sz="3200" spc="-20" dirty="0">
                <a:latin typeface="Calibri" panose="020F0502020204030204" pitchFamily="34" charset="0"/>
              </a:rPr>
              <a:t>ct</a:t>
            </a:r>
            <a:r>
              <a:rPr lang="en-US" sz="3200" spc="-15" dirty="0">
                <a:latin typeface="Calibri" panose="020F0502020204030204" pitchFamily="34" charset="0"/>
              </a:rPr>
              <a:t>ure</a:t>
            </a:r>
            <a:r>
              <a:rPr lang="en-US" sz="3200" dirty="0">
                <a:latin typeface="Calibri" panose="020F0502020204030204" pitchFamily="34" charset="0"/>
              </a:rPr>
              <a:t> </a:t>
            </a:r>
            <a:r>
              <a:rPr lang="en-US" sz="3200" spc="-25" dirty="0">
                <a:latin typeface="Calibri" panose="020F0502020204030204" pitchFamily="34" charset="0"/>
              </a:rPr>
              <a:t>a</a:t>
            </a:r>
            <a:r>
              <a:rPr lang="en-US" sz="3200" spc="65" dirty="0">
                <a:latin typeface="Calibri" panose="020F0502020204030204" pitchFamily="34" charset="0"/>
              </a:rPr>
              <a:t>f</a:t>
            </a:r>
            <a:r>
              <a:rPr lang="en-US" sz="3200" spc="-90" dirty="0">
                <a:latin typeface="Calibri" panose="020F0502020204030204" pitchFamily="34" charset="0"/>
              </a:rPr>
              <a:t>f</a:t>
            </a:r>
            <a:r>
              <a:rPr lang="en-US" sz="3200" spc="-20" dirty="0">
                <a:latin typeface="Calibri" panose="020F0502020204030204" pitchFamily="34" charset="0"/>
              </a:rPr>
              <a:t>ect</a:t>
            </a:r>
            <a:r>
              <a:rPr lang="en-US" sz="3200" spc="-15" dirty="0">
                <a:latin typeface="Calibri" panose="020F0502020204030204" pitchFamily="34" charset="0"/>
              </a:rPr>
              <a:t>s</a:t>
            </a:r>
            <a:r>
              <a:rPr lang="en-US" sz="3200" dirty="0">
                <a:latin typeface="Calibri" panose="020F0502020204030204" pitchFamily="34" charset="0"/>
              </a:rPr>
              <a:t> </a:t>
            </a:r>
            <a:r>
              <a:rPr lang="en-US" sz="3200" spc="5" dirty="0">
                <a:latin typeface="Calibri" panose="020F0502020204030204" pitchFamily="34" charset="0"/>
              </a:rPr>
              <a:t>p</a:t>
            </a:r>
            <a:r>
              <a:rPr lang="en-US" sz="3200" spc="-85" dirty="0">
                <a:latin typeface="Calibri" panose="020F0502020204030204" pitchFamily="34" charset="0"/>
              </a:rPr>
              <a:t>r</a:t>
            </a:r>
            <a:r>
              <a:rPr lang="en-US" sz="3200" spc="-20" dirty="0">
                <a:latin typeface="Calibri" panose="020F0502020204030204" pitchFamily="34" charset="0"/>
              </a:rPr>
              <a:t>o</a:t>
            </a:r>
            <a:r>
              <a:rPr lang="en-US" sz="3200" spc="-5" dirty="0">
                <a:latin typeface="Calibri" panose="020F0502020204030204" pitchFamily="34" charset="0"/>
              </a:rPr>
              <a:t>j</a:t>
            </a:r>
            <a:r>
              <a:rPr lang="en-US" sz="3200" spc="-20" dirty="0">
                <a:latin typeface="Calibri" panose="020F0502020204030204" pitchFamily="34" charset="0"/>
              </a:rPr>
              <a:t>ect</a:t>
            </a:r>
            <a:r>
              <a:rPr lang="en-US" sz="3200" spc="-15" dirty="0">
                <a:latin typeface="Calibri" panose="020F0502020204030204" pitchFamily="34" charset="0"/>
              </a:rPr>
              <a:t>s</a:t>
            </a:r>
            <a:r>
              <a:rPr lang="en-US" sz="3200" dirty="0">
                <a:latin typeface="Calibri" panose="020F0502020204030204" pitchFamily="34" charset="0"/>
              </a:rPr>
              <a:t>.</a:t>
            </a:r>
          </a:p>
          <a:p>
            <a:pPr marL="149860" marR="6350">
              <a:lnSpc>
                <a:spcPct val="100000"/>
              </a:lnSpc>
            </a:pPr>
            <a:endParaRPr lang="en-US" sz="3200" dirty="0">
              <a:latin typeface="Calibri" panose="020F0502020204030204" pitchFamily="34" charset="0"/>
            </a:endParaRPr>
          </a:p>
          <a:p>
            <a:pPr marL="607060" marR="635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3200" spc="-10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32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3200" spc="-10" dirty="0">
                <a:latin typeface="Calibri" panose="020F0502020204030204" pitchFamily="34" charset="0"/>
                <a:cs typeface="Franklin Gothic Book"/>
              </a:rPr>
              <a:t>t/When</a:t>
            </a:r>
            <a:r>
              <a:rPr lang="en-US" sz="32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32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3200" spc="-2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3200" spc="-1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3200" spc="-20" dirty="0">
                <a:latin typeface="Calibri" panose="020F0502020204030204" pitchFamily="34" charset="0"/>
                <a:cs typeface="Franklin Gothic Book"/>
              </a:rPr>
              <a:t>le</a:t>
            </a:r>
            <a:r>
              <a:rPr lang="en-US" sz="32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spc="-20" dirty="0">
                <a:latin typeface="Calibri" panose="020F0502020204030204" pitchFamily="34" charset="0"/>
                <a:cs typeface="Franklin Gothic Book"/>
              </a:rPr>
              <a:t>are</a:t>
            </a:r>
            <a:r>
              <a:rPr lang="en-US" sz="32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spc="-9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3200" spc="-45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3200" spc="-5" dirty="0">
                <a:latin typeface="Calibri" panose="020F0502020204030204" pitchFamily="34" charset="0"/>
                <a:cs typeface="Franklin Gothic Book"/>
              </a:rPr>
              <a:t>ai</a:t>
            </a:r>
            <a:r>
              <a:rPr lang="en-US" sz="3200" spc="-1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32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3200" spc="-3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3200" spc="-15" dirty="0">
                <a:latin typeface="Calibri" panose="020F0502020204030204" pitchFamily="34" charset="0"/>
                <a:cs typeface="Franklin Gothic Book"/>
              </a:rPr>
              <a:t>le</a:t>
            </a:r>
            <a:r>
              <a:rPr lang="en-US" sz="32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spc="-65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3200" spc="-2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32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spc="-45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3200" spc="-20" dirty="0">
                <a:latin typeface="Calibri" panose="020F0502020204030204" pitchFamily="34" charset="0"/>
                <a:cs typeface="Franklin Gothic Book"/>
              </a:rPr>
              <a:t>ork?</a:t>
            </a:r>
          </a:p>
          <a:p>
            <a:pPr marL="149860" marR="6350">
              <a:lnSpc>
                <a:spcPct val="100000"/>
              </a:lnSpc>
            </a:pPr>
            <a:endParaRPr lang="en-US" sz="3200" spc="-20" dirty="0">
              <a:latin typeface="Calibri" panose="020F0502020204030204" pitchFamily="34" charset="0"/>
              <a:cs typeface="Franklin Gothic Book"/>
            </a:endParaRPr>
          </a:p>
          <a:p>
            <a:pPr marL="607060" marR="635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spc="-1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3200" spc="-6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3200" dirty="0">
                <a:latin typeface="Calibri" panose="020F0502020204030204" pitchFamily="34" charset="0"/>
                <a:cs typeface="Franklin Gothic Book"/>
              </a:rPr>
              <a:t>w </a:t>
            </a:r>
            <a:r>
              <a:rPr lang="en-US" sz="3200" spc="-20" dirty="0">
                <a:latin typeface="Calibri" panose="020F0502020204030204" pitchFamily="34" charset="0"/>
                <a:cs typeface="Franklin Gothic Book"/>
              </a:rPr>
              <a:t>do</a:t>
            </a:r>
            <a:r>
              <a:rPr lang="en-US" sz="32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spc="-4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3200" spc="-2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3200" spc="-20" dirty="0"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32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spc="-25" dirty="0">
                <a:latin typeface="Calibri" panose="020F0502020204030204" pitchFamily="34" charset="0"/>
                <a:cs typeface="Franklin Gothic Book"/>
              </a:rPr>
              <a:t>ge</a:t>
            </a:r>
            <a:r>
              <a:rPr lang="en-US" sz="3200" spc="-10" dirty="0">
                <a:latin typeface="Calibri" panose="020F0502020204030204" pitchFamily="34" charset="0"/>
                <a:cs typeface="Franklin Gothic Book"/>
              </a:rPr>
              <a:t>t th</a:t>
            </a:r>
            <a:r>
              <a:rPr lang="en-US" sz="32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32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3200" spc="-2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3200" spc="-20" dirty="0">
                <a:latin typeface="Calibri" panose="020F0502020204030204" pitchFamily="34" charset="0"/>
                <a:cs typeface="Franklin Gothic Book"/>
              </a:rPr>
              <a:t>eo</a:t>
            </a:r>
            <a:r>
              <a:rPr lang="en-US" sz="3200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3200" spc="-20" dirty="0">
                <a:latin typeface="Calibri" panose="020F0502020204030204" pitchFamily="34" charset="0"/>
                <a:cs typeface="Franklin Gothic Book"/>
              </a:rPr>
              <a:t>le?</a:t>
            </a:r>
            <a:endParaRPr lang="en-US" sz="3200" dirty="0">
              <a:latin typeface="Calibri" panose="020F0502020204030204" pitchFamily="34" charset="0"/>
              <a:cs typeface="Franklin Gothic Book"/>
            </a:endParaRP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01541" y="27343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2DDA0-E42D-49E0-805E-5FA78DB6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1422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0619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2298023" y="580277"/>
            <a:ext cx="76292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Common Organizational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4625" y="1687175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indent="-742950" algn="ctr">
              <a:buFont typeface="+mj-lt"/>
              <a:buAutoNum type="arabicPeriod"/>
            </a:pPr>
            <a:r>
              <a:rPr lang="en-US" sz="4000" dirty="0">
                <a:latin typeface="Calibri" panose="020F0502020204030204" pitchFamily="34" charset="0"/>
              </a:rPr>
              <a:t>Functional Organizations</a:t>
            </a:r>
          </a:p>
          <a:p>
            <a:pPr marL="742950" indent="-742950" algn="ctr">
              <a:buFont typeface="+mj-lt"/>
              <a:buAutoNum type="arabicPeriod"/>
            </a:pPr>
            <a:endParaRPr lang="en-US" sz="4000" dirty="0">
              <a:latin typeface="Calibri" panose="020F0502020204030204" pitchFamily="34" charset="0"/>
            </a:endParaRPr>
          </a:p>
          <a:p>
            <a:pPr marL="742950" indent="-742950" algn="ctr">
              <a:buFont typeface="+mj-lt"/>
              <a:buAutoNum type="arabicPeriod"/>
            </a:pPr>
            <a:r>
              <a:rPr lang="en-US" sz="4000" dirty="0">
                <a:latin typeface="Calibri" panose="020F0502020204030204" pitchFamily="34" charset="0"/>
              </a:rPr>
              <a:t>Project Organizations</a:t>
            </a:r>
          </a:p>
          <a:p>
            <a:pPr marL="742950" indent="-742950" algn="ctr">
              <a:buFont typeface="+mj-lt"/>
              <a:buAutoNum type="arabicPeriod"/>
            </a:pPr>
            <a:endParaRPr lang="en-US" sz="4000" dirty="0">
              <a:latin typeface="Calibri" panose="020F0502020204030204" pitchFamily="34" charset="0"/>
            </a:endParaRPr>
          </a:p>
          <a:p>
            <a:pPr marL="742950" indent="-742950" algn="ctr">
              <a:buFont typeface="+mj-lt"/>
              <a:buAutoNum type="arabicPeriod"/>
            </a:pPr>
            <a:r>
              <a:rPr lang="en-US" sz="4000" dirty="0">
                <a:latin typeface="Calibri" panose="020F0502020204030204" pitchFamily="34" charset="0"/>
              </a:rPr>
              <a:t>Matrix Organizations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626480" y="21169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96838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E4D1D-C422-44E5-9920-C325C8F6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1422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60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2753000" y="408255"/>
            <a:ext cx="71209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1. FUNC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T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I</a:t>
            </a:r>
            <a:r>
              <a:rPr lang="en-US" sz="4000" b="1" spc="-35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NAL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sz="4000" b="1" spc="-50" dirty="0">
                <a:solidFill>
                  <a:srgbClr val="0070C0"/>
                </a:solidFill>
                <a:latin typeface="Calibri" panose="020F0502020204030204" pitchFamily="34" charset="0"/>
              </a:rPr>
              <a:t>R</a:t>
            </a:r>
            <a:r>
              <a:rPr lang="en-US" sz="4000" b="1" spc="10" dirty="0">
                <a:solidFill>
                  <a:srgbClr val="0070C0"/>
                </a:solidFill>
                <a:latin typeface="Calibri" panose="020F0502020204030204" pitchFamily="34" charset="0"/>
              </a:rPr>
              <a:t>G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ANI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Z</a:t>
            </a:r>
            <a:r>
              <a:rPr lang="en-US" sz="4000" b="1" spc="-195" dirty="0">
                <a:solidFill>
                  <a:srgbClr val="0070C0"/>
                </a:solidFill>
                <a:latin typeface="Calibri" panose="020F0502020204030204" pitchFamily="34" charset="0"/>
              </a:rPr>
              <a:t>A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TIONS</a:t>
            </a:r>
            <a:r>
              <a:rPr lang="en-US" dirty="0">
                <a:latin typeface="Franklin Gothic Book" panose="020B0503020102020204" pitchFamily="34" charset="0"/>
              </a:rPr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89159" y="1265769"/>
            <a:ext cx="10648604" cy="1449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Eac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6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ee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ha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one</a:t>
            </a:r>
            <a:r>
              <a:rPr lang="en-US" sz="2400" spc="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3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2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ea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su</a:t>
            </a:r>
            <a:r>
              <a:rPr lang="en-US" sz="2400" spc="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6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vi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sor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.</a:t>
            </a:r>
            <a:endParaRPr lang="en-US" sz="2400" dirty="0">
              <a:latin typeface="Calibri" panose="020F0502020204030204" pitchFamily="34" charset="0"/>
              <a:cs typeface="Franklin Gothic Book"/>
            </a:endParaRPr>
          </a:p>
          <a:p>
            <a:pPr marL="354330" marR="6350" indent="-341630">
              <a:lnSpc>
                <a:spcPts val="3829"/>
              </a:lnSpc>
              <a:spcBef>
                <a:spcPts val="135"/>
              </a:spcBef>
            </a:pP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6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ees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re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7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ou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ci</a:t>
            </a:r>
            <a:r>
              <a:rPr lang="en-US" sz="2400" spc="-2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su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: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7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oduct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,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ar</a:t>
            </a:r>
            <a:r>
              <a:rPr lang="en-US" sz="2400" spc="-95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,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ne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g.</a:t>
            </a:r>
          </a:p>
          <a:p>
            <a:pPr marL="354330" marR="501015" indent="-341630">
              <a:lnSpc>
                <a:spcPts val="3840"/>
              </a:lnSpc>
            </a:pP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5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7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de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pa</a:t>
            </a:r>
            <a:r>
              <a:rPr lang="en-US" sz="2400" spc="9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tm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ent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does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7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j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ect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nde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endent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of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er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de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8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men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ts.</a:t>
            </a:r>
            <a:endParaRPr lang="en-US" sz="2400" dirty="0">
              <a:latin typeface="Calibri" panose="020F0502020204030204" pitchFamily="34" charset="0"/>
              <a:cs typeface="Franklin Gothic Book"/>
            </a:endParaRPr>
          </a:p>
        </p:txBody>
      </p:sp>
      <p:sp>
        <p:nvSpPr>
          <p:cNvPr id="5" name="object 8"/>
          <p:cNvSpPr/>
          <p:nvPr/>
        </p:nvSpPr>
        <p:spPr>
          <a:xfrm>
            <a:off x="3775577" y="2823924"/>
            <a:ext cx="5075768" cy="2834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609854" y="24197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6838" y="24240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27EF-F80E-4579-AEEA-EE22C20E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592231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23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1290043" y="339701"/>
            <a:ext cx="960185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P</a:t>
            </a:r>
            <a:r>
              <a:rPr lang="en-US" sz="4000" b="1" spc="-3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R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OJ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E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C</a:t>
            </a:r>
            <a:r>
              <a:rPr lang="en-US" sz="4000" b="1" spc="1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T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S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 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IN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 </a:t>
            </a:r>
            <a:r>
              <a:rPr lang="en-US" sz="4000" b="1" u="sng" spc="-2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F</a:t>
            </a:r>
            <a:r>
              <a:rPr lang="en-US" sz="4000" b="1" u="sng" spc="-1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U</a:t>
            </a:r>
            <a:r>
              <a:rPr lang="en-US" sz="4000" b="1" u="sng" spc="-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NC</a:t>
            </a:r>
            <a:r>
              <a:rPr lang="en-US" sz="4000" b="1" u="sng" spc="1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T</a:t>
            </a:r>
            <a:r>
              <a:rPr lang="en-US" sz="4000" b="1" u="sng" spc="-2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I</a:t>
            </a:r>
            <a:r>
              <a:rPr lang="en-US" sz="4000" b="1" u="sng" spc="-2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ONAL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 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O</a:t>
            </a:r>
            <a:r>
              <a:rPr lang="en-US" sz="4000" b="1" spc="-3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R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GANI</a:t>
            </a:r>
            <a:r>
              <a:rPr lang="en-US" sz="4000" b="1" spc="-1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Z</a:t>
            </a:r>
            <a:r>
              <a:rPr lang="en-US" sz="4000" b="1" spc="-14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A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T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I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O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NS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  <a:cs typeface="Franklin Gothic Medium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613" y="1538073"/>
            <a:ext cx="110167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2400" b="1" u="sng" spc="1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b="1" u="sng" spc="-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b="1" u="sng" spc="-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b="1" u="sng" spc="1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b="1" u="sng" spc="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b="1" u="sng" spc="2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u="sng" spc="-5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b="1" u="sng" spc="1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u="sng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b="1" dirty="0">
                <a:latin typeface="Calibri" panose="020F0502020204030204" pitchFamily="34" charset="0"/>
                <a:cs typeface="Franklin Gothic Book"/>
              </a:rPr>
              <a:t>                                                </a:t>
            </a:r>
            <a:r>
              <a:rPr lang="en-US" sz="2400" b="1" u="sng" spc="-35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b="1" u="sng" spc="-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b="1" u="sng" spc="-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es</a:t>
            </a:r>
            <a:r>
              <a:rPr lang="en-US" sz="2400" b="1" u="sng" spc="2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u="sng" spc="-5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b="1" u="sng" spc="1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u="sng" spc="5" dirty="0">
                <a:latin typeface="Calibri" panose="020F0502020204030204" pitchFamily="34" charset="0"/>
                <a:cs typeface="Franklin Gothic Book"/>
              </a:rPr>
              <a:t>PM</a:t>
            </a:r>
            <a:endParaRPr lang="en-US" sz="2400" b="1" u="sng" dirty="0"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2613" y="2224741"/>
            <a:ext cx="3977688" cy="2167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marR="615950" indent="-342900">
              <a:lnSpc>
                <a:spcPct val="79800"/>
              </a:lnSpc>
              <a:buFont typeface="Wingdings" panose="05000000000000000000" pitchFamily="2" charset="2"/>
              <a:buChar char="v"/>
            </a:pP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'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7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35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ruc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ure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rupt opera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io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355600" marR="272415" indent="-342900"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4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3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 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heir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stu</a:t>
            </a:r>
            <a:r>
              <a:rPr lang="en-US" sz="2400" spc="3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f.</a:t>
            </a:r>
            <a:endParaRPr lang="en-US" sz="2400" dirty="0">
              <a:latin typeface="Calibri" panose="020F0502020204030204" pitchFamily="34" charset="0"/>
              <a:cs typeface="Franklin Gothic Book"/>
            </a:endParaRPr>
          </a:p>
          <a:p>
            <a:pPr marL="355600" marR="6350" indent="-342900"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4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 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3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eir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pl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ace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in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th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90" dirty="0">
                <a:latin typeface="Calibri" panose="020F0502020204030204" pitchFamily="34" charset="0"/>
                <a:cs typeface="Franklin Gothic Book"/>
              </a:rPr>
              <a:t>y.</a:t>
            </a:r>
            <a:endParaRPr lang="en-US" sz="2400" dirty="0">
              <a:latin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29497" y="2224741"/>
            <a:ext cx="4920594" cy="292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marR="111125" indent="-342900">
              <a:lnSpc>
                <a:spcPts val="2160"/>
              </a:lnSpc>
              <a:buFont typeface="Wingdings" panose="05000000000000000000" pitchFamily="2" charset="2"/>
              <a:buChar char="v"/>
            </a:pPr>
            <a:r>
              <a:rPr lang="en-US" sz="2400" spc="-13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ma</a:t>
            </a:r>
            <a:r>
              <a:rPr lang="en-US" sz="2400" spc="-4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l</a:t>
            </a:r>
            <a:r>
              <a:rPr lang="en-US" sz="2400" spc="-6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ye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g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 th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ou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h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lk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pe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ople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355600" marR="191135" indent="-342900">
              <a:lnSpc>
                <a:spcPts val="2160"/>
              </a:lnSpc>
              <a:buFont typeface="Wingdings" panose="05000000000000000000" pitchFamily="2" charset="2"/>
              <a:buChar char="v"/>
            </a:pP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Lac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us</a:t>
            </a:r>
            <a:r>
              <a:rPr lang="en-US" sz="2400" spc="-5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3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er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us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355600" marR="191135" indent="-342900">
              <a:lnSpc>
                <a:spcPts val="2160"/>
              </a:lnSpc>
              <a:buFont typeface="Wingdings" panose="05000000000000000000" pitchFamily="2" charset="2"/>
              <a:buChar char="v"/>
            </a:pP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oje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55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lo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people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eir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 and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6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pr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io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itie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355600" marR="6350" indent="-342900">
              <a:lnSpc>
                <a:spcPts val="2160"/>
              </a:lnSpc>
              <a:buFont typeface="Wingdings" panose="05000000000000000000" pitchFamily="2" charset="2"/>
              <a:buChar char="v"/>
              <a:tabLst>
                <a:tab pos="688975" algn="l"/>
              </a:tabLst>
            </a:pPr>
            <a:r>
              <a:rPr lang="en-US" sz="2400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al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 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j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us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ant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load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he ma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al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uc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the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355600" marR="6350" indent="-342900">
              <a:lnSpc>
                <a:spcPts val="2160"/>
              </a:lnSpc>
              <a:buFont typeface="Wingdings" panose="05000000000000000000" pitchFamily="2" charset="2"/>
              <a:buChar char="v"/>
              <a:tabLst>
                <a:tab pos="688975" algn="l"/>
              </a:tabLst>
            </a:pP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real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6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is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oje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?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601541" y="30500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90661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0D5BB-6E14-48E0-A4DC-206D2DD9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1422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480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3028674" y="444701"/>
            <a:ext cx="62531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2. P</a:t>
            </a:r>
            <a:r>
              <a:rPr lang="en-US" sz="4000" b="1" spc="-60" dirty="0">
                <a:solidFill>
                  <a:srgbClr val="0070C0"/>
                </a:solidFill>
                <a:latin typeface="Calibri" panose="020F0502020204030204" pitchFamily="34" charset="0"/>
              </a:rPr>
              <a:t>R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OJ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E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C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T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-35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sz="4000" b="1" spc="-50" dirty="0">
                <a:solidFill>
                  <a:srgbClr val="0070C0"/>
                </a:solidFill>
                <a:latin typeface="Calibri" panose="020F0502020204030204" pitchFamily="34" charset="0"/>
              </a:rPr>
              <a:t>R</a:t>
            </a:r>
            <a:r>
              <a:rPr lang="en-US" sz="4000" b="1" spc="10" dirty="0">
                <a:solidFill>
                  <a:srgbClr val="0070C0"/>
                </a:solidFill>
                <a:latin typeface="Calibri" panose="020F0502020204030204" pitchFamily="34" charset="0"/>
              </a:rPr>
              <a:t>G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ANI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Z</a:t>
            </a:r>
            <a:r>
              <a:rPr lang="en-US" sz="4000" b="1" spc="-195" dirty="0">
                <a:solidFill>
                  <a:srgbClr val="0070C0"/>
                </a:solidFill>
                <a:latin typeface="Calibri" panose="020F0502020204030204" pitchFamily="34" charset="0"/>
              </a:rPr>
              <a:t>A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TIONS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8171" y="1294175"/>
            <a:ext cx="8624635" cy="1277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os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8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nd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of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the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trum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7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om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Fu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on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Franklin Gothic Book"/>
              </a:rPr>
              <a:t>Oranizations</a:t>
            </a:r>
            <a:endParaRPr lang="en-US" sz="2400" dirty="0">
              <a:latin typeface="Calibri" panose="020F0502020204030204" pitchFamily="34" charset="0"/>
              <a:cs typeface="Franklin Gothic Book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spc="-195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be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are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usu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ll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lo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ca</a:t>
            </a:r>
            <a:r>
              <a:rPr lang="en-US" sz="2400" spc="-8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5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ge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he</a:t>
            </a:r>
            <a:r>
              <a:rPr lang="en-US" sz="2400" spc="-18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355600" indent="-342900">
              <a:lnSpc>
                <a:spcPts val="3815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6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7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 j</a:t>
            </a:r>
            <a:r>
              <a:rPr lang="en-US" sz="2400" spc="-1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do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1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7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j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ect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endParaRPr lang="en-US" sz="2400" dirty="0">
              <a:solidFill>
                <a:srgbClr val="7030A0"/>
              </a:solidFill>
              <a:latin typeface="Calibri" panose="020F0502020204030204" pitchFamily="34" charset="0"/>
              <a:cs typeface="Franklin Gothic Book"/>
            </a:endParaRPr>
          </a:p>
        </p:txBody>
      </p:sp>
      <p:sp>
        <p:nvSpPr>
          <p:cNvPr id="5" name="object 7"/>
          <p:cNvSpPr/>
          <p:nvPr/>
        </p:nvSpPr>
        <p:spPr>
          <a:xfrm>
            <a:off x="2926132" y="2689079"/>
            <a:ext cx="5652473" cy="3194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78605" y="21339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6838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C421B-5F9B-4871-A47E-1B18BE9B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1422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25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2129446" y="296549"/>
            <a:ext cx="7399398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S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T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R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E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N</a:t>
            </a:r>
            <a:r>
              <a:rPr lang="en-US" sz="4000" b="1" spc="-45" dirty="0">
                <a:solidFill>
                  <a:srgbClr val="0070C0"/>
                </a:solidFill>
                <a:latin typeface="Calibri" panose="020F0502020204030204" pitchFamily="34" charset="0"/>
              </a:rPr>
              <a:t>G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T</a:t>
            </a:r>
            <a:r>
              <a:rPr lang="en-US" sz="4000" b="1" spc="-10" dirty="0">
                <a:solidFill>
                  <a:srgbClr val="0070C0"/>
                </a:solidFill>
                <a:latin typeface="Calibri" panose="020F0502020204030204" pitchFamily="34" charset="0"/>
              </a:rPr>
              <a:t>H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S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A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N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D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W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EA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KN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ES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S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E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S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 OF</a:t>
            </a:r>
            <a:endParaRPr lang="en-US" sz="4000" b="1" spc="10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P</a:t>
            </a:r>
            <a:r>
              <a:rPr lang="en-US" sz="4000" b="1" spc="-45" dirty="0">
                <a:solidFill>
                  <a:srgbClr val="0070C0"/>
                </a:solidFill>
                <a:latin typeface="Calibri" panose="020F0502020204030204" pitchFamily="34" charset="0"/>
              </a:rPr>
              <a:t>R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J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E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CT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sz="4000" b="1" spc="-35" dirty="0">
                <a:solidFill>
                  <a:srgbClr val="0070C0"/>
                </a:solidFill>
                <a:latin typeface="Calibri" panose="020F0502020204030204" pitchFamily="34" charset="0"/>
              </a:rPr>
              <a:t>R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G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ANI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Z</a:t>
            </a:r>
            <a:r>
              <a:rPr lang="en-US" sz="4000" b="1" spc="-130" dirty="0">
                <a:solidFill>
                  <a:srgbClr val="0070C0"/>
                </a:solidFill>
                <a:latin typeface="Calibri" panose="020F0502020204030204" pitchFamily="34" charset="0"/>
              </a:rPr>
              <a:t>A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TI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NS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1083103" y="1904069"/>
            <a:ext cx="3752154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u="sng" spc="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u="sng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u="sng" spc="-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u="sng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sz="2400" b="1" u="sng" spc="-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sz="2400" b="1" u="sng" spc="1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sz="2400" b="1" u="sng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sz="2400" b="1" u="sng" spc="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sz="2400" b="1" u="sng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sz="2400" b="1" u="sng" spc="2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u="sng" spc="-5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sz="2400" b="1" u="sng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sz="2400" b="1" u="sng" spc="-1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sz="2400" b="1" u="sng" spc="1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sz="2400" b="1" u="sng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sz="2400" b="1" u="sng" dirty="0">
                <a:latin typeface="Calibri" panose="020F0502020204030204" pitchFamily="34" charset="0"/>
                <a:cs typeface="Franklin Gothic Book"/>
              </a:rPr>
              <a:t>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0861" y="1811736"/>
            <a:ext cx="26947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b="1" u="sng" spc="-25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b="1" u="sng" spc="-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b="1" u="sng" spc="-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es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b="1" u="sng" spc="2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u="sng" spc="-5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b="1" u="sng" spc="1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u="sng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M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736" y="2465149"/>
            <a:ext cx="4116888" cy="2642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marR="127000" indent="-342900">
              <a:lnSpc>
                <a:spcPts val="2160"/>
              </a:lnSpc>
              <a:buFont typeface="Wingdings" panose="05000000000000000000" pitchFamily="2" charset="2"/>
              <a:buChar char="v"/>
            </a:pP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Em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yee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epo</a:t>
            </a:r>
            <a:r>
              <a:rPr lang="en-US" sz="2400" spc="5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ne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er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son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usu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al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8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355600" marR="247015" indent="-342900">
              <a:lnSpc>
                <a:spcPts val="2160"/>
              </a:lnSpc>
              <a:buFont typeface="Wingdings" panose="05000000000000000000" pitchFamily="2" charset="2"/>
              <a:buChar char="v"/>
            </a:pP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mmu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io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is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sier</a:t>
            </a:r>
            <a:endParaRPr lang="en-US" sz="2400" spc="-5" dirty="0">
              <a:latin typeface="Calibri" panose="020F0502020204030204" pitchFamily="34" charset="0"/>
              <a:cs typeface="Franklin Gothic Book"/>
            </a:endParaRPr>
          </a:p>
          <a:p>
            <a:pPr marL="355600" marR="247015" indent="-342900">
              <a:lnSpc>
                <a:spcPts val="2160"/>
              </a:lnSpc>
              <a:buFont typeface="Wingdings" panose="05000000000000000000" pitchFamily="2" charset="2"/>
              <a:buChar char="v"/>
            </a:pP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omo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3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6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4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and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spe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y 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isio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2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ki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ng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355600" marR="6350" indent="-342900">
              <a:lnSpc>
                <a:spcPts val="2160"/>
              </a:lnSpc>
              <a:buFont typeface="Wingdings" panose="05000000000000000000" pitchFamily="2" charset="2"/>
              <a:buChar char="v"/>
            </a:pP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35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elop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oje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 m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na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and en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oura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pi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d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sp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nse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 ma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 op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po</a:t>
            </a:r>
            <a:r>
              <a:rPr lang="en-US" sz="2400" spc="6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tu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ties.</a:t>
            </a:r>
            <a:endParaRPr lang="en-US" sz="2400" dirty="0">
              <a:latin typeface="Calibri" panose="020F0502020204030204" pitchFamily="34" charset="0"/>
              <a:cs typeface="Franklin Gothic Book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43727" y="2435617"/>
            <a:ext cx="4641206" cy="3195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7230" marR="168910" indent="-342900">
              <a:lnSpc>
                <a:spcPts val="2160"/>
              </a:lnSpc>
              <a:spcBef>
                <a:spcPts val="150"/>
              </a:spcBef>
              <a:buFont typeface="Wingdings" panose="05000000000000000000" pitchFamily="2" charset="2"/>
              <a:buChar char="v"/>
            </a:pP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ti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nd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ng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ms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c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x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pe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3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.</a:t>
            </a:r>
            <a:endParaRPr lang="en-US" sz="2400" dirty="0">
              <a:latin typeface="Calibri" panose="020F0502020204030204" pitchFamily="34" charset="0"/>
              <a:cs typeface="Franklin Gothic Book"/>
            </a:endParaRPr>
          </a:p>
          <a:p>
            <a:pPr marL="697230" marR="6350" indent="-342900">
              <a:lnSpc>
                <a:spcPts val="2160"/>
              </a:lnSpc>
              <a:buFont typeface="Wingdings" panose="05000000000000000000" pitchFamily="2" charset="2"/>
              <a:buChar char="v"/>
            </a:pP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l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oje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am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35" dirty="0">
                <a:latin typeface="Calibri" panose="020F0502020204030204" pitchFamily="34" charset="0"/>
                <a:cs typeface="Franklin Gothic Book"/>
              </a:rPr>
              <a:t>v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elop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al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oject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ra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the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han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ov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l 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or</a:t>
            </a:r>
            <a:r>
              <a:rPr lang="en-US" sz="2400" spc="-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z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ion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697230" marR="6350" indent="-342900">
              <a:lnSpc>
                <a:spcPts val="2160"/>
              </a:lnSpc>
              <a:buFont typeface="Wingdings" panose="05000000000000000000" pitchFamily="2" charset="2"/>
              <a:buChar char="v"/>
            </a:pP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3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fi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ma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ta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po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oled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s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pl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y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lle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tu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ca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tal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697230" marR="6350" indent="-342900">
              <a:lnSpc>
                <a:spcPts val="2160"/>
              </a:lnSpc>
              <a:buFont typeface="Wingdings" panose="05000000000000000000" pitchFamily="2" charset="2"/>
              <a:buChar char="v"/>
            </a:pP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ern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oj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 m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ou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eir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f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ure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he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oje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.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601542" y="5357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96838" y="21169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6CD4B2-3845-4AD1-8A2D-F5D43762C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31364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520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3153758" y="253433"/>
            <a:ext cx="606332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3. MATRIX ORGANIZATIONS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2613" y="1145611"/>
            <a:ext cx="105398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lend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3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een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unct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onal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or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ganization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and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8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j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ganization.</a:t>
            </a:r>
            <a:endParaRPr lang="en-US" sz="2400" dirty="0">
              <a:latin typeface="Calibri" panose="020F0502020204030204" pitchFamily="34" charset="0"/>
              <a:cs typeface="Franklin Gothic Book"/>
            </a:endParaRPr>
          </a:p>
          <a:p>
            <a:pPr marL="354330" marR="76835" indent="-341630"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if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5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,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ba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nced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or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7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on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.</a:t>
            </a:r>
            <a:endParaRPr lang="en-US" sz="2400" dirty="0">
              <a:latin typeface="Calibri" panose="020F0502020204030204" pitchFamily="34" charset="0"/>
              <a:cs typeface="Franklin Gothic Book"/>
            </a:endParaRPr>
          </a:p>
          <a:p>
            <a:pPr marL="12700" marR="76835"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De</a:t>
            </a:r>
            <a:r>
              <a:rPr lang="en-US" sz="2400" b="1" spc="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en</a:t>
            </a:r>
            <a:r>
              <a:rPr lang="en-US" sz="2400" b="1" spc="-2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b="1" spc="-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b="1" spc="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on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spc="-2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b="1" spc="-6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w </a:t>
            </a:r>
            <a:r>
              <a:rPr lang="en-US" sz="2400" b="1" spc="-4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b="1" spc="-2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spc="-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b="1" spc="-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lu</a:t>
            </a:r>
            <a:r>
              <a:rPr lang="en-US" sz="2400" b="1" spc="-2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nce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spc="-1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b="1" spc="-2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spc="-2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b="1" spc="-7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b="1" spc="-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j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ect</a:t>
            </a:r>
            <a:r>
              <a:rPr lang="en-US" sz="2400" b="1" spc="-1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spc="-3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b="1" spc="-2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b="1" spc="-20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b="1" spc="-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b="1" spc="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b="1" spc="-2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b="1" spc="-1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spc="-2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ha</a:t>
            </a:r>
            <a:r>
              <a:rPr lang="en-US" sz="2400" b="1" spc="-15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Franklin Gothic Book"/>
              </a:rPr>
              <a:t>.</a:t>
            </a:r>
          </a:p>
        </p:txBody>
      </p:sp>
      <p:sp>
        <p:nvSpPr>
          <p:cNvPr id="5" name="object 8"/>
          <p:cNvSpPr/>
          <p:nvPr/>
        </p:nvSpPr>
        <p:spPr>
          <a:xfrm>
            <a:off x="2581371" y="2406748"/>
            <a:ext cx="6696744" cy="3593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93229" y="38024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6838" y="52796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D35CF-7A93-4ABF-AAE4-B9E36E1C6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1422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882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/>
        </p:nvSpPr>
        <p:spPr bwMode="auto">
          <a:xfrm>
            <a:off x="96838" y="6175000"/>
            <a:ext cx="485775" cy="525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" name="Rectangle 2"/>
          <p:cNvSpPr/>
          <p:nvPr/>
        </p:nvSpPr>
        <p:spPr>
          <a:xfrm>
            <a:off x="1800227" y="208474"/>
            <a:ext cx="8636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S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T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R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E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N</a:t>
            </a:r>
            <a:r>
              <a:rPr lang="en-US" sz="4000" b="1" spc="-45" dirty="0">
                <a:solidFill>
                  <a:srgbClr val="0070C0"/>
                </a:solidFill>
                <a:latin typeface="Calibri" panose="020F0502020204030204" pitchFamily="34" charset="0"/>
              </a:rPr>
              <a:t>G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T</a:t>
            </a:r>
            <a:r>
              <a:rPr lang="en-US" sz="4000" b="1" spc="-10" dirty="0">
                <a:solidFill>
                  <a:srgbClr val="0070C0"/>
                </a:solidFill>
                <a:latin typeface="Calibri" panose="020F0502020204030204" pitchFamily="34" charset="0"/>
              </a:rPr>
              <a:t>H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S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A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N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D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-30" dirty="0">
                <a:solidFill>
                  <a:srgbClr val="0070C0"/>
                </a:solidFill>
                <a:latin typeface="Calibri" panose="020F0502020204030204" pitchFamily="34" charset="0"/>
              </a:rPr>
              <a:t>W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EA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KN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ES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S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E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S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 OF</a:t>
            </a:r>
            <a:r>
              <a:rPr lang="en-US" sz="4000" b="1" spc="10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M</a:t>
            </a:r>
            <a:r>
              <a:rPr lang="en-US" sz="4000" b="1" spc="-130" dirty="0">
                <a:solidFill>
                  <a:srgbClr val="0070C0"/>
                </a:solidFill>
                <a:latin typeface="Calibri" panose="020F0502020204030204" pitchFamily="34" charset="0"/>
              </a:rPr>
              <a:t>A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T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R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IX</a:t>
            </a:r>
            <a:r>
              <a:rPr lang="en-US" sz="4000" b="1" spc="-10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sz="4000" b="1" spc="-45" dirty="0">
                <a:solidFill>
                  <a:srgbClr val="0070C0"/>
                </a:solidFill>
                <a:latin typeface="Calibri" panose="020F0502020204030204" pitchFamily="34" charset="0"/>
              </a:rPr>
              <a:t>R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G</a:t>
            </a:r>
            <a:r>
              <a:rPr lang="en-US" sz="4000" b="1" spc="-15" dirty="0">
                <a:solidFill>
                  <a:srgbClr val="0070C0"/>
                </a:solidFill>
                <a:latin typeface="Calibri" panose="020F0502020204030204" pitchFamily="34" charset="0"/>
              </a:rPr>
              <a:t>ANI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Z</a:t>
            </a:r>
            <a:r>
              <a:rPr lang="en-US" sz="4000" b="1" spc="-130" dirty="0">
                <a:solidFill>
                  <a:srgbClr val="0070C0"/>
                </a:solidFill>
                <a:latin typeface="Calibri" panose="020F0502020204030204" pitchFamily="34" charset="0"/>
              </a:rPr>
              <a:t>A</a:t>
            </a:r>
            <a:r>
              <a:rPr lang="en-US" sz="4000" b="1" spc="5" dirty="0">
                <a:solidFill>
                  <a:srgbClr val="0070C0"/>
                </a:solidFill>
                <a:latin typeface="Calibri" panose="020F0502020204030204" pitchFamily="34" charset="0"/>
              </a:rPr>
              <a:t>T</a:t>
            </a:r>
            <a:r>
              <a:rPr lang="en-US" sz="4000" b="1" spc="-25" dirty="0">
                <a:solidFill>
                  <a:srgbClr val="0070C0"/>
                </a:solidFill>
                <a:latin typeface="Calibri" panose="020F0502020204030204" pitchFamily="34" charset="0"/>
              </a:rPr>
              <a:t>I</a:t>
            </a:r>
            <a:r>
              <a:rPr lang="en-US" sz="4000" b="1" spc="-20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sz="4000" b="1" spc="-5" dirty="0">
                <a:solidFill>
                  <a:srgbClr val="0070C0"/>
                </a:solidFill>
                <a:latin typeface="Calibri" panose="020F0502020204030204" pitchFamily="34" charset="0"/>
              </a:rPr>
              <a:t>NS</a:t>
            </a:r>
            <a:r>
              <a:rPr lang="en-US" sz="4000" b="1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2446" y="1531913"/>
            <a:ext cx="23682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u="sng" spc="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b="1" u="sng" spc="-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b="1" u="sng" spc="-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b="1" u="sng" spc="5" dirty="0">
                <a:latin typeface="Calibri" panose="020F0502020204030204" pitchFamily="34" charset="0"/>
                <a:cs typeface="Franklin Gothic Book"/>
              </a:rPr>
              <a:t>gt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b="1" u="sng" spc="-1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b="1" u="sng" spc="2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u="sng" spc="-55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b="1" u="sng" spc="-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b="1" u="sng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u="sng" spc="1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M</a:t>
            </a:r>
          </a:p>
        </p:txBody>
      </p:sp>
      <p:sp>
        <p:nvSpPr>
          <p:cNvPr id="5" name="Rectangle 4"/>
          <p:cNvSpPr/>
          <p:nvPr/>
        </p:nvSpPr>
        <p:spPr>
          <a:xfrm>
            <a:off x="7079750" y="1531913"/>
            <a:ext cx="2714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u="sng" spc="10" dirty="0">
                <a:latin typeface="Calibri" panose="020F0502020204030204" pitchFamily="34" charset="0"/>
                <a:cs typeface="Franklin Gothic Book"/>
              </a:rPr>
              <a:t>Weaknesses</a:t>
            </a:r>
            <a:r>
              <a:rPr lang="en-US" sz="2400" b="1" u="sng" spc="2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u="sng" spc="-55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b="1" u="sng" spc="-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b="1" u="sng" spc="-1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b="1" u="sng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b="1" u="sng" spc="1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b="1" u="sng" dirty="0">
                <a:latin typeface="Calibri" panose="020F0502020204030204" pitchFamily="34" charset="0"/>
                <a:cs typeface="Franklin Gothic Book"/>
              </a:rPr>
              <a:t>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2446" y="2188299"/>
            <a:ext cx="4367375" cy="3426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889000" indent="-342900">
              <a:lnSpc>
                <a:spcPct val="799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</a:rPr>
              <a:t>S</a:t>
            </a:r>
            <a:r>
              <a:rPr lang="en-US" sz="2400" spc="-30" dirty="0">
                <a:latin typeface="Calibri" panose="020F0502020204030204" pitchFamily="34" charset="0"/>
              </a:rPr>
              <a:t>u</a:t>
            </a:r>
            <a:r>
              <a:rPr lang="en-US" sz="2400" spc="5" dirty="0">
                <a:latin typeface="Calibri" panose="020F0502020204030204" pitchFamily="34" charset="0"/>
              </a:rPr>
              <a:t>i</a:t>
            </a:r>
            <a:r>
              <a:rPr lang="en-US" sz="2400" spc="-50" dirty="0">
                <a:latin typeface="Calibri" panose="020F0502020204030204" pitchFamily="34" charset="0"/>
              </a:rPr>
              <a:t>t</a:t>
            </a:r>
            <a:r>
              <a:rPr lang="en-US" sz="2400" spc="-20" dirty="0">
                <a:latin typeface="Calibri" panose="020F0502020204030204" pitchFamily="34" charset="0"/>
              </a:rPr>
              <a:t>e</a:t>
            </a:r>
            <a:r>
              <a:rPr lang="en-US" sz="2400" spc="-15" dirty="0">
                <a:latin typeface="Calibri" panose="020F0502020204030204" pitchFamily="34" charset="0"/>
              </a:rPr>
              <a:t>d</a:t>
            </a:r>
            <a:r>
              <a:rPr lang="en-US" sz="2400" spc="-5" dirty="0">
                <a:latin typeface="Calibri" panose="020F0502020204030204" pitchFamily="34" charset="0"/>
              </a:rPr>
              <a:t> </a:t>
            </a:r>
            <a:r>
              <a:rPr lang="en-US" sz="2400" spc="-40" dirty="0">
                <a:latin typeface="Calibri" panose="020F0502020204030204" pitchFamily="34" charset="0"/>
              </a:rPr>
              <a:t>t</a:t>
            </a:r>
            <a:r>
              <a:rPr lang="en-US" sz="2400" spc="-15" dirty="0">
                <a:latin typeface="Calibri" panose="020F0502020204030204" pitchFamily="34" charset="0"/>
              </a:rPr>
              <a:t>o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spc="-10" dirty="0">
                <a:latin typeface="Calibri" panose="020F0502020204030204" pitchFamily="34" charset="0"/>
              </a:rPr>
              <a:t>d</a:t>
            </a:r>
            <a:r>
              <a:rPr lang="en-US" sz="2400" dirty="0">
                <a:latin typeface="Calibri" panose="020F0502020204030204" pitchFamily="34" charset="0"/>
              </a:rPr>
              <a:t>y</a:t>
            </a:r>
            <a:r>
              <a:rPr lang="en-US" sz="2400" spc="-30" dirty="0">
                <a:latin typeface="Calibri" panose="020F0502020204030204" pitchFamily="34" charset="0"/>
              </a:rPr>
              <a:t>n</a:t>
            </a:r>
            <a:r>
              <a:rPr lang="en-US" sz="2400" spc="-20" dirty="0">
                <a:latin typeface="Calibri" panose="020F0502020204030204" pitchFamily="34" charset="0"/>
              </a:rPr>
              <a:t>am</a:t>
            </a:r>
            <a:r>
              <a:rPr lang="en-US" sz="2400" spc="-5" dirty="0">
                <a:latin typeface="Calibri" panose="020F0502020204030204" pitchFamily="34" charset="0"/>
              </a:rPr>
              <a:t>ic </a:t>
            </a:r>
            <a:r>
              <a:rPr lang="en-US" sz="2400" spc="-20" dirty="0">
                <a:latin typeface="Calibri" panose="020F0502020204030204" pitchFamily="34" charset="0"/>
              </a:rPr>
              <a:t>e</a:t>
            </a:r>
            <a:r>
              <a:rPr lang="en-US" sz="2400" spc="-70" dirty="0">
                <a:latin typeface="Calibri" panose="020F0502020204030204" pitchFamily="34" charset="0"/>
              </a:rPr>
              <a:t>n</a:t>
            </a:r>
            <a:r>
              <a:rPr lang="en-US" sz="2400" spc="-5" dirty="0">
                <a:latin typeface="Calibri" panose="020F0502020204030204" pitchFamily="34" charset="0"/>
              </a:rPr>
              <a:t>vi</a:t>
            </a:r>
            <a:r>
              <a:rPr lang="en-US" sz="2400" spc="-55" dirty="0">
                <a:latin typeface="Calibri" panose="020F0502020204030204" pitchFamily="34" charset="0"/>
              </a:rPr>
              <a:t>r</a:t>
            </a:r>
            <a:r>
              <a:rPr lang="en-US" sz="2400" spc="-15" dirty="0">
                <a:latin typeface="Calibri" panose="020F0502020204030204" pitchFamily="34" charset="0"/>
              </a:rPr>
              <a:t>o</a:t>
            </a:r>
            <a:r>
              <a:rPr lang="en-US" sz="2400" spc="-30" dirty="0">
                <a:latin typeface="Calibri" panose="020F0502020204030204" pitchFamily="34" charset="0"/>
              </a:rPr>
              <a:t>n</a:t>
            </a:r>
            <a:r>
              <a:rPr lang="en-US" sz="2400" spc="-20" dirty="0">
                <a:latin typeface="Calibri" panose="020F0502020204030204" pitchFamily="34" charset="0"/>
              </a:rPr>
              <a:t>ments.</a:t>
            </a:r>
            <a:r>
              <a:rPr lang="en-US" sz="2400" spc="-15" dirty="0">
                <a:latin typeface="Calibri" panose="020F0502020204030204" pitchFamily="34" charset="0"/>
              </a:rPr>
              <a:t> </a:t>
            </a:r>
          </a:p>
          <a:p>
            <a:pPr marL="342900" marR="889000" indent="-342900">
              <a:lnSpc>
                <a:spcPct val="79900"/>
              </a:lnSpc>
              <a:buFont typeface="Wingdings" panose="05000000000000000000" pitchFamily="2" charset="2"/>
              <a:buChar char="Ø"/>
            </a:pPr>
            <a:r>
              <a:rPr lang="en-US" sz="2400" spc="-15" dirty="0">
                <a:latin typeface="Calibri" panose="020F0502020204030204" pitchFamily="34" charset="0"/>
              </a:rPr>
              <a:t>E</a:t>
            </a:r>
            <a:r>
              <a:rPr lang="en-US" sz="2400" spc="-45" dirty="0">
                <a:latin typeface="Calibri" panose="020F0502020204030204" pitchFamily="34" charset="0"/>
              </a:rPr>
              <a:t>m</a:t>
            </a:r>
            <a:r>
              <a:rPr lang="en-US" sz="2400" spc="-5" dirty="0">
                <a:latin typeface="Calibri" panose="020F0502020204030204" pitchFamily="34" charset="0"/>
              </a:rPr>
              <a:t>p</a:t>
            </a:r>
            <a:r>
              <a:rPr lang="en-US" sz="2400" dirty="0">
                <a:latin typeface="Calibri" panose="020F0502020204030204" pitchFamily="34" charset="0"/>
              </a:rPr>
              <a:t>h</a:t>
            </a:r>
            <a:r>
              <a:rPr lang="en-US" sz="2400" spc="-20" dirty="0">
                <a:latin typeface="Calibri" panose="020F0502020204030204" pitchFamily="34" charset="0"/>
              </a:rPr>
              <a:t>a</a:t>
            </a:r>
            <a:r>
              <a:rPr lang="en-US" sz="2400" spc="-10" dirty="0">
                <a:latin typeface="Calibri" panose="020F0502020204030204" pitchFamily="34" charset="0"/>
              </a:rPr>
              <a:t>s</a:t>
            </a:r>
            <a:r>
              <a:rPr lang="en-US" sz="2400" spc="-5" dirty="0">
                <a:latin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</a:rPr>
              <a:t>z</a:t>
            </a:r>
            <a:r>
              <a:rPr lang="en-US" sz="2400" spc="-20" dirty="0">
                <a:latin typeface="Calibri" panose="020F0502020204030204" pitchFamily="34" charset="0"/>
              </a:rPr>
              <a:t>e</a:t>
            </a:r>
            <a:r>
              <a:rPr lang="en-US" sz="2400" spc="-15" dirty="0">
                <a:latin typeface="Calibri" panose="020F0502020204030204" pitchFamily="34" charset="0"/>
              </a:rPr>
              <a:t>s</a:t>
            </a:r>
            <a:r>
              <a:rPr lang="en-US" sz="2400" spc="-5" dirty="0">
                <a:latin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</a:rPr>
              <a:t>th</a:t>
            </a:r>
            <a:r>
              <a:rPr lang="en-US" sz="2400" spc="-15" dirty="0">
                <a:latin typeface="Calibri" panose="020F0502020204030204" pitchFamily="34" charset="0"/>
              </a:rPr>
              <a:t>e</a:t>
            </a:r>
            <a:r>
              <a:rPr lang="en-US" sz="2400" spc="-10" dirty="0">
                <a:latin typeface="Calibri" panose="020F0502020204030204" pitchFamily="34" charset="0"/>
              </a:rPr>
              <a:t> d</a:t>
            </a:r>
            <a:r>
              <a:rPr lang="en-US" sz="2400" spc="-30" dirty="0">
                <a:latin typeface="Calibri" panose="020F0502020204030204" pitchFamily="34" charset="0"/>
              </a:rPr>
              <a:t>u</a:t>
            </a:r>
            <a:r>
              <a:rPr lang="en-US" sz="2400" spc="-10" dirty="0">
                <a:latin typeface="Calibri" panose="020F0502020204030204" pitchFamily="34" charset="0"/>
              </a:rPr>
              <a:t>al </a:t>
            </a:r>
            <a:r>
              <a:rPr lang="en-US" sz="2400" spc="-5" dirty="0">
                <a:latin typeface="Calibri" panose="020F0502020204030204" pitchFamily="34" charset="0"/>
              </a:rPr>
              <a:t>i</a:t>
            </a:r>
            <a:r>
              <a:rPr lang="en-US" sz="2400" spc="-25" dirty="0">
                <a:latin typeface="Calibri" panose="020F0502020204030204" pitchFamily="34" charset="0"/>
              </a:rPr>
              <a:t>m</a:t>
            </a:r>
            <a:r>
              <a:rPr lang="en-US" sz="2400" spc="5" dirty="0">
                <a:latin typeface="Calibri" panose="020F0502020204030204" pitchFamily="34" charset="0"/>
              </a:rPr>
              <a:t>p</a:t>
            </a:r>
            <a:r>
              <a:rPr lang="en-US" sz="2400" spc="-15" dirty="0">
                <a:latin typeface="Calibri" panose="020F0502020204030204" pitchFamily="34" charset="0"/>
              </a:rPr>
              <a:t>o</a:t>
            </a:r>
            <a:r>
              <a:rPr lang="en-US" sz="2400" spc="65" dirty="0">
                <a:latin typeface="Calibri" panose="020F0502020204030204" pitchFamily="34" charset="0"/>
              </a:rPr>
              <a:t>r</a:t>
            </a:r>
            <a:r>
              <a:rPr lang="en-US" sz="2400" spc="-15" dirty="0">
                <a:latin typeface="Calibri" panose="020F0502020204030204" pitchFamily="34" charset="0"/>
              </a:rPr>
              <a:t>t</a:t>
            </a:r>
            <a:r>
              <a:rPr lang="en-US" sz="2400" spc="-10" dirty="0">
                <a:latin typeface="Calibri" panose="020F0502020204030204" pitchFamily="34" charset="0"/>
              </a:rPr>
              <a:t>a</a:t>
            </a:r>
            <a:r>
              <a:rPr lang="en-US" sz="2400" spc="-30" dirty="0">
                <a:latin typeface="Calibri" panose="020F0502020204030204" pitchFamily="34" charset="0"/>
              </a:rPr>
              <a:t>n</a:t>
            </a:r>
            <a:r>
              <a:rPr lang="en-US" sz="2400" spc="-15" dirty="0">
                <a:latin typeface="Calibri" panose="020F0502020204030204" pitchFamily="34" charset="0"/>
              </a:rPr>
              <a:t>ce</a:t>
            </a:r>
            <a:r>
              <a:rPr lang="en-US" sz="2400" spc="-5" dirty="0">
                <a:latin typeface="Calibri" panose="020F0502020204030204" pitchFamily="34" charset="0"/>
              </a:rPr>
              <a:t> </a:t>
            </a:r>
            <a:r>
              <a:rPr lang="en-US" sz="2400" spc="-25" dirty="0">
                <a:latin typeface="Calibri" panose="020F0502020204030204" pitchFamily="34" charset="0"/>
              </a:rPr>
              <a:t>o</a:t>
            </a:r>
            <a:r>
              <a:rPr lang="en-US" sz="2400" spc="-10" dirty="0">
                <a:latin typeface="Calibri" panose="020F0502020204030204" pitchFamily="34" charset="0"/>
              </a:rPr>
              <a:t>f</a:t>
            </a:r>
            <a:r>
              <a:rPr lang="en-US" sz="2400" spc="5" dirty="0">
                <a:latin typeface="Calibri" panose="020F0502020204030204" pitchFamily="34" charset="0"/>
              </a:rPr>
              <a:t> 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</a:rPr>
              <a:t>p</a:t>
            </a:r>
            <a:r>
              <a:rPr lang="en-US" sz="2400" spc="-65" dirty="0">
                <a:solidFill>
                  <a:srgbClr val="00B050"/>
                </a:solidFill>
                <a:latin typeface="Calibri" panose="020F0502020204030204" pitchFamily="34" charset="0"/>
              </a:rPr>
              <a:t>r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</a:rPr>
              <a:t>oje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</a:rPr>
              <a:t>c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</a:rPr>
              <a:t>t </a:t>
            </a:r>
            <a:r>
              <a:rPr lang="en-US" sz="2400" spc="-25" dirty="0">
                <a:solidFill>
                  <a:srgbClr val="00B050"/>
                </a:solidFill>
                <a:latin typeface="Calibri" panose="020F0502020204030204" pitchFamily="34" charset="0"/>
              </a:rPr>
              <a:t>m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</a:rPr>
              <a:t>a</a:t>
            </a:r>
            <a:r>
              <a:rPr lang="en-US" sz="2400" spc="-30" dirty="0">
                <a:solidFill>
                  <a:srgbClr val="00B050"/>
                </a:solidFill>
                <a:latin typeface="Calibri" panose="020F0502020204030204" pitchFamily="34" charset="0"/>
              </a:rPr>
              <a:t>n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</a:rPr>
              <a:t>ag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</a:rPr>
              <a:t>emen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</a:rPr>
              <a:t>t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 </a:t>
            </a:r>
            <a:r>
              <a:rPr lang="en-US" sz="2400" spc="-20" dirty="0">
                <a:latin typeface="Calibri" panose="020F0502020204030204" pitchFamily="34" charset="0"/>
              </a:rPr>
              <a:t>an</a:t>
            </a:r>
            <a:r>
              <a:rPr lang="en-US" sz="2400" spc="-15" dirty="0">
                <a:latin typeface="Calibri" panose="020F0502020204030204" pitchFamily="34" charset="0"/>
              </a:rPr>
              <a:t>d</a:t>
            </a:r>
            <a:r>
              <a:rPr lang="en-US" sz="2400" spc="5" dirty="0">
                <a:latin typeface="Calibri" panose="020F0502020204030204" pitchFamily="34" charset="0"/>
              </a:rPr>
              <a:t> 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</a:rPr>
              <a:t>f</a:t>
            </a:r>
            <a:r>
              <a:rPr lang="en-US" sz="2400" spc="-30" dirty="0">
                <a:solidFill>
                  <a:srgbClr val="00B050"/>
                </a:solidFill>
                <a:latin typeface="Calibri" panose="020F0502020204030204" pitchFamily="34" charset="0"/>
              </a:rPr>
              <a:t>u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</a:rPr>
              <a:t>n</a:t>
            </a:r>
            <a:r>
              <a:rPr lang="en-US" sz="2400" spc="-25" dirty="0">
                <a:solidFill>
                  <a:srgbClr val="00B050"/>
                </a:solidFill>
                <a:latin typeface="Calibri" panose="020F0502020204030204" pitchFamily="34" charset="0"/>
              </a:rPr>
              <a:t>c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t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</a:rPr>
              <a:t>i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o</a:t>
            </a:r>
            <a:r>
              <a:rPr lang="en-US" sz="2400" spc="-30" dirty="0">
                <a:solidFill>
                  <a:srgbClr val="00B050"/>
                </a:solidFill>
                <a:latin typeface="Calibri" panose="020F0502020204030204" pitchFamily="34" charset="0"/>
              </a:rPr>
              <a:t>n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</a:rPr>
              <a:t>al 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</a:rPr>
              <a:t>e</a:t>
            </a:r>
            <a:r>
              <a:rPr lang="en-US" sz="2400" spc="30" dirty="0">
                <a:solidFill>
                  <a:srgbClr val="00B050"/>
                </a:solidFill>
                <a:latin typeface="Calibri" panose="020F0502020204030204" pitchFamily="34" charset="0"/>
              </a:rPr>
              <a:t>f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f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</a:rPr>
              <a:t>i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c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</a:rPr>
              <a:t>ie</a:t>
            </a:r>
            <a:r>
              <a:rPr lang="en-US" sz="2400" spc="-30" dirty="0">
                <a:solidFill>
                  <a:srgbClr val="00B050"/>
                </a:solidFill>
                <a:latin typeface="Calibri" panose="020F0502020204030204" pitchFamily="34" charset="0"/>
              </a:rPr>
              <a:t>n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</a:rPr>
              <a:t>c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</a:rPr>
              <a:t>.</a:t>
            </a:r>
          </a:p>
          <a:p>
            <a:pPr marL="342900" marR="28575" indent="-342900">
              <a:lnSpc>
                <a:spcPct val="79900"/>
              </a:lnSpc>
              <a:spcBef>
                <a:spcPts val="285"/>
              </a:spcBef>
              <a:buFont typeface="Wingdings" panose="05000000000000000000" pitchFamily="2" charset="2"/>
              <a:buChar char="Ø"/>
            </a:pPr>
            <a:r>
              <a:rPr lang="en-US" sz="2400" spc="-5" dirty="0">
                <a:latin typeface="Calibri" panose="020F0502020204030204" pitchFamily="34" charset="0"/>
              </a:rPr>
              <a:t>P</a:t>
            </a:r>
            <a:r>
              <a:rPr lang="en-US" sz="2400" spc="-55" dirty="0">
                <a:latin typeface="Calibri" panose="020F0502020204030204" pitchFamily="34" charset="0"/>
              </a:rPr>
              <a:t>r</a:t>
            </a:r>
            <a:r>
              <a:rPr lang="en-US" sz="2400" spc="-25" dirty="0">
                <a:latin typeface="Calibri" panose="020F0502020204030204" pitchFamily="34" charset="0"/>
              </a:rPr>
              <a:t>o</a:t>
            </a:r>
            <a:r>
              <a:rPr lang="en-US" sz="2400" spc="-20" dirty="0">
                <a:latin typeface="Calibri" panose="020F0502020204030204" pitchFamily="34" charset="0"/>
              </a:rPr>
              <a:t>m</a:t>
            </a:r>
            <a:r>
              <a:rPr lang="en-US" sz="2400" spc="-35" dirty="0">
                <a:latin typeface="Calibri" panose="020F0502020204030204" pitchFamily="34" charset="0"/>
              </a:rPr>
              <a:t>o</a:t>
            </a:r>
            <a:r>
              <a:rPr lang="en-US" sz="2400" spc="-50" dirty="0">
                <a:latin typeface="Calibri" panose="020F0502020204030204" pitchFamily="34" charset="0"/>
              </a:rPr>
              <a:t>t</a:t>
            </a:r>
            <a:r>
              <a:rPr lang="en-US" sz="2400" spc="-20" dirty="0">
                <a:latin typeface="Calibri" panose="020F0502020204030204" pitchFamily="34" charset="0"/>
              </a:rPr>
              <a:t>e</a:t>
            </a:r>
            <a:r>
              <a:rPr lang="en-US" sz="2400" spc="-15" dirty="0">
                <a:latin typeface="Calibri" panose="020F0502020204030204" pitchFamily="34" charset="0"/>
              </a:rPr>
              <a:t>s</a:t>
            </a:r>
            <a:r>
              <a:rPr lang="en-US" sz="2400" spc="5" dirty="0">
                <a:latin typeface="Calibri" panose="020F0502020204030204" pitchFamily="34" charset="0"/>
              </a:rPr>
              <a:t> </a:t>
            </a:r>
            <a:r>
              <a:rPr lang="en-US" sz="2400" spc="-25" dirty="0">
                <a:solidFill>
                  <a:srgbClr val="00B050"/>
                </a:solidFill>
                <a:latin typeface="Calibri" panose="020F0502020204030204" pitchFamily="34" charset="0"/>
              </a:rPr>
              <a:t>c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</a:rPr>
              <a:t>oo</a:t>
            </a:r>
            <a:r>
              <a:rPr lang="en-US" sz="2400" spc="-55" dirty="0">
                <a:solidFill>
                  <a:srgbClr val="00B050"/>
                </a:solidFill>
                <a:latin typeface="Calibri" panose="020F0502020204030204" pitchFamily="34" charset="0"/>
              </a:rPr>
              <a:t>r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</a:rPr>
              <a:t>d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</a:rPr>
              <a:t>inat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</a:rPr>
              <a:t>i</a:t>
            </a:r>
            <a:r>
              <a:rPr lang="en-US" sz="2400" spc="-25" dirty="0">
                <a:solidFill>
                  <a:srgbClr val="00B050"/>
                </a:solidFill>
                <a:latin typeface="Calibri" panose="020F0502020204030204" pitchFamily="34" charset="0"/>
              </a:rPr>
              <a:t>o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</a:rPr>
              <a:t>n</a:t>
            </a:r>
            <a:r>
              <a:rPr lang="en-US" sz="2400" spc="-10" dirty="0">
                <a:latin typeface="Calibri" panose="020F0502020204030204" pitchFamily="34" charset="0"/>
              </a:rPr>
              <a:t> </a:t>
            </a:r>
            <a:r>
              <a:rPr lang="en-US" sz="2400" spc="-20" dirty="0">
                <a:latin typeface="Calibri" panose="020F0502020204030204" pitchFamily="34" charset="0"/>
              </a:rPr>
              <a:t>a</a:t>
            </a:r>
            <a:r>
              <a:rPr lang="en-US" sz="2400" spc="-25" dirty="0">
                <a:latin typeface="Calibri" panose="020F0502020204030204" pitchFamily="34" charset="0"/>
              </a:rPr>
              <a:t>c</a:t>
            </a:r>
            <a:r>
              <a:rPr lang="en-US" sz="2400" spc="-55" dirty="0">
                <a:latin typeface="Calibri" panose="020F0502020204030204" pitchFamily="34" charset="0"/>
              </a:rPr>
              <a:t>r</a:t>
            </a:r>
            <a:r>
              <a:rPr lang="en-US" sz="2400" spc="-15" dirty="0">
                <a:latin typeface="Calibri" panose="020F0502020204030204" pitchFamily="34" charset="0"/>
              </a:rPr>
              <a:t>o</a:t>
            </a:r>
            <a:r>
              <a:rPr lang="en-US" sz="2400" spc="-20" dirty="0">
                <a:latin typeface="Calibri" panose="020F0502020204030204" pitchFamily="34" charset="0"/>
              </a:rPr>
              <a:t>s</a:t>
            </a:r>
            <a:r>
              <a:rPr lang="en-US" sz="2400" spc="-15" dirty="0">
                <a:latin typeface="Calibri" panose="020F0502020204030204" pitchFamily="34" charset="0"/>
              </a:rPr>
              <a:t>s</a:t>
            </a:r>
            <a:r>
              <a:rPr lang="en-US" sz="2400" spc="5" dirty="0">
                <a:latin typeface="Calibri" panose="020F0502020204030204" pitchFamily="34" charset="0"/>
              </a:rPr>
              <a:t> </a:t>
            </a:r>
            <a:r>
              <a:rPr lang="en-US" sz="2400" spc="-15" dirty="0">
                <a:latin typeface="Calibri" panose="020F0502020204030204" pitchFamily="34" charset="0"/>
              </a:rPr>
              <a:t>f</a:t>
            </a:r>
            <a:r>
              <a:rPr lang="en-US" sz="2400" spc="-30" dirty="0">
                <a:latin typeface="Calibri" panose="020F0502020204030204" pitchFamily="34" charset="0"/>
              </a:rPr>
              <a:t>u</a:t>
            </a:r>
            <a:r>
              <a:rPr lang="en-US" sz="2400" spc="-20" dirty="0">
                <a:latin typeface="Calibri" panose="020F0502020204030204" pitchFamily="34" charset="0"/>
              </a:rPr>
              <a:t>n</a:t>
            </a:r>
            <a:r>
              <a:rPr lang="en-US" sz="2400" spc="-15" dirty="0">
                <a:latin typeface="Calibri" panose="020F0502020204030204" pitchFamily="34" charset="0"/>
              </a:rPr>
              <a:t>c</a:t>
            </a:r>
            <a:r>
              <a:rPr lang="en-US" sz="2400" spc="-5" dirty="0">
                <a:latin typeface="Calibri" panose="020F0502020204030204" pitchFamily="34" charset="0"/>
              </a:rPr>
              <a:t>t</a:t>
            </a:r>
            <a:r>
              <a:rPr lang="en-US" sz="2400" spc="5" dirty="0">
                <a:latin typeface="Calibri" panose="020F0502020204030204" pitchFamily="34" charset="0"/>
              </a:rPr>
              <a:t>i</a:t>
            </a:r>
            <a:r>
              <a:rPr lang="en-US" sz="2400" spc="-25" dirty="0">
                <a:latin typeface="Calibri" panose="020F0502020204030204" pitchFamily="34" charset="0"/>
              </a:rPr>
              <a:t>o</a:t>
            </a:r>
            <a:r>
              <a:rPr lang="en-US" sz="2400" spc="-20" dirty="0">
                <a:latin typeface="Calibri" panose="020F0502020204030204" pitchFamily="34" charset="0"/>
              </a:rPr>
              <a:t>na</a:t>
            </a:r>
            <a:r>
              <a:rPr lang="en-US" sz="2400" spc="-10" dirty="0">
                <a:latin typeface="Calibri" panose="020F0502020204030204" pitchFamily="34" charset="0"/>
              </a:rPr>
              <a:t>l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spc="-15" dirty="0">
                <a:latin typeface="Calibri" panose="020F0502020204030204" pitchFamily="34" charset="0"/>
              </a:rPr>
              <a:t>units .</a:t>
            </a:r>
          </a:p>
          <a:p>
            <a:pPr marL="342900" marR="28575" indent="-342900">
              <a:lnSpc>
                <a:spcPct val="79900"/>
              </a:lnSpc>
              <a:spcBef>
                <a:spcPts val="285"/>
              </a:spcBef>
              <a:buFont typeface="Wingdings" panose="05000000000000000000" pitchFamily="2" charset="2"/>
              <a:buChar char="Ø"/>
            </a:pPr>
            <a:r>
              <a:rPr lang="en-US" sz="2400" spc="-5" dirty="0">
                <a:solidFill>
                  <a:srgbClr val="7030A0"/>
                </a:solidFill>
                <a:latin typeface="Calibri" panose="020F0502020204030204" pitchFamily="34" charset="0"/>
              </a:rPr>
              <a:t>M</a:t>
            </a:r>
            <a:r>
              <a:rPr lang="en-US" sz="2400" spc="-10" dirty="0">
                <a:solidFill>
                  <a:srgbClr val="7030A0"/>
                </a:solidFill>
                <a:latin typeface="Calibri" panose="020F0502020204030204" pitchFamily="34" charset="0"/>
              </a:rPr>
              <a:t>a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</a:rPr>
              <a:t>x</a:t>
            </a:r>
            <a:r>
              <a:rPr lang="en-US" sz="2400" spc="5" dirty="0">
                <a:solidFill>
                  <a:srgbClr val="7030A0"/>
                </a:solidFill>
                <a:latin typeface="Calibri" panose="020F0502020204030204" pitchFamily="34" charset="0"/>
              </a:rPr>
              <a:t>i</a:t>
            </a:r>
            <a:r>
              <a:rPr lang="en-US" sz="2400" spc="-5" dirty="0">
                <a:solidFill>
                  <a:srgbClr val="7030A0"/>
                </a:solidFill>
                <a:latin typeface="Calibri" panose="020F0502020204030204" pitchFamily="34" charset="0"/>
              </a:rPr>
              <a:t>mi</a:t>
            </a:r>
            <a:r>
              <a:rPr lang="en-US" sz="2400" spc="10" dirty="0">
                <a:solidFill>
                  <a:srgbClr val="7030A0"/>
                </a:solidFill>
                <a:latin typeface="Calibri" panose="020F0502020204030204" pitchFamily="34" charset="0"/>
              </a:rPr>
              <a:t>z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</a:rPr>
              <a:t>e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</a:rPr>
              <a:t>s</a:t>
            </a:r>
            <a:r>
              <a:rPr lang="en-US" sz="2400" spc="5" dirty="0">
                <a:solidFill>
                  <a:srgbClr val="7030A0"/>
                </a:solidFill>
                <a:latin typeface="Calibri" panose="020F0502020204030204" pitchFamily="34" charset="0"/>
              </a:rPr>
              <a:t> 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</a:rPr>
              <a:t>s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</a:rPr>
              <a:t>c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</a:rPr>
              <a:t>a</a:t>
            </a:r>
            <a:r>
              <a:rPr lang="en-US" sz="2400" spc="-45" dirty="0">
                <a:solidFill>
                  <a:srgbClr val="7030A0"/>
                </a:solidFill>
                <a:latin typeface="Calibri" panose="020F0502020204030204" pitchFamily="34" charset="0"/>
              </a:rPr>
              <a:t>r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</a:rPr>
              <a:t>c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</a:rPr>
              <a:t>e</a:t>
            </a:r>
            <a:r>
              <a:rPr lang="en-US" sz="2400" spc="-5" dirty="0">
                <a:solidFill>
                  <a:srgbClr val="7030A0"/>
                </a:solidFill>
                <a:latin typeface="Calibri" panose="020F0502020204030204" pitchFamily="34" charset="0"/>
              </a:rPr>
              <a:t> 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</a:rPr>
              <a:t>re</a:t>
            </a:r>
            <a:r>
              <a:rPr lang="en-US" sz="2400" spc="-10" dirty="0">
                <a:solidFill>
                  <a:srgbClr val="7030A0"/>
                </a:solidFill>
                <a:latin typeface="Calibri" panose="020F0502020204030204" pitchFamily="34" charset="0"/>
              </a:rPr>
              <a:t>s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</a:rPr>
              <a:t>o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</a:rPr>
              <a:t>u</a:t>
            </a:r>
            <a:r>
              <a:rPr lang="en-US" sz="2400" spc="-45" dirty="0">
                <a:solidFill>
                  <a:srgbClr val="7030A0"/>
                </a:solidFill>
                <a:latin typeface="Calibri" panose="020F0502020204030204" pitchFamily="34" charset="0"/>
              </a:rPr>
              <a:t>r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</a:rPr>
              <a:t>c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</a:rPr>
              <a:t>es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</a:rPr>
              <a:t> </a:t>
            </a:r>
            <a:r>
              <a:rPr lang="en-US" sz="2400" spc="-10" dirty="0">
                <a:latin typeface="Calibri" panose="020F0502020204030204" pitchFamily="34" charset="0"/>
              </a:rPr>
              <a:t>b</a:t>
            </a:r>
            <a:r>
              <a:rPr lang="en-US" sz="2400" spc="-25" dirty="0">
                <a:latin typeface="Calibri" panose="020F0502020204030204" pitchFamily="34" charset="0"/>
              </a:rPr>
              <a:t>e</a:t>
            </a:r>
            <a:r>
              <a:rPr lang="en-US" sz="2400" spc="-15" dirty="0">
                <a:latin typeface="Calibri" panose="020F0502020204030204" pitchFamily="34" charset="0"/>
              </a:rPr>
              <a:t>t</a:t>
            </a:r>
            <a:r>
              <a:rPr lang="en-US" sz="2400" spc="-55" dirty="0">
                <a:latin typeface="Calibri" panose="020F0502020204030204" pitchFamily="34" charset="0"/>
              </a:rPr>
              <a:t>w</a:t>
            </a:r>
            <a:r>
              <a:rPr lang="en-US" sz="2400" spc="-20" dirty="0">
                <a:latin typeface="Calibri" panose="020F0502020204030204" pitchFamily="34" charset="0"/>
              </a:rPr>
              <a:t>ee</a:t>
            </a:r>
            <a:r>
              <a:rPr lang="en-US" sz="2400" spc="-15" dirty="0">
                <a:latin typeface="Calibri" panose="020F0502020204030204" pitchFamily="34" charset="0"/>
              </a:rPr>
              <a:t>n</a:t>
            </a:r>
            <a:r>
              <a:rPr lang="en-US" sz="2400" spc="-10" dirty="0">
                <a:latin typeface="Calibri" panose="020F0502020204030204" pitchFamily="34" charset="0"/>
              </a:rPr>
              <a:t> </a:t>
            </a:r>
            <a:r>
              <a:rPr lang="en-US" sz="2400" spc="-15" dirty="0">
                <a:latin typeface="Calibri" panose="020F0502020204030204" pitchFamily="34" charset="0"/>
              </a:rPr>
              <a:t>co</a:t>
            </a:r>
            <a:r>
              <a:rPr lang="en-US" sz="2400" spc="-45" dirty="0">
                <a:latin typeface="Calibri" panose="020F0502020204030204" pitchFamily="34" charset="0"/>
              </a:rPr>
              <a:t>m</a:t>
            </a:r>
            <a:r>
              <a:rPr lang="en-US" sz="2400" spc="5" dirty="0">
                <a:latin typeface="Calibri" panose="020F0502020204030204" pitchFamily="34" charset="0"/>
              </a:rPr>
              <a:t>p</a:t>
            </a:r>
            <a:r>
              <a:rPr lang="en-US" sz="2400" spc="-40" dirty="0">
                <a:latin typeface="Calibri" panose="020F0502020204030204" pitchFamily="34" charset="0"/>
              </a:rPr>
              <a:t>e</a:t>
            </a:r>
            <a:r>
              <a:rPr lang="en-US" sz="2400" spc="-5" dirty="0">
                <a:latin typeface="Calibri" panose="020F0502020204030204" pitchFamily="34" charset="0"/>
              </a:rPr>
              <a:t>t</a:t>
            </a:r>
            <a:r>
              <a:rPr lang="en-US" sz="2400" spc="5" dirty="0">
                <a:latin typeface="Calibri" panose="020F0502020204030204" pitchFamily="34" charset="0"/>
              </a:rPr>
              <a:t>i</a:t>
            </a:r>
            <a:r>
              <a:rPr lang="en-US" sz="2400" spc="-30" dirty="0">
                <a:latin typeface="Calibri" panose="020F0502020204030204" pitchFamily="34" charset="0"/>
              </a:rPr>
              <a:t>n</a:t>
            </a:r>
            <a:r>
              <a:rPr lang="en-US" sz="2400" dirty="0">
                <a:latin typeface="Calibri" panose="020F0502020204030204" pitchFamily="34" charset="0"/>
              </a:rPr>
              <a:t>g</a:t>
            </a:r>
            <a:r>
              <a:rPr lang="en-US" sz="2400" spc="-5" dirty="0">
                <a:latin typeface="Calibri" panose="020F0502020204030204" pitchFamily="34" charset="0"/>
              </a:rPr>
              <a:t> p</a:t>
            </a:r>
            <a:r>
              <a:rPr lang="en-US" sz="2400" spc="-55" dirty="0">
                <a:latin typeface="Calibri" panose="020F0502020204030204" pitchFamily="34" charset="0"/>
              </a:rPr>
              <a:t>r</a:t>
            </a:r>
            <a:r>
              <a:rPr lang="en-US" sz="2400" spc="-25" dirty="0">
                <a:latin typeface="Calibri" panose="020F0502020204030204" pitchFamily="34" charset="0"/>
              </a:rPr>
              <a:t>o</a:t>
            </a:r>
            <a:r>
              <a:rPr lang="en-US" sz="2400" spc="5" dirty="0">
                <a:latin typeface="Calibri" panose="020F0502020204030204" pitchFamily="34" charset="0"/>
              </a:rPr>
              <a:t>j</a:t>
            </a:r>
            <a:r>
              <a:rPr lang="en-US" sz="2400" spc="-25" dirty="0">
                <a:latin typeface="Calibri" panose="020F0502020204030204" pitchFamily="34" charset="0"/>
              </a:rPr>
              <a:t>e</a:t>
            </a:r>
            <a:r>
              <a:rPr lang="en-US" sz="2400" spc="-10" dirty="0">
                <a:latin typeface="Calibri" panose="020F0502020204030204" pitchFamily="34" charset="0"/>
              </a:rPr>
              <a:t>ct </a:t>
            </a:r>
            <a:r>
              <a:rPr lang="en-US" sz="2400" spc="-20" dirty="0">
                <a:latin typeface="Calibri" panose="020F0502020204030204" pitchFamily="34" charset="0"/>
              </a:rPr>
              <a:t>an</a:t>
            </a:r>
            <a:r>
              <a:rPr lang="en-US" sz="2400" spc="-15" dirty="0">
                <a:latin typeface="Calibri" panose="020F0502020204030204" pitchFamily="34" charset="0"/>
              </a:rPr>
              <a:t>d</a:t>
            </a:r>
            <a:r>
              <a:rPr lang="en-US" sz="2400" spc="-5" dirty="0">
                <a:latin typeface="Calibri" panose="020F0502020204030204" pitchFamily="34" charset="0"/>
              </a:rPr>
              <a:t> </a:t>
            </a:r>
            <a:r>
              <a:rPr lang="en-US" sz="2400" spc="-20" dirty="0">
                <a:latin typeface="Calibri" panose="020F0502020204030204" pitchFamily="34" charset="0"/>
              </a:rPr>
              <a:t>fu</a:t>
            </a:r>
            <a:r>
              <a:rPr lang="en-US" sz="2400" spc="-30" dirty="0">
                <a:latin typeface="Calibri" panose="020F0502020204030204" pitchFamily="34" charset="0"/>
              </a:rPr>
              <a:t>n</a:t>
            </a:r>
            <a:r>
              <a:rPr lang="en-US" sz="2400" spc="-15" dirty="0">
                <a:latin typeface="Calibri" panose="020F0502020204030204" pitchFamily="34" charset="0"/>
              </a:rPr>
              <a:t>c</a:t>
            </a:r>
            <a:r>
              <a:rPr lang="en-US" sz="2400" spc="-5" dirty="0">
                <a:latin typeface="Calibri" panose="020F0502020204030204" pitchFamily="34" charset="0"/>
              </a:rPr>
              <a:t>t</a:t>
            </a:r>
            <a:r>
              <a:rPr lang="en-US" sz="2400" spc="5" dirty="0">
                <a:latin typeface="Calibri" panose="020F0502020204030204" pitchFamily="34" charset="0"/>
              </a:rPr>
              <a:t>i</a:t>
            </a:r>
            <a:r>
              <a:rPr lang="en-US" sz="2400" spc="-25" dirty="0">
                <a:latin typeface="Calibri" panose="020F0502020204030204" pitchFamily="34" charset="0"/>
              </a:rPr>
              <a:t>o</a:t>
            </a:r>
            <a:r>
              <a:rPr lang="en-US" sz="2400" spc="-20" dirty="0">
                <a:latin typeface="Calibri" panose="020F0502020204030204" pitchFamily="34" charset="0"/>
              </a:rPr>
              <a:t>nal</a:t>
            </a:r>
            <a:r>
              <a:rPr lang="en-US" sz="2400" spc="-15" dirty="0">
                <a:latin typeface="Calibri" panose="020F0502020204030204" pitchFamily="34" charset="0"/>
              </a:rPr>
              <a:t> res</a:t>
            </a:r>
            <a:r>
              <a:rPr lang="en-US" sz="2400" spc="-10" dirty="0">
                <a:latin typeface="Calibri" panose="020F0502020204030204" pitchFamily="34" charset="0"/>
              </a:rPr>
              <a:t>p</a:t>
            </a:r>
            <a:r>
              <a:rPr lang="en-US" sz="2400" spc="-15" dirty="0">
                <a:latin typeface="Calibri" panose="020F0502020204030204" pitchFamily="34" charset="0"/>
              </a:rPr>
              <a:t>o</a:t>
            </a:r>
            <a:r>
              <a:rPr lang="en-US" sz="2400" spc="-30" dirty="0">
                <a:latin typeface="Calibri" panose="020F0502020204030204" pitchFamily="34" charset="0"/>
              </a:rPr>
              <a:t>n</a:t>
            </a:r>
            <a:r>
              <a:rPr lang="en-US" sz="2400" spc="-10" dirty="0">
                <a:latin typeface="Calibri" panose="020F0502020204030204" pitchFamily="34" charset="0"/>
              </a:rPr>
              <a:t>s</a:t>
            </a:r>
            <a:r>
              <a:rPr lang="en-US" sz="2400" spc="-5" dirty="0">
                <a:latin typeface="Calibri" panose="020F0502020204030204" pitchFamily="34" charset="0"/>
              </a:rPr>
              <a:t>i</a:t>
            </a:r>
            <a:r>
              <a:rPr lang="en-US" sz="2400" spc="-10" dirty="0">
                <a:latin typeface="Calibri" panose="020F0502020204030204" pitchFamily="34" charset="0"/>
              </a:rPr>
              <a:t>b</a:t>
            </a:r>
            <a:r>
              <a:rPr lang="en-US" sz="2400" spc="5" dirty="0">
                <a:latin typeface="Calibri" panose="020F0502020204030204" pitchFamily="34" charset="0"/>
              </a:rPr>
              <a:t>i</a:t>
            </a:r>
            <a:r>
              <a:rPr lang="en-US" sz="2400" spc="-5" dirty="0">
                <a:latin typeface="Calibri" panose="020F0502020204030204" pitchFamily="34" charset="0"/>
              </a:rPr>
              <a:t>lit</a:t>
            </a:r>
            <a:r>
              <a:rPr lang="en-US" sz="2400" spc="5" dirty="0">
                <a:latin typeface="Calibri" panose="020F0502020204030204" pitchFamily="34" charset="0"/>
              </a:rPr>
              <a:t>i</a:t>
            </a:r>
            <a:r>
              <a:rPr lang="en-US" sz="2400" spc="-25" dirty="0">
                <a:latin typeface="Calibri" panose="020F0502020204030204" pitchFamily="34" charset="0"/>
              </a:rPr>
              <a:t>e</a:t>
            </a:r>
            <a:r>
              <a:rPr lang="en-US" sz="2400" spc="-15" dirty="0">
                <a:latin typeface="Calibri" panose="020F0502020204030204" pitchFamily="34" charset="0"/>
              </a:rPr>
              <a:t>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72180" y="2188299"/>
            <a:ext cx="4499879" cy="3349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7230" marR="382905" indent="-342900" fontAlgn="auto">
              <a:lnSpc>
                <a:spcPct val="79900"/>
              </a:lnSpc>
              <a:spcBef>
                <a:spcPts val="28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al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iera</a:t>
            </a:r>
            <a:r>
              <a:rPr lang="en-US" sz="2400" spc="-5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ies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mea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4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0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ss</a:t>
            </a:r>
            <a:r>
              <a:rPr lang="en-US" sz="2400" spc="-2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solidFill>
                  <a:srgbClr val="7030A0"/>
                </a:solidFill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.</a:t>
            </a:r>
          </a:p>
          <a:p>
            <a:pPr marL="697230" marR="275590" indent="-342900" fontAlgn="auto">
              <a:lnSpc>
                <a:spcPct val="799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spc="-5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q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uires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ig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fi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ti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s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en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ne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ia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tin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sha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rin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of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riti</a:t>
            </a: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l</a:t>
            </a:r>
            <a:r>
              <a:rPr lang="en-US" sz="2400" spc="-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 r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es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3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4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20" dirty="0">
                <a:solidFill>
                  <a:srgbClr val="00B050"/>
                </a:solidFill>
                <a:latin typeface="Calibri" panose="020F0502020204030204" pitchFamily="34" charset="0"/>
                <a:cs typeface="Franklin Gothic Book"/>
              </a:rPr>
              <a:t>es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between 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5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j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cts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and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7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me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s.</a:t>
            </a:r>
          </a:p>
          <a:p>
            <a:pPr marL="697230" marR="6350" indent="-342900" fontAlgn="auto">
              <a:lnSpc>
                <a:spcPct val="799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u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tra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in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70" dirty="0">
                <a:latin typeface="Calibri" panose="020F0502020204030204" pitchFamily="34" charset="0"/>
                <a:cs typeface="Franklin Gothic Book"/>
              </a:rPr>
              <a:t>f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or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60" dirty="0">
                <a:latin typeface="Calibri" panose="020F0502020204030204" pitchFamily="34" charset="0"/>
                <a:cs typeface="Franklin Gothic Book"/>
              </a:rPr>
              <a:t>k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 c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au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g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h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b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w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45" dirty="0">
                <a:latin typeface="Calibri" panose="020F0502020204030204" pitchFamily="34" charset="0"/>
                <a:cs typeface="Franklin Gothic Book"/>
              </a:rPr>
              <a:t>m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40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ing 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p</a:t>
            </a:r>
            <a:r>
              <a:rPr lang="en-US" sz="2400" spc="-65" dirty="0">
                <a:latin typeface="Calibri" panose="020F0502020204030204" pitchFamily="34" charset="0"/>
                <a:cs typeface="Franklin Gothic Book"/>
              </a:rPr>
              <a:t>r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oje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10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a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fu</a:t>
            </a:r>
            <a:r>
              <a:rPr lang="en-US" sz="2400" spc="-30" dirty="0">
                <a:latin typeface="Calibri" panose="020F0502020204030204" pitchFamily="34" charset="0"/>
                <a:cs typeface="Franklin Gothic Book"/>
              </a:rPr>
              <a:t>n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c</a:t>
            </a:r>
            <a:r>
              <a:rPr lang="en-US" sz="2400" spc="-5" dirty="0">
                <a:latin typeface="Calibri" panose="020F0502020204030204" pitchFamily="34" charset="0"/>
                <a:cs typeface="Franklin Gothic Book"/>
              </a:rPr>
              <a:t>t</a:t>
            </a:r>
            <a:r>
              <a:rPr lang="en-US" sz="2400" spc="5" dirty="0">
                <a:latin typeface="Calibri" panose="020F0502020204030204" pitchFamily="34" charset="0"/>
                <a:cs typeface="Franklin Gothic Book"/>
              </a:rPr>
              <a:t>i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o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nal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25" dirty="0">
                <a:latin typeface="Calibri" panose="020F0502020204030204" pitchFamily="34" charset="0"/>
                <a:cs typeface="Franklin Gothic Book"/>
              </a:rPr>
              <a:t>e</a:t>
            </a:r>
            <a:r>
              <a:rPr lang="en-US" sz="2400" spc="-20" dirty="0">
                <a:latin typeface="Calibri" panose="020F0502020204030204" pitchFamily="34" charset="0"/>
                <a:cs typeface="Franklin Gothic Book"/>
              </a:rPr>
              <a:t>man</a:t>
            </a:r>
            <a:r>
              <a:rPr lang="en-US" sz="2400" spc="-10" dirty="0">
                <a:latin typeface="Calibri" panose="020F0502020204030204" pitchFamily="34" charset="0"/>
                <a:cs typeface="Franklin Gothic Book"/>
              </a:rPr>
              <a:t>d</a:t>
            </a:r>
            <a:r>
              <a:rPr lang="en-US" sz="2400" spc="-15" dirty="0">
                <a:latin typeface="Calibri" panose="020F0502020204030204" pitchFamily="34" charset="0"/>
                <a:cs typeface="Franklin Gothic Book"/>
              </a:rPr>
              <a:t>s.</a:t>
            </a:r>
            <a:endParaRPr lang="en-US" sz="2400" dirty="0">
              <a:latin typeface="Calibri" panose="020F0502020204030204" pitchFamily="34" charset="0"/>
              <a:cs typeface="Franklin Gothic Book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68291" y="53873"/>
            <a:ext cx="3500715" cy="309201"/>
          </a:xfrm>
        </p:spPr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96838" y="53873"/>
            <a:ext cx="5938836" cy="309201"/>
          </a:xfrm>
        </p:spPr>
        <p:txBody>
          <a:bodyPr/>
          <a:lstStyle/>
          <a:p>
            <a:r>
              <a:rPr lang="en-CA"/>
              <a:t>G.R. Labbé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C08E7A-CB6E-4F08-AFA3-98480CD4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81" y="5671422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93410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776</TotalTime>
  <Words>3081</Words>
  <Application>Microsoft Office PowerPoint</Application>
  <PresentationFormat>Widescreen</PresentationFormat>
  <Paragraphs>653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Franklin Gothic Book</vt:lpstr>
      <vt:lpstr>Gill Sans MT</vt:lpstr>
      <vt:lpstr>Symbol</vt:lpstr>
      <vt:lpstr>Times New Roman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FANSHAWE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Labbe, Gaetan</dc:creator>
  <cp:lastModifiedBy>Ozlu, Sinan</cp:lastModifiedBy>
  <cp:revision>62</cp:revision>
  <dcterms:created xsi:type="dcterms:W3CDTF">2018-05-22T11:06:36Z</dcterms:created>
  <dcterms:modified xsi:type="dcterms:W3CDTF">2024-09-09T03:56:13Z</dcterms:modified>
</cp:coreProperties>
</file>